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wmv" ContentType="video/x-ms-wm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0"/>
  </p:notesMasterIdLst>
  <p:sldIdLst>
    <p:sldId id="256" r:id="rId2"/>
    <p:sldId id="328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329" r:id="rId12"/>
    <p:sldId id="267" r:id="rId13"/>
    <p:sldId id="269" r:id="rId14"/>
    <p:sldId id="272" r:id="rId15"/>
    <p:sldId id="274" r:id="rId16"/>
    <p:sldId id="273" r:id="rId17"/>
    <p:sldId id="276" r:id="rId18"/>
    <p:sldId id="277" r:id="rId19"/>
    <p:sldId id="278" r:id="rId20"/>
    <p:sldId id="279" r:id="rId21"/>
    <p:sldId id="280" r:id="rId22"/>
    <p:sldId id="332" r:id="rId23"/>
    <p:sldId id="333" r:id="rId24"/>
    <p:sldId id="334" r:id="rId25"/>
    <p:sldId id="281" r:id="rId26"/>
    <p:sldId id="282" r:id="rId27"/>
    <p:sldId id="283" r:id="rId28"/>
    <p:sldId id="341" r:id="rId29"/>
    <p:sldId id="342" r:id="rId30"/>
    <p:sldId id="343" r:id="rId31"/>
    <p:sldId id="340" r:id="rId32"/>
    <p:sldId id="344" r:id="rId33"/>
    <p:sldId id="345" r:id="rId34"/>
    <p:sldId id="286" r:id="rId35"/>
    <p:sldId id="288" r:id="rId36"/>
    <p:sldId id="347" r:id="rId37"/>
    <p:sldId id="289" r:id="rId38"/>
    <p:sldId id="346" r:id="rId39"/>
    <p:sldId id="290" r:id="rId40"/>
    <p:sldId id="292" r:id="rId41"/>
    <p:sldId id="294" r:id="rId42"/>
    <p:sldId id="296" r:id="rId43"/>
    <p:sldId id="297" r:id="rId44"/>
    <p:sldId id="299" r:id="rId45"/>
    <p:sldId id="300" r:id="rId46"/>
    <p:sldId id="301" r:id="rId47"/>
    <p:sldId id="303" r:id="rId48"/>
    <p:sldId id="304" r:id="rId49"/>
    <p:sldId id="305" r:id="rId50"/>
    <p:sldId id="306" r:id="rId51"/>
    <p:sldId id="307" r:id="rId52"/>
    <p:sldId id="309" r:id="rId53"/>
    <p:sldId id="310" r:id="rId54"/>
    <p:sldId id="312" r:id="rId55"/>
    <p:sldId id="313" r:id="rId56"/>
    <p:sldId id="314" r:id="rId57"/>
    <p:sldId id="330" r:id="rId58"/>
    <p:sldId id="316" r:id="rId59"/>
    <p:sldId id="317" r:id="rId60"/>
    <p:sldId id="318" r:id="rId61"/>
    <p:sldId id="320" r:id="rId62"/>
    <p:sldId id="321" r:id="rId63"/>
    <p:sldId id="322" r:id="rId64"/>
    <p:sldId id="324" r:id="rId65"/>
    <p:sldId id="331" r:id="rId66"/>
    <p:sldId id="325" r:id="rId67"/>
    <p:sldId id="326" r:id="rId68"/>
    <p:sldId id="327" r:id="rId6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8D26CE3-A1CF-454F-BCEA-6A49568D5BEB}">
          <p14:sldIdLst>
            <p14:sldId id="256"/>
          </p14:sldIdLst>
        </p14:section>
        <p14:section name="一 存储体系基础知识复习" id="{F9874A44-2489-4E9D-A192-667F652BD192}">
          <p14:sldIdLst>
            <p14:sldId id="328"/>
          </p14:sldIdLst>
        </p14:section>
        <p14:section name="二 Cache 性能分析与改进" id="{BCDB3AAF-0461-4ABF-AE03-7AC90B9BFCBE}">
          <p14:sldIdLst>
            <p14:sldId id="258"/>
            <p14:sldId id="259"/>
            <p14:sldId id="260"/>
            <p14:sldId id="262"/>
            <p14:sldId id="263"/>
            <p14:sldId id="264"/>
            <p14:sldId id="265"/>
            <p14:sldId id="266"/>
            <p14:sldId id="329"/>
          </p14:sldIdLst>
        </p14:section>
        <p14:section name="三 降低Cache不命中率" id="{8EC4BCB2-C036-4A10-AC3C-8FFF597A22E8}">
          <p14:sldIdLst>
            <p14:sldId id="267"/>
            <p14:sldId id="269"/>
            <p14:sldId id="272"/>
            <p14:sldId id="274"/>
            <p14:sldId id="273"/>
            <p14:sldId id="276"/>
            <p14:sldId id="277"/>
            <p14:sldId id="278"/>
            <p14:sldId id="279"/>
            <p14:sldId id="280"/>
            <p14:sldId id="332"/>
            <p14:sldId id="333"/>
            <p14:sldId id="334"/>
            <p14:sldId id="281"/>
            <p14:sldId id="282"/>
            <p14:sldId id="283"/>
            <p14:sldId id="341"/>
            <p14:sldId id="342"/>
            <p14:sldId id="343"/>
            <p14:sldId id="340"/>
            <p14:sldId id="344"/>
            <p14:sldId id="345"/>
            <p14:sldId id="286"/>
            <p14:sldId id="288"/>
            <p14:sldId id="347"/>
            <p14:sldId id="289"/>
            <p14:sldId id="346"/>
            <p14:sldId id="290"/>
            <p14:sldId id="292"/>
            <p14:sldId id="294"/>
          </p14:sldIdLst>
        </p14:section>
        <p14:section name="四 减少Cache不命中开销" id="{D904D932-A3AA-41D2-83E1-A19636C7094C}">
          <p14:sldIdLst>
            <p14:sldId id="296"/>
            <p14:sldId id="297"/>
            <p14:sldId id="299"/>
            <p14:sldId id="300"/>
            <p14:sldId id="301"/>
            <p14:sldId id="303"/>
            <p14:sldId id="304"/>
            <p14:sldId id="305"/>
            <p14:sldId id="306"/>
            <p14:sldId id="307"/>
            <p14:sldId id="309"/>
            <p14:sldId id="310"/>
            <p14:sldId id="312"/>
            <p14:sldId id="313"/>
          </p14:sldIdLst>
        </p14:section>
        <p14:section name="五 减少Cache命中时间" id="{6D75D02A-C0B8-43F3-B231-F2316D6EE5EB}">
          <p14:sldIdLst>
            <p14:sldId id="314"/>
            <p14:sldId id="330"/>
            <p14:sldId id="316"/>
            <p14:sldId id="317"/>
            <p14:sldId id="318"/>
            <p14:sldId id="320"/>
            <p14:sldId id="321"/>
            <p14:sldId id="322"/>
          </p14:sldIdLst>
        </p14:section>
        <p14:section name="六 Cache优化总结" id="{706977B6-1E47-40FC-8E2A-40F2BA77C35E}">
          <p14:sldIdLst>
            <p14:sldId id="324"/>
            <p14:sldId id="331"/>
            <p14:sldId id="325"/>
            <p14:sldId id="326"/>
            <p14:sldId id="32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F0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16" autoAdjust="0"/>
    <p:restoredTop sz="92111" autoAdjust="0"/>
  </p:normalViewPr>
  <p:slideViewPr>
    <p:cSldViewPr snapToGrid="0">
      <p:cViewPr varScale="1">
        <p:scale>
          <a:sx n="105" d="100"/>
          <a:sy n="105" d="100"/>
        </p:scale>
        <p:origin x="87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U Guannan" userId="459ef0fc5a933e81" providerId="LiveId" clId="{35D7FBAD-2303-4EF1-A86E-457DFE9C4BCF}"/>
    <pc:docChg chg="modSld modSection">
      <pc:chgData name="QU Guannan" userId="459ef0fc5a933e81" providerId="LiveId" clId="{35D7FBAD-2303-4EF1-A86E-457DFE9C4BCF}" dt="2022-10-24T06:08:59.851" v="38" actId="20577"/>
      <pc:docMkLst>
        <pc:docMk/>
      </pc:docMkLst>
      <pc:sldChg chg="modSp mod">
        <pc:chgData name="QU Guannan" userId="459ef0fc5a933e81" providerId="LiveId" clId="{35D7FBAD-2303-4EF1-A86E-457DFE9C4BCF}" dt="2022-10-24T05:29:48.708" v="4" actId="20577"/>
        <pc:sldMkLst>
          <pc:docMk/>
          <pc:sldMk cId="4044652413" sldId="256"/>
        </pc:sldMkLst>
        <pc:spChg chg="mod">
          <ac:chgData name="QU Guannan" userId="459ef0fc5a933e81" providerId="LiveId" clId="{35D7FBAD-2303-4EF1-A86E-457DFE9C4BCF}" dt="2022-10-24T05:29:48.708" v="4" actId="20577"/>
          <ac:spMkLst>
            <pc:docMk/>
            <pc:sldMk cId="4044652413" sldId="256"/>
            <ac:spMk id="3" creationId="{00000000-0000-0000-0000-000000000000}"/>
          </ac:spMkLst>
        </pc:spChg>
      </pc:sldChg>
      <pc:sldChg chg="modSp mod">
        <pc:chgData name="QU Guannan" userId="459ef0fc5a933e81" providerId="LiveId" clId="{35D7FBAD-2303-4EF1-A86E-457DFE9C4BCF}" dt="2022-10-24T05:31:54.940" v="18" actId="20577"/>
        <pc:sldMkLst>
          <pc:docMk/>
          <pc:sldMk cId="3092427876" sldId="258"/>
        </pc:sldMkLst>
        <pc:spChg chg="mod">
          <ac:chgData name="QU Guannan" userId="459ef0fc5a933e81" providerId="LiveId" clId="{35D7FBAD-2303-4EF1-A86E-457DFE9C4BCF}" dt="2022-10-24T05:31:50.551" v="16" actId="20577"/>
          <ac:spMkLst>
            <pc:docMk/>
            <pc:sldMk cId="3092427876" sldId="258"/>
            <ac:spMk id="4" creationId="{00000000-0000-0000-0000-000000000000}"/>
          </ac:spMkLst>
        </pc:spChg>
        <pc:spChg chg="mod">
          <ac:chgData name="QU Guannan" userId="459ef0fc5a933e81" providerId="LiveId" clId="{35D7FBAD-2303-4EF1-A86E-457DFE9C4BCF}" dt="2022-10-24T05:31:54.940" v="18" actId="20577"/>
          <ac:spMkLst>
            <pc:docMk/>
            <pc:sldMk cId="3092427876" sldId="258"/>
            <ac:spMk id="5" creationId="{00000000-0000-0000-0000-000000000000}"/>
          </ac:spMkLst>
        </pc:spChg>
      </pc:sldChg>
      <pc:sldChg chg="modSp mod">
        <pc:chgData name="QU Guannan" userId="459ef0fc5a933e81" providerId="LiveId" clId="{35D7FBAD-2303-4EF1-A86E-457DFE9C4BCF}" dt="2022-10-24T05:32:06.548" v="20" actId="20577"/>
        <pc:sldMkLst>
          <pc:docMk/>
          <pc:sldMk cId="1722584384" sldId="266"/>
        </pc:sldMkLst>
        <pc:spChg chg="mod">
          <ac:chgData name="QU Guannan" userId="459ef0fc5a933e81" providerId="LiveId" clId="{35D7FBAD-2303-4EF1-A86E-457DFE9C4BCF}" dt="2022-10-24T05:32:06.548" v="20" actId="20577"/>
          <ac:spMkLst>
            <pc:docMk/>
            <pc:sldMk cId="1722584384" sldId="266"/>
            <ac:spMk id="4" creationId="{00000000-0000-0000-0000-000000000000}"/>
          </ac:spMkLst>
        </pc:spChg>
      </pc:sldChg>
      <pc:sldChg chg="modSp mod">
        <pc:chgData name="QU Guannan" userId="459ef0fc5a933e81" providerId="LiveId" clId="{35D7FBAD-2303-4EF1-A86E-457DFE9C4BCF}" dt="2022-10-24T05:32:18.401" v="26" actId="20577"/>
        <pc:sldMkLst>
          <pc:docMk/>
          <pc:sldMk cId="2918737339" sldId="267"/>
        </pc:sldMkLst>
        <pc:spChg chg="mod">
          <ac:chgData name="QU Guannan" userId="459ef0fc5a933e81" providerId="LiveId" clId="{35D7FBAD-2303-4EF1-A86E-457DFE9C4BCF}" dt="2022-10-24T05:32:13.999" v="24" actId="20577"/>
          <ac:spMkLst>
            <pc:docMk/>
            <pc:sldMk cId="2918737339" sldId="267"/>
            <ac:spMk id="5" creationId="{00000000-0000-0000-0000-000000000000}"/>
          </ac:spMkLst>
        </pc:spChg>
        <pc:spChg chg="mod">
          <ac:chgData name="QU Guannan" userId="459ef0fc5a933e81" providerId="LiveId" clId="{35D7FBAD-2303-4EF1-A86E-457DFE9C4BCF}" dt="2022-10-24T05:32:18.401" v="26" actId="20577"/>
          <ac:spMkLst>
            <pc:docMk/>
            <pc:sldMk cId="2918737339" sldId="267"/>
            <ac:spMk id="6" creationId="{00000000-0000-0000-0000-000000000000}"/>
          </ac:spMkLst>
        </pc:spChg>
      </pc:sldChg>
      <pc:sldChg chg="modSp mod">
        <pc:chgData name="QU Guannan" userId="459ef0fc5a933e81" providerId="LiveId" clId="{35D7FBAD-2303-4EF1-A86E-457DFE9C4BCF}" dt="2022-10-24T05:32:24.360" v="28" actId="20577"/>
        <pc:sldMkLst>
          <pc:docMk/>
          <pc:sldMk cId="3159520373" sldId="272"/>
        </pc:sldMkLst>
        <pc:spChg chg="mod">
          <ac:chgData name="QU Guannan" userId="459ef0fc5a933e81" providerId="LiveId" clId="{35D7FBAD-2303-4EF1-A86E-457DFE9C4BCF}" dt="2022-10-24T05:32:24.360" v="28" actId="20577"/>
          <ac:spMkLst>
            <pc:docMk/>
            <pc:sldMk cId="3159520373" sldId="272"/>
            <ac:spMk id="6" creationId="{00000000-0000-0000-0000-000000000000}"/>
          </ac:spMkLst>
        </pc:spChg>
      </pc:sldChg>
      <pc:sldChg chg="modSp mod">
        <pc:chgData name="QU Guannan" userId="459ef0fc5a933e81" providerId="LiveId" clId="{35D7FBAD-2303-4EF1-A86E-457DFE9C4BCF}" dt="2022-10-24T06:08:25.795" v="31" actId="20577"/>
        <pc:sldMkLst>
          <pc:docMk/>
          <pc:sldMk cId="553676251" sldId="296"/>
        </pc:sldMkLst>
        <pc:spChg chg="mod">
          <ac:chgData name="QU Guannan" userId="459ef0fc5a933e81" providerId="LiveId" clId="{35D7FBAD-2303-4EF1-A86E-457DFE9C4BCF}" dt="2022-10-24T06:08:25.795" v="31" actId="20577"/>
          <ac:spMkLst>
            <pc:docMk/>
            <pc:sldMk cId="553676251" sldId="296"/>
            <ac:spMk id="6" creationId="{00000000-0000-0000-0000-000000000000}"/>
          </ac:spMkLst>
        </pc:spChg>
      </pc:sldChg>
      <pc:sldChg chg="modSp mod">
        <pc:chgData name="QU Guannan" userId="459ef0fc5a933e81" providerId="LiveId" clId="{35D7FBAD-2303-4EF1-A86E-457DFE9C4BCF}" dt="2022-10-24T06:08:46.555" v="34" actId="20577"/>
        <pc:sldMkLst>
          <pc:docMk/>
          <pc:sldMk cId="1321964559" sldId="314"/>
        </pc:sldMkLst>
        <pc:spChg chg="mod">
          <ac:chgData name="QU Guannan" userId="459ef0fc5a933e81" providerId="LiveId" clId="{35D7FBAD-2303-4EF1-A86E-457DFE9C4BCF}" dt="2022-10-24T06:08:46.555" v="34" actId="20577"/>
          <ac:spMkLst>
            <pc:docMk/>
            <pc:sldMk cId="1321964559" sldId="314"/>
            <ac:spMk id="7" creationId="{00000000-0000-0000-0000-000000000000}"/>
          </ac:spMkLst>
        </pc:spChg>
      </pc:sldChg>
      <pc:sldChg chg="modSp mod">
        <pc:chgData name="QU Guannan" userId="459ef0fc5a933e81" providerId="LiveId" clId="{35D7FBAD-2303-4EF1-A86E-457DFE9C4BCF}" dt="2022-10-24T06:08:59.851" v="38" actId="20577"/>
        <pc:sldMkLst>
          <pc:docMk/>
          <pc:sldMk cId="4248948471" sldId="324"/>
        </pc:sldMkLst>
        <pc:spChg chg="mod">
          <ac:chgData name="QU Guannan" userId="459ef0fc5a933e81" providerId="LiveId" clId="{35D7FBAD-2303-4EF1-A86E-457DFE9C4BCF}" dt="2022-10-24T06:08:59.851" v="38" actId="20577"/>
          <ac:spMkLst>
            <pc:docMk/>
            <pc:sldMk cId="4248948471" sldId="324"/>
            <ac:spMk id="5" creationId="{00000000-0000-0000-0000-000000000000}"/>
          </ac:spMkLst>
        </pc:spChg>
      </pc:sldChg>
      <pc:sldChg chg="modSp mod">
        <pc:chgData name="QU Guannan" userId="459ef0fc5a933e81" providerId="LiveId" clId="{35D7FBAD-2303-4EF1-A86E-457DFE9C4BCF}" dt="2022-10-24T05:31:38.854" v="13" actId="20577"/>
        <pc:sldMkLst>
          <pc:docMk/>
          <pc:sldMk cId="3626856152" sldId="328"/>
        </pc:sldMkLst>
        <pc:spChg chg="mod">
          <ac:chgData name="QU Guannan" userId="459ef0fc5a933e81" providerId="LiveId" clId="{35D7FBAD-2303-4EF1-A86E-457DFE9C4BCF}" dt="2022-10-24T05:31:38.854" v="13" actId="20577"/>
          <ac:spMkLst>
            <pc:docMk/>
            <pc:sldMk cId="3626856152" sldId="328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0DF91F-684B-45A6-9741-9A271DBD98D5}" type="datetimeFigureOut">
              <a:rPr lang="zh-CN" altLang="en-US" smtClean="0"/>
              <a:t>2022/10/24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0651A9-E16E-435F-8E9E-7564E4676B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5212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0651A9-E16E-435F-8E9E-7564E4676B9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41458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625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/>
              <a:t>假设失效开销比较大，需要至少提前</a:t>
            </a:r>
            <a:r>
              <a:rPr lang="en-US" altLang="zh-CN"/>
              <a:t>7</a:t>
            </a:r>
            <a:r>
              <a:rPr lang="zh-CN" altLang="en-US"/>
              <a:t>次预取</a:t>
            </a:r>
          </a:p>
        </p:txBody>
      </p:sp>
      <p:sp>
        <p:nvSpPr>
          <p:cNvPr id="9626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fld id="{D7F3FBA8-2292-4F97-9FCE-39806865E8D4}" type="slidenum">
              <a:rPr lang="en-US" altLang="zh-CN" sz="1200" smtClean="0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31</a:t>
            </a:fld>
            <a:endParaRPr lang="en-US" altLang="zh-CN" sz="12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004180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备注：</a:t>
            </a:r>
            <a:endParaRPr lang="en-US" altLang="zh-CN" dirty="0"/>
          </a:p>
          <a:p>
            <a:r>
              <a:rPr lang="zh-CN" altLang="en-US" dirty="0"/>
              <a:t> </a:t>
            </a:r>
            <a:r>
              <a:rPr lang="en-US" altLang="zh-CN" dirty="0"/>
              <a:t>y</a:t>
            </a:r>
            <a:r>
              <a:rPr lang="zh-CN" altLang="en-US" dirty="0"/>
              <a:t>的第一行乘以</a:t>
            </a:r>
            <a:r>
              <a:rPr lang="en-US" altLang="zh-CN" dirty="0"/>
              <a:t>z</a:t>
            </a:r>
            <a:r>
              <a:rPr lang="zh-CN" altLang="en-US" dirty="0"/>
              <a:t>的第一列， </a:t>
            </a:r>
            <a:r>
              <a:rPr lang="en-US" altLang="zh-CN" dirty="0"/>
              <a:t>y</a:t>
            </a:r>
            <a:r>
              <a:rPr lang="zh-CN" altLang="en-US" dirty="0"/>
              <a:t>的第一行乘以</a:t>
            </a:r>
            <a:r>
              <a:rPr lang="en-US" altLang="zh-CN" dirty="0"/>
              <a:t>z</a:t>
            </a:r>
            <a:r>
              <a:rPr lang="zh-CN" altLang="en-US" dirty="0"/>
              <a:t>的第二列，一直到</a:t>
            </a:r>
            <a:r>
              <a:rPr lang="en-US" altLang="zh-CN" dirty="0"/>
              <a:t>z</a:t>
            </a:r>
            <a:r>
              <a:rPr lang="zh-CN" altLang="en-US" dirty="0"/>
              <a:t>的第</a:t>
            </a:r>
            <a:r>
              <a:rPr lang="en-US" altLang="zh-CN" dirty="0"/>
              <a:t>N</a:t>
            </a:r>
            <a:r>
              <a:rPr lang="zh-CN" altLang="en-US" dirty="0"/>
              <a:t>列，这样一共是</a:t>
            </a:r>
            <a:r>
              <a:rPr lang="en-US" altLang="zh-CN" dirty="0"/>
              <a:t>2N*N</a:t>
            </a:r>
            <a:r>
              <a:rPr lang="zh-CN" altLang="en-US" dirty="0"/>
              <a:t>； </a:t>
            </a:r>
            <a:endParaRPr lang="en-US" altLang="zh-CN" dirty="0"/>
          </a:p>
          <a:p>
            <a:r>
              <a:rPr lang="zh-CN" altLang="en-US" dirty="0"/>
              <a:t> </a:t>
            </a:r>
            <a:r>
              <a:rPr lang="en-US" altLang="zh-CN" dirty="0"/>
              <a:t>y</a:t>
            </a:r>
            <a:r>
              <a:rPr lang="zh-CN" altLang="en-US" dirty="0"/>
              <a:t>一共</a:t>
            </a:r>
            <a:r>
              <a:rPr lang="en-US" altLang="zh-CN" dirty="0"/>
              <a:t>N</a:t>
            </a:r>
            <a:r>
              <a:rPr lang="zh-CN" altLang="en-US" dirty="0"/>
              <a:t>行，重复这个过程，所以是</a:t>
            </a:r>
            <a:r>
              <a:rPr lang="en-US" altLang="zh-CN" dirty="0"/>
              <a:t>N* 2N*N</a:t>
            </a:r>
            <a:r>
              <a:rPr lang="zh-CN" altLang="en-US" dirty="0"/>
              <a:t>； </a:t>
            </a:r>
            <a:endParaRPr lang="en-US" altLang="zh-CN" dirty="0"/>
          </a:p>
          <a:p>
            <a:r>
              <a:rPr lang="en-US" altLang="zh-CN" dirty="0"/>
              <a:t>x</a:t>
            </a:r>
            <a:r>
              <a:rPr lang="zh-CN" altLang="en-US" dirty="0"/>
              <a:t>访问是</a:t>
            </a:r>
            <a:r>
              <a:rPr lang="en-US" altLang="zh-CN" dirty="0"/>
              <a:t>N*N</a:t>
            </a:r>
            <a:r>
              <a:rPr lang="zh-CN" altLang="en-US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0651A9-E16E-435F-8E9E-7564E4676B9E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349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参考：</a:t>
            </a:r>
            <a:r>
              <a:rPr lang="en-US" altLang="zh-CN" dirty="0"/>
              <a:t>http://thebeardsage.com/cache-optimization-merging-write-buffer/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0651A9-E16E-435F-8E9E-7564E4676B9E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48683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0651A9-E16E-435F-8E9E-7564E4676B9E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93909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0651A9-E16E-435F-8E9E-7564E4676B9E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78282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011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1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fld id="{D3E09312-8D70-40CF-922E-B7AB4544DB17}" type="slidenum">
              <a:rPr lang="en-US" altLang="zh-CN" sz="1200" smtClean="0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66</a:t>
            </a:fld>
            <a:endParaRPr lang="en-US" altLang="zh-CN" sz="12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94132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13159-6931-4EF1-AE0A-2D93D1BFF676}" type="datetimeFigureOut">
              <a:rPr lang="zh-CN" altLang="en-US" smtClean="0"/>
              <a:t>2022/10/24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7F3D8-23D2-4F12-8E86-09C394A99E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3688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13159-6931-4EF1-AE0A-2D93D1BFF676}" type="datetimeFigureOut">
              <a:rPr lang="zh-CN" altLang="en-US" smtClean="0"/>
              <a:t>2022/10/24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7F3D8-23D2-4F12-8E86-09C394A99E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3700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13159-6931-4EF1-AE0A-2D93D1BFF676}" type="datetimeFigureOut">
              <a:rPr lang="zh-CN" altLang="en-US" smtClean="0"/>
              <a:t>2022/10/24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7F3D8-23D2-4F12-8E86-09C394A99E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3118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13159-6931-4EF1-AE0A-2D93D1BFF676}" type="datetimeFigureOut">
              <a:rPr lang="zh-CN" altLang="en-US" smtClean="0"/>
              <a:t>2022/10/24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7F3D8-23D2-4F12-8E86-09C394A99E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7465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13159-6931-4EF1-AE0A-2D93D1BFF676}" type="datetimeFigureOut">
              <a:rPr lang="zh-CN" altLang="en-US" smtClean="0"/>
              <a:t>2022/10/24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7F3D8-23D2-4F12-8E86-09C394A99E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4587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13159-6931-4EF1-AE0A-2D93D1BFF676}" type="datetimeFigureOut">
              <a:rPr lang="zh-CN" altLang="en-US" smtClean="0"/>
              <a:t>2022/10/24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7F3D8-23D2-4F12-8E86-09C394A99E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236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13159-6931-4EF1-AE0A-2D93D1BFF676}" type="datetimeFigureOut">
              <a:rPr lang="zh-CN" altLang="en-US" smtClean="0"/>
              <a:t>2022/10/24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7F3D8-23D2-4F12-8E86-09C394A99E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848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13159-6931-4EF1-AE0A-2D93D1BFF676}" type="datetimeFigureOut">
              <a:rPr lang="zh-CN" altLang="en-US" smtClean="0"/>
              <a:t>2022/10/24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7F3D8-23D2-4F12-8E86-09C394A99E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9954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13159-6931-4EF1-AE0A-2D93D1BFF676}" type="datetimeFigureOut">
              <a:rPr lang="zh-CN" altLang="en-US" smtClean="0"/>
              <a:t>2022/10/24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7F3D8-23D2-4F12-8E86-09C394A99E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749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13159-6931-4EF1-AE0A-2D93D1BFF676}" type="datetimeFigureOut">
              <a:rPr lang="zh-CN" altLang="en-US" smtClean="0"/>
              <a:t>2022/10/24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7F3D8-23D2-4F12-8E86-09C394A99E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4350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13159-6931-4EF1-AE0A-2D93D1BFF676}" type="datetimeFigureOut">
              <a:rPr lang="zh-CN" altLang="en-US" smtClean="0"/>
              <a:t>2022/10/24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7F3D8-23D2-4F12-8E86-09C394A99E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28187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81600" y="247650"/>
            <a:ext cx="6807200" cy="381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14400" y="1219200"/>
            <a:ext cx="5080000" cy="4953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219200"/>
            <a:ext cx="5080000" cy="4953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03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84CBD4-42EE-4CCD-9A2F-AD3DCAE5439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7318482"/>
      </p:ext>
    </p:extLst>
  </p:cSld>
  <p:clrMapOvr>
    <a:masterClrMapping/>
  </p:clrMapOvr>
  <p:transition>
    <p:pull dir="rd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81600" y="247650"/>
            <a:ext cx="6807200" cy="381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4400" y="1219200"/>
            <a:ext cx="10363200" cy="49530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3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C90892-6BD9-4866-8BF3-597F1BADEBB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2536639"/>
      </p:ext>
    </p:extLst>
  </p:cSld>
  <p:clrMapOvr>
    <a:masterClrMapping/>
  </p:clrMapOvr>
  <p:transition>
    <p:pull dir="rd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914400" y="247650"/>
            <a:ext cx="11074400" cy="59245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3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8CA43F-F8E9-473F-94B7-322ACDEAF64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4739119"/>
      </p:ext>
    </p:extLst>
  </p:cSld>
  <p:clrMapOvr>
    <a:masterClrMapping/>
  </p:clrMapOvr>
  <p:transition>
    <p:pull dir="r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F13159-6931-4EF1-AE0A-2D93D1BFF676}" type="datetimeFigureOut">
              <a:rPr lang="zh-CN" altLang="en-US" smtClean="0"/>
              <a:t>2022/10/24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77F3D8-23D2-4F12-8E86-09C394A99E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4859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wmv"/><Relationship Id="rId1" Type="http://schemas.microsoft.com/office/2007/relationships/media" Target="../media/media2.wmv"/><Relationship Id="rId4" Type="http://schemas.openxmlformats.org/officeDocument/2006/relationships/image" Target="../media/image16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wmf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833640" y="1340991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zh-CN" altLang="en-US" sz="6000" dirty="0">
                <a:solidFill>
                  <a:prstClr val="black"/>
                </a:solidFill>
                <a:latin typeface="Calibri Light" panose="020F0302020204030204"/>
                <a:cs typeface="+mj-cs"/>
              </a:rPr>
              <a:t>计算机系统结构</a:t>
            </a:r>
            <a:br>
              <a:rPr lang="en-US" altLang="zh-CN" sz="6000" dirty="0">
                <a:solidFill>
                  <a:prstClr val="black"/>
                </a:solidFill>
                <a:latin typeface="Calibri Light" panose="020F0302020204030204"/>
                <a:cs typeface="+mj-cs"/>
              </a:rPr>
            </a:br>
            <a:br>
              <a:rPr lang="en-US" altLang="zh-CN" sz="6000" dirty="0">
                <a:solidFill>
                  <a:prstClr val="black"/>
                </a:solidFill>
                <a:latin typeface="Calibri Light" panose="020F0302020204030204"/>
                <a:cs typeface="+mj-cs"/>
              </a:rPr>
            </a:br>
            <a:r>
              <a:rPr lang="zh-CN" altLang="en-US" sz="6000" dirty="0">
                <a:solidFill>
                  <a:prstClr val="black"/>
                </a:solidFill>
                <a:latin typeface="Calibri Light" panose="020F0302020204030204"/>
                <a:cs typeface="+mj-cs"/>
              </a:rPr>
              <a:t>缓存优化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44652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1" y="0"/>
            <a:ext cx="6905626" cy="771525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一</a:t>
            </a:r>
            <a:r>
              <a:rPr lang="en-US" altLang="zh-CN" sz="3600" b="1" dirty="0"/>
              <a:t> </a:t>
            </a:r>
            <a:r>
              <a:rPr lang="zh-CN" altLang="en-US" sz="3600" b="1" dirty="0"/>
              <a:t>存储体系基础知识复习</a:t>
            </a:r>
            <a:endParaRPr lang="zh-CN" altLang="en-US" sz="3600" dirty="0"/>
          </a:p>
        </p:txBody>
      </p:sp>
      <p:pic>
        <p:nvPicPr>
          <p:cNvPr id="7170" name="Picture 2" descr="https://p.ananas.chaoxing.com/star3/origin/480bc15191ded50bbc63040e0c0a8a45.png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6">
                <a:lumMod val="20000"/>
                <a:lumOff val="80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7428" y="-30420"/>
            <a:ext cx="5854700" cy="6888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pic>
        <p:nvPicPr>
          <p:cNvPr id="7172" name="Picture 4" descr="https://p.ananas.chaoxing.com/star3/origin/9cc6eb6ea72d0a2f294aea89521e748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225" y="2448847"/>
            <a:ext cx="3810000" cy="232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6856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73100" y="1885950"/>
            <a:ext cx="11785600" cy="5562600"/>
          </a:xfrm>
        </p:spPr>
        <p:txBody>
          <a:bodyPr>
            <a:normAutofit/>
          </a:bodyPr>
          <a:lstStyle/>
          <a:p>
            <a:pPr eaLnBrk="1" hangingPunct="1">
              <a:lnSpc>
                <a:spcPts val="3360"/>
              </a:lnSpc>
              <a:defRPr/>
            </a:pPr>
            <a:r>
              <a:rPr lang="zh-CN" altLang="en-US" dirty="0"/>
              <a:t>不命中率 （失效率）</a:t>
            </a:r>
            <a:endParaRPr lang="en-US" altLang="zh-CN" dirty="0"/>
          </a:p>
          <a:p>
            <a:pPr eaLnBrk="1" hangingPunct="1">
              <a:lnSpc>
                <a:spcPts val="3360"/>
              </a:lnSpc>
              <a:defRPr/>
            </a:pPr>
            <a:r>
              <a:rPr lang="zh-CN" altLang="en-US" dirty="0"/>
              <a:t>平均访存时间</a:t>
            </a:r>
          </a:p>
          <a:p>
            <a:pPr marL="457200" indent="-457200">
              <a:lnSpc>
                <a:spcPts val="3360"/>
              </a:lnSpc>
              <a:buNone/>
              <a:defRPr/>
            </a:pPr>
            <a:r>
              <a:rPr lang="zh-CN" altLang="en-US" dirty="0"/>
              <a:t>　      </a:t>
            </a:r>
            <a:r>
              <a:rPr lang="zh-CN" altLang="en-US" dirty="0">
                <a:solidFill>
                  <a:schemeClr val="tx1"/>
                </a:solidFill>
              </a:rPr>
              <a:t>平均访存时间 ＝ 命中时间＋不命中率</a:t>
            </a:r>
            <a:r>
              <a:rPr lang="en-US" altLang="zh-CN" dirty="0">
                <a:solidFill>
                  <a:schemeClr val="tx1"/>
                </a:solidFill>
              </a:rPr>
              <a:t>×</a:t>
            </a:r>
            <a:r>
              <a:rPr lang="zh-CN" altLang="en-US" dirty="0">
                <a:solidFill>
                  <a:schemeClr val="tx1"/>
                </a:solidFill>
              </a:rPr>
              <a:t>不命中开销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-1" y="0"/>
            <a:ext cx="6905626" cy="771525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二</a:t>
            </a:r>
            <a:r>
              <a:rPr lang="en-US" altLang="zh-CN" sz="3600" b="1" dirty="0"/>
              <a:t> Cache </a:t>
            </a:r>
            <a:r>
              <a:rPr lang="zh-CN" altLang="en-US" sz="3600" b="1" dirty="0"/>
              <a:t>性能分析与改进</a:t>
            </a:r>
            <a:endParaRPr lang="zh-CN" altLang="en-US" sz="3600" dirty="0"/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0" y="857250"/>
            <a:ext cx="6905626" cy="771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b="1" dirty="0"/>
              <a:t>2.1  </a:t>
            </a:r>
            <a:r>
              <a:rPr lang="zh-CN" altLang="en-US" sz="2800" b="1" dirty="0"/>
              <a:t>平均访存时间与程序执行时间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092427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8"/>
          <p:cNvSpPr>
            <a:spLocks noChangeArrowheads="1"/>
          </p:cNvSpPr>
          <p:nvPr/>
        </p:nvSpPr>
        <p:spPr bwMode="auto">
          <a:xfrm>
            <a:off x="1708732" y="3642519"/>
            <a:ext cx="8569325" cy="29527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  <a:defRPr kumimoji="1" sz="2400">
                <a:solidFill>
                  <a:srgbClr val="E24C05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q"/>
              <a:defRPr kumimoji="1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rgbClr val="006600"/>
              </a:buClr>
              <a:buSzPct val="6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508" name="Rectangle 6"/>
          <p:cNvSpPr>
            <a:spLocks noChangeArrowheads="1"/>
          </p:cNvSpPr>
          <p:nvPr/>
        </p:nvSpPr>
        <p:spPr bwMode="auto">
          <a:xfrm>
            <a:off x="1524001" y="2613969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  <a:defRPr kumimoji="1" sz="2400">
                <a:solidFill>
                  <a:srgbClr val="E24C05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q"/>
              <a:defRPr kumimoji="1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rgbClr val="006600"/>
              </a:buClr>
              <a:buSzPct val="6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509" name="Text Box 1030"/>
          <p:cNvSpPr txBox="1">
            <a:spLocks noChangeArrowheads="1"/>
          </p:cNvSpPr>
          <p:nvPr/>
        </p:nvSpPr>
        <p:spPr bwMode="auto">
          <a:xfrm>
            <a:off x="2073276" y="3802064"/>
            <a:ext cx="8353425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  <a:defRPr kumimoji="1" sz="2400">
                <a:solidFill>
                  <a:srgbClr val="E24C05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q"/>
              <a:defRPr kumimoji="1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rgbClr val="006600"/>
              </a:buClr>
              <a:buSzPct val="6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CPU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时间＝（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CPU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执行周期数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访存次数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×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不命中率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×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不命中开销）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× 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时钟周期时间</a:t>
            </a:r>
          </a:p>
        </p:txBody>
      </p:sp>
      <p:sp>
        <p:nvSpPr>
          <p:cNvPr id="21510" name="Rectangle 1032"/>
          <p:cNvSpPr>
            <a:spLocks noChangeArrowheads="1"/>
          </p:cNvSpPr>
          <p:nvPr/>
        </p:nvSpPr>
        <p:spPr bwMode="auto">
          <a:xfrm>
            <a:off x="1524001" y="2642544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  <a:defRPr kumimoji="1" sz="2400">
                <a:solidFill>
                  <a:srgbClr val="E24C05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q"/>
              <a:defRPr kumimoji="1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rgbClr val="006600"/>
              </a:buClr>
              <a:buSzPct val="6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21511" name="Object 10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5796975"/>
              </p:ext>
            </p:extLst>
          </p:nvPr>
        </p:nvGraphicFramePr>
        <p:xfrm>
          <a:off x="2217739" y="4779963"/>
          <a:ext cx="7704137" cy="67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445000" imgH="393700" progId="Equation.3">
                  <p:embed/>
                </p:oleObj>
              </mc:Choice>
              <mc:Fallback>
                <p:oleObj name="公式" r:id="rId2" imgW="4445000" imgH="393700" progId="Equation.3">
                  <p:embed/>
                  <p:pic>
                    <p:nvPicPr>
                      <p:cNvPr id="21511" name="Object 10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7739" y="4779963"/>
                        <a:ext cx="7704137" cy="677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2" name="Text Box 1033"/>
          <p:cNvSpPr txBox="1">
            <a:spLocks noChangeArrowheads="1"/>
          </p:cNvSpPr>
          <p:nvPr/>
        </p:nvSpPr>
        <p:spPr bwMode="auto">
          <a:xfrm>
            <a:off x="3009901" y="5540376"/>
            <a:ext cx="6913563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  <a:defRPr kumimoji="1" sz="2400">
                <a:solidFill>
                  <a:srgbClr val="E24C05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q"/>
              <a:defRPr kumimoji="1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rgbClr val="006600"/>
              </a:buClr>
              <a:buSzPct val="6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200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IC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×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00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CPI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execution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＋每条指令的平均访存次数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×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不命中率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×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不命中开销）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× 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时钟周期时间</a:t>
            </a:r>
          </a:p>
        </p:txBody>
      </p:sp>
      <p:sp>
        <p:nvSpPr>
          <p:cNvPr id="2" name="矩形 1"/>
          <p:cNvSpPr/>
          <p:nvPr/>
        </p:nvSpPr>
        <p:spPr>
          <a:xfrm>
            <a:off x="676275" y="308510"/>
            <a:ext cx="11315700" cy="3093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ts val="336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2800" dirty="0"/>
              <a:t>程序执行时间</a:t>
            </a:r>
          </a:p>
          <a:p>
            <a:pPr marL="457200" indent="-457200">
              <a:lnSpc>
                <a:spcPts val="3360"/>
              </a:lnSpc>
              <a:buNone/>
              <a:defRPr/>
            </a:pPr>
            <a:r>
              <a:rPr lang="en-US" altLang="zh-CN" sz="2800" dirty="0"/>
              <a:t>         CPU</a:t>
            </a:r>
            <a:r>
              <a:rPr lang="zh-CN" altLang="en-US" sz="2800" dirty="0"/>
              <a:t>时间＝（</a:t>
            </a:r>
            <a:r>
              <a:rPr lang="en-US" altLang="zh-CN" sz="2800" dirty="0"/>
              <a:t>CPU</a:t>
            </a:r>
            <a:r>
              <a:rPr lang="zh-CN" altLang="en-US" sz="2800" dirty="0"/>
              <a:t>执行周期数</a:t>
            </a:r>
            <a:r>
              <a:rPr lang="en-US" altLang="zh-CN" sz="2800" dirty="0"/>
              <a:t>+</a:t>
            </a:r>
            <a:r>
              <a:rPr lang="zh-CN" altLang="en-US" sz="2800" dirty="0"/>
              <a:t>存储器停顿周期数）</a:t>
            </a:r>
            <a:r>
              <a:rPr lang="en-US" altLang="zh-CN" sz="2800" dirty="0"/>
              <a:t>× </a:t>
            </a:r>
            <a:r>
              <a:rPr lang="zh-CN" altLang="en-US" sz="2800" dirty="0"/>
              <a:t>时钟周期时间</a:t>
            </a:r>
          </a:p>
          <a:p>
            <a:pPr marL="457200" indent="-457200">
              <a:lnSpc>
                <a:spcPts val="3360"/>
              </a:lnSpc>
              <a:buNone/>
              <a:defRPr/>
            </a:pPr>
            <a:r>
              <a:rPr lang="zh-CN" altLang="en-US" sz="2800" dirty="0"/>
              <a:t>其中： </a:t>
            </a:r>
          </a:p>
          <a:p>
            <a:pPr lvl="1" indent="-457200">
              <a:lnSpc>
                <a:spcPts val="3360"/>
              </a:lnSpc>
              <a:spcBef>
                <a:spcPts val="1000"/>
              </a:spcBef>
              <a:defRPr/>
            </a:pPr>
            <a:r>
              <a:rPr lang="zh-CN" altLang="en-US" sz="2400" dirty="0"/>
              <a:t>           存储器停顿时钟周期数＝“读”的次数</a:t>
            </a:r>
            <a:r>
              <a:rPr lang="en-US" altLang="zh-CN" sz="2400" dirty="0"/>
              <a:t>×</a:t>
            </a:r>
            <a:r>
              <a:rPr lang="zh-CN" altLang="en-US" sz="2400" dirty="0"/>
              <a:t>读不命中率</a:t>
            </a:r>
            <a:r>
              <a:rPr lang="en-US" altLang="zh-CN" sz="2400" dirty="0"/>
              <a:t>×</a:t>
            </a:r>
            <a:r>
              <a:rPr lang="zh-CN" altLang="en-US" sz="2400" dirty="0"/>
              <a:t>读不命中开销</a:t>
            </a:r>
            <a:endParaRPr lang="en-US" altLang="zh-CN" sz="2400" dirty="0"/>
          </a:p>
          <a:p>
            <a:pPr lvl="1" indent="-457200">
              <a:lnSpc>
                <a:spcPts val="3360"/>
              </a:lnSpc>
              <a:spcBef>
                <a:spcPts val="1000"/>
              </a:spcBef>
              <a:defRPr/>
            </a:pPr>
            <a:r>
              <a:rPr lang="en-US" altLang="zh-CN" sz="2400" dirty="0"/>
              <a:t>                                                                 </a:t>
            </a:r>
            <a:r>
              <a:rPr lang="zh-CN" altLang="en-US" sz="2400" dirty="0"/>
              <a:t>＋“写”的次数</a:t>
            </a:r>
            <a:r>
              <a:rPr lang="en-US" altLang="zh-CN" sz="2400" dirty="0"/>
              <a:t>×</a:t>
            </a:r>
            <a:r>
              <a:rPr lang="zh-CN" altLang="en-US" sz="2400" dirty="0"/>
              <a:t>写不命中率</a:t>
            </a:r>
            <a:r>
              <a:rPr lang="en-US" altLang="zh-CN" sz="2400" dirty="0"/>
              <a:t>×</a:t>
            </a:r>
            <a:r>
              <a:rPr lang="zh-CN" altLang="en-US" sz="2400" dirty="0"/>
              <a:t>写不命中开销</a:t>
            </a:r>
          </a:p>
          <a:p>
            <a:pPr lvl="1" indent="-457200">
              <a:lnSpc>
                <a:spcPts val="3360"/>
              </a:lnSpc>
              <a:spcBef>
                <a:spcPts val="1000"/>
              </a:spcBef>
              <a:defRPr/>
            </a:pPr>
            <a:r>
              <a:rPr lang="zh-CN" altLang="en-US" sz="2400" dirty="0"/>
              <a:t>           存储器停顿时钟周期数＝访存次数</a:t>
            </a:r>
            <a:r>
              <a:rPr lang="en-US" altLang="zh-CN" sz="2400" dirty="0"/>
              <a:t>×</a:t>
            </a:r>
            <a:r>
              <a:rPr lang="zh-CN" altLang="en-US" sz="2400" dirty="0"/>
              <a:t>不命中率</a:t>
            </a:r>
            <a:r>
              <a:rPr lang="en-US" altLang="zh-CN" sz="2400" dirty="0"/>
              <a:t>×</a:t>
            </a:r>
            <a:r>
              <a:rPr lang="zh-CN" altLang="en-US" sz="2400" dirty="0"/>
              <a:t>不命中开销</a:t>
            </a:r>
          </a:p>
        </p:txBody>
      </p:sp>
    </p:spTree>
    <p:extLst>
      <p:ext uri="{BB962C8B-B14F-4D97-AF65-F5344CB8AC3E}">
        <p14:creationId xmlns:p14="http://schemas.microsoft.com/office/powerpoint/2010/main" val="3320305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77862" y="85725"/>
            <a:ext cx="10523537" cy="1278464"/>
          </a:xfrm>
        </p:spPr>
        <p:txBody>
          <a:bodyPr>
            <a:normAutofit lnSpcReduction="10000"/>
          </a:bodyPr>
          <a:lstStyle/>
          <a:p>
            <a:pPr marL="628650" indent="-542925">
              <a:lnSpc>
                <a:spcPct val="130000"/>
              </a:lnSpc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例 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用一个和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Alpha AXP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类似的机器作为第一个例子。假设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不命中开销为</a:t>
            </a:r>
            <a:r>
              <a:rPr lang="en-US" altLang="zh-CN" sz="2000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50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个时钟周期，当不考虑存储器停顿时，所有指令的执行时间都是</a:t>
            </a:r>
            <a:r>
              <a:rPr lang="en-US" altLang="zh-CN" sz="2000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2.0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个时钟周期，访问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不命中率为</a:t>
            </a:r>
            <a:r>
              <a:rPr lang="en-US" altLang="zh-CN" sz="2000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2%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，平均每条指令访存</a:t>
            </a:r>
            <a:r>
              <a:rPr lang="en-US" altLang="zh-CN" sz="2000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1.33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次。试分析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对性能的影响。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21413" y="1364188"/>
            <a:ext cx="10534650" cy="5109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latin typeface="宋体" panose="02010600030101010101" pitchFamily="2" charset="-122"/>
              </a:rPr>
              <a:t>解 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CPU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时间</a:t>
            </a:r>
            <a:r>
              <a:rPr lang="zh-CN" altLang="en-US" sz="2000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有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cache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IC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×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0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CPI</a:t>
            </a:r>
            <a:r>
              <a:rPr lang="en-US" altLang="zh-CN" sz="2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execution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＋每条指令的平均访存次数</a:t>
            </a:r>
          </a:p>
          <a:p>
            <a:pPr marL="457200" indent="-457200">
              <a:lnSpc>
                <a:spcPts val="3000"/>
              </a:lnSpc>
              <a:spcBef>
                <a:spcPts val="0"/>
              </a:spcBef>
              <a:buNone/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        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×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不命中率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×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不命中开销）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× 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时钟周期时间</a:t>
            </a:r>
          </a:p>
          <a:p>
            <a:pPr marL="457200" indent="-457200">
              <a:lnSpc>
                <a:spcPts val="3000"/>
              </a:lnSpc>
              <a:spcBef>
                <a:spcPts val="0"/>
              </a:spcBef>
              <a:buNone/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     ＝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IC ×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2.0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＋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1.33×2 %×50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）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× 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时钟周期时间</a:t>
            </a:r>
          </a:p>
          <a:p>
            <a:pPr marL="457200" indent="-457200">
              <a:lnSpc>
                <a:spcPts val="3000"/>
              </a:lnSpc>
              <a:spcBef>
                <a:spcPts val="0"/>
              </a:spcBef>
              <a:buNone/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      ＝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IC × 3.33× 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时钟周期时间</a:t>
            </a:r>
          </a:p>
          <a:p>
            <a:pPr marL="457200" indent="-457200">
              <a:lnSpc>
                <a:spcPts val="3000"/>
              </a:lnSpc>
              <a:buNone/>
            </a:pPr>
            <a:endParaRPr lang="en-US" altLang="zh-CN" sz="20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457200" indent="-457200">
              <a:lnSpc>
                <a:spcPts val="3000"/>
              </a:lnSpc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    考虑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Cache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的不命中后，性能为：</a:t>
            </a:r>
          </a:p>
          <a:p>
            <a:pPr marL="457200" indent="620713">
              <a:lnSpc>
                <a:spcPts val="3000"/>
              </a:lnSpc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 　 </a:t>
            </a:r>
            <a:r>
              <a:rPr lang="en-US" altLang="zh-CN" sz="2000" dirty="0">
                <a:latin typeface="宋体" panose="02010600030101010101" pitchFamily="2" charset="-122"/>
              </a:rPr>
              <a:t>CPU</a:t>
            </a:r>
            <a:r>
              <a:rPr lang="zh-CN" altLang="en-US" sz="2000" dirty="0">
                <a:latin typeface="宋体" panose="02010600030101010101" pitchFamily="2" charset="-122"/>
              </a:rPr>
              <a:t>时间</a:t>
            </a:r>
            <a:r>
              <a:rPr lang="zh-CN" altLang="en-US" sz="2000" baseline="-25000" dirty="0">
                <a:latin typeface="宋体" panose="02010600030101010101" pitchFamily="2" charset="-122"/>
              </a:rPr>
              <a:t>有</a:t>
            </a:r>
            <a:r>
              <a:rPr lang="en-US" altLang="zh-CN" sz="2000" baseline="-25000" dirty="0">
                <a:latin typeface="宋体" panose="02010600030101010101" pitchFamily="2" charset="-122"/>
              </a:rPr>
              <a:t>cache  </a:t>
            </a:r>
            <a:r>
              <a:rPr lang="zh-CN" altLang="en-US" sz="2000" dirty="0">
                <a:latin typeface="宋体" panose="02010600030101010101" pitchFamily="2" charset="-122"/>
              </a:rPr>
              <a:t>＝</a:t>
            </a:r>
            <a:r>
              <a:rPr lang="en-US" altLang="zh-CN" sz="2000" dirty="0">
                <a:latin typeface="宋体" panose="02010600030101010101" pitchFamily="2" charset="-122"/>
              </a:rPr>
              <a:t>IC×</a:t>
            </a:r>
            <a:r>
              <a:rPr lang="zh-CN" altLang="en-US" sz="2000" dirty="0">
                <a:latin typeface="宋体" panose="02010600030101010101" pitchFamily="2" charset="-122"/>
              </a:rPr>
              <a:t>（</a:t>
            </a:r>
            <a:r>
              <a:rPr lang="en-US" altLang="zh-CN" sz="2000" dirty="0">
                <a:latin typeface="宋体" panose="02010600030101010101" pitchFamily="2" charset="-122"/>
              </a:rPr>
              <a:t>2.0</a:t>
            </a:r>
            <a:r>
              <a:rPr lang="zh-CN" altLang="en-US" sz="2000" dirty="0">
                <a:latin typeface="宋体" panose="02010600030101010101" pitchFamily="2" charset="-122"/>
              </a:rPr>
              <a:t>＋</a:t>
            </a:r>
            <a:r>
              <a:rPr lang="en-US" altLang="zh-CN" sz="2000" dirty="0">
                <a:latin typeface="宋体" panose="02010600030101010101" pitchFamily="2" charset="-122"/>
              </a:rPr>
              <a:t>1.33×2 %×50</a:t>
            </a:r>
            <a:r>
              <a:rPr lang="zh-CN" altLang="en-US" sz="2000" dirty="0">
                <a:latin typeface="宋体" panose="02010600030101010101" pitchFamily="2" charset="-122"/>
              </a:rPr>
              <a:t>）</a:t>
            </a:r>
            <a:r>
              <a:rPr lang="en-US" altLang="zh-CN" sz="2000" dirty="0">
                <a:latin typeface="宋体" panose="02010600030101010101" pitchFamily="2" charset="-122"/>
              </a:rPr>
              <a:t>×</a:t>
            </a:r>
            <a:r>
              <a:rPr lang="zh-CN" altLang="en-US" sz="2000" dirty="0">
                <a:latin typeface="宋体" panose="02010600030101010101" pitchFamily="2" charset="-122"/>
              </a:rPr>
              <a:t>时钟周期时间</a:t>
            </a:r>
          </a:p>
          <a:p>
            <a:pPr marL="457200" indent="620713">
              <a:lnSpc>
                <a:spcPts val="3000"/>
              </a:lnSpc>
              <a:buNone/>
            </a:pPr>
            <a:r>
              <a:rPr lang="zh-CN" altLang="en-US" sz="2000" dirty="0">
                <a:latin typeface="宋体" panose="02010600030101010101" pitchFamily="2" charset="-122"/>
              </a:rPr>
              <a:t>             　  ＝</a:t>
            </a:r>
            <a:r>
              <a:rPr lang="en-US" altLang="zh-CN" sz="2000" dirty="0">
                <a:latin typeface="宋体" panose="02010600030101010101" pitchFamily="2" charset="-122"/>
              </a:rPr>
              <a:t>IC×3.33×</a:t>
            </a:r>
            <a:r>
              <a:rPr lang="zh-CN" altLang="en-US" sz="2000" dirty="0">
                <a:latin typeface="宋体" panose="02010600030101010101" pitchFamily="2" charset="-122"/>
              </a:rPr>
              <a:t>时钟周期时间</a:t>
            </a:r>
          </a:p>
          <a:p>
            <a:pPr marL="457200" indent="620713">
              <a:lnSpc>
                <a:spcPts val="3000"/>
              </a:lnSpc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　　实际</a:t>
            </a:r>
            <a:r>
              <a:rPr lang="en-US" altLang="zh-CN" sz="2000" i="1" dirty="0">
                <a:solidFill>
                  <a:srgbClr val="000000"/>
                </a:solidFill>
                <a:latin typeface="宋体" panose="02010600030101010101" pitchFamily="2" charset="-122"/>
              </a:rPr>
              <a:t>CPI 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dirty="0">
                <a:solidFill>
                  <a:srgbClr val="9933FF"/>
                </a:solidFill>
                <a:latin typeface="宋体" panose="02010600030101010101" pitchFamily="2" charset="-122"/>
              </a:rPr>
              <a:t>3.33</a:t>
            </a:r>
          </a:p>
          <a:p>
            <a:pPr marL="457200" indent="620713">
              <a:lnSpc>
                <a:spcPts val="3000"/>
              </a:lnSpc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　　　　　</a:t>
            </a:r>
            <a:r>
              <a:rPr lang="en-US" altLang="zh-CN" sz="2000" dirty="0">
                <a:latin typeface="宋体" panose="02010600030101010101" pitchFamily="2" charset="-122"/>
              </a:rPr>
              <a:t>3.33/2.0 = 1.67(</a:t>
            </a:r>
            <a:r>
              <a:rPr lang="zh-CN" altLang="en-US" sz="2000" dirty="0">
                <a:latin typeface="宋体" panose="02010600030101010101" pitchFamily="2" charset="-122"/>
              </a:rPr>
              <a:t>倍</a:t>
            </a:r>
            <a:r>
              <a:rPr lang="en-US" altLang="zh-CN" sz="2000" dirty="0">
                <a:latin typeface="宋体" panose="02010600030101010101" pitchFamily="2" charset="-122"/>
              </a:rPr>
              <a:t>)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 </a:t>
            </a:r>
          </a:p>
          <a:p>
            <a:pPr marL="457200" indent="620713">
              <a:lnSpc>
                <a:spcPts val="3000"/>
              </a:lnSpc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　　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时间也增加为原来的</a:t>
            </a:r>
            <a:r>
              <a:rPr lang="en-US" altLang="zh-CN" sz="2000" dirty="0">
                <a:solidFill>
                  <a:srgbClr val="9933FF"/>
                </a:solidFill>
                <a:latin typeface="宋体" panose="02010600030101010101" pitchFamily="2" charset="-122"/>
              </a:rPr>
              <a:t>1.67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倍。</a:t>
            </a:r>
          </a:p>
          <a:p>
            <a:pPr marL="457200" indent="620713">
              <a:lnSpc>
                <a:spcPts val="3000"/>
              </a:lnSpc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　　但若不采用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Cache,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则：</a:t>
            </a:r>
          </a:p>
          <a:p>
            <a:pPr marL="457200" indent="620713">
              <a:lnSpc>
                <a:spcPts val="3000"/>
              </a:lnSpc>
              <a:buNone/>
            </a:pPr>
            <a:r>
              <a:rPr lang="zh-CN" altLang="en-US" sz="2000" i="1" dirty="0">
                <a:latin typeface="宋体" panose="02010600030101010101" pitchFamily="2" charset="-122"/>
              </a:rPr>
              <a:t>　　　　　</a:t>
            </a:r>
            <a:r>
              <a:rPr lang="en-US" altLang="zh-CN" sz="2000" i="1" dirty="0">
                <a:latin typeface="宋体" panose="02010600030101010101" pitchFamily="2" charset="-122"/>
              </a:rPr>
              <a:t>CPI</a:t>
            </a:r>
            <a:r>
              <a:rPr lang="zh-CN" altLang="en-US" sz="2000" dirty="0">
                <a:latin typeface="宋体" panose="02010600030101010101" pitchFamily="2" charset="-122"/>
              </a:rPr>
              <a:t>＝</a:t>
            </a:r>
            <a:r>
              <a:rPr lang="en-US" altLang="zh-CN" sz="2000" dirty="0">
                <a:latin typeface="宋体" panose="02010600030101010101" pitchFamily="2" charset="-122"/>
              </a:rPr>
              <a:t>2.0</a:t>
            </a:r>
            <a:r>
              <a:rPr lang="zh-CN" altLang="en-US" sz="2000" dirty="0">
                <a:latin typeface="宋体" panose="02010600030101010101" pitchFamily="2" charset="-122"/>
              </a:rPr>
              <a:t>＋</a:t>
            </a:r>
            <a:r>
              <a:rPr lang="en-US" altLang="zh-CN" sz="2000" dirty="0">
                <a:latin typeface="宋体" panose="02010600030101010101" pitchFamily="2" charset="-122"/>
              </a:rPr>
              <a:t>50×1.33</a:t>
            </a:r>
            <a:r>
              <a:rPr lang="zh-CN" altLang="en-US" sz="2000" dirty="0">
                <a:latin typeface="宋体" panose="02010600030101010101" pitchFamily="2" charset="-122"/>
              </a:rPr>
              <a:t>＝</a:t>
            </a:r>
            <a:r>
              <a:rPr lang="en-US" altLang="zh-CN" sz="2000" dirty="0">
                <a:solidFill>
                  <a:srgbClr val="9933FF"/>
                </a:solidFill>
                <a:latin typeface="宋体" panose="02010600030101010101" pitchFamily="2" charset="-122"/>
              </a:rPr>
              <a:t>68.5</a:t>
            </a:r>
          </a:p>
        </p:txBody>
      </p:sp>
    </p:spTree>
    <p:extLst>
      <p:ext uri="{BB962C8B-B14F-4D97-AF65-F5344CB8AC3E}">
        <p14:creationId xmlns:p14="http://schemas.microsoft.com/office/powerpoint/2010/main" val="3023966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42925" y="425450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dirty="0"/>
              <a:t>Cache</a:t>
            </a:r>
            <a:r>
              <a:rPr lang="zh-CN" altLang="en-US" dirty="0"/>
              <a:t>不命中对于一个</a:t>
            </a:r>
            <a:r>
              <a:rPr lang="en-US" altLang="zh-CN" dirty="0"/>
              <a:t>CPI</a:t>
            </a:r>
            <a:r>
              <a:rPr lang="zh-CN" altLang="en-US" dirty="0"/>
              <a:t>较小而时钟频率较高的</a:t>
            </a:r>
            <a:r>
              <a:rPr lang="en-US" altLang="zh-CN" dirty="0"/>
              <a:t>CPU</a:t>
            </a:r>
            <a:r>
              <a:rPr lang="zh-CN" altLang="en-US" dirty="0"/>
              <a:t>来说，影响是双重的：</a:t>
            </a:r>
          </a:p>
          <a:p>
            <a:pPr marL="1085850" lvl="1" indent="-457200">
              <a:lnSpc>
                <a:spcPct val="150000"/>
              </a:lnSpc>
              <a:spcBef>
                <a:spcPts val="0"/>
              </a:spcBef>
            </a:pPr>
            <a:r>
              <a:rPr lang="en-US" altLang="zh-CN" dirty="0" err="1">
                <a:latin typeface="黑体" panose="02010609060101010101" pitchFamily="49" charset="-122"/>
              </a:rPr>
              <a:t>CPI</a:t>
            </a:r>
            <a:r>
              <a:rPr lang="en-US" altLang="zh-CN" baseline="-25000" dirty="0" err="1">
                <a:latin typeface="黑体" panose="02010609060101010101" pitchFamily="49" charset="-122"/>
              </a:rPr>
              <a:t>execution</a:t>
            </a:r>
            <a:r>
              <a:rPr lang="zh-CN" altLang="en-US" dirty="0">
                <a:latin typeface="黑体" panose="02010609060101010101" pitchFamily="49" charset="-122"/>
              </a:rPr>
              <a:t>越低，固定周期数的</a:t>
            </a:r>
            <a:r>
              <a:rPr lang="en-US" altLang="zh-CN" dirty="0">
                <a:latin typeface="黑体" panose="02010609060101010101" pitchFamily="49" charset="-122"/>
              </a:rPr>
              <a:t>Cache</a:t>
            </a:r>
            <a:r>
              <a:rPr lang="zh-CN" altLang="en-US" dirty="0">
                <a:latin typeface="黑体" panose="02010609060101010101" pitchFamily="49" charset="-122"/>
              </a:rPr>
              <a:t>不命中开销的相对影响就越大。</a:t>
            </a:r>
          </a:p>
          <a:p>
            <a:pPr marL="1085850" lvl="1" indent="-457200"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黑体" panose="02010609060101010101" pitchFamily="49" charset="-122"/>
              </a:rPr>
              <a:t>在计算</a:t>
            </a:r>
            <a:r>
              <a:rPr lang="en-US" altLang="zh-CN" dirty="0">
                <a:latin typeface="黑体" panose="02010609060101010101" pitchFamily="49" charset="-122"/>
              </a:rPr>
              <a:t>CPI</a:t>
            </a:r>
            <a:r>
              <a:rPr lang="zh-CN" altLang="en-US" dirty="0">
                <a:latin typeface="黑体" panose="02010609060101010101" pitchFamily="49" charset="-122"/>
              </a:rPr>
              <a:t>时，不命中开销的单位是时钟周期数。因此，即使两台计算机的存储层次完全相同，时钟频率较高的</a:t>
            </a:r>
            <a:r>
              <a:rPr lang="en-US" altLang="zh-CN" dirty="0">
                <a:latin typeface="黑体" panose="02010609060101010101" pitchFamily="49" charset="-122"/>
              </a:rPr>
              <a:t>CPU</a:t>
            </a:r>
            <a:r>
              <a:rPr lang="zh-CN" altLang="en-US" dirty="0">
                <a:latin typeface="黑体" panose="02010609060101010101" pitchFamily="49" charset="-122"/>
              </a:rPr>
              <a:t>的不命中开销较大，其</a:t>
            </a:r>
            <a:r>
              <a:rPr lang="en-US" altLang="zh-CN" dirty="0">
                <a:latin typeface="黑体" panose="02010609060101010101" pitchFamily="49" charset="-122"/>
              </a:rPr>
              <a:t>CPI</a:t>
            </a:r>
            <a:r>
              <a:rPr lang="zh-CN" altLang="en-US" dirty="0">
                <a:latin typeface="黑体" panose="02010609060101010101" pitchFamily="49" charset="-122"/>
              </a:rPr>
              <a:t>中存储器停顿这部分也就较大。</a:t>
            </a:r>
          </a:p>
          <a:p>
            <a:pPr marL="1085850" lvl="1" indent="-45720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>
                <a:solidFill>
                  <a:srgbClr val="E24C05"/>
                </a:solidFill>
                <a:latin typeface="黑体" panose="02010609060101010101" pitchFamily="49" charset="-122"/>
              </a:rPr>
              <a:t>　     因此</a:t>
            </a:r>
            <a:r>
              <a:rPr lang="en-US" altLang="zh-CN" dirty="0">
                <a:solidFill>
                  <a:srgbClr val="E24C05"/>
                </a:solidFill>
                <a:latin typeface="黑体" panose="02010609060101010101" pitchFamily="49" charset="-122"/>
              </a:rPr>
              <a:t>Cache</a:t>
            </a:r>
            <a:r>
              <a:rPr lang="zh-CN" altLang="en-US" dirty="0">
                <a:solidFill>
                  <a:srgbClr val="E24C05"/>
                </a:solidFill>
                <a:latin typeface="黑体" panose="02010609060101010101" pitchFamily="49" charset="-122"/>
              </a:rPr>
              <a:t>对于低</a:t>
            </a:r>
            <a:r>
              <a:rPr lang="en-US" altLang="zh-CN" dirty="0">
                <a:solidFill>
                  <a:srgbClr val="E24C05"/>
                </a:solidFill>
                <a:latin typeface="黑体" panose="02010609060101010101" pitchFamily="49" charset="-122"/>
              </a:rPr>
              <a:t>CPI</a:t>
            </a:r>
            <a:r>
              <a:rPr lang="zh-CN" altLang="en-US" dirty="0">
                <a:solidFill>
                  <a:srgbClr val="E24C05"/>
                </a:solidFill>
                <a:latin typeface="黑体" panose="02010609060101010101" pitchFamily="49" charset="-122"/>
              </a:rPr>
              <a:t>、高时钟频率的</a:t>
            </a:r>
            <a:r>
              <a:rPr lang="en-US" altLang="zh-CN" dirty="0">
                <a:solidFill>
                  <a:srgbClr val="E24C05"/>
                </a:solidFill>
                <a:latin typeface="黑体" panose="02010609060101010101" pitchFamily="49" charset="-122"/>
              </a:rPr>
              <a:t>CPU</a:t>
            </a:r>
            <a:r>
              <a:rPr lang="zh-CN" altLang="en-US" dirty="0">
                <a:solidFill>
                  <a:srgbClr val="E24C05"/>
                </a:solidFill>
                <a:latin typeface="黑体" panose="02010609060101010101" pitchFamily="49" charset="-122"/>
              </a:rPr>
              <a:t>来说更加重要。</a:t>
            </a:r>
            <a:r>
              <a:rPr lang="zh-CN" altLang="en-US" dirty="0">
                <a:latin typeface="黑体" panose="02010609060101010101" pitchFamily="49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20421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68312" y="234951"/>
            <a:ext cx="10609263" cy="5632449"/>
          </a:xfrm>
        </p:spPr>
        <p:txBody>
          <a:bodyPr>
            <a:normAutofit lnSpcReduction="10000"/>
          </a:bodyPr>
          <a:lstStyle/>
          <a:p>
            <a:pPr marL="628650" indent="-628650">
              <a:lnSpc>
                <a:spcPct val="150000"/>
              </a:lnSpc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考虑两种不同组织结构的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：直接映像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和两路组相联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，试问它们对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CPU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的性能有何影响？先求平均访存时间，然后再计算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CPU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性能。分析时请用以下假设：</a:t>
            </a:r>
          </a:p>
          <a:p>
            <a:pPr marL="1162050" indent="-447675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理想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（命中率为</a:t>
            </a:r>
            <a:r>
              <a:rPr lang="en-US" altLang="zh-CN" sz="2000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100%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）情况下的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CPI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en-US" altLang="zh-CN" sz="2000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2.0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，时钟周期为</a:t>
            </a:r>
            <a:r>
              <a:rPr lang="en-US" altLang="zh-CN" sz="2000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2ns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，平均每条指令访存</a:t>
            </a:r>
            <a:r>
              <a:rPr lang="en-US" altLang="zh-CN" sz="2000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1.3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次。</a:t>
            </a:r>
          </a:p>
          <a:p>
            <a:pPr marL="1162050" indent="-447675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两种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容量均为</a:t>
            </a:r>
            <a:r>
              <a:rPr lang="en-US" altLang="zh-CN" sz="2000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64KB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，块大小都是</a:t>
            </a:r>
            <a:r>
              <a:rPr lang="en-US" altLang="zh-CN" sz="2000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32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字节。</a:t>
            </a:r>
          </a:p>
          <a:p>
            <a:pPr marL="1162050" indent="-447675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在组相联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中，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由于多路选择器的存在而使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CPU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的时钟周期增加到原来的</a:t>
            </a:r>
            <a:r>
              <a:rPr lang="en-US" altLang="zh-CN" sz="2000" dirty="0">
                <a:solidFill>
                  <a:srgbClr val="9933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1.10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倍。这是因为对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的访问总是处于关键路径上，对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CPU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的时钟周期有直接的影响。</a:t>
            </a:r>
            <a:endParaRPr lang="en-US" altLang="zh-CN" sz="20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162050" indent="-447675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(4) 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这两种结构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Cache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的不命中开销都是</a:t>
            </a:r>
            <a:r>
              <a:rPr lang="en-US" altLang="zh-CN" sz="2000" dirty="0">
                <a:solidFill>
                  <a:srgbClr val="9933FF"/>
                </a:solidFill>
                <a:latin typeface="宋体" panose="02010600030101010101" pitchFamily="2" charset="-122"/>
              </a:rPr>
              <a:t>70ns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。（在实际应用中，应取整为整数个时钟周期）</a:t>
            </a:r>
          </a:p>
          <a:p>
            <a:pPr marL="1162050" indent="-447675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(5) 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命中时间为</a:t>
            </a:r>
            <a:r>
              <a:rPr lang="en-US" altLang="zh-CN" sz="2000" dirty="0">
                <a:solidFill>
                  <a:srgbClr val="9933FF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个时钟周期，</a:t>
            </a:r>
            <a:r>
              <a:rPr lang="en-US" altLang="zh-CN" sz="2000" dirty="0">
                <a:solidFill>
                  <a:srgbClr val="9933FF"/>
                </a:solidFill>
                <a:latin typeface="宋体" panose="02010600030101010101" pitchFamily="2" charset="-122"/>
              </a:rPr>
              <a:t>64KB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直接映像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Cache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的不命中率为</a:t>
            </a:r>
            <a:r>
              <a:rPr lang="en-US" altLang="zh-CN" sz="2000" dirty="0">
                <a:solidFill>
                  <a:srgbClr val="9933FF"/>
                </a:solidFill>
                <a:latin typeface="宋体" panose="02010600030101010101" pitchFamily="2" charset="-122"/>
              </a:rPr>
              <a:t>1.4%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，相同容量的两路组相联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Cache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的不命中率为</a:t>
            </a:r>
            <a:r>
              <a:rPr lang="en-US" altLang="zh-CN" sz="2000" dirty="0">
                <a:solidFill>
                  <a:srgbClr val="9933FF"/>
                </a:solidFill>
                <a:latin typeface="宋体" panose="02010600030101010101" pitchFamily="2" charset="-122"/>
              </a:rPr>
              <a:t>1.0%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。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indent="-457200">
              <a:lnSpc>
                <a:spcPct val="130000"/>
              </a:lnSpc>
              <a:buNone/>
            </a:pPr>
            <a:endParaRPr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30211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50067" y="764342"/>
            <a:ext cx="7785980" cy="1082566"/>
          </a:xfrm>
        </p:spPr>
        <p:txBody>
          <a:bodyPr>
            <a:no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解   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平均访存时间为：</a:t>
            </a:r>
            <a:endParaRPr lang="en-US" altLang="zh-CN" sz="20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          平均访存时间＝命中时间＋不命中率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×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不命中开销</a:t>
            </a:r>
          </a:p>
          <a:p>
            <a:pPr marL="0" indent="0">
              <a:lnSpc>
                <a:spcPct val="130000"/>
              </a:lnSpc>
              <a:buNone/>
            </a:pP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136047" y="0"/>
            <a:ext cx="4055953" cy="31393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latin typeface="宋体" panose="02010600030101010101" pitchFamily="2" charset="-122"/>
              </a:rPr>
              <a:t>(1)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</a:rPr>
              <a:t>理想</a:t>
            </a:r>
            <a:r>
              <a:rPr lang="en-US" altLang="zh-CN" sz="1200" dirty="0">
                <a:solidFill>
                  <a:srgbClr val="000000"/>
                </a:solidFill>
                <a:latin typeface="宋体" panose="02010600030101010101" pitchFamily="2" charset="-122"/>
              </a:rPr>
              <a:t>Cache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</a:rPr>
              <a:t>（命中率为</a:t>
            </a:r>
            <a:r>
              <a:rPr lang="en-US" altLang="zh-CN" sz="1200" dirty="0">
                <a:solidFill>
                  <a:srgbClr val="9933FF"/>
                </a:solidFill>
                <a:latin typeface="宋体" panose="02010600030101010101" pitchFamily="2" charset="-122"/>
              </a:rPr>
              <a:t>100%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</a:rPr>
              <a:t>）情况下的</a:t>
            </a:r>
            <a:r>
              <a:rPr lang="en-US" altLang="zh-CN" sz="1200" dirty="0">
                <a:solidFill>
                  <a:srgbClr val="000000"/>
                </a:solidFill>
                <a:latin typeface="宋体" panose="02010600030101010101" pitchFamily="2" charset="-122"/>
              </a:rPr>
              <a:t>CPI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</a:rPr>
              <a:t>为</a:t>
            </a:r>
            <a:r>
              <a:rPr lang="en-US" altLang="zh-CN" sz="1200" dirty="0">
                <a:solidFill>
                  <a:srgbClr val="9933FF"/>
                </a:solidFill>
                <a:latin typeface="宋体" panose="02010600030101010101" pitchFamily="2" charset="-122"/>
              </a:rPr>
              <a:t>2.0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</a:rPr>
              <a:t>，时钟周期为</a:t>
            </a:r>
            <a:r>
              <a:rPr lang="en-US" altLang="zh-CN" sz="1200" dirty="0">
                <a:solidFill>
                  <a:srgbClr val="9933FF"/>
                </a:solidFill>
                <a:latin typeface="宋体" panose="02010600030101010101" pitchFamily="2" charset="-122"/>
              </a:rPr>
              <a:t>2ns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</a:rPr>
              <a:t>，平均每条指令访存</a:t>
            </a:r>
            <a:r>
              <a:rPr lang="en-US" altLang="zh-CN" sz="1200" dirty="0">
                <a:solidFill>
                  <a:srgbClr val="9933FF"/>
                </a:solidFill>
                <a:latin typeface="宋体" panose="02010600030101010101" pitchFamily="2" charset="-122"/>
              </a:rPr>
              <a:t>1.3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</a:rPr>
              <a:t>次。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latin typeface="宋体" panose="02010600030101010101" pitchFamily="2" charset="-122"/>
              </a:rPr>
              <a:t>(2)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</a:rPr>
              <a:t>两种</a:t>
            </a:r>
            <a:r>
              <a:rPr lang="en-US" altLang="zh-CN" sz="1200" dirty="0">
                <a:solidFill>
                  <a:srgbClr val="000000"/>
                </a:solidFill>
                <a:latin typeface="宋体" panose="02010600030101010101" pitchFamily="2" charset="-122"/>
              </a:rPr>
              <a:t>Cache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</a:rPr>
              <a:t>容量均为</a:t>
            </a:r>
            <a:r>
              <a:rPr lang="en-US" altLang="zh-CN" sz="1200" dirty="0">
                <a:solidFill>
                  <a:srgbClr val="9933FF"/>
                </a:solidFill>
                <a:latin typeface="宋体" panose="02010600030101010101" pitchFamily="2" charset="-122"/>
              </a:rPr>
              <a:t>64KB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</a:rPr>
              <a:t>，块大小都是</a:t>
            </a:r>
            <a:r>
              <a:rPr lang="en-US" altLang="zh-CN" sz="1200" dirty="0">
                <a:solidFill>
                  <a:srgbClr val="9933FF"/>
                </a:solidFill>
                <a:latin typeface="宋体" panose="02010600030101010101" pitchFamily="2" charset="-122"/>
              </a:rPr>
              <a:t>32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</a:rPr>
              <a:t>字节。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latin typeface="宋体" panose="02010600030101010101" pitchFamily="2" charset="-122"/>
              </a:rPr>
              <a:t>(3)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</a:rPr>
              <a:t>在组相联</a:t>
            </a:r>
            <a:r>
              <a:rPr lang="en-US" altLang="zh-CN" sz="1200" dirty="0">
                <a:solidFill>
                  <a:srgbClr val="000000"/>
                </a:solidFill>
                <a:latin typeface="宋体" panose="02010600030101010101" pitchFamily="2" charset="-122"/>
              </a:rPr>
              <a:t>Cache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</a:rPr>
              <a:t>中，</a:t>
            </a:r>
            <a:r>
              <a:rPr lang="zh-CN" altLang="en-US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由于多路选择器的存在而使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CPU</a:t>
            </a:r>
            <a:r>
              <a:rPr lang="zh-CN" altLang="en-US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的时钟周期增加到原来的</a:t>
            </a:r>
            <a:r>
              <a:rPr lang="en-US" altLang="zh-CN" sz="1200" dirty="0">
                <a:solidFill>
                  <a:srgbClr val="9933FF"/>
                </a:solidFill>
                <a:latin typeface="Times New Roman" panose="02020603050405020304" pitchFamily="18" charset="0"/>
              </a:rPr>
              <a:t>1.10</a:t>
            </a:r>
            <a:r>
              <a:rPr lang="zh-CN" altLang="en-US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倍。这是因为对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Cache</a:t>
            </a:r>
            <a:r>
              <a:rPr lang="zh-CN" altLang="en-US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的访问总是处于关键路径上，对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CPU</a:t>
            </a:r>
            <a:r>
              <a:rPr lang="zh-CN" altLang="en-US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的时钟周期有直接的影响。</a:t>
            </a:r>
            <a:endParaRPr lang="en-US" altLang="zh-CN" sz="12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latin typeface="宋体" panose="02010600030101010101" pitchFamily="2" charset="-122"/>
              </a:rPr>
              <a:t>(4) 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</a:rPr>
              <a:t>这两种结构</a:t>
            </a:r>
            <a:r>
              <a:rPr lang="en-US" altLang="zh-CN" sz="1200" dirty="0">
                <a:solidFill>
                  <a:srgbClr val="000000"/>
                </a:solidFill>
                <a:latin typeface="宋体" panose="02010600030101010101" pitchFamily="2" charset="-122"/>
              </a:rPr>
              <a:t>Cache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</a:rPr>
              <a:t>的不命中开销都是</a:t>
            </a:r>
            <a:r>
              <a:rPr lang="en-US" altLang="zh-CN" sz="1200" dirty="0">
                <a:solidFill>
                  <a:srgbClr val="9933FF"/>
                </a:solidFill>
                <a:latin typeface="宋体" panose="02010600030101010101" pitchFamily="2" charset="-122"/>
              </a:rPr>
              <a:t>70ns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</a:rPr>
              <a:t>。（在实际应用中，应取整为整数个时钟周期）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latin typeface="宋体" panose="02010600030101010101" pitchFamily="2" charset="-122"/>
              </a:rPr>
              <a:t>(5) 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</a:rPr>
              <a:t>命中时间为</a:t>
            </a:r>
            <a:r>
              <a:rPr lang="en-US" altLang="zh-CN" sz="1200" dirty="0">
                <a:solidFill>
                  <a:srgbClr val="9933FF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</a:rPr>
              <a:t>个时钟周期，</a:t>
            </a:r>
            <a:r>
              <a:rPr lang="en-US" altLang="zh-CN" sz="1200" dirty="0">
                <a:solidFill>
                  <a:srgbClr val="9933FF"/>
                </a:solidFill>
                <a:latin typeface="宋体" panose="02010600030101010101" pitchFamily="2" charset="-122"/>
              </a:rPr>
              <a:t>64KB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</a:rPr>
              <a:t>直接映像</a:t>
            </a:r>
            <a:r>
              <a:rPr lang="en-US" altLang="zh-CN" sz="1200" dirty="0">
                <a:solidFill>
                  <a:srgbClr val="000000"/>
                </a:solidFill>
                <a:latin typeface="宋体" panose="02010600030101010101" pitchFamily="2" charset="-122"/>
              </a:rPr>
              <a:t>Cache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</a:rPr>
              <a:t>的不命中率为</a:t>
            </a:r>
            <a:r>
              <a:rPr lang="en-US" altLang="zh-CN" sz="1200" dirty="0">
                <a:solidFill>
                  <a:srgbClr val="9933FF"/>
                </a:solidFill>
                <a:latin typeface="宋体" panose="02010600030101010101" pitchFamily="2" charset="-122"/>
              </a:rPr>
              <a:t>1.4%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</a:rPr>
              <a:t>，相同容量的两路组相联</a:t>
            </a:r>
            <a:r>
              <a:rPr lang="en-US" altLang="zh-CN" sz="1200" dirty="0">
                <a:solidFill>
                  <a:srgbClr val="000000"/>
                </a:solidFill>
                <a:latin typeface="宋体" panose="02010600030101010101" pitchFamily="2" charset="-122"/>
              </a:rPr>
              <a:t>Cache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</a:rPr>
              <a:t>的不命中率为</a:t>
            </a:r>
            <a:r>
              <a:rPr lang="en-US" altLang="zh-CN" sz="1200" dirty="0">
                <a:solidFill>
                  <a:srgbClr val="9933FF"/>
                </a:solidFill>
                <a:latin typeface="宋体" panose="02010600030101010101" pitchFamily="2" charset="-122"/>
              </a:rPr>
              <a:t>1.0%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</a:rPr>
              <a:t>。</a:t>
            </a:r>
            <a:endParaRPr lang="zh-CN" altLang="en-US" sz="12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38542" y="2075180"/>
            <a:ext cx="6992293" cy="1892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 因此，两种结构的平均访存时间分别是：</a:t>
            </a:r>
          </a:p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         </a:t>
            </a:r>
            <a:r>
              <a:rPr lang="zh-CN" altLang="en-US" dirty="0">
                <a:latin typeface="宋体" panose="02010600030101010101" pitchFamily="2" charset="-122"/>
              </a:rPr>
              <a:t>平均访存时间</a:t>
            </a:r>
            <a:r>
              <a:rPr lang="en-US" altLang="zh-CN" baseline="-25000" dirty="0">
                <a:latin typeface="宋体" panose="02010600030101010101" pitchFamily="2" charset="-122"/>
              </a:rPr>
              <a:t>1</a:t>
            </a:r>
            <a:r>
              <a:rPr lang="zh-CN" altLang="en-US" baseline="-25000" dirty="0">
                <a:latin typeface="宋体" panose="02010600030101010101" pitchFamily="2" charset="-122"/>
              </a:rPr>
              <a:t>路</a:t>
            </a:r>
            <a:r>
              <a:rPr lang="zh-CN" altLang="en-US" dirty="0">
                <a:latin typeface="宋体" panose="02010600030101010101" pitchFamily="2" charset="-122"/>
              </a:rPr>
              <a:t>＝</a:t>
            </a:r>
            <a:r>
              <a:rPr lang="en-US" altLang="zh-CN" dirty="0">
                <a:latin typeface="宋体" panose="02010600030101010101" pitchFamily="2" charset="-122"/>
              </a:rPr>
              <a:t>2.0</a:t>
            </a:r>
            <a:r>
              <a:rPr lang="zh-CN" altLang="en-US" dirty="0">
                <a:latin typeface="宋体" panose="02010600030101010101" pitchFamily="2" charset="-122"/>
              </a:rPr>
              <a:t>＋（</a:t>
            </a:r>
            <a:r>
              <a:rPr lang="en-US" altLang="zh-CN" dirty="0">
                <a:latin typeface="宋体" panose="02010600030101010101" pitchFamily="2" charset="-122"/>
              </a:rPr>
              <a:t>0.014×70</a:t>
            </a:r>
            <a:r>
              <a:rPr lang="zh-CN" altLang="en-US" dirty="0">
                <a:latin typeface="宋体" panose="02010600030101010101" pitchFamily="2" charset="-122"/>
              </a:rPr>
              <a:t>）＝</a:t>
            </a:r>
            <a:r>
              <a:rPr lang="en-US" altLang="zh-CN" dirty="0">
                <a:latin typeface="宋体" panose="02010600030101010101" pitchFamily="2" charset="-122"/>
              </a:rPr>
              <a:t>2.98ns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宋体" panose="02010600030101010101" pitchFamily="2" charset="-122"/>
              </a:rPr>
              <a:t>         </a:t>
            </a:r>
            <a:r>
              <a:rPr lang="zh-CN" altLang="en-US" dirty="0">
                <a:latin typeface="宋体" panose="02010600030101010101" pitchFamily="2" charset="-122"/>
              </a:rPr>
              <a:t>平均访存时间</a:t>
            </a:r>
            <a:r>
              <a:rPr lang="en-US" altLang="zh-CN" baseline="-25000" dirty="0">
                <a:latin typeface="宋体" panose="02010600030101010101" pitchFamily="2" charset="-122"/>
              </a:rPr>
              <a:t>2</a:t>
            </a:r>
            <a:r>
              <a:rPr lang="zh-CN" altLang="en-US" baseline="-25000" dirty="0">
                <a:latin typeface="宋体" panose="02010600030101010101" pitchFamily="2" charset="-122"/>
              </a:rPr>
              <a:t>路</a:t>
            </a:r>
            <a:r>
              <a:rPr lang="zh-CN" altLang="en-US" dirty="0">
                <a:latin typeface="宋体" panose="02010600030101010101" pitchFamily="2" charset="-122"/>
              </a:rPr>
              <a:t>＝</a:t>
            </a:r>
            <a:r>
              <a:rPr lang="en-US" altLang="zh-CN" dirty="0">
                <a:latin typeface="宋体" panose="02010600030101010101" pitchFamily="2" charset="-122"/>
              </a:rPr>
              <a:t>2.0×1.10</a:t>
            </a:r>
            <a:r>
              <a:rPr lang="zh-CN" altLang="en-US" dirty="0">
                <a:latin typeface="宋体" panose="02010600030101010101" pitchFamily="2" charset="-122"/>
              </a:rPr>
              <a:t>＋（</a:t>
            </a:r>
            <a:r>
              <a:rPr lang="en-US" altLang="zh-CN" dirty="0">
                <a:latin typeface="宋体" panose="02010600030101010101" pitchFamily="2" charset="-122"/>
              </a:rPr>
              <a:t>0.010×70</a:t>
            </a:r>
            <a:r>
              <a:rPr lang="zh-CN" altLang="en-US" dirty="0">
                <a:latin typeface="宋体" panose="02010600030101010101" pitchFamily="2" charset="-122"/>
              </a:rPr>
              <a:t>）＝</a:t>
            </a:r>
            <a:r>
              <a:rPr lang="en-US" altLang="zh-CN" dirty="0">
                <a:latin typeface="宋体" panose="02010600030101010101" pitchFamily="2" charset="-122"/>
              </a:rPr>
              <a:t>2.90ns</a:t>
            </a:r>
          </a:p>
          <a:p>
            <a:pPr>
              <a:lnSpc>
                <a:spcPct val="130000"/>
              </a:lnSpc>
            </a:pPr>
            <a:endParaRPr lang="en-US" altLang="zh-CN" dirty="0">
              <a:latin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宋体" panose="02010600030101010101" pitchFamily="2" charset="-122"/>
              </a:rPr>
              <a:t> 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025679" y="3899901"/>
            <a:ext cx="4455066" cy="4524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latin typeface="宋体" panose="02010600030101010101" pitchFamily="2" charset="-122"/>
              </a:rPr>
              <a:t>两路组相联</a:t>
            </a:r>
            <a:r>
              <a:rPr lang="en-US" altLang="zh-CN" dirty="0">
                <a:latin typeface="宋体" panose="02010600030101010101" pitchFamily="2" charset="-122"/>
              </a:rPr>
              <a:t>Cache</a:t>
            </a:r>
            <a:r>
              <a:rPr lang="zh-CN" altLang="en-US" dirty="0">
                <a:latin typeface="宋体" panose="02010600030101010101" pitchFamily="2" charset="-122"/>
              </a:rPr>
              <a:t>的平均访存时间比较低。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34332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6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 uiExpand="1" build="p"/>
      <p:bldP spid="3" grpId="0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20663" y="1210634"/>
            <a:ext cx="9394824" cy="2447925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因此：</a:t>
            </a:r>
          </a:p>
          <a:p>
            <a:pPr indent="485775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CPU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时间</a:t>
            </a:r>
            <a:r>
              <a:rPr lang="en-US" altLang="zh-CN" sz="20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路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＝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IC×(2.0×2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＋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(1.3×0.014×70))</a:t>
            </a:r>
            <a:b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＝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5.27×IC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CPU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时间</a:t>
            </a:r>
            <a:r>
              <a:rPr lang="en-US" altLang="zh-CN" sz="20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路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＝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IC×(2.0×2×1.10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＋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(1.3×0.010×70))</a:t>
            </a:r>
            <a:b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＝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5.31×IC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651" name="Text Box 9"/>
          <p:cNvSpPr txBox="1">
            <a:spLocks noChangeArrowheads="1"/>
          </p:cNvSpPr>
          <p:nvPr/>
        </p:nvSpPr>
        <p:spPr bwMode="auto">
          <a:xfrm>
            <a:off x="1119518" y="5204958"/>
            <a:ext cx="6248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  <a:defRPr kumimoji="1" sz="2400">
                <a:solidFill>
                  <a:srgbClr val="E24C05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q"/>
              <a:defRPr kumimoji="1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rgbClr val="006600"/>
              </a:buClr>
              <a:buSzPct val="6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直接映像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的平均性能好一些。</a:t>
            </a:r>
          </a:p>
        </p:txBody>
      </p:sp>
      <p:pic>
        <p:nvPicPr>
          <p:cNvPr id="27652" name="图片 9" descr="未标题-1.jp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6249" y="3658559"/>
            <a:ext cx="4687841" cy="1099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143001" y="294983"/>
            <a:ext cx="12048999" cy="7017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CPU</a:t>
            </a:r>
            <a:r>
              <a:rPr lang="zh-CN" altLang="en-US" dirty="0">
                <a:latin typeface="Times New Roman" panose="02020603050405020304" pitchFamily="18" charset="0"/>
              </a:rPr>
              <a:t>时间＝</a:t>
            </a:r>
            <a:r>
              <a:rPr lang="en-US" altLang="zh-CN" dirty="0">
                <a:latin typeface="Times New Roman" panose="02020603050405020304" pitchFamily="18" charset="0"/>
              </a:rPr>
              <a:t>IC×</a:t>
            </a: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dirty="0" err="1">
                <a:latin typeface="Times New Roman" panose="02020603050405020304" pitchFamily="18" charset="0"/>
              </a:rPr>
              <a:t>CPIexecution</a:t>
            </a:r>
            <a:r>
              <a:rPr lang="zh-CN" altLang="en-US" dirty="0">
                <a:latin typeface="Times New Roman" panose="02020603050405020304" pitchFamily="18" charset="0"/>
              </a:rPr>
              <a:t>＋每条指令的平均访存次数</a:t>
            </a:r>
            <a:r>
              <a:rPr lang="en-US" altLang="zh-CN" dirty="0">
                <a:latin typeface="Times New Roman" panose="02020603050405020304" pitchFamily="18" charset="0"/>
              </a:rPr>
              <a:t>×</a:t>
            </a:r>
            <a:r>
              <a:rPr lang="zh-CN" altLang="en-US" dirty="0">
                <a:latin typeface="Times New Roman" panose="02020603050405020304" pitchFamily="18" charset="0"/>
              </a:rPr>
              <a:t>不命中率</a:t>
            </a:r>
            <a:r>
              <a:rPr lang="en-US" altLang="zh-CN" dirty="0">
                <a:latin typeface="Times New Roman" panose="02020603050405020304" pitchFamily="18" charset="0"/>
              </a:rPr>
              <a:t>×</a:t>
            </a:r>
            <a:r>
              <a:rPr lang="zh-CN" altLang="en-US" dirty="0">
                <a:latin typeface="Times New Roman" panose="02020603050405020304" pitchFamily="18" charset="0"/>
              </a:rPr>
              <a:t>不命中开销）</a:t>
            </a:r>
            <a:r>
              <a:rPr lang="en-US" altLang="zh-CN" dirty="0">
                <a:latin typeface="Times New Roman" panose="02020603050405020304" pitchFamily="18" charset="0"/>
              </a:rPr>
              <a:t>× </a:t>
            </a:r>
            <a:r>
              <a:rPr lang="zh-CN" altLang="en-US" dirty="0">
                <a:latin typeface="Times New Roman" panose="02020603050405020304" pitchFamily="18" charset="0"/>
              </a:rPr>
              <a:t>时钟周期时间</a:t>
            </a:r>
          </a:p>
          <a:p>
            <a:pPr>
              <a:lnSpc>
                <a:spcPct val="11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                ＝</a:t>
            </a:r>
            <a:r>
              <a:rPr lang="en-US" altLang="zh-CN" dirty="0">
                <a:latin typeface="Times New Roman" panose="02020603050405020304" pitchFamily="18" charset="0"/>
              </a:rPr>
              <a:t>IC×</a:t>
            </a: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dirty="0" err="1">
                <a:latin typeface="Times New Roman" panose="02020603050405020304" pitchFamily="18" charset="0"/>
              </a:rPr>
              <a:t>CPIexecution</a:t>
            </a:r>
            <a:r>
              <a:rPr lang="en-US" altLang="zh-CN" dirty="0">
                <a:latin typeface="Times New Roman" panose="02020603050405020304" pitchFamily="18" charset="0"/>
              </a:rPr>
              <a:t>× </a:t>
            </a:r>
            <a:r>
              <a:rPr lang="zh-CN" altLang="en-US" dirty="0">
                <a:latin typeface="Times New Roman" panose="02020603050405020304" pitchFamily="18" charset="0"/>
              </a:rPr>
              <a:t>时钟周期时间＋每条指令的平均访存次数</a:t>
            </a:r>
            <a:r>
              <a:rPr lang="en-US" altLang="zh-CN" dirty="0">
                <a:latin typeface="Times New Roman" panose="02020603050405020304" pitchFamily="18" charset="0"/>
              </a:rPr>
              <a:t>×</a:t>
            </a:r>
            <a:r>
              <a:rPr lang="zh-CN" altLang="en-US" dirty="0">
                <a:latin typeface="Times New Roman" panose="02020603050405020304" pitchFamily="18" charset="0"/>
              </a:rPr>
              <a:t>不命中率</a:t>
            </a:r>
            <a:r>
              <a:rPr lang="en-US" altLang="zh-CN" dirty="0">
                <a:latin typeface="Times New Roman" panose="02020603050405020304" pitchFamily="18" charset="0"/>
              </a:rPr>
              <a:t>×</a:t>
            </a:r>
            <a:r>
              <a:rPr lang="zh-CN" altLang="en-US" dirty="0">
                <a:latin typeface="Times New Roman" panose="02020603050405020304" pitchFamily="18" charset="0"/>
              </a:rPr>
              <a:t>不命中开销</a:t>
            </a:r>
            <a:r>
              <a:rPr lang="en-US" altLang="zh-CN" dirty="0">
                <a:latin typeface="Times New Roman" panose="02020603050405020304" pitchFamily="18" charset="0"/>
              </a:rPr>
              <a:t>×</a:t>
            </a:r>
            <a:r>
              <a:rPr lang="zh-CN" altLang="en-US" dirty="0">
                <a:latin typeface="Times New Roman" panose="02020603050405020304" pitchFamily="18" charset="0"/>
              </a:rPr>
              <a:t>时钟周期时间）</a:t>
            </a:r>
          </a:p>
        </p:txBody>
      </p:sp>
      <p:sp>
        <p:nvSpPr>
          <p:cNvPr id="6" name="矩形 5"/>
          <p:cNvSpPr/>
          <p:nvPr/>
        </p:nvSpPr>
        <p:spPr>
          <a:xfrm>
            <a:off x="8136047" y="3691519"/>
            <a:ext cx="4055953" cy="31393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latin typeface="宋体" panose="02010600030101010101" pitchFamily="2" charset="-122"/>
              </a:rPr>
              <a:t>(1)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</a:rPr>
              <a:t>理想</a:t>
            </a:r>
            <a:r>
              <a:rPr lang="en-US" altLang="zh-CN" sz="1200" dirty="0">
                <a:solidFill>
                  <a:srgbClr val="000000"/>
                </a:solidFill>
                <a:latin typeface="宋体" panose="02010600030101010101" pitchFamily="2" charset="-122"/>
              </a:rPr>
              <a:t>Cache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</a:rPr>
              <a:t>（命中率为</a:t>
            </a:r>
            <a:r>
              <a:rPr lang="en-US" altLang="zh-CN" sz="1200" dirty="0">
                <a:solidFill>
                  <a:srgbClr val="9933FF"/>
                </a:solidFill>
                <a:latin typeface="宋体" panose="02010600030101010101" pitchFamily="2" charset="-122"/>
              </a:rPr>
              <a:t>100%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</a:rPr>
              <a:t>）情况下的</a:t>
            </a:r>
            <a:r>
              <a:rPr lang="en-US" altLang="zh-CN" sz="1200" dirty="0">
                <a:solidFill>
                  <a:srgbClr val="000000"/>
                </a:solidFill>
                <a:latin typeface="宋体" panose="02010600030101010101" pitchFamily="2" charset="-122"/>
              </a:rPr>
              <a:t>CPI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</a:rPr>
              <a:t>为</a:t>
            </a:r>
            <a:r>
              <a:rPr lang="en-US" altLang="zh-CN" sz="1200" dirty="0">
                <a:solidFill>
                  <a:srgbClr val="9933FF"/>
                </a:solidFill>
                <a:latin typeface="宋体" panose="02010600030101010101" pitchFamily="2" charset="-122"/>
              </a:rPr>
              <a:t>2.0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</a:rPr>
              <a:t>，时钟周期为</a:t>
            </a:r>
            <a:r>
              <a:rPr lang="en-US" altLang="zh-CN" sz="1200" dirty="0">
                <a:solidFill>
                  <a:srgbClr val="9933FF"/>
                </a:solidFill>
                <a:latin typeface="宋体" panose="02010600030101010101" pitchFamily="2" charset="-122"/>
              </a:rPr>
              <a:t>2ns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</a:rPr>
              <a:t>，平均每条指令访存</a:t>
            </a:r>
            <a:r>
              <a:rPr lang="en-US" altLang="zh-CN" sz="1200" dirty="0">
                <a:solidFill>
                  <a:srgbClr val="9933FF"/>
                </a:solidFill>
                <a:latin typeface="宋体" panose="02010600030101010101" pitchFamily="2" charset="-122"/>
              </a:rPr>
              <a:t>1.3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</a:rPr>
              <a:t>次。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latin typeface="宋体" panose="02010600030101010101" pitchFamily="2" charset="-122"/>
              </a:rPr>
              <a:t>(2)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</a:rPr>
              <a:t>两种</a:t>
            </a:r>
            <a:r>
              <a:rPr lang="en-US" altLang="zh-CN" sz="1200" dirty="0">
                <a:solidFill>
                  <a:srgbClr val="000000"/>
                </a:solidFill>
                <a:latin typeface="宋体" panose="02010600030101010101" pitchFamily="2" charset="-122"/>
              </a:rPr>
              <a:t>Cache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</a:rPr>
              <a:t>容量均为</a:t>
            </a:r>
            <a:r>
              <a:rPr lang="en-US" altLang="zh-CN" sz="1200" dirty="0">
                <a:solidFill>
                  <a:srgbClr val="9933FF"/>
                </a:solidFill>
                <a:latin typeface="宋体" panose="02010600030101010101" pitchFamily="2" charset="-122"/>
              </a:rPr>
              <a:t>64KB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</a:rPr>
              <a:t>，块大小都是</a:t>
            </a:r>
            <a:r>
              <a:rPr lang="en-US" altLang="zh-CN" sz="1200" dirty="0">
                <a:solidFill>
                  <a:srgbClr val="9933FF"/>
                </a:solidFill>
                <a:latin typeface="宋体" panose="02010600030101010101" pitchFamily="2" charset="-122"/>
              </a:rPr>
              <a:t>32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</a:rPr>
              <a:t>字节。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latin typeface="宋体" panose="02010600030101010101" pitchFamily="2" charset="-122"/>
              </a:rPr>
              <a:t>(3)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</a:rPr>
              <a:t>在组相联</a:t>
            </a:r>
            <a:r>
              <a:rPr lang="en-US" altLang="zh-CN" sz="1200" dirty="0">
                <a:solidFill>
                  <a:srgbClr val="000000"/>
                </a:solidFill>
                <a:latin typeface="宋体" panose="02010600030101010101" pitchFamily="2" charset="-122"/>
              </a:rPr>
              <a:t>Cache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</a:rPr>
              <a:t>中，</a:t>
            </a:r>
            <a:r>
              <a:rPr lang="zh-CN" altLang="en-US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由于多路选择器的存在而使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CPU</a:t>
            </a:r>
            <a:r>
              <a:rPr lang="zh-CN" altLang="en-US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的时钟周期增加到原来的</a:t>
            </a:r>
            <a:r>
              <a:rPr lang="en-US" altLang="zh-CN" sz="1200" dirty="0">
                <a:solidFill>
                  <a:srgbClr val="9933FF"/>
                </a:solidFill>
                <a:latin typeface="Times New Roman" panose="02020603050405020304" pitchFamily="18" charset="0"/>
              </a:rPr>
              <a:t>1.10</a:t>
            </a:r>
            <a:r>
              <a:rPr lang="zh-CN" altLang="en-US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倍。这是因为对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Cache</a:t>
            </a:r>
            <a:r>
              <a:rPr lang="zh-CN" altLang="en-US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的访问总是处于关键路径上，对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CPU</a:t>
            </a:r>
            <a:r>
              <a:rPr lang="zh-CN" altLang="en-US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的时钟周期有直接的影响。</a:t>
            </a:r>
            <a:endParaRPr lang="en-US" altLang="zh-CN" sz="12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latin typeface="宋体" panose="02010600030101010101" pitchFamily="2" charset="-122"/>
              </a:rPr>
              <a:t>(4) 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</a:rPr>
              <a:t>这两种结构</a:t>
            </a:r>
            <a:r>
              <a:rPr lang="en-US" altLang="zh-CN" sz="1200" dirty="0">
                <a:solidFill>
                  <a:srgbClr val="000000"/>
                </a:solidFill>
                <a:latin typeface="宋体" panose="02010600030101010101" pitchFamily="2" charset="-122"/>
              </a:rPr>
              <a:t>Cache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</a:rPr>
              <a:t>的不命中开销都是</a:t>
            </a:r>
            <a:r>
              <a:rPr lang="en-US" altLang="zh-CN" sz="1200" dirty="0">
                <a:solidFill>
                  <a:srgbClr val="9933FF"/>
                </a:solidFill>
                <a:latin typeface="宋体" panose="02010600030101010101" pitchFamily="2" charset="-122"/>
              </a:rPr>
              <a:t>70ns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</a:rPr>
              <a:t>。（在实际应用中，应取整为整数个时钟周期）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latin typeface="宋体" panose="02010600030101010101" pitchFamily="2" charset="-122"/>
              </a:rPr>
              <a:t>(5) 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</a:rPr>
              <a:t>命中时间为</a:t>
            </a:r>
            <a:r>
              <a:rPr lang="en-US" altLang="zh-CN" sz="1200" dirty="0">
                <a:solidFill>
                  <a:srgbClr val="9933FF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</a:rPr>
              <a:t>个时钟周期，</a:t>
            </a:r>
            <a:r>
              <a:rPr lang="en-US" altLang="zh-CN" sz="1200" dirty="0">
                <a:solidFill>
                  <a:srgbClr val="9933FF"/>
                </a:solidFill>
                <a:latin typeface="宋体" panose="02010600030101010101" pitchFamily="2" charset="-122"/>
              </a:rPr>
              <a:t>64KB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</a:rPr>
              <a:t>直接映像</a:t>
            </a:r>
            <a:r>
              <a:rPr lang="en-US" altLang="zh-CN" sz="1200" dirty="0">
                <a:solidFill>
                  <a:srgbClr val="000000"/>
                </a:solidFill>
                <a:latin typeface="宋体" panose="02010600030101010101" pitchFamily="2" charset="-122"/>
              </a:rPr>
              <a:t>Cache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</a:rPr>
              <a:t>的不命中率为</a:t>
            </a:r>
            <a:r>
              <a:rPr lang="en-US" altLang="zh-CN" sz="1200" dirty="0">
                <a:solidFill>
                  <a:srgbClr val="9933FF"/>
                </a:solidFill>
                <a:latin typeface="宋体" panose="02010600030101010101" pitchFamily="2" charset="-122"/>
              </a:rPr>
              <a:t>1.4%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</a:rPr>
              <a:t>，相同容量的两路组相联</a:t>
            </a:r>
            <a:r>
              <a:rPr lang="en-US" altLang="zh-CN" sz="1200" dirty="0">
                <a:solidFill>
                  <a:srgbClr val="000000"/>
                </a:solidFill>
                <a:latin typeface="宋体" panose="02010600030101010101" pitchFamily="2" charset="-122"/>
              </a:rPr>
              <a:t>Cache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</a:rPr>
              <a:t>的不命中率为</a:t>
            </a:r>
            <a:r>
              <a:rPr lang="en-US" altLang="zh-CN" sz="1200" dirty="0">
                <a:solidFill>
                  <a:srgbClr val="9933FF"/>
                </a:solidFill>
                <a:latin typeface="宋体" panose="02010600030101010101" pitchFamily="2" charset="-122"/>
              </a:rPr>
              <a:t>1.0%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</a:rPr>
              <a:t>。</a:t>
            </a:r>
            <a:endParaRPr lang="zh-CN" altLang="en-US" sz="12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7467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 build="p"/>
      <p:bldP spid="27651" grpId="0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95339" y="1065214"/>
            <a:ext cx="9844086" cy="4919127"/>
          </a:xfrm>
        </p:spPr>
        <p:txBody>
          <a:bodyPr>
            <a:noAutofit/>
          </a:bodyPr>
          <a:lstStyle/>
          <a:p>
            <a:pPr marL="457200" indent="-457200">
              <a:lnSpc>
                <a:spcPct val="110000"/>
              </a:lnSpc>
              <a:spcBef>
                <a:spcPts val="1200"/>
              </a:spcBef>
            </a:pPr>
            <a:r>
              <a:rPr lang="zh-CN" altLang="en-US" sz="2400" dirty="0"/>
              <a:t>平均访存时间＝命中时间＋不命中率</a:t>
            </a:r>
            <a:r>
              <a:rPr lang="en-US" altLang="zh-CN" sz="2400" dirty="0"/>
              <a:t>×</a:t>
            </a:r>
            <a:r>
              <a:rPr lang="zh-CN" altLang="en-US" sz="2400" dirty="0"/>
              <a:t>不命中开销</a:t>
            </a:r>
          </a:p>
          <a:p>
            <a:pPr marL="457200" indent="-457200">
              <a:lnSpc>
                <a:spcPct val="110000"/>
              </a:lnSpc>
              <a:spcBef>
                <a:spcPts val="1200"/>
              </a:spcBef>
            </a:pPr>
            <a:r>
              <a:rPr lang="zh-CN" altLang="en-US" sz="2400" dirty="0">
                <a:latin typeface="黑体" panose="02010609060101010101" pitchFamily="49" charset="-122"/>
              </a:rPr>
              <a:t>可以从三个方面改进</a:t>
            </a:r>
            <a:r>
              <a:rPr lang="en-US" altLang="zh-CN" sz="2400" dirty="0">
                <a:latin typeface="黑体" panose="02010609060101010101" pitchFamily="49" charset="-122"/>
              </a:rPr>
              <a:t>Cache</a:t>
            </a:r>
            <a:r>
              <a:rPr lang="zh-CN" altLang="en-US" sz="2400" dirty="0">
                <a:latin typeface="黑体" panose="02010609060101010101" pitchFamily="49" charset="-122"/>
              </a:rPr>
              <a:t>的性能：</a:t>
            </a:r>
          </a:p>
          <a:p>
            <a:pPr marL="1085850" lvl="1" indent="-457200">
              <a:lnSpc>
                <a:spcPct val="110000"/>
              </a:lnSpc>
              <a:spcBef>
                <a:spcPts val="1200"/>
              </a:spcBef>
            </a:pPr>
            <a:r>
              <a:rPr lang="zh-CN" altLang="en-US" sz="2200" dirty="0"/>
              <a:t>降低不命中率</a:t>
            </a:r>
          </a:p>
          <a:p>
            <a:pPr marL="1085850" lvl="1" indent="-457200">
              <a:lnSpc>
                <a:spcPct val="110000"/>
              </a:lnSpc>
              <a:spcBef>
                <a:spcPts val="1200"/>
              </a:spcBef>
            </a:pPr>
            <a:r>
              <a:rPr lang="zh-CN" altLang="en-US" sz="2200" dirty="0"/>
              <a:t>减少不命中开销</a:t>
            </a:r>
          </a:p>
          <a:p>
            <a:pPr marL="1085850" lvl="1" indent="-457200">
              <a:lnSpc>
                <a:spcPct val="110000"/>
              </a:lnSpc>
              <a:spcBef>
                <a:spcPts val="1200"/>
              </a:spcBef>
            </a:pPr>
            <a:r>
              <a:rPr lang="zh-CN" altLang="en-US" sz="2200" dirty="0">
                <a:latin typeface="黑体" panose="02010609060101010101" pitchFamily="49" charset="-122"/>
              </a:rPr>
              <a:t>减少</a:t>
            </a:r>
            <a:r>
              <a:rPr lang="en-US" altLang="zh-CN" sz="2200" dirty="0">
                <a:latin typeface="黑体" panose="02010609060101010101" pitchFamily="49" charset="-122"/>
              </a:rPr>
              <a:t>Cache</a:t>
            </a:r>
            <a:r>
              <a:rPr lang="zh-CN" altLang="en-US" sz="2200" dirty="0">
                <a:latin typeface="黑体" panose="02010609060101010101" pitchFamily="49" charset="-122"/>
              </a:rPr>
              <a:t>命中时间</a:t>
            </a:r>
          </a:p>
          <a:p>
            <a:pPr marL="457200" indent="-457200">
              <a:lnSpc>
                <a:spcPct val="110000"/>
              </a:lnSpc>
              <a:spcBef>
                <a:spcPts val="1200"/>
              </a:spcBef>
            </a:pPr>
            <a:r>
              <a:rPr lang="zh-CN" altLang="en-US" sz="2400" dirty="0">
                <a:latin typeface="黑体" panose="02010609060101010101" pitchFamily="49" charset="-122"/>
              </a:rPr>
              <a:t>下面介绍</a:t>
            </a:r>
            <a:r>
              <a:rPr lang="en-US" altLang="zh-CN" sz="2400" dirty="0">
                <a:latin typeface="黑体" panose="02010609060101010101" pitchFamily="49" charset="-122"/>
              </a:rPr>
              <a:t>17</a:t>
            </a:r>
            <a:r>
              <a:rPr lang="zh-CN" altLang="en-US" sz="2400" dirty="0">
                <a:latin typeface="黑体" panose="02010609060101010101" pitchFamily="49" charset="-122"/>
              </a:rPr>
              <a:t>种</a:t>
            </a:r>
            <a:r>
              <a:rPr lang="en-US" altLang="zh-CN" sz="2400" dirty="0">
                <a:latin typeface="黑体" panose="02010609060101010101" pitchFamily="49" charset="-122"/>
              </a:rPr>
              <a:t>Cache</a:t>
            </a:r>
            <a:r>
              <a:rPr lang="zh-CN" altLang="en-US" sz="2400" dirty="0">
                <a:latin typeface="黑体" panose="02010609060101010101" pitchFamily="49" charset="-122"/>
              </a:rPr>
              <a:t>优化技术</a:t>
            </a:r>
          </a:p>
          <a:p>
            <a:pPr lvl="2" eaLnBrk="1" hangingPunct="1">
              <a:lnSpc>
                <a:spcPct val="110000"/>
              </a:lnSpc>
              <a:spcBef>
                <a:spcPts val="1200"/>
              </a:spcBef>
            </a:pPr>
            <a:r>
              <a:rPr lang="en-US" altLang="zh-CN" sz="2200" dirty="0">
                <a:solidFill>
                  <a:srgbClr val="D60093"/>
                </a:solidFill>
                <a:latin typeface="宋体" panose="02010600030101010101" pitchFamily="2" charset="-122"/>
              </a:rPr>
              <a:t>8</a:t>
            </a:r>
            <a:r>
              <a:rPr lang="zh-CN" altLang="en-US" sz="2200" dirty="0">
                <a:solidFill>
                  <a:srgbClr val="D60093"/>
                </a:solidFill>
                <a:latin typeface="宋体" panose="02010600030101010101" pitchFamily="2" charset="-122"/>
              </a:rPr>
              <a:t>种</a:t>
            </a:r>
            <a:r>
              <a:rPr lang="zh-CN" altLang="en-US" sz="2200" dirty="0">
                <a:latin typeface="宋体" panose="02010600030101010101" pitchFamily="2" charset="-122"/>
              </a:rPr>
              <a:t>用于降低不命中率</a:t>
            </a:r>
          </a:p>
          <a:p>
            <a:pPr lvl="2" eaLnBrk="1" hangingPunct="1">
              <a:lnSpc>
                <a:spcPct val="110000"/>
              </a:lnSpc>
              <a:spcBef>
                <a:spcPts val="1200"/>
              </a:spcBef>
            </a:pPr>
            <a:r>
              <a:rPr lang="en-US" altLang="zh-CN" sz="2200" dirty="0">
                <a:solidFill>
                  <a:srgbClr val="D60093"/>
                </a:solidFill>
                <a:latin typeface="宋体" panose="02010600030101010101" pitchFamily="2" charset="-122"/>
              </a:rPr>
              <a:t>5</a:t>
            </a:r>
            <a:r>
              <a:rPr lang="zh-CN" altLang="en-US" sz="2200" dirty="0">
                <a:solidFill>
                  <a:srgbClr val="D60093"/>
                </a:solidFill>
                <a:latin typeface="宋体" panose="02010600030101010101" pitchFamily="2" charset="-122"/>
              </a:rPr>
              <a:t>种</a:t>
            </a:r>
            <a:r>
              <a:rPr lang="zh-CN" altLang="en-US" sz="2200" dirty="0">
                <a:latin typeface="宋体" panose="02010600030101010101" pitchFamily="2" charset="-122"/>
              </a:rPr>
              <a:t>用于减少不命中开销</a:t>
            </a:r>
          </a:p>
          <a:p>
            <a:pPr lvl="2" eaLnBrk="1" hangingPunct="1">
              <a:lnSpc>
                <a:spcPct val="110000"/>
              </a:lnSpc>
              <a:spcBef>
                <a:spcPts val="1200"/>
              </a:spcBef>
            </a:pPr>
            <a:r>
              <a:rPr lang="en-US" altLang="zh-CN" sz="2200" dirty="0">
                <a:solidFill>
                  <a:srgbClr val="D60093"/>
                </a:solidFill>
                <a:latin typeface="宋体" panose="02010600030101010101" pitchFamily="2" charset="-122"/>
              </a:rPr>
              <a:t>4</a:t>
            </a:r>
            <a:r>
              <a:rPr lang="zh-CN" altLang="en-US" sz="2200" dirty="0">
                <a:solidFill>
                  <a:srgbClr val="D60093"/>
                </a:solidFill>
                <a:latin typeface="宋体" panose="02010600030101010101" pitchFamily="2" charset="-122"/>
              </a:rPr>
              <a:t>种</a:t>
            </a:r>
            <a:r>
              <a:rPr lang="zh-CN" altLang="en-US" sz="2200" dirty="0">
                <a:latin typeface="宋体" panose="02010600030101010101" pitchFamily="2" charset="-122"/>
              </a:rPr>
              <a:t>用于减少命中时间 </a:t>
            </a:r>
          </a:p>
        </p:txBody>
      </p:sp>
      <p:sp>
        <p:nvSpPr>
          <p:cNvPr id="4" name="标题 1"/>
          <p:cNvSpPr txBox="1">
            <a:spLocks/>
          </p:cNvSpPr>
          <p:nvPr/>
        </p:nvSpPr>
        <p:spPr>
          <a:xfrm>
            <a:off x="133350" y="95250"/>
            <a:ext cx="6905626" cy="771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b="1" dirty="0"/>
              <a:t>2.2  Cache</a:t>
            </a:r>
            <a:r>
              <a:rPr lang="zh-CN" altLang="en-US" sz="2800" b="1" dirty="0"/>
              <a:t>性能改进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722584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6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6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6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6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86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6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86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5750" y="279401"/>
            <a:ext cx="10515600" cy="787400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总结</a:t>
            </a:r>
          </a:p>
        </p:txBody>
      </p:sp>
      <p:pic>
        <p:nvPicPr>
          <p:cNvPr id="7170" name="Picture 2" descr="https://p.ananas.chaoxing.com/star3/origin/6f97d29fb72482c54884e65d2ec3fce8.png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6024" y="1558924"/>
            <a:ext cx="9363140" cy="2984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87263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038225" y="1583134"/>
            <a:ext cx="9410700" cy="4735512"/>
          </a:xfrm>
        </p:spPr>
        <p:txBody>
          <a:bodyPr>
            <a:normAutofit fontScale="70000" lnSpcReduction="20000"/>
          </a:bodyPr>
          <a:lstStyle/>
          <a:p>
            <a:pPr marL="457200" indent="-457200">
              <a:lnSpc>
                <a:spcPts val="2800"/>
              </a:lnSpc>
            </a:pPr>
            <a:r>
              <a:rPr lang="zh-CN" altLang="en-US" dirty="0"/>
              <a:t>三种类型的不命中</a:t>
            </a:r>
            <a:r>
              <a:rPr lang="en-US" altLang="zh-CN" dirty="0"/>
              <a:t>(3</a:t>
            </a:r>
            <a:r>
              <a:rPr lang="en-US" altLang="zh-CN" dirty="0">
                <a:latin typeface="黑体" panose="02010609060101010101" pitchFamily="49" charset="-122"/>
              </a:rPr>
              <a:t>C</a:t>
            </a:r>
            <a:r>
              <a:rPr lang="en-US" altLang="zh-CN" dirty="0"/>
              <a:t>)</a:t>
            </a:r>
          </a:p>
          <a:p>
            <a:pPr lvl="1" eaLnBrk="1" hangingPunct="1">
              <a:lnSpc>
                <a:spcPts val="2800"/>
              </a:lnSpc>
            </a:pP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</a:rPr>
              <a:t> 强制性不命中</a:t>
            </a:r>
            <a:r>
              <a:rPr lang="en-US" altLang="zh-CN" dirty="0">
                <a:latin typeface="黑体" panose="02010609060101010101" pitchFamily="49" charset="-122"/>
              </a:rPr>
              <a:t>(</a:t>
            </a:r>
            <a:r>
              <a:rPr lang="en-US" altLang="zh-CN" dirty="0">
                <a:solidFill>
                  <a:srgbClr val="D60093"/>
                </a:solidFill>
                <a:latin typeface="黑体" panose="02010609060101010101" pitchFamily="49" charset="-122"/>
              </a:rPr>
              <a:t>C</a:t>
            </a:r>
            <a:r>
              <a:rPr lang="en-US" altLang="zh-CN" dirty="0">
                <a:latin typeface="黑体" panose="02010609060101010101" pitchFamily="49" charset="-122"/>
              </a:rPr>
              <a:t>ompulsory miss)</a:t>
            </a:r>
          </a:p>
          <a:p>
            <a:pPr lvl="2" eaLnBrk="1" hangingPunct="1">
              <a:lnSpc>
                <a:spcPts val="2800"/>
              </a:lnSpc>
            </a:pPr>
            <a:r>
              <a:rPr lang="zh-CN" altLang="en-US" dirty="0">
                <a:latin typeface="宋体" panose="02010600030101010101" pitchFamily="2" charset="-122"/>
              </a:rPr>
              <a:t>当第一次访问一个块时，该块不在</a:t>
            </a:r>
            <a:r>
              <a:rPr lang="en-US" altLang="zh-CN" dirty="0">
                <a:latin typeface="宋体" panose="02010600030101010101" pitchFamily="2" charset="-122"/>
              </a:rPr>
              <a:t>Cache</a:t>
            </a:r>
            <a:r>
              <a:rPr lang="zh-CN" altLang="en-US" dirty="0">
                <a:latin typeface="宋体" panose="02010600030101010101" pitchFamily="2" charset="-122"/>
              </a:rPr>
              <a:t>中，需从下一级存储器中调入</a:t>
            </a:r>
            <a:r>
              <a:rPr lang="en-US" altLang="zh-CN" dirty="0">
                <a:latin typeface="宋体" panose="02010600030101010101" pitchFamily="2" charset="-122"/>
              </a:rPr>
              <a:t>Cache</a:t>
            </a:r>
            <a:r>
              <a:rPr lang="zh-CN" altLang="en-US" dirty="0">
                <a:latin typeface="宋体" panose="02010600030101010101" pitchFamily="2" charset="-122"/>
              </a:rPr>
              <a:t>，这就是强制性不命中。  </a:t>
            </a:r>
            <a:r>
              <a:rPr lang="en-US" altLang="zh-CN" dirty="0">
                <a:latin typeface="宋体" panose="02010600030101010101" pitchFamily="2" charset="-122"/>
              </a:rPr>
              <a:t>(</a:t>
            </a:r>
            <a:r>
              <a:rPr lang="zh-CN" altLang="en-US" dirty="0">
                <a:latin typeface="宋体" panose="02010600030101010101" pitchFamily="2" charset="-122"/>
              </a:rPr>
              <a:t>冷启动</a:t>
            </a:r>
            <a:r>
              <a:rPr lang="zh-CN" altLang="en-US" dirty="0"/>
              <a:t>不命中，首次访问不命中）</a:t>
            </a:r>
          </a:p>
          <a:p>
            <a:pPr lvl="1" eaLnBrk="1" hangingPunct="1">
              <a:lnSpc>
                <a:spcPts val="2800"/>
              </a:lnSpc>
            </a:pP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</a:rPr>
              <a:t> 容量不命中</a:t>
            </a:r>
            <a:r>
              <a:rPr lang="en-US" altLang="zh-CN" dirty="0">
                <a:latin typeface="黑体" panose="02010609060101010101" pitchFamily="49" charset="-122"/>
              </a:rPr>
              <a:t>(</a:t>
            </a:r>
            <a:r>
              <a:rPr lang="en-US" altLang="zh-CN" dirty="0">
                <a:solidFill>
                  <a:srgbClr val="D60093"/>
                </a:solidFill>
                <a:latin typeface="黑体" panose="02010609060101010101" pitchFamily="49" charset="-122"/>
              </a:rPr>
              <a:t>C</a:t>
            </a:r>
            <a:r>
              <a:rPr lang="en-US" altLang="zh-CN" dirty="0">
                <a:latin typeface="黑体" panose="02010609060101010101" pitchFamily="49" charset="-122"/>
              </a:rPr>
              <a:t>apacity miss ) </a:t>
            </a:r>
          </a:p>
          <a:p>
            <a:pPr lvl="2" eaLnBrk="1" hangingPunct="1">
              <a:lnSpc>
                <a:spcPts val="2800"/>
              </a:lnSpc>
            </a:pPr>
            <a:r>
              <a:rPr lang="zh-CN" altLang="en-US" dirty="0">
                <a:latin typeface="宋体" panose="02010600030101010101" pitchFamily="2" charset="-122"/>
              </a:rPr>
              <a:t>如果程序执行时所需的块不能全部调入</a:t>
            </a:r>
            <a:r>
              <a:rPr lang="en-US" altLang="zh-CN" dirty="0">
                <a:latin typeface="宋体" panose="02010600030101010101" pitchFamily="2" charset="-122"/>
              </a:rPr>
              <a:t>Cache</a:t>
            </a:r>
            <a:r>
              <a:rPr lang="zh-CN" altLang="en-US" dirty="0">
                <a:latin typeface="宋体" panose="02010600030101010101" pitchFamily="2" charset="-122"/>
              </a:rPr>
              <a:t>中，则当某些块被替换后，若又重新被访问，就会发生不命中。这种不命中称为容量不命中。</a:t>
            </a:r>
            <a:endParaRPr lang="en-US" altLang="zh-CN" dirty="0">
              <a:latin typeface="宋体" panose="02010600030101010101" pitchFamily="2" charset="-122"/>
            </a:endParaRPr>
          </a:p>
          <a:p>
            <a:pPr lvl="1">
              <a:lnSpc>
                <a:spcPts val="2800"/>
              </a:lnSpc>
            </a:pP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</a:rPr>
              <a:t> 冲突不命中</a:t>
            </a:r>
            <a:r>
              <a:rPr lang="en-US" altLang="zh-CN" dirty="0">
                <a:latin typeface="黑体" panose="02010609060101010101" pitchFamily="49" charset="-122"/>
              </a:rPr>
              <a:t>(</a:t>
            </a:r>
            <a:r>
              <a:rPr lang="en-US" altLang="zh-CN" dirty="0">
                <a:solidFill>
                  <a:srgbClr val="D60093"/>
                </a:solidFill>
                <a:latin typeface="黑体" panose="02010609060101010101" pitchFamily="49" charset="-122"/>
              </a:rPr>
              <a:t>C</a:t>
            </a:r>
            <a:r>
              <a:rPr lang="en-US" altLang="zh-CN" dirty="0">
                <a:latin typeface="黑体" panose="02010609060101010101" pitchFamily="49" charset="-122"/>
              </a:rPr>
              <a:t>onflict miss)</a:t>
            </a:r>
          </a:p>
          <a:p>
            <a:pPr lvl="2">
              <a:lnSpc>
                <a:spcPts val="2800"/>
              </a:lnSpc>
            </a:pPr>
            <a:r>
              <a:rPr lang="zh-CN" altLang="en-US" dirty="0">
                <a:latin typeface="宋体" panose="02010600030101010101" pitchFamily="2" charset="-122"/>
              </a:rPr>
              <a:t>在组相联或直接映像</a:t>
            </a:r>
            <a:r>
              <a:rPr lang="en-US" altLang="zh-CN" dirty="0">
                <a:latin typeface="宋体" panose="02010600030101010101" pitchFamily="2" charset="-122"/>
              </a:rPr>
              <a:t>Cache</a:t>
            </a:r>
            <a:r>
              <a:rPr lang="zh-CN" altLang="en-US" dirty="0">
                <a:latin typeface="宋体" panose="02010600030101010101" pitchFamily="2" charset="-122"/>
              </a:rPr>
              <a:t>中，若太多的块映像到同一组</a:t>
            </a:r>
            <a:r>
              <a:rPr lang="en-US" altLang="zh-CN" dirty="0">
                <a:latin typeface="宋体" panose="02010600030101010101" pitchFamily="2" charset="-122"/>
              </a:rPr>
              <a:t>(</a:t>
            </a:r>
            <a:r>
              <a:rPr lang="zh-CN" altLang="en-US" dirty="0">
                <a:latin typeface="宋体" panose="02010600030101010101" pitchFamily="2" charset="-122"/>
              </a:rPr>
              <a:t>块</a:t>
            </a:r>
            <a:r>
              <a:rPr lang="en-US" altLang="zh-CN" dirty="0">
                <a:latin typeface="宋体" panose="02010600030101010101" pitchFamily="2" charset="-122"/>
              </a:rPr>
              <a:t>)</a:t>
            </a:r>
            <a:r>
              <a:rPr lang="zh-CN" altLang="en-US" dirty="0">
                <a:latin typeface="宋体" panose="02010600030101010101" pitchFamily="2" charset="-122"/>
              </a:rPr>
              <a:t>中，则会出现该组中某个块被别的块替换</a:t>
            </a:r>
            <a:r>
              <a:rPr lang="en-US" altLang="zh-CN" dirty="0">
                <a:latin typeface="宋体" panose="02010600030101010101" pitchFamily="2" charset="-122"/>
              </a:rPr>
              <a:t>(</a:t>
            </a:r>
            <a:r>
              <a:rPr lang="zh-CN" altLang="en-US" dirty="0">
                <a:latin typeface="宋体" panose="02010600030101010101" pitchFamily="2" charset="-122"/>
              </a:rPr>
              <a:t>即使别的组或块有空闲位置</a:t>
            </a:r>
            <a:r>
              <a:rPr lang="en-US" altLang="zh-CN" dirty="0">
                <a:latin typeface="宋体" panose="02010600030101010101" pitchFamily="2" charset="-122"/>
              </a:rPr>
              <a:t>)</a:t>
            </a:r>
            <a:r>
              <a:rPr lang="zh-CN" altLang="en-US" dirty="0">
                <a:latin typeface="宋体" panose="02010600030101010101" pitchFamily="2" charset="-122"/>
              </a:rPr>
              <a:t>，然后又被重新访问的情况。这就是发生了冲突不命中。</a:t>
            </a:r>
          </a:p>
          <a:p>
            <a:pPr lvl="2">
              <a:lnSpc>
                <a:spcPts val="2800"/>
              </a:lnSpc>
              <a:buNone/>
            </a:pPr>
            <a:r>
              <a:rPr lang="zh-CN" altLang="en-US" dirty="0">
                <a:latin typeface="宋体" panose="02010600030101010101" pitchFamily="2" charset="-122"/>
              </a:rPr>
              <a:t>       </a:t>
            </a:r>
            <a:r>
              <a:rPr lang="en-US" altLang="zh-CN" dirty="0">
                <a:latin typeface="宋体" panose="02010600030101010101" pitchFamily="2" charset="-122"/>
              </a:rPr>
              <a:t>(</a:t>
            </a:r>
            <a:r>
              <a:rPr lang="zh-CN" altLang="en-US" dirty="0">
                <a:latin typeface="宋体" panose="02010600030101010101" pitchFamily="2" charset="-122"/>
              </a:rPr>
              <a:t>碰撞不命中，干扰不命中</a:t>
            </a:r>
            <a:r>
              <a:rPr lang="en-US" altLang="zh-CN" dirty="0"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46039" y="53181"/>
            <a:ext cx="6905626" cy="771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/>
              <a:t>三</a:t>
            </a:r>
            <a:r>
              <a:rPr lang="en-US" altLang="zh-CN" sz="3600" b="1" dirty="0"/>
              <a:t>  </a:t>
            </a:r>
            <a:r>
              <a:rPr lang="zh-CN" altLang="en-US" sz="3600" b="1" dirty="0"/>
              <a:t>降低不命中率</a:t>
            </a:r>
            <a:endParaRPr lang="zh-CN" altLang="en-US" sz="3600" dirty="0"/>
          </a:p>
        </p:txBody>
      </p:sp>
      <p:sp>
        <p:nvSpPr>
          <p:cNvPr id="6" name="标题 1"/>
          <p:cNvSpPr txBox="1">
            <a:spLocks/>
          </p:cNvSpPr>
          <p:nvPr/>
        </p:nvSpPr>
        <p:spPr>
          <a:xfrm>
            <a:off x="188914" y="811609"/>
            <a:ext cx="6905626" cy="771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b="1" dirty="0"/>
              <a:t>3.1   </a:t>
            </a:r>
            <a:r>
              <a:rPr lang="zh-CN" altLang="en-US" sz="2800" b="1" dirty="0"/>
              <a:t>三种类型的不命中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9187373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10515600" cy="857250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2800" dirty="0">
                <a:latin typeface="黑体" panose="02010609060101010101" pitchFamily="49" charset="-122"/>
              </a:rPr>
              <a:t>三种类型的不命中</a:t>
            </a:r>
          </a:p>
        </p:txBody>
      </p:sp>
      <p:pic>
        <p:nvPicPr>
          <p:cNvPr id="31747" name="Picture 4" descr="5-1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2875" y="857249"/>
            <a:ext cx="5933238" cy="4173537"/>
          </a:xfrm>
          <a:noFill/>
        </p:spPr>
      </p:pic>
      <p:pic>
        <p:nvPicPr>
          <p:cNvPr id="4" name="Picture 4" descr="5-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76164" y="857250"/>
            <a:ext cx="5509518" cy="4173537"/>
          </a:xfrm>
          <a:prstGeom prst="rect">
            <a:avLst/>
          </a:prstGeom>
          <a:noFill/>
        </p:spPr>
      </p:pic>
      <p:sp>
        <p:nvSpPr>
          <p:cNvPr id="2" name="矩形 1"/>
          <p:cNvSpPr/>
          <p:nvPr/>
        </p:nvSpPr>
        <p:spPr>
          <a:xfrm>
            <a:off x="-19887" y="5121670"/>
            <a:ext cx="6096000" cy="1532727"/>
          </a:xfrm>
          <a:prstGeom prst="rect">
            <a:avLst/>
          </a:prstGeom>
        </p:spPr>
        <p:txBody>
          <a:bodyPr>
            <a:spAutoFit/>
          </a:bodyPr>
          <a:lstStyle/>
          <a:p>
            <a:pPr marL="1200150" lvl="2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宋体" panose="02010600030101010101" pitchFamily="2" charset="-122"/>
              </a:rPr>
              <a:t>相联度越高，冲突不命中就越少；</a:t>
            </a:r>
          </a:p>
          <a:p>
            <a:pPr marL="1200150" lvl="2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宋体" panose="02010600030101010101" pitchFamily="2" charset="-122"/>
              </a:rPr>
              <a:t>强制性不命中和容量不命中不受相联度的影响；</a:t>
            </a:r>
          </a:p>
          <a:p>
            <a:pPr marL="1200150" lvl="2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宋体" panose="02010600030101010101" pitchFamily="2" charset="-122"/>
              </a:rPr>
              <a:t>强制性不命中不受</a:t>
            </a:r>
            <a:r>
              <a:rPr lang="en-US" altLang="zh-CN" dirty="0">
                <a:latin typeface="宋体" panose="02010600030101010101" pitchFamily="2" charset="-122"/>
              </a:rPr>
              <a:t>Cache</a:t>
            </a:r>
            <a:r>
              <a:rPr lang="zh-CN" altLang="en-US" dirty="0">
                <a:latin typeface="宋体" panose="02010600030101010101" pitchFamily="2" charset="-122"/>
              </a:rPr>
              <a:t>容量的影响，但容量不命中却随着容量的增加而减少。</a:t>
            </a:r>
          </a:p>
        </p:txBody>
      </p:sp>
      <p:sp>
        <p:nvSpPr>
          <p:cNvPr id="3" name="矩形标注 2"/>
          <p:cNvSpPr/>
          <p:nvPr/>
        </p:nvSpPr>
        <p:spPr>
          <a:xfrm>
            <a:off x="9560458" y="244601"/>
            <a:ext cx="1484769" cy="612648"/>
          </a:xfrm>
          <a:prstGeom prst="wedgeRectCallout">
            <a:avLst>
              <a:gd name="adj1" fmla="val -22052"/>
              <a:gd name="adj2" fmla="val 83189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各种不命中所占的比例</a:t>
            </a:r>
          </a:p>
        </p:txBody>
      </p:sp>
    </p:spTree>
    <p:extLst>
      <p:ext uri="{BB962C8B-B14F-4D97-AF65-F5344CB8AC3E}">
        <p14:creationId xmlns:p14="http://schemas.microsoft.com/office/powerpoint/2010/main" val="37902925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>
            <a:spLocks/>
          </p:cNvSpPr>
          <p:nvPr/>
        </p:nvSpPr>
        <p:spPr>
          <a:xfrm>
            <a:off x="0" y="0"/>
            <a:ext cx="6905626" cy="771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b="1" dirty="0"/>
              <a:t>3.2   </a:t>
            </a:r>
            <a:r>
              <a:rPr lang="zh-CN" altLang="en-US" sz="2800" b="1" dirty="0"/>
              <a:t>降低不命中率的方法</a:t>
            </a:r>
            <a:endParaRPr lang="zh-CN" altLang="en-US" sz="2800" dirty="0"/>
          </a:p>
        </p:txBody>
      </p:sp>
      <p:sp>
        <p:nvSpPr>
          <p:cNvPr id="7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514350" y="878284"/>
            <a:ext cx="9410700" cy="1957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ts val="2800"/>
              </a:lnSpc>
            </a:pPr>
            <a:r>
              <a:rPr lang="zh-CN" altLang="en-US" dirty="0"/>
              <a:t>针对三种类型的不命中的直接方法</a:t>
            </a:r>
            <a:endParaRPr lang="en-US" altLang="zh-CN" dirty="0"/>
          </a:p>
          <a:p>
            <a:pPr lvl="1">
              <a:lnSpc>
                <a:spcPts val="2800"/>
              </a:lnSpc>
            </a:pPr>
            <a:r>
              <a:rPr lang="zh-CN" altLang="en-US" dirty="0">
                <a:latin typeface="黑体" panose="02010609060101010101" pitchFamily="49" charset="-122"/>
              </a:rPr>
              <a:t>针对强制不命中  </a:t>
            </a:r>
            <a:r>
              <a:rPr lang="en-US" altLang="zh-CN" dirty="0">
                <a:latin typeface="黑体" panose="02010609060101010101" pitchFamily="49" charset="-122"/>
              </a:rPr>
              <a:t>--  </a:t>
            </a:r>
            <a:r>
              <a:rPr lang="zh-CN" altLang="en-US" dirty="0">
                <a:latin typeface="黑体" panose="02010609060101010101" pitchFamily="49" charset="-122"/>
              </a:rPr>
              <a:t>增加块大小 （方法一）</a:t>
            </a:r>
            <a:endParaRPr lang="en-US" altLang="zh-CN" dirty="0">
              <a:latin typeface="黑体" panose="02010609060101010101" pitchFamily="49" charset="-122"/>
            </a:endParaRPr>
          </a:p>
          <a:p>
            <a:pPr lvl="1">
              <a:lnSpc>
                <a:spcPts val="2800"/>
              </a:lnSpc>
            </a:pPr>
            <a:r>
              <a:rPr lang="zh-CN" altLang="en-US" dirty="0">
                <a:latin typeface="黑体" panose="02010609060101010101" pitchFamily="49" charset="-122"/>
              </a:rPr>
              <a:t>针对容量不命中  </a:t>
            </a:r>
            <a:r>
              <a:rPr lang="en-US" altLang="zh-CN" dirty="0">
                <a:latin typeface="黑体" panose="02010609060101010101" pitchFamily="49" charset="-122"/>
              </a:rPr>
              <a:t>--  </a:t>
            </a:r>
            <a:r>
              <a:rPr lang="zh-CN" altLang="en-US" dirty="0">
                <a:latin typeface="黑体" panose="02010609060101010101" pitchFamily="49" charset="-122"/>
              </a:rPr>
              <a:t>增加</a:t>
            </a:r>
            <a:r>
              <a:rPr lang="en-US" altLang="zh-CN" dirty="0">
                <a:latin typeface="黑体" panose="02010609060101010101" pitchFamily="49" charset="-122"/>
              </a:rPr>
              <a:t>Cache</a:t>
            </a:r>
            <a:r>
              <a:rPr lang="zh-CN" altLang="en-US" dirty="0">
                <a:latin typeface="黑体" panose="02010609060101010101" pitchFamily="49" charset="-122"/>
              </a:rPr>
              <a:t>容量 （方法二）</a:t>
            </a:r>
            <a:endParaRPr lang="en-US" altLang="zh-CN" dirty="0">
              <a:latin typeface="黑体" panose="02010609060101010101" pitchFamily="49" charset="-122"/>
            </a:endParaRPr>
          </a:p>
          <a:p>
            <a:pPr lvl="1">
              <a:lnSpc>
                <a:spcPts val="2800"/>
              </a:lnSpc>
            </a:pPr>
            <a:r>
              <a:rPr lang="zh-CN" altLang="en-US" dirty="0">
                <a:latin typeface="黑体" panose="02010609060101010101" pitchFamily="49" charset="-122"/>
              </a:rPr>
              <a:t>针对冲突不命中  </a:t>
            </a:r>
            <a:r>
              <a:rPr lang="en-US" altLang="zh-CN" dirty="0">
                <a:latin typeface="黑体" panose="02010609060101010101" pitchFamily="49" charset="-122"/>
              </a:rPr>
              <a:t>--  </a:t>
            </a:r>
            <a:r>
              <a:rPr lang="zh-CN" altLang="en-US" dirty="0">
                <a:latin typeface="黑体" panose="02010609060101010101" pitchFamily="49" charset="-122"/>
              </a:rPr>
              <a:t>提高相联度 （方法三）</a:t>
            </a:r>
            <a:endParaRPr lang="en-US" altLang="zh-CN" dirty="0">
              <a:latin typeface="黑体" panose="02010609060101010101" pitchFamily="49" charset="-122"/>
            </a:endParaRPr>
          </a:p>
          <a:p>
            <a:pPr marL="457200" lvl="1" indent="0">
              <a:lnSpc>
                <a:spcPts val="2800"/>
              </a:lnSpc>
              <a:buNone/>
            </a:pPr>
            <a:endParaRPr lang="en-US" altLang="zh-CN" dirty="0">
              <a:latin typeface="黑体" panose="02010609060101010101" pitchFamily="49" charset="-122"/>
            </a:endParaRPr>
          </a:p>
          <a:p>
            <a:pPr marL="457200" lvl="1" indent="0">
              <a:lnSpc>
                <a:spcPts val="2800"/>
              </a:lnSpc>
              <a:buNone/>
            </a:pPr>
            <a:endParaRPr lang="en-US" altLang="zh-CN" dirty="0">
              <a:latin typeface="黑体" panose="02010609060101010101" pitchFamily="49" charset="-122"/>
            </a:endParaRPr>
          </a:p>
          <a:p>
            <a:pPr marL="457200" lvl="1" indent="-457200">
              <a:lnSpc>
                <a:spcPts val="2800"/>
              </a:lnSpc>
              <a:spcBef>
                <a:spcPts val="1000"/>
              </a:spcBef>
            </a:pPr>
            <a:endParaRPr lang="en-US" altLang="zh-CN" sz="2800" dirty="0"/>
          </a:p>
        </p:txBody>
      </p:sp>
      <p:sp>
        <p:nvSpPr>
          <p:cNvPr id="4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514350" y="2661993"/>
            <a:ext cx="9410700" cy="4196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ts val="2800"/>
              </a:lnSpc>
              <a:buNone/>
            </a:pPr>
            <a:endParaRPr lang="en-US" altLang="zh-CN" dirty="0">
              <a:latin typeface="黑体" panose="02010609060101010101" pitchFamily="49" charset="-122"/>
            </a:endParaRPr>
          </a:p>
          <a:p>
            <a:pPr marL="457200" lvl="1" indent="-457200">
              <a:lnSpc>
                <a:spcPts val="2800"/>
              </a:lnSpc>
              <a:spcBef>
                <a:spcPts val="1000"/>
              </a:spcBef>
            </a:pPr>
            <a:r>
              <a:rPr lang="zh-CN" altLang="en-US" sz="2800" dirty="0"/>
              <a:t>其他方法</a:t>
            </a:r>
            <a:endParaRPr lang="en-US" altLang="zh-CN" sz="2800" dirty="0"/>
          </a:p>
          <a:p>
            <a:pPr lvl="1">
              <a:lnSpc>
                <a:spcPts val="2800"/>
              </a:lnSpc>
            </a:pPr>
            <a:r>
              <a:rPr lang="zh-CN" altLang="en-US" dirty="0">
                <a:latin typeface="黑体" panose="02010609060101010101" pitchFamily="49" charset="-122"/>
              </a:rPr>
              <a:t>伪相联</a:t>
            </a:r>
            <a:r>
              <a:rPr lang="en-US" altLang="zh-CN" dirty="0">
                <a:latin typeface="黑体" panose="02010609060101010101" pitchFamily="49" charset="-122"/>
              </a:rPr>
              <a:t>Cache </a:t>
            </a:r>
            <a:r>
              <a:rPr lang="zh-CN" altLang="en-US" dirty="0">
                <a:latin typeface="黑体" panose="02010609060101010101" pitchFamily="49" charset="-122"/>
              </a:rPr>
              <a:t>（方法四）</a:t>
            </a:r>
            <a:endParaRPr lang="en-US" altLang="zh-CN" dirty="0">
              <a:latin typeface="黑体" panose="02010609060101010101" pitchFamily="49" charset="-122"/>
            </a:endParaRPr>
          </a:p>
          <a:p>
            <a:pPr lvl="1">
              <a:lnSpc>
                <a:spcPts val="2800"/>
              </a:lnSpc>
            </a:pPr>
            <a:r>
              <a:rPr lang="zh-CN" altLang="en-US" dirty="0">
                <a:latin typeface="黑体" panose="02010609060101010101" pitchFamily="49" charset="-122"/>
              </a:rPr>
              <a:t>硬件预取 （方法五）</a:t>
            </a:r>
            <a:endParaRPr lang="en-US" altLang="zh-CN" dirty="0">
              <a:latin typeface="黑体" panose="02010609060101010101" pitchFamily="49" charset="-122"/>
            </a:endParaRPr>
          </a:p>
          <a:p>
            <a:pPr lvl="1">
              <a:lnSpc>
                <a:spcPts val="2800"/>
              </a:lnSpc>
            </a:pPr>
            <a:r>
              <a:rPr lang="zh-CN" altLang="en-US" dirty="0">
                <a:latin typeface="黑体" panose="02010609060101010101" pitchFamily="49" charset="-122"/>
              </a:rPr>
              <a:t>编译器预取 （方法六）</a:t>
            </a:r>
            <a:endParaRPr lang="en-US" altLang="zh-CN" dirty="0">
              <a:latin typeface="黑体" panose="02010609060101010101" pitchFamily="49" charset="-122"/>
            </a:endParaRPr>
          </a:p>
          <a:p>
            <a:pPr lvl="1">
              <a:lnSpc>
                <a:spcPts val="2800"/>
              </a:lnSpc>
            </a:pPr>
            <a:r>
              <a:rPr lang="zh-CN" altLang="en-US" dirty="0">
                <a:latin typeface="黑体" panose="02010609060101010101" pitchFamily="49" charset="-122"/>
              </a:rPr>
              <a:t>编译器优化 （方法七）</a:t>
            </a:r>
            <a:endParaRPr lang="en-US" altLang="zh-CN" dirty="0">
              <a:latin typeface="黑体" panose="02010609060101010101" pitchFamily="49" charset="-122"/>
            </a:endParaRPr>
          </a:p>
          <a:p>
            <a:pPr lvl="1">
              <a:lnSpc>
                <a:spcPts val="2800"/>
              </a:lnSpc>
            </a:pPr>
            <a:r>
              <a:rPr lang="zh-CN" altLang="en-US" dirty="0">
                <a:latin typeface="黑体" panose="02010609060101010101" pitchFamily="49" charset="-122"/>
              </a:rPr>
              <a:t>牺牲</a:t>
            </a:r>
            <a:r>
              <a:rPr lang="en-US" altLang="zh-CN" dirty="0">
                <a:latin typeface="黑体" panose="02010609060101010101" pitchFamily="49" charset="-122"/>
              </a:rPr>
              <a:t>Cache </a:t>
            </a:r>
            <a:r>
              <a:rPr lang="zh-CN" altLang="en-US" dirty="0">
                <a:latin typeface="黑体" panose="02010609060101010101" pitchFamily="49" charset="-122"/>
              </a:rPr>
              <a:t>（方法八）</a:t>
            </a:r>
            <a:endParaRPr lang="en-US" altLang="zh-CN" dirty="0">
              <a:latin typeface="黑体" panose="02010609060101010101" pitchFamily="49" charset="-122"/>
            </a:endParaRPr>
          </a:p>
          <a:p>
            <a:pPr marL="457200" lvl="1" indent="0">
              <a:lnSpc>
                <a:spcPts val="2800"/>
              </a:lnSpc>
              <a:buNone/>
            </a:pPr>
            <a:endParaRPr lang="en-US" altLang="zh-CN" dirty="0">
              <a:latin typeface="黑体" panose="02010609060101010101" pitchFamily="49" charset="-122"/>
            </a:endParaRPr>
          </a:p>
          <a:p>
            <a:pPr marL="457200" lvl="1" indent="-457200">
              <a:lnSpc>
                <a:spcPts val="2800"/>
              </a:lnSpc>
              <a:spcBef>
                <a:spcPts val="1000"/>
              </a:spcBef>
            </a:pP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3159520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8"/>
          <p:cNvSpPr>
            <a:spLocks noChangeArrowheads="1"/>
          </p:cNvSpPr>
          <p:nvPr/>
        </p:nvSpPr>
        <p:spPr bwMode="auto">
          <a:xfrm>
            <a:off x="523875" y="1886229"/>
            <a:ext cx="6481762" cy="417671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  <a:defRPr kumimoji="1" sz="2400">
                <a:solidFill>
                  <a:srgbClr val="E24C05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q"/>
              <a:defRPr kumimoji="1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rgbClr val="006600"/>
              </a:buClr>
              <a:buSzPct val="6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36868" name="Object 6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8787664"/>
              </p:ext>
            </p:extLst>
          </p:nvPr>
        </p:nvGraphicFramePr>
        <p:xfrm>
          <a:off x="884237" y="2245005"/>
          <a:ext cx="5759450" cy="362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3596640" imgH="2264664" progId="Word.Picture.8">
                  <p:embed/>
                </p:oleObj>
              </mc:Choice>
              <mc:Fallback>
                <p:oleObj name="Picture" r:id="rId2" imgW="3596640" imgH="2264664" progId="Word.Picture.8">
                  <p:embed/>
                  <p:pic>
                    <p:nvPicPr>
                      <p:cNvPr id="3686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4237" y="2245005"/>
                        <a:ext cx="5759450" cy="3629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3875" y="787681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请先观察不命中率随块大小变化的曲线 </a:t>
            </a:r>
            <a:br>
              <a:rPr lang="zh-CN" altLang="en-US" sz="2800" dirty="0"/>
            </a:br>
            <a:endParaRPr lang="zh-CN" altLang="en-US" sz="2800" dirty="0"/>
          </a:p>
        </p:txBody>
      </p:sp>
      <p:sp>
        <p:nvSpPr>
          <p:cNvPr id="7" name="矩形 6"/>
          <p:cNvSpPr/>
          <p:nvPr/>
        </p:nvSpPr>
        <p:spPr>
          <a:xfrm>
            <a:off x="0" y="136247"/>
            <a:ext cx="3416320" cy="4514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>
              <a:lnSpc>
                <a:spcPts val="2800"/>
              </a:lnSpc>
            </a:pPr>
            <a:r>
              <a:rPr lang="zh-CN" altLang="en-US" sz="2800" dirty="0">
                <a:latin typeface="黑体" panose="02010609060101010101" pitchFamily="49" charset="-122"/>
              </a:rPr>
              <a:t>方法一：增加块大小</a:t>
            </a:r>
            <a:endParaRPr lang="en-US" altLang="zh-CN" sz="2800" dirty="0">
              <a:latin typeface="黑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365999" y="2207523"/>
            <a:ext cx="425450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</a:rPr>
              <a:t>对于给定的</a:t>
            </a:r>
            <a:r>
              <a:rPr lang="en-US" altLang="zh-CN" sz="2000" dirty="0">
                <a:latin typeface="黑体" panose="02010609060101010101" pitchFamily="49" charset="-122"/>
              </a:rPr>
              <a:t>Cache</a:t>
            </a:r>
            <a:r>
              <a:rPr lang="zh-CN" altLang="en-US" sz="2000" dirty="0">
                <a:latin typeface="黑体" panose="02010609060101010101" pitchFamily="49" charset="-122"/>
              </a:rPr>
              <a:t>容量，当块大小增加时，不命中率开始是下降，后来反而上升了。</a:t>
            </a:r>
            <a:endParaRPr lang="zh-CN" altLang="en-US" sz="2000" dirty="0"/>
          </a:p>
        </p:txBody>
      </p:sp>
      <p:sp>
        <p:nvSpPr>
          <p:cNvPr id="4" name="矩形 3"/>
          <p:cNvSpPr/>
          <p:nvPr/>
        </p:nvSpPr>
        <p:spPr>
          <a:xfrm>
            <a:off x="7365999" y="3620642"/>
            <a:ext cx="458152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黑体" panose="02010609060101010101" pitchFamily="49" charset="-122"/>
              </a:rPr>
              <a:t>Cache</a:t>
            </a:r>
            <a:r>
              <a:rPr lang="zh-CN" altLang="en-US" sz="2000" dirty="0">
                <a:latin typeface="黑体" panose="02010609060101010101" pitchFamily="49" charset="-122"/>
              </a:rPr>
              <a:t>容量越大，使不命中率达到最低的块大小就越大。（从上到下，曲线越来越平）</a:t>
            </a:r>
          </a:p>
        </p:txBody>
      </p:sp>
    </p:spTree>
    <p:extLst>
      <p:ext uri="{BB962C8B-B14F-4D97-AF65-F5344CB8AC3E}">
        <p14:creationId xmlns:p14="http://schemas.microsoft.com/office/powerpoint/2010/main" val="287191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22984" y="465858"/>
            <a:ext cx="9042689" cy="5705475"/>
          </a:xfrm>
        </p:spPr>
        <p:txBody>
          <a:bodyPr/>
          <a:lstStyle/>
          <a:p>
            <a:pPr marL="457200" indent="-457200" algn="just">
              <a:lnSpc>
                <a:spcPct val="100000"/>
              </a:lnSpc>
            </a:pPr>
            <a:r>
              <a:rPr lang="zh-CN" altLang="en-US" dirty="0"/>
              <a:t>请分析：为什么增加块大小可以降低强制不命中？</a:t>
            </a:r>
            <a:endParaRPr lang="en-US" altLang="zh-CN" dirty="0"/>
          </a:p>
          <a:p>
            <a:pPr marL="0" indent="0" algn="just">
              <a:lnSpc>
                <a:spcPct val="100000"/>
              </a:lnSpc>
              <a:buNone/>
            </a:pPr>
            <a:endParaRPr lang="en-US" altLang="zh-CN" dirty="0"/>
          </a:p>
          <a:p>
            <a:pPr marL="0" indent="0" algn="just">
              <a:lnSpc>
                <a:spcPct val="100000"/>
              </a:lnSpc>
              <a:buNone/>
            </a:pPr>
            <a:endParaRPr lang="en-US" altLang="zh-CN" dirty="0"/>
          </a:p>
          <a:p>
            <a:pPr marL="457200" lvl="1" indent="-457200" algn="just">
              <a:lnSpc>
                <a:spcPct val="100000"/>
              </a:lnSpc>
              <a:spcBef>
                <a:spcPts val="1000"/>
              </a:spcBef>
            </a:pPr>
            <a:r>
              <a:rPr lang="zh-CN" altLang="en-US" sz="2800" dirty="0"/>
              <a:t>请思考：为什么不命中率先下降后上升？</a:t>
            </a:r>
          </a:p>
          <a:p>
            <a:pPr lvl="1">
              <a:lnSpc>
                <a:spcPct val="100000"/>
              </a:lnSpc>
            </a:pPr>
            <a:r>
              <a:rPr lang="zh-CN" altLang="en-US" dirty="0">
                <a:latin typeface="宋体" panose="02010600030101010101" pitchFamily="2" charset="-122"/>
              </a:rPr>
              <a:t>一方面它减少了强制性不命中；（不命中率总体下降）</a:t>
            </a:r>
          </a:p>
          <a:p>
            <a:pPr lvl="1">
              <a:lnSpc>
                <a:spcPct val="100000"/>
              </a:lnSpc>
            </a:pPr>
            <a:r>
              <a:rPr lang="zh-CN" altLang="en-US" dirty="0">
                <a:latin typeface="宋体" panose="02010600030101010101" pitchFamily="2" charset="-122"/>
              </a:rPr>
              <a:t>另一方面，由于增加块大小会减少</a:t>
            </a:r>
            <a:r>
              <a:rPr lang="en-US" altLang="zh-CN" dirty="0">
                <a:latin typeface="宋体" panose="02010600030101010101" pitchFamily="2" charset="-122"/>
              </a:rPr>
              <a:t>Cache</a:t>
            </a:r>
            <a:r>
              <a:rPr lang="zh-CN" altLang="en-US" dirty="0">
                <a:latin typeface="宋体" panose="02010600030101010101" pitchFamily="2" charset="-122"/>
              </a:rPr>
              <a:t>中块的数目，所以有可能会增加冲突不命中。（不命中率又升高了）</a:t>
            </a:r>
            <a:endParaRPr lang="en-US" altLang="zh-CN" dirty="0">
              <a:latin typeface="宋体" panose="02010600030101010101" pitchFamily="2" charset="-122"/>
            </a:endParaRPr>
          </a:p>
          <a:p>
            <a:pPr marL="914400" lvl="2" indent="0" eaLnBrk="1" hangingPunct="1">
              <a:lnSpc>
                <a:spcPct val="100000"/>
              </a:lnSpc>
              <a:buNone/>
            </a:pPr>
            <a:r>
              <a:rPr lang="zh-CN" altLang="en-US" sz="2400" dirty="0"/>
              <a:t> </a:t>
            </a:r>
            <a:endParaRPr lang="en-US" altLang="zh-CN" sz="2400" dirty="0"/>
          </a:p>
          <a:p>
            <a:pPr marL="914400" lvl="2" indent="0" eaLnBrk="1" hangingPunct="1">
              <a:lnSpc>
                <a:spcPct val="100000"/>
              </a:lnSpc>
              <a:buNone/>
            </a:pPr>
            <a:endParaRPr lang="zh-CN" altLang="en-US" sz="2400" dirty="0">
              <a:latin typeface="黑体" panose="02010609060101010101" pitchFamily="49" charset="-122"/>
            </a:endParaRPr>
          </a:p>
          <a:p>
            <a:pPr marL="457200" indent="-457200">
              <a:lnSpc>
                <a:spcPct val="100000"/>
              </a:lnSpc>
            </a:pPr>
            <a:r>
              <a:rPr lang="zh-CN" altLang="en-US" dirty="0"/>
              <a:t>请考虑：增加块大小还可能带来什么不良后果？</a:t>
            </a:r>
            <a:endParaRPr lang="en-US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dirty="0"/>
              <a:t>             </a:t>
            </a:r>
            <a:r>
              <a:rPr lang="zh-CN" altLang="en-US" sz="2400" dirty="0"/>
              <a:t>会增加不命中开销</a:t>
            </a:r>
          </a:p>
          <a:p>
            <a:pPr marL="457200" indent="-457200">
              <a:lnSpc>
                <a:spcPct val="100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40368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58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58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09444" y="1231179"/>
            <a:ext cx="6118225" cy="2520950"/>
          </a:xfrm>
        </p:spPr>
        <p:txBody>
          <a:bodyPr>
            <a:normAutofit fontScale="92500"/>
          </a:bodyPr>
          <a:lstStyle/>
          <a:p>
            <a:pPr marL="457200" indent="-457200">
              <a:lnSpc>
                <a:spcPts val="2800"/>
              </a:lnSpc>
            </a:pPr>
            <a:r>
              <a:rPr lang="zh-CN" altLang="en-US" dirty="0">
                <a:latin typeface="+mn-ea"/>
              </a:rPr>
              <a:t>最直接的方法是增加</a:t>
            </a:r>
            <a:r>
              <a:rPr lang="en-US" altLang="zh-CN" dirty="0">
                <a:latin typeface="+mn-ea"/>
              </a:rPr>
              <a:t>Cache</a:t>
            </a:r>
            <a:r>
              <a:rPr lang="zh-CN" altLang="en-US" dirty="0">
                <a:latin typeface="+mn-ea"/>
              </a:rPr>
              <a:t>的容量</a:t>
            </a:r>
          </a:p>
          <a:p>
            <a:pPr marL="1085850" lvl="1" indent="-457200">
              <a:lnSpc>
                <a:spcPts val="2800"/>
              </a:lnSpc>
            </a:pPr>
            <a:r>
              <a:rPr lang="zh-CN" altLang="en-US" dirty="0">
                <a:latin typeface="+mn-ea"/>
              </a:rPr>
              <a:t>缺点</a:t>
            </a:r>
            <a:r>
              <a:rPr lang="en-US" altLang="zh-CN" dirty="0">
                <a:latin typeface="+mn-ea"/>
              </a:rPr>
              <a:t>:</a:t>
            </a:r>
          </a:p>
          <a:p>
            <a:pPr lvl="2" eaLnBrk="1" hangingPunct="1">
              <a:lnSpc>
                <a:spcPts val="2800"/>
              </a:lnSpc>
            </a:pPr>
            <a:r>
              <a:rPr lang="zh-CN" altLang="en-US" sz="2400" dirty="0">
                <a:latin typeface="+mn-ea"/>
              </a:rPr>
              <a:t>增加成本</a:t>
            </a:r>
          </a:p>
          <a:p>
            <a:pPr lvl="2" eaLnBrk="1" hangingPunct="1">
              <a:lnSpc>
                <a:spcPts val="2800"/>
              </a:lnSpc>
            </a:pPr>
            <a:r>
              <a:rPr lang="zh-CN" altLang="en-US" sz="2400" dirty="0">
                <a:latin typeface="+mn-ea"/>
              </a:rPr>
              <a:t>可能增加命中时间</a:t>
            </a:r>
          </a:p>
          <a:p>
            <a:pPr marL="457200" indent="-457200">
              <a:lnSpc>
                <a:spcPts val="2800"/>
              </a:lnSpc>
            </a:pPr>
            <a:r>
              <a:rPr lang="zh-CN" altLang="en-US" dirty="0">
                <a:latin typeface="+mn-ea"/>
              </a:rPr>
              <a:t>这种方法在片外</a:t>
            </a:r>
            <a:r>
              <a:rPr lang="en-US" altLang="zh-CN" dirty="0">
                <a:latin typeface="+mn-ea"/>
              </a:rPr>
              <a:t>Cache</a:t>
            </a:r>
            <a:r>
              <a:rPr lang="zh-CN" altLang="en-US" dirty="0">
                <a:latin typeface="+mn-ea"/>
              </a:rPr>
              <a:t>中用得比较多 </a:t>
            </a:r>
          </a:p>
        </p:txBody>
      </p:sp>
      <p:sp>
        <p:nvSpPr>
          <p:cNvPr id="6" name="矩形 5"/>
          <p:cNvSpPr/>
          <p:nvPr/>
        </p:nvSpPr>
        <p:spPr>
          <a:xfrm>
            <a:off x="0" y="274792"/>
            <a:ext cx="4314001" cy="4514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>
              <a:lnSpc>
                <a:spcPts val="2800"/>
              </a:lnSpc>
            </a:pPr>
            <a:r>
              <a:rPr lang="zh-CN" altLang="en-US" sz="2800" dirty="0">
                <a:latin typeface="黑体" panose="02010609060101010101" pitchFamily="49" charset="-122"/>
              </a:rPr>
              <a:t>方法二：增加</a:t>
            </a:r>
            <a:r>
              <a:rPr lang="en-US" altLang="zh-CN" sz="2800" dirty="0">
                <a:latin typeface="黑体" panose="02010609060101010101" pitchFamily="49" charset="-122"/>
              </a:rPr>
              <a:t>Cache</a:t>
            </a:r>
            <a:r>
              <a:rPr lang="zh-CN" altLang="en-US" sz="2800" dirty="0">
                <a:latin typeface="黑体" panose="02010609060101010101" pitchFamily="49" charset="-122"/>
              </a:rPr>
              <a:t>的容量</a:t>
            </a:r>
            <a:endParaRPr lang="en-US" altLang="zh-CN" sz="2800" dirty="0">
              <a:latin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85251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07988" y="1203324"/>
            <a:ext cx="7772400" cy="2897895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spcBef>
                <a:spcPts val="1800"/>
              </a:spcBef>
            </a:pPr>
            <a:r>
              <a:rPr lang="zh-CN" altLang="en-US" sz="2400" dirty="0">
                <a:latin typeface="黑体" panose="02010609060101010101" pitchFamily="49" charset="-122"/>
              </a:rPr>
              <a:t>采用相联度超过</a:t>
            </a:r>
            <a:r>
              <a:rPr lang="en-US" altLang="zh-CN" sz="2400" dirty="0">
                <a:latin typeface="黑体" panose="02010609060101010101" pitchFamily="49" charset="-122"/>
              </a:rPr>
              <a:t>8</a:t>
            </a:r>
            <a:r>
              <a:rPr lang="zh-CN" altLang="en-US" sz="2400" dirty="0">
                <a:latin typeface="黑体" panose="02010609060101010101" pitchFamily="49" charset="-122"/>
              </a:rPr>
              <a:t>的方案的实际意义不大。</a:t>
            </a:r>
          </a:p>
          <a:p>
            <a:pPr marL="457200" indent="-457200">
              <a:lnSpc>
                <a:spcPct val="100000"/>
              </a:lnSpc>
              <a:spcBef>
                <a:spcPts val="1800"/>
              </a:spcBef>
            </a:pPr>
            <a:r>
              <a:rPr lang="en-US" altLang="zh-CN" sz="2400" dirty="0">
                <a:latin typeface="黑体" panose="02010609060101010101" pitchFamily="49" charset="-122"/>
              </a:rPr>
              <a:t>2:1Cache</a:t>
            </a:r>
            <a:r>
              <a:rPr lang="zh-CN" altLang="en-US" sz="2400" dirty="0">
                <a:latin typeface="黑体" panose="02010609060101010101" pitchFamily="49" charset="-122"/>
              </a:rPr>
              <a:t>经验规则</a:t>
            </a:r>
          </a:p>
          <a:p>
            <a:pPr marL="447675" indent="714375">
              <a:lnSpc>
                <a:spcPct val="100000"/>
              </a:lnSpc>
              <a:spcBef>
                <a:spcPts val="1800"/>
              </a:spcBef>
              <a:buNone/>
            </a:pPr>
            <a:r>
              <a:rPr lang="zh-CN" altLang="en-US" sz="2400" dirty="0">
                <a:latin typeface="黑体" panose="02010609060101010101" pitchFamily="49" charset="-122"/>
              </a:rPr>
              <a:t>容量为</a:t>
            </a:r>
            <a:r>
              <a:rPr lang="en-US" altLang="zh-CN" sz="2400" dirty="0">
                <a:latin typeface="黑体" panose="02010609060101010101" pitchFamily="49" charset="-122"/>
              </a:rPr>
              <a:t>N</a:t>
            </a:r>
            <a:r>
              <a:rPr lang="zh-CN" altLang="en-US" sz="2400" dirty="0">
                <a:latin typeface="黑体" panose="02010609060101010101" pitchFamily="49" charset="-122"/>
              </a:rPr>
              <a:t>的直接映像</a:t>
            </a:r>
            <a:r>
              <a:rPr lang="en-US" altLang="zh-CN" sz="2400" dirty="0">
                <a:latin typeface="黑体" panose="02010609060101010101" pitchFamily="49" charset="-122"/>
              </a:rPr>
              <a:t>Cache</a:t>
            </a:r>
            <a:r>
              <a:rPr lang="zh-CN" altLang="en-US" sz="2400" dirty="0">
                <a:latin typeface="黑体" panose="02010609060101010101" pitchFamily="49" charset="-122"/>
              </a:rPr>
              <a:t>的不命中率和容量为</a:t>
            </a:r>
            <a:r>
              <a:rPr lang="en-US" altLang="zh-CN" sz="2400" dirty="0">
                <a:latin typeface="黑体" panose="02010609060101010101" pitchFamily="49" charset="-122"/>
              </a:rPr>
              <a:t>N/2</a:t>
            </a:r>
            <a:r>
              <a:rPr lang="zh-CN" altLang="en-US" sz="2400" dirty="0">
                <a:latin typeface="黑体" panose="02010609060101010101" pitchFamily="49" charset="-122"/>
              </a:rPr>
              <a:t>的两路组相联</a:t>
            </a:r>
            <a:r>
              <a:rPr lang="en-US" altLang="zh-CN" sz="2400" dirty="0">
                <a:latin typeface="黑体" panose="02010609060101010101" pitchFamily="49" charset="-122"/>
              </a:rPr>
              <a:t>Cache</a:t>
            </a:r>
            <a:r>
              <a:rPr lang="zh-CN" altLang="en-US" sz="2400" dirty="0">
                <a:latin typeface="黑体" panose="02010609060101010101" pitchFamily="49" charset="-122"/>
              </a:rPr>
              <a:t>的不命中率差不多相同。</a:t>
            </a:r>
          </a:p>
          <a:p>
            <a:pPr marL="457200" indent="-457200">
              <a:lnSpc>
                <a:spcPct val="100000"/>
              </a:lnSpc>
              <a:spcBef>
                <a:spcPts val="1800"/>
              </a:spcBef>
            </a:pPr>
            <a:r>
              <a:rPr lang="zh-CN" altLang="en-US" sz="2400" dirty="0">
                <a:latin typeface="黑体" panose="02010609060101010101" pitchFamily="49" charset="-122"/>
              </a:rPr>
              <a:t>提高相联度是以增加命中时间为代价。 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AutoNum type="arabicPeriod" startAt="3"/>
            </a:pPr>
            <a:endParaRPr lang="en-US" altLang="zh-CN" sz="1800" dirty="0">
              <a:solidFill>
                <a:srgbClr val="D6009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226781"/>
            <a:ext cx="3416320" cy="4514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>
              <a:lnSpc>
                <a:spcPts val="2800"/>
              </a:lnSpc>
            </a:pPr>
            <a:r>
              <a:rPr lang="zh-CN" altLang="en-US" sz="2800" dirty="0">
                <a:latin typeface="黑体" panose="02010609060101010101" pitchFamily="49" charset="-122"/>
              </a:rPr>
              <a:t>方法三：提高相联度</a:t>
            </a:r>
            <a:endParaRPr lang="en-US" altLang="zh-CN" sz="2800" dirty="0">
              <a:latin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41730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24986" y="1106884"/>
            <a:ext cx="7523639" cy="683816"/>
          </a:xfrm>
        </p:spPr>
        <p:txBody>
          <a:bodyPr/>
          <a:lstStyle/>
          <a:p>
            <a:pPr marL="457200" indent="-457200"/>
            <a:r>
              <a:rPr lang="zh-CN" altLang="en-US" sz="2400" dirty="0">
                <a:latin typeface="黑体" panose="02010609060101010101" pitchFamily="49" charset="-122"/>
              </a:rPr>
              <a:t>多路组相联 </a:t>
            </a:r>
            <a:r>
              <a:rPr lang="en-US" altLang="zh-CN" sz="2400" dirty="0">
                <a:latin typeface="黑体" panose="02010609060101010101" pitchFamily="49" charset="-122"/>
              </a:rPr>
              <a:t>V.S. </a:t>
            </a:r>
            <a:r>
              <a:rPr lang="zh-CN" altLang="en-US" sz="2400" dirty="0">
                <a:latin typeface="黑体" panose="02010609060101010101" pitchFamily="49" charset="-122"/>
              </a:rPr>
              <a:t>直接映像</a:t>
            </a:r>
          </a:p>
          <a:p>
            <a:pPr marL="457200" indent="-457200"/>
            <a:endParaRPr lang="zh-CN" altLang="en-US" sz="2400" dirty="0">
              <a:latin typeface="黑体" panose="02010609060101010101" pitchFamily="49" charset="-122"/>
            </a:endParaRPr>
          </a:p>
          <a:p>
            <a:pPr marL="457200" indent="-457200"/>
            <a:endParaRPr lang="zh-CN" altLang="en-US" sz="2400" dirty="0">
              <a:latin typeface="黑体" panose="02010609060101010101" pitchFamily="49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0" y="136247"/>
            <a:ext cx="664797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+mn-ea"/>
              </a:rPr>
              <a:t>方法四：伪相联 </a:t>
            </a:r>
            <a:r>
              <a:rPr lang="en-US" altLang="zh-CN" sz="2800" dirty="0">
                <a:latin typeface="+mn-ea"/>
              </a:rPr>
              <a:t>Cache (</a:t>
            </a:r>
            <a:r>
              <a:rPr lang="zh-CN" altLang="en-US" sz="2800" dirty="0">
                <a:latin typeface="+mn-ea"/>
              </a:rPr>
              <a:t>列相联 </a:t>
            </a:r>
            <a:r>
              <a:rPr lang="en-US" altLang="zh-CN" sz="2800" dirty="0">
                <a:latin typeface="+mn-ea"/>
              </a:rPr>
              <a:t>Cache )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492" y="1979483"/>
            <a:ext cx="5306165" cy="150516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647699" y="3991031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pitchFamily="49" charset="-122"/>
              </a:rPr>
              <a:t>伪相联</a:t>
            </a:r>
            <a:r>
              <a:rPr lang="en-US" altLang="zh-CN" sz="2400" dirty="0">
                <a:latin typeface="黑体" panose="02010609060101010101" pitchFamily="49" charset="-122"/>
              </a:rPr>
              <a:t>Cache</a:t>
            </a:r>
            <a:r>
              <a:rPr lang="zh-CN" altLang="en-US" sz="2400" dirty="0">
                <a:latin typeface="黑体" panose="02010609060101010101" pitchFamily="49" charset="-122"/>
              </a:rPr>
              <a:t>的优点</a:t>
            </a:r>
          </a:p>
          <a:p>
            <a:pPr marL="108585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命中时间小</a:t>
            </a:r>
          </a:p>
          <a:p>
            <a:pPr marL="108585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不命中率低</a:t>
            </a:r>
          </a:p>
        </p:txBody>
      </p:sp>
    </p:spTree>
    <p:extLst>
      <p:ext uri="{BB962C8B-B14F-4D97-AF65-F5344CB8AC3E}">
        <p14:creationId xmlns:p14="http://schemas.microsoft.com/office/powerpoint/2010/main" val="31136247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87314" y="360364"/>
            <a:ext cx="10618786" cy="3502024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/>
              <a:t>基本思想及工作原理 </a:t>
            </a:r>
            <a:endParaRPr lang="en-US" altLang="zh-CN" sz="2400" dirty="0"/>
          </a:p>
          <a:p>
            <a:pPr lvl="1">
              <a:lnSpc>
                <a:spcPct val="130000"/>
              </a:lnSpc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在逻辑上把直接映像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的空间上下平分为两个区。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对于任何一次访问，伪相联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先按直接映像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的方式去处理。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2">
              <a:lnSpc>
                <a:spcPct val="13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若命中，则其访问过程与直接映像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的情况一样。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2">
              <a:lnSpc>
                <a:spcPct val="13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若不命中，则再到另一区相应的位置去查找。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3">
              <a:lnSpc>
                <a:spcPct val="130000"/>
              </a:lnSpc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若找到，则发生了伪命中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pPr lvl="3">
              <a:lnSpc>
                <a:spcPct val="130000"/>
              </a:lnSpc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否则就只好访问下一级存储器。</a:t>
            </a:r>
          </a:p>
        </p:txBody>
      </p:sp>
      <p:graphicFrame>
        <p:nvGraphicFramePr>
          <p:cNvPr id="41987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87488263"/>
              </p:ext>
            </p:extLst>
          </p:nvPr>
        </p:nvGraphicFramePr>
        <p:xfrm>
          <a:off x="6328560" y="2768616"/>
          <a:ext cx="5432403" cy="37317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片" r:id="rId2" imgW="2782824" imgH="1911096" progId="Word.Picture.8">
                  <p:embed/>
                </p:oleObj>
              </mc:Choice>
              <mc:Fallback>
                <p:oleObj name="图片" r:id="rId2" imgW="2782824" imgH="1911096" progId="Word.Picture.8">
                  <p:embed/>
                  <p:pic>
                    <p:nvPicPr>
                      <p:cNvPr id="4198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8560" y="2768616"/>
                        <a:ext cx="5432403" cy="37317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44456335"/>
      </p:ext>
    </p:extLst>
  </p:cSld>
  <p:clrMapOvr>
    <a:masterClrMapping/>
  </p:clrMapOvr>
  <p:transition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9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9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9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9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9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19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2" name="Picture 4" descr="5-3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846" y="2202052"/>
            <a:ext cx="5867400" cy="225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3" name="Rectangle 5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459386" y="617727"/>
            <a:ext cx="7920037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  <a:defRPr kumimoji="1" sz="2400">
                <a:solidFill>
                  <a:srgbClr val="E24C05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1085850" indent="-4572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q"/>
              <a:defRPr kumimoji="1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rgbClr val="006600"/>
              </a:buClr>
              <a:buSzPct val="6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缺点 ：多种命中时间 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-- 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快速命中与慢速命中</a:t>
            </a:r>
          </a:p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+mn-ea"/>
                <a:ea typeface="+mn-ea"/>
              </a:rPr>
              <a:t>    要保证绝大多数命中都是快速命中。</a:t>
            </a:r>
          </a:p>
        </p:txBody>
      </p:sp>
    </p:spTree>
    <p:extLst>
      <p:ext uri="{BB962C8B-B14F-4D97-AF65-F5344CB8AC3E}">
        <p14:creationId xmlns:p14="http://schemas.microsoft.com/office/powerpoint/2010/main" val="14813404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90550" y="436563"/>
            <a:ext cx="11020425" cy="4822023"/>
          </a:xfrm>
        </p:spPr>
        <p:txBody>
          <a:bodyPr>
            <a:normAutofit/>
          </a:bodyPr>
          <a:lstStyle/>
          <a:p>
            <a:pPr marL="447675" indent="-447675">
              <a:lnSpc>
                <a:spcPct val="140000"/>
              </a:lnSpc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假设当在按直接映象找到的位置处没有发现匹配，而在另一个位置才找到数据（伪命中）需要</a:t>
            </a:r>
            <a:r>
              <a:rPr lang="en-US" altLang="zh-CN" sz="2000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额外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的周期。问：当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容量分别为</a:t>
            </a:r>
            <a:r>
              <a:rPr lang="en-US" altLang="zh-CN" sz="2000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sz="800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KB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000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128</a:t>
            </a:r>
            <a:r>
              <a:rPr lang="en-US" altLang="zh-CN" sz="800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KB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时，直接映象、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路组相联和伪相联这三种组织结构中，哪一种速度最快？</a:t>
            </a:r>
            <a:endParaRPr lang="en-US" altLang="zh-CN" sz="20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Cache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容量为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2KB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时，有：</a:t>
            </a:r>
            <a:endParaRPr lang="en-US" altLang="zh-CN" sz="20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</a:p>
          <a:p>
            <a:pPr marL="0" indent="0">
              <a:lnSpc>
                <a:spcPct val="140000"/>
              </a:lnSpc>
              <a:buNone/>
            </a:pPr>
            <a:endParaRPr lang="en-US" altLang="zh-CN" sz="20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40000"/>
              </a:lnSpc>
              <a:buNone/>
            </a:pPr>
            <a:endParaRPr lang="en-US" altLang="zh-CN" sz="20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Cache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容量为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128KB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时，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路、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路失效率分别为：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0.010,0.007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9477717"/>
              </p:ext>
            </p:extLst>
          </p:nvPr>
        </p:nvGraphicFramePr>
        <p:xfrm>
          <a:off x="1704973" y="2529416"/>
          <a:ext cx="7658103" cy="1112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32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9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32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032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失效率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失效开销（周期）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平均访存时间（周期）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路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+mn-ea"/>
                        </a:rPr>
                        <a:t>0.098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5.90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路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+mn-ea"/>
                        </a:rPr>
                        <a:t>0.076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4.90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542647"/>
              </p:ext>
            </p:extLst>
          </p:nvPr>
        </p:nvGraphicFramePr>
        <p:xfrm>
          <a:off x="1704973" y="4824941"/>
          <a:ext cx="7658103" cy="1112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32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9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32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032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失效率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失效开销（周期）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平均访存时间（周期）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路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+mn-ea"/>
                        </a:rPr>
                        <a:t>0.010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1.50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路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+mn-ea"/>
                        </a:rPr>
                        <a:t>0.007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1.45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7621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44513" y="1479551"/>
            <a:ext cx="11256961" cy="5305425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由于：</a:t>
            </a: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失效率</a:t>
            </a:r>
            <a:r>
              <a:rPr lang="zh-CN" altLang="en-US" sz="20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伪相联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＝失效率</a:t>
            </a:r>
            <a:r>
              <a:rPr lang="en-US" altLang="zh-CN" sz="20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路</a:t>
            </a: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命中时间</a:t>
            </a:r>
            <a:r>
              <a:rPr lang="zh-CN" altLang="en-US" sz="20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伪相联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＝命中时间</a:t>
            </a:r>
            <a:r>
              <a:rPr lang="en-US" altLang="zh-CN" sz="20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路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＋</a:t>
            </a:r>
            <a:r>
              <a:rPr lang="zh-CN" altLang="en-US" sz="2000" dirty="0">
                <a:solidFill>
                  <a:srgbClr val="FF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伪命中率</a:t>
            </a:r>
            <a:r>
              <a:rPr lang="zh-CN" altLang="en-US" sz="2000" baseline="-25000" dirty="0">
                <a:solidFill>
                  <a:srgbClr val="FF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伪相联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×2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伪相联查找的命中率等于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路组相联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的命中率和直接映象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命中率之差。</a:t>
            </a:r>
          </a:p>
          <a:p>
            <a:pPr marL="0" indent="0"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伪命中率</a:t>
            </a:r>
            <a:r>
              <a:rPr lang="zh-CN" altLang="en-US" sz="20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伪相联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＝命中率</a:t>
            </a:r>
            <a:r>
              <a:rPr lang="en-US" altLang="zh-CN" sz="20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路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－命中率</a:t>
            </a:r>
            <a:r>
              <a:rPr lang="en-US" altLang="zh-CN" sz="20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路</a:t>
            </a: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＝（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－失效率</a:t>
            </a:r>
            <a:r>
              <a:rPr lang="en-US" altLang="zh-CN" sz="20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路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）－（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－失效率</a:t>
            </a:r>
            <a:r>
              <a:rPr lang="en-US" altLang="zh-CN" sz="20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路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＝失效率</a:t>
            </a:r>
            <a:r>
              <a:rPr lang="en-US" altLang="zh-CN" sz="20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路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－失效率</a:t>
            </a:r>
            <a:r>
              <a:rPr lang="en-US" altLang="zh-CN" sz="20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路</a:t>
            </a:r>
            <a:endParaRPr lang="en-US" altLang="zh-CN" sz="2000" baseline="-25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baseline="-250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综合上述分析，有：</a:t>
            </a:r>
          </a:p>
          <a:p>
            <a:pPr marL="0" indent="0">
              <a:buNone/>
            </a:pPr>
            <a:r>
              <a:rPr lang="zh-CN" altLang="en-US" sz="2000" dirty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平均访存时间</a:t>
            </a:r>
            <a:r>
              <a:rPr lang="zh-CN" altLang="en-US" sz="20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伪相联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＝命中时间</a:t>
            </a:r>
            <a:r>
              <a:rPr lang="en-US" altLang="zh-CN" sz="20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路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＋（失效率</a:t>
            </a:r>
            <a:r>
              <a:rPr lang="en-US" altLang="zh-CN" sz="20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路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－失效率</a:t>
            </a:r>
            <a:r>
              <a:rPr lang="en-US" altLang="zh-CN" sz="20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路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×2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＋失效率</a:t>
            </a:r>
            <a:r>
              <a:rPr lang="en-US" altLang="zh-CN" sz="20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路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×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失效开销</a:t>
            </a:r>
            <a:r>
              <a:rPr lang="en-US" altLang="zh-CN" sz="20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路</a:t>
            </a:r>
          </a:p>
        </p:txBody>
      </p:sp>
      <p:sp>
        <p:nvSpPr>
          <p:cNvPr id="5" name="矩形 4"/>
          <p:cNvSpPr/>
          <p:nvPr/>
        </p:nvSpPr>
        <p:spPr>
          <a:xfrm>
            <a:off x="544513" y="286536"/>
            <a:ext cx="1039177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40000"/>
              </a:lnSpc>
              <a:buNone/>
            </a:pPr>
            <a:r>
              <a:rPr lang="zh-CN" altLang="en-US" dirty="0">
                <a:latin typeface="宋体" panose="02010600030101010101" pitchFamily="2" charset="-122"/>
              </a:rPr>
              <a:t> </a:t>
            </a:r>
            <a:r>
              <a:rPr lang="zh-CN" altLang="en-US" sz="2000" dirty="0">
                <a:latin typeface="宋体" panose="02010600030101010101" pitchFamily="2" charset="-122"/>
              </a:rPr>
              <a:t>解 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首先考虑标准的平均访存时间公式：</a:t>
            </a:r>
          </a:p>
          <a:p>
            <a:pPr marL="457200" indent="-457200">
              <a:lnSpc>
                <a:spcPct val="140000"/>
              </a:lnSpc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       </a:t>
            </a:r>
            <a:r>
              <a:rPr lang="zh-CN" altLang="en-US" sz="2000" dirty="0">
                <a:latin typeface="宋体" panose="02010600030101010101" pitchFamily="2" charset="-122"/>
              </a:rPr>
              <a:t>平均访存时间</a:t>
            </a:r>
            <a:r>
              <a:rPr lang="zh-CN" altLang="en-US" sz="2000" baseline="-25000" dirty="0">
                <a:latin typeface="宋体" panose="02010600030101010101" pitchFamily="2" charset="-122"/>
              </a:rPr>
              <a:t>伪相联</a:t>
            </a:r>
            <a:r>
              <a:rPr lang="zh-CN" altLang="en-US" sz="2000" dirty="0">
                <a:latin typeface="宋体" panose="02010600030101010101" pitchFamily="2" charset="-122"/>
              </a:rPr>
              <a:t> ＝ 命中时间</a:t>
            </a:r>
            <a:r>
              <a:rPr lang="zh-CN" altLang="en-US" sz="2000" baseline="-25000" dirty="0">
                <a:latin typeface="宋体" panose="02010600030101010101" pitchFamily="2" charset="-122"/>
              </a:rPr>
              <a:t>伪相联</a:t>
            </a:r>
            <a:r>
              <a:rPr lang="zh-CN" altLang="en-US" sz="2000" dirty="0">
                <a:latin typeface="宋体" panose="02010600030101010101" pitchFamily="2" charset="-122"/>
              </a:rPr>
              <a:t>＋失效率</a:t>
            </a:r>
            <a:r>
              <a:rPr lang="zh-CN" altLang="en-US" sz="2000" baseline="-25000" dirty="0">
                <a:latin typeface="宋体" panose="02010600030101010101" pitchFamily="2" charset="-122"/>
              </a:rPr>
              <a:t>伪相联</a:t>
            </a:r>
            <a:r>
              <a:rPr lang="en-US" altLang="zh-CN" sz="2000" dirty="0">
                <a:latin typeface="宋体" panose="02010600030101010101" pitchFamily="2" charset="-122"/>
              </a:rPr>
              <a:t>×</a:t>
            </a:r>
            <a:r>
              <a:rPr lang="zh-CN" altLang="en-US" sz="2000" dirty="0">
                <a:latin typeface="宋体" panose="02010600030101010101" pitchFamily="2" charset="-122"/>
              </a:rPr>
              <a:t>失效开销</a:t>
            </a:r>
            <a:r>
              <a:rPr lang="zh-CN" altLang="en-US" sz="2000" baseline="-25000" dirty="0">
                <a:latin typeface="宋体" panose="02010600030101010101" pitchFamily="2" charset="-122"/>
              </a:rPr>
              <a:t>伪相联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03861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3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3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39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39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39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39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39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71538" y="335154"/>
            <a:ext cx="10044112" cy="3037344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40000"/>
              </a:lnSpc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将前面表中的数据代入上面的公式，得：</a:t>
            </a:r>
          </a:p>
          <a:p>
            <a:pPr marL="457200" indent="-457200">
              <a:lnSpc>
                <a:spcPct val="140000"/>
              </a:lnSpc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平均访存时间</a:t>
            </a:r>
            <a:r>
              <a:rPr lang="zh-CN" altLang="en-US" sz="20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伪相联，</a:t>
            </a:r>
            <a:r>
              <a:rPr lang="en-US" altLang="zh-CN" sz="20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2 KB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＋（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0.098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－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0.076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×2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＋（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0.076×50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）＝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4.844</a:t>
            </a:r>
          </a:p>
          <a:p>
            <a:pPr marL="457200" indent="-457200">
              <a:lnSpc>
                <a:spcPct val="140000"/>
              </a:lnSpc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对于</a:t>
            </a:r>
            <a:r>
              <a:rPr lang="en-US" altLang="zh-CN" sz="2000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 KB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Cache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，有：</a:t>
            </a:r>
          </a:p>
          <a:p>
            <a:pPr marL="457200" indent="-457200">
              <a:lnSpc>
                <a:spcPct val="140000"/>
              </a:lnSpc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平均访存时间</a:t>
            </a:r>
            <a:r>
              <a:rPr lang="en-US" altLang="zh-CN" sz="20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路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＝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5.90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个时钟</a:t>
            </a:r>
          </a:p>
          <a:p>
            <a:pPr marL="457200" indent="-457200">
              <a:lnSpc>
                <a:spcPct val="140000"/>
              </a:lnSpc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平均访存时间</a:t>
            </a:r>
            <a:r>
              <a:rPr lang="en-US" altLang="zh-CN" sz="20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路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＝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4.90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个时钟</a:t>
            </a:r>
          </a:p>
          <a:p>
            <a:pPr marL="457200" indent="-457200">
              <a:lnSpc>
                <a:spcPct val="140000"/>
              </a:lnSpc>
              <a:buNone/>
            </a:pP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71538" y="3592220"/>
            <a:ext cx="1025842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40000"/>
              </a:lnSpc>
              <a:buNone/>
            </a:pP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对于</a:t>
            </a:r>
            <a:r>
              <a:rPr lang="en-US" altLang="zh-CN" sz="2000" dirty="0">
                <a:solidFill>
                  <a:srgbClr val="9933FF"/>
                </a:solidFill>
                <a:latin typeface="+mn-ea"/>
              </a:rPr>
              <a:t>128KB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的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Cache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有，可得：</a:t>
            </a:r>
            <a:endParaRPr lang="en-US" altLang="zh-CN" sz="2000" dirty="0">
              <a:solidFill>
                <a:srgbClr val="000000"/>
              </a:solidFill>
              <a:latin typeface="+mn-ea"/>
            </a:endParaRPr>
          </a:p>
          <a:p>
            <a:pPr marL="457200" indent="-457200">
              <a:lnSpc>
                <a:spcPct val="140000"/>
              </a:lnSpc>
              <a:buNone/>
            </a:pPr>
            <a:r>
              <a:rPr lang="zh-CN" altLang="en-US" sz="2000" dirty="0">
                <a:latin typeface="宋体" panose="02010600030101010101" pitchFamily="2" charset="-122"/>
              </a:rPr>
              <a:t>          平均访存时间</a:t>
            </a:r>
            <a:r>
              <a:rPr lang="zh-CN" altLang="en-US" sz="2000" baseline="-25000" dirty="0">
                <a:latin typeface="宋体" panose="02010600030101010101" pitchFamily="2" charset="-122"/>
              </a:rPr>
              <a:t>伪相联，</a:t>
            </a:r>
            <a:r>
              <a:rPr lang="en-US" altLang="zh-CN" sz="2000" baseline="-25000" dirty="0">
                <a:latin typeface="宋体" panose="02010600030101010101" pitchFamily="2" charset="-122"/>
              </a:rPr>
              <a:t>128 KB</a:t>
            </a:r>
            <a:r>
              <a:rPr lang="zh-CN" altLang="en-US" sz="2000" dirty="0">
                <a:latin typeface="宋体" panose="02010600030101010101" pitchFamily="2" charset="-122"/>
              </a:rPr>
              <a:t>＝</a:t>
            </a:r>
            <a:r>
              <a:rPr lang="en-US" altLang="zh-CN" sz="2000" dirty="0">
                <a:latin typeface="宋体" panose="02010600030101010101" pitchFamily="2" charset="-122"/>
              </a:rPr>
              <a:t>1</a:t>
            </a:r>
            <a:r>
              <a:rPr lang="zh-CN" altLang="en-US" sz="2000" dirty="0">
                <a:latin typeface="宋体" panose="02010600030101010101" pitchFamily="2" charset="-122"/>
              </a:rPr>
              <a:t>＋（</a:t>
            </a:r>
            <a:r>
              <a:rPr lang="en-US" altLang="zh-CN" sz="2000" dirty="0">
                <a:latin typeface="宋体" panose="02010600030101010101" pitchFamily="2" charset="-122"/>
              </a:rPr>
              <a:t>0.010</a:t>
            </a:r>
            <a:r>
              <a:rPr lang="zh-CN" altLang="en-US" sz="2000" dirty="0">
                <a:latin typeface="宋体" panose="02010600030101010101" pitchFamily="2" charset="-122"/>
              </a:rPr>
              <a:t>－</a:t>
            </a:r>
            <a:r>
              <a:rPr lang="en-US" altLang="zh-CN" sz="2000" dirty="0">
                <a:latin typeface="宋体" panose="02010600030101010101" pitchFamily="2" charset="-122"/>
              </a:rPr>
              <a:t>0.007</a:t>
            </a:r>
            <a:r>
              <a:rPr lang="zh-CN" altLang="en-US" sz="2000" dirty="0">
                <a:latin typeface="宋体" panose="02010600030101010101" pitchFamily="2" charset="-122"/>
              </a:rPr>
              <a:t>）</a:t>
            </a:r>
            <a:r>
              <a:rPr lang="en-US" altLang="zh-CN" sz="2000" dirty="0">
                <a:latin typeface="宋体" panose="02010600030101010101" pitchFamily="2" charset="-122"/>
              </a:rPr>
              <a:t>×2</a:t>
            </a:r>
            <a:r>
              <a:rPr lang="zh-CN" altLang="en-US" sz="2000" dirty="0">
                <a:latin typeface="宋体" panose="02010600030101010101" pitchFamily="2" charset="-122"/>
              </a:rPr>
              <a:t>＋（</a:t>
            </a:r>
            <a:r>
              <a:rPr lang="en-US" altLang="zh-CN" sz="2000" dirty="0">
                <a:latin typeface="宋体" panose="02010600030101010101" pitchFamily="2" charset="-122"/>
              </a:rPr>
              <a:t>0.007×50</a:t>
            </a:r>
            <a:r>
              <a:rPr lang="zh-CN" altLang="en-US" sz="2000" dirty="0">
                <a:latin typeface="宋体" panose="02010600030101010101" pitchFamily="2" charset="-122"/>
              </a:rPr>
              <a:t>）＝</a:t>
            </a:r>
            <a:r>
              <a:rPr lang="en-US" altLang="zh-CN" sz="2000" dirty="0">
                <a:latin typeface="宋体" panose="02010600030101010101" pitchFamily="2" charset="-122"/>
              </a:rPr>
              <a:t>1.356</a:t>
            </a:r>
            <a:endParaRPr lang="zh-CN" altLang="en-US" sz="2000" dirty="0">
              <a:solidFill>
                <a:srgbClr val="000000"/>
              </a:solidFill>
              <a:latin typeface="+mn-ea"/>
            </a:endParaRPr>
          </a:p>
          <a:p>
            <a:pPr marL="457200" indent="-457200">
              <a:lnSpc>
                <a:spcPct val="140000"/>
              </a:lnSpc>
              <a:buNone/>
            </a:pP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          </a:t>
            </a:r>
            <a:r>
              <a:rPr lang="zh-CN" altLang="en-US" sz="2000" dirty="0">
                <a:latin typeface="+mn-ea"/>
              </a:rPr>
              <a:t>平均访存时间</a:t>
            </a:r>
            <a:r>
              <a:rPr lang="en-US" altLang="zh-CN" sz="2000" baseline="-25000" dirty="0">
                <a:latin typeface="+mn-ea"/>
              </a:rPr>
              <a:t>1</a:t>
            </a:r>
            <a:r>
              <a:rPr lang="zh-CN" altLang="en-US" sz="2000" baseline="-25000" dirty="0">
                <a:latin typeface="+mn-ea"/>
              </a:rPr>
              <a:t>路</a:t>
            </a:r>
            <a:r>
              <a:rPr lang="zh-CN" altLang="en-US" sz="2000" dirty="0">
                <a:latin typeface="+mn-ea"/>
              </a:rPr>
              <a:t> ＝</a:t>
            </a:r>
            <a:r>
              <a:rPr lang="en-US" altLang="zh-CN" sz="2000" dirty="0">
                <a:latin typeface="+mn-ea"/>
              </a:rPr>
              <a:t>1.50 </a:t>
            </a:r>
            <a:r>
              <a:rPr lang="zh-CN" altLang="en-US" sz="2000" dirty="0">
                <a:latin typeface="+mn-ea"/>
              </a:rPr>
              <a:t>个时钟</a:t>
            </a:r>
          </a:p>
          <a:p>
            <a:pPr marL="457200" indent="-457200">
              <a:lnSpc>
                <a:spcPct val="140000"/>
              </a:lnSpc>
              <a:buNone/>
            </a:pPr>
            <a:r>
              <a:rPr lang="zh-CN" altLang="en-US" sz="2000" dirty="0">
                <a:latin typeface="+mn-ea"/>
              </a:rPr>
              <a:t>          平均访存时间</a:t>
            </a:r>
            <a:r>
              <a:rPr lang="en-US" altLang="zh-CN" sz="2000" baseline="-25000" dirty="0">
                <a:latin typeface="+mn-ea"/>
              </a:rPr>
              <a:t>2</a:t>
            </a:r>
            <a:r>
              <a:rPr lang="zh-CN" altLang="en-US" sz="2000" baseline="-25000" dirty="0">
                <a:latin typeface="+mn-ea"/>
              </a:rPr>
              <a:t>路</a:t>
            </a:r>
            <a:r>
              <a:rPr lang="zh-CN" altLang="en-US" sz="2000" dirty="0">
                <a:latin typeface="+mn-ea"/>
              </a:rPr>
              <a:t> ＝</a:t>
            </a:r>
            <a:r>
              <a:rPr lang="en-US" altLang="zh-CN" sz="2000" dirty="0">
                <a:latin typeface="+mn-ea"/>
              </a:rPr>
              <a:t>1.45 </a:t>
            </a:r>
            <a:r>
              <a:rPr lang="zh-CN" altLang="en-US" sz="2000" dirty="0">
                <a:latin typeface="+mn-ea"/>
              </a:rPr>
              <a:t>个时钟</a:t>
            </a:r>
          </a:p>
        </p:txBody>
      </p:sp>
      <p:sp>
        <p:nvSpPr>
          <p:cNvPr id="4" name="矩形 3"/>
          <p:cNvSpPr/>
          <p:nvPr/>
        </p:nvSpPr>
        <p:spPr>
          <a:xfrm>
            <a:off x="352425" y="5847547"/>
            <a:ext cx="954405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85850" lvl="1" indent="-457200">
              <a:lnSpc>
                <a:spcPct val="140000"/>
              </a:lnSpc>
              <a:buNone/>
            </a:pP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可见，对于这两种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Cache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容量，伪相联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Cache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都是速度最快的。</a:t>
            </a:r>
            <a:endParaRPr lang="zh-CN" altLang="en-US" dirty="0">
              <a:solidFill>
                <a:srgbClr val="D60093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57448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81024" y="1004889"/>
            <a:ext cx="9294495" cy="5557836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10000"/>
              </a:lnSpc>
            </a:pPr>
            <a:r>
              <a:rPr lang="zh-CN" altLang="en-US" sz="2400" dirty="0">
                <a:solidFill>
                  <a:schemeClr val="tx1"/>
                </a:solidFill>
              </a:rPr>
              <a:t>指令和数据都可以预取</a:t>
            </a:r>
          </a:p>
          <a:p>
            <a:pPr marL="457200" indent="-457200">
              <a:lnSpc>
                <a:spcPct val="11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</a:rPr>
              <a:t>预取内容既可放入</a:t>
            </a:r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49" charset="-122"/>
              </a:rPr>
              <a:t>Cache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</a:rPr>
              <a:t>，也可放在外缓冲器中。</a:t>
            </a:r>
          </a:p>
          <a:p>
            <a:pPr lvl="2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例如：指令流缓冲器</a:t>
            </a:r>
          </a:p>
          <a:p>
            <a:pPr marL="457200" indent="-457200">
              <a:lnSpc>
                <a:spcPct val="11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</a:rPr>
              <a:t>指令预取通常由</a:t>
            </a:r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49" charset="-122"/>
              </a:rPr>
              <a:t>Cache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</a:rPr>
              <a:t>之外的硬件完成</a:t>
            </a:r>
            <a:endParaRPr lang="en-US" altLang="zh-CN" sz="2400" dirty="0">
              <a:solidFill>
                <a:schemeClr val="tx1"/>
              </a:solidFill>
              <a:latin typeface="黑体" panose="02010609060101010101" pitchFamily="49" charset="-122"/>
            </a:endParaRPr>
          </a:p>
          <a:p>
            <a:pPr marL="914400" lvl="1" indent="-457200">
              <a:lnSpc>
                <a:spcPct val="110000"/>
              </a:lnSpc>
            </a:pP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</a:rPr>
              <a:t>例如：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</a:rPr>
              <a:t>Alpha AXP 21064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</a:rPr>
              <a:t>微处理器在发生指令不命中时取两个块 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</a:rPr>
              <a:t>– 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</a:rPr>
              <a:t>被请求的指令块和顺序的下一指令块。被请求的指令块返回时放入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</a:rPr>
              <a:t>Cache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</a:rPr>
              <a:t>，而预取的指令块放入到缓冲器中。</a:t>
            </a:r>
          </a:p>
          <a:p>
            <a:pPr lvl="4">
              <a:lnSpc>
                <a:spcPct val="110000"/>
              </a:lnSpc>
            </a:pPr>
            <a:endParaRPr lang="zh-CN" altLang="en-US" dirty="0">
              <a:solidFill>
                <a:srgbClr val="9933FF"/>
              </a:solidFill>
              <a:latin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136247"/>
            <a:ext cx="30572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+mn-ea"/>
              </a:rPr>
              <a:t>方法五：硬件预取</a:t>
            </a:r>
            <a:endParaRPr lang="en-US" altLang="zh-CN" sz="2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224384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0" y="5394325"/>
            <a:ext cx="7772400" cy="4802188"/>
          </a:xfrm>
        </p:spPr>
        <p:txBody>
          <a:bodyPr/>
          <a:lstStyle/>
          <a:p>
            <a:pPr marL="1085850" lvl="1" indent="-457200">
              <a:lnSpc>
                <a:spcPct val="140000"/>
              </a:lnSpc>
            </a:pPr>
            <a:r>
              <a:rPr lang="zh-CN" altLang="en-US" dirty="0"/>
              <a:t>预取应利用存储器的空闲带宽，不能影响对正常不命中的处理，否则可能会降低性能。 </a:t>
            </a:r>
          </a:p>
        </p:txBody>
      </p:sp>
      <p:sp>
        <p:nvSpPr>
          <p:cNvPr id="3" name="矩形 2"/>
          <p:cNvSpPr/>
          <p:nvPr/>
        </p:nvSpPr>
        <p:spPr>
          <a:xfrm>
            <a:off x="493713" y="308285"/>
            <a:ext cx="8382000" cy="52448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ts val="288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pitchFamily="49" charset="-122"/>
              </a:rPr>
              <a:t>预取效果</a:t>
            </a:r>
          </a:p>
          <a:p>
            <a:pPr marL="1085850" lvl="1" indent="-457200">
              <a:lnSpc>
                <a:spcPts val="2880"/>
              </a:lnSpc>
              <a:buFont typeface="Arial" panose="020B0604020202020204" pitchFamily="34" charset="0"/>
              <a:buChar char="•"/>
            </a:pPr>
            <a:r>
              <a:rPr lang="en-US" altLang="zh-CN" sz="2000" dirty="0" err="1">
                <a:latin typeface="黑体" panose="02010609060101010101" pitchFamily="49" charset="-122"/>
              </a:rPr>
              <a:t>Joppi</a:t>
            </a:r>
            <a:r>
              <a:rPr lang="zh-CN" altLang="en-US" sz="2000" dirty="0">
                <a:latin typeface="黑体" panose="02010609060101010101" pitchFamily="49" charset="-122"/>
              </a:rPr>
              <a:t>的研究结果</a:t>
            </a:r>
          </a:p>
          <a:p>
            <a:pPr marL="1200150" lvl="2" indent="-285750">
              <a:lnSpc>
                <a:spcPts val="288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宋体" panose="02010600030101010101" pitchFamily="2" charset="-122"/>
              </a:rPr>
              <a:t>指令预取 </a:t>
            </a:r>
            <a:r>
              <a:rPr lang="en-US" altLang="zh-CN" dirty="0">
                <a:latin typeface="宋体" panose="02010600030101010101" pitchFamily="2" charset="-122"/>
              </a:rPr>
              <a:t>(4KB</a:t>
            </a:r>
            <a:r>
              <a:rPr lang="zh-CN" altLang="en-US" dirty="0">
                <a:latin typeface="宋体" panose="02010600030101010101" pitchFamily="2" charset="-122"/>
              </a:rPr>
              <a:t>，直接映像</a:t>
            </a:r>
            <a:r>
              <a:rPr lang="en-US" altLang="zh-CN" dirty="0">
                <a:latin typeface="宋体" panose="02010600030101010101" pitchFamily="2" charset="-122"/>
              </a:rPr>
              <a:t>Cache</a:t>
            </a:r>
            <a:r>
              <a:rPr lang="zh-CN" altLang="en-US" dirty="0">
                <a:latin typeface="宋体" panose="02010600030101010101" pitchFamily="2" charset="-122"/>
              </a:rPr>
              <a:t>，块大小＝</a:t>
            </a:r>
            <a:r>
              <a:rPr lang="en-US" altLang="zh-CN" dirty="0">
                <a:latin typeface="宋体" panose="02010600030101010101" pitchFamily="2" charset="-122"/>
              </a:rPr>
              <a:t>16</a:t>
            </a:r>
            <a:r>
              <a:rPr lang="zh-CN" altLang="en-US" dirty="0">
                <a:latin typeface="宋体" panose="02010600030101010101" pitchFamily="2" charset="-122"/>
              </a:rPr>
              <a:t>字节</a:t>
            </a:r>
            <a:r>
              <a:rPr lang="en-US" altLang="zh-CN" dirty="0"/>
              <a:t>)</a:t>
            </a:r>
          </a:p>
          <a:p>
            <a:pPr lvl="3">
              <a:lnSpc>
                <a:spcPts val="2880"/>
              </a:lnSpc>
            </a:pPr>
            <a:r>
              <a:rPr lang="en-US" altLang="zh-CN" dirty="0">
                <a:latin typeface="宋体" panose="02010600030101010101" pitchFamily="2" charset="-122"/>
              </a:rPr>
              <a:t>1</a:t>
            </a:r>
            <a:r>
              <a:rPr lang="zh-CN" altLang="en-US" dirty="0">
                <a:latin typeface="宋体" panose="02010600030101010101" pitchFamily="2" charset="-122"/>
              </a:rPr>
              <a:t>个块的指令流缓冲器： 捕获</a:t>
            </a:r>
            <a:r>
              <a:rPr lang="en-US" altLang="zh-CN" dirty="0">
                <a:latin typeface="宋体" panose="02010600030101010101" pitchFamily="2" charset="-122"/>
              </a:rPr>
              <a:t>15</a:t>
            </a:r>
            <a:r>
              <a:rPr lang="zh-CN" altLang="en-US" dirty="0">
                <a:latin typeface="宋体" panose="02010600030101010101" pitchFamily="2" charset="-122"/>
              </a:rPr>
              <a:t>％～</a:t>
            </a:r>
            <a:r>
              <a:rPr lang="en-US" altLang="zh-CN" dirty="0">
                <a:latin typeface="宋体" panose="02010600030101010101" pitchFamily="2" charset="-122"/>
              </a:rPr>
              <a:t>25</a:t>
            </a:r>
            <a:r>
              <a:rPr lang="zh-CN" altLang="en-US" dirty="0">
                <a:latin typeface="宋体" panose="02010600030101010101" pitchFamily="2" charset="-122"/>
              </a:rPr>
              <a:t>％的不命中</a:t>
            </a:r>
          </a:p>
          <a:p>
            <a:pPr lvl="3">
              <a:lnSpc>
                <a:spcPts val="2880"/>
              </a:lnSpc>
            </a:pPr>
            <a:r>
              <a:rPr lang="en-US" altLang="zh-CN" dirty="0">
                <a:latin typeface="宋体" panose="02010600030101010101" pitchFamily="2" charset="-122"/>
              </a:rPr>
              <a:t>4</a:t>
            </a:r>
            <a:r>
              <a:rPr lang="zh-CN" altLang="en-US" dirty="0">
                <a:latin typeface="宋体" panose="02010600030101010101" pitchFamily="2" charset="-122"/>
              </a:rPr>
              <a:t>个块的指令流缓冲器： 捕获</a:t>
            </a:r>
            <a:r>
              <a:rPr lang="en-US" altLang="zh-CN" dirty="0">
                <a:latin typeface="宋体" panose="02010600030101010101" pitchFamily="2" charset="-122"/>
              </a:rPr>
              <a:t>50</a:t>
            </a:r>
            <a:r>
              <a:rPr lang="zh-CN" altLang="en-US" dirty="0">
                <a:latin typeface="宋体" panose="02010600030101010101" pitchFamily="2" charset="-122"/>
              </a:rPr>
              <a:t>％</a:t>
            </a:r>
          </a:p>
          <a:p>
            <a:pPr lvl="3">
              <a:lnSpc>
                <a:spcPts val="2880"/>
              </a:lnSpc>
            </a:pPr>
            <a:r>
              <a:rPr lang="en-US" altLang="zh-CN" dirty="0">
                <a:latin typeface="宋体" panose="02010600030101010101" pitchFamily="2" charset="-122"/>
              </a:rPr>
              <a:t>16</a:t>
            </a:r>
            <a:r>
              <a:rPr lang="zh-CN" altLang="en-US" dirty="0">
                <a:latin typeface="宋体" panose="02010600030101010101" pitchFamily="2" charset="-122"/>
              </a:rPr>
              <a:t>个块的指令流缓冲器：捕获</a:t>
            </a:r>
            <a:r>
              <a:rPr lang="en-US" altLang="zh-CN" dirty="0">
                <a:latin typeface="宋体" panose="02010600030101010101" pitchFamily="2" charset="-122"/>
              </a:rPr>
              <a:t>72</a:t>
            </a:r>
            <a:r>
              <a:rPr lang="zh-CN" altLang="en-US" dirty="0">
                <a:latin typeface="宋体" panose="02010600030101010101" pitchFamily="2" charset="-122"/>
              </a:rPr>
              <a:t>％</a:t>
            </a:r>
            <a:endParaRPr lang="en-US" altLang="zh-CN" dirty="0">
              <a:latin typeface="宋体" panose="02010600030101010101" pitchFamily="2" charset="-122"/>
            </a:endParaRPr>
          </a:p>
          <a:p>
            <a:pPr marL="1200150" lvl="2" indent="-285750">
              <a:lnSpc>
                <a:spcPts val="288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宋体" panose="02010600030101010101" pitchFamily="2" charset="-122"/>
              </a:rPr>
              <a:t>数据预取 </a:t>
            </a:r>
            <a:r>
              <a:rPr lang="en-US" altLang="zh-CN" dirty="0">
                <a:latin typeface="宋体" panose="02010600030101010101" pitchFamily="2" charset="-122"/>
              </a:rPr>
              <a:t>(4KB,</a:t>
            </a:r>
            <a:r>
              <a:rPr lang="zh-CN" altLang="en-US" dirty="0">
                <a:latin typeface="宋体" panose="02010600030101010101" pitchFamily="2" charset="-122"/>
              </a:rPr>
              <a:t>直接映像</a:t>
            </a:r>
            <a:r>
              <a:rPr lang="en-US" altLang="zh-CN" dirty="0">
                <a:latin typeface="宋体" panose="02010600030101010101" pitchFamily="2" charset="-122"/>
              </a:rPr>
              <a:t>Cache)</a:t>
            </a:r>
          </a:p>
          <a:p>
            <a:pPr lvl="3">
              <a:lnSpc>
                <a:spcPts val="2880"/>
              </a:lnSpc>
            </a:pPr>
            <a:r>
              <a:rPr lang="en-US" altLang="zh-CN" dirty="0">
                <a:latin typeface="宋体" panose="02010600030101010101" pitchFamily="2" charset="-122"/>
              </a:rPr>
              <a:t>1</a:t>
            </a:r>
            <a:r>
              <a:rPr lang="zh-CN" altLang="en-US" dirty="0">
                <a:latin typeface="宋体" panose="02010600030101010101" pitchFamily="2" charset="-122"/>
              </a:rPr>
              <a:t>个数据流缓冲器，捕获</a:t>
            </a:r>
            <a:r>
              <a:rPr lang="en-US" altLang="zh-CN" dirty="0">
                <a:latin typeface="宋体" panose="02010600030101010101" pitchFamily="2" charset="-122"/>
              </a:rPr>
              <a:t>25</a:t>
            </a:r>
            <a:r>
              <a:rPr lang="zh-CN" altLang="en-US" dirty="0">
                <a:latin typeface="宋体" panose="02010600030101010101" pitchFamily="2" charset="-122"/>
              </a:rPr>
              <a:t>％的不命中</a:t>
            </a:r>
          </a:p>
          <a:p>
            <a:pPr lvl="3">
              <a:lnSpc>
                <a:spcPts val="2880"/>
              </a:lnSpc>
            </a:pPr>
            <a:r>
              <a:rPr lang="zh-CN" altLang="en-US" dirty="0">
                <a:latin typeface="宋体" panose="02010600030101010101" pitchFamily="2" charset="-122"/>
              </a:rPr>
              <a:t>还可以采用多个数据流缓冲器</a:t>
            </a:r>
            <a:endParaRPr lang="en-US" altLang="zh-CN" dirty="0">
              <a:latin typeface="宋体" panose="02010600030101010101" pitchFamily="2" charset="-122"/>
            </a:endParaRPr>
          </a:p>
          <a:p>
            <a:pPr marL="1085850" lvl="1" indent="-457200">
              <a:lnSpc>
                <a:spcPts val="288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黑体" panose="02010609060101010101" pitchFamily="49" charset="-122"/>
              </a:rPr>
              <a:t>Palacharla</a:t>
            </a:r>
            <a:r>
              <a:rPr lang="zh-CN" altLang="en-US" sz="2000" dirty="0">
                <a:latin typeface="黑体" panose="02010609060101010101" pitchFamily="49" charset="-122"/>
              </a:rPr>
              <a:t>和</a:t>
            </a:r>
            <a:r>
              <a:rPr lang="en-US" altLang="zh-CN" sz="2000" dirty="0">
                <a:latin typeface="黑体" panose="02010609060101010101" pitchFamily="49" charset="-122"/>
              </a:rPr>
              <a:t>Kessler</a:t>
            </a:r>
            <a:r>
              <a:rPr lang="zh-CN" altLang="en-US" sz="2000" dirty="0">
                <a:latin typeface="黑体" panose="02010609060101010101" pitchFamily="49" charset="-122"/>
              </a:rPr>
              <a:t>的研究结果</a:t>
            </a:r>
          </a:p>
          <a:p>
            <a:pPr marL="1200150" lvl="2" indent="-285750">
              <a:lnSpc>
                <a:spcPts val="288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宋体" panose="02010600030101010101" pitchFamily="2" charset="-122"/>
              </a:rPr>
              <a:t>流缓冲器：既能预取指令又能预取数据</a:t>
            </a:r>
          </a:p>
          <a:p>
            <a:pPr lvl="3">
              <a:lnSpc>
                <a:spcPts val="2880"/>
              </a:lnSpc>
            </a:pPr>
            <a:r>
              <a:rPr lang="zh-CN" altLang="en-US" dirty="0">
                <a:latin typeface="宋体" panose="02010600030101010101" pitchFamily="2" charset="-122"/>
              </a:rPr>
              <a:t>对于两个</a:t>
            </a:r>
            <a:r>
              <a:rPr lang="en-US" altLang="zh-CN" dirty="0">
                <a:latin typeface="宋体" panose="02010600030101010101" pitchFamily="2" charset="-122"/>
              </a:rPr>
              <a:t>64KB</a:t>
            </a:r>
            <a:r>
              <a:rPr lang="zh-CN" altLang="en-US" dirty="0">
                <a:latin typeface="宋体" panose="02010600030101010101" pitchFamily="2" charset="-122"/>
              </a:rPr>
              <a:t>四路组相联</a:t>
            </a:r>
            <a:r>
              <a:rPr lang="en-US" altLang="zh-CN" dirty="0">
                <a:latin typeface="宋体" panose="02010600030101010101" pitchFamily="2" charset="-122"/>
              </a:rPr>
              <a:t>Cache</a:t>
            </a:r>
            <a:r>
              <a:rPr lang="zh-CN" altLang="en-US" dirty="0">
                <a:latin typeface="宋体" panose="02010600030101010101" pitchFamily="2" charset="-122"/>
              </a:rPr>
              <a:t>来说：</a:t>
            </a:r>
          </a:p>
          <a:p>
            <a:pPr lvl="3">
              <a:lnSpc>
                <a:spcPts val="2880"/>
              </a:lnSpc>
            </a:pPr>
            <a:r>
              <a:rPr lang="en-US" altLang="zh-CN" dirty="0">
                <a:latin typeface="宋体" panose="02010600030101010101" pitchFamily="2" charset="-122"/>
              </a:rPr>
              <a:t>8</a:t>
            </a:r>
            <a:r>
              <a:rPr lang="zh-CN" altLang="en-US" dirty="0">
                <a:latin typeface="宋体" panose="02010600030101010101" pitchFamily="2" charset="-122"/>
              </a:rPr>
              <a:t>个流缓冲器能捕获</a:t>
            </a:r>
            <a:r>
              <a:rPr lang="en-US" altLang="zh-CN" dirty="0">
                <a:latin typeface="宋体" panose="02010600030101010101" pitchFamily="2" charset="-122"/>
              </a:rPr>
              <a:t>50</a:t>
            </a:r>
            <a:r>
              <a:rPr lang="zh-CN" altLang="en-US" dirty="0">
                <a:latin typeface="宋体" panose="02010600030101010101" pitchFamily="2" charset="-122"/>
              </a:rPr>
              <a:t>％～</a:t>
            </a:r>
            <a:r>
              <a:rPr lang="en-US" altLang="zh-CN" dirty="0">
                <a:latin typeface="宋体" panose="02010600030101010101" pitchFamily="2" charset="-122"/>
              </a:rPr>
              <a:t>70</a:t>
            </a:r>
            <a:r>
              <a:rPr lang="zh-CN" altLang="en-US" dirty="0">
                <a:latin typeface="宋体" panose="02010600030101010101" pitchFamily="2" charset="-122"/>
              </a:rPr>
              <a:t>％的不命中</a:t>
            </a:r>
          </a:p>
          <a:p>
            <a:pPr lvl="3">
              <a:lnSpc>
                <a:spcPts val="2880"/>
              </a:lnSpc>
            </a:pPr>
            <a:endParaRPr lang="zh-CN" altLang="en-US" dirty="0"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22606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0" y="876301"/>
            <a:ext cx="9239251" cy="704849"/>
          </a:xfrm>
        </p:spPr>
        <p:txBody>
          <a:bodyPr>
            <a:normAutofit fontScale="77500" lnSpcReduction="20000"/>
          </a:bodyPr>
          <a:lstStyle/>
          <a:p>
            <a:pPr marL="171450" indent="0">
              <a:lnSpc>
                <a:spcPts val="2800"/>
              </a:lnSpc>
              <a:buNone/>
            </a:pPr>
            <a:r>
              <a:rPr lang="zh-CN" altLang="en-US" b="1" dirty="0"/>
              <a:t>主要思想：</a:t>
            </a:r>
            <a:r>
              <a:rPr lang="zh-CN" altLang="en-US" dirty="0"/>
              <a:t>在编译时加入预取指令，在数据被用到之前发出预取请求。</a:t>
            </a:r>
          </a:p>
          <a:p>
            <a:pPr marL="1085850" lvl="1" indent="-457200"/>
            <a:endParaRPr lang="zh-CN" altLang="en-US" dirty="0"/>
          </a:p>
          <a:p>
            <a:pPr marL="1085850" lvl="1" indent="-457200"/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0" y="123825"/>
            <a:ext cx="44935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+mn-ea"/>
              </a:rPr>
              <a:t>方法六：编译器控制的预取</a:t>
            </a:r>
            <a:endParaRPr lang="en-US" altLang="zh-CN" sz="2800" dirty="0">
              <a:latin typeface="+mn-ea"/>
            </a:endParaRPr>
          </a:p>
        </p:txBody>
      </p:sp>
      <p:sp>
        <p:nvSpPr>
          <p:cNvPr id="4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257952" y="1652038"/>
            <a:ext cx="11198291" cy="64319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5475" indent="-625475">
              <a:lnSpc>
                <a:spcPts val="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   假定：</a:t>
            </a:r>
          </a:p>
          <a:p>
            <a:pPr marL="625475" indent="447675">
              <a:lnSpc>
                <a:spcPts val="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(1) 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使用一个容量为</a:t>
            </a:r>
            <a:r>
              <a:rPr lang="en-US" altLang="zh-CN" sz="2000" dirty="0">
                <a:solidFill>
                  <a:srgbClr val="9933FF"/>
                </a:solidFill>
                <a:latin typeface="+mn-ea"/>
              </a:rPr>
              <a:t>8 KB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、块大小为</a:t>
            </a:r>
            <a:r>
              <a:rPr lang="en-US" altLang="zh-CN" sz="2000" dirty="0">
                <a:solidFill>
                  <a:srgbClr val="9933FF"/>
                </a:solidFill>
                <a:latin typeface="+mn-ea"/>
              </a:rPr>
              <a:t>16 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B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的直接映象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Cache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，它采用写回法并且按写分配。</a:t>
            </a:r>
          </a:p>
          <a:p>
            <a:pPr marL="625475" indent="447675">
              <a:lnSpc>
                <a:spcPts val="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(2) a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b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分别为</a:t>
            </a:r>
            <a:r>
              <a:rPr lang="en-US" altLang="zh-CN" sz="2000" dirty="0">
                <a:solidFill>
                  <a:srgbClr val="9933FF"/>
                </a:solidFill>
                <a:latin typeface="+mn-ea"/>
              </a:rPr>
              <a:t>3×100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3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行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100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列）和</a:t>
            </a:r>
            <a:r>
              <a:rPr lang="en-US" altLang="zh-CN" sz="2000" dirty="0">
                <a:solidFill>
                  <a:srgbClr val="9933FF"/>
                </a:solidFill>
                <a:latin typeface="+mn-ea"/>
              </a:rPr>
              <a:t>101×3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的双精度浮点数组，每个元素都是</a:t>
            </a:r>
            <a:r>
              <a:rPr lang="en-US" altLang="zh-CN" sz="2000" dirty="0">
                <a:solidFill>
                  <a:srgbClr val="9933FF"/>
                </a:solidFill>
                <a:latin typeface="+mn-ea"/>
              </a:rPr>
              <a:t>8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B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。当程序开始执行时，这些数据都不在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Cache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内。</a:t>
            </a:r>
            <a:endParaRPr lang="en-US" altLang="zh-CN" sz="2000" dirty="0">
              <a:solidFill>
                <a:srgbClr val="000000"/>
              </a:solidFill>
              <a:latin typeface="+mn-ea"/>
            </a:endParaRPr>
          </a:p>
          <a:p>
            <a:pPr marL="625475" indent="447675">
              <a:lnSpc>
                <a:spcPts val="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对于下面的程序：</a:t>
            </a:r>
          </a:p>
          <a:p>
            <a:pPr marL="625475" indent="0">
              <a:lnSpc>
                <a:spcPts val="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           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for 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（ </a:t>
            </a:r>
            <a:r>
              <a:rPr lang="en-US" altLang="zh-CN" sz="2000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 = 0 ;  </a:t>
            </a:r>
            <a:r>
              <a:rPr lang="en-US" altLang="zh-CN" sz="2000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 &lt; 3 ;  </a:t>
            </a:r>
            <a:r>
              <a:rPr lang="en-US" altLang="zh-CN" sz="2000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 = </a:t>
            </a:r>
            <a:r>
              <a:rPr lang="en-US" altLang="zh-CN" sz="2000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 + 1 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）</a:t>
            </a:r>
          </a:p>
          <a:p>
            <a:pPr marL="625475" indent="-625475">
              <a:lnSpc>
                <a:spcPts val="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 sz="2000" dirty="0">
                <a:latin typeface="+mn-ea"/>
              </a:rPr>
              <a:t>                    </a:t>
            </a:r>
            <a:r>
              <a:rPr lang="en-US" altLang="zh-CN" sz="2000" dirty="0">
                <a:latin typeface="+mn-ea"/>
              </a:rPr>
              <a:t>for </a:t>
            </a:r>
            <a:r>
              <a:rPr lang="zh-CN" altLang="en-US" sz="2000" dirty="0">
                <a:latin typeface="+mn-ea"/>
              </a:rPr>
              <a:t>（ </a:t>
            </a:r>
            <a:r>
              <a:rPr lang="en-US" altLang="zh-CN" sz="2000" dirty="0">
                <a:latin typeface="+mn-ea"/>
              </a:rPr>
              <a:t>j = 0 ;  j &lt; 100 ;  j = j + 1 </a:t>
            </a:r>
            <a:r>
              <a:rPr lang="zh-CN" altLang="en-US" sz="2000" dirty="0">
                <a:latin typeface="+mn-ea"/>
              </a:rPr>
              <a:t>）</a:t>
            </a:r>
          </a:p>
          <a:p>
            <a:pPr marL="625475" indent="-625475">
              <a:lnSpc>
                <a:spcPts val="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 sz="2000" dirty="0">
                <a:latin typeface="+mn-ea"/>
              </a:rPr>
              <a:t>                           </a:t>
            </a:r>
            <a:r>
              <a:rPr lang="en-US" altLang="zh-CN" sz="2000" dirty="0">
                <a:latin typeface="+mn-ea"/>
              </a:rPr>
              <a:t>a [ </a:t>
            </a:r>
            <a:r>
              <a:rPr lang="en-US" altLang="zh-CN" sz="2000" dirty="0" err="1">
                <a:latin typeface="+mn-ea"/>
              </a:rPr>
              <a:t>i</a:t>
            </a:r>
            <a:r>
              <a:rPr lang="en-US" altLang="zh-CN" sz="2000" dirty="0">
                <a:latin typeface="+mn-ea"/>
              </a:rPr>
              <a:t> ][ j ] = b[ j ][ 0 ] * b[ j+1 ][ 0 ];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  </a:t>
            </a:r>
          </a:p>
          <a:p>
            <a:pPr marL="625475" indent="-625475">
              <a:lnSpc>
                <a:spcPts val="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    问：</a:t>
            </a:r>
            <a:endParaRPr lang="en-US" altLang="zh-CN" sz="2000" dirty="0">
              <a:solidFill>
                <a:srgbClr val="000000"/>
              </a:solidFill>
              <a:latin typeface="+mn-ea"/>
            </a:endParaRPr>
          </a:p>
          <a:p>
            <a:pPr marL="625475" indent="447675">
              <a:lnSpc>
                <a:spcPts val="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）首先，判断哪些访问可能会导致数据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Cache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失效；</a:t>
            </a:r>
            <a:endParaRPr lang="en-US" altLang="zh-CN" sz="2000" dirty="0">
              <a:solidFill>
                <a:srgbClr val="000000"/>
              </a:solidFill>
              <a:latin typeface="+mn-ea"/>
            </a:endParaRPr>
          </a:p>
          <a:p>
            <a:pPr marL="625475" indent="447675">
              <a:lnSpc>
                <a:spcPts val="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）其次，加入预取指令以减少失效；</a:t>
            </a:r>
            <a:endParaRPr lang="en-US" altLang="zh-CN" sz="2000" dirty="0">
              <a:solidFill>
                <a:srgbClr val="000000"/>
              </a:solidFill>
              <a:latin typeface="+mn-ea"/>
            </a:endParaRPr>
          </a:p>
          <a:p>
            <a:pPr marL="625475" indent="447675">
              <a:lnSpc>
                <a:spcPts val="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3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）最后，计算所执行的预取指令的条数以及通过预取避免的失效次数。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        </a:t>
            </a:r>
          </a:p>
        </p:txBody>
      </p:sp>
    </p:spTree>
    <p:extLst>
      <p:ext uri="{BB962C8B-B14F-4D97-AF65-F5344CB8AC3E}">
        <p14:creationId xmlns:p14="http://schemas.microsoft.com/office/powerpoint/2010/main" val="26166493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None/>
            </a:pPr>
            <a:r>
              <a:rPr lang="zh-CN" altLang="en-US" dirty="0">
                <a:latin typeface="+mn-ea"/>
              </a:rPr>
              <a:t>分析可能发生哪种失效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8351" y="454571"/>
            <a:ext cx="1234879" cy="4642565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6852659" y="390725"/>
            <a:ext cx="4549349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假设数组</a:t>
            </a:r>
            <a:r>
              <a:rPr lang="en-US" altLang="zh-CN" dirty="0">
                <a:latin typeface="+mn-ea"/>
              </a:rPr>
              <a:t>a</a:t>
            </a:r>
            <a:r>
              <a:rPr lang="zh-CN" altLang="en-US" dirty="0">
                <a:latin typeface="+mn-ea"/>
              </a:rPr>
              <a:t>和</a:t>
            </a:r>
            <a:r>
              <a:rPr lang="en-US" altLang="zh-CN" dirty="0">
                <a:latin typeface="+mn-ea"/>
              </a:rPr>
              <a:t>b</a:t>
            </a:r>
            <a:r>
              <a:rPr lang="zh-CN" altLang="en-US" dirty="0">
                <a:latin typeface="+mn-ea"/>
              </a:rPr>
              <a:t>在内存中</a:t>
            </a:r>
            <a:r>
              <a:rPr lang="zh-CN" altLang="en-US" b="1" dirty="0">
                <a:latin typeface="+mn-ea"/>
              </a:rPr>
              <a:t>连续按行</a:t>
            </a:r>
            <a:r>
              <a:rPr lang="zh-CN" altLang="en-US" dirty="0">
                <a:latin typeface="+mn-ea"/>
              </a:rPr>
              <a:t>存储；</a:t>
            </a:r>
            <a:endParaRPr lang="en-US" altLang="zh-CN" dirty="0">
              <a:latin typeface="+mn-ea"/>
            </a:endParaRP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+mn-ea"/>
              </a:rPr>
              <a:t>1</a:t>
            </a:r>
            <a:r>
              <a:rPr lang="zh-CN" altLang="en-US" dirty="0">
                <a:latin typeface="+mn-ea"/>
              </a:rPr>
              <a:t>块</a:t>
            </a:r>
            <a:r>
              <a:rPr lang="en-US" altLang="zh-CN" dirty="0">
                <a:latin typeface="+mn-ea"/>
              </a:rPr>
              <a:t>16B</a:t>
            </a:r>
            <a:r>
              <a:rPr lang="zh-CN" altLang="en-US" dirty="0">
                <a:latin typeface="+mn-ea"/>
              </a:rPr>
              <a:t>，无论是</a:t>
            </a:r>
            <a:r>
              <a:rPr lang="en-US" altLang="zh-CN" dirty="0">
                <a:latin typeface="+mn-ea"/>
              </a:rPr>
              <a:t>a</a:t>
            </a:r>
            <a:r>
              <a:rPr lang="zh-CN" altLang="en-US" dirty="0">
                <a:latin typeface="+mn-ea"/>
              </a:rPr>
              <a:t>还是</a:t>
            </a:r>
            <a:r>
              <a:rPr lang="en-US" altLang="zh-CN" dirty="0">
                <a:latin typeface="+mn-ea"/>
              </a:rPr>
              <a:t>b</a:t>
            </a:r>
            <a:r>
              <a:rPr lang="zh-CN" altLang="en-US" dirty="0">
                <a:latin typeface="+mn-ea"/>
              </a:rPr>
              <a:t>，一块</a:t>
            </a:r>
            <a:r>
              <a:rPr lang="en-US" altLang="zh-CN" dirty="0">
                <a:latin typeface="+mn-ea"/>
              </a:rPr>
              <a:t>2</a:t>
            </a:r>
            <a:r>
              <a:rPr lang="zh-CN" altLang="en-US" dirty="0">
                <a:latin typeface="+mn-ea"/>
              </a:rPr>
              <a:t>个元素；</a:t>
            </a:r>
            <a:endParaRPr lang="en-US" altLang="zh-CN" dirty="0">
              <a:latin typeface="+mn-ea"/>
            </a:endParaRP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对于数组</a:t>
            </a:r>
            <a:r>
              <a:rPr lang="en-US" altLang="zh-CN" dirty="0">
                <a:latin typeface="+mn-ea"/>
              </a:rPr>
              <a:t>a</a:t>
            </a:r>
            <a:r>
              <a:rPr lang="zh-CN" altLang="en-US" dirty="0">
                <a:latin typeface="+mn-ea"/>
              </a:rPr>
              <a:t>，分布在</a:t>
            </a:r>
            <a:r>
              <a:rPr lang="en-US" altLang="zh-CN" dirty="0">
                <a:latin typeface="+mn-ea"/>
              </a:rPr>
              <a:t>150</a:t>
            </a:r>
            <a:r>
              <a:rPr lang="zh-CN" altLang="en-US" dirty="0">
                <a:latin typeface="+mn-ea"/>
              </a:rPr>
              <a:t>块中；</a:t>
            </a:r>
            <a:endParaRPr lang="en-US" altLang="zh-CN" dirty="0">
              <a:latin typeface="+mn-ea"/>
            </a:endParaRP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对于数组</a:t>
            </a:r>
            <a:r>
              <a:rPr lang="en-US" altLang="zh-CN" dirty="0">
                <a:latin typeface="+mn-ea"/>
              </a:rPr>
              <a:t>b</a:t>
            </a:r>
            <a:r>
              <a:rPr lang="zh-CN" altLang="en-US" dirty="0">
                <a:latin typeface="+mn-ea"/>
              </a:rPr>
              <a:t>，分布在</a:t>
            </a:r>
            <a:r>
              <a:rPr lang="en-US" altLang="zh-CN" dirty="0">
                <a:latin typeface="+mn-ea"/>
              </a:rPr>
              <a:t>152</a:t>
            </a:r>
            <a:r>
              <a:rPr lang="zh-CN" altLang="en-US" dirty="0">
                <a:latin typeface="+mn-ea"/>
              </a:rPr>
              <a:t>块中；</a:t>
            </a:r>
            <a:endParaRPr lang="en-US" altLang="zh-CN" dirty="0">
              <a:latin typeface="+mn-ea"/>
            </a:endParaRP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+mn-ea"/>
              </a:rPr>
              <a:t>a</a:t>
            </a:r>
            <a:r>
              <a:rPr lang="zh-CN" altLang="en-US" dirty="0">
                <a:latin typeface="+mn-ea"/>
              </a:rPr>
              <a:t>和</a:t>
            </a:r>
            <a:r>
              <a:rPr lang="en-US" altLang="zh-CN" dirty="0">
                <a:latin typeface="+mn-ea"/>
              </a:rPr>
              <a:t>b</a:t>
            </a:r>
            <a:r>
              <a:rPr lang="zh-CN" altLang="en-US" dirty="0">
                <a:latin typeface="+mn-ea"/>
              </a:rPr>
              <a:t>一共</a:t>
            </a:r>
            <a:r>
              <a:rPr lang="en-US" altLang="zh-CN" dirty="0">
                <a:latin typeface="+mn-ea"/>
              </a:rPr>
              <a:t>302</a:t>
            </a:r>
            <a:r>
              <a:rPr lang="zh-CN" altLang="en-US" dirty="0">
                <a:latin typeface="+mn-ea"/>
              </a:rPr>
              <a:t>块，少于</a:t>
            </a:r>
            <a:r>
              <a:rPr lang="en-US" altLang="zh-CN" dirty="0">
                <a:latin typeface="+mn-ea"/>
              </a:rPr>
              <a:t>Cache</a:t>
            </a:r>
            <a:r>
              <a:rPr lang="zh-CN" altLang="en-US" dirty="0">
                <a:latin typeface="+mn-ea"/>
              </a:rPr>
              <a:t>总块数，因此，不会发生容量失效；</a:t>
            </a:r>
            <a:endParaRPr lang="en-US" altLang="zh-CN" dirty="0">
              <a:latin typeface="+mn-ea"/>
            </a:endParaRP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直接映射，按照假定，</a:t>
            </a:r>
            <a:r>
              <a:rPr lang="en-US" altLang="zh-CN" dirty="0">
                <a:latin typeface="+mn-ea"/>
              </a:rPr>
              <a:t>a</a:t>
            </a:r>
            <a:r>
              <a:rPr lang="zh-CN" altLang="en-US" dirty="0">
                <a:latin typeface="+mn-ea"/>
              </a:rPr>
              <a:t>和</a:t>
            </a:r>
            <a:r>
              <a:rPr lang="en-US" altLang="zh-CN" dirty="0">
                <a:latin typeface="+mn-ea"/>
              </a:rPr>
              <a:t>b</a:t>
            </a:r>
            <a:r>
              <a:rPr lang="zh-CN" altLang="en-US" dirty="0">
                <a:latin typeface="+mn-ea"/>
              </a:rPr>
              <a:t>连续存储，不会发生冲突失效；</a:t>
            </a:r>
            <a:endParaRPr lang="en-US" altLang="zh-CN" dirty="0">
              <a:latin typeface="+mn-ea"/>
            </a:endParaRP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只能发生强制失效。</a:t>
            </a:r>
            <a:endParaRPr lang="en-US" altLang="zh-CN" dirty="0">
              <a:latin typeface="+mn-ea"/>
            </a:endParaRP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latin typeface="+mn-ea"/>
            </a:endParaRPr>
          </a:p>
          <a:p>
            <a:pPr marL="457200" indent="-457200">
              <a:buNone/>
            </a:pPr>
            <a:endParaRPr lang="zh-CN" altLang="en-US" dirty="0">
              <a:latin typeface="+mn-ea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020" y="301311"/>
            <a:ext cx="1391647" cy="6529182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8914" y="454571"/>
            <a:ext cx="1143252" cy="5350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6698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图片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7209" y="1612811"/>
            <a:ext cx="1143252" cy="5350645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1239" y="1591982"/>
            <a:ext cx="1143252" cy="5350645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790" y="1612812"/>
            <a:ext cx="1143252" cy="535064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0"/>
            <a:ext cx="341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None/>
            </a:pPr>
            <a:r>
              <a:rPr lang="zh-CN" altLang="en-US" dirty="0">
                <a:latin typeface="+mn-ea"/>
              </a:rPr>
              <a:t>根据运算过程分析不命中和命中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983" y="1612812"/>
            <a:ext cx="1234879" cy="4642565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449496" y="2372659"/>
            <a:ext cx="1008764" cy="50202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失效</a:t>
            </a:r>
          </a:p>
        </p:txBody>
      </p:sp>
      <p:sp>
        <p:nvSpPr>
          <p:cNvPr id="10" name="矩形 9"/>
          <p:cNvSpPr/>
          <p:nvPr/>
        </p:nvSpPr>
        <p:spPr>
          <a:xfrm>
            <a:off x="318068" y="541277"/>
            <a:ext cx="1854368" cy="452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5475" indent="0">
              <a:lnSpc>
                <a:spcPct val="130000"/>
              </a:lnSpc>
              <a:buNone/>
            </a:pPr>
            <a:r>
              <a:rPr lang="en-US" altLang="zh-CN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zh-CN" dirty="0">
                <a:solidFill>
                  <a:srgbClr val="000000"/>
                </a:solidFill>
                <a:latin typeface="+mn-ea"/>
              </a:rPr>
              <a:t>=0;j=0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45414" y="996686"/>
            <a:ext cx="30828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+mn-ea"/>
              </a:rPr>
              <a:t> </a:t>
            </a:r>
            <a:r>
              <a:rPr lang="en-US" altLang="zh-CN" sz="1400" dirty="0">
                <a:latin typeface="+mn-ea"/>
              </a:rPr>
              <a:t>a [0][0] = b[0][0] * b[1][0];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 </a:t>
            </a:r>
            <a:endParaRPr lang="zh-CN" altLang="en-US" sz="1400" dirty="0"/>
          </a:p>
        </p:txBody>
      </p:sp>
      <p:cxnSp>
        <p:nvCxnSpPr>
          <p:cNvPr id="6" name="直接箭头连接符 5"/>
          <p:cNvCxnSpPr/>
          <p:nvPr/>
        </p:nvCxnSpPr>
        <p:spPr>
          <a:xfrm>
            <a:off x="198721" y="2492555"/>
            <a:ext cx="238693" cy="560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H="1">
            <a:off x="2665505" y="2498898"/>
            <a:ext cx="236838" cy="262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H="1">
            <a:off x="2665505" y="3236992"/>
            <a:ext cx="236838" cy="262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1667465" y="2372659"/>
            <a:ext cx="985960" cy="50202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失效</a:t>
            </a:r>
          </a:p>
        </p:txBody>
      </p:sp>
      <p:sp>
        <p:nvSpPr>
          <p:cNvPr id="19" name="矩形 18"/>
          <p:cNvSpPr/>
          <p:nvPr/>
        </p:nvSpPr>
        <p:spPr>
          <a:xfrm>
            <a:off x="1667465" y="2885583"/>
            <a:ext cx="985960" cy="50202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失效</a:t>
            </a: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700" y="1612812"/>
            <a:ext cx="1234879" cy="4642565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4505546" y="2379111"/>
            <a:ext cx="1008764" cy="50202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命中</a:t>
            </a:r>
          </a:p>
        </p:txBody>
      </p:sp>
      <p:sp>
        <p:nvSpPr>
          <p:cNvPr id="25" name="矩形 24"/>
          <p:cNvSpPr/>
          <p:nvPr/>
        </p:nvSpPr>
        <p:spPr>
          <a:xfrm>
            <a:off x="4377785" y="541277"/>
            <a:ext cx="1854368" cy="4188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5475" indent="0">
              <a:lnSpc>
                <a:spcPct val="130000"/>
              </a:lnSpc>
              <a:buNone/>
            </a:pPr>
            <a:r>
              <a:rPr lang="en-US" altLang="zh-CN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zh-CN" dirty="0">
                <a:solidFill>
                  <a:srgbClr val="000000"/>
                </a:solidFill>
                <a:latin typeface="+mn-ea"/>
              </a:rPr>
              <a:t>=0;j=1</a:t>
            </a:r>
            <a:endParaRPr lang="zh-CN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4105131" y="996686"/>
            <a:ext cx="29931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+mn-ea"/>
              </a:rPr>
              <a:t> </a:t>
            </a:r>
            <a:r>
              <a:rPr lang="en-US" altLang="zh-CN" sz="1400" dirty="0">
                <a:latin typeface="+mn-ea"/>
              </a:rPr>
              <a:t>a [0][1] = b[1][0] * b[2][0];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 </a:t>
            </a:r>
            <a:endParaRPr lang="zh-CN" altLang="en-US" sz="1400" dirty="0"/>
          </a:p>
        </p:txBody>
      </p:sp>
      <p:cxnSp>
        <p:nvCxnSpPr>
          <p:cNvPr id="27" name="直接箭头连接符 26"/>
          <p:cNvCxnSpPr/>
          <p:nvPr/>
        </p:nvCxnSpPr>
        <p:spPr>
          <a:xfrm>
            <a:off x="4247969" y="2758369"/>
            <a:ext cx="238693" cy="560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 flipH="1">
            <a:off x="6746747" y="3948199"/>
            <a:ext cx="236838" cy="262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 flipH="1">
            <a:off x="6725222" y="3236992"/>
            <a:ext cx="236838" cy="262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5736785" y="2365435"/>
            <a:ext cx="985960" cy="50202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5734056" y="2870977"/>
            <a:ext cx="985960" cy="50202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命中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8382" y="1612812"/>
            <a:ext cx="1234879" cy="4642565"/>
          </a:xfrm>
          <a:prstGeom prst="rect">
            <a:avLst/>
          </a:prstGeom>
        </p:spPr>
      </p:pic>
      <p:sp>
        <p:nvSpPr>
          <p:cNvPr id="34" name="矩形 33"/>
          <p:cNvSpPr/>
          <p:nvPr/>
        </p:nvSpPr>
        <p:spPr>
          <a:xfrm>
            <a:off x="8625895" y="2372659"/>
            <a:ext cx="1008764" cy="50202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8494467" y="541277"/>
            <a:ext cx="1854368" cy="452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5475" indent="0">
              <a:lnSpc>
                <a:spcPct val="130000"/>
              </a:lnSpc>
              <a:buNone/>
            </a:pPr>
            <a:r>
              <a:rPr lang="en-US" altLang="zh-CN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zh-CN" dirty="0">
                <a:solidFill>
                  <a:srgbClr val="000000"/>
                </a:solidFill>
                <a:latin typeface="+mn-ea"/>
              </a:rPr>
              <a:t>=0;j=2</a:t>
            </a:r>
            <a:endParaRPr lang="zh-CN" altLang="en-US" dirty="0"/>
          </a:p>
        </p:txBody>
      </p:sp>
      <p:sp>
        <p:nvSpPr>
          <p:cNvPr id="37" name="矩形 36"/>
          <p:cNvSpPr/>
          <p:nvPr/>
        </p:nvSpPr>
        <p:spPr>
          <a:xfrm>
            <a:off x="8221813" y="996686"/>
            <a:ext cx="29931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+mn-ea"/>
              </a:rPr>
              <a:t> </a:t>
            </a:r>
            <a:r>
              <a:rPr lang="en-US" altLang="zh-CN" sz="1400" dirty="0">
                <a:latin typeface="+mn-ea"/>
              </a:rPr>
              <a:t>a [0][2] = b[2][0] * b[3][0];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 </a:t>
            </a:r>
            <a:endParaRPr lang="zh-CN" altLang="en-US" sz="1400" dirty="0"/>
          </a:p>
        </p:txBody>
      </p:sp>
      <p:cxnSp>
        <p:nvCxnSpPr>
          <p:cNvPr id="38" name="直接箭头连接符 37"/>
          <p:cNvCxnSpPr/>
          <p:nvPr/>
        </p:nvCxnSpPr>
        <p:spPr>
          <a:xfrm>
            <a:off x="8409035" y="2993487"/>
            <a:ext cx="238693" cy="560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>
          <a:xfrm flipH="1">
            <a:off x="10841904" y="4009162"/>
            <a:ext cx="236838" cy="262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 flipH="1">
            <a:off x="10841904" y="4752283"/>
            <a:ext cx="236838" cy="262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>
            <a:off x="9843864" y="2372659"/>
            <a:ext cx="985960" cy="50202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9843864" y="2885583"/>
            <a:ext cx="985960" cy="50202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747614" y="3850991"/>
            <a:ext cx="985960" cy="50202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失效</a:t>
            </a:r>
          </a:p>
        </p:txBody>
      </p:sp>
      <p:sp>
        <p:nvSpPr>
          <p:cNvPr id="47" name="矩形 46"/>
          <p:cNvSpPr/>
          <p:nvPr/>
        </p:nvSpPr>
        <p:spPr>
          <a:xfrm>
            <a:off x="3247500" y="-41550"/>
            <a:ext cx="5378395" cy="4524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625475" indent="-625475">
              <a:lnSpc>
                <a:spcPct val="130000"/>
              </a:lnSpc>
              <a:buNone/>
            </a:pPr>
            <a:r>
              <a:rPr lang="en-US" altLang="zh-CN" dirty="0">
                <a:latin typeface="+mn-ea"/>
              </a:rPr>
              <a:t>a [ </a:t>
            </a:r>
            <a:r>
              <a:rPr lang="en-US" altLang="zh-CN" dirty="0" err="1">
                <a:latin typeface="+mn-ea"/>
              </a:rPr>
              <a:t>i</a:t>
            </a:r>
            <a:r>
              <a:rPr lang="en-US" altLang="zh-CN" dirty="0">
                <a:latin typeface="+mn-ea"/>
              </a:rPr>
              <a:t> ][ j ] = b[ j ][ 0 ] * b[ j+1 ][ 0 ];</a:t>
            </a:r>
            <a:r>
              <a:rPr lang="en-US" altLang="zh-CN" dirty="0">
                <a:solidFill>
                  <a:srgbClr val="000000"/>
                </a:solidFill>
                <a:latin typeface="+mn-ea"/>
              </a:rPr>
              <a:t>  </a:t>
            </a:r>
          </a:p>
        </p:txBody>
      </p:sp>
      <p:sp>
        <p:nvSpPr>
          <p:cNvPr id="50" name="矩形 49"/>
          <p:cNvSpPr/>
          <p:nvPr/>
        </p:nvSpPr>
        <p:spPr>
          <a:xfrm>
            <a:off x="9855944" y="3877958"/>
            <a:ext cx="985960" cy="50202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命中</a:t>
            </a:r>
          </a:p>
        </p:txBody>
      </p:sp>
      <p:sp>
        <p:nvSpPr>
          <p:cNvPr id="51" name="矩形 50"/>
          <p:cNvSpPr/>
          <p:nvPr/>
        </p:nvSpPr>
        <p:spPr>
          <a:xfrm>
            <a:off x="9858996" y="4390882"/>
            <a:ext cx="985960" cy="50202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失效</a:t>
            </a:r>
          </a:p>
        </p:txBody>
      </p:sp>
      <p:sp>
        <p:nvSpPr>
          <p:cNvPr id="52" name="矩形 51"/>
          <p:cNvSpPr/>
          <p:nvPr/>
        </p:nvSpPr>
        <p:spPr>
          <a:xfrm>
            <a:off x="8628973" y="2885583"/>
            <a:ext cx="1005685" cy="50202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失效</a:t>
            </a:r>
          </a:p>
        </p:txBody>
      </p:sp>
    </p:spTree>
    <p:extLst>
      <p:ext uri="{BB962C8B-B14F-4D97-AF65-F5344CB8AC3E}">
        <p14:creationId xmlns:p14="http://schemas.microsoft.com/office/powerpoint/2010/main" val="2389899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3" grpId="0" animBg="1"/>
      <p:bldP spid="31" grpId="0" animBg="1"/>
      <p:bldP spid="44" grpId="0" animBg="1"/>
      <p:bldP spid="50" grpId="0" animBg="1"/>
      <p:bldP spid="51" grpId="0" animBg="1"/>
      <p:bldP spid="5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图片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1817" y="725943"/>
            <a:ext cx="1143252" cy="535064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7446" y="1078127"/>
            <a:ext cx="1234879" cy="4642565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1546792" y="2336749"/>
            <a:ext cx="1008764" cy="50202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失效</a:t>
            </a:r>
          </a:p>
        </p:txBody>
      </p:sp>
      <p:sp>
        <p:nvSpPr>
          <p:cNvPr id="3" name="矩形 2"/>
          <p:cNvSpPr/>
          <p:nvPr/>
        </p:nvSpPr>
        <p:spPr>
          <a:xfrm>
            <a:off x="132044" y="365185"/>
            <a:ext cx="10182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+mn-ea"/>
              </a:rPr>
              <a:t> </a:t>
            </a:r>
            <a:r>
              <a:rPr lang="en-US" altLang="zh-CN" sz="1400" dirty="0">
                <a:latin typeface="+mn-ea"/>
              </a:rPr>
              <a:t>a [0][0]</a:t>
            </a:r>
            <a:endParaRPr lang="zh-CN" altLang="en-US" sz="1400" dirty="0"/>
          </a:p>
        </p:txBody>
      </p:sp>
      <p:cxnSp>
        <p:nvCxnSpPr>
          <p:cNvPr id="6" name="直接箭头连接符 5"/>
          <p:cNvCxnSpPr/>
          <p:nvPr/>
        </p:nvCxnSpPr>
        <p:spPr>
          <a:xfrm>
            <a:off x="1308099" y="1920373"/>
            <a:ext cx="238693" cy="560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1546792" y="1802882"/>
            <a:ext cx="985960" cy="50202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失效</a:t>
            </a:r>
          </a:p>
        </p:txBody>
      </p:sp>
      <p:sp>
        <p:nvSpPr>
          <p:cNvPr id="19" name="矩形 18"/>
          <p:cNvSpPr/>
          <p:nvPr/>
        </p:nvSpPr>
        <p:spPr>
          <a:xfrm>
            <a:off x="7785071" y="1478625"/>
            <a:ext cx="985960" cy="50202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失效</a:t>
            </a:r>
          </a:p>
        </p:txBody>
      </p:sp>
      <p:sp>
        <p:nvSpPr>
          <p:cNvPr id="43" name="矩形 42"/>
          <p:cNvSpPr/>
          <p:nvPr/>
        </p:nvSpPr>
        <p:spPr>
          <a:xfrm>
            <a:off x="-50366" y="4427"/>
            <a:ext cx="19159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+mn-ea"/>
              </a:rPr>
              <a:t>数组</a:t>
            </a:r>
            <a:r>
              <a:rPr lang="en-US" altLang="zh-CN" dirty="0">
                <a:latin typeface="+mn-ea"/>
              </a:rPr>
              <a:t>a</a:t>
            </a:r>
            <a:r>
              <a:rPr lang="zh-CN" altLang="en-US" dirty="0">
                <a:latin typeface="+mn-ea"/>
              </a:rPr>
              <a:t>的访问规律</a:t>
            </a:r>
            <a:endParaRPr lang="zh-CN" altLang="en-US" sz="1400" dirty="0"/>
          </a:p>
        </p:txBody>
      </p:sp>
      <p:sp>
        <p:nvSpPr>
          <p:cNvPr id="48" name="矩形 47"/>
          <p:cNvSpPr/>
          <p:nvPr/>
        </p:nvSpPr>
        <p:spPr>
          <a:xfrm>
            <a:off x="978832" y="356611"/>
            <a:ext cx="10182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+mn-ea"/>
              </a:rPr>
              <a:t> </a:t>
            </a:r>
            <a:r>
              <a:rPr lang="en-US" altLang="zh-CN" sz="1400" dirty="0">
                <a:latin typeface="+mn-ea"/>
              </a:rPr>
              <a:t>a [0][1]</a:t>
            </a:r>
            <a:endParaRPr lang="zh-CN" altLang="en-US" sz="1400" dirty="0"/>
          </a:p>
        </p:txBody>
      </p:sp>
      <p:sp>
        <p:nvSpPr>
          <p:cNvPr id="53" name="矩形 52"/>
          <p:cNvSpPr/>
          <p:nvPr/>
        </p:nvSpPr>
        <p:spPr>
          <a:xfrm>
            <a:off x="1885766" y="356611"/>
            <a:ext cx="10182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+mn-ea"/>
              </a:rPr>
              <a:t> </a:t>
            </a:r>
            <a:r>
              <a:rPr lang="en-US" altLang="zh-CN" sz="1400" dirty="0">
                <a:latin typeface="+mn-ea"/>
              </a:rPr>
              <a:t>a [0][2]</a:t>
            </a:r>
            <a:endParaRPr lang="zh-CN" altLang="en-US" sz="1400" dirty="0"/>
          </a:p>
        </p:txBody>
      </p:sp>
      <p:sp>
        <p:nvSpPr>
          <p:cNvPr id="54" name="矩形 53"/>
          <p:cNvSpPr/>
          <p:nvPr/>
        </p:nvSpPr>
        <p:spPr>
          <a:xfrm>
            <a:off x="2830221" y="348037"/>
            <a:ext cx="10182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+mn-ea"/>
              </a:rPr>
              <a:t> </a:t>
            </a:r>
            <a:r>
              <a:rPr lang="en-US" altLang="zh-CN" sz="1400" dirty="0">
                <a:latin typeface="+mn-ea"/>
              </a:rPr>
              <a:t>a [0][3]</a:t>
            </a:r>
            <a:endParaRPr lang="zh-CN" altLang="en-US" sz="1400" dirty="0"/>
          </a:p>
        </p:txBody>
      </p:sp>
      <p:sp>
        <p:nvSpPr>
          <p:cNvPr id="55" name="矩形 54"/>
          <p:cNvSpPr/>
          <p:nvPr/>
        </p:nvSpPr>
        <p:spPr>
          <a:xfrm>
            <a:off x="3868671" y="348037"/>
            <a:ext cx="4796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+mn-ea"/>
              </a:rPr>
              <a:t> </a:t>
            </a:r>
            <a:r>
              <a:rPr lang="zh-CN" altLang="en-US" sz="1400" dirty="0">
                <a:latin typeface="+mn-ea"/>
              </a:rPr>
              <a:t>等</a:t>
            </a:r>
            <a:endParaRPr lang="zh-CN" altLang="en-US" sz="1400" dirty="0"/>
          </a:p>
        </p:txBody>
      </p:sp>
      <p:cxnSp>
        <p:nvCxnSpPr>
          <p:cNvPr id="56" name="直接箭头连接符 55"/>
          <p:cNvCxnSpPr/>
          <p:nvPr/>
        </p:nvCxnSpPr>
        <p:spPr>
          <a:xfrm>
            <a:off x="1308099" y="2148146"/>
            <a:ext cx="238693" cy="560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1546792" y="1806043"/>
            <a:ext cx="985960" cy="50202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命中</a:t>
            </a:r>
          </a:p>
        </p:txBody>
      </p:sp>
      <p:cxnSp>
        <p:nvCxnSpPr>
          <p:cNvPr id="58" name="直接箭头连接符 57"/>
          <p:cNvCxnSpPr/>
          <p:nvPr/>
        </p:nvCxnSpPr>
        <p:spPr>
          <a:xfrm>
            <a:off x="1278206" y="2394751"/>
            <a:ext cx="238693" cy="560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/>
          <p:nvPr/>
        </p:nvCxnSpPr>
        <p:spPr>
          <a:xfrm>
            <a:off x="1293152" y="2632695"/>
            <a:ext cx="238693" cy="560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矩形 59"/>
          <p:cNvSpPr/>
          <p:nvPr/>
        </p:nvSpPr>
        <p:spPr>
          <a:xfrm>
            <a:off x="1528162" y="2316975"/>
            <a:ext cx="1008764" cy="50202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命中</a:t>
            </a:r>
          </a:p>
        </p:txBody>
      </p:sp>
      <p:sp>
        <p:nvSpPr>
          <p:cNvPr id="61" name="矩形 60"/>
          <p:cNvSpPr/>
          <p:nvPr/>
        </p:nvSpPr>
        <p:spPr>
          <a:xfrm>
            <a:off x="2937037" y="1746116"/>
            <a:ext cx="381618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+mn-ea"/>
              </a:rPr>
              <a:t> 数组</a:t>
            </a:r>
            <a:r>
              <a:rPr lang="en-US" altLang="zh-CN" sz="1400" dirty="0">
                <a:latin typeface="+mn-ea"/>
              </a:rPr>
              <a:t>a: </a:t>
            </a:r>
            <a:r>
              <a:rPr lang="zh-CN" altLang="en-US" sz="1400" dirty="0">
                <a:latin typeface="+mn-ea"/>
              </a:rPr>
              <a:t>共</a:t>
            </a:r>
            <a:r>
              <a:rPr lang="en-US" altLang="zh-CN" sz="1400" dirty="0">
                <a:latin typeface="+mn-ea"/>
              </a:rPr>
              <a:t>150</a:t>
            </a:r>
            <a:r>
              <a:rPr lang="zh-CN" altLang="en-US" sz="1400" dirty="0">
                <a:latin typeface="+mn-ea"/>
              </a:rPr>
              <a:t>块，失效</a:t>
            </a:r>
            <a:r>
              <a:rPr lang="en-US" altLang="zh-CN" sz="1400" dirty="0">
                <a:latin typeface="+mn-ea"/>
              </a:rPr>
              <a:t>150</a:t>
            </a:r>
            <a:r>
              <a:rPr lang="zh-CN" altLang="en-US" sz="1400" dirty="0">
                <a:latin typeface="+mn-ea"/>
              </a:rPr>
              <a:t>次</a:t>
            </a:r>
            <a:endParaRPr lang="zh-CN" altLang="en-US" sz="1400" dirty="0"/>
          </a:p>
        </p:txBody>
      </p:sp>
      <p:sp>
        <p:nvSpPr>
          <p:cNvPr id="62" name="矩形 61"/>
          <p:cNvSpPr/>
          <p:nvPr/>
        </p:nvSpPr>
        <p:spPr>
          <a:xfrm>
            <a:off x="5407459" y="20932"/>
            <a:ext cx="19159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+mn-ea"/>
              </a:rPr>
              <a:t>数组</a:t>
            </a:r>
            <a:r>
              <a:rPr lang="en-US" altLang="zh-CN" dirty="0">
                <a:latin typeface="+mn-ea"/>
              </a:rPr>
              <a:t>b</a:t>
            </a:r>
            <a:r>
              <a:rPr lang="zh-CN" altLang="en-US" dirty="0">
                <a:latin typeface="+mn-ea"/>
              </a:rPr>
              <a:t>的访问规律</a:t>
            </a:r>
            <a:endParaRPr lang="zh-CN" altLang="en-US" sz="1400" dirty="0"/>
          </a:p>
        </p:txBody>
      </p:sp>
      <p:sp>
        <p:nvSpPr>
          <p:cNvPr id="63" name="矩形 62"/>
          <p:cNvSpPr/>
          <p:nvPr/>
        </p:nvSpPr>
        <p:spPr>
          <a:xfrm>
            <a:off x="5605650" y="348037"/>
            <a:ext cx="10438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+mn-ea"/>
              </a:rPr>
              <a:t> </a:t>
            </a:r>
            <a:r>
              <a:rPr lang="en-US" altLang="zh-CN" dirty="0">
                <a:latin typeface="+mn-ea"/>
              </a:rPr>
              <a:t>b</a:t>
            </a:r>
            <a:r>
              <a:rPr lang="en-US" altLang="zh-CN" sz="1400" dirty="0">
                <a:latin typeface="+mn-ea"/>
              </a:rPr>
              <a:t> [0][0]</a:t>
            </a:r>
            <a:endParaRPr lang="zh-CN" altLang="en-US" sz="1400" dirty="0"/>
          </a:p>
        </p:txBody>
      </p:sp>
      <p:sp>
        <p:nvSpPr>
          <p:cNvPr id="64" name="矩形 63"/>
          <p:cNvSpPr/>
          <p:nvPr/>
        </p:nvSpPr>
        <p:spPr>
          <a:xfrm>
            <a:off x="6581189" y="348037"/>
            <a:ext cx="10438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+mn-ea"/>
              </a:rPr>
              <a:t> </a:t>
            </a:r>
            <a:r>
              <a:rPr lang="en-US" altLang="zh-CN" dirty="0">
                <a:latin typeface="+mn-ea"/>
              </a:rPr>
              <a:t>b</a:t>
            </a:r>
            <a:r>
              <a:rPr lang="en-US" altLang="zh-CN" sz="1400" dirty="0">
                <a:latin typeface="+mn-ea"/>
              </a:rPr>
              <a:t> [1][0]</a:t>
            </a:r>
            <a:endParaRPr lang="zh-CN" altLang="en-US" sz="1400" dirty="0"/>
          </a:p>
        </p:txBody>
      </p:sp>
      <p:sp>
        <p:nvSpPr>
          <p:cNvPr id="65" name="矩形 64"/>
          <p:cNvSpPr/>
          <p:nvPr/>
        </p:nvSpPr>
        <p:spPr>
          <a:xfrm>
            <a:off x="7536853" y="348037"/>
            <a:ext cx="10438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+mn-ea"/>
              </a:rPr>
              <a:t> </a:t>
            </a:r>
            <a:r>
              <a:rPr lang="en-US" altLang="zh-CN" dirty="0">
                <a:latin typeface="+mn-ea"/>
              </a:rPr>
              <a:t>b</a:t>
            </a:r>
            <a:r>
              <a:rPr lang="en-US" altLang="zh-CN" sz="1400" dirty="0">
                <a:latin typeface="+mn-ea"/>
              </a:rPr>
              <a:t> [2][0]</a:t>
            </a:r>
            <a:endParaRPr lang="zh-CN" altLang="en-US" sz="1400" dirty="0"/>
          </a:p>
        </p:txBody>
      </p:sp>
      <p:sp>
        <p:nvSpPr>
          <p:cNvPr id="66" name="矩形 65"/>
          <p:cNvSpPr/>
          <p:nvPr/>
        </p:nvSpPr>
        <p:spPr>
          <a:xfrm>
            <a:off x="8512392" y="348037"/>
            <a:ext cx="10438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+mn-ea"/>
              </a:rPr>
              <a:t> </a:t>
            </a:r>
            <a:r>
              <a:rPr lang="en-US" altLang="zh-CN" dirty="0">
                <a:latin typeface="+mn-ea"/>
              </a:rPr>
              <a:t>b</a:t>
            </a:r>
            <a:r>
              <a:rPr lang="en-US" altLang="zh-CN" sz="1400" dirty="0">
                <a:latin typeface="+mn-ea"/>
              </a:rPr>
              <a:t> [3][0]</a:t>
            </a:r>
            <a:endParaRPr lang="zh-CN" altLang="en-US" sz="1400" dirty="0"/>
          </a:p>
        </p:txBody>
      </p:sp>
      <p:sp>
        <p:nvSpPr>
          <p:cNvPr id="67" name="矩形 66"/>
          <p:cNvSpPr/>
          <p:nvPr/>
        </p:nvSpPr>
        <p:spPr>
          <a:xfrm>
            <a:off x="9637115" y="348037"/>
            <a:ext cx="4796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+mn-ea"/>
              </a:rPr>
              <a:t> </a:t>
            </a:r>
            <a:r>
              <a:rPr lang="en-US" altLang="zh-CN" sz="1400" dirty="0">
                <a:latin typeface="+mn-ea"/>
              </a:rPr>
              <a:t>…</a:t>
            </a:r>
            <a:endParaRPr lang="zh-CN" altLang="en-US" sz="1400" dirty="0"/>
          </a:p>
        </p:txBody>
      </p:sp>
      <p:sp>
        <p:nvSpPr>
          <p:cNvPr id="68" name="矩形 67"/>
          <p:cNvSpPr/>
          <p:nvPr/>
        </p:nvSpPr>
        <p:spPr>
          <a:xfrm>
            <a:off x="10197580" y="348037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+mn-ea"/>
              </a:rPr>
              <a:t> </a:t>
            </a:r>
            <a:r>
              <a:rPr lang="en-US" altLang="zh-CN" dirty="0">
                <a:latin typeface="+mn-ea"/>
              </a:rPr>
              <a:t>b</a:t>
            </a:r>
            <a:r>
              <a:rPr lang="en-US" altLang="zh-CN" sz="1400" dirty="0">
                <a:latin typeface="+mn-ea"/>
              </a:rPr>
              <a:t> [100][0]</a:t>
            </a:r>
            <a:endParaRPr lang="zh-CN" altLang="en-US" sz="1400" dirty="0"/>
          </a:p>
        </p:txBody>
      </p:sp>
      <p:cxnSp>
        <p:nvCxnSpPr>
          <p:cNvPr id="69" name="直接箭头连接符 68"/>
          <p:cNvCxnSpPr/>
          <p:nvPr/>
        </p:nvCxnSpPr>
        <p:spPr>
          <a:xfrm>
            <a:off x="7536853" y="1623045"/>
            <a:ext cx="238693" cy="560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/>
          <p:nvPr/>
        </p:nvCxnSpPr>
        <p:spPr>
          <a:xfrm>
            <a:off x="7536853" y="2336749"/>
            <a:ext cx="238693" cy="560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矩形 70"/>
          <p:cNvSpPr/>
          <p:nvPr/>
        </p:nvSpPr>
        <p:spPr>
          <a:xfrm>
            <a:off x="7785071" y="1980647"/>
            <a:ext cx="985960" cy="50202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失效</a:t>
            </a:r>
          </a:p>
        </p:txBody>
      </p:sp>
      <p:cxnSp>
        <p:nvCxnSpPr>
          <p:cNvPr id="72" name="直接箭头连接符 71"/>
          <p:cNvCxnSpPr/>
          <p:nvPr/>
        </p:nvCxnSpPr>
        <p:spPr>
          <a:xfrm>
            <a:off x="7536853" y="3071134"/>
            <a:ext cx="238693" cy="560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矩形 72"/>
          <p:cNvSpPr/>
          <p:nvPr/>
        </p:nvSpPr>
        <p:spPr>
          <a:xfrm>
            <a:off x="7785071" y="2984691"/>
            <a:ext cx="985960" cy="50202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失效</a:t>
            </a:r>
          </a:p>
        </p:txBody>
      </p:sp>
      <p:cxnSp>
        <p:nvCxnSpPr>
          <p:cNvPr id="74" name="直接箭头连接符 73"/>
          <p:cNvCxnSpPr/>
          <p:nvPr/>
        </p:nvCxnSpPr>
        <p:spPr>
          <a:xfrm>
            <a:off x="7536853" y="3839476"/>
            <a:ext cx="238693" cy="560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矩形 74"/>
          <p:cNvSpPr/>
          <p:nvPr/>
        </p:nvSpPr>
        <p:spPr>
          <a:xfrm>
            <a:off x="7785071" y="3495287"/>
            <a:ext cx="985960" cy="50202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失效</a:t>
            </a:r>
          </a:p>
        </p:txBody>
      </p:sp>
      <p:cxnSp>
        <p:nvCxnSpPr>
          <p:cNvPr id="76" name="直接箭头连接符 75"/>
          <p:cNvCxnSpPr/>
          <p:nvPr/>
        </p:nvCxnSpPr>
        <p:spPr>
          <a:xfrm>
            <a:off x="7536852" y="5344426"/>
            <a:ext cx="238693" cy="560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矩形 76"/>
          <p:cNvSpPr/>
          <p:nvPr/>
        </p:nvSpPr>
        <p:spPr>
          <a:xfrm>
            <a:off x="7785071" y="5218670"/>
            <a:ext cx="985960" cy="50202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失效</a:t>
            </a:r>
          </a:p>
        </p:txBody>
      </p:sp>
      <p:sp>
        <p:nvSpPr>
          <p:cNvPr id="78" name="矩形 77"/>
          <p:cNvSpPr/>
          <p:nvPr/>
        </p:nvSpPr>
        <p:spPr>
          <a:xfrm>
            <a:off x="2937036" y="2188393"/>
            <a:ext cx="395492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latin typeface="+mn-ea"/>
              </a:rPr>
              <a:t> 数组</a:t>
            </a:r>
            <a:r>
              <a:rPr lang="en-US" altLang="zh-CN" sz="1400" dirty="0">
                <a:latin typeface="+mn-ea"/>
              </a:rPr>
              <a:t>b</a:t>
            </a:r>
            <a:r>
              <a:rPr lang="zh-CN" altLang="en-US" sz="1400" dirty="0">
                <a:latin typeface="+mn-ea"/>
              </a:rPr>
              <a:t>：</a:t>
            </a:r>
            <a:r>
              <a:rPr lang="en-US" altLang="zh-CN" sz="1400" dirty="0" err="1">
                <a:latin typeface="+mn-ea"/>
              </a:rPr>
              <a:t>i</a:t>
            </a:r>
            <a:r>
              <a:rPr lang="en-US" altLang="zh-CN" sz="1400" dirty="0">
                <a:latin typeface="+mn-ea"/>
              </a:rPr>
              <a:t>=0</a:t>
            </a:r>
            <a:r>
              <a:rPr lang="zh-CN" altLang="en-US" sz="1400" dirty="0">
                <a:latin typeface="+mn-ea"/>
              </a:rPr>
              <a:t>时，失效</a:t>
            </a:r>
            <a:r>
              <a:rPr lang="en-US" altLang="zh-CN" sz="1400" dirty="0">
                <a:latin typeface="+mn-ea"/>
              </a:rPr>
              <a:t>101</a:t>
            </a:r>
            <a:r>
              <a:rPr lang="zh-CN" altLang="en-US" sz="1400" dirty="0">
                <a:latin typeface="+mn-ea"/>
              </a:rPr>
              <a:t>次；</a:t>
            </a:r>
            <a:r>
              <a:rPr lang="en-US" altLang="zh-CN" sz="1400" dirty="0" err="1">
                <a:latin typeface="+mn-ea"/>
              </a:rPr>
              <a:t>i</a:t>
            </a:r>
            <a:r>
              <a:rPr lang="en-US" altLang="zh-CN" sz="1400" dirty="0">
                <a:latin typeface="+mn-ea"/>
              </a:rPr>
              <a:t>=1</a:t>
            </a:r>
            <a:r>
              <a:rPr lang="zh-CN" altLang="en-US" sz="1400" dirty="0">
                <a:latin typeface="+mn-ea"/>
              </a:rPr>
              <a:t>和</a:t>
            </a:r>
            <a:r>
              <a:rPr lang="en-US" altLang="zh-CN" sz="1400" dirty="0">
                <a:latin typeface="+mn-ea"/>
              </a:rPr>
              <a:t>2</a:t>
            </a:r>
            <a:r>
              <a:rPr lang="zh-CN" altLang="en-US" sz="1400" dirty="0">
                <a:latin typeface="+mn-ea"/>
              </a:rPr>
              <a:t>时，无失效</a:t>
            </a:r>
            <a:endParaRPr lang="zh-CN" altLang="en-US" sz="1100" dirty="0"/>
          </a:p>
        </p:txBody>
      </p:sp>
      <p:sp>
        <p:nvSpPr>
          <p:cNvPr id="79" name="矩形 78"/>
          <p:cNvSpPr/>
          <p:nvPr/>
        </p:nvSpPr>
        <p:spPr>
          <a:xfrm>
            <a:off x="3339334" y="2838771"/>
            <a:ext cx="28777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>
                <a:latin typeface="+mn-ea"/>
              </a:rPr>
              <a:t> 一共失效次数：</a:t>
            </a:r>
            <a:r>
              <a:rPr lang="en-US" altLang="zh-CN" sz="1400" b="1" dirty="0">
                <a:latin typeface="+mn-ea"/>
              </a:rPr>
              <a:t>150+101 = 251</a:t>
            </a:r>
            <a:r>
              <a:rPr lang="zh-CN" altLang="en-US" sz="1400" b="1" dirty="0">
                <a:latin typeface="+mn-ea"/>
              </a:rPr>
              <a:t>次</a:t>
            </a:r>
            <a:endParaRPr lang="zh-CN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2334597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3" grpId="0"/>
      <p:bldP spid="18" grpId="0" animBg="1"/>
      <p:bldP spid="19" grpId="0" animBg="1"/>
      <p:bldP spid="48" grpId="0"/>
      <p:bldP spid="53" grpId="0"/>
      <p:bldP spid="54" grpId="0"/>
      <p:bldP spid="55" grpId="0"/>
      <p:bldP spid="57" grpId="0" animBg="1"/>
      <p:bldP spid="60" grpId="0" animBg="1"/>
      <p:bldP spid="61" grpId="0"/>
      <p:bldP spid="63" grpId="0"/>
      <p:bldP spid="64" grpId="0"/>
      <p:bldP spid="65" grpId="0"/>
      <p:bldP spid="66" grpId="0"/>
      <p:bldP spid="67" grpId="0"/>
      <p:bldP spid="68" grpId="0"/>
      <p:bldP spid="71" grpId="0" animBg="1"/>
      <p:bldP spid="73" grpId="0" animBg="1"/>
      <p:bldP spid="75" grpId="0" animBg="1"/>
      <p:bldP spid="77" grpId="0" animBg="1"/>
      <p:bldP spid="78" grpId="0"/>
      <p:bldP spid="7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81281" y="3530832"/>
            <a:ext cx="6767513" cy="3028949"/>
          </a:xfrm>
        </p:spPr>
        <p:txBody>
          <a:bodyPr>
            <a:noAutofit/>
          </a:bodyPr>
          <a:lstStyle/>
          <a:p>
            <a:pPr marL="457200" indent="-457200">
              <a:lnSpc>
                <a:spcPts val="2800"/>
              </a:lnSpc>
              <a:spcBef>
                <a:spcPts val="0"/>
              </a:spcBef>
              <a:buNone/>
            </a:pPr>
            <a:endParaRPr lang="en-US" altLang="zh-CN" sz="1800" dirty="0">
              <a:latin typeface="+mn-ea"/>
            </a:endParaRPr>
          </a:p>
          <a:p>
            <a:pPr marL="457200" indent="-457200">
              <a:lnSpc>
                <a:spcPts val="28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+mn-ea"/>
              </a:rPr>
              <a:t>for </a:t>
            </a:r>
            <a:r>
              <a:rPr lang="zh-CN" altLang="en-US" sz="1800" dirty="0">
                <a:latin typeface="+mn-ea"/>
              </a:rPr>
              <a:t>（ </a:t>
            </a:r>
            <a:r>
              <a:rPr lang="en-US" altLang="zh-CN" sz="1800" dirty="0" err="1">
                <a:latin typeface="+mn-ea"/>
              </a:rPr>
              <a:t>i</a:t>
            </a:r>
            <a:r>
              <a:rPr lang="en-US" altLang="zh-CN" sz="1800" dirty="0">
                <a:latin typeface="+mn-ea"/>
              </a:rPr>
              <a:t> = 1;  </a:t>
            </a:r>
            <a:r>
              <a:rPr lang="en-US" altLang="zh-CN" sz="1800" dirty="0" err="1">
                <a:latin typeface="+mn-ea"/>
              </a:rPr>
              <a:t>i</a:t>
            </a:r>
            <a:r>
              <a:rPr lang="en-US" altLang="zh-CN" sz="1800" dirty="0">
                <a:latin typeface="+mn-ea"/>
              </a:rPr>
              <a:t> &lt; 3;  </a:t>
            </a:r>
            <a:r>
              <a:rPr lang="en-US" altLang="zh-CN" sz="1800" dirty="0" err="1">
                <a:latin typeface="+mn-ea"/>
              </a:rPr>
              <a:t>i</a:t>
            </a:r>
            <a:r>
              <a:rPr lang="en-US" altLang="zh-CN" sz="1800" dirty="0">
                <a:latin typeface="+mn-ea"/>
              </a:rPr>
              <a:t> = i+1 </a:t>
            </a:r>
            <a:r>
              <a:rPr lang="zh-CN" altLang="en-US" sz="1800" dirty="0">
                <a:latin typeface="+mn-ea"/>
              </a:rPr>
              <a:t>）  </a:t>
            </a:r>
            <a:r>
              <a:rPr lang="en-US" altLang="zh-CN" sz="1800" dirty="0">
                <a:latin typeface="+mn-ea"/>
              </a:rPr>
              <a:t>{</a:t>
            </a:r>
          </a:p>
          <a:p>
            <a:pPr marL="457200" indent="-457200">
              <a:lnSpc>
                <a:spcPts val="28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+mn-ea"/>
              </a:rPr>
              <a:t>for </a:t>
            </a:r>
            <a:r>
              <a:rPr lang="zh-CN" altLang="en-US" sz="1800" dirty="0">
                <a:latin typeface="+mn-ea"/>
              </a:rPr>
              <a:t>（ </a:t>
            </a:r>
            <a:r>
              <a:rPr lang="en-US" altLang="zh-CN" sz="1800" dirty="0">
                <a:latin typeface="+mn-ea"/>
              </a:rPr>
              <a:t>j = 0;  j &lt; 100;  j = j+1 </a:t>
            </a:r>
            <a:r>
              <a:rPr lang="zh-CN" altLang="en-US" sz="1800" dirty="0">
                <a:latin typeface="+mn-ea"/>
              </a:rPr>
              <a:t>）</a:t>
            </a:r>
          </a:p>
          <a:p>
            <a:pPr marL="457200" indent="-457200">
              <a:lnSpc>
                <a:spcPts val="2800"/>
              </a:lnSpc>
              <a:spcBef>
                <a:spcPts val="0"/>
              </a:spcBef>
              <a:buNone/>
            </a:pPr>
            <a:r>
              <a:rPr lang="zh-CN" altLang="en-US" sz="1800" dirty="0">
                <a:latin typeface="+mn-ea"/>
              </a:rPr>
              <a:t>            </a:t>
            </a:r>
            <a:r>
              <a:rPr lang="en-US" altLang="zh-CN" sz="1800" dirty="0" err="1">
                <a:solidFill>
                  <a:srgbClr val="D60093"/>
                </a:solidFill>
                <a:latin typeface="+mn-ea"/>
              </a:rPr>
              <a:t>prefetch</a:t>
            </a:r>
            <a:r>
              <a:rPr lang="en-US" altLang="zh-CN" sz="1800" dirty="0">
                <a:solidFill>
                  <a:srgbClr val="D60093"/>
                </a:solidFill>
                <a:latin typeface="+mn-ea"/>
              </a:rPr>
              <a:t> </a:t>
            </a:r>
            <a:r>
              <a:rPr lang="zh-CN" altLang="en-US" sz="1800" dirty="0">
                <a:solidFill>
                  <a:srgbClr val="D60093"/>
                </a:solidFill>
                <a:latin typeface="+mn-ea"/>
              </a:rPr>
              <a:t>（ </a:t>
            </a:r>
            <a:r>
              <a:rPr lang="en-US" altLang="zh-CN" sz="1800" dirty="0">
                <a:solidFill>
                  <a:srgbClr val="D60093"/>
                </a:solidFill>
                <a:latin typeface="+mn-ea"/>
              </a:rPr>
              <a:t>a [ </a:t>
            </a:r>
            <a:r>
              <a:rPr lang="en-US" altLang="zh-CN" sz="1800" dirty="0" err="1">
                <a:solidFill>
                  <a:srgbClr val="D60093"/>
                </a:solidFill>
                <a:latin typeface="+mn-ea"/>
              </a:rPr>
              <a:t>i</a:t>
            </a:r>
            <a:r>
              <a:rPr lang="en-US" altLang="zh-CN" sz="1800" dirty="0">
                <a:solidFill>
                  <a:srgbClr val="D60093"/>
                </a:solidFill>
                <a:latin typeface="+mn-ea"/>
              </a:rPr>
              <a:t> ][ j+7 ]</a:t>
            </a:r>
            <a:r>
              <a:rPr lang="zh-CN" altLang="en-US" sz="1800" dirty="0">
                <a:solidFill>
                  <a:srgbClr val="D60093"/>
                </a:solidFill>
                <a:latin typeface="+mn-ea"/>
              </a:rPr>
              <a:t>）</a:t>
            </a:r>
            <a:r>
              <a:rPr lang="en-US" altLang="zh-CN" sz="1800" dirty="0">
                <a:solidFill>
                  <a:srgbClr val="D60093"/>
                </a:solidFill>
                <a:latin typeface="+mn-ea"/>
              </a:rPr>
              <a:t>;</a:t>
            </a:r>
            <a:r>
              <a:rPr lang="en-US" altLang="zh-CN" sz="1800" dirty="0">
                <a:latin typeface="+mn-ea"/>
              </a:rPr>
              <a:t>    </a:t>
            </a:r>
          </a:p>
          <a:p>
            <a:pPr marL="457200" indent="-457200">
              <a:lnSpc>
                <a:spcPts val="28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+mn-ea"/>
              </a:rPr>
              <a:t>           </a:t>
            </a:r>
            <a:r>
              <a:rPr lang="en-US" altLang="zh-CN" sz="1800" dirty="0">
                <a:solidFill>
                  <a:srgbClr val="000000"/>
                </a:solidFill>
                <a:latin typeface="+mn-ea"/>
              </a:rPr>
              <a:t>/* </a:t>
            </a:r>
            <a:r>
              <a:rPr lang="zh-CN" altLang="en-US" sz="1800" dirty="0">
                <a:solidFill>
                  <a:srgbClr val="000000"/>
                </a:solidFill>
                <a:latin typeface="+mn-ea"/>
              </a:rPr>
              <a:t>预取</a:t>
            </a:r>
            <a:r>
              <a:rPr lang="en-US" altLang="zh-CN" sz="1800" dirty="0">
                <a:solidFill>
                  <a:srgbClr val="000000"/>
                </a:solidFill>
                <a:latin typeface="+mn-ea"/>
              </a:rPr>
              <a:t>7</a:t>
            </a:r>
            <a:r>
              <a:rPr lang="zh-CN" altLang="en-US" sz="1800" dirty="0">
                <a:solidFill>
                  <a:srgbClr val="000000"/>
                </a:solidFill>
                <a:latin typeface="+mn-ea"/>
              </a:rPr>
              <a:t>次循环后所需的</a:t>
            </a:r>
            <a:r>
              <a:rPr lang="en-US" altLang="zh-CN" sz="1800" dirty="0">
                <a:solidFill>
                  <a:srgbClr val="000000"/>
                </a:solidFill>
                <a:latin typeface="+mn-ea"/>
              </a:rPr>
              <a:t>a </a:t>
            </a:r>
            <a:r>
              <a:rPr lang="zh-CN" altLang="en-US" sz="1800" dirty="0">
                <a:solidFill>
                  <a:srgbClr val="000000"/>
                </a:solidFill>
                <a:latin typeface="+mn-ea"/>
              </a:rPr>
              <a:t>（ </a:t>
            </a:r>
            <a:r>
              <a:rPr lang="en-US" altLang="zh-CN" sz="1800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zh-CN" sz="1800" dirty="0">
                <a:solidFill>
                  <a:srgbClr val="000000"/>
                </a:solidFill>
                <a:latin typeface="+mn-ea"/>
              </a:rPr>
              <a:t> , j </a:t>
            </a:r>
            <a:r>
              <a:rPr lang="zh-CN" altLang="en-US" sz="1800" dirty="0">
                <a:solidFill>
                  <a:srgbClr val="000000"/>
                </a:solidFill>
                <a:latin typeface="+mn-ea"/>
              </a:rPr>
              <a:t>） *</a:t>
            </a:r>
            <a:r>
              <a:rPr lang="en-US" altLang="zh-CN" sz="1800" dirty="0">
                <a:solidFill>
                  <a:srgbClr val="000000"/>
                </a:solidFill>
                <a:latin typeface="+mn-ea"/>
              </a:rPr>
              <a:t>/</a:t>
            </a:r>
          </a:p>
          <a:p>
            <a:pPr marL="457200" indent="-457200">
              <a:lnSpc>
                <a:spcPts val="28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  <a:latin typeface="+mn-ea"/>
              </a:rPr>
              <a:t>           </a:t>
            </a:r>
            <a:r>
              <a:rPr lang="en-US" altLang="zh-CN" sz="1800" dirty="0">
                <a:latin typeface="+mn-ea"/>
              </a:rPr>
              <a:t>a [ </a:t>
            </a:r>
            <a:r>
              <a:rPr lang="en-US" altLang="zh-CN" sz="1800" dirty="0" err="1">
                <a:latin typeface="+mn-ea"/>
              </a:rPr>
              <a:t>i</a:t>
            </a:r>
            <a:r>
              <a:rPr lang="en-US" altLang="zh-CN" sz="1800" dirty="0">
                <a:latin typeface="+mn-ea"/>
              </a:rPr>
              <a:t> ][ j ] = b[ j ][ 0 ] * b[ j+1 ][ 0 ];</a:t>
            </a:r>
          </a:p>
          <a:p>
            <a:pPr marL="457200" indent="-457200">
              <a:lnSpc>
                <a:spcPts val="28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+mn-ea"/>
              </a:rPr>
              <a:t>        } </a:t>
            </a:r>
            <a:r>
              <a:rPr lang="en-US" altLang="zh-CN" sz="1800" dirty="0">
                <a:solidFill>
                  <a:srgbClr val="000000"/>
                </a:solidFill>
                <a:latin typeface="+mn-ea"/>
              </a:rPr>
              <a:t>/* a</a:t>
            </a:r>
            <a:r>
              <a:rPr lang="zh-CN" altLang="en-US" sz="1800" dirty="0">
                <a:solidFill>
                  <a:srgbClr val="000000"/>
                </a:solidFill>
                <a:latin typeface="+mn-ea"/>
              </a:rPr>
              <a:t>失效 </a:t>
            </a:r>
            <a:r>
              <a:rPr lang="en-US" altLang="zh-CN" sz="1800" dirty="0">
                <a:solidFill>
                  <a:srgbClr val="000000"/>
                </a:solidFill>
                <a:latin typeface="+mn-ea"/>
              </a:rPr>
              <a:t>7/2 = 4, </a:t>
            </a:r>
            <a:r>
              <a:rPr lang="zh-CN" altLang="en-US" sz="1800" dirty="0">
                <a:solidFill>
                  <a:srgbClr val="000000"/>
                </a:solidFill>
                <a:latin typeface="+mn-ea"/>
              </a:rPr>
              <a:t>两次循环共失效</a:t>
            </a:r>
            <a:r>
              <a:rPr lang="en-US" altLang="zh-CN" sz="1800" dirty="0">
                <a:solidFill>
                  <a:srgbClr val="000000"/>
                </a:solidFill>
                <a:latin typeface="+mn-ea"/>
              </a:rPr>
              <a:t>8</a:t>
            </a:r>
            <a:r>
              <a:rPr lang="zh-CN" altLang="en-US" sz="1800" dirty="0">
                <a:solidFill>
                  <a:srgbClr val="000000"/>
                </a:solidFill>
                <a:latin typeface="+mn-ea"/>
              </a:rPr>
              <a:t>次 *</a:t>
            </a:r>
            <a:r>
              <a:rPr lang="en-US" altLang="zh-CN" sz="1800" dirty="0">
                <a:solidFill>
                  <a:srgbClr val="000000"/>
                </a:solidFill>
                <a:latin typeface="+mn-ea"/>
              </a:rPr>
              <a:t>/</a:t>
            </a:r>
            <a:endParaRPr lang="zh-CN" altLang="en-US" sz="18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6051194" y="5351083"/>
            <a:ext cx="7772400" cy="113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49263" indent="-449263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AutoNum type="arabicPeriod"/>
              <a:defRPr kumimoji="1" sz="2400">
                <a:solidFill>
                  <a:srgbClr val="E24C05"/>
                </a:solidFill>
                <a:latin typeface="+mn-lt"/>
                <a:ea typeface="+mn-ea"/>
                <a:cs typeface="+mn-cs"/>
              </a:defRPr>
            </a:lvl1pPr>
            <a:lvl2pPr marL="900113" indent="-271463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Wingdings" pitchFamily="2" charset="2"/>
              <a:buChar char="Ø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714500" indent="-4572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q"/>
              <a:defRPr kumimoji="1" sz="2000" b="1">
                <a:solidFill>
                  <a:srgbClr val="000000"/>
                </a:solidFill>
                <a:latin typeface="+mn-lt"/>
                <a:ea typeface="宋体" pitchFamily="2" charset="-122"/>
              </a:defRPr>
            </a:lvl3pPr>
            <a:lvl4pPr marL="2274888" indent="-3810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65000"/>
              <a:buFont typeface="Wingdings" pitchFamily="2" charset="2"/>
              <a:buChar char="n"/>
              <a:defRPr kumimoji="1" sz="2000" b="1">
                <a:solidFill>
                  <a:schemeClr val="tx1"/>
                </a:solidFill>
                <a:latin typeface="+mn-lt"/>
                <a:ea typeface="宋体" pitchFamily="2" charset="-122"/>
              </a:defRPr>
            </a:lvl4pPr>
            <a:lvl5pPr marL="2835275" indent="-3810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b="1">
                <a:solidFill>
                  <a:schemeClr val="tx1"/>
                </a:solidFill>
                <a:latin typeface="+mn-lt"/>
                <a:ea typeface="宋体" pitchFamily="2" charset="-122"/>
              </a:defRPr>
            </a:lvl5pPr>
            <a:lvl6pPr marL="3292475" indent="-3810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b="1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3749675" indent="-3810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b="1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4206875" indent="-3810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b="1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4664075" indent="-3810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b="1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pPr marL="1257300" lvl="2" indent="0" eaLnBrk="1" hangingPunct="1">
              <a:lnSpc>
                <a:spcPct val="160000"/>
              </a:lnSpc>
              <a:buNone/>
              <a:defRPr/>
            </a:pPr>
            <a:r>
              <a:rPr lang="zh-CN" altLang="en-US" kern="0" dirty="0">
                <a:solidFill>
                  <a:srgbClr val="D60093"/>
                </a:solidFill>
                <a:latin typeface="宋体" pitchFamily="2" charset="-122"/>
              </a:rPr>
              <a:t>总的失效次数＝</a:t>
            </a:r>
            <a:r>
              <a:rPr lang="en-US" altLang="zh-CN" kern="0" dirty="0">
                <a:solidFill>
                  <a:srgbClr val="D60093"/>
                </a:solidFill>
                <a:latin typeface="宋体" pitchFamily="2" charset="-122"/>
              </a:rPr>
              <a:t>4+7+4+4 = 19 </a:t>
            </a:r>
            <a:r>
              <a:rPr lang="zh-CN" altLang="en-US" kern="0" dirty="0">
                <a:solidFill>
                  <a:srgbClr val="D60093"/>
                </a:solidFill>
                <a:latin typeface="宋体" pitchFamily="2" charset="-122"/>
              </a:rPr>
              <a:t>次</a:t>
            </a:r>
          </a:p>
        </p:txBody>
      </p:sp>
      <p:sp>
        <p:nvSpPr>
          <p:cNvPr id="3" name="矩形 2"/>
          <p:cNvSpPr/>
          <p:nvPr/>
        </p:nvSpPr>
        <p:spPr>
          <a:xfrm>
            <a:off x="-733425" y="197121"/>
            <a:ext cx="7391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/>
            <a:r>
              <a:rPr lang="zh-CN" altLang="en-US" b="1" dirty="0">
                <a:latin typeface="+mn-ea"/>
              </a:rPr>
              <a:t>假设</a:t>
            </a:r>
            <a:r>
              <a:rPr lang="zh-CN" altLang="en-US" dirty="0">
                <a:latin typeface="+mn-ea"/>
              </a:rPr>
              <a:t>失效开销很大，预取必须至少提前</a:t>
            </a:r>
            <a:r>
              <a:rPr lang="en-US" altLang="zh-CN" dirty="0">
                <a:latin typeface="+mn-ea"/>
              </a:rPr>
              <a:t>7</a:t>
            </a:r>
            <a:r>
              <a:rPr lang="zh-CN" altLang="en-US" dirty="0">
                <a:latin typeface="+mn-ea"/>
              </a:rPr>
              <a:t>次循环进行。</a:t>
            </a:r>
          </a:p>
          <a:p>
            <a:pPr lvl="2"/>
            <a:endParaRPr lang="en-US" altLang="zh-CN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699768" y="843452"/>
            <a:ext cx="23519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+mn-ea"/>
              </a:rPr>
              <a:t> </a:t>
            </a:r>
            <a:r>
              <a:rPr lang="zh-CN" altLang="en-US" sz="1600" dirty="0">
                <a:latin typeface="+mn-ea"/>
              </a:rPr>
              <a:t>从 </a:t>
            </a:r>
            <a:r>
              <a:rPr lang="en-US" altLang="zh-CN" sz="1600" dirty="0">
                <a:latin typeface="+mn-ea"/>
              </a:rPr>
              <a:t>b [7][0] </a:t>
            </a:r>
            <a:r>
              <a:rPr lang="zh-CN" altLang="en-US" sz="1600" dirty="0">
                <a:latin typeface="+mn-ea"/>
              </a:rPr>
              <a:t>开始预取</a:t>
            </a:r>
            <a:endParaRPr lang="zh-CN" altLang="en-US" sz="1600" dirty="0"/>
          </a:p>
        </p:txBody>
      </p:sp>
      <p:sp>
        <p:nvSpPr>
          <p:cNvPr id="8" name="矩形 7"/>
          <p:cNvSpPr/>
          <p:nvPr/>
        </p:nvSpPr>
        <p:spPr>
          <a:xfrm>
            <a:off x="7699768" y="1300892"/>
            <a:ext cx="23519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+mn-ea"/>
              </a:rPr>
              <a:t> </a:t>
            </a:r>
            <a:r>
              <a:rPr lang="zh-CN" altLang="en-US" sz="1600" dirty="0">
                <a:latin typeface="+mn-ea"/>
              </a:rPr>
              <a:t>从 </a:t>
            </a:r>
            <a:r>
              <a:rPr lang="en-US" altLang="zh-CN" sz="1600" dirty="0">
                <a:latin typeface="+mn-ea"/>
              </a:rPr>
              <a:t>a [0][7] </a:t>
            </a:r>
            <a:r>
              <a:rPr lang="zh-CN" altLang="en-US" sz="1600" dirty="0">
                <a:latin typeface="+mn-ea"/>
              </a:rPr>
              <a:t>开始预取</a:t>
            </a:r>
            <a:endParaRPr lang="zh-CN" altLang="en-US" sz="1600" dirty="0"/>
          </a:p>
        </p:txBody>
      </p:sp>
      <p:sp>
        <p:nvSpPr>
          <p:cNvPr id="9" name="矩形 8"/>
          <p:cNvSpPr/>
          <p:nvPr/>
        </p:nvSpPr>
        <p:spPr>
          <a:xfrm>
            <a:off x="7369957" y="1790730"/>
            <a:ext cx="428835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+mn-ea"/>
              </a:rPr>
              <a:t>a [0][0] </a:t>
            </a:r>
            <a:r>
              <a:rPr lang="zh-CN" altLang="en-US" sz="1600" dirty="0">
                <a:latin typeface="+mn-ea"/>
              </a:rPr>
              <a:t>至 </a:t>
            </a:r>
            <a:r>
              <a:rPr lang="en-US" altLang="zh-CN" sz="1600" dirty="0">
                <a:latin typeface="+mn-ea"/>
              </a:rPr>
              <a:t>a [0][6]</a:t>
            </a:r>
            <a:r>
              <a:rPr lang="zh-CN" altLang="en-US" sz="1600" dirty="0">
                <a:latin typeface="+mn-ea"/>
              </a:rPr>
              <a:t>可能产生数据访问失效</a:t>
            </a:r>
            <a:endParaRPr lang="zh-CN" altLang="en-US" sz="1600" dirty="0"/>
          </a:p>
        </p:txBody>
      </p:sp>
      <p:sp>
        <p:nvSpPr>
          <p:cNvPr id="10" name="矩形 9"/>
          <p:cNvSpPr/>
          <p:nvPr/>
        </p:nvSpPr>
        <p:spPr>
          <a:xfrm>
            <a:off x="7402707" y="2280568"/>
            <a:ext cx="428835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+mn-ea"/>
              </a:rPr>
              <a:t>b [0][0] </a:t>
            </a:r>
            <a:r>
              <a:rPr lang="zh-CN" altLang="en-US" sz="1600" dirty="0">
                <a:latin typeface="+mn-ea"/>
              </a:rPr>
              <a:t>至 </a:t>
            </a:r>
            <a:r>
              <a:rPr lang="en-US" altLang="zh-CN" sz="1600">
                <a:latin typeface="+mn-ea"/>
              </a:rPr>
              <a:t>b [6][</a:t>
            </a:r>
            <a:r>
              <a:rPr lang="en-US" altLang="zh-CN" sz="1600" dirty="0">
                <a:latin typeface="+mn-ea"/>
              </a:rPr>
              <a:t>0]</a:t>
            </a:r>
            <a:r>
              <a:rPr lang="zh-CN" altLang="en-US" sz="1600" dirty="0">
                <a:latin typeface="+mn-ea"/>
              </a:rPr>
              <a:t>可能产生数据访问失效</a:t>
            </a:r>
            <a:endParaRPr lang="zh-CN" altLang="en-US" sz="1600" dirty="0"/>
          </a:p>
        </p:txBody>
      </p:sp>
      <p:sp>
        <p:nvSpPr>
          <p:cNvPr id="5" name="矩形 4"/>
          <p:cNvSpPr/>
          <p:nvPr/>
        </p:nvSpPr>
        <p:spPr>
          <a:xfrm>
            <a:off x="7699768" y="2835631"/>
            <a:ext cx="29546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+mn-ea"/>
              </a:rPr>
              <a:t>a</a:t>
            </a:r>
            <a:r>
              <a:rPr lang="zh-CN" altLang="en-US" dirty="0">
                <a:solidFill>
                  <a:srgbClr val="000000"/>
                </a:solidFill>
                <a:latin typeface="+mn-ea"/>
              </a:rPr>
              <a:t>失效 </a:t>
            </a:r>
            <a:r>
              <a:rPr lang="en-US" altLang="zh-CN" dirty="0">
                <a:solidFill>
                  <a:srgbClr val="000000"/>
                </a:solidFill>
                <a:latin typeface="+mn-ea"/>
              </a:rPr>
              <a:t>7/2 = 4</a:t>
            </a:r>
            <a:r>
              <a:rPr lang="zh-CN" altLang="en-US" dirty="0">
                <a:solidFill>
                  <a:srgbClr val="000000"/>
                </a:solidFill>
                <a:latin typeface="+mn-ea"/>
              </a:rPr>
              <a:t>； </a:t>
            </a:r>
            <a:r>
              <a:rPr lang="en-US" altLang="zh-CN" dirty="0">
                <a:solidFill>
                  <a:srgbClr val="000000"/>
                </a:solidFill>
                <a:latin typeface="+mn-ea"/>
              </a:rPr>
              <a:t>b</a:t>
            </a:r>
            <a:r>
              <a:rPr lang="zh-CN" altLang="en-US" dirty="0">
                <a:solidFill>
                  <a:srgbClr val="000000"/>
                </a:solidFill>
                <a:latin typeface="+mn-ea"/>
              </a:rPr>
              <a:t>失效</a:t>
            </a:r>
            <a:r>
              <a:rPr lang="en-US" altLang="zh-CN" dirty="0">
                <a:solidFill>
                  <a:srgbClr val="000000"/>
                </a:solidFill>
                <a:latin typeface="+mn-ea"/>
              </a:rPr>
              <a:t>7</a:t>
            </a:r>
            <a:r>
              <a:rPr lang="zh-CN" altLang="en-US" dirty="0">
                <a:solidFill>
                  <a:srgbClr val="000000"/>
                </a:solidFill>
                <a:latin typeface="+mn-ea"/>
              </a:rPr>
              <a:t>次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281281" y="618574"/>
            <a:ext cx="6096000" cy="2605842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lnSpc>
                <a:spcPts val="2800"/>
              </a:lnSpc>
              <a:spcBef>
                <a:spcPts val="0"/>
              </a:spcBef>
              <a:buNone/>
            </a:pPr>
            <a:r>
              <a:rPr lang="en-US" altLang="zh-CN" dirty="0">
                <a:latin typeface="+mn-ea"/>
              </a:rPr>
              <a:t>for </a:t>
            </a:r>
            <a:r>
              <a:rPr lang="zh-CN" altLang="en-US" dirty="0">
                <a:latin typeface="+mn-ea"/>
              </a:rPr>
              <a:t>（ </a:t>
            </a:r>
            <a:r>
              <a:rPr lang="en-US" altLang="zh-CN" dirty="0">
                <a:latin typeface="+mn-ea"/>
              </a:rPr>
              <a:t>j = 0;  j &lt; 100;  j = j+1 </a:t>
            </a:r>
            <a:r>
              <a:rPr lang="zh-CN" altLang="en-US" dirty="0">
                <a:latin typeface="+mn-ea"/>
              </a:rPr>
              <a:t>）  </a:t>
            </a:r>
            <a:r>
              <a:rPr lang="en-US" altLang="zh-CN" dirty="0">
                <a:latin typeface="+mn-ea"/>
              </a:rPr>
              <a:t>{</a:t>
            </a:r>
          </a:p>
          <a:p>
            <a:pPr marL="457200" indent="-457200">
              <a:lnSpc>
                <a:spcPts val="2800"/>
              </a:lnSpc>
              <a:spcBef>
                <a:spcPts val="0"/>
              </a:spcBef>
              <a:buNone/>
            </a:pPr>
            <a:r>
              <a:rPr lang="en-US" altLang="zh-CN" dirty="0">
                <a:latin typeface="+mn-ea"/>
              </a:rPr>
              <a:t>           </a:t>
            </a:r>
            <a:r>
              <a:rPr lang="en-US" altLang="zh-CN" dirty="0" err="1">
                <a:solidFill>
                  <a:srgbClr val="D60093"/>
                </a:solidFill>
                <a:latin typeface="+mn-ea"/>
              </a:rPr>
              <a:t>prefetch</a:t>
            </a:r>
            <a:r>
              <a:rPr lang="en-US" altLang="zh-CN" dirty="0">
                <a:solidFill>
                  <a:srgbClr val="D60093"/>
                </a:solidFill>
                <a:latin typeface="+mn-ea"/>
              </a:rPr>
              <a:t> </a:t>
            </a:r>
            <a:r>
              <a:rPr lang="zh-CN" altLang="en-US" dirty="0">
                <a:solidFill>
                  <a:srgbClr val="D60093"/>
                </a:solidFill>
                <a:latin typeface="+mn-ea"/>
              </a:rPr>
              <a:t>（ </a:t>
            </a:r>
            <a:r>
              <a:rPr lang="en-US" altLang="zh-CN" dirty="0">
                <a:solidFill>
                  <a:srgbClr val="D60093"/>
                </a:solidFill>
                <a:latin typeface="+mn-ea"/>
              </a:rPr>
              <a:t>b[ j+7 ][ 0 ]</a:t>
            </a:r>
            <a:r>
              <a:rPr lang="zh-CN" altLang="en-US" dirty="0">
                <a:solidFill>
                  <a:srgbClr val="D60093"/>
                </a:solidFill>
                <a:latin typeface="+mn-ea"/>
              </a:rPr>
              <a:t>）</a:t>
            </a:r>
            <a:r>
              <a:rPr lang="en-US" altLang="zh-CN" dirty="0">
                <a:solidFill>
                  <a:srgbClr val="D60093"/>
                </a:solidFill>
                <a:latin typeface="+mn-ea"/>
              </a:rPr>
              <a:t>;</a:t>
            </a:r>
            <a:r>
              <a:rPr lang="en-US" altLang="zh-CN" dirty="0">
                <a:latin typeface="+mn-ea"/>
              </a:rPr>
              <a:t>      </a:t>
            </a:r>
          </a:p>
          <a:p>
            <a:pPr marL="457200" indent="-457200">
              <a:lnSpc>
                <a:spcPts val="28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rgbClr val="000000"/>
                </a:solidFill>
                <a:latin typeface="+mn-ea"/>
              </a:rPr>
              <a:t>          /* </a:t>
            </a:r>
            <a:r>
              <a:rPr lang="zh-CN" altLang="en-US" dirty="0">
                <a:solidFill>
                  <a:srgbClr val="000000"/>
                </a:solidFill>
                <a:latin typeface="+mn-ea"/>
              </a:rPr>
              <a:t>预取</a:t>
            </a:r>
            <a:r>
              <a:rPr lang="en-US" altLang="zh-CN" dirty="0">
                <a:solidFill>
                  <a:srgbClr val="000000"/>
                </a:solidFill>
                <a:latin typeface="+mn-ea"/>
              </a:rPr>
              <a:t>7</a:t>
            </a:r>
            <a:r>
              <a:rPr lang="zh-CN" altLang="en-US" dirty="0">
                <a:solidFill>
                  <a:srgbClr val="000000"/>
                </a:solidFill>
                <a:latin typeface="+mn-ea"/>
              </a:rPr>
              <a:t>次循环后所需的</a:t>
            </a:r>
            <a:r>
              <a:rPr lang="en-US" altLang="zh-CN" dirty="0">
                <a:solidFill>
                  <a:srgbClr val="000000"/>
                </a:solidFill>
                <a:latin typeface="+mn-ea"/>
              </a:rPr>
              <a:t>b </a:t>
            </a:r>
            <a:r>
              <a:rPr lang="zh-CN" altLang="en-US" dirty="0">
                <a:solidFill>
                  <a:srgbClr val="000000"/>
                </a:solidFill>
                <a:latin typeface="+mn-ea"/>
              </a:rPr>
              <a:t>（ </a:t>
            </a:r>
            <a:r>
              <a:rPr lang="en-US" altLang="zh-CN" dirty="0">
                <a:solidFill>
                  <a:srgbClr val="000000"/>
                </a:solidFill>
                <a:latin typeface="+mn-ea"/>
              </a:rPr>
              <a:t>j , 0 </a:t>
            </a:r>
            <a:r>
              <a:rPr lang="zh-CN" altLang="en-US" dirty="0">
                <a:solidFill>
                  <a:srgbClr val="000000"/>
                </a:solidFill>
                <a:latin typeface="+mn-ea"/>
              </a:rPr>
              <a:t>） *</a:t>
            </a:r>
            <a:r>
              <a:rPr lang="en-US" altLang="zh-CN" dirty="0">
                <a:solidFill>
                  <a:srgbClr val="000000"/>
                </a:solidFill>
                <a:latin typeface="+mn-ea"/>
              </a:rPr>
              <a:t>/</a:t>
            </a:r>
          </a:p>
          <a:p>
            <a:pPr marL="457200" indent="-457200">
              <a:lnSpc>
                <a:spcPts val="2800"/>
              </a:lnSpc>
              <a:spcBef>
                <a:spcPts val="0"/>
              </a:spcBef>
              <a:buNone/>
            </a:pPr>
            <a:r>
              <a:rPr lang="en-US" altLang="zh-CN" dirty="0">
                <a:latin typeface="+mn-ea"/>
              </a:rPr>
              <a:t>           </a:t>
            </a:r>
            <a:r>
              <a:rPr lang="en-US" altLang="zh-CN" dirty="0" err="1">
                <a:solidFill>
                  <a:srgbClr val="D60093"/>
                </a:solidFill>
                <a:latin typeface="+mn-ea"/>
              </a:rPr>
              <a:t>prefetch</a:t>
            </a:r>
            <a:r>
              <a:rPr lang="en-US" altLang="zh-CN" dirty="0">
                <a:solidFill>
                  <a:srgbClr val="D60093"/>
                </a:solidFill>
                <a:latin typeface="+mn-ea"/>
              </a:rPr>
              <a:t> </a:t>
            </a:r>
            <a:r>
              <a:rPr lang="zh-CN" altLang="en-US" dirty="0">
                <a:solidFill>
                  <a:srgbClr val="D60093"/>
                </a:solidFill>
                <a:latin typeface="+mn-ea"/>
              </a:rPr>
              <a:t>（ </a:t>
            </a:r>
            <a:r>
              <a:rPr lang="en-US" altLang="zh-CN" dirty="0">
                <a:solidFill>
                  <a:srgbClr val="D60093"/>
                </a:solidFill>
                <a:latin typeface="+mn-ea"/>
              </a:rPr>
              <a:t>a[ 0 ][ j+7 ]</a:t>
            </a:r>
            <a:r>
              <a:rPr lang="zh-CN" altLang="en-US" dirty="0">
                <a:solidFill>
                  <a:srgbClr val="D60093"/>
                </a:solidFill>
                <a:latin typeface="+mn-ea"/>
              </a:rPr>
              <a:t>）</a:t>
            </a:r>
            <a:r>
              <a:rPr lang="en-US" altLang="zh-CN" dirty="0">
                <a:solidFill>
                  <a:srgbClr val="D60093"/>
                </a:solidFill>
                <a:latin typeface="+mn-ea"/>
              </a:rPr>
              <a:t>;</a:t>
            </a:r>
            <a:r>
              <a:rPr lang="en-US" altLang="zh-CN" dirty="0">
                <a:latin typeface="+mn-ea"/>
              </a:rPr>
              <a:t>       </a:t>
            </a:r>
          </a:p>
          <a:p>
            <a:pPr marL="457200" indent="-457200">
              <a:lnSpc>
                <a:spcPts val="28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rgbClr val="000000"/>
                </a:solidFill>
                <a:latin typeface="+mn-ea"/>
              </a:rPr>
              <a:t>          /* </a:t>
            </a:r>
            <a:r>
              <a:rPr lang="zh-CN" altLang="en-US" dirty="0">
                <a:solidFill>
                  <a:srgbClr val="000000"/>
                </a:solidFill>
                <a:latin typeface="+mn-ea"/>
              </a:rPr>
              <a:t>预取</a:t>
            </a:r>
            <a:r>
              <a:rPr lang="en-US" altLang="zh-CN" dirty="0">
                <a:solidFill>
                  <a:srgbClr val="000000"/>
                </a:solidFill>
                <a:latin typeface="+mn-ea"/>
              </a:rPr>
              <a:t>7</a:t>
            </a:r>
            <a:r>
              <a:rPr lang="zh-CN" altLang="en-US" dirty="0">
                <a:solidFill>
                  <a:srgbClr val="000000"/>
                </a:solidFill>
                <a:latin typeface="+mn-ea"/>
              </a:rPr>
              <a:t>次循环后所需的</a:t>
            </a:r>
            <a:r>
              <a:rPr lang="en-US" altLang="zh-CN" dirty="0">
                <a:solidFill>
                  <a:srgbClr val="000000"/>
                </a:solidFill>
                <a:latin typeface="+mn-ea"/>
              </a:rPr>
              <a:t>a </a:t>
            </a:r>
            <a:r>
              <a:rPr lang="zh-CN" altLang="en-US" dirty="0">
                <a:solidFill>
                  <a:srgbClr val="000000"/>
                </a:solidFill>
                <a:latin typeface="+mn-ea"/>
              </a:rPr>
              <a:t>（</a:t>
            </a:r>
            <a:r>
              <a:rPr lang="en-US" altLang="zh-CN" dirty="0">
                <a:solidFill>
                  <a:srgbClr val="000000"/>
                </a:solidFill>
                <a:latin typeface="+mn-ea"/>
              </a:rPr>
              <a:t>0 , j </a:t>
            </a:r>
            <a:r>
              <a:rPr lang="zh-CN" altLang="en-US" dirty="0">
                <a:solidFill>
                  <a:srgbClr val="000000"/>
                </a:solidFill>
                <a:latin typeface="+mn-ea"/>
              </a:rPr>
              <a:t>） *</a:t>
            </a:r>
            <a:r>
              <a:rPr lang="en-US" altLang="zh-CN" dirty="0">
                <a:solidFill>
                  <a:srgbClr val="000000"/>
                </a:solidFill>
                <a:latin typeface="+mn-ea"/>
              </a:rPr>
              <a:t>/</a:t>
            </a:r>
          </a:p>
          <a:p>
            <a:pPr marL="457200" indent="-457200">
              <a:lnSpc>
                <a:spcPts val="2800"/>
              </a:lnSpc>
              <a:spcBef>
                <a:spcPts val="0"/>
              </a:spcBef>
              <a:buNone/>
            </a:pPr>
            <a:r>
              <a:rPr lang="en-US" altLang="zh-CN" dirty="0">
                <a:latin typeface="+mn-ea"/>
              </a:rPr>
              <a:t>           a [0][ j ] = b[ j ][ 0 ] * b[ j+1 ][ 0 ]; </a:t>
            </a:r>
          </a:p>
          <a:p>
            <a:pPr marL="457200" indent="-457200">
              <a:lnSpc>
                <a:spcPts val="2800"/>
              </a:lnSpc>
              <a:spcBef>
                <a:spcPts val="0"/>
              </a:spcBef>
              <a:buNone/>
            </a:pPr>
            <a:r>
              <a:rPr lang="en-US" altLang="zh-CN" dirty="0">
                <a:latin typeface="+mn-ea"/>
              </a:rPr>
              <a:t>}</a:t>
            </a:r>
          </a:p>
        </p:txBody>
      </p:sp>
      <p:sp>
        <p:nvSpPr>
          <p:cNvPr id="13" name="矩形 12"/>
          <p:cNvSpPr/>
          <p:nvPr/>
        </p:nvSpPr>
        <p:spPr>
          <a:xfrm>
            <a:off x="7369957" y="4165731"/>
            <a:ext cx="40959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+mn-ea"/>
              </a:rPr>
              <a:t> </a:t>
            </a:r>
            <a:r>
              <a:rPr lang="zh-CN" altLang="en-US" sz="1600" dirty="0">
                <a:latin typeface="+mn-ea"/>
              </a:rPr>
              <a:t>与第一段类似，</a:t>
            </a:r>
            <a:r>
              <a:rPr lang="en-US" altLang="zh-CN" sz="1600" dirty="0">
                <a:latin typeface="+mn-ea"/>
              </a:rPr>
              <a:t>b</a:t>
            </a:r>
            <a:r>
              <a:rPr lang="zh-CN" altLang="en-US" sz="1600" dirty="0">
                <a:latin typeface="+mn-ea"/>
              </a:rPr>
              <a:t>已经无失效，不需要预取</a:t>
            </a:r>
            <a:endParaRPr lang="zh-CN" altLang="en-US" sz="1600" dirty="0"/>
          </a:p>
        </p:txBody>
      </p:sp>
      <p:sp>
        <p:nvSpPr>
          <p:cNvPr id="14" name="矩形 13"/>
          <p:cNvSpPr/>
          <p:nvPr/>
        </p:nvSpPr>
        <p:spPr>
          <a:xfrm>
            <a:off x="7524552" y="4706113"/>
            <a:ext cx="397916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一次循环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a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失效 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7/2 = 4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，两次循环共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8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次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096403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5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5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5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5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5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95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5" grpId="0" build="p"/>
      <p:bldP spid="4" grpId="0"/>
      <p:bldP spid="7" grpId="0"/>
      <p:bldP spid="8" grpId="0"/>
      <p:bldP spid="9" grpId="0"/>
      <p:bldP spid="10" grpId="0"/>
      <p:bldP spid="5" grpId="0"/>
      <p:bldP spid="6" grpId="0"/>
      <p:bldP spid="13" grpId="0"/>
      <p:bldP spid="1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57199" y="723901"/>
            <a:ext cx="8162925" cy="4952999"/>
          </a:xfrm>
        </p:spPr>
        <p:txBody>
          <a:bodyPr/>
          <a:lstStyle/>
          <a:p>
            <a:pPr marL="628650" indent="-457200">
              <a:lnSpc>
                <a:spcPts val="2800"/>
              </a:lnSpc>
            </a:pPr>
            <a:r>
              <a:rPr lang="zh-CN" altLang="en-US" sz="2000" dirty="0"/>
              <a:t>按照预取数据所放的位置，可把预取分为两种类型：</a:t>
            </a:r>
          </a:p>
          <a:p>
            <a:pPr marL="1085850" lvl="1" indent="-457200">
              <a:lnSpc>
                <a:spcPts val="2800"/>
              </a:lnSpc>
            </a:pPr>
            <a:r>
              <a:rPr lang="zh-CN" altLang="en-US" sz="2000" dirty="0">
                <a:latin typeface="黑体" panose="02010609060101010101" pitchFamily="49" charset="-122"/>
              </a:rPr>
              <a:t>寄存器预取：把数据取到寄存器中。</a:t>
            </a:r>
          </a:p>
          <a:p>
            <a:pPr marL="1085850" lvl="1" indent="-457200">
              <a:lnSpc>
                <a:spcPts val="2800"/>
              </a:lnSpc>
            </a:pPr>
            <a:r>
              <a:rPr lang="en-US" altLang="zh-CN" sz="2000" dirty="0">
                <a:latin typeface="黑体" panose="02010609060101010101" pitchFamily="49" charset="-122"/>
              </a:rPr>
              <a:t>Cache</a:t>
            </a:r>
            <a:r>
              <a:rPr lang="zh-CN" altLang="en-US" sz="2000" dirty="0">
                <a:latin typeface="黑体" panose="02010609060101010101" pitchFamily="49" charset="-122"/>
              </a:rPr>
              <a:t>预取：只将数据取到</a:t>
            </a:r>
            <a:r>
              <a:rPr lang="en-US" altLang="zh-CN" sz="2000" dirty="0">
                <a:latin typeface="黑体" panose="02010609060101010101" pitchFamily="49" charset="-122"/>
              </a:rPr>
              <a:t>Cache</a:t>
            </a:r>
            <a:r>
              <a:rPr lang="zh-CN" altLang="en-US" sz="2000" dirty="0">
                <a:latin typeface="黑体" panose="02010609060101010101" pitchFamily="49" charset="-122"/>
              </a:rPr>
              <a:t>中。</a:t>
            </a:r>
          </a:p>
          <a:p>
            <a:pPr marL="628650" indent="-457200">
              <a:lnSpc>
                <a:spcPts val="2800"/>
              </a:lnSpc>
            </a:pPr>
            <a:r>
              <a:rPr lang="zh-CN" altLang="en-US" sz="2000" dirty="0"/>
              <a:t>按照预取的处理方式不同，可把预取分为：</a:t>
            </a:r>
          </a:p>
          <a:p>
            <a:pPr marL="1085850" lvl="1" indent="-457200">
              <a:lnSpc>
                <a:spcPts val="2800"/>
              </a:lnSpc>
            </a:pPr>
            <a:r>
              <a:rPr lang="zh-CN" altLang="en-US" sz="2000" dirty="0"/>
              <a:t>故障性预取：在预取时，若出现虚地址故障或违反保护权限，就会发生异常。</a:t>
            </a:r>
            <a:endParaRPr lang="en-US" altLang="zh-CN" sz="2000" dirty="0"/>
          </a:p>
          <a:p>
            <a:pPr marL="1085850" lvl="1" indent="-457200">
              <a:lnSpc>
                <a:spcPts val="2800"/>
              </a:lnSpc>
            </a:pPr>
            <a:r>
              <a:rPr lang="zh-CN" altLang="en-US" sz="2000" dirty="0"/>
              <a:t>非故障性预取：在遇到这种情况时则不会发生异常，因为这时它会放弃预取，转变为空操作。</a:t>
            </a:r>
            <a:r>
              <a:rPr lang="zh-CN" altLang="en-US" sz="2000" dirty="0">
                <a:latin typeface="宋体" panose="02010600030101010101" pitchFamily="2" charset="-122"/>
              </a:rPr>
              <a:t>本节假定</a:t>
            </a:r>
            <a:r>
              <a:rPr lang="en-US" altLang="zh-CN" sz="2000" dirty="0">
                <a:latin typeface="宋体" panose="02010600030101010101" pitchFamily="2" charset="-122"/>
              </a:rPr>
              <a:t>Cache</a:t>
            </a:r>
            <a:r>
              <a:rPr lang="zh-CN" altLang="en-US" sz="2000" dirty="0">
                <a:latin typeface="宋体" panose="02010600030101010101" pitchFamily="2" charset="-122"/>
              </a:rPr>
              <a:t>预取都是非故障性的，也叫做非绑定预取。</a:t>
            </a:r>
          </a:p>
          <a:p>
            <a:pPr marL="1085850" lvl="1" indent="-457200"/>
            <a:endParaRPr lang="zh-CN" altLang="en-US" dirty="0"/>
          </a:p>
          <a:p>
            <a:pPr marL="1085850" lvl="1" indent="-457200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922936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47675" y="419100"/>
            <a:ext cx="8077200" cy="6210300"/>
          </a:xfrm>
        </p:spPr>
        <p:txBody>
          <a:bodyPr>
            <a:normAutofit/>
          </a:bodyPr>
          <a:lstStyle/>
          <a:p>
            <a:pPr marL="628650" indent="-457200">
              <a:lnSpc>
                <a:spcPts val="2800"/>
              </a:lnSpc>
            </a:pPr>
            <a:r>
              <a:rPr lang="zh-CN" altLang="en-US" sz="2000" dirty="0"/>
              <a:t>在预取数据的同时，处理器应能继续执行。</a:t>
            </a:r>
          </a:p>
          <a:p>
            <a:pPr marL="1085850" lvl="1" indent="-457200">
              <a:buNone/>
            </a:pPr>
            <a:r>
              <a:rPr lang="zh-CN" altLang="en-US" sz="2000" dirty="0"/>
              <a:t>    只有这样，预取才有意义。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latin typeface="宋体" panose="02010600030101010101" pitchFamily="2" charset="-122"/>
              </a:rPr>
              <a:t>  非阻塞</a:t>
            </a:r>
            <a:r>
              <a:rPr lang="en-US" altLang="zh-CN" dirty="0">
                <a:latin typeface="宋体" panose="02010600030101010101" pitchFamily="2" charset="-122"/>
              </a:rPr>
              <a:t>Cache (</a:t>
            </a:r>
            <a:r>
              <a:rPr lang="zh-CN" altLang="en-US" dirty="0">
                <a:latin typeface="宋体" panose="02010600030101010101" pitchFamily="2" charset="-122"/>
              </a:rPr>
              <a:t>非锁定</a:t>
            </a:r>
            <a:r>
              <a:rPr lang="en-US" altLang="zh-CN" dirty="0">
                <a:latin typeface="宋体" panose="02010600030101010101" pitchFamily="2" charset="-122"/>
              </a:rPr>
              <a:t>Cache)</a:t>
            </a:r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</a:rPr>
              <a:t> </a:t>
            </a:r>
          </a:p>
          <a:p>
            <a:pPr marL="628650" indent="-457200">
              <a:lnSpc>
                <a:spcPts val="2800"/>
              </a:lnSpc>
            </a:pPr>
            <a:r>
              <a:rPr lang="zh-CN" altLang="en-US" sz="2000" dirty="0"/>
              <a:t>编译器控制预取的目的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   使执行指令和读取数据能重叠执行。 </a:t>
            </a:r>
          </a:p>
          <a:p>
            <a:pPr marL="628650" indent="-457200">
              <a:lnSpc>
                <a:spcPts val="2800"/>
              </a:lnSpc>
            </a:pPr>
            <a:r>
              <a:rPr lang="zh-CN" altLang="en-US" sz="2000" dirty="0"/>
              <a:t>循环是预取优化的主要对象</a:t>
            </a:r>
            <a:endParaRPr lang="en-US" altLang="zh-CN" sz="2000" dirty="0"/>
          </a:p>
          <a:p>
            <a:pPr lvl="2">
              <a:lnSpc>
                <a:spcPct val="100000"/>
              </a:lnSpc>
            </a:pPr>
            <a:r>
              <a:rPr lang="zh-CN" altLang="en-US" dirty="0"/>
              <a:t>不命中开销小时：循环体展开</a:t>
            </a:r>
            <a:r>
              <a:rPr lang="en-US" altLang="zh-CN" dirty="0"/>
              <a:t>1</a:t>
            </a:r>
            <a:r>
              <a:rPr lang="zh-CN" altLang="en-US" dirty="0"/>
              <a:t>～</a:t>
            </a:r>
            <a:r>
              <a:rPr lang="en-US" altLang="zh-CN" dirty="0"/>
              <a:t>2</a:t>
            </a:r>
            <a:r>
              <a:rPr lang="zh-CN" altLang="en-US" dirty="0"/>
              <a:t>次</a:t>
            </a:r>
          </a:p>
          <a:p>
            <a:pPr lvl="2">
              <a:lnSpc>
                <a:spcPct val="100000"/>
              </a:lnSpc>
            </a:pPr>
            <a:r>
              <a:rPr lang="zh-CN" altLang="en-US" dirty="0"/>
              <a:t>不命中开销大时：循环体展开许多次</a:t>
            </a:r>
          </a:p>
          <a:p>
            <a:pPr marL="628650" indent="-457200">
              <a:lnSpc>
                <a:spcPts val="2800"/>
              </a:lnSpc>
            </a:pPr>
            <a:r>
              <a:rPr lang="zh-CN" altLang="en-US" sz="2000" dirty="0"/>
              <a:t>每次预取需要花费一条指令的开销</a:t>
            </a:r>
          </a:p>
          <a:p>
            <a:pPr lvl="2">
              <a:lnSpc>
                <a:spcPct val="100000"/>
              </a:lnSpc>
            </a:pPr>
            <a:r>
              <a:rPr lang="zh-CN" altLang="en-US" dirty="0"/>
              <a:t>保证这种开销不超过预取所带来的收益</a:t>
            </a:r>
          </a:p>
          <a:p>
            <a:pPr lvl="2">
              <a:lnSpc>
                <a:spcPct val="100000"/>
              </a:lnSpc>
            </a:pPr>
            <a:r>
              <a:rPr lang="zh-CN" altLang="en-US" dirty="0"/>
              <a:t>编译器可以通过把重点放在那些可能会导致不命中的访问上，使程序避免不必要的预取，从而较大程度地减少平均访存时间。</a:t>
            </a:r>
          </a:p>
          <a:p>
            <a:pPr marL="628650" indent="-457200">
              <a:lnSpc>
                <a:spcPts val="2800"/>
              </a:lnSpc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3384443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00049" y="719136"/>
            <a:ext cx="9667875" cy="6138863"/>
          </a:xfrm>
        </p:spPr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zh-CN" altLang="en-US" sz="2200" dirty="0"/>
              <a:t>基本思想：</a:t>
            </a:r>
            <a:r>
              <a:rPr lang="zh-CN" altLang="en-US" sz="2200" dirty="0">
                <a:solidFill>
                  <a:schemeClr val="tx1"/>
                </a:solidFill>
              </a:rPr>
              <a:t>通过对软件进行优化来降低不命中率。</a:t>
            </a:r>
          </a:p>
          <a:p>
            <a:pPr marL="457200" indent="-457200">
              <a:lnSpc>
                <a:spcPts val="2800"/>
              </a:lnSpc>
              <a:buNone/>
            </a:pPr>
            <a:r>
              <a:rPr lang="zh-CN" altLang="en-US" sz="2200" dirty="0">
                <a:solidFill>
                  <a:schemeClr val="tx1"/>
                </a:solidFill>
              </a:rPr>
              <a:t>            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zh-CN" altLang="en-US" sz="2000" b="1" dirty="0">
                <a:solidFill>
                  <a:srgbClr val="D6009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特色：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无需对硬件做任何改动）</a:t>
            </a:r>
          </a:p>
          <a:p>
            <a:pPr>
              <a:lnSpc>
                <a:spcPts val="2800"/>
              </a:lnSpc>
            </a:pPr>
            <a:r>
              <a:rPr lang="zh-CN" altLang="en-US" sz="2200" dirty="0"/>
              <a:t>程序代码和数据重组</a:t>
            </a:r>
          </a:p>
          <a:p>
            <a:pPr marL="895350" lvl="1" indent="-266700">
              <a:lnSpc>
                <a:spcPts val="2800"/>
              </a:lnSpc>
            </a:pPr>
            <a:r>
              <a:rPr lang="zh-CN" altLang="en-US" sz="2000" dirty="0"/>
              <a:t>可以重新组织程序而不影响程序的正确性</a:t>
            </a:r>
          </a:p>
          <a:p>
            <a:pPr lvl="2" eaLnBrk="1" hangingPunct="1">
              <a:lnSpc>
                <a:spcPts val="28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把一个程序中的过程重新排序，就可能会减少冲突不命中，从而降低指令不命中率。</a:t>
            </a:r>
          </a:p>
          <a:p>
            <a:pPr lvl="3" eaLnBrk="1" hangingPunct="1">
              <a:lnSpc>
                <a:spcPts val="2800"/>
              </a:lnSpc>
            </a:pPr>
            <a:r>
              <a:rPr lang="en-US" altLang="zh-CN" sz="2000" dirty="0" err="1">
                <a:latin typeface="Times New Roman" panose="02020603050405020304" pitchFamily="18" charset="0"/>
              </a:rPr>
              <a:t>McFarling</a:t>
            </a:r>
            <a:r>
              <a:rPr lang="zh-CN" altLang="en-US" sz="2000" dirty="0">
                <a:latin typeface="Times New Roman" panose="02020603050405020304" pitchFamily="18" charset="0"/>
              </a:rPr>
              <a:t>研究了如何使用配置文件（</a:t>
            </a:r>
            <a:r>
              <a:rPr lang="en-US" altLang="zh-CN" sz="2000" dirty="0">
                <a:latin typeface="Times New Roman" panose="02020603050405020304" pitchFamily="18" charset="0"/>
              </a:rPr>
              <a:t>profile</a:t>
            </a:r>
            <a:r>
              <a:rPr lang="zh-CN" altLang="en-US" sz="2000" dirty="0">
                <a:latin typeface="Times New Roman" panose="02020603050405020304" pitchFamily="18" charset="0"/>
              </a:rPr>
              <a:t>）来进行这种优化。</a:t>
            </a:r>
          </a:p>
          <a:p>
            <a:pPr lvl="2" eaLnBrk="1" hangingPunct="1">
              <a:lnSpc>
                <a:spcPts val="28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把基本块对齐，使得程序的入口点与</a:t>
            </a:r>
            <a:r>
              <a:rPr lang="en-US" altLang="zh-CN" dirty="0">
                <a:latin typeface="Times New Roman" panose="02020603050405020304" pitchFamily="18" charset="0"/>
              </a:rPr>
              <a:t>Cache</a:t>
            </a:r>
            <a:r>
              <a:rPr lang="zh-CN" altLang="en-US" dirty="0">
                <a:latin typeface="Times New Roman" panose="02020603050405020304" pitchFamily="18" charset="0"/>
              </a:rPr>
              <a:t>块的起始位置对齐，就可以减少顺序代码执行时所发生的</a:t>
            </a:r>
            <a:r>
              <a:rPr lang="en-US" altLang="zh-CN" dirty="0">
                <a:latin typeface="Times New Roman" panose="02020603050405020304" pitchFamily="18" charset="0"/>
              </a:rPr>
              <a:t>Cache</a:t>
            </a:r>
            <a:r>
              <a:rPr lang="zh-CN" altLang="en-US" dirty="0">
                <a:latin typeface="Times New Roman" panose="02020603050405020304" pitchFamily="18" charset="0"/>
              </a:rPr>
              <a:t>不命中的可能性。 </a:t>
            </a:r>
          </a:p>
          <a:p>
            <a:pPr marL="895350" lvl="1" indent="-266700">
              <a:lnSpc>
                <a:spcPts val="2800"/>
              </a:lnSpc>
            </a:pPr>
            <a:r>
              <a:rPr lang="zh-CN" altLang="en-US" sz="2000" dirty="0"/>
              <a:t>如果编译器知道一个分支指令很可能会成功转移，那么它就可以通过以下两步来改善</a:t>
            </a:r>
            <a:r>
              <a:rPr lang="zh-CN" altLang="en-US" sz="2000" b="1" dirty="0"/>
              <a:t>空间局部性</a:t>
            </a:r>
            <a:r>
              <a:rPr lang="zh-CN" altLang="en-US" sz="2000" dirty="0"/>
              <a:t>：</a:t>
            </a:r>
          </a:p>
          <a:p>
            <a:pPr lvl="2">
              <a:lnSpc>
                <a:spcPts val="2800"/>
              </a:lnSpc>
            </a:pPr>
            <a:r>
              <a:rPr lang="zh-CN" altLang="en-US" dirty="0"/>
              <a:t>将转移目标处的基本块和紧跟着该分支指令后的基本块进行对调；</a:t>
            </a:r>
          </a:p>
          <a:p>
            <a:pPr lvl="2">
              <a:lnSpc>
                <a:spcPts val="2800"/>
              </a:lnSpc>
            </a:pPr>
            <a:r>
              <a:rPr lang="zh-CN" altLang="en-US" dirty="0"/>
              <a:t>把该分支指令换为操作语义相反的分支指令。</a:t>
            </a:r>
          </a:p>
          <a:p>
            <a:pPr marL="895350" lvl="1" indent="-266700">
              <a:lnSpc>
                <a:spcPts val="2800"/>
              </a:lnSpc>
            </a:pPr>
            <a:r>
              <a:rPr lang="zh-CN" altLang="en-US" sz="2000" dirty="0"/>
              <a:t>数据对存储位置的限制更少，更便于调整顺序。 </a:t>
            </a:r>
          </a:p>
          <a:p>
            <a:pPr lvl="2" eaLnBrk="1" hangingPunct="1">
              <a:lnSpc>
                <a:spcPts val="2800"/>
              </a:lnSpc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0"/>
            <a:ext cx="34163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+mn-ea"/>
              </a:rPr>
              <a:t>方法七：编译器优化</a:t>
            </a:r>
            <a:endParaRPr lang="en-US" altLang="zh-CN" sz="2800" dirty="0">
              <a:latin typeface="+mn-ea"/>
            </a:endParaRPr>
          </a:p>
        </p:txBody>
      </p:sp>
      <p:sp>
        <p:nvSpPr>
          <p:cNvPr id="2" name="矩形标注 1"/>
          <p:cNvSpPr/>
          <p:nvPr/>
        </p:nvSpPr>
        <p:spPr>
          <a:xfrm>
            <a:off x="9610723" y="4888870"/>
            <a:ext cx="2493759" cy="860079"/>
          </a:xfrm>
          <a:prstGeom prst="wedgeRectCallout">
            <a:avLst>
              <a:gd name="adj1" fmla="val -77120"/>
              <a:gd name="adj2" fmla="val 3484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这两点都是使得大概率执行的代码段放在分支失败处</a:t>
            </a:r>
          </a:p>
        </p:txBody>
      </p:sp>
    </p:spTree>
    <p:extLst>
      <p:ext uri="{BB962C8B-B14F-4D97-AF65-F5344CB8AC3E}">
        <p14:creationId xmlns:p14="http://schemas.microsoft.com/office/powerpoint/2010/main" val="13713208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0" y="603063"/>
            <a:ext cx="10515600" cy="5508625"/>
          </a:xfrm>
        </p:spPr>
        <p:txBody>
          <a:bodyPr>
            <a:normAutofit/>
          </a:bodyPr>
          <a:lstStyle/>
          <a:p>
            <a:pPr marL="1085850" lvl="1" indent="-457200">
              <a:lnSpc>
                <a:spcPct val="150000"/>
              </a:lnSpc>
            </a:pPr>
            <a:r>
              <a:rPr lang="zh-CN" altLang="en-US" sz="2200" dirty="0"/>
              <a:t>编译优化技术包括</a:t>
            </a:r>
          </a:p>
          <a:p>
            <a:pPr marL="914400" lvl="2" indent="0" eaLnBrk="1" hangingPunct="1">
              <a:lnSpc>
                <a:spcPct val="150000"/>
              </a:lnSpc>
              <a:buNone/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）数组合并</a:t>
            </a:r>
          </a:p>
          <a:p>
            <a:pPr marL="914400" lvl="2" indent="0" eaLnBrk="1" hangingPunct="1">
              <a:lnSpc>
                <a:spcPct val="150000"/>
              </a:lnSpc>
              <a:buNone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）内外循环交换</a:t>
            </a:r>
          </a:p>
          <a:p>
            <a:pPr marL="914400" lvl="2" indent="0" eaLnBrk="1" hangingPunct="1">
              <a:lnSpc>
                <a:spcPct val="150000"/>
              </a:lnSpc>
              <a:buNone/>
            </a:pP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）循环融合</a:t>
            </a:r>
          </a:p>
          <a:p>
            <a:pPr marL="914400" lvl="2" indent="0" eaLnBrk="1" hangingPunct="1">
              <a:lnSpc>
                <a:spcPct val="150000"/>
              </a:lnSpc>
              <a:buNone/>
            </a:pPr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）分块</a:t>
            </a:r>
          </a:p>
          <a:p>
            <a:pPr marL="457200" indent="-457200">
              <a:lnSpc>
                <a:spcPct val="150000"/>
              </a:lnSpc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03909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82555" y="2668554"/>
            <a:ext cx="5159829" cy="4058817"/>
          </a:xfrm>
        </p:spPr>
        <p:txBody>
          <a:bodyPr>
            <a:noAutofit/>
          </a:bodyPr>
          <a:lstStyle/>
          <a:p>
            <a:pPr marL="0" indent="0">
              <a:lnSpc>
                <a:spcPts val="3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D60093"/>
                </a:solidFill>
              </a:rPr>
              <a:t> </a:t>
            </a:r>
            <a:r>
              <a:rPr lang="zh-CN" altLang="en-US" sz="2000" dirty="0">
                <a:solidFill>
                  <a:schemeClr val="tx1"/>
                </a:solidFill>
              </a:rPr>
              <a:t>                  </a:t>
            </a:r>
          </a:p>
          <a:p>
            <a:pPr marL="457200" indent="168275">
              <a:lnSpc>
                <a:spcPts val="3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/* </a:t>
            </a:r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修改前 *</a:t>
            </a: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/</a:t>
            </a:r>
          </a:p>
          <a:p>
            <a:pPr marL="457200" indent="168275">
              <a:lnSpc>
                <a:spcPts val="3000"/>
              </a:lnSpc>
              <a:spcBef>
                <a:spcPts val="0"/>
              </a:spcBef>
              <a:buNone/>
            </a:pPr>
            <a:r>
              <a:rPr lang="en-US" altLang="zh-CN" sz="2000" dirty="0" err="1">
                <a:solidFill>
                  <a:srgbClr val="000000"/>
                </a:solidFill>
                <a:latin typeface="+mn-ea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 x[100];</a:t>
            </a:r>
          </a:p>
          <a:p>
            <a:pPr marL="457200" indent="168275">
              <a:lnSpc>
                <a:spcPts val="3000"/>
              </a:lnSpc>
              <a:spcBef>
                <a:spcPts val="0"/>
              </a:spcBef>
              <a:buNone/>
            </a:pPr>
            <a:r>
              <a:rPr lang="en-US" altLang="zh-CN" sz="2000" dirty="0" err="1">
                <a:solidFill>
                  <a:srgbClr val="000000"/>
                </a:solidFill>
                <a:latin typeface="+mn-ea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 y[100];</a:t>
            </a:r>
          </a:p>
          <a:p>
            <a:pPr marL="457200" indent="168275">
              <a:lnSpc>
                <a:spcPts val="3000"/>
              </a:lnSpc>
              <a:spcBef>
                <a:spcPts val="0"/>
              </a:spcBef>
              <a:buNone/>
            </a:pPr>
            <a:endParaRPr lang="en-US" altLang="zh-CN" sz="2000" dirty="0">
              <a:solidFill>
                <a:srgbClr val="000000"/>
              </a:solidFill>
              <a:latin typeface="+mn-ea"/>
            </a:endParaRPr>
          </a:p>
          <a:p>
            <a:pPr marL="457200" indent="168275">
              <a:lnSpc>
                <a:spcPts val="3000"/>
              </a:lnSpc>
              <a:spcBef>
                <a:spcPts val="0"/>
              </a:spcBef>
              <a:buNone/>
            </a:pP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  若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x[</a:t>
            </a:r>
            <a:r>
              <a:rPr lang="en-US" altLang="zh-CN" sz="2000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]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和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y[</a:t>
            </a:r>
            <a:r>
              <a:rPr lang="en-US" altLang="zh-CN" sz="2000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]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经常一起访问</a:t>
            </a:r>
            <a:endParaRPr lang="en-US" altLang="zh-CN" sz="2000" dirty="0">
              <a:solidFill>
                <a:srgbClr val="000000"/>
              </a:solidFill>
              <a:latin typeface="+mn-ea"/>
            </a:endParaRPr>
          </a:p>
          <a:p>
            <a:pPr marL="457200" indent="168275">
              <a:lnSpc>
                <a:spcPts val="3000"/>
              </a:lnSpc>
              <a:spcBef>
                <a:spcPts val="0"/>
              </a:spcBef>
              <a:buNone/>
            </a:pPr>
            <a:endParaRPr lang="en-US" altLang="zh-CN" sz="20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55131" y="244548"/>
            <a:ext cx="11836869" cy="9629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3">
              <a:lnSpc>
                <a:spcPct val="150000"/>
              </a:lnSpc>
            </a:pPr>
            <a:r>
              <a:rPr lang="zh-CN" altLang="en-US" sz="2000" dirty="0"/>
              <a:t>（</a:t>
            </a:r>
            <a:r>
              <a:rPr lang="en-US" altLang="zh-CN" sz="2000" dirty="0"/>
              <a:t>1</a:t>
            </a:r>
            <a:r>
              <a:rPr lang="zh-CN" altLang="en-US" sz="2000" dirty="0"/>
              <a:t>）数组合并</a:t>
            </a:r>
            <a:endParaRPr lang="en-US" altLang="zh-CN" sz="2000" dirty="0"/>
          </a:p>
          <a:p>
            <a:pPr marL="0" lvl="3">
              <a:lnSpc>
                <a:spcPct val="150000"/>
              </a:lnSpc>
            </a:pPr>
            <a:r>
              <a:rPr lang="zh-CN" altLang="en-US" sz="2000" b="1" dirty="0">
                <a:latin typeface="Times New Roman" panose="02020603050405020304" pitchFamily="18" charset="0"/>
              </a:rPr>
              <a:t>        基本思想</a:t>
            </a:r>
            <a:r>
              <a:rPr lang="en-US" altLang="zh-CN" sz="2000" b="1" dirty="0">
                <a:latin typeface="Times New Roman" panose="02020603050405020304" pitchFamily="18" charset="0"/>
              </a:rPr>
              <a:t>:   </a:t>
            </a:r>
            <a:r>
              <a:rPr lang="zh-CN" altLang="en-US" sz="2000" dirty="0"/>
              <a:t>将本来相互独立的多个数组合并成为一个复合数组，以提高访问它们的局部性。</a:t>
            </a:r>
          </a:p>
        </p:txBody>
      </p:sp>
      <p:sp>
        <p:nvSpPr>
          <p:cNvPr id="4" name="矩形 3"/>
          <p:cNvSpPr/>
          <p:nvPr/>
        </p:nvSpPr>
        <p:spPr>
          <a:xfrm>
            <a:off x="133695" y="2191500"/>
            <a:ext cx="87716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3000"/>
              </a:lnSpc>
            </a:pPr>
            <a:r>
              <a:rPr lang="zh-CN" altLang="en-US" dirty="0">
                <a:solidFill>
                  <a:srgbClr val="D60093"/>
                </a:solidFill>
              </a:rPr>
              <a:t>举例：</a:t>
            </a:r>
            <a:endParaRPr lang="en-US" altLang="zh-CN" dirty="0">
              <a:solidFill>
                <a:srgbClr val="D60093"/>
              </a:solidFill>
            </a:endParaRPr>
          </a:p>
        </p:txBody>
      </p:sp>
      <p:sp>
        <p:nvSpPr>
          <p:cNvPr id="7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5791244" y="2489852"/>
            <a:ext cx="5159829" cy="40588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rgbClr val="D60093"/>
                </a:solidFill>
              </a:rPr>
              <a:t> </a:t>
            </a:r>
            <a:r>
              <a:rPr lang="zh-CN" altLang="en-US" sz="2000" dirty="0"/>
              <a:t>                  </a:t>
            </a:r>
          </a:p>
          <a:p>
            <a:pPr marL="457200" indent="168275">
              <a:lnSpc>
                <a:spcPts val="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2000" dirty="0">
                <a:latin typeface="+mn-ea"/>
              </a:rPr>
              <a:t>/* </a:t>
            </a:r>
            <a:r>
              <a:rPr lang="zh-CN" altLang="en-US" sz="2000" dirty="0">
                <a:latin typeface="+mn-ea"/>
              </a:rPr>
              <a:t>修改后 *</a:t>
            </a:r>
            <a:r>
              <a:rPr lang="en-US" altLang="zh-CN" sz="2000" dirty="0">
                <a:latin typeface="+mn-ea"/>
              </a:rPr>
              <a:t>/</a:t>
            </a:r>
          </a:p>
          <a:p>
            <a:pPr marL="457200" indent="168275">
              <a:lnSpc>
                <a:spcPts val="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2000" dirty="0" err="1">
                <a:solidFill>
                  <a:srgbClr val="000000"/>
                </a:solidFill>
                <a:latin typeface="+mn-ea"/>
              </a:rPr>
              <a:t>struct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 merge{</a:t>
            </a:r>
          </a:p>
          <a:p>
            <a:pPr marL="457200" indent="168275">
              <a:lnSpc>
                <a:spcPts val="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    </a:t>
            </a:r>
            <a:r>
              <a:rPr lang="en-US" altLang="zh-CN" sz="2000" dirty="0" err="1">
                <a:solidFill>
                  <a:srgbClr val="000000"/>
                </a:solidFill>
                <a:latin typeface="+mn-ea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 x;</a:t>
            </a:r>
          </a:p>
          <a:p>
            <a:pPr marL="457200" indent="168275">
              <a:lnSpc>
                <a:spcPts val="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    </a:t>
            </a:r>
            <a:r>
              <a:rPr lang="en-US" altLang="zh-CN" sz="2000" dirty="0" err="1">
                <a:solidFill>
                  <a:srgbClr val="000000"/>
                </a:solidFill>
                <a:latin typeface="+mn-ea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 y;</a:t>
            </a:r>
          </a:p>
          <a:p>
            <a:pPr marL="457200" indent="168275">
              <a:lnSpc>
                <a:spcPts val="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};</a:t>
            </a:r>
          </a:p>
          <a:p>
            <a:pPr marL="457200" indent="168275">
              <a:lnSpc>
                <a:spcPts val="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2000" dirty="0" err="1">
                <a:solidFill>
                  <a:srgbClr val="000000"/>
                </a:solidFill>
                <a:latin typeface="+mn-ea"/>
              </a:rPr>
              <a:t>struct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 merge </a:t>
            </a:r>
            <a:r>
              <a:rPr lang="en-US" altLang="zh-CN" sz="2000" dirty="0" err="1">
                <a:solidFill>
                  <a:srgbClr val="000000"/>
                </a:solidFill>
                <a:latin typeface="+mn-ea"/>
              </a:rPr>
              <a:t>merged_array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[100];</a:t>
            </a:r>
          </a:p>
          <a:p>
            <a:pPr marL="457200" indent="168275">
              <a:lnSpc>
                <a:spcPts val="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CN" sz="2000" dirty="0">
              <a:solidFill>
                <a:srgbClr val="0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850907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04136" y="1810870"/>
            <a:ext cx="7415213" cy="2788024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zh-CN" altLang="en-US" sz="2000" dirty="0">
                <a:solidFill>
                  <a:srgbClr val="D60093"/>
                </a:solidFill>
              </a:rPr>
              <a:t>举例：</a:t>
            </a:r>
            <a:r>
              <a:rPr lang="zh-CN" altLang="en-US" sz="2000" dirty="0">
                <a:solidFill>
                  <a:schemeClr val="tx1"/>
                </a:solidFill>
              </a:rPr>
              <a:t>                  </a:t>
            </a:r>
          </a:p>
          <a:p>
            <a:pPr marL="457200" indent="-457200">
              <a:lnSpc>
                <a:spcPct val="110000"/>
              </a:lnSpc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              </a:t>
            </a:r>
            <a:r>
              <a:rPr lang="en-US" altLang="zh-CN" sz="2000" dirty="0">
                <a:solidFill>
                  <a:schemeClr val="tx1"/>
                </a:solidFill>
              </a:rPr>
              <a:t>/* </a:t>
            </a:r>
            <a:r>
              <a:rPr lang="zh-CN" altLang="en-US" sz="2000" dirty="0">
                <a:solidFill>
                  <a:schemeClr val="tx1"/>
                </a:solidFill>
              </a:rPr>
              <a:t>修改前 *</a:t>
            </a:r>
            <a:r>
              <a:rPr lang="en-US" altLang="zh-CN" sz="2000" dirty="0">
                <a:solidFill>
                  <a:schemeClr val="tx1"/>
                </a:solidFill>
              </a:rPr>
              <a:t>/</a:t>
            </a: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0000"/>
                </a:solidFill>
              </a:rPr>
              <a:t>                   for </a:t>
            </a:r>
            <a:r>
              <a:rPr lang="zh-CN" altLang="en-US" sz="2000" dirty="0">
                <a:solidFill>
                  <a:srgbClr val="000000"/>
                </a:solidFill>
              </a:rPr>
              <a:t>（ </a:t>
            </a:r>
            <a:r>
              <a:rPr lang="en-US" altLang="zh-CN" sz="2000" dirty="0">
                <a:solidFill>
                  <a:srgbClr val="000000"/>
                </a:solidFill>
              </a:rPr>
              <a:t>j = 0 ;  j &lt; 100 ;  j = j+1 </a:t>
            </a:r>
            <a:r>
              <a:rPr lang="zh-CN" altLang="en-US" sz="2000" dirty="0">
                <a:solidFill>
                  <a:srgbClr val="000000"/>
                </a:solidFill>
              </a:rPr>
              <a:t>）</a:t>
            </a: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>
                <a:solidFill>
                  <a:srgbClr val="000000"/>
                </a:solidFill>
              </a:rPr>
              <a:t>                       </a:t>
            </a:r>
            <a:r>
              <a:rPr lang="en-US" altLang="zh-CN" sz="2000" dirty="0">
                <a:solidFill>
                  <a:srgbClr val="000000"/>
                </a:solidFill>
              </a:rPr>
              <a:t>for </a:t>
            </a:r>
            <a:r>
              <a:rPr lang="zh-CN" altLang="en-US" sz="2000" dirty="0">
                <a:solidFill>
                  <a:srgbClr val="000000"/>
                </a:solidFill>
              </a:rPr>
              <a:t>（ </a:t>
            </a:r>
            <a:r>
              <a:rPr lang="en-US" altLang="zh-CN" sz="2000" dirty="0" err="1">
                <a:solidFill>
                  <a:srgbClr val="000000"/>
                </a:solidFill>
              </a:rPr>
              <a:t>i</a:t>
            </a:r>
            <a:r>
              <a:rPr lang="en-US" altLang="zh-CN" sz="2000" dirty="0">
                <a:solidFill>
                  <a:srgbClr val="000000"/>
                </a:solidFill>
              </a:rPr>
              <a:t> = 0 ;  </a:t>
            </a:r>
            <a:r>
              <a:rPr lang="en-US" altLang="zh-CN" sz="2000" dirty="0" err="1">
                <a:solidFill>
                  <a:srgbClr val="000000"/>
                </a:solidFill>
              </a:rPr>
              <a:t>i</a:t>
            </a:r>
            <a:r>
              <a:rPr lang="en-US" altLang="zh-CN" sz="2000" dirty="0">
                <a:solidFill>
                  <a:srgbClr val="000000"/>
                </a:solidFill>
              </a:rPr>
              <a:t> &lt; 5000 ;  </a:t>
            </a:r>
            <a:r>
              <a:rPr lang="en-US" altLang="zh-CN" sz="2000" dirty="0" err="1">
                <a:solidFill>
                  <a:srgbClr val="000000"/>
                </a:solidFill>
              </a:rPr>
              <a:t>i</a:t>
            </a:r>
            <a:r>
              <a:rPr lang="en-US" altLang="zh-CN" sz="2000" dirty="0">
                <a:solidFill>
                  <a:srgbClr val="000000"/>
                </a:solidFill>
              </a:rPr>
              <a:t> = i+1 </a:t>
            </a:r>
            <a:r>
              <a:rPr lang="zh-CN" altLang="en-US" sz="2000" dirty="0">
                <a:solidFill>
                  <a:srgbClr val="000000"/>
                </a:solidFill>
              </a:rPr>
              <a:t>）</a:t>
            </a: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>
                <a:solidFill>
                  <a:srgbClr val="000000"/>
                </a:solidFill>
              </a:rPr>
              <a:t>                            </a:t>
            </a:r>
            <a:r>
              <a:rPr lang="en-US" altLang="zh-CN" sz="2000" dirty="0">
                <a:solidFill>
                  <a:srgbClr val="000000"/>
                </a:solidFill>
              </a:rPr>
              <a:t>x [ </a:t>
            </a:r>
            <a:r>
              <a:rPr lang="en-US" altLang="zh-CN" sz="2000" dirty="0" err="1">
                <a:solidFill>
                  <a:srgbClr val="000000"/>
                </a:solidFill>
              </a:rPr>
              <a:t>i</a:t>
            </a:r>
            <a:r>
              <a:rPr lang="en-US" altLang="zh-CN" sz="2000" dirty="0">
                <a:solidFill>
                  <a:srgbClr val="000000"/>
                </a:solidFill>
              </a:rPr>
              <a:t> ][ j ] = 2 * x [ </a:t>
            </a:r>
            <a:r>
              <a:rPr lang="en-US" altLang="zh-CN" sz="2000" dirty="0" err="1">
                <a:solidFill>
                  <a:srgbClr val="000000"/>
                </a:solidFill>
              </a:rPr>
              <a:t>i</a:t>
            </a:r>
            <a:r>
              <a:rPr lang="en-US" altLang="zh-CN" sz="2000" dirty="0">
                <a:solidFill>
                  <a:srgbClr val="000000"/>
                </a:solidFill>
              </a:rPr>
              <a:t> ][ j ];</a:t>
            </a:r>
          </a:p>
        </p:txBody>
      </p:sp>
      <p:sp>
        <p:nvSpPr>
          <p:cNvPr id="4" name="矩形 3"/>
          <p:cNvSpPr/>
          <p:nvPr/>
        </p:nvSpPr>
        <p:spPr>
          <a:xfrm>
            <a:off x="-955118" y="292208"/>
            <a:ext cx="1183686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3">
              <a:lnSpc>
                <a:spcPct val="150000"/>
              </a:lnSpc>
            </a:pPr>
            <a:r>
              <a:rPr lang="zh-CN" altLang="en-US" sz="2000" dirty="0"/>
              <a:t>（</a:t>
            </a:r>
            <a:r>
              <a:rPr lang="en-US" altLang="zh-CN" sz="2000" dirty="0"/>
              <a:t>2</a:t>
            </a:r>
            <a:r>
              <a:rPr lang="zh-CN" altLang="en-US" sz="2000" dirty="0"/>
              <a:t>）内外循环交换</a:t>
            </a:r>
            <a:endParaRPr lang="en-US" altLang="zh-CN" sz="2000" dirty="0"/>
          </a:p>
          <a:p>
            <a:pPr lvl="3">
              <a:lnSpc>
                <a:spcPct val="150000"/>
              </a:lnSpc>
            </a:pPr>
            <a:r>
              <a:rPr lang="zh-CN" altLang="en-US" sz="2000" b="1" dirty="0">
                <a:latin typeface="Times New Roman" panose="02020603050405020304" pitchFamily="18" charset="0"/>
              </a:rPr>
              <a:t>        基本思想</a:t>
            </a:r>
            <a:r>
              <a:rPr lang="en-US" altLang="zh-CN" sz="2000" b="1" dirty="0">
                <a:latin typeface="Times New Roman" panose="02020603050405020304" pitchFamily="18" charset="0"/>
              </a:rPr>
              <a:t>: </a:t>
            </a:r>
            <a:r>
              <a:rPr lang="zh-CN" altLang="en-US" sz="2000" dirty="0">
                <a:latin typeface="Times New Roman" panose="02020603050405020304" pitchFamily="18" charset="0"/>
              </a:rPr>
              <a:t>提高访问的局部性</a:t>
            </a:r>
          </a:p>
        </p:txBody>
      </p:sp>
      <p:sp>
        <p:nvSpPr>
          <p:cNvPr id="3" name="矩形 2"/>
          <p:cNvSpPr/>
          <p:nvPr/>
        </p:nvSpPr>
        <p:spPr>
          <a:xfrm>
            <a:off x="6096000" y="2313869"/>
            <a:ext cx="6096000" cy="1782026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lnSpc>
                <a:spcPct val="110000"/>
              </a:lnSpc>
              <a:buNone/>
            </a:pPr>
            <a:r>
              <a:rPr lang="en-US" altLang="zh-CN" dirty="0"/>
              <a:t> /* </a:t>
            </a:r>
            <a:r>
              <a:rPr lang="zh-CN" altLang="en-US" dirty="0"/>
              <a:t>修改后 *</a:t>
            </a:r>
            <a:r>
              <a:rPr lang="en-US" altLang="zh-CN" dirty="0"/>
              <a:t>/</a:t>
            </a:r>
          </a:p>
          <a:p>
            <a:pPr marL="457200" indent="-457200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rgbClr val="000000"/>
                </a:solidFill>
              </a:rPr>
              <a:t>for </a:t>
            </a:r>
            <a:r>
              <a:rPr lang="zh-CN" altLang="en-US" sz="2000" dirty="0">
                <a:solidFill>
                  <a:srgbClr val="000000"/>
                </a:solidFill>
              </a:rPr>
              <a:t>（ </a:t>
            </a:r>
            <a:r>
              <a:rPr lang="en-US" altLang="zh-CN" sz="2000" dirty="0" err="1">
                <a:solidFill>
                  <a:srgbClr val="000000"/>
                </a:solidFill>
              </a:rPr>
              <a:t>i</a:t>
            </a:r>
            <a:r>
              <a:rPr lang="en-US" altLang="zh-CN" sz="2000" dirty="0">
                <a:solidFill>
                  <a:srgbClr val="000000"/>
                </a:solidFill>
              </a:rPr>
              <a:t> = 0 ;  </a:t>
            </a:r>
            <a:r>
              <a:rPr lang="en-US" altLang="zh-CN" sz="2000" dirty="0" err="1">
                <a:solidFill>
                  <a:srgbClr val="000000"/>
                </a:solidFill>
              </a:rPr>
              <a:t>i</a:t>
            </a:r>
            <a:r>
              <a:rPr lang="en-US" altLang="zh-CN" sz="2000" dirty="0">
                <a:solidFill>
                  <a:srgbClr val="000000"/>
                </a:solidFill>
              </a:rPr>
              <a:t> &lt; 5000 ;  </a:t>
            </a:r>
            <a:r>
              <a:rPr lang="en-US" altLang="zh-CN" sz="2000" dirty="0" err="1">
                <a:solidFill>
                  <a:srgbClr val="000000"/>
                </a:solidFill>
              </a:rPr>
              <a:t>i</a:t>
            </a:r>
            <a:r>
              <a:rPr lang="en-US" altLang="zh-CN" sz="2000" dirty="0">
                <a:solidFill>
                  <a:srgbClr val="000000"/>
                </a:solidFill>
              </a:rPr>
              <a:t> = i+1 </a:t>
            </a:r>
            <a:r>
              <a:rPr lang="zh-CN" altLang="en-US" sz="2000" dirty="0">
                <a:solidFill>
                  <a:srgbClr val="000000"/>
                </a:solidFill>
              </a:rPr>
              <a:t>）</a:t>
            </a:r>
          </a:p>
          <a:p>
            <a:pPr marL="457200" indent="-457200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rgbClr val="000000"/>
                </a:solidFill>
              </a:rPr>
              <a:t>        for </a:t>
            </a:r>
            <a:r>
              <a:rPr lang="zh-CN" altLang="en-US" sz="2000" dirty="0">
                <a:solidFill>
                  <a:srgbClr val="000000"/>
                </a:solidFill>
              </a:rPr>
              <a:t>（ </a:t>
            </a:r>
            <a:r>
              <a:rPr lang="en-US" altLang="zh-CN" sz="2000" dirty="0">
                <a:solidFill>
                  <a:srgbClr val="000000"/>
                </a:solidFill>
              </a:rPr>
              <a:t>j = 0 ;  j &lt; 100 ;  j = j+1 </a:t>
            </a:r>
            <a:r>
              <a:rPr lang="zh-CN" altLang="en-US" sz="2000" dirty="0">
                <a:solidFill>
                  <a:srgbClr val="000000"/>
                </a:solidFill>
              </a:rPr>
              <a:t>）</a:t>
            </a:r>
          </a:p>
          <a:p>
            <a:pPr marL="457200" indent="-457200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rgbClr val="000000"/>
                </a:solidFill>
              </a:rPr>
              <a:t>                x [ </a:t>
            </a:r>
            <a:r>
              <a:rPr lang="en-US" altLang="zh-CN" sz="2000" dirty="0" err="1">
                <a:solidFill>
                  <a:srgbClr val="000000"/>
                </a:solidFill>
              </a:rPr>
              <a:t>i</a:t>
            </a:r>
            <a:r>
              <a:rPr lang="en-US" altLang="zh-CN" sz="2000" dirty="0">
                <a:solidFill>
                  <a:srgbClr val="000000"/>
                </a:solidFill>
              </a:rPr>
              <a:t> ][ j ] = 2 * x [ </a:t>
            </a:r>
            <a:r>
              <a:rPr lang="en-US" altLang="zh-CN" sz="2000" dirty="0" err="1">
                <a:solidFill>
                  <a:srgbClr val="000000"/>
                </a:solidFill>
              </a:rPr>
              <a:t>i</a:t>
            </a:r>
            <a:r>
              <a:rPr lang="en-US" altLang="zh-CN" sz="2000" dirty="0">
                <a:solidFill>
                  <a:srgbClr val="000000"/>
                </a:solidFill>
              </a:rPr>
              <a:t> ][ j ];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474752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82555" y="2668554"/>
            <a:ext cx="5159829" cy="4058817"/>
          </a:xfrm>
        </p:spPr>
        <p:txBody>
          <a:bodyPr>
            <a:noAutofit/>
          </a:bodyPr>
          <a:lstStyle/>
          <a:p>
            <a:pPr marL="0" indent="0">
              <a:lnSpc>
                <a:spcPts val="3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D60093"/>
                </a:solidFill>
              </a:rPr>
              <a:t> </a:t>
            </a:r>
            <a:r>
              <a:rPr lang="zh-CN" altLang="en-US" sz="2000" dirty="0">
                <a:solidFill>
                  <a:schemeClr val="tx1"/>
                </a:solidFill>
              </a:rPr>
              <a:t>                  </a:t>
            </a:r>
          </a:p>
          <a:p>
            <a:pPr marL="457200" indent="168275">
              <a:lnSpc>
                <a:spcPts val="3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/* </a:t>
            </a:r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修改前 *</a:t>
            </a: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/</a:t>
            </a:r>
          </a:p>
          <a:p>
            <a:pPr marL="457200" indent="168275">
              <a:lnSpc>
                <a:spcPts val="3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for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j = 0; j &lt; 100; j = j+1 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）</a:t>
            </a:r>
            <a:endParaRPr lang="en-US" altLang="zh-CN" sz="2000" dirty="0">
              <a:solidFill>
                <a:srgbClr val="000000"/>
              </a:solidFill>
              <a:latin typeface="+mn-ea"/>
            </a:endParaRPr>
          </a:p>
          <a:p>
            <a:pPr marL="457200" indent="168275">
              <a:lnSpc>
                <a:spcPts val="3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   x[</a:t>
            </a:r>
            <a:r>
              <a:rPr lang="en-US" altLang="zh-CN" sz="2000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][j] = a[</a:t>
            </a:r>
            <a:r>
              <a:rPr lang="en-US" altLang="zh-CN" sz="2000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][j]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+ b[</a:t>
            </a:r>
            <a:r>
              <a:rPr lang="en-US" altLang="zh-CN" sz="2000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][j]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；</a:t>
            </a:r>
            <a:endParaRPr lang="en-US" altLang="zh-CN" sz="2000" dirty="0">
              <a:solidFill>
                <a:srgbClr val="000000"/>
              </a:solidFill>
              <a:latin typeface="+mn-ea"/>
            </a:endParaRPr>
          </a:p>
          <a:p>
            <a:pPr marL="457200" indent="168275">
              <a:lnSpc>
                <a:spcPts val="3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for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j = 0; j &lt; 100; j = j+1 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）</a:t>
            </a:r>
            <a:endParaRPr lang="en-US" altLang="zh-CN" sz="2000" dirty="0">
              <a:solidFill>
                <a:srgbClr val="000000"/>
              </a:solidFill>
              <a:latin typeface="+mn-ea"/>
            </a:endParaRPr>
          </a:p>
          <a:p>
            <a:pPr marL="457200" indent="168275">
              <a:lnSpc>
                <a:spcPts val="3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   y[</a:t>
            </a:r>
            <a:r>
              <a:rPr lang="en-US" altLang="zh-CN" sz="2000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][j] = a[</a:t>
            </a:r>
            <a:r>
              <a:rPr lang="en-US" altLang="zh-CN" sz="2000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][j]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- b[</a:t>
            </a:r>
            <a:r>
              <a:rPr lang="en-US" altLang="zh-CN" sz="2000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][j]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；</a:t>
            </a:r>
            <a:endParaRPr lang="en-US" altLang="zh-CN" sz="20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-972926" y="350875"/>
            <a:ext cx="1183686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3">
              <a:lnSpc>
                <a:spcPct val="150000"/>
              </a:lnSpc>
            </a:pPr>
            <a:r>
              <a:rPr lang="zh-CN" altLang="en-US" sz="2000" dirty="0"/>
              <a:t>（</a:t>
            </a:r>
            <a:r>
              <a:rPr lang="en-US" altLang="zh-CN" sz="2000" dirty="0"/>
              <a:t>3</a:t>
            </a:r>
            <a:r>
              <a:rPr lang="zh-CN" altLang="en-US" sz="2000" dirty="0"/>
              <a:t>）循环融合</a:t>
            </a:r>
            <a:endParaRPr lang="en-US" altLang="zh-CN" sz="2000" dirty="0"/>
          </a:p>
          <a:p>
            <a:pPr lvl="3">
              <a:lnSpc>
                <a:spcPct val="150000"/>
              </a:lnSpc>
            </a:pPr>
            <a:r>
              <a:rPr lang="zh-CN" altLang="en-US" sz="2000" b="1" dirty="0">
                <a:latin typeface="Times New Roman" panose="02020603050405020304" pitchFamily="18" charset="0"/>
              </a:rPr>
              <a:t>        基本思想</a:t>
            </a:r>
            <a:r>
              <a:rPr lang="en-US" altLang="zh-CN" sz="2000" b="1" dirty="0">
                <a:latin typeface="Times New Roman" panose="02020603050405020304" pitchFamily="18" charset="0"/>
              </a:rPr>
              <a:t>:  </a:t>
            </a:r>
            <a:r>
              <a:rPr lang="zh-CN" altLang="en-US" sz="2000" dirty="0">
                <a:latin typeface="Times New Roman" panose="02020603050405020304" pitchFamily="18" charset="0"/>
              </a:rPr>
              <a:t>将若干个独立的循环融合为单个的循环。这些循环访问同样的数组，对相同的数据作不同的运算。这样能使得读入</a:t>
            </a:r>
            <a:r>
              <a:rPr lang="en-US" altLang="zh-CN" sz="2000" dirty="0">
                <a:latin typeface="Times New Roman" panose="02020603050405020304" pitchFamily="18" charset="0"/>
              </a:rPr>
              <a:t>Cache</a:t>
            </a:r>
            <a:r>
              <a:rPr lang="zh-CN" altLang="en-US" sz="2000" dirty="0">
                <a:latin typeface="Times New Roman" panose="02020603050405020304" pitchFamily="18" charset="0"/>
              </a:rPr>
              <a:t>的数据在被替换出去之前，能得到反复的使用 。</a:t>
            </a:r>
          </a:p>
        </p:txBody>
      </p:sp>
      <p:sp>
        <p:nvSpPr>
          <p:cNvPr id="4" name="矩形 3"/>
          <p:cNvSpPr/>
          <p:nvPr/>
        </p:nvSpPr>
        <p:spPr>
          <a:xfrm>
            <a:off x="133695" y="2191500"/>
            <a:ext cx="87716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3000"/>
              </a:lnSpc>
            </a:pPr>
            <a:r>
              <a:rPr lang="zh-CN" altLang="en-US" dirty="0">
                <a:solidFill>
                  <a:srgbClr val="D60093"/>
                </a:solidFill>
              </a:rPr>
              <a:t>举例：</a:t>
            </a:r>
            <a:endParaRPr lang="en-US" altLang="zh-CN" dirty="0">
              <a:solidFill>
                <a:srgbClr val="D60093"/>
              </a:solidFill>
            </a:endParaRPr>
          </a:p>
        </p:txBody>
      </p:sp>
      <p:sp>
        <p:nvSpPr>
          <p:cNvPr id="6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5704114" y="2668554"/>
            <a:ext cx="5159829" cy="40588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rgbClr val="D60093"/>
                </a:solidFill>
              </a:rPr>
              <a:t> </a:t>
            </a:r>
            <a:r>
              <a:rPr lang="zh-CN" altLang="en-US" sz="2000" dirty="0"/>
              <a:t>                  </a:t>
            </a:r>
          </a:p>
          <a:p>
            <a:pPr marL="457200" indent="168275">
              <a:lnSpc>
                <a:spcPts val="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2000" dirty="0">
                <a:latin typeface="+mn-ea"/>
              </a:rPr>
              <a:t>/* </a:t>
            </a:r>
            <a:r>
              <a:rPr lang="zh-CN" altLang="en-US" sz="2000" dirty="0">
                <a:latin typeface="+mn-ea"/>
              </a:rPr>
              <a:t>修改后 *</a:t>
            </a:r>
            <a:r>
              <a:rPr lang="en-US" altLang="zh-CN" sz="2000" dirty="0">
                <a:latin typeface="+mn-ea"/>
              </a:rPr>
              <a:t>/</a:t>
            </a:r>
          </a:p>
          <a:p>
            <a:pPr marL="457200" indent="168275">
              <a:lnSpc>
                <a:spcPts val="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for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j = 0; j &lt; 100; j = j+1 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）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marL="457200" indent="168275">
              <a:lnSpc>
                <a:spcPts val="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   x[</a:t>
            </a:r>
            <a:r>
              <a:rPr lang="en-US" altLang="zh-CN" sz="2000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][j] = a[</a:t>
            </a:r>
            <a:r>
              <a:rPr lang="en-US" altLang="zh-CN" sz="2000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][j]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+ b[</a:t>
            </a:r>
            <a:r>
              <a:rPr lang="en-US" altLang="zh-CN" sz="2000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][j]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；</a:t>
            </a:r>
            <a:endParaRPr lang="en-US" altLang="zh-CN" sz="2000" dirty="0">
              <a:solidFill>
                <a:srgbClr val="000000"/>
              </a:solidFill>
              <a:latin typeface="+mn-ea"/>
            </a:endParaRPr>
          </a:p>
          <a:p>
            <a:pPr marL="457200" indent="168275">
              <a:lnSpc>
                <a:spcPts val="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   y[</a:t>
            </a:r>
            <a:r>
              <a:rPr lang="en-US" altLang="zh-CN" sz="2000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][j] = a[</a:t>
            </a:r>
            <a:r>
              <a:rPr lang="en-US" altLang="zh-CN" sz="2000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][j]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- b[</a:t>
            </a:r>
            <a:r>
              <a:rPr lang="en-US" altLang="zh-CN" sz="2000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][j]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；</a:t>
            </a:r>
            <a:endParaRPr lang="en-US" altLang="zh-CN" sz="2000" dirty="0">
              <a:solidFill>
                <a:srgbClr val="000000"/>
              </a:solidFill>
              <a:latin typeface="+mn-ea"/>
            </a:endParaRPr>
          </a:p>
          <a:p>
            <a:pPr marL="457200" indent="168275">
              <a:lnSpc>
                <a:spcPts val="3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963127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81823" y="1806749"/>
            <a:ext cx="7126287" cy="3241112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/*  </a:t>
            </a:r>
            <a:r>
              <a:rPr lang="zh-CN" altLang="en-US" sz="2000" dirty="0"/>
              <a:t>修改前  *</a:t>
            </a:r>
            <a:r>
              <a:rPr lang="en-US" altLang="zh-CN" sz="2000" dirty="0"/>
              <a:t>/</a:t>
            </a:r>
          </a:p>
          <a:p>
            <a:pPr marL="1085850" lvl="1" indent="-457200">
              <a:lnSpc>
                <a:spcPct val="80000"/>
              </a:lnSpc>
              <a:buNone/>
            </a:pPr>
            <a:endParaRPr lang="en-US" altLang="zh-CN" sz="2000" dirty="0"/>
          </a:p>
          <a:p>
            <a:pPr marL="1085850" lvl="1" indent="-457200">
              <a:lnSpc>
                <a:spcPct val="80000"/>
              </a:lnSpc>
              <a:buNone/>
            </a:pPr>
            <a:r>
              <a:rPr lang="en-US" altLang="zh-CN" sz="2000" dirty="0">
                <a:solidFill>
                  <a:srgbClr val="000000"/>
                </a:solidFill>
              </a:rPr>
              <a:t>for </a:t>
            </a:r>
            <a:r>
              <a:rPr lang="zh-CN" altLang="en-US" sz="2000" dirty="0">
                <a:solidFill>
                  <a:srgbClr val="000000"/>
                </a:solidFill>
              </a:rPr>
              <a:t>（ </a:t>
            </a:r>
            <a:r>
              <a:rPr lang="en-US" altLang="zh-CN" sz="2000" dirty="0" err="1">
                <a:solidFill>
                  <a:srgbClr val="000000"/>
                </a:solidFill>
              </a:rPr>
              <a:t>i</a:t>
            </a:r>
            <a:r>
              <a:rPr lang="en-US" altLang="zh-CN" sz="2000" dirty="0">
                <a:solidFill>
                  <a:srgbClr val="000000"/>
                </a:solidFill>
              </a:rPr>
              <a:t> = 0;  </a:t>
            </a:r>
            <a:r>
              <a:rPr lang="en-US" altLang="zh-CN" sz="2000" dirty="0" err="1">
                <a:solidFill>
                  <a:srgbClr val="000000"/>
                </a:solidFill>
              </a:rPr>
              <a:t>i</a:t>
            </a:r>
            <a:r>
              <a:rPr lang="en-US" altLang="zh-CN" sz="2000" dirty="0">
                <a:solidFill>
                  <a:srgbClr val="000000"/>
                </a:solidFill>
              </a:rPr>
              <a:t>&lt;N;  </a:t>
            </a:r>
            <a:r>
              <a:rPr lang="en-US" altLang="zh-CN" sz="2000" dirty="0" err="1">
                <a:solidFill>
                  <a:srgbClr val="000000"/>
                </a:solidFill>
              </a:rPr>
              <a:t>i</a:t>
            </a:r>
            <a:r>
              <a:rPr lang="en-US" altLang="zh-CN" sz="2000" dirty="0">
                <a:solidFill>
                  <a:srgbClr val="000000"/>
                </a:solidFill>
              </a:rPr>
              <a:t> = i+1 </a:t>
            </a:r>
            <a:r>
              <a:rPr lang="zh-CN" altLang="en-US" sz="2000" dirty="0">
                <a:solidFill>
                  <a:srgbClr val="000000"/>
                </a:solidFill>
              </a:rPr>
              <a:t>）</a:t>
            </a:r>
          </a:p>
          <a:p>
            <a:pPr marL="1085850" lvl="1" indent="-457200">
              <a:lnSpc>
                <a:spcPct val="80000"/>
              </a:lnSpc>
              <a:buNone/>
            </a:pPr>
            <a:r>
              <a:rPr lang="en-US" altLang="zh-CN" sz="2000" dirty="0">
                <a:solidFill>
                  <a:srgbClr val="000000"/>
                </a:solidFill>
              </a:rPr>
              <a:t>     for </a:t>
            </a:r>
            <a:r>
              <a:rPr lang="zh-CN" altLang="en-US" sz="2000" dirty="0">
                <a:solidFill>
                  <a:srgbClr val="000000"/>
                </a:solidFill>
              </a:rPr>
              <a:t>（ </a:t>
            </a:r>
            <a:r>
              <a:rPr lang="en-US" altLang="zh-CN" sz="2000" dirty="0">
                <a:solidFill>
                  <a:srgbClr val="000000"/>
                </a:solidFill>
              </a:rPr>
              <a:t>j = 0;  j &lt; N;  j = j+1 </a:t>
            </a:r>
            <a:r>
              <a:rPr lang="zh-CN" altLang="en-US" sz="2000" dirty="0">
                <a:solidFill>
                  <a:srgbClr val="000000"/>
                </a:solidFill>
              </a:rPr>
              <a:t>） </a:t>
            </a:r>
            <a:r>
              <a:rPr lang="en-US" altLang="zh-CN" sz="2000" dirty="0">
                <a:solidFill>
                  <a:srgbClr val="000000"/>
                </a:solidFill>
              </a:rPr>
              <a:t>{</a:t>
            </a:r>
          </a:p>
          <a:p>
            <a:pPr marL="1085850" lvl="1" indent="-457200">
              <a:lnSpc>
                <a:spcPct val="80000"/>
              </a:lnSpc>
              <a:buNone/>
            </a:pPr>
            <a:r>
              <a:rPr lang="en-US" altLang="zh-CN" sz="2000" dirty="0">
                <a:solidFill>
                  <a:srgbClr val="000000"/>
                </a:solidFill>
              </a:rPr>
              <a:t>          r = 0;</a:t>
            </a:r>
          </a:p>
          <a:p>
            <a:pPr marL="1085850" lvl="1" indent="-457200">
              <a:lnSpc>
                <a:spcPct val="80000"/>
              </a:lnSpc>
              <a:buNone/>
            </a:pPr>
            <a:r>
              <a:rPr lang="en-US" altLang="zh-CN" sz="2000" dirty="0">
                <a:solidFill>
                  <a:srgbClr val="000000"/>
                </a:solidFill>
              </a:rPr>
              <a:t>          for </a:t>
            </a:r>
            <a:r>
              <a:rPr lang="zh-CN" altLang="en-US" sz="2000" dirty="0">
                <a:solidFill>
                  <a:srgbClr val="000000"/>
                </a:solidFill>
              </a:rPr>
              <a:t>（ </a:t>
            </a:r>
            <a:r>
              <a:rPr lang="en-US" altLang="zh-CN" sz="2000" dirty="0">
                <a:solidFill>
                  <a:srgbClr val="000000"/>
                </a:solidFill>
              </a:rPr>
              <a:t>k = 0;  k &lt; N;  k = k+1</a:t>
            </a:r>
            <a:r>
              <a:rPr lang="zh-CN" altLang="en-US" sz="2000" dirty="0">
                <a:solidFill>
                  <a:srgbClr val="000000"/>
                </a:solidFill>
              </a:rPr>
              <a:t>） </a:t>
            </a:r>
            <a:r>
              <a:rPr lang="en-US" altLang="zh-CN" sz="2000" dirty="0">
                <a:solidFill>
                  <a:srgbClr val="000000"/>
                </a:solidFill>
              </a:rPr>
              <a:t>{</a:t>
            </a:r>
          </a:p>
          <a:p>
            <a:pPr marL="1085850" lvl="1" indent="-457200">
              <a:lnSpc>
                <a:spcPct val="80000"/>
              </a:lnSpc>
              <a:buNone/>
            </a:pPr>
            <a:r>
              <a:rPr lang="en-US" altLang="zh-CN" sz="2000" dirty="0">
                <a:solidFill>
                  <a:srgbClr val="000000"/>
                </a:solidFill>
              </a:rPr>
              <a:t>                r = r + y[ </a:t>
            </a:r>
            <a:r>
              <a:rPr lang="en-US" altLang="zh-CN" sz="2000" dirty="0" err="1">
                <a:solidFill>
                  <a:srgbClr val="000000"/>
                </a:solidFill>
              </a:rPr>
              <a:t>i</a:t>
            </a:r>
            <a:r>
              <a:rPr lang="en-US" altLang="zh-CN" sz="2000" dirty="0">
                <a:solidFill>
                  <a:srgbClr val="000000"/>
                </a:solidFill>
              </a:rPr>
              <a:t> ][ k ] * z[ k ][ j ];</a:t>
            </a:r>
          </a:p>
          <a:p>
            <a:pPr marL="1085850" lvl="1" indent="-457200">
              <a:lnSpc>
                <a:spcPct val="80000"/>
              </a:lnSpc>
              <a:buNone/>
            </a:pPr>
            <a:r>
              <a:rPr lang="en-US" altLang="zh-CN" sz="2000" dirty="0">
                <a:solidFill>
                  <a:srgbClr val="000000"/>
                </a:solidFill>
              </a:rPr>
              <a:t>     }</a:t>
            </a:r>
          </a:p>
          <a:p>
            <a:pPr marL="1085850" lvl="1" indent="-457200">
              <a:lnSpc>
                <a:spcPct val="80000"/>
              </a:lnSpc>
              <a:buNone/>
            </a:pPr>
            <a:r>
              <a:rPr lang="en-US" altLang="zh-CN" sz="2000" dirty="0">
                <a:solidFill>
                  <a:srgbClr val="000000"/>
                </a:solidFill>
              </a:rPr>
              <a:t>          x[ </a:t>
            </a:r>
            <a:r>
              <a:rPr lang="en-US" altLang="zh-CN" sz="2000" dirty="0" err="1">
                <a:solidFill>
                  <a:srgbClr val="000000"/>
                </a:solidFill>
              </a:rPr>
              <a:t>i</a:t>
            </a:r>
            <a:r>
              <a:rPr lang="en-US" altLang="zh-CN" sz="2000" dirty="0">
                <a:solidFill>
                  <a:srgbClr val="000000"/>
                </a:solidFill>
              </a:rPr>
              <a:t> ][ j ] = r;</a:t>
            </a:r>
          </a:p>
          <a:p>
            <a:pPr marL="1085850" lvl="1" indent="-457200">
              <a:lnSpc>
                <a:spcPct val="80000"/>
              </a:lnSpc>
              <a:buNone/>
            </a:pPr>
            <a:r>
              <a:rPr lang="en-US" altLang="zh-CN" sz="2000" dirty="0">
                <a:solidFill>
                  <a:srgbClr val="000000"/>
                </a:solidFill>
              </a:rPr>
              <a:t>}</a:t>
            </a:r>
          </a:p>
          <a:p>
            <a:pPr marL="1085850" lvl="1" indent="-457200">
              <a:lnSpc>
                <a:spcPct val="80000"/>
              </a:lnSpc>
              <a:buNone/>
            </a:pPr>
            <a:endParaRPr lang="en-US" altLang="zh-CN" sz="2000" dirty="0">
              <a:solidFill>
                <a:srgbClr val="000000"/>
              </a:solidFill>
            </a:endParaRPr>
          </a:p>
          <a:p>
            <a:pPr marL="1085850" lvl="1" indent="-457200">
              <a:lnSpc>
                <a:spcPct val="80000"/>
              </a:lnSpc>
              <a:buNone/>
            </a:pPr>
            <a:endParaRPr lang="en-US" altLang="zh-CN" dirty="0">
              <a:solidFill>
                <a:srgbClr val="FFFF66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-987015" y="0"/>
            <a:ext cx="1183686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3">
              <a:lnSpc>
                <a:spcPct val="150000"/>
              </a:lnSpc>
            </a:pPr>
            <a:r>
              <a:rPr lang="zh-CN" altLang="en-US" sz="2000" dirty="0"/>
              <a:t>（</a:t>
            </a:r>
            <a:r>
              <a:rPr lang="en-US" altLang="zh-CN" sz="2000" dirty="0"/>
              <a:t>4</a:t>
            </a:r>
            <a:r>
              <a:rPr lang="zh-CN" altLang="en-US" sz="2000" dirty="0"/>
              <a:t>）分块</a:t>
            </a:r>
            <a:endParaRPr lang="en-US" altLang="zh-CN" sz="2000" dirty="0"/>
          </a:p>
          <a:p>
            <a:pPr lvl="3">
              <a:lnSpc>
                <a:spcPct val="150000"/>
              </a:lnSpc>
            </a:pPr>
            <a:r>
              <a:rPr lang="zh-CN" altLang="en-US" sz="2000" b="1" dirty="0">
                <a:latin typeface="Times New Roman" panose="02020603050405020304" pitchFamily="18" charset="0"/>
              </a:rPr>
              <a:t>        基本思想</a:t>
            </a:r>
            <a:r>
              <a:rPr lang="en-US" altLang="zh-CN" sz="2000" b="1" dirty="0">
                <a:latin typeface="Times New Roman" panose="02020603050405020304" pitchFamily="18" charset="0"/>
              </a:rPr>
              <a:t>: </a:t>
            </a:r>
            <a:r>
              <a:rPr lang="zh-CN" altLang="en-US" sz="2000" dirty="0"/>
              <a:t>把对数组的整行或整列访问改为按块进行，尽量集中访问，减少替换，提高访问的局部性。</a:t>
            </a:r>
          </a:p>
          <a:p>
            <a:pPr lvl="3">
              <a:lnSpc>
                <a:spcPct val="150000"/>
              </a:lnSpc>
            </a:pPr>
            <a:endParaRPr lang="zh-CN" altLang="en-US" sz="2000" dirty="0">
              <a:latin typeface="Times New Roman" panose="02020603050405020304" pitchFamily="18" charset="0"/>
            </a:endParaRPr>
          </a:p>
        </p:txBody>
      </p:sp>
      <p:pic>
        <p:nvPicPr>
          <p:cNvPr id="2" name="数组乘法计算过程（分块前）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190318" y="1388347"/>
            <a:ext cx="5588188" cy="4191141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281823" y="5225142"/>
            <a:ext cx="3671198" cy="7294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lnSpc>
                <a:spcPct val="115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最坏的情况：所有的访问都不命中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marL="457200" indent="-457200">
              <a:lnSpc>
                <a:spcPct val="115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不命中次数：</a:t>
            </a:r>
            <a:r>
              <a:rPr lang="en-US" altLang="zh-CN" b="1" dirty="0">
                <a:latin typeface="宋体" panose="02010600030101010101" pitchFamily="2" charset="-122"/>
              </a:rPr>
              <a:t>2N</a:t>
            </a:r>
            <a:r>
              <a:rPr lang="en-US" altLang="zh-CN" b="1" baseline="30000" dirty="0">
                <a:latin typeface="宋体" panose="02010600030101010101" pitchFamily="2" charset="-122"/>
              </a:rPr>
              <a:t>3</a:t>
            </a:r>
            <a:r>
              <a:rPr lang="zh-CN" altLang="en-US" b="1" dirty="0">
                <a:latin typeface="宋体" panose="02010600030101010101" pitchFamily="2" charset="-122"/>
              </a:rPr>
              <a:t>＋</a:t>
            </a:r>
            <a:r>
              <a:rPr lang="en-US" altLang="zh-CN" b="1" dirty="0">
                <a:latin typeface="宋体" panose="02010600030101010101" pitchFamily="2" charset="-122"/>
              </a:rPr>
              <a:t>N</a:t>
            </a:r>
            <a:r>
              <a:rPr lang="en-US" altLang="zh-CN" b="1" baseline="30000" dirty="0">
                <a:latin typeface="宋体" panose="02010600030101010101" pitchFamily="2" charset="-122"/>
              </a:rPr>
              <a:t>2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68429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93579" y="807680"/>
            <a:ext cx="5731360" cy="4953000"/>
          </a:xfrm>
        </p:spPr>
        <p:txBody>
          <a:bodyPr>
            <a:normAutofit/>
          </a:bodyPr>
          <a:lstStyle/>
          <a:p>
            <a:pPr marL="457200" indent="-457200">
              <a:lnSpc>
                <a:spcPct val="80000"/>
              </a:lnSpc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/*  </a:t>
            </a:r>
            <a:r>
              <a:rPr lang="zh-CN" altLang="en-US" sz="2000" dirty="0">
                <a:solidFill>
                  <a:schemeClr val="tx1"/>
                </a:solidFill>
              </a:rPr>
              <a:t>修改后  *</a:t>
            </a:r>
            <a:r>
              <a:rPr lang="en-US" altLang="zh-CN" sz="2000" dirty="0">
                <a:solidFill>
                  <a:schemeClr val="tx1"/>
                </a:solidFill>
              </a:rPr>
              <a:t>/</a:t>
            </a:r>
          </a:p>
          <a:p>
            <a:pPr marL="457200" indent="-457200">
              <a:lnSpc>
                <a:spcPct val="80000"/>
              </a:lnSpc>
              <a:buNone/>
            </a:pPr>
            <a:r>
              <a:rPr lang="en-US" altLang="zh-CN" sz="2000" dirty="0"/>
              <a:t>  </a:t>
            </a:r>
            <a:r>
              <a:rPr lang="en-US" altLang="zh-CN" sz="2000" dirty="0">
                <a:solidFill>
                  <a:srgbClr val="000000"/>
                </a:solidFill>
              </a:rPr>
              <a:t>for </a:t>
            </a:r>
            <a:r>
              <a:rPr lang="zh-CN" altLang="en-US" sz="2000" dirty="0">
                <a:solidFill>
                  <a:srgbClr val="000000"/>
                </a:solidFill>
              </a:rPr>
              <a:t>（ </a:t>
            </a:r>
            <a:r>
              <a:rPr lang="en-US" altLang="zh-CN" sz="2000" dirty="0" err="1">
                <a:solidFill>
                  <a:srgbClr val="000000"/>
                </a:solidFill>
              </a:rPr>
              <a:t>jj</a:t>
            </a:r>
            <a:r>
              <a:rPr lang="en-US" altLang="zh-CN" sz="2000" dirty="0">
                <a:solidFill>
                  <a:srgbClr val="000000"/>
                </a:solidFill>
              </a:rPr>
              <a:t> = 0;  </a:t>
            </a:r>
            <a:r>
              <a:rPr lang="en-US" altLang="zh-CN" sz="2000" dirty="0" err="1">
                <a:solidFill>
                  <a:srgbClr val="000000"/>
                </a:solidFill>
              </a:rPr>
              <a:t>jj</a:t>
            </a:r>
            <a:r>
              <a:rPr lang="en-US" altLang="zh-CN" sz="2000" dirty="0">
                <a:solidFill>
                  <a:srgbClr val="000000"/>
                </a:solidFill>
              </a:rPr>
              <a:t> &lt; N;  </a:t>
            </a:r>
            <a:r>
              <a:rPr lang="en-US" altLang="zh-CN" sz="2000" dirty="0" err="1">
                <a:solidFill>
                  <a:srgbClr val="000000"/>
                </a:solidFill>
              </a:rPr>
              <a:t>jj</a:t>
            </a:r>
            <a:r>
              <a:rPr lang="en-US" altLang="zh-CN" sz="2000" dirty="0">
                <a:solidFill>
                  <a:srgbClr val="000000"/>
                </a:solidFill>
              </a:rPr>
              <a:t> = </a:t>
            </a:r>
            <a:r>
              <a:rPr lang="en-US" altLang="zh-CN" sz="2000" dirty="0" err="1">
                <a:solidFill>
                  <a:srgbClr val="000000"/>
                </a:solidFill>
              </a:rPr>
              <a:t>jj+B</a:t>
            </a:r>
            <a:r>
              <a:rPr lang="en-US" altLang="zh-CN" sz="2000" dirty="0">
                <a:solidFill>
                  <a:srgbClr val="000000"/>
                </a:solidFill>
              </a:rPr>
              <a:t> </a:t>
            </a:r>
            <a:r>
              <a:rPr lang="zh-CN" altLang="en-US" sz="2000" dirty="0">
                <a:solidFill>
                  <a:srgbClr val="000000"/>
                </a:solidFill>
              </a:rPr>
              <a:t>）</a:t>
            </a:r>
          </a:p>
          <a:p>
            <a:pPr marL="457200" indent="-457200">
              <a:lnSpc>
                <a:spcPct val="80000"/>
              </a:lnSpc>
              <a:buNone/>
            </a:pPr>
            <a:r>
              <a:rPr lang="zh-CN" altLang="en-US" sz="2000" dirty="0">
                <a:solidFill>
                  <a:srgbClr val="000000"/>
                </a:solidFill>
              </a:rPr>
              <a:t>  </a:t>
            </a:r>
            <a:r>
              <a:rPr lang="en-US" altLang="zh-CN" sz="2000" dirty="0">
                <a:solidFill>
                  <a:srgbClr val="000000"/>
                </a:solidFill>
              </a:rPr>
              <a:t>for </a:t>
            </a:r>
            <a:r>
              <a:rPr lang="zh-CN" altLang="en-US" sz="2000" dirty="0">
                <a:solidFill>
                  <a:srgbClr val="000000"/>
                </a:solidFill>
              </a:rPr>
              <a:t>（ </a:t>
            </a:r>
            <a:r>
              <a:rPr lang="en-US" altLang="zh-CN" sz="2000" dirty="0" err="1">
                <a:solidFill>
                  <a:srgbClr val="000000"/>
                </a:solidFill>
              </a:rPr>
              <a:t>kk</a:t>
            </a:r>
            <a:r>
              <a:rPr lang="en-US" altLang="zh-CN" sz="2000" dirty="0">
                <a:solidFill>
                  <a:srgbClr val="000000"/>
                </a:solidFill>
              </a:rPr>
              <a:t> = 0;  </a:t>
            </a:r>
            <a:r>
              <a:rPr lang="en-US" altLang="zh-CN" sz="2000" dirty="0" err="1">
                <a:solidFill>
                  <a:srgbClr val="000000"/>
                </a:solidFill>
              </a:rPr>
              <a:t>kk</a:t>
            </a:r>
            <a:r>
              <a:rPr lang="en-US" altLang="zh-CN" sz="2000" dirty="0">
                <a:solidFill>
                  <a:srgbClr val="000000"/>
                </a:solidFill>
              </a:rPr>
              <a:t> &lt; N;  </a:t>
            </a:r>
            <a:r>
              <a:rPr lang="en-US" altLang="zh-CN" sz="2000" dirty="0" err="1">
                <a:solidFill>
                  <a:srgbClr val="000000"/>
                </a:solidFill>
              </a:rPr>
              <a:t>kk</a:t>
            </a:r>
            <a:r>
              <a:rPr lang="en-US" altLang="zh-CN" sz="2000" dirty="0">
                <a:solidFill>
                  <a:srgbClr val="000000"/>
                </a:solidFill>
              </a:rPr>
              <a:t> = </a:t>
            </a:r>
            <a:r>
              <a:rPr lang="en-US" altLang="zh-CN" sz="2000" dirty="0" err="1">
                <a:solidFill>
                  <a:srgbClr val="000000"/>
                </a:solidFill>
              </a:rPr>
              <a:t>kk+B</a:t>
            </a:r>
            <a:r>
              <a:rPr lang="en-US" altLang="zh-CN" sz="2000" dirty="0">
                <a:solidFill>
                  <a:srgbClr val="000000"/>
                </a:solidFill>
              </a:rPr>
              <a:t> </a:t>
            </a:r>
            <a:r>
              <a:rPr lang="zh-CN" altLang="en-US" sz="2000" dirty="0">
                <a:solidFill>
                  <a:srgbClr val="000000"/>
                </a:solidFill>
              </a:rPr>
              <a:t>）</a:t>
            </a:r>
          </a:p>
          <a:p>
            <a:pPr marL="457200" indent="-457200">
              <a:lnSpc>
                <a:spcPct val="80000"/>
              </a:lnSpc>
              <a:buNone/>
            </a:pPr>
            <a:r>
              <a:rPr lang="zh-CN" altLang="en-US" sz="2000" dirty="0">
                <a:solidFill>
                  <a:srgbClr val="000000"/>
                </a:solidFill>
              </a:rPr>
              <a:t>  </a:t>
            </a:r>
            <a:r>
              <a:rPr lang="en-US" altLang="zh-CN" sz="2000" dirty="0">
                <a:solidFill>
                  <a:srgbClr val="000000"/>
                </a:solidFill>
              </a:rPr>
              <a:t>for </a:t>
            </a:r>
            <a:r>
              <a:rPr lang="zh-CN" altLang="en-US" sz="2000" dirty="0">
                <a:solidFill>
                  <a:srgbClr val="000000"/>
                </a:solidFill>
              </a:rPr>
              <a:t>（ </a:t>
            </a:r>
            <a:r>
              <a:rPr lang="en-US" altLang="zh-CN" sz="2000" dirty="0" err="1">
                <a:solidFill>
                  <a:srgbClr val="000000"/>
                </a:solidFill>
              </a:rPr>
              <a:t>i</a:t>
            </a:r>
            <a:r>
              <a:rPr lang="en-US" altLang="zh-CN" sz="2000" dirty="0">
                <a:solidFill>
                  <a:srgbClr val="000000"/>
                </a:solidFill>
              </a:rPr>
              <a:t> = 0;  </a:t>
            </a:r>
            <a:r>
              <a:rPr lang="en-US" altLang="zh-CN" sz="2000" dirty="0" err="1">
                <a:solidFill>
                  <a:srgbClr val="000000"/>
                </a:solidFill>
              </a:rPr>
              <a:t>i</a:t>
            </a:r>
            <a:r>
              <a:rPr lang="en-US" altLang="zh-CN" sz="2000" dirty="0">
                <a:solidFill>
                  <a:srgbClr val="000000"/>
                </a:solidFill>
              </a:rPr>
              <a:t> &lt; N; </a:t>
            </a:r>
            <a:r>
              <a:rPr lang="en-US" altLang="zh-CN" sz="2000" dirty="0" err="1">
                <a:solidFill>
                  <a:srgbClr val="000000"/>
                </a:solidFill>
              </a:rPr>
              <a:t>i</a:t>
            </a:r>
            <a:r>
              <a:rPr lang="en-US" altLang="zh-CN" sz="2000" dirty="0">
                <a:solidFill>
                  <a:srgbClr val="000000"/>
                </a:solidFill>
              </a:rPr>
              <a:t> =i+1 </a:t>
            </a:r>
            <a:r>
              <a:rPr lang="zh-CN" altLang="en-US" sz="2000" dirty="0">
                <a:solidFill>
                  <a:srgbClr val="000000"/>
                </a:solidFill>
              </a:rPr>
              <a:t>）</a:t>
            </a:r>
          </a:p>
          <a:p>
            <a:pPr marL="457200" indent="-457200">
              <a:lnSpc>
                <a:spcPct val="80000"/>
              </a:lnSpc>
              <a:buNone/>
            </a:pPr>
            <a:r>
              <a:rPr lang="zh-CN" altLang="en-US" sz="2000" dirty="0">
                <a:solidFill>
                  <a:srgbClr val="000000"/>
                </a:solidFill>
              </a:rPr>
              <a:t>  </a:t>
            </a:r>
            <a:r>
              <a:rPr lang="en-US" altLang="zh-CN" sz="2000" dirty="0">
                <a:solidFill>
                  <a:srgbClr val="000000"/>
                </a:solidFill>
              </a:rPr>
              <a:t>for </a:t>
            </a:r>
            <a:r>
              <a:rPr lang="zh-CN" altLang="en-US" sz="2000" dirty="0">
                <a:solidFill>
                  <a:srgbClr val="000000"/>
                </a:solidFill>
              </a:rPr>
              <a:t>（ </a:t>
            </a:r>
            <a:r>
              <a:rPr lang="en-US" altLang="zh-CN" sz="2000" dirty="0">
                <a:solidFill>
                  <a:srgbClr val="000000"/>
                </a:solidFill>
              </a:rPr>
              <a:t>j = </a:t>
            </a:r>
            <a:r>
              <a:rPr lang="en-US" altLang="zh-CN" sz="2000" dirty="0" err="1">
                <a:solidFill>
                  <a:srgbClr val="000000"/>
                </a:solidFill>
              </a:rPr>
              <a:t>jj</a:t>
            </a:r>
            <a:r>
              <a:rPr lang="en-US" altLang="zh-CN" sz="2000" dirty="0">
                <a:solidFill>
                  <a:srgbClr val="000000"/>
                </a:solidFill>
              </a:rPr>
              <a:t>;  j &lt; min</a:t>
            </a:r>
            <a:r>
              <a:rPr lang="zh-CN" altLang="en-US" sz="2000" dirty="0">
                <a:solidFill>
                  <a:srgbClr val="000000"/>
                </a:solidFill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</a:rPr>
              <a:t>jj+B-1, N</a:t>
            </a:r>
            <a:r>
              <a:rPr lang="zh-CN" altLang="en-US" sz="2000" dirty="0">
                <a:solidFill>
                  <a:srgbClr val="000000"/>
                </a:solidFill>
              </a:rPr>
              <a:t>）</a:t>
            </a:r>
            <a:r>
              <a:rPr lang="en-US" altLang="zh-CN" sz="2000" dirty="0">
                <a:solidFill>
                  <a:srgbClr val="000000"/>
                </a:solidFill>
              </a:rPr>
              <a:t>;  j = j+1 </a:t>
            </a:r>
            <a:r>
              <a:rPr lang="zh-CN" altLang="en-US" sz="2000" dirty="0">
                <a:solidFill>
                  <a:srgbClr val="000000"/>
                </a:solidFill>
              </a:rPr>
              <a:t>） </a:t>
            </a:r>
            <a:r>
              <a:rPr lang="en-US" altLang="zh-CN" sz="2000" dirty="0">
                <a:solidFill>
                  <a:srgbClr val="000000"/>
                </a:solidFill>
              </a:rPr>
              <a:t>{</a:t>
            </a:r>
          </a:p>
          <a:p>
            <a:pPr marL="457200" indent="-457200">
              <a:lnSpc>
                <a:spcPct val="80000"/>
              </a:lnSpc>
              <a:buNone/>
            </a:pPr>
            <a:r>
              <a:rPr lang="en-US" altLang="zh-CN" sz="2000" dirty="0">
                <a:solidFill>
                  <a:srgbClr val="000000"/>
                </a:solidFill>
              </a:rPr>
              <a:t>      r = 0;</a:t>
            </a:r>
          </a:p>
          <a:p>
            <a:pPr marL="457200" indent="-457200">
              <a:lnSpc>
                <a:spcPct val="80000"/>
              </a:lnSpc>
              <a:buNone/>
            </a:pPr>
            <a:r>
              <a:rPr lang="en-US" altLang="zh-CN" sz="2000" dirty="0">
                <a:solidFill>
                  <a:srgbClr val="000000"/>
                </a:solidFill>
              </a:rPr>
              <a:t>      for </a:t>
            </a:r>
            <a:r>
              <a:rPr lang="zh-CN" altLang="en-US" sz="2000" dirty="0">
                <a:solidFill>
                  <a:srgbClr val="000000"/>
                </a:solidFill>
              </a:rPr>
              <a:t>（ </a:t>
            </a:r>
            <a:r>
              <a:rPr lang="en-US" altLang="zh-CN" sz="2000" dirty="0">
                <a:solidFill>
                  <a:srgbClr val="000000"/>
                </a:solidFill>
              </a:rPr>
              <a:t>k = </a:t>
            </a:r>
            <a:r>
              <a:rPr lang="en-US" altLang="zh-CN" sz="2000" dirty="0" err="1">
                <a:solidFill>
                  <a:srgbClr val="000000"/>
                </a:solidFill>
              </a:rPr>
              <a:t>kk</a:t>
            </a:r>
            <a:r>
              <a:rPr lang="en-US" altLang="zh-CN" sz="2000" dirty="0">
                <a:solidFill>
                  <a:srgbClr val="000000"/>
                </a:solidFill>
              </a:rPr>
              <a:t>;  k &lt; min</a:t>
            </a:r>
            <a:r>
              <a:rPr lang="zh-CN" altLang="en-US" sz="2000" dirty="0">
                <a:solidFill>
                  <a:srgbClr val="000000"/>
                </a:solidFill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</a:rPr>
              <a:t>kk+B-1, N</a:t>
            </a:r>
            <a:r>
              <a:rPr lang="zh-CN" altLang="en-US" sz="2000" dirty="0">
                <a:solidFill>
                  <a:srgbClr val="000000"/>
                </a:solidFill>
              </a:rPr>
              <a:t>）</a:t>
            </a:r>
            <a:r>
              <a:rPr lang="en-US" altLang="zh-CN" sz="2000" dirty="0">
                <a:solidFill>
                  <a:srgbClr val="000000"/>
                </a:solidFill>
              </a:rPr>
              <a:t>;  k = k+1</a:t>
            </a:r>
            <a:r>
              <a:rPr lang="zh-CN" altLang="en-US" sz="2000" dirty="0">
                <a:solidFill>
                  <a:srgbClr val="000000"/>
                </a:solidFill>
              </a:rPr>
              <a:t>） </a:t>
            </a:r>
            <a:r>
              <a:rPr lang="en-US" altLang="zh-CN" sz="2000" dirty="0">
                <a:solidFill>
                  <a:srgbClr val="000000"/>
                </a:solidFill>
              </a:rPr>
              <a:t>{</a:t>
            </a:r>
          </a:p>
          <a:p>
            <a:pPr marL="457200" indent="-457200">
              <a:lnSpc>
                <a:spcPct val="80000"/>
              </a:lnSpc>
              <a:buNone/>
            </a:pPr>
            <a:r>
              <a:rPr lang="en-US" altLang="zh-CN" sz="2000" dirty="0">
                <a:solidFill>
                  <a:srgbClr val="000000"/>
                </a:solidFill>
              </a:rPr>
              <a:t>        r = r + y[ </a:t>
            </a:r>
            <a:r>
              <a:rPr lang="en-US" altLang="zh-CN" sz="2000" dirty="0" err="1">
                <a:solidFill>
                  <a:srgbClr val="000000"/>
                </a:solidFill>
              </a:rPr>
              <a:t>i</a:t>
            </a:r>
            <a:r>
              <a:rPr lang="en-US" altLang="zh-CN" sz="2000" dirty="0">
                <a:solidFill>
                  <a:srgbClr val="000000"/>
                </a:solidFill>
              </a:rPr>
              <a:t> ][ k ] * z[ k ][ j ];</a:t>
            </a:r>
          </a:p>
          <a:p>
            <a:pPr marL="457200" indent="-457200">
              <a:lnSpc>
                <a:spcPct val="80000"/>
              </a:lnSpc>
              <a:buNone/>
            </a:pPr>
            <a:r>
              <a:rPr lang="en-US" altLang="zh-CN" sz="2000" dirty="0">
                <a:solidFill>
                  <a:srgbClr val="000000"/>
                </a:solidFill>
              </a:rPr>
              <a:t>      }</a:t>
            </a:r>
          </a:p>
          <a:p>
            <a:pPr marL="457200" indent="-457200">
              <a:lnSpc>
                <a:spcPct val="80000"/>
              </a:lnSpc>
              <a:buNone/>
            </a:pPr>
            <a:r>
              <a:rPr lang="en-US" altLang="zh-CN" sz="2000" dirty="0">
                <a:solidFill>
                  <a:srgbClr val="000000"/>
                </a:solidFill>
              </a:rPr>
              <a:t>       x[ </a:t>
            </a:r>
            <a:r>
              <a:rPr lang="en-US" altLang="zh-CN" sz="2000" dirty="0" err="1">
                <a:solidFill>
                  <a:srgbClr val="000000"/>
                </a:solidFill>
              </a:rPr>
              <a:t>i</a:t>
            </a:r>
            <a:r>
              <a:rPr lang="en-US" altLang="zh-CN" sz="2000" dirty="0">
                <a:solidFill>
                  <a:srgbClr val="000000"/>
                </a:solidFill>
              </a:rPr>
              <a:t> ][ j ] = x[ </a:t>
            </a:r>
            <a:r>
              <a:rPr lang="en-US" altLang="zh-CN" sz="2000" dirty="0" err="1">
                <a:solidFill>
                  <a:srgbClr val="000000"/>
                </a:solidFill>
              </a:rPr>
              <a:t>i</a:t>
            </a:r>
            <a:r>
              <a:rPr lang="en-US" altLang="zh-CN" sz="2000" dirty="0">
                <a:solidFill>
                  <a:srgbClr val="000000"/>
                </a:solidFill>
              </a:rPr>
              <a:t> ][ j ] + r;</a:t>
            </a:r>
          </a:p>
          <a:p>
            <a:pPr marL="457200" indent="-457200">
              <a:lnSpc>
                <a:spcPct val="80000"/>
              </a:lnSpc>
              <a:buNone/>
            </a:pPr>
            <a:r>
              <a:rPr lang="en-US" altLang="zh-CN" sz="2000" dirty="0">
                <a:solidFill>
                  <a:srgbClr val="000000"/>
                </a:solidFill>
              </a:rPr>
              <a:t>    }</a:t>
            </a:r>
          </a:p>
          <a:p>
            <a:pPr marL="457200" indent="-457200">
              <a:lnSpc>
                <a:spcPct val="115000"/>
              </a:lnSpc>
              <a:spcBef>
                <a:spcPct val="0"/>
              </a:spcBef>
              <a:buNone/>
            </a:pP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>
              <a:lnSpc>
                <a:spcPct val="115000"/>
              </a:lnSpc>
              <a:spcBef>
                <a:spcPct val="0"/>
              </a:spcBef>
              <a:buNone/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不命中次数：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2N</a:t>
            </a:r>
            <a:r>
              <a:rPr lang="en-US" altLang="zh-CN" sz="2000" b="1" baseline="300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 /B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＋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en-US" altLang="zh-CN" sz="2000" b="1" baseline="300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</p:txBody>
      </p:sp>
      <p:pic>
        <p:nvPicPr>
          <p:cNvPr id="2" name="数组乘法计算过程（分块后）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041897" y="1140152"/>
            <a:ext cx="5717406" cy="4288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291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0" y="903361"/>
            <a:ext cx="6358271" cy="5341937"/>
          </a:xfrm>
        </p:spPr>
        <p:txBody>
          <a:bodyPr>
            <a:normAutofit/>
          </a:bodyPr>
          <a:lstStyle/>
          <a:p>
            <a:pPr marL="265113" indent="-265113">
              <a:lnSpc>
                <a:spcPts val="3000"/>
              </a:lnSpc>
              <a:spcBef>
                <a:spcPts val="1200"/>
              </a:spcBef>
            </a:pPr>
            <a:r>
              <a:rPr lang="zh-CN" altLang="en-US" sz="1800" dirty="0"/>
              <a:t>一种能减少冲突不命中次数而又不影响时钟频率的方法。</a:t>
            </a:r>
          </a:p>
          <a:p>
            <a:pPr marL="265113" indent="-265113">
              <a:lnSpc>
                <a:spcPts val="3000"/>
              </a:lnSpc>
              <a:spcBef>
                <a:spcPts val="1200"/>
              </a:spcBef>
            </a:pPr>
            <a:r>
              <a:rPr lang="zh-CN" altLang="en-US" sz="1800" dirty="0"/>
              <a:t>基本思想：</a:t>
            </a:r>
            <a:r>
              <a:rPr lang="zh-CN" altLang="en-US" sz="1800" dirty="0">
                <a:latin typeface="黑体" panose="02010609060101010101" pitchFamily="49" charset="-122"/>
              </a:rPr>
              <a:t>在</a:t>
            </a:r>
            <a:r>
              <a:rPr lang="en-US" altLang="zh-CN" sz="1800" dirty="0">
                <a:latin typeface="黑体" panose="02010609060101010101" pitchFamily="49" charset="-122"/>
              </a:rPr>
              <a:t>Cache</a:t>
            </a:r>
            <a:r>
              <a:rPr lang="zh-CN" altLang="en-US" sz="1800" dirty="0">
                <a:latin typeface="黑体" panose="02010609060101010101" pitchFamily="49" charset="-122"/>
              </a:rPr>
              <a:t>和它从下一级存储器调数据的通路之间设置一个全相联的小</a:t>
            </a:r>
            <a:r>
              <a:rPr lang="en-US" altLang="zh-CN" sz="1800" dirty="0">
                <a:latin typeface="黑体" panose="02010609060101010101" pitchFamily="49" charset="-122"/>
              </a:rPr>
              <a:t>Cache</a:t>
            </a:r>
            <a:r>
              <a:rPr lang="zh-CN" altLang="en-US" sz="1800" dirty="0">
                <a:latin typeface="黑体" panose="02010609060101010101" pitchFamily="49" charset="-122"/>
              </a:rPr>
              <a:t>，称为“牺牲”</a:t>
            </a:r>
            <a:r>
              <a:rPr lang="en-US" altLang="zh-CN" sz="1800" dirty="0">
                <a:latin typeface="黑体" panose="02010609060101010101" pitchFamily="49" charset="-122"/>
              </a:rPr>
              <a:t>Cache</a:t>
            </a:r>
            <a:r>
              <a:rPr lang="zh-CN" altLang="en-US" sz="1800" dirty="0">
                <a:latin typeface="黑体" panose="02010609060101010101" pitchFamily="49" charset="-122"/>
              </a:rPr>
              <a:t>（</a:t>
            </a:r>
            <a:r>
              <a:rPr lang="en-US" altLang="zh-CN" sz="1800" dirty="0">
                <a:latin typeface="黑体" panose="02010609060101010101" pitchFamily="49" charset="-122"/>
              </a:rPr>
              <a:t>Victim Cache</a:t>
            </a:r>
            <a:r>
              <a:rPr lang="zh-CN" altLang="en-US" sz="1800" dirty="0">
                <a:latin typeface="黑体" panose="02010609060101010101" pitchFamily="49" charset="-122"/>
              </a:rPr>
              <a:t>）。用于存放被替换出去的块</a:t>
            </a:r>
            <a:r>
              <a:rPr lang="en-US" altLang="zh-CN" sz="1800" dirty="0">
                <a:latin typeface="黑体" panose="02010609060101010101" pitchFamily="49" charset="-122"/>
              </a:rPr>
              <a:t>(</a:t>
            </a:r>
            <a:r>
              <a:rPr lang="zh-CN" altLang="en-US" sz="1800" dirty="0">
                <a:latin typeface="黑体" panose="02010609060101010101" pitchFamily="49" charset="-122"/>
              </a:rPr>
              <a:t>称为牺牲者</a:t>
            </a:r>
            <a:r>
              <a:rPr lang="en-US" altLang="zh-CN" sz="1800" dirty="0">
                <a:latin typeface="黑体" panose="02010609060101010101" pitchFamily="49" charset="-122"/>
              </a:rPr>
              <a:t>)</a:t>
            </a:r>
            <a:r>
              <a:rPr lang="zh-CN" altLang="en-US" sz="1800" dirty="0">
                <a:latin typeface="黑体" panose="02010609060101010101" pitchFamily="49" charset="-122"/>
              </a:rPr>
              <a:t>，以备重用。</a:t>
            </a:r>
            <a:endParaRPr lang="en-US" altLang="zh-CN" sz="1800" dirty="0">
              <a:latin typeface="黑体" panose="02010609060101010101" pitchFamily="49" charset="-122"/>
            </a:endParaRPr>
          </a:p>
          <a:p>
            <a:pPr marL="265113" indent="-265113">
              <a:lnSpc>
                <a:spcPts val="3000"/>
              </a:lnSpc>
              <a:spcBef>
                <a:spcPts val="1200"/>
              </a:spcBef>
            </a:pPr>
            <a:r>
              <a:rPr lang="zh-CN" altLang="en-US" sz="1800" dirty="0"/>
              <a:t>作用</a:t>
            </a:r>
          </a:p>
          <a:p>
            <a:pPr marL="808038" lvl="1" indent="-265113">
              <a:lnSpc>
                <a:spcPts val="3000"/>
              </a:lnSpc>
              <a:spcBef>
                <a:spcPts val="1200"/>
              </a:spcBef>
            </a:pPr>
            <a:r>
              <a:rPr lang="zh-CN" altLang="en-US" sz="1800" dirty="0">
                <a:latin typeface="黑体" panose="02010609060101010101" pitchFamily="49" charset="-122"/>
              </a:rPr>
              <a:t>对于减小冲突不命中很有效，特别是对于小容量的直接映像数据</a:t>
            </a:r>
            <a:r>
              <a:rPr lang="en-US" altLang="zh-CN" sz="1800" dirty="0">
                <a:latin typeface="黑体" panose="02010609060101010101" pitchFamily="49" charset="-122"/>
              </a:rPr>
              <a:t>Cache</a:t>
            </a:r>
            <a:r>
              <a:rPr lang="zh-CN" altLang="en-US" sz="1800" dirty="0">
                <a:latin typeface="黑体" panose="02010609060101010101" pitchFamily="49" charset="-122"/>
              </a:rPr>
              <a:t>，作用尤其明显。</a:t>
            </a:r>
          </a:p>
          <a:p>
            <a:pPr marL="808038" lvl="1" indent="-265113">
              <a:lnSpc>
                <a:spcPts val="3000"/>
              </a:lnSpc>
              <a:spcBef>
                <a:spcPts val="1200"/>
              </a:spcBef>
            </a:pPr>
            <a:r>
              <a:rPr lang="zh-CN" altLang="en-US" sz="1800" dirty="0">
                <a:latin typeface="黑体" panose="02010609060101010101" pitchFamily="49" charset="-122"/>
              </a:rPr>
              <a:t>例如项数为</a:t>
            </a:r>
            <a:r>
              <a:rPr lang="en-US" altLang="zh-CN" sz="1800" dirty="0">
                <a:latin typeface="黑体" panose="02010609060101010101" pitchFamily="49" charset="-122"/>
              </a:rPr>
              <a:t>4</a:t>
            </a:r>
            <a:r>
              <a:rPr lang="zh-CN" altLang="en-US" sz="1800" dirty="0">
                <a:latin typeface="黑体" panose="02010609060101010101" pitchFamily="49" charset="-122"/>
              </a:rPr>
              <a:t>的</a:t>
            </a:r>
            <a:r>
              <a:rPr lang="en-US" altLang="zh-CN" sz="1800" dirty="0">
                <a:latin typeface="黑体" panose="02010609060101010101" pitchFamily="49" charset="-122"/>
              </a:rPr>
              <a:t>Victim Cache</a:t>
            </a:r>
            <a:r>
              <a:rPr lang="zh-CN" altLang="en-US" sz="1800" dirty="0">
                <a:latin typeface="黑体" panose="02010609060101010101" pitchFamily="49" charset="-122"/>
              </a:rPr>
              <a:t>，能使</a:t>
            </a:r>
            <a:r>
              <a:rPr lang="en-US" altLang="zh-CN" sz="1800" dirty="0">
                <a:latin typeface="黑体" panose="02010609060101010101" pitchFamily="49" charset="-122"/>
              </a:rPr>
              <a:t>4KB Cache</a:t>
            </a:r>
            <a:r>
              <a:rPr lang="zh-CN" altLang="en-US" sz="1800" dirty="0">
                <a:latin typeface="黑体" panose="02010609060101010101" pitchFamily="49" charset="-122"/>
              </a:rPr>
              <a:t>的冲突不命中减少</a:t>
            </a:r>
            <a:r>
              <a:rPr lang="en-US" altLang="zh-CN" sz="1800" dirty="0">
                <a:latin typeface="黑体" panose="02010609060101010101" pitchFamily="49" charset="-122"/>
              </a:rPr>
              <a:t>20%</a:t>
            </a:r>
            <a:r>
              <a:rPr lang="zh-CN" altLang="en-US" sz="1800" dirty="0">
                <a:latin typeface="黑体" panose="02010609060101010101" pitchFamily="49" charset="-122"/>
              </a:rPr>
              <a:t>～</a:t>
            </a:r>
            <a:r>
              <a:rPr lang="en-US" altLang="zh-CN" sz="1800" dirty="0">
                <a:latin typeface="黑体" panose="02010609060101010101" pitchFamily="49" charset="-122"/>
              </a:rPr>
              <a:t>90%</a:t>
            </a:r>
          </a:p>
          <a:p>
            <a:pPr marL="1085850" lvl="1" indent="-457200">
              <a:spcBef>
                <a:spcPts val="1200"/>
              </a:spcBef>
            </a:pPr>
            <a:endParaRPr lang="zh-CN" altLang="en-US" sz="2000" dirty="0">
              <a:latin typeface="黑体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123825"/>
            <a:ext cx="39549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+mn-ea"/>
              </a:rPr>
              <a:t>方法八：“牺牲”</a:t>
            </a:r>
            <a:r>
              <a:rPr lang="en-US" altLang="zh-CN" sz="2800" dirty="0">
                <a:latin typeface="+mn-ea"/>
              </a:rPr>
              <a:t>Cache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4716" y="1671731"/>
            <a:ext cx="5385116" cy="3078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0312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40488" y="1641771"/>
            <a:ext cx="7772400" cy="3673475"/>
          </a:xfrm>
        </p:spPr>
        <p:txBody>
          <a:bodyPr>
            <a:normAutofit/>
          </a:bodyPr>
          <a:lstStyle/>
          <a:p>
            <a:pPr marL="457200" indent="-457200">
              <a:lnSpc>
                <a:spcPts val="3000"/>
              </a:lnSpc>
              <a:spcBef>
                <a:spcPts val="0"/>
              </a:spcBef>
            </a:pPr>
            <a:r>
              <a:rPr lang="zh-CN" altLang="en-US" sz="2400" dirty="0">
                <a:latin typeface="+mn-ea"/>
              </a:rPr>
              <a:t>应把</a:t>
            </a:r>
            <a:r>
              <a:rPr lang="en-US" altLang="zh-CN" sz="2400" dirty="0">
                <a:latin typeface="+mn-ea"/>
              </a:rPr>
              <a:t>Cache</a:t>
            </a:r>
            <a:r>
              <a:rPr lang="zh-CN" altLang="en-US" sz="2400" dirty="0">
                <a:latin typeface="+mn-ea"/>
              </a:rPr>
              <a:t>做得更快？还是更大？</a:t>
            </a:r>
          </a:p>
          <a:p>
            <a:pPr marL="1085850" lvl="1" indent="-457200">
              <a:lnSpc>
                <a:spcPts val="3000"/>
              </a:lnSpc>
              <a:spcBef>
                <a:spcPts val="0"/>
              </a:spcBef>
              <a:buNone/>
            </a:pPr>
            <a:r>
              <a:rPr lang="zh-CN" altLang="en-US" sz="2200" dirty="0">
                <a:solidFill>
                  <a:srgbClr val="D60093"/>
                </a:solidFill>
                <a:latin typeface="+mn-ea"/>
              </a:rPr>
              <a:t>答案：</a:t>
            </a:r>
            <a:r>
              <a:rPr lang="zh-CN" altLang="en-US" sz="2200" dirty="0">
                <a:latin typeface="+mn-ea"/>
              </a:rPr>
              <a:t>二者兼顾，再增加一级</a:t>
            </a:r>
            <a:r>
              <a:rPr lang="en-US" altLang="zh-CN" sz="2200" dirty="0">
                <a:latin typeface="+mn-ea"/>
              </a:rPr>
              <a:t>Cache</a:t>
            </a:r>
          </a:p>
          <a:p>
            <a:pPr lvl="2" eaLnBrk="1" hangingPunct="1">
              <a:lnSpc>
                <a:spcPts val="3000"/>
              </a:lnSpc>
              <a:spcBef>
                <a:spcPts val="0"/>
              </a:spcBef>
            </a:pPr>
            <a:r>
              <a:rPr lang="zh-CN" altLang="en-US" sz="2200" dirty="0">
                <a:latin typeface="+mn-ea"/>
              </a:rPr>
              <a:t>第一级</a:t>
            </a:r>
            <a:r>
              <a:rPr lang="en-US" altLang="zh-CN" sz="2200" dirty="0">
                <a:latin typeface="+mn-ea"/>
              </a:rPr>
              <a:t>Cache(L1)</a:t>
            </a:r>
            <a:r>
              <a:rPr lang="zh-CN" altLang="en-US" sz="2200" dirty="0">
                <a:latin typeface="+mn-ea"/>
              </a:rPr>
              <a:t>小而快</a:t>
            </a:r>
          </a:p>
          <a:p>
            <a:pPr lvl="2" eaLnBrk="1" hangingPunct="1">
              <a:lnSpc>
                <a:spcPts val="3000"/>
              </a:lnSpc>
              <a:spcBef>
                <a:spcPts val="0"/>
              </a:spcBef>
            </a:pPr>
            <a:r>
              <a:rPr lang="zh-CN" altLang="en-US" sz="2200" dirty="0">
                <a:latin typeface="+mn-ea"/>
              </a:rPr>
              <a:t>第二级</a:t>
            </a:r>
            <a:r>
              <a:rPr lang="en-US" altLang="zh-CN" sz="2200" dirty="0">
                <a:latin typeface="+mn-ea"/>
              </a:rPr>
              <a:t>Cache(L2)</a:t>
            </a:r>
            <a:r>
              <a:rPr lang="zh-CN" altLang="en-US" sz="2200" dirty="0">
                <a:latin typeface="+mn-ea"/>
              </a:rPr>
              <a:t>容量大</a:t>
            </a:r>
            <a:endParaRPr lang="en-US" altLang="zh-CN" sz="2200" dirty="0">
              <a:latin typeface="+mn-ea"/>
            </a:endParaRPr>
          </a:p>
          <a:p>
            <a:pPr marL="914400" lvl="2" indent="0" eaLnBrk="1" hangingPunct="1">
              <a:lnSpc>
                <a:spcPts val="3000"/>
              </a:lnSpc>
              <a:spcBef>
                <a:spcPts val="0"/>
              </a:spcBef>
              <a:buNone/>
            </a:pPr>
            <a:endParaRPr lang="zh-CN" altLang="en-US" sz="2200" dirty="0">
              <a:latin typeface="+mn-ea"/>
            </a:endParaRPr>
          </a:p>
          <a:p>
            <a:pPr marL="457200" indent="-457200">
              <a:lnSpc>
                <a:spcPts val="3000"/>
              </a:lnSpc>
              <a:spcBef>
                <a:spcPts val="0"/>
              </a:spcBef>
            </a:pPr>
            <a:r>
              <a:rPr lang="zh-CN" altLang="en-US" sz="2400" dirty="0">
                <a:latin typeface="+mn-ea"/>
              </a:rPr>
              <a:t>性能分析</a:t>
            </a:r>
          </a:p>
          <a:p>
            <a:pPr marL="457200" indent="-457200">
              <a:lnSpc>
                <a:spcPts val="3000"/>
              </a:lnSpc>
              <a:spcBef>
                <a:spcPts val="0"/>
              </a:spcBef>
              <a:buNone/>
            </a:pPr>
            <a:r>
              <a:rPr lang="zh-CN" altLang="en-US" sz="1800" b="1" dirty="0">
                <a:latin typeface="+mn-ea"/>
              </a:rPr>
              <a:t>     </a:t>
            </a:r>
            <a:r>
              <a:rPr lang="zh-CN" altLang="en-US" sz="2000" dirty="0">
                <a:latin typeface="+mn-ea"/>
              </a:rPr>
              <a:t>平均访存时间 ＝ 命中时间</a:t>
            </a:r>
            <a:r>
              <a:rPr lang="en-US" altLang="zh-CN" sz="2000" baseline="-25000" dirty="0">
                <a:latin typeface="+mn-ea"/>
              </a:rPr>
              <a:t>L1</a:t>
            </a:r>
            <a:r>
              <a:rPr lang="zh-CN" altLang="en-US" sz="2000" dirty="0">
                <a:latin typeface="+mn-ea"/>
              </a:rPr>
              <a:t>＋不命中率</a:t>
            </a:r>
            <a:r>
              <a:rPr lang="en-US" altLang="zh-CN" sz="2000" baseline="-25000" dirty="0">
                <a:latin typeface="+mn-ea"/>
              </a:rPr>
              <a:t>L1</a:t>
            </a:r>
            <a:r>
              <a:rPr lang="en-US" altLang="zh-CN" sz="2000" dirty="0">
                <a:latin typeface="+mn-ea"/>
              </a:rPr>
              <a:t>×</a:t>
            </a:r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不命中开销</a:t>
            </a:r>
            <a:r>
              <a:rPr lang="en-US" altLang="zh-CN" sz="2000" baseline="-25000" dirty="0">
                <a:solidFill>
                  <a:srgbClr val="C00000"/>
                </a:solidFill>
                <a:latin typeface="+mn-ea"/>
              </a:rPr>
              <a:t>L1</a:t>
            </a:r>
          </a:p>
          <a:p>
            <a:pPr marL="1085850" lvl="1" indent="-457200">
              <a:lnSpc>
                <a:spcPts val="3000"/>
              </a:lnSpc>
              <a:spcBef>
                <a:spcPts val="0"/>
              </a:spcBef>
              <a:buNone/>
            </a:pPr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不命中开销</a:t>
            </a:r>
            <a:r>
              <a:rPr lang="en-US" altLang="zh-CN" sz="2000" baseline="-25000" dirty="0">
                <a:solidFill>
                  <a:srgbClr val="C00000"/>
                </a:solidFill>
                <a:latin typeface="+mn-ea"/>
              </a:rPr>
              <a:t>L1</a:t>
            </a:r>
            <a:r>
              <a:rPr lang="en-US" altLang="zh-CN" sz="2000" dirty="0">
                <a:solidFill>
                  <a:srgbClr val="C00000"/>
                </a:solidFill>
                <a:latin typeface="+mn-ea"/>
              </a:rPr>
              <a:t> </a:t>
            </a:r>
            <a:r>
              <a:rPr lang="zh-CN" altLang="en-US" sz="2000" dirty="0">
                <a:latin typeface="+mn-ea"/>
              </a:rPr>
              <a:t>＝ 命中时间</a:t>
            </a:r>
            <a:r>
              <a:rPr lang="en-US" altLang="zh-CN" sz="2000" baseline="-25000" dirty="0">
                <a:latin typeface="+mn-ea"/>
              </a:rPr>
              <a:t>L2</a:t>
            </a:r>
            <a:r>
              <a:rPr lang="zh-CN" altLang="en-US" sz="2000" dirty="0">
                <a:latin typeface="+mn-ea"/>
              </a:rPr>
              <a:t>＋不命中率</a:t>
            </a:r>
            <a:r>
              <a:rPr lang="en-US" altLang="zh-CN" sz="2000" baseline="-25000" dirty="0">
                <a:latin typeface="+mn-ea"/>
              </a:rPr>
              <a:t>L2</a:t>
            </a:r>
            <a:r>
              <a:rPr lang="en-US" altLang="zh-CN" sz="2000" dirty="0">
                <a:latin typeface="+mn-ea"/>
              </a:rPr>
              <a:t>×</a:t>
            </a:r>
            <a:r>
              <a:rPr lang="zh-CN" altLang="en-US" sz="2000" dirty="0">
                <a:latin typeface="+mn-ea"/>
              </a:rPr>
              <a:t>不命中开销</a:t>
            </a:r>
            <a:r>
              <a:rPr lang="en-US" altLang="zh-CN" sz="2000" baseline="-25000" dirty="0">
                <a:latin typeface="+mn-ea"/>
              </a:rPr>
              <a:t>L2</a:t>
            </a:r>
            <a:endParaRPr lang="en-US" altLang="zh-CN" baseline="-25000" dirty="0">
              <a:latin typeface="+mn-ea"/>
            </a:endParaRPr>
          </a:p>
        </p:txBody>
      </p:sp>
      <p:sp>
        <p:nvSpPr>
          <p:cNvPr id="6" name="标题 1"/>
          <p:cNvSpPr txBox="1">
            <a:spLocks/>
          </p:cNvSpPr>
          <p:nvPr/>
        </p:nvSpPr>
        <p:spPr>
          <a:xfrm>
            <a:off x="46039" y="53181"/>
            <a:ext cx="6905626" cy="771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/>
              <a:t>四</a:t>
            </a:r>
            <a:r>
              <a:rPr lang="en-US" altLang="zh-CN" sz="3600" b="1" dirty="0"/>
              <a:t>  </a:t>
            </a:r>
            <a:r>
              <a:rPr lang="zh-CN" altLang="en-US" sz="3600" b="1" dirty="0"/>
              <a:t>降低不命中开销</a:t>
            </a:r>
            <a:endParaRPr lang="zh-CN" altLang="en-US" sz="3600" dirty="0"/>
          </a:p>
        </p:txBody>
      </p:sp>
      <p:sp>
        <p:nvSpPr>
          <p:cNvPr id="7" name="矩形 6"/>
          <p:cNvSpPr/>
          <p:nvPr/>
        </p:nvSpPr>
        <p:spPr>
          <a:xfrm>
            <a:off x="262068" y="926941"/>
            <a:ext cx="3236784" cy="4514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>
              <a:lnSpc>
                <a:spcPts val="2800"/>
              </a:lnSpc>
            </a:pPr>
            <a:r>
              <a:rPr lang="zh-CN" altLang="en-US" sz="2800" dirty="0">
                <a:latin typeface="黑体" panose="02010609060101010101" pitchFamily="49" charset="-122"/>
              </a:rPr>
              <a:t>方法一：两级</a:t>
            </a:r>
            <a:r>
              <a:rPr lang="en-US" altLang="zh-CN" sz="2800" dirty="0">
                <a:latin typeface="黑体" panose="02010609060101010101" pitchFamily="49" charset="-122"/>
              </a:rPr>
              <a:t>Cache</a:t>
            </a:r>
          </a:p>
        </p:txBody>
      </p:sp>
      <p:sp>
        <p:nvSpPr>
          <p:cNvPr id="2" name="矩形 1"/>
          <p:cNvSpPr/>
          <p:nvPr/>
        </p:nvSpPr>
        <p:spPr>
          <a:xfrm>
            <a:off x="646814" y="5115191"/>
            <a:ext cx="1068926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sz="2000" dirty="0">
                <a:latin typeface="宋体" panose="02010600030101010101" pitchFamily="2" charset="-122"/>
              </a:rPr>
              <a:t>平均访存时间 ＝ 命中时间</a:t>
            </a:r>
            <a:r>
              <a:rPr lang="en-US" altLang="zh-CN" sz="2000" baseline="-25000" dirty="0">
                <a:latin typeface="宋体" panose="02010600030101010101" pitchFamily="2" charset="-122"/>
              </a:rPr>
              <a:t>L1</a:t>
            </a:r>
            <a:r>
              <a:rPr lang="zh-CN" altLang="en-US" sz="2000" dirty="0">
                <a:latin typeface="宋体" panose="02010600030101010101" pitchFamily="2" charset="-122"/>
              </a:rPr>
              <a:t>＋不命中率</a:t>
            </a:r>
            <a:r>
              <a:rPr lang="en-US" altLang="zh-CN" sz="2000" baseline="-25000" dirty="0">
                <a:latin typeface="宋体" panose="02010600030101010101" pitchFamily="2" charset="-122"/>
              </a:rPr>
              <a:t>L1</a:t>
            </a:r>
            <a:r>
              <a:rPr lang="en-US" altLang="zh-CN" sz="2000" dirty="0">
                <a:latin typeface="宋体" panose="02010600030101010101" pitchFamily="2" charset="-122"/>
              </a:rPr>
              <a:t>×</a:t>
            </a:r>
            <a:r>
              <a:rPr lang="zh-CN" altLang="en-US" sz="2000" dirty="0">
                <a:latin typeface="宋体" panose="02010600030101010101" pitchFamily="2" charset="-122"/>
              </a:rPr>
              <a:t>（命中时间</a:t>
            </a:r>
            <a:r>
              <a:rPr lang="en-US" altLang="zh-CN" sz="2000" baseline="-25000" dirty="0">
                <a:latin typeface="宋体" panose="02010600030101010101" pitchFamily="2" charset="-122"/>
              </a:rPr>
              <a:t>L2</a:t>
            </a:r>
            <a:r>
              <a:rPr lang="zh-CN" altLang="en-US" sz="2000" dirty="0">
                <a:latin typeface="宋体" panose="02010600030101010101" pitchFamily="2" charset="-122"/>
              </a:rPr>
              <a:t>＋不命中率</a:t>
            </a:r>
            <a:r>
              <a:rPr lang="en-US" altLang="zh-CN" sz="2000" baseline="-25000" dirty="0">
                <a:latin typeface="宋体" panose="02010600030101010101" pitchFamily="2" charset="-122"/>
              </a:rPr>
              <a:t>L2</a:t>
            </a:r>
            <a:r>
              <a:rPr lang="en-US" altLang="zh-CN" sz="2000" dirty="0">
                <a:latin typeface="宋体" panose="02010600030101010101" pitchFamily="2" charset="-122"/>
              </a:rPr>
              <a:t>×</a:t>
            </a:r>
            <a:r>
              <a:rPr lang="zh-CN" altLang="en-US" sz="2000" dirty="0">
                <a:latin typeface="宋体" panose="02010600030101010101" pitchFamily="2" charset="-122"/>
              </a:rPr>
              <a:t>不命中开销</a:t>
            </a:r>
            <a:r>
              <a:rPr lang="en-US" altLang="zh-CN" sz="2000" baseline="-25000" dirty="0">
                <a:latin typeface="宋体" panose="02010600030101010101" pitchFamily="2" charset="-122"/>
              </a:rPr>
              <a:t>L2</a:t>
            </a:r>
            <a:r>
              <a:rPr lang="zh-CN" altLang="en-US" sz="2000" dirty="0">
                <a:latin typeface="宋体" panose="02010600030101010101" pitchFamily="2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5536762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0" name="Rectangle 4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593649" y="487953"/>
            <a:ext cx="10294089" cy="6487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  <a:defRPr kumimoji="1" sz="2400">
                <a:solidFill>
                  <a:srgbClr val="E24C05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1085850" indent="-4572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714500" indent="-43815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q"/>
              <a:defRPr kumimoji="1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rgbClr val="006600"/>
              </a:buClr>
              <a:buSzPct val="6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局部不命中率与全局不命中率</a:t>
            </a:r>
          </a:p>
          <a:p>
            <a:pPr marL="893763" lvl="2" indent="-265113">
              <a:lnSpc>
                <a:spcPts val="3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200" b="0" dirty="0">
                <a:solidFill>
                  <a:srgbClr val="FF0000"/>
                </a:solidFill>
                <a:latin typeface="+mn-ea"/>
                <a:ea typeface="+mn-ea"/>
              </a:rPr>
              <a:t>局部</a:t>
            </a:r>
            <a:r>
              <a:rPr lang="zh-CN" altLang="en-US" sz="2200" b="0" dirty="0">
                <a:solidFill>
                  <a:schemeClr val="tx1"/>
                </a:solidFill>
                <a:latin typeface="+mn-ea"/>
                <a:ea typeface="+mn-ea"/>
              </a:rPr>
              <a:t>不命中率＝该级</a:t>
            </a:r>
            <a:r>
              <a:rPr lang="en-US" altLang="zh-CN" sz="2200" b="0" dirty="0">
                <a:solidFill>
                  <a:schemeClr val="tx1"/>
                </a:solidFill>
                <a:latin typeface="+mn-ea"/>
                <a:ea typeface="+mn-ea"/>
              </a:rPr>
              <a:t>Cache</a:t>
            </a:r>
            <a:r>
              <a:rPr lang="zh-CN" altLang="en-US" sz="2200" b="0" dirty="0">
                <a:solidFill>
                  <a:schemeClr val="tx1"/>
                </a:solidFill>
                <a:latin typeface="+mn-ea"/>
                <a:ea typeface="+mn-ea"/>
              </a:rPr>
              <a:t>的不命中次数</a:t>
            </a:r>
            <a:r>
              <a:rPr lang="en-US" altLang="zh-CN" sz="2200" b="0" dirty="0">
                <a:solidFill>
                  <a:schemeClr val="tx1"/>
                </a:solidFill>
                <a:latin typeface="+mn-ea"/>
                <a:ea typeface="+mn-ea"/>
              </a:rPr>
              <a:t>/</a:t>
            </a:r>
            <a:r>
              <a:rPr lang="zh-CN" altLang="en-US" sz="2200" b="0" dirty="0">
                <a:solidFill>
                  <a:schemeClr val="tx1"/>
                </a:solidFill>
                <a:latin typeface="+mn-ea"/>
                <a:ea typeface="+mn-ea"/>
              </a:rPr>
              <a:t>到达该级</a:t>
            </a:r>
            <a:r>
              <a:rPr lang="en-US" altLang="zh-CN" sz="2200" b="0" dirty="0">
                <a:solidFill>
                  <a:schemeClr val="tx1"/>
                </a:solidFill>
                <a:latin typeface="+mn-ea"/>
                <a:ea typeface="+mn-ea"/>
              </a:rPr>
              <a:t>Cache</a:t>
            </a:r>
            <a:r>
              <a:rPr lang="zh-CN" altLang="en-US" sz="2200" b="0" dirty="0">
                <a:solidFill>
                  <a:schemeClr val="tx1"/>
                </a:solidFill>
                <a:latin typeface="+mn-ea"/>
                <a:ea typeface="+mn-ea"/>
              </a:rPr>
              <a:t>的访问次数</a:t>
            </a:r>
          </a:p>
          <a:p>
            <a:pPr marL="893763" lvl="2" indent="-265113" eaLnBrk="1" hangingPunct="1">
              <a:lnSpc>
                <a:spcPts val="3000"/>
              </a:lnSpc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zh-CN" altLang="en-US" sz="2200" b="0" dirty="0">
                <a:solidFill>
                  <a:schemeClr val="tx1"/>
                </a:solidFill>
                <a:latin typeface="+mn-ea"/>
                <a:ea typeface="+mn-ea"/>
              </a:rPr>
              <a:t>     例如：上述式子中的不命中率</a:t>
            </a:r>
            <a:r>
              <a:rPr lang="en-US" altLang="zh-CN" sz="2200" b="0" dirty="0">
                <a:solidFill>
                  <a:schemeClr val="tx1"/>
                </a:solidFill>
                <a:latin typeface="+mn-ea"/>
                <a:ea typeface="+mn-ea"/>
              </a:rPr>
              <a:t>L2</a:t>
            </a:r>
          </a:p>
          <a:p>
            <a:pPr marL="893763" lvl="2" indent="-265113">
              <a:lnSpc>
                <a:spcPts val="3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200" b="0" dirty="0">
                <a:solidFill>
                  <a:srgbClr val="FF0000"/>
                </a:solidFill>
                <a:latin typeface="+mn-ea"/>
                <a:ea typeface="+mn-ea"/>
              </a:rPr>
              <a:t>全局</a:t>
            </a:r>
            <a:r>
              <a:rPr lang="zh-CN" altLang="en-US" sz="2200" b="0" dirty="0">
                <a:solidFill>
                  <a:schemeClr val="tx1"/>
                </a:solidFill>
                <a:latin typeface="+mn-ea"/>
                <a:ea typeface="+mn-ea"/>
              </a:rPr>
              <a:t>不命中率＝该级</a:t>
            </a:r>
            <a:r>
              <a:rPr lang="en-US" altLang="zh-CN" sz="2200" b="0" dirty="0">
                <a:solidFill>
                  <a:schemeClr val="tx1"/>
                </a:solidFill>
                <a:latin typeface="+mn-ea"/>
                <a:ea typeface="+mn-ea"/>
              </a:rPr>
              <a:t>Cache</a:t>
            </a:r>
            <a:r>
              <a:rPr lang="zh-CN" altLang="en-US" sz="2200" b="0" dirty="0">
                <a:solidFill>
                  <a:schemeClr val="tx1"/>
                </a:solidFill>
                <a:latin typeface="+mn-ea"/>
                <a:ea typeface="+mn-ea"/>
              </a:rPr>
              <a:t>的不命中次数</a:t>
            </a:r>
            <a:r>
              <a:rPr lang="en-US" altLang="zh-CN" sz="2200" b="0" dirty="0">
                <a:solidFill>
                  <a:schemeClr val="tx1"/>
                </a:solidFill>
                <a:latin typeface="+mn-ea"/>
                <a:ea typeface="+mn-ea"/>
              </a:rPr>
              <a:t>/CPU</a:t>
            </a:r>
            <a:r>
              <a:rPr lang="zh-CN" altLang="en-US" sz="2200" b="0" dirty="0">
                <a:solidFill>
                  <a:schemeClr val="tx1"/>
                </a:solidFill>
                <a:latin typeface="+mn-ea"/>
                <a:ea typeface="+mn-ea"/>
              </a:rPr>
              <a:t>发出的访存的总次数</a:t>
            </a:r>
            <a:endParaRPr lang="en-US" altLang="zh-CN" sz="2200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93763" lvl="2" indent="-265113">
              <a:lnSpc>
                <a:spcPts val="3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200" b="0" dirty="0">
                <a:solidFill>
                  <a:schemeClr val="tx1"/>
                </a:solidFill>
                <a:latin typeface="+mn-ea"/>
                <a:ea typeface="+mn-ea"/>
              </a:rPr>
              <a:t>全局不命中率</a:t>
            </a:r>
            <a:r>
              <a:rPr lang="en-US" altLang="zh-CN" sz="2200" b="0" dirty="0">
                <a:solidFill>
                  <a:schemeClr val="tx1"/>
                </a:solidFill>
                <a:latin typeface="+mn-ea"/>
                <a:ea typeface="+mn-ea"/>
              </a:rPr>
              <a:t>L</a:t>
            </a:r>
            <a:r>
              <a:rPr lang="en-US" altLang="zh-CN" sz="2200" b="0" baseline="-25000" dirty="0">
                <a:solidFill>
                  <a:schemeClr val="tx1"/>
                </a:solidFill>
                <a:latin typeface="+mn-ea"/>
                <a:ea typeface="+mn-ea"/>
              </a:rPr>
              <a:t>2</a:t>
            </a:r>
            <a:r>
              <a:rPr lang="zh-CN" altLang="en-US" sz="2200" b="0" dirty="0">
                <a:solidFill>
                  <a:schemeClr val="tx1"/>
                </a:solidFill>
                <a:latin typeface="+mn-ea"/>
                <a:ea typeface="+mn-ea"/>
              </a:rPr>
              <a:t>＝不命中率</a:t>
            </a:r>
            <a:r>
              <a:rPr lang="en-US" altLang="zh-CN" sz="2200" b="0" dirty="0">
                <a:solidFill>
                  <a:schemeClr val="tx1"/>
                </a:solidFill>
                <a:latin typeface="+mn-ea"/>
                <a:ea typeface="+mn-ea"/>
              </a:rPr>
              <a:t>L</a:t>
            </a:r>
            <a:r>
              <a:rPr lang="en-US" altLang="zh-CN" sz="2200" b="0" baseline="-25000" dirty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r>
              <a:rPr lang="en-US" altLang="zh-CN" sz="2200" b="0" dirty="0">
                <a:solidFill>
                  <a:schemeClr val="tx1"/>
                </a:solidFill>
                <a:latin typeface="+mn-ea"/>
                <a:ea typeface="+mn-ea"/>
              </a:rPr>
              <a:t>×</a:t>
            </a:r>
            <a:r>
              <a:rPr lang="zh-CN" altLang="en-US" sz="2200" b="0" dirty="0">
                <a:solidFill>
                  <a:schemeClr val="tx1"/>
                </a:solidFill>
                <a:latin typeface="+mn-ea"/>
                <a:ea typeface="+mn-ea"/>
              </a:rPr>
              <a:t>不命中率</a:t>
            </a:r>
            <a:r>
              <a:rPr lang="en-US" altLang="zh-CN" sz="2200" b="0" dirty="0">
                <a:solidFill>
                  <a:schemeClr val="tx1"/>
                </a:solidFill>
                <a:latin typeface="+mn-ea"/>
                <a:ea typeface="+mn-ea"/>
              </a:rPr>
              <a:t>L</a:t>
            </a:r>
            <a:r>
              <a:rPr lang="en-US" altLang="zh-CN" sz="2200" b="0" baseline="-25000" dirty="0">
                <a:solidFill>
                  <a:schemeClr val="tx1"/>
                </a:solidFill>
                <a:latin typeface="+mn-ea"/>
                <a:ea typeface="+mn-ea"/>
              </a:rPr>
              <a:t>2</a:t>
            </a:r>
          </a:p>
          <a:p>
            <a:pPr marL="893763" lvl="2" indent="-265113">
              <a:lnSpc>
                <a:spcPts val="3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200" b="0" dirty="0">
                <a:solidFill>
                  <a:schemeClr val="tx1"/>
                </a:solidFill>
                <a:latin typeface="+mn-ea"/>
                <a:ea typeface="+mn-ea"/>
              </a:rPr>
              <a:t>全局不命中率比局部不命中率更有意义，它指出了在</a:t>
            </a:r>
            <a:r>
              <a:rPr lang="en-US" altLang="zh-CN" sz="2200" b="0" dirty="0">
                <a:solidFill>
                  <a:schemeClr val="tx1"/>
                </a:solidFill>
                <a:latin typeface="+mn-ea"/>
                <a:ea typeface="+mn-ea"/>
              </a:rPr>
              <a:t>CPU</a:t>
            </a:r>
            <a:r>
              <a:rPr lang="zh-CN" altLang="en-US" sz="2200" b="0" dirty="0">
                <a:solidFill>
                  <a:schemeClr val="tx1"/>
                </a:solidFill>
                <a:latin typeface="+mn-ea"/>
                <a:ea typeface="+mn-ea"/>
              </a:rPr>
              <a:t>发出的访存中，究竟有多大比例是穿过各级</a:t>
            </a:r>
            <a:r>
              <a:rPr lang="en-US" altLang="zh-CN" sz="2200" b="0" dirty="0">
                <a:solidFill>
                  <a:schemeClr val="tx1"/>
                </a:solidFill>
                <a:latin typeface="+mn-ea"/>
                <a:ea typeface="+mn-ea"/>
              </a:rPr>
              <a:t>Cache</a:t>
            </a:r>
            <a:r>
              <a:rPr lang="zh-CN" altLang="en-US" sz="2200" b="0" dirty="0">
                <a:solidFill>
                  <a:schemeClr val="tx1"/>
                </a:solidFill>
                <a:latin typeface="+mn-ea"/>
                <a:ea typeface="+mn-ea"/>
              </a:rPr>
              <a:t>，最终到达存储器的。</a:t>
            </a:r>
          </a:p>
          <a:p>
            <a:pPr>
              <a:lnSpc>
                <a:spcPts val="3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采用两级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Cache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时，每条指令的平均访存停顿时间：</a:t>
            </a:r>
          </a:p>
          <a:p>
            <a:pPr lvl="1">
              <a:lnSpc>
                <a:spcPts val="3000"/>
              </a:lnSpc>
              <a:spcBef>
                <a:spcPts val="1200"/>
              </a:spcBef>
              <a:buNone/>
            </a:pPr>
            <a:r>
              <a:rPr lang="zh-CN" altLang="en-US" sz="2000" dirty="0">
                <a:latin typeface="+mn-ea"/>
                <a:ea typeface="+mn-ea"/>
              </a:rPr>
              <a:t>  每条指令的平均访存停顿时间 ＝ 每条指令的平均不命中次数</a:t>
            </a:r>
            <a:r>
              <a:rPr lang="en-US" altLang="zh-CN" sz="2000" baseline="-25000" dirty="0">
                <a:latin typeface="+mn-ea"/>
                <a:ea typeface="+mn-ea"/>
              </a:rPr>
              <a:t>L1</a:t>
            </a:r>
            <a:r>
              <a:rPr lang="en-US" altLang="zh-CN" sz="2000" dirty="0">
                <a:latin typeface="+mn-ea"/>
                <a:ea typeface="+mn-ea"/>
              </a:rPr>
              <a:t>×</a:t>
            </a:r>
            <a:r>
              <a:rPr lang="zh-CN" altLang="en-US" sz="2000" dirty="0">
                <a:latin typeface="+mn-ea"/>
                <a:ea typeface="+mn-ea"/>
              </a:rPr>
              <a:t>命中时间</a:t>
            </a:r>
            <a:r>
              <a:rPr lang="en-US" altLang="zh-CN" sz="2000" baseline="-25000" dirty="0">
                <a:latin typeface="+mn-ea"/>
                <a:ea typeface="+mn-ea"/>
              </a:rPr>
              <a:t>L2</a:t>
            </a:r>
            <a:endParaRPr lang="zh-CN" altLang="en-US" sz="2000" dirty="0">
              <a:latin typeface="+mn-ea"/>
              <a:ea typeface="+mn-ea"/>
            </a:endParaRPr>
          </a:p>
          <a:p>
            <a:pPr lvl="1">
              <a:lnSpc>
                <a:spcPts val="3000"/>
              </a:lnSpc>
              <a:spcBef>
                <a:spcPts val="1200"/>
              </a:spcBef>
              <a:buNone/>
            </a:pPr>
            <a:r>
              <a:rPr lang="zh-CN" altLang="en-US" sz="2000" dirty="0">
                <a:latin typeface="+mn-ea"/>
                <a:ea typeface="+mn-ea"/>
              </a:rPr>
              <a:t>                                </a:t>
            </a:r>
            <a:r>
              <a:rPr lang="zh-CN" altLang="en-US" sz="2000" dirty="0">
                <a:latin typeface="+mn-ea"/>
              </a:rPr>
              <a:t>＋</a:t>
            </a:r>
            <a:r>
              <a:rPr lang="zh-CN" altLang="en-US" sz="2000" dirty="0">
                <a:latin typeface="+mn-ea"/>
                <a:ea typeface="+mn-ea"/>
              </a:rPr>
              <a:t>每条指令的平均不命中次数</a:t>
            </a:r>
            <a:r>
              <a:rPr lang="en-US" altLang="zh-CN" sz="2000" baseline="-25000" dirty="0">
                <a:latin typeface="+mn-ea"/>
                <a:ea typeface="+mn-ea"/>
              </a:rPr>
              <a:t>L2</a:t>
            </a:r>
            <a:r>
              <a:rPr lang="en-US" altLang="zh-CN" sz="2000" dirty="0">
                <a:latin typeface="+mn-ea"/>
                <a:ea typeface="+mn-ea"/>
              </a:rPr>
              <a:t>×</a:t>
            </a:r>
            <a:r>
              <a:rPr lang="zh-CN" altLang="en-US" sz="2000" dirty="0">
                <a:latin typeface="+mn-ea"/>
                <a:ea typeface="+mn-ea"/>
              </a:rPr>
              <a:t>不命中开销</a:t>
            </a:r>
            <a:r>
              <a:rPr lang="en-US" altLang="zh-CN" sz="2000" baseline="-25000" dirty="0">
                <a:latin typeface="+mn-ea"/>
                <a:ea typeface="+mn-ea"/>
              </a:rPr>
              <a:t>L2</a:t>
            </a:r>
          </a:p>
          <a:p>
            <a:pPr lvl="1" eaLnBrk="1" hangingPunct="1"/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4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944525" y="2720237"/>
            <a:ext cx="7773988" cy="44418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85850" lvl="1" indent="-457200">
              <a:lnSpc>
                <a:spcPct val="140000"/>
              </a:lnSpc>
              <a:buFont typeface="Arial" panose="020B0604020202020204" pitchFamily="34" charset="0"/>
              <a:buNone/>
            </a:pPr>
            <a:endParaRPr lang="en-US" altLang="zh-CN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910934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191881" y="1309208"/>
            <a:ext cx="9929776" cy="5300662"/>
          </a:xfrm>
        </p:spPr>
        <p:txBody>
          <a:bodyPr/>
          <a:lstStyle/>
          <a:p>
            <a:pPr marL="0" indent="446088">
              <a:lnSpc>
                <a:spcPct val="140000"/>
              </a:lnSpc>
              <a:buNone/>
            </a:pP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考虑某一两级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Cache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：第一级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Cache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en-US" altLang="zh-CN" sz="2200" dirty="0">
                <a:solidFill>
                  <a:srgbClr val="9933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L1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，第二级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Cache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en-US" altLang="zh-CN" sz="2200" dirty="0">
                <a:solidFill>
                  <a:srgbClr val="9933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L2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 </a:t>
            </a:r>
          </a:p>
          <a:p>
            <a:pPr marL="0" indent="446088">
              <a:lnSpc>
                <a:spcPct val="110000"/>
              </a:lnSpc>
              <a:buNone/>
            </a:pP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）假设在</a:t>
            </a:r>
            <a:r>
              <a:rPr lang="en-US" altLang="zh-CN" sz="2200" dirty="0">
                <a:solidFill>
                  <a:srgbClr val="9933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1000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次访存中，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L1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的不命中是</a:t>
            </a:r>
            <a:r>
              <a:rPr lang="en-US" altLang="zh-CN" sz="2200" dirty="0">
                <a:solidFill>
                  <a:srgbClr val="9933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40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次，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L2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的不命中是</a:t>
            </a:r>
            <a:r>
              <a:rPr lang="en-US" altLang="zh-CN" sz="2200" dirty="0">
                <a:solidFill>
                  <a:srgbClr val="9933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20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次。求各种局部不命中率和全局不命中率。</a:t>
            </a:r>
          </a:p>
          <a:p>
            <a:pPr marL="0" indent="446088">
              <a:lnSpc>
                <a:spcPct val="110000"/>
              </a:lnSpc>
              <a:buNone/>
            </a:pP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）假设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L2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的命中时间是</a:t>
            </a:r>
            <a:r>
              <a:rPr lang="en-US" altLang="zh-CN" sz="2200" dirty="0">
                <a:solidFill>
                  <a:srgbClr val="9933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个时钟周期，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L2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的不命中开销是</a:t>
            </a:r>
            <a:r>
              <a:rPr lang="en-US" altLang="zh-CN" sz="2200" dirty="0">
                <a:solidFill>
                  <a:srgbClr val="9933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100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时钟周期，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L1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的命中时间是</a:t>
            </a:r>
            <a:r>
              <a:rPr lang="en-US" altLang="zh-CN" sz="2200" dirty="0">
                <a:solidFill>
                  <a:srgbClr val="9933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个时钟周期，平均每条指令访存</a:t>
            </a:r>
            <a:r>
              <a:rPr lang="en-US" altLang="zh-CN" sz="2200" dirty="0">
                <a:solidFill>
                  <a:srgbClr val="9933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1.5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次，不考虑写操作的影响。问：平均访存时间是多少？每条指令的平均停顿时间是多少个时钟周期？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</a:p>
          <a:p>
            <a:pPr marL="457200" indent="-457200">
              <a:lnSpc>
                <a:spcPct val="110000"/>
              </a:lnSpc>
              <a:buNone/>
            </a:pP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sz="20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15703" y="564929"/>
            <a:ext cx="6335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</a:rPr>
              <a:t>例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6955441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006548" y="2264700"/>
            <a:ext cx="10412819" cy="3938587"/>
          </a:xfrm>
        </p:spPr>
        <p:txBody>
          <a:bodyPr>
            <a:normAutofit/>
          </a:bodyPr>
          <a:lstStyle/>
          <a:p>
            <a:pPr marL="457200" indent="-457200">
              <a:buNone/>
            </a:pP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indent="-457200">
              <a:buNone/>
            </a:pPr>
            <a:r>
              <a:rPr lang="zh-CN" altLang="en-US" sz="2000" dirty="0">
                <a:latin typeface="+mn-ea"/>
              </a:rPr>
              <a:t>（</a:t>
            </a:r>
            <a:r>
              <a:rPr lang="en-US" altLang="zh-CN" sz="2000" dirty="0">
                <a:latin typeface="+mn-ea"/>
              </a:rPr>
              <a:t>2</a:t>
            </a:r>
            <a:r>
              <a:rPr lang="zh-CN" altLang="en-US" sz="2000" dirty="0">
                <a:latin typeface="+mn-ea"/>
              </a:rPr>
              <a:t>）平均访存时间＝命中时间</a:t>
            </a:r>
            <a:r>
              <a:rPr lang="en-US" altLang="zh-CN" sz="2000" baseline="-25000" dirty="0">
                <a:latin typeface="+mn-ea"/>
              </a:rPr>
              <a:t>L1</a:t>
            </a:r>
            <a:r>
              <a:rPr lang="zh-CN" altLang="en-US" sz="2000" dirty="0">
                <a:latin typeface="+mn-ea"/>
              </a:rPr>
              <a:t>＋不命中率</a:t>
            </a:r>
            <a:r>
              <a:rPr lang="en-US" altLang="zh-CN" sz="2000" baseline="-25000" dirty="0">
                <a:latin typeface="+mn-ea"/>
              </a:rPr>
              <a:t>L1</a:t>
            </a:r>
            <a:r>
              <a:rPr lang="en-US" altLang="zh-CN" sz="2000" dirty="0">
                <a:latin typeface="+mn-ea"/>
              </a:rPr>
              <a:t>×</a:t>
            </a:r>
            <a:r>
              <a:rPr lang="zh-CN" altLang="en-US" sz="2000" dirty="0">
                <a:latin typeface="+mn-ea"/>
              </a:rPr>
              <a:t>（命中时间</a:t>
            </a:r>
            <a:r>
              <a:rPr lang="en-US" altLang="zh-CN" sz="2000" baseline="-25000" dirty="0">
                <a:latin typeface="+mn-ea"/>
              </a:rPr>
              <a:t>L2</a:t>
            </a:r>
            <a:r>
              <a:rPr lang="zh-CN" altLang="en-US" sz="2000" dirty="0">
                <a:latin typeface="+mn-ea"/>
              </a:rPr>
              <a:t>＋不命中率</a:t>
            </a:r>
            <a:r>
              <a:rPr lang="en-US" altLang="zh-CN" sz="2000" baseline="-25000" dirty="0">
                <a:latin typeface="+mn-ea"/>
              </a:rPr>
              <a:t>L2</a:t>
            </a:r>
            <a:r>
              <a:rPr lang="en-US" altLang="zh-CN" sz="2000" dirty="0">
                <a:latin typeface="+mn-ea"/>
              </a:rPr>
              <a:t>×</a:t>
            </a:r>
            <a:r>
              <a:rPr lang="zh-CN" altLang="en-US" sz="2000" dirty="0">
                <a:latin typeface="+mn-ea"/>
              </a:rPr>
              <a:t>不命中开销</a:t>
            </a:r>
            <a:r>
              <a:rPr lang="en-US" altLang="zh-CN" sz="2000" baseline="-25000" dirty="0">
                <a:latin typeface="+mn-ea"/>
              </a:rPr>
              <a:t>L2</a:t>
            </a:r>
            <a:r>
              <a:rPr lang="zh-CN" altLang="en-US" sz="2000" dirty="0">
                <a:latin typeface="+mn-ea"/>
              </a:rPr>
              <a:t>）</a:t>
            </a:r>
          </a:p>
          <a:p>
            <a:pPr marL="457200" indent="-457200">
              <a:buNone/>
            </a:pPr>
            <a:r>
              <a:rPr lang="zh-CN" altLang="en-US" sz="2000" dirty="0">
                <a:latin typeface="+mn-ea"/>
              </a:rPr>
              <a:t>                 ＝</a:t>
            </a:r>
            <a:r>
              <a:rPr lang="en-US" altLang="zh-CN" sz="2000" dirty="0">
                <a:latin typeface="+mn-ea"/>
              </a:rPr>
              <a:t>1</a:t>
            </a:r>
            <a:r>
              <a:rPr lang="zh-CN" altLang="en-US" sz="2000" dirty="0">
                <a:latin typeface="+mn-ea"/>
              </a:rPr>
              <a:t>＋</a:t>
            </a:r>
            <a:r>
              <a:rPr lang="en-US" altLang="zh-CN" sz="2000" dirty="0">
                <a:latin typeface="+mn-ea"/>
              </a:rPr>
              <a:t>4%×</a:t>
            </a:r>
            <a:r>
              <a:rPr lang="zh-CN" altLang="en-US" sz="2000" dirty="0">
                <a:latin typeface="+mn-ea"/>
              </a:rPr>
              <a:t>（</a:t>
            </a:r>
            <a:r>
              <a:rPr lang="en-US" altLang="zh-CN" sz="2000" dirty="0">
                <a:latin typeface="+mn-ea"/>
              </a:rPr>
              <a:t>10</a:t>
            </a:r>
            <a:r>
              <a:rPr lang="zh-CN" altLang="en-US" sz="2000" dirty="0">
                <a:latin typeface="+mn-ea"/>
              </a:rPr>
              <a:t>＋</a:t>
            </a:r>
            <a:r>
              <a:rPr lang="en-US" altLang="zh-CN" sz="2000" dirty="0">
                <a:latin typeface="+mn-ea"/>
              </a:rPr>
              <a:t>50%×100</a:t>
            </a:r>
            <a:r>
              <a:rPr lang="zh-CN" altLang="en-US" sz="2000" dirty="0">
                <a:latin typeface="+mn-ea"/>
              </a:rPr>
              <a:t>）</a:t>
            </a:r>
          </a:p>
          <a:p>
            <a:pPr marL="457200" indent="-457200">
              <a:buNone/>
            </a:pPr>
            <a:r>
              <a:rPr lang="zh-CN" altLang="en-US" sz="2000" dirty="0">
                <a:latin typeface="+mn-ea"/>
              </a:rPr>
              <a:t>                 ＝</a:t>
            </a:r>
            <a:r>
              <a:rPr lang="en-US" altLang="zh-CN" sz="2000" dirty="0">
                <a:latin typeface="+mn-ea"/>
              </a:rPr>
              <a:t>1</a:t>
            </a:r>
            <a:r>
              <a:rPr lang="zh-CN" altLang="en-US" sz="2000" dirty="0">
                <a:latin typeface="+mn-ea"/>
              </a:rPr>
              <a:t>＋</a:t>
            </a:r>
            <a:r>
              <a:rPr lang="en-US" altLang="zh-CN" sz="2000" dirty="0">
                <a:latin typeface="+mn-ea"/>
              </a:rPr>
              <a:t>4%×60</a:t>
            </a:r>
            <a:r>
              <a:rPr lang="zh-CN" altLang="en-US" sz="2000" dirty="0">
                <a:latin typeface="+mn-ea"/>
              </a:rPr>
              <a:t>＝</a:t>
            </a:r>
            <a:r>
              <a:rPr lang="en-US" altLang="zh-CN" sz="2000" dirty="0">
                <a:solidFill>
                  <a:srgbClr val="9933FF"/>
                </a:solidFill>
                <a:latin typeface="+mn-ea"/>
              </a:rPr>
              <a:t>3.4</a:t>
            </a:r>
            <a:r>
              <a:rPr lang="zh-CN" altLang="en-US" sz="2000" dirty="0">
                <a:latin typeface="+mn-ea"/>
              </a:rPr>
              <a:t>个时钟周期</a:t>
            </a:r>
          </a:p>
          <a:p>
            <a:pPr marL="457200" indent="-457200">
              <a:buNone/>
            </a:pP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      由于平均每条指令访存</a:t>
            </a:r>
            <a:r>
              <a:rPr lang="en-US" altLang="zh-CN" sz="2000" dirty="0">
                <a:solidFill>
                  <a:srgbClr val="9933FF"/>
                </a:solidFill>
                <a:latin typeface="+mn-ea"/>
              </a:rPr>
              <a:t>1.5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次，且每次访存的平均停顿时间为：</a:t>
            </a:r>
          </a:p>
          <a:p>
            <a:pPr marL="457200" indent="-457200">
              <a:buNone/>
            </a:pP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                    </a:t>
            </a:r>
            <a:r>
              <a:rPr lang="en-US" altLang="zh-CN" sz="2000" dirty="0">
                <a:latin typeface="+mn-ea"/>
              </a:rPr>
              <a:t>3.4</a:t>
            </a:r>
            <a:r>
              <a:rPr lang="zh-CN" altLang="en-US" sz="2000" dirty="0">
                <a:latin typeface="+mn-ea"/>
              </a:rPr>
              <a:t>－</a:t>
            </a:r>
            <a:r>
              <a:rPr lang="en-US" altLang="zh-CN" sz="2000" dirty="0">
                <a:latin typeface="+mn-ea"/>
              </a:rPr>
              <a:t>1.0</a:t>
            </a:r>
            <a:r>
              <a:rPr lang="zh-CN" altLang="en-US" sz="2000" dirty="0">
                <a:latin typeface="+mn-ea"/>
              </a:rPr>
              <a:t>＝</a:t>
            </a:r>
            <a:r>
              <a:rPr lang="en-US" altLang="zh-CN" sz="2000" dirty="0">
                <a:latin typeface="+mn-ea"/>
              </a:rPr>
              <a:t>2.4</a:t>
            </a:r>
          </a:p>
          <a:p>
            <a:pPr marL="457200" indent="-457200">
              <a:buNone/>
            </a:pP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      所以：</a:t>
            </a:r>
          </a:p>
          <a:p>
            <a:pPr marL="457200" indent="-457200">
              <a:buNone/>
            </a:pPr>
            <a:r>
              <a:rPr lang="zh-CN" altLang="en-US" sz="2000" dirty="0">
                <a:latin typeface="+mn-ea"/>
              </a:rPr>
              <a:t>              每条指令的平均停顿时间＝</a:t>
            </a:r>
            <a:r>
              <a:rPr lang="en-US" altLang="zh-CN" sz="2000" dirty="0">
                <a:solidFill>
                  <a:srgbClr val="9933FF"/>
                </a:solidFill>
                <a:latin typeface="+mn-ea"/>
              </a:rPr>
              <a:t>2.4×1.5</a:t>
            </a:r>
            <a:r>
              <a:rPr lang="zh-CN" altLang="en-US" sz="2000" dirty="0">
                <a:solidFill>
                  <a:srgbClr val="9933FF"/>
                </a:solidFill>
                <a:latin typeface="+mn-ea"/>
              </a:rPr>
              <a:t>＝</a:t>
            </a:r>
            <a:r>
              <a:rPr lang="en-US" altLang="zh-CN" sz="2000" dirty="0">
                <a:solidFill>
                  <a:srgbClr val="9933FF"/>
                </a:solidFill>
                <a:latin typeface="+mn-ea"/>
              </a:rPr>
              <a:t>3.6</a:t>
            </a:r>
            <a:r>
              <a:rPr lang="zh-CN" altLang="en-US" sz="2000" dirty="0">
                <a:latin typeface="+mn-ea"/>
              </a:rPr>
              <a:t>个时钟周期</a:t>
            </a:r>
          </a:p>
        </p:txBody>
      </p:sp>
      <p:sp>
        <p:nvSpPr>
          <p:cNvPr id="2" name="矩形 1"/>
          <p:cNvSpPr/>
          <p:nvPr/>
        </p:nvSpPr>
        <p:spPr>
          <a:xfrm>
            <a:off x="602511" y="941835"/>
            <a:ext cx="772278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10000"/>
              </a:lnSpc>
              <a:buNone/>
            </a:pPr>
            <a:r>
              <a:rPr lang="zh-CN" altLang="en-US" sz="2000" dirty="0">
                <a:latin typeface="+mn-ea"/>
              </a:rPr>
              <a:t>解 （</a:t>
            </a:r>
            <a:r>
              <a:rPr lang="en-US" altLang="zh-CN" sz="2000" dirty="0">
                <a:latin typeface="+mn-ea"/>
              </a:rPr>
              <a:t>1</a:t>
            </a:r>
            <a:r>
              <a:rPr lang="zh-CN" altLang="en-US" sz="2000" dirty="0">
                <a:latin typeface="+mn-ea"/>
              </a:rPr>
              <a:t>）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第一级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Cache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的不命中率（全局和局部）是</a:t>
            </a:r>
            <a:r>
              <a:rPr lang="en-US" altLang="zh-CN" sz="2000" dirty="0">
                <a:solidFill>
                  <a:srgbClr val="9933FF"/>
                </a:solidFill>
                <a:latin typeface="+mn-ea"/>
              </a:rPr>
              <a:t>40/1000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，即</a:t>
            </a:r>
            <a:r>
              <a:rPr lang="en-US" altLang="zh-CN" sz="2000" dirty="0">
                <a:solidFill>
                  <a:srgbClr val="9933FF"/>
                </a:solidFill>
                <a:latin typeface="+mn-ea"/>
              </a:rPr>
              <a:t>4%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；</a:t>
            </a:r>
          </a:p>
          <a:p>
            <a:pPr marL="457200" indent="-457200">
              <a:lnSpc>
                <a:spcPct val="140000"/>
              </a:lnSpc>
              <a:buNone/>
            </a:pP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       第二级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Cache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的局部不命中率是</a:t>
            </a:r>
            <a:r>
              <a:rPr lang="en-US" altLang="zh-CN" sz="2000" dirty="0">
                <a:solidFill>
                  <a:srgbClr val="9933FF"/>
                </a:solidFill>
                <a:latin typeface="+mn-ea"/>
              </a:rPr>
              <a:t>20/40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，即</a:t>
            </a:r>
            <a:r>
              <a:rPr lang="en-US" altLang="zh-CN" sz="2000" dirty="0">
                <a:solidFill>
                  <a:srgbClr val="9933FF"/>
                </a:solidFill>
                <a:latin typeface="+mn-ea"/>
              </a:rPr>
              <a:t>50%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；</a:t>
            </a:r>
          </a:p>
          <a:p>
            <a:pPr marL="457200" indent="-457200">
              <a:lnSpc>
                <a:spcPct val="110000"/>
              </a:lnSpc>
              <a:buNone/>
            </a:pP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       第二级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Cache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的全局不命中率是</a:t>
            </a:r>
            <a:r>
              <a:rPr lang="en-US" altLang="zh-CN" sz="2000" dirty="0">
                <a:solidFill>
                  <a:srgbClr val="9933FF"/>
                </a:solidFill>
                <a:latin typeface="+mn-ea"/>
              </a:rPr>
              <a:t>20/1000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，即</a:t>
            </a:r>
            <a:r>
              <a:rPr lang="en-US" altLang="zh-CN" sz="2000" dirty="0">
                <a:solidFill>
                  <a:srgbClr val="9933FF"/>
                </a:solidFill>
                <a:latin typeface="+mn-ea"/>
              </a:rPr>
              <a:t>2%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。 </a:t>
            </a:r>
          </a:p>
        </p:txBody>
      </p:sp>
    </p:spTree>
    <p:extLst>
      <p:ext uri="{BB962C8B-B14F-4D97-AF65-F5344CB8AC3E}">
        <p14:creationId xmlns:p14="http://schemas.microsoft.com/office/powerpoint/2010/main" val="1039324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08591" y="230740"/>
            <a:ext cx="10515600" cy="6382711"/>
          </a:xfrm>
        </p:spPr>
        <p:txBody>
          <a:bodyPr>
            <a:normAutofit/>
          </a:bodyPr>
          <a:lstStyle/>
          <a:p>
            <a:pPr marL="457200" indent="-457200">
              <a:lnSpc>
                <a:spcPts val="3000"/>
              </a:lnSpc>
              <a:spcBef>
                <a:spcPts val="600"/>
              </a:spcBef>
              <a:buClr>
                <a:schemeClr val="tx1"/>
              </a:buClr>
            </a:pPr>
            <a:r>
              <a:rPr kumimoji="1" lang="zh-CN" altLang="en-US" sz="2200" dirty="0">
                <a:latin typeface="+mn-ea"/>
              </a:rPr>
              <a:t>对于第二级</a:t>
            </a:r>
            <a:r>
              <a:rPr kumimoji="1" lang="en-US" altLang="zh-CN" sz="2200" dirty="0">
                <a:latin typeface="+mn-ea"/>
              </a:rPr>
              <a:t>Cache</a:t>
            </a:r>
            <a:r>
              <a:rPr kumimoji="1" lang="zh-CN" altLang="en-US" sz="2200" dirty="0">
                <a:latin typeface="+mn-ea"/>
              </a:rPr>
              <a:t>，我们有以下结论：</a:t>
            </a:r>
          </a:p>
          <a:p>
            <a:pPr marL="893763" lvl="1" indent="-265113">
              <a:lnSpc>
                <a:spcPts val="3000"/>
              </a:lnSpc>
              <a:spcBef>
                <a:spcPts val="600"/>
              </a:spcBef>
            </a:pPr>
            <a:r>
              <a:rPr lang="zh-CN" altLang="en-US" sz="2200" dirty="0">
                <a:latin typeface="黑体" panose="02010609060101010101" pitchFamily="49" charset="-122"/>
              </a:rPr>
              <a:t>在第二级</a:t>
            </a:r>
            <a:r>
              <a:rPr lang="en-US" altLang="zh-CN" sz="2200" dirty="0">
                <a:latin typeface="黑体" panose="02010609060101010101" pitchFamily="49" charset="-122"/>
              </a:rPr>
              <a:t>Cache</a:t>
            </a:r>
            <a:r>
              <a:rPr lang="zh-CN" altLang="en-US" sz="2200" dirty="0">
                <a:latin typeface="黑体" panose="02010609060101010101" pitchFamily="49" charset="-122"/>
              </a:rPr>
              <a:t>比第一级 </a:t>
            </a:r>
            <a:r>
              <a:rPr lang="en-US" altLang="zh-CN" sz="2200" dirty="0">
                <a:latin typeface="黑体" panose="02010609060101010101" pitchFamily="49" charset="-122"/>
              </a:rPr>
              <a:t>Cache</a:t>
            </a:r>
            <a:r>
              <a:rPr lang="zh-CN" altLang="en-US" sz="2200" dirty="0">
                <a:latin typeface="黑体" panose="02010609060101010101" pitchFamily="49" charset="-122"/>
              </a:rPr>
              <a:t>大得多的情况下，两级</a:t>
            </a:r>
            <a:r>
              <a:rPr lang="en-US" altLang="zh-CN" sz="2200" dirty="0">
                <a:latin typeface="黑体" panose="02010609060101010101" pitchFamily="49" charset="-122"/>
              </a:rPr>
              <a:t>Cache</a:t>
            </a:r>
            <a:r>
              <a:rPr lang="zh-CN" altLang="en-US" sz="2200" dirty="0">
                <a:latin typeface="黑体" panose="02010609060101010101" pitchFamily="49" charset="-122"/>
              </a:rPr>
              <a:t>的全局不命中率和容量与第二级</a:t>
            </a:r>
            <a:r>
              <a:rPr lang="en-US" altLang="zh-CN" sz="2200" dirty="0">
                <a:latin typeface="黑体" panose="02010609060101010101" pitchFamily="49" charset="-122"/>
              </a:rPr>
              <a:t>Cache</a:t>
            </a:r>
            <a:r>
              <a:rPr lang="zh-CN" altLang="en-US" sz="2200" dirty="0">
                <a:latin typeface="黑体" panose="02010609060101010101" pitchFamily="49" charset="-122"/>
              </a:rPr>
              <a:t>相同的单级</a:t>
            </a:r>
            <a:r>
              <a:rPr lang="en-US" altLang="zh-CN" sz="2200" dirty="0">
                <a:latin typeface="黑体" panose="02010609060101010101" pitchFamily="49" charset="-122"/>
              </a:rPr>
              <a:t>Cache</a:t>
            </a:r>
            <a:r>
              <a:rPr lang="zh-CN" altLang="en-US" sz="2200" dirty="0">
                <a:latin typeface="黑体" panose="02010609060101010101" pitchFamily="49" charset="-122"/>
              </a:rPr>
              <a:t>的不命中率非常接近。</a:t>
            </a:r>
          </a:p>
          <a:p>
            <a:pPr marL="893763" lvl="1" indent="-265113">
              <a:lnSpc>
                <a:spcPts val="3000"/>
              </a:lnSpc>
              <a:spcBef>
                <a:spcPts val="600"/>
              </a:spcBef>
            </a:pPr>
            <a:r>
              <a:rPr lang="zh-CN" altLang="en-US" sz="2200" dirty="0">
                <a:latin typeface="黑体" panose="02010609060101010101" pitchFamily="49" charset="-122"/>
              </a:rPr>
              <a:t>局部不命中率不是衡量第二级</a:t>
            </a:r>
            <a:r>
              <a:rPr lang="en-US" altLang="zh-CN" sz="2200" dirty="0">
                <a:latin typeface="黑体" panose="02010609060101010101" pitchFamily="49" charset="-122"/>
              </a:rPr>
              <a:t>Cache</a:t>
            </a:r>
            <a:r>
              <a:rPr lang="zh-CN" altLang="en-US" sz="2200" dirty="0">
                <a:latin typeface="黑体" panose="02010609060101010101" pitchFamily="49" charset="-122"/>
              </a:rPr>
              <a:t>的一个好指标，因此，在评价第二级</a:t>
            </a:r>
            <a:r>
              <a:rPr lang="en-US" altLang="zh-CN" sz="2200" dirty="0">
                <a:latin typeface="黑体" panose="02010609060101010101" pitchFamily="49" charset="-122"/>
              </a:rPr>
              <a:t>Cache</a:t>
            </a:r>
            <a:r>
              <a:rPr lang="zh-CN" altLang="en-US" sz="2200" dirty="0">
                <a:latin typeface="黑体" panose="02010609060101010101" pitchFamily="49" charset="-122"/>
              </a:rPr>
              <a:t>时，应用全局不命中率这个指标。</a:t>
            </a:r>
          </a:p>
          <a:p>
            <a:pPr marL="457200" indent="-457200">
              <a:lnSpc>
                <a:spcPts val="3000"/>
              </a:lnSpc>
              <a:spcBef>
                <a:spcPts val="600"/>
              </a:spcBef>
              <a:buClr>
                <a:schemeClr val="tx1"/>
              </a:buClr>
            </a:pPr>
            <a:r>
              <a:rPr kumimoji="1" lang="zh-CN" altLang="en-US" sz="2200" dirty="0">
                <a:latin typeface="+mn-ea"/>
              </a:rPr>
              <a:t>第二级</a:t>
            </a:r>
            <a:r>
              <a:rPr kumimoji="1" lang="en-US" altLang="zh-CN" sz="2200" dirty="0">
                <a:latin typeface="+mn-ea"/>
              </a:rPr>
              <a:t>Cache</a:t>
            </a:r>
            <a:r>
              <a:rPr kumimoji="1" lang="zh-CN" altLang="en-US" sz="2200" dirty="0">
                <a:latin typeface="+mn-ea"/>
              </a:rPr>
              <a:t>不会影响</a:t>
            </a:r>
            <a:r>
              <a:rPr kumimoji="1" lang="en-US" altLang="zh-CN" sz="2200" dirty="0">
                <a:latin typeface="+mn-ea"/>
              </a:rPr>
              <a:t>CPU</a:t>
            </a:r>
            <a:r>
              <a:rPr kumimoji="1" lang="zh-CN" altLang="en-US" sz="2200" dirty="0">
                <a:latin typeface="+mn-ea"/>
              </a:rPr>
              <a:t>的时钟频率，因此其设计有更大的考虑空间。</a:t>
            </a:r>
          </a:p>
          <a:p>
            <a:pPr marL="893763" lvl="1" indent="-265113">
              <a:lnSpc>
                <a:spcPts val="3000"/>
              </a:lnSpc>
              <a:spcBef>
                <a:spcPts val="600"/>
              </a:spcBef>
            </a:pPr>
            <a:r>
              <a:rPr lang="zh-CN" altLang="en-US" sz="2200" dirty="0">
                <a:latin typeface="黑体" panose="02010609060101010101" pitchFamily="49" charset="-122"/>
              </a:rPr>
              <a:t>设计第二级</a:t>
            </a:r>
            <a:r>
              <a:rPr lang="en-US" altLang="zh-CN" sz="2200" dirty="0">
                <a:latin typeface="黑体" panose="02010609060101010101" pitchFamily="49" charset="-122"/>
              </a:rPr>
              <a:t>Cache</a:t>
            </a:r>
            <a:r>
              <a:rPr lang="zh-CN" altLang="en-US" sz="2200" dirty="0">
                <a:latin typeface="黑体" panose="02010609060101010101" pitchFamily="49" charset="-122"/>
              </a:rPr>
              <a:t>时有两个问题需要权衡：</a:t>
            </a:r>
            <a:endParaRPr lang="en-US" altLang="zh-CN" sz="2200" dirty="0">
              <a:latin typeface="黑体" panose="02010609060101010101" pitchFamily="49" charset="-122"/>
            </a:endParaRPr>
          </a:p>
          <a:p>
            <a:pPr lvl="2">
              <a:lnSpc>
                <a:spcPts val="3000"/>
              </a:lnSpc>
              <a:spcBef>
                <a:spcPts val="600"/>
              </a:spcBef>
            </a:pPr>
            <a:r>
              <a:rPr lang="zh-CN" altLang="en-US" sz="2200" dirty="0">
                <a:latin typeface="宋体" panose="02010600030101010101" pitchFamily="2" charset="-122"/>
              </a:rPr>
              <a:t>它能否降低</a:t>
            </a:r>
            <a:r>
              <a:rPr lang="en-US" altLang="zh-CN" sz="2200" dirty="0">
                <a:latin typeface="宋体" panose="02010600030101010101" pitchFamily="2" charset="-122"/>
              </a:rPr>
              <a:t>CPI</a:t>
            </a:r>
            <a:r>
              <a:rPr lang="zh-CN" altLang="en-US" sz="2200" dirty="0">
                <a:latin typeface="宋体" panose="02010600030101010101" pitchFamily="2" charset="-122"/>
              </a:rPr>
              <a:t>中的平均访存时间部分？</a:t>
            </a:r>
          </a:p>
          <a:p>
            <a:pPr lvl="2">
              <a:lnSpc>
                <a:spcPts val="3000"/>
              </a:lnSpc>
              <a:spcBef>
                <a:spcPts val="600"/>
              </a:spcBef>
            </a:pPr>
            <a:r>
              <a:rPr lang="zh-CN" altLang="en-US" sz="2200" dirty="0">
                <a:latin typeface="宋体" panose="02010600030101010101" pitchFamily="2" charset="-122"/>
              </a:rPr>
              <a:t>它的成本是多少？</a:t>
            </a:r>
          </a:p>
          <a:p>
            <a:pPr marL="457200" indent="-457200">
              <a:lnSpc>
                <a:spcPts val="3000"/>
              </a:lnSpc>
              <a:spcBef>
                <a:spcPts val="600"/>
              </a:spcBef>
              <a:buClr>
                <a:schemeClr val="tx1"/>
              </a:buClr>
            </a:pPr>
            <a:r>
              <a:rPr kumimoji="1" lang="zh-CN" altLang="en-US" sz="2200" dirty="0">
                <a:latin typeface="+mn-ea"/>
              </a:rPr>
              <a:t>第二级</a:t>
            </a:r>
            <a:r>
              <a:rPr kumimoji="1" lang="en-US" altLang="zh-CN" sz="2200" dirty="0">
                <a:latin typeface="+mn-ea"/>
              </a:rPr>
              <a:t>Cache</a:t>
            </a:r>
            <a:r>
              <a:rPr kumimoji="1" lang="zh-CN" altLang="en-US" sz="2200" dirty="0">
                <a:latin typeface="+mn-ea"/>
              </a:rPr>
              <a:t>的参数</a:t>
            </a:r>
          </a:p>
          <a:p>
            <a:pPr marL="893763" lvl="1" indent="-265113">
              <a:lnSpc>
                <a:spcPts val="3000"/>
              </a:lnSpc>
              <a:spcBef>
                <a:spcPts val="600"/>
              </a:spcBef>
            </a:pPr>
            <a:r>
              <a:rPr lang="zh-CN" altLang="en-US" sz="2200" dirty="0">
                <a:latin typeface="黑体" panose="02010609060101010101" pitchFamily="49" charset="-122"/>
              </a:rPr>
              <a:t>容量：</a:t>
            </a:r>
            <a:r>
              <a:rPr lang="zh-CN" altLang="en-US" sz="2200" dirty="0">
                <a:latin typeface="宋体" panose="02010600030101010101" pitchFamily="2" charset="-122"/>
              </a:rPr>
              <a:t>第二级</a:t>
            </a:r>
            <a:r>
              <a:rPr lang="en-US" altLang="zh-CN" sz="2200" dirty="0">
                <a:latin typeface="宋体" panose="02010600030101010101" pitchFamily="2" charset="-122"/>
              </a:rPr>
              <a:t>Cache</a:t>
            </a:r>
            <a:r>
              <a:rPr lang="zh-CN" altLang="en-US" sz="2200" dirty="0">
                <a:latin typeface="宋体" panose="02010600030101010101" pitchFamily="2" charset="-122"/>
              </a:rPr>
              <a:t>的容量一般比第一级的大许多。</a:t>
            </a:r>
          </a:p>
          <a:p>
            <a:pPr lvl="2">
              <a:lnSpc>
                <a:spcPts val="3000"/>
              </a:lnSpc>
              <a:spcBef>
                <a:spcPts val="600"/>
              </a:spcBef>
            </a:pPr>
            <a:r>
              <a:rPr lang="zh-CN" altLang="en-US" sz="2200" dirty="0">
                <a:latin typeface="宋体" panose="02010600030101010101" pitchFamily="2" charset="-122"/>
              </a:rPr>
              <a:t>大容量意味着第二级</a:t>
            </a:r>
            <a:r>
              <a:rPr lang="en-US" altLang="zh-CN" sz="2200" dirty="0">
                <a:latin typeface="宋体" panose="02010600030101010101" pitchFamily="2" charset="-122"/>
              </a:rPr>
              <a:t>Cache</a:t>
            </a:r>
            <a:r>
              <a:rPr lang="zh-CN" altLang="en-US" sz="2200" dirty="0">
                <a:latin typeface="宋体" panose="02010600030101010101" pitchFamily="2" charset="-122"/>
              </a:rPr>
              <a:t>可能实际上没有容量不命中，只剩下一些强制性不命中和冲突不命中。 </a:t>
            </a:r>
          </a:p>
          <a:p>
            <a:pPr marL="893763" lvl="1" indent="-265113">
              <a:lnSpc>
                <a:spcPts val="3000"/>
              </a:lnSpc>
              <a:spcBef>
                <a:spcPts val="600"/>
              </a:spcBef>
            </a:pPr>
            <a:r>
              <a:rPr lang="zh-CN" altLang="en-US" sz="2200" dirty="0">
                <a:latin typeface="黑体" panose="02010609060101010101" pitchFamily="49" charset="-122"/>
              </a:rPr>
              <a:t>相联度：第二级</a:t>
            </a:r>
            <a:r>
              <a:rPr lang="en-US" altLang="zh-CN" sz="2200" dirty="0">
                <a:latin typeface="黑体" panose="02010609060101010101" pitchFamily="49" charset="-122"/>
              </a:rPr>
              <a:t>Cache</a:t>
            </a:r>
            <a:r>
              <a:rPr lang="zh-CN" altLang="en-US" sz="2200" dirty="0">
                <a:latin typeface="黑体" panose="02010609060101010101" pitchFamily="49" charset="-122"/>
              </a:rPr>
              <a:t>可采用较高的相联度或伪相联方法。</a:t>
            </a:r>
          </a:p>
          <a:p>
            <a:pPr marL="1085850" lvl="1" indent="-457200"/>
            <a:endParaRPr lang="zh-CN" altLang="en-US" dirty="0">
              <a:latin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815654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546262" y="987699"/>
            <a:ext cx="9511598" cy="5104756"/>
          </a:xfrm>
        </p:spPr>
        <p:txBody>
          <a:bodyPr>
            <a:noAutofit/>
          </a:bodyPr>
          <a:lstStyle/>
          <a:p>
            <a:pPr marL="457200" indent="-457200">
              <a:lnSpc>
                <a:spcPct val="140000"/>
              </a:lnSpc>
              <a:buNone/>
            </a:pPr>
            <a:r>
              <a:rPr lang="zh-CN" altLang="en-US" sz="2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给出有关第二级</a:t>
            </a:r>
            <a:r>
              <a:rPr lang="en-US" altLang="zh-CN" sz="2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的以下数据：</a:t>
            </a:r>
          </a:p>
          <a:p>
            <a:pPr marL="457200" indent="-457200">
              <a:lnSpc>
                <a:spcPct val="140000"/>
              </a:lnSpc>
              <a:buNone/>
            </a:pPr>
            <a:r>
              <a:rPr lang="zh-CN" altLang="en-US" sz="2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（</a:t>
            </a:r>
            <a:r>
              <a:rPr lang="en-US" altLang="zh-CN" sz="2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）对于直接映像，命中时间</a:t>
            </a:r>
            <a:r>
              <a:rPr lang="en-US" altLang="zh-CN" sz="2200" baseline="-25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L2</a:t>
            </a:r>
            <a:r>
              <a:rPr lang="en-US" altLang="zh-CN" sz="2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＝ </a:t>
            </a:r>
            <a:r>
              <a:rPr lang="en-US" altLang="zh-CN" sz="2200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2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个时钟周期</a:t>
            </a:r>
          </a:p>
          <a:p>
            <a:pPr marL="457200" indent="-457200">
              <a:lnSpc>
                <a:spcPct val="140000"/>
              </a:lnSpc>
              <a:buNone/>
            </a:pPr>
            <a:r>
              <a:rPr lang="zh-CN" altLang="en-US" sz="2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）两路组相联使命中时间增加</a:t>
            </a:r>
            <a:r>
              <a:rPr lang="en-US" altLang="zh-CN" sz="2200" dirty="0">
                <a:solidFill>
                  <a:srgbClr val="9933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0.1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个时钟周期，即为</a:t>
            </a:r>
            <a:r>
              <a:rPr lang="en-US" altLang="zh-CN" sz="2200" dirty="0">
                <a:solidFill>
                  <a:srgbClr val="9933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10.1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个时钟周期。</a:t>
            </a:r>
          </a:p>
          <a:p>
            <a:pPr marL="457200" indent="-457200">
              <a:lnSpc>
                <a:spcPct val="140000"/>
              </a:lnSpc>
              <a:buNone/>
            </a:pPr>
            <a:r>
              <a:rPr lang="zh-CN" altLang="en-US" sz="2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（</a:t>
            </a:r>
            <a:r>
              <a:rPr lang="en-US" altLang="zh-CN" sz="2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 对于直接映像，局部不命中率</a:t>
            </a:r>
            <a:r>
              <a:rPr lang="en-US" altLang="zh-CN" sz="2200" baseline="-25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L2</a:t>
            </a:r>
            <a:r>
              <a:rPr lang="en-US" altLang="zh-CN" sz="2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＝ </a:t>
            </a:r>
            <a:r>
              <a:rPr lang="en-US" altLang="zh-CN" sz="2200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25%</a:t>
            </a:r>
          </a:p>
          <a:p>
            <a:pPr marL="457200" indent="-457200">
              <a:lnSpc>
                <a:spcPct val="140000"/>
              </a:lnSpc>
              <a:buNone/>
            </a:pPr>
            <a:r>
              <a:rPr lang="en-US" altLang="zh-CN" sz="2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 对于两路组相联，局部不命中率</a:t>
            </a:r>
            <a:r>
              <a:rPr lang="en-US" altLang="zh-CN" sz="2200" baseline="-25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L2 </a:t>
            </a:r>
            <a:r>
              <a:rPr lang="zh-CN" altLang="en-US" sz="2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＝ </a:t>
            </a:r>
            <a:r>
              <a:rPr lang="en-US" altLang="zh-CN" sz="2200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20%</a:t>
            </a:r>
          </a:p>
          <a:p>
            <a:pPr marL="457200" indent="-457200">
              <a:lnSpc>
                <a:spcPct val="140000"/>
              </a:lnSpc>
              <a:buNone/>
            </a:pPr>
            <a:r>
              <a:rPr lang="en-US" altLang="zh-CN" sz="2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2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 不命中开销</a:t>
            </a:r>
            <a:r>
              <a:rPr lang="en-US" altLang="zh-CN" sz="2200" baseline="-25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L2</a:t>
            </a:r>
            <a:r>
              <a:rPr lang="en-US" altLang="zh-CN" sz="2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＝ </a:t>
            </a:r>
            <a:r>
              <a:rPr lang="en-US" altLang="zh-CN" sz="2200" dirty="0">
                <a:solidFill>
                  <a:srgbClr val="99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50</a:t>
            </a:r>
            <a:r>
              <a:rPr lang="zh-CN" altLang="en-US" sz="2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个时钟周期</a:t>
            </a:r>
          </a:p>
          <a:p>
            <a:pPr marL="457200" indent="-457200">
              <a:lnSpc>
                <a:spcPct val="140000"/>
              </a:lnSpc>
              <a:buNone/>
            </a:pPr>
            <a:r>
              <a:rPr lang="zh-CN" altLang="en-US" sz="2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试问第二级</a:t>
            </a:r>
            <a:r>
              <a:rPr lang="en-US" altLang="zh-CN" sz="2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的相联度对不命中开销的影响如何？</a:t>
            </a:r>
          </a:p>
        </p:txBody>
      </p:sp>
      <p:sp>
        <p:nvSpPr>
          <p:cNvPr id="2" name="矩形 1"/>
          <p:cNvSpPr/>
          <p:nvPr/>
        </p:nvSpPr>
        <p:spPr>
          <a:xfrm>
            <a:off x="554065" y="464479"/>
            <a:ext cx="8306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</a:rPr>
              <a:t>例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</a:rPr>
              <a:t> 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97522260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926067" y="1027815"/>
            <a:ext cx="9685226" cy="4995863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30000"/>
              </a:lnSpc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对一个直接映像的第二级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来说，第一级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的不命中开销为：</a:t>
            </a:r>
          </a:p>
          <a:p>
            <a:pPr marL="457200" indent="-457200">
              <a:lnSpc>
                <a:spcPct val="130000"/>
              </a:lnSpc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不命中开销</a:t>
            </a:r>
            <a:r>
              <a:rPr lang="zh-CN" altLang="en-US" sz="20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直接映像，</a:t>
            </a:r>
            <a:r>
              <a:rPr lang="en-US" altLang="zh-CN" sz="20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L1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＝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＋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25%×50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＝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22.5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个时钟周期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对于两路组相联第二级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来说，命中时间增加了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10%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0.1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）个时钟周期，故第一级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的不命中开销为：</a:t>
            </a:r>
          </a:p>
          <a:p>
            <a:pPr marL="457200" indent="-457200">
              <a:lnSpc>
                <a:spcPct val="130000"/>
              </a:lnSpc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不命中开销</a:t>
            </a:r>
            <a:r>
              <a:rPr lang="zh-CN" altLang="en-US" sz="20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两路组相联，</a:t>
            </a:r>
            <a:r>
              <a:rPr lang="en-US" altLang="zh-CN" sz="20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L1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＝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10.1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＋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20%×50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＝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20.1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个时钟周期</a:t>
            </a:r>
          </a:p>
          <a:p>
            <a:pPr marL="457200" indent="-457200">
              <a:lnSpc>
                <a:spcPct val="130000"/>
              </a:lnSpc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把第二级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的命中时间取整，得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或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11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，则：</a:t>
            </a:r>
          </a:p>
          <a:p>
            <a:pPr marL="457200" indent="-457200">
              <a:lnSpc>
                <a:spcPct val="130000"/>
              </a:lnSpc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不命中开销</a:t>
            </a:r>
            <a:r>
              <a:rPr lang="zh-CN" altLang="en-US" sz="20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两路组相联，</a:t>
            </a:r>
            <a:r>
              <a:rPr lang="en-US" altLang="zh-CN" sz="20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L1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＝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＋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20%×50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＝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20.0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个时钟周期</a:t>
            </a:r>
          </a:p>
          <a:p>
            <a:pPr marL="457200" indent="-457200">
              <a:lnSpc>
                <a:spcPct val="130000"/>
              </a:lnSpc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不命中开销</a:t>
            </a:r>
            <a:r>
              <a:rPr lang="zh-CN" altLang="en-US" sz="20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两路组相联，</a:t>
            </a:r>
            <a:r>
              <a:rPr lang="en-US" altLang="zh-CN" sz="20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L1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＝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＋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20%×50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＝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21.0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个时钟周期</a:t>
            </a:r>
          </a:p>
          <a:p>
            <a:pPr marL="457200" indent="-457200">
              <a:lnSpc>
                <a:spcPct val="130000"/>
              </a:lnSpc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  故对于第二级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来说，两路组相联优于直接映像。</a:t>
            </a:r>
          </a:p>
        </p:txBody>
      </p:sp>
      <p:sp>
        <p:nvSpPr>
          <p:cNvPr id="2" name="矩形 1"/>
          <p:cNvSpPr/>
          <p:nvPr/>
        </p:nvSpPr>
        <p:spPr>
          <a:xfrm>
            <a:off x="492998" y="265078"/>
            <a:ext cx="6463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</a:rPr>
              <a:t>解 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86002277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85307" y="670960"/>
            <a:ext cx="10570535" cy="4932398"/>
          </a:xfrm>
        </p:spPr>
        <p:txBody>
          <a:bodyPr>
            <a:normAutofit/>
          </a:bodyPr>
          <a:lstStyle/>
          <a:p>
            <a:pPr marL="1085850" lvl="1" indent="-457200">
              <a:lnSpc>
                <a:spcPts val="2800"/>
              </a:lnSpc>
            </a:pPr>
            <a:r>
              <a:rPr lang="zh-CN" altLang="en-US" sz="2200" dirty="0">
                <a:latin typeface="+mn-ea"/>
              </a:rPr>
              <a:t>块大小</a:t>
            </a:r>
          </a:p>
          <a:p>
            <a:pPr lvl="2" eaLnBrk="1" hangingPunct="1">
              <a:lnSpc>
                <a:spcPts val="2800"/>
              </a:lnSpc>
            </a:pPr>
            <a:r>
              <a:rPr lang="zh-CN" altLang="en-US" sz="2200" dirty="0">
                <a:latin typeface="+mn-ea"/>
              </a:rPr>
              <a:t>第二级</a:t>
            </a:r>
            <a:r>
              <a:rPr lang="en-US" altLang="zh-CN" sz="2200" dirty="0">
                <a:latin typeface="+mn-ea"/>
              </a:rPr>
              <a:t>Cache</a:t>
            </a:r>
            <a:r>
              <a:rPr lang="zh-CN" altLang="en-US" sz="2200" dirty="0">
                <a:latin typeface="+mn-ea"/>
              </a:rPr>
              <a:t>可采用较大的块，如 </a:t>
            </a:r>
            <a:r>
              <a:rPr lang="en-US" altLang="zh-CN" sz="2200" dirty="0">
                <a:latin typeface="+mn-ea"/>
              </a:rPr>
              <a:t>64</a:t>
            </a:r>
            <a:r>
              <a:rPr lang="zh-CN" altLang="en-US" sz="2200" dirty="0">
                <a:latin typeface="+mn-ea"/>
              </a:rPr>
              <a:t>、</a:t>
            </a:r>
            <a:r>
              <a:rPr lang="en-US" altLang="zh-CN" sz="2200" dirty="0">
                <a:latin typeface="+mn-ea"/>
              </a:rPr>
              <a:t>128</a:t>
            </a:r>
            <a:r>
              <a:rPr lang="zh-CN" altLang="en-US" sz="2200" dirty="0">
                <a:latin typeface="+mn-ea"/>
              </a:rPr>
              <a:t>、</a:t>
            </a:r>
            <a:r>
              <a:rPr lang="en-US" altLang="zh-CN" sz="2200" dirty="0">
                <a:latin typeface="+mn-ea"/>
              </a:rPr>
              <a:t>256</a:t>
            </a:r>
            <a:r>
              <a:rPr lang="zh-CN" altLang="en-US" sz="2200" dirty="0">
                <a:latin typeface="+mn-ea"/>
              </a:rPr>
              <a:t>字节 </a:t>
            </a:r>
          </a:p>
          <a:p>
            <a:pPr lvl="2" eaLnBrk="1" hangingPunct="1">
              <a:lnSpc>
                <a:spcPts val="2800"/>
              </a:lnSpc>
            </a:pPr>
            <a:r>
              <a:rPr lang="zh-CN" altLang="en-US" sz="2200" dirty="0">
                <a:latin typeface="+mn-ea"/>
              </a:rPr>
              <a:t>为减少平均访存时间，可以让容量较小的第一级</a:t>
            </a:r>
            <a:r>
              <a:rPr lang="en-US" altLang="zh-CN" sz="2200" dirty="0">
                <a:latin typeface="+mn-ea"/>
              </a:rPr>
              <a:t>Cache</a:t>
            </a:r>
            <a:r>
              <a:rPr lang="zh-CN" altLang="en-US" sz="2200" dirty="0">
                <a:latin typeface="+mn-ea"/>
              </a:rPr>
              <a:t>采用较小的块，而让容量较大的第二级</a:t>
            </a:r>
            <a:r>
              <a:rPr lang="en-US" altLang="zh-CN" sz="2200" dirty="0">
                <a:latin typeface="+mn-ea"/>
              </a:rPr>
              <a:t>Cache</a:t>
            </a:r>
            <a:r>
              <a:rPr lang="zh-CN" altLang="en-US" sz="2200" dirty="0">
                <a:latin typeface="+mn-ea"/>
              </a:rPr>
              <a:t>采用较大的块。</a:t>
            </a:r>
          </a:p>
          <a:p>
            <a:pPr lvl="2" eaLnBrk="1" hangingPunct="1">
              <a:lnSpc>
                <a:spcPts val="2800"/>
              </a:lnSpc>
            </a:pPr>
            <a:r>
              <a:rPr lang="zh-CN" altLang="en-US" sz="2200" dirty="0">
                <a:latin typeface="+mn-ea"/>
              </a:rPr>
              <a:t>多级包容性 </a:t>
            </a:r>
          </a:p>
          <a:p>
            <a:pPr lvl="3" eaLnBrk="1" hangingPunct="1">
              <a:lnSpc>
                <a:spcPts val="2800"/>
              </a:lnSpc>
              <a:buFont typeface="Wingdings" panose="05000000000000000000" pitchFamily="2" charset="2"/>
              <a:buNone/>
            </a:pPr>
            <a:r>
              <a:rPr lang="zh-CN" altLang="en-US" sz="2200" dirty="0">
                <a:latin typeface="+mn-ea"/>
              </a:rPr>
              <a:t>需要考虑的另一个问题：</a:t>
            </a:r>
          </a:p>
          <a:p>
            <a:pPr lvl="3" eaLnBrk="1" hangingPunct="1">
              <a:lnSpc>
                <a:spcPts val="2800"/>
              </a:lnSpc>
              <a:buFont typeface="Wingdings" panose="05000000000000000000" pitchFamily="2" charset="2"/>
              <a:buNone/>
            </a:pPr>
            <a:r>
              <a:rPr lang="zh-CN" altLang="en-US" sz="2200" dirty="0">
                <a:latin typeface="+mn-ea"/>
              </a:rPr>
              <a:t>    第一级</a:t>
            </a:r>
            <a:r>
              <a:rPr lang="en-US" altLang="zh-CN" sz="2200" dirty="0">
                <a:latin typeface="+mn-ea"/>
              </a:rPr>
              <a:t>Cache</a:t>
            </a:r>
            <a:r>
              <a:rPr lang="zh-CN" altLang="en-US" sz="2200" dirty="0">
                <a:latin typeface="+mn-ea"/>
              </a:rPr>
              <a:t>中的数据是否总是同时存在于第二级</a:t>
            </a:r>
            <a:r>
              <a:rPr lang="en-US" altLang="zh-CN" sz="2200" dirty="0">
                <a:latin typeface="+mn-ea"/>
              </a:rPr>
              <a:t>Cache</a:t>
            </a:r>
            <a:r>
              <a:rPr lang="zh-CN" altLang="en-US" sz="2200" dirty="0">
                <a:latin typeface="+mn-ea"/>
              </a:rPr>
              <a:t>中。如果是，就说第二级</a:t>
            </a:r>
            <a:r>
              <a:rPr lang="en-US" altLang="zh-CN" sz="2200" dirty="0">
                <a:latin typeface="+mn-ea"/>
              </a:rPr>
              <a:t>Cache</a:t>
            </a:r>
            <a:r>
              <a:rPr lang="zh-CN" altLang="en-US" sz="2200" dirty="0">
                <a:latin typeface="+mn-ea"/>
              </a:rPr>
              <a:t>是具有多级包容性的。 </a:t>
            </a:r>
          </a:p>
        </p:txBody>
      </p:sp>
    </p:spTree>
    <p:extLst>
      <p:ext uri="{BB962C8B-B14F-4D97-AF65-F5344CB8AC3E}">
        <p14:creationId xmlns:p14="http://schemas.microsoft.com/office/powerpoint/2010/main" val="104738417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029585" y="1308655"/>
            <a:ext cx="9092609" cy="4861589"/>
          </a:xfrm>
        </p:spPr>
        <p:txBody>
          <a:bodyPr>
            <a:normAutofit/>
          </a:bodyPr>
          <a:lstStyle/>
          <a:p>
            <a:pPr marL="265113" indent="-265113">
              <a:lnSpc>
                <a:spcPts val="3000"/>
              </a:lnSpc>
              <a:spcBef>
                <a:spcPts val="600"/>
              </a:spcBef>
            </a:pPr>
            <a:r>
              <a:rPr lang="en-US" altLang="zh-CN" sz="2200" dirty="0">
                <a:latin typeface="黑体" panose="02010609060101010101" pitchFamily="49" charset="-122"/>
              </a:rPr>
              <a:t>Cache</a:t>
            </a:r>
            <a:r>
              <a:rPr lang="zh-CN" altLang="en-US" sz="2200" dirty="0">
                <a:latin typeface="黑体" panose="02010609060101010101" pitchFamily="49" charset="-122"/>
              </a:rPr>
              <a:t>中的写缓冲器导致对存储器访问的复杂化</a:t>
            </a:r>
          </a:p>
          <a:p>
            <a:pPr marL="647700" lvl="1" indent="0">
              <a:lnSpc>
                <a:spcPts val="3000"/>
              </a:lnSpc>
              <a:spcBef>
                <a:spcPts val="600"/>
              </a:spcBef>
              <a:buNone/>
            </a:pPr>
            <a:r>
              <a:rPr lang="zh-CN" altLang="en-US" sz="2200" dirty="0"/>
              <a:t>      在读不命中时，所读单元的最新值有可能还在写缓冲器中，尚未写入主存。 </a:t>
            </a:r>
            <a:endParaRPr lang="en-US" altLang="zh-CN" sz="2200" dirty="0"/>
          </a:p>
          <a:p>
            <a:pPr marL="265113" indent="-265113">
              <a:lnSpc>
                <a:spcPts val="3000"/>
              </a:lnSpc>
              <a:spcBef>
                <a:spcPts val="600"/>
              </a:spcBef>
            </a:pPr>
            <a:r>
              <a:rPr lang="zh-CN" altLang="en-US" sz="2200" dirty="0">
                <a:latin typeface="黑体" panose="02010609060101010101" pitchFamily="49" charset="-122"/>
              </a:rPr>
              <a:t>解决问题的方法</a:t>
            </a:r>
            <a:r>
              <a:rPr lang="en-US" altLang="zh-CN" sz="2200" dirty="0">
                <a:latin typeface="黑体" panose="02010609060101010101" pitchFamily="49" charset="-122"/>
              </a:rPr>
              <a:t>(</a:t>
            </a:r>
            <a:r>
              <a:rPr lang="zh-CN" altLang="en-US" sz="2200" dirty="0">
                <a:latin typeface="黑体" panose="02010609060101010101" pitchFamily="49" charset="-122"/>
              </a:rPr>
              <a:t>读不命中的处理</a:t>
            </a:r>
            <a:r>
              <a:rPr lang="en-US" altLang="zh-CN" sz="2200" dirty="0">
                <a:latin typeface="黑体" panose="02010609060101010101" pitchFamily="49" charset="-122"/>
              </a:rPr>
              <a:t>)</a:t>
            </a:r>
          </a:p>
          <a:p>
            <a:pPr lvl="1">
              <a:lnSpc>
                <a:spcPts val="3000"/>
              </a:lnSpc>
              <a:spcBef>
                <a:spcPts val="600"/>
              </a:spcBef>
            </a:pPr>
            <a:r>
              <a:rPr lang="zh-CN" altLang="en-US" sz="2200" dirty="0"/>
              <a:t>推迟对读不命中的处理，直到写缓冲器清空</a:t>
            </a:r>
          </a:p>
          <a:p>
            <a:pPr lvl="2">
              <a:lnSpc>
                <a:spcPts val="3000"/>
              </a:lnSpc>
              <a:spcBef>
                <a:spcPts val="600"/>
              </a:spcBef>
              <a:buNone/>
            </a:pPr>
            <a:r>
              <a:rPr lang="zh-CN" altLang="en-US" sz="2200" dirty="0"/>
              <a:t>（</a:t>
            </a:r>
            <a:r>
              <a:rPr lang="zh-CN" altLang="en-US" sz="2200" dirty="0">
                <a:solidFill>
                  <a:srgbClr val="D60093"/>
                </a:solidFill>
              </a:rPr>
              <a:t>缺点：</a:t>
            </a:r>
            <a:r>
              <a:rPr lang="zh-CN" altLang="en-US" sz="2200" dirty="0">
                <a:latin typeface="宋体" panose="02010600030101010101" pitchFamily="2" charset="-122"/>
              </a:rPr>
              <a:t>读不命中的开销增加）</a:t>
            </a:r>
          </a:p>
          <a:p>
            <a:pPr lvl="1">
              <a:lnSpc>
                <a:spcPts val="3000"/>
              </a:lnSpc>
              <a:spcBef>
                <a:spcPts val="600"/>
              </a:spcBef>
            </a:pPr>
            <a:r>
              <a:rPr lang="zh-CN" altLang="en-US" sz="2200" dirty="0"/>
              <a:t>检查写缓冲器中的内容，若无相同，且存储器可用，继续处理读不命中（常用方案）</a:t>
            </a:r>
          </a:p>
          <a:p>
            <a:pPr marL="265113" indent="-265113">
              <a:lnSpc>
                <a:spcPts val="3000"/>
              </a:lnSpc>
              <a:spcBef>
                <a:spcPts val="600"/>
              </a:spcBef>
            </a:pPr>
            <a:r>
              <a:rPr lang="zh-CN" altLang="en-US" sz="2200" dirty="0">
                <a:latin typeface="黑体" panose="02010609060101010101" pitchFamily="49" charset="-122"/>
              </a:rPr>
              <a:t>在写回法</a:t>
            </a:r>
            <a:r>
              <a:rPr lang="en-US" altLang="zh-CN" sz="2200" dirty="0">
                <a:latin typeface="黑体" panose="02010609060101010101" pitchFamily="49" charset="-122"/>
              </a:rPr>
              <a:t>Cache</a:t>
            </a:r>
            <a:r>
              <a:rPr lang="zh-CN" altLang="en-US" sz="2200" dirty="0">
                <a:latin typeface="黑体" panose="02010609060101010101" pitchFamily="49" charset="-122"/>
              </a:rPr>
              <a:t>中，也可采用写缓冲器。</a:t>
            </a:r>
          </a:p>
          <a:p>
            <a:pPr marL="647700" lvl="1" indent="0">
              <a:lnSpc>
                <a:spcPct val="130000"/>
              </a:lnSpc>
              <a:buNone/>
            </a:pPr>
            <a:endParaRPr lang="zh-CN" altLang="en-US" dirty="0"/>
          </a:p>
        </p:txBody>
      </p:sp>
      <p:sp>
        <p:nvSpPr>
          <p:cNvPr id="69637" name="Rectangle 2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1407780" y="3460455"/>
            <a:ext cx="7772400" cy="2497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  <a:defRPr kumimoji="1" sz="2400">
                <a:solidFill>
                  <a:srgbClr val="E24C05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1085850" indent="-4572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714500" indent="-4572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q"/>
              <a:defRPr kumimoji="1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rgbClr val="006600"/>
              </a:buClr>
              <a:buSzPct val="6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AutoNum type="arabicPeriod" startAt="2"/>
            </a:pPr>
            <a:endParaRPr lang="zh-CN" altLang="en-US" dirty="0">
              <a:latin typeface="黑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66818" y="323574"/>
            <a:ext cx="4852610" cy="4514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>
              <a:lnSpc>
                <a:spcPts val="2800"/>
              </a:lnSpc>
            </a:pPr>
            <a:r>
              <a:rPr lang="zh-CN" altLang="en-US" sz="2800" dirty="0">
                <a:latin typeface="黑体" panose="02010609060101010101" pitchFamily="49" charset="-122"/>
              </a:rPr>
              <a:t>方法二：让读不命中优先于写</a:t>
            </a:r>
            <a:endParaRPr lang="en-US" altLang="zh-CN" sz="2800" dirty="0">
              <a:latin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905286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Rectangle 5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709279" y="1066248"/>
            <a:ext cx="10189093" cy="5791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  <a:defRPr kumimoji="1" sz="2400">
                <a:solidFill>
                  <a:srgbClr val="E24C05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1085850" indent="-4572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714500" indent="-4572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q"/>
              <a:defRPr kumimoji="1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rgbClr val="006600"/>
              </a:buClr>
              <a:buSzPct val="6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265113" indent="-265113">
              <a:lnSpc>
                <a:spcPts val="3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提高写缓冲器的效率</a:t>
            </a:r>
          </a:p>
          <a:p>
            <a:pPr marL="265113" indent="-265113">
              <a:lnSpc>
                <a:spcPts val="3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写直达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Cache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依靠写缓冲来减少对下一级存储器写操作的时间。</a:t>
            </a:r>
          </a:p>
          <a:p>
            <a:pPr marL="685800" lvl="1" indent="-228600">
              <a:lnSpc>
                <a:spcPts val="3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+mn-ea"/>
                <a:ea typeface="+mn-ea"/>
              </a:rPr>
              <a:t>如果写缓冲器为空，就把数据和相应地址写入该缓冲器。</a:t>
            </a:r>
            <a:r>
              <a:rPr lang="zh-CN" altLang="en-US" sz="2200" b="0" dirty="0">
                <a:solidFill>
                  <a:schemeClr val="tx1"/>
                </a:solidFill>
                <a:latin typeface="+mn-ea"/>
                <a:ea typeface="+mn-ea"/>
              </a:rPr>
              <a:t>从</a:t>
            </a:r>
            <a:r>
              <a:rPr lang="en-US" altLang="zh-CN" sz="2200" b="0" dirty="0">
                <a:solidFill>
                  <a:schemeClr val="tx1"/>
                </a:solidFill>
                <a:latin typeface="+mn-ea"/>
                <a:ea typeface="+mn-ea"/>
              </a:rPr>
              <a:t>CPU</a:t>
            </a:r>
            <a:r>
              <a:rPr lang="zh-CN" altLang="en-US" sz="2200" b="0" dirty="0">
                <a:solidFill>
                  <a:schemeClr val="tx1"/>
                </a:solidFill>
                <a:latin typeface="+mn-ea"/>
                <a:ea typeface="+mn-ea"/>
              </a:rPr>
              <a:t>的角度来看，该写操作就算是完成了。</a:t>
            </a:r>
          </a:p>
          <a:p>
            <a:pPr marL="685800" lvl="1" indent="-228600">
              <a:lnSpc>
                <a:spcPts val="3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+mn-ea"/>
                <a:ea typeface="+mn-ea"/>
              </a:rPr>
              <a:t>如果写缓冲器中已经有了待写入的数据，就要把这次的写入地址与写缓冲器中已有的所有地址进行比较，看是否有匹配的项。如果有地址匹配而对应的位置又是空闲的，就把这次要写入的数据与该项合并。这就叫写缓冲合并。</a:t>
            </a:r>
          </a:p>
          <a:p>
            <a:pPr marL="685800" lvl="1" indent="-228600">
              <a:lnSpc>
                <a:spcPts val="3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+mn-ea"/>
                <a:ea typeface="+mn-ea"/>
              </a:rPr>
              <a:t>如果写缓冲器满且又没有能进行写合并的项，就必须等待。 </a:t>
            </a:r>
            <a:endParaRPr lang="en-US" altLang="zh-CN" sz="2200" dirty="0">
              <a:latin typeface="+mn-ea"/>
              <a:ea typeface="+mn-ea"/>
            </a:endParaRPr>
          </a:p>
          <a:p>
            <a:pPr marL="265113" indent="-265113">
              <a:lnSpc>
                <a:spcPts val="3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作用</a:t>
            </a:r>
            <a:endParaRPr lang="en-US" altLang="zh-CN" sz="22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685800" lvl="1" indent="-228600">
              <a:lnSpc>
                <a:spcPts val="3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+mn-ea"/>
                <a:ea typeface="+mn-ea"/>
              </a:rPr>
              <a:t>连续写入多个字的速度快于每次只写入一个字的操作；</a:t>
            </a:r>
            <a:endParaRPr lang="en-US" altLang="zh-CN" sz="2200" dirty="0">
              <a:latin typeface="+mn-ea"/>
              <a:ea typeface="+mn-ea"/>
            </a:endParaRPr>
          </a:p>
          <a:p>
            <a:pPr marL="685800" lvl="1" indent="-228600">
              <a:lnSpc>
                <a:spcPts val="3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+mn-ea"/>
                <a:ea typeface="+mn-ea"/>
              </a:rPr>
              <a:t>提高了写缓冲器的空间利用率，减少因写缓冲器满而要进行的等待时间。</a:t>
            </a:r>
            <a:endParaRPr lang="en-US" altLang="zh-CN" sz="2200" dirty="0">
              <a:latin typeface="+mn-ea"/>
              <a:ea typeface="+mn-ea"/>
            </a:endParaRPr>
          </a:p>
          <a:p>
            <a:pPr marL="685800" lvl="1" indent="-228600">
              <a:lnSpc>
                <a:spcPts val="3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zh-CN" altLang="en-US" sz="2200" dirty="0">
              <a:latin typeface="+mn-ea"/>
              <a:ea typeface="+mn-ea"/>
            </a:endParaRPr>
          </a:p>
          <a:p>
            <a:pPr marL="685800" lvl="1" indent="-228600">
              <a:lnSpc>
                <a:spcPts val="3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zh-CN" altLang="en-US" sz="2200" dirty="0">
              <a:latin typeface="+mn-lt"/>
              <a:ea typeface="+mn-ea"/>
            </a:endParaRPr>
          </a:p>
          <a:p>
            <a:pPr lvl="2" eaLnBrk="1" hangingPunct="1">
              <a:buFont typeface="Wingdings" panose="05000000000000000000" pitchFamily="2" charset="2"/>
              <a:buNone/>
            </a:pPr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138243" y="238125"/>
            <a:ext cx="3416320" cy="4514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>
              <a:lnSpc>
                <a:spcPts val="2800"/>
              </a:lnSpc>
            </a:pPr>
            <a:r>
              <a:rPr lang="zh-CN" altLang="en-US" sz="2800" dirty="0">
                <a:latin typeface="黑体" panose="02010609060101010101" pitchFamily="49" charset="-122"/>
              </a:rPr>
              <a:t>方法三：写缓冲合并</a:t>
            </a:r>
            <a:endParaRPr lang="en-US" altLang="zh-CN" sz="2800" dirty="0">
              <a:latin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2791326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707" name="Object 2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820595"/>
              </p:ext>
            </p:extLst>
          </p:nvPr>
        </p:nvGraphicFramePr>
        <p:xfrm>
          <a:off x="2431513" y="1365674"/>
          <a:ext cx="6626225" cy="489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片" r:id="rId3" imgW="3794989" imgH="2811894" progId="Word.Picture.8">
                  <p:embed/>
                </p:oleObj>
              </mc:Choice>
              <mc:Fallback>
                <p:oleObj name="图片" r:id="rId3" imgW="3794989" imgH="2811894" progId="Word.Picture.8">
                  <p:embed/>
                  <p:pic>
                    <p:nvPicPr>
                      <p:cNvPr id="7270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1513" y="1365674"/>
                        <a:ext cx="6626225" cy="4899025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204318" y="379035"/>
            <a:ext cx="6032421" cy="4328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3000"/>
              </a:lnSpc>
              <a:spcBef>
                <a:spcPts val="600"/>
              </a:spcBef>
            </a:pPr>
            <a:r>
              <a:rPr lang="zh-CN" altLang="en-US" sz="2400" dirty="0">
                <a:latin typeface="+mn-ea"/>
              </a:rPr>
              <a:t>例如  写缓冲区有</a:t>
            </a:r>
            <a:r>
              <a:rPr lang="en-US" altLang="zh-CN" sz="2400" dirty="0">
                <a:latin typeface="+mn-ea"/>
              </a:rPr>
              <a:t>4</a:t>
            </a:r>
            <a:r>
              <a:rPr lang="zh-CN" altLang="en-US" sz="2400" dirty="0">
                <a:latin typeface="+mn-ea"/>
              </a:rPr>
              <a:t>项，每项</a:t>
            </a:r>
            <a:r>
              <a:rPr lang="en-US" altLang="zh-CN" sz="2400" dirty="0">
                <a:latin typeface="+mn-ea"/>
              </a:rPr>
              <a:t>4</a:t>
            </a:r>
            <a:r>
              <a:rPr lang="zh-CN" altLang="en-US" sz="2400" dirty="0">
                <a:latin typeface="+mn-ea"/>
              </a:rPr>
              <a:t>个</a:t>
            </a:r>
            <a:r>
              <a:rPr lang="en-US" altLang="zh-CN" sz="2400" dirty="0">
                <a:latin typeface="+mn-ea"/>
              </a:rPr>
              <a:t>64</a:t>
            </a:r>
            <a:r>
              <a:rPr lang="zh-CN" altLang="en-US" sz="2400" dirty="0">
                <a:latin typeface="+mn-ea"/>
              </a:rPr>
              <a:t>位的字。</a:t>
            </a:r>
          </a:p>
        </p:txBody>
      </p:sp>
    </p:spTree>
    <p:extLst>
      <p:ext uri="{BB962C8B-B14F-4D97-AF65-F5344CB8AC3E}">
        <p14:creationId xmlns:p14="http://schemas.microsoft.com/office/powerpoint/2010/main" val="87883832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91730" y="954517"/>
            <a:ext cx="9805209" cy="5063727"/>
          </a:xfrm>
        </p:spPr>
        <p:txBody>
          <a:bodyPr>
            <a:normAutofit fontScale="92500" lnSpcReduction="20000"/>
          </a:bodyPr>
          <a:lstStyle/>
          <a:p>
            <a:pPr marL="265113" indent="-265113">
              <a:lnSpc>
                <a:spcPct val="110000"/>
              </a:lnSpc>
              <a:spcBef>
                <a:spcPts val="1200"/>
              </a:spcBef>
            </a:pPr>
            <a:r>
              <a:rPr lang="zh-CN" altLang="en-US" sz="2400" dirty="0">
                <a:latin typeface="+mn-ea"/>
              </a:rPr>
              <a:t>请求字</a:t>
            </a:r>
          </a:p>
          <a:p>
            <a:pPr marL="446088" lvl="1" indent="180975">
              <a:lnSpc>
                <a:spcPct val="110000"/>
              </a:lnSpc>
              <a:spcBef>
                <a:spcPts val="1200"/>
              </a:spcBef>
              <a:buNone/>
            </a:pPr>
            <a:r>
              <a:rPr lang="zh-CN" altLang="en-US" dirty="0">
                <a:latin typeface="+mn-ea"/>
              </a:rPr>
              <a:t>   从下一级存储器调入</a:t>
            </a:r>
            <a:r>
              <a:rPr lang="en-US" altLang="zh-CN" dirty="0">
                <a:latin typeface="+mn-ea"/>
              </a:rPr>
              <a:t>Cache</a:t>
            </a:r>
            <a:r>
              <a:rPr lang="zh-CN" altLang="en-US" dirty="0">
                <a:latin typeface="+mn-ea"/>
              </a:rPr>
              <a:t>的块中，只有一个字是立即需要的。这个字称为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请求字</a:t>
            </a:r>
            <a:r>
              <a:rPr lang="zh-CN" altLang="en-US" dirty="0">
                <a:latin typeface="+mn-ea"/>
              </a:rPr>
              <a:t>。 </a:t>
            </a:r>
          </a:p>
          <a:p>
            <a:pPr marL="265113" indent="-265113">
              <a:lnSpc>
                <a:spcPct val="110000"/>
              </a:lnSpc>
              <a:spcBef>
                <a:spcPts val="1200"/>
              </a:spcBef>
            </a:pPr>
            <a:r>
              <a:rPr lang="zh-CN" altLang="en-US" sz="2400" dirty="0">
                <a:latin typeface="+mn-ea"/>
              </a:rPr>
              <a:t>应尽早把请求字发送给</a:t>
            </a:r>
            <a:r>
              <a:rPr lang="en-US" altLang="zh-CN" sz="2400" dirty="0">
                <a:latin typeface="+mn-ea"/>
              </a:rPr>
              <a:t>CPU</a:t>
            </a:r>
          </a:p>
          <a:p>
            <a:pPr marL="893763" lvl="1" indent="-265113">
              <a:lnSpc>
                <a:spcPct val="110000"/>
              </a:lnSpc>
              <a:spcBef>
                <a:spcPts val="1200"/>
              </a:spcBef>
            </a:pPr>
            <a:r>
              <a:rPr lang="zh-CN" altLang="en-US" dirty="0">
                <a:solidFill>
                  <a:srgbClr val="FF0000"/>
                </a:solidFill>
                <a:latin typeface="+mn-ea"/>
              </a:rPr>
              <a:t>尽早重启动：</a:t>
            </a:r>
            <a:r>
              <a:rPr lang="zh-CN" altLang="en-US" dirty="0">
                <a:latin typeface="+mn-ea"/>
              </a:rPr>
              <a:t>请求字没有到达时，</a:t>
            </a:r>
            <a:r>
              <a:rPr lang="en-US" altLang="zh-CN" dirty="0">
                <a:latin typeface="+mn-ea"/>
              </a:rPr>
              <a:t>CPU</a:t>
            </a:r>
            <a:r>
              <a:rPr lang="zh-CN" altLang="en-US" dirty="0">
                <a:latin typeface="+mn-ea"/>
              </a:rPr>
              <a:t>处于等待状态。一旦请求字到达，立即送给</a:t>
            </a:r>
            <a:r>
              <a:rPr lang="en-US" altLang="zh-CN" dirty="0">
                <a:latin typeface="+mn-ea"/>
              </a:rPr>
              <a:t>CPU</a:t>
            </a:r>
            <a:r>
              <a:rPr lang="zh-CN" altLang="en-US" dirty="0">
                <a:latin typeface="+mn-ea"/>
              </a:rPr>
              <a:t>，让等待的</a:t>
            </a:r>
            <a:r>
              <a:rPr lang="en-US" altLang="zh-CN" dirty="0">
                <a:latin typeface="+mn-ea"/>
              </a:rPr>
              <a:t>CPU</a:t>
            </a:r>
            <a:r>
              <a:rPr lang="zh-CN" altLang="en-US" dirty="0">
                <a:latin typeface="+mn-ea"/>
              </a:rPr>
              <a:t>尽早重启动，继续执行。</a:t>
            </a:r>
          </a:p>
          <a:p>
            <a:pPr marL="893763" lvl="1" indent="-265113">
              <a:lnSpc>
                <a:spcPct val="110000"/>
              </a:lnSpc>
              <a:spcBef>
                <a:spcPts val="1200"/>
              </a:spcBef>
            </a:pPr>
            <a:r>
              <a:rPr lang="zh-CN" altLang="en-US" dirty="0">
                <a:solidFill>
                  <a:srgbClr val="FF0000"/>
                </a:solidFill>
                <a:latin typeface="+mn-ea"/>
              </a:rPr>
              <a:t>请求字优先：</a:t>
            </a:r>
            <a:r>
              <a:rPr lang="zh-CN" altLang="en-US" dirty="0">
                <a:latin typeface="+mn-ea"/>
              </a:rPr>
              <a:t>调块时，让存储器首先提供</a:t>
            </a:r>
            <a:r>
              <a:rPr lang="en-US" altLang="zh-CN" dirty="0">
                <a:latin typeface="+mn-ea"/>
              </a:rPr>
              <a:t>CPU</a:t>
            </a:r>
            <a:r>
              <a:rPr lang="zh-CN" altLang="en-US" dirty="0">
                <a:latin typeface="+mn-ea"/>
              </a:rPr>
              <a:t>所要的请求字。请求字一旦到达，就立即送给</a:t>
            </a:r>
            <a:r>
              <a:rPr lang="en-US" altLang="zh-CN" dirty="0">
                <a:latin typeface="+mn-ea"/>
              </a:rPr>
              <a:t>CPU</a:t>
            </a:r>
            <a:r>
              <a:rPr lang="zh-CN" altLang="en-US" dirty="0">
                <a:latin typeface="+mn-ea"/>
              </a:rPr>
              <a:t>，让</a:t>
            </a:r>
            <a:r>
              <a:rPr lang="en-US" altLang="zh-CN" dirty="0">
                <a:latin typeface="+mn-ea"/>
              </a:rPr>
              <a:t>CPU</a:t>
            </a:r>
            <a:r>
              <a:rPr lang="zh-CN" altLang="en-US" dirty="0">
                <a:latin typeface="+mn-ea"/>
              </a:rPr>
              <a:t>继续执行，同时从存储器调入该块的其余部分。</a:t>
            </a:r>
            <a:endParaRPr lang="en-US" altLang="zh-CN" dirty="0">
              <a:latin typeface="+mn-ea"/>
            </a:endParaRPr>
          </a:p>
          <a:p>
            <a:pPr marL="265113" indent="-265113">
              <a:lnSpc>
                <a:spcPct val="110000"/>
              </a:lnSpc>
              <a:spcBef>
                <a:spcPts val="1200"/>
              </a:spcBef>
            </a:pPr>
            <a:r>
              <a:rPr lang="zh-CN" altLang="en-US" sz="2400" dirty="0">
                <a:latin typeface="+mn-ea"/>
              </a:rPr>
              <a:t>在以下情况下，用不用差别不大</a:t>
            </a:r>
            <a:endParaRPr lang="en-US" altLang="zh-CN" sz="2400" dirty="0">
              <a:latin typeface="+mn-ea"/>
            </a:endParaRPr>
          </a:p>
          <a:p>
            <a:pPr marL="893763" lvl="1" indent="-265113">
              <a:lnSpc>
                <a:spcPct val="110000"/>
              </a:lnSpc>
              <a:spcBef>
                <a:spcPts val="1200"/>
              </a:spcBef>
            </a:pPr>
            <a:r>
              <a:rPr lang="en-US" altLang="zh-CN" dirty="0">
                <a:latin typeface="+mn-ea"/>
              </a:rPr>
              <a:t>Cache</a:t>
            </a:r>
            <a:r>
              <a:rPr lang="zh-CN" altLang="en-US" dirty="0">
                <a:latin typeface="+mn-ea"/>
              </a:rPr>
              <a:t>块较小</a:t>
            </a:r>
          </a:p>
          <a:p>
            <a:pPr marL="893763" lvl="1" indent="-265113">
              <a:lnSpc>
                <a:spcPct val="110000"/>
              </a:lnSpc>
              <a:spcBef>
                <a:spcPts val="1200"/>
              </a:spcBef>
            </a:pPr>
            <a:r>
              <a:rPr lang="zh-CN" altLang="en-US" dirty="0">
                <a:latin typeface="+mn-ea"/>
              </a:rPr>
              <a:t>下一条指令正好访问同一</a:t>
            </a:r>
            <a:r>
              <a:rPr lang="en-US" altLang="zh-CN" dirty="0">
                <a:latin typeface="+mn-ea"/>
              </a:rPr>
              <a:t>Cache</a:t>
            </a:r>
            <a:r>
              <a:rPr lang="zh-CN" altLang="en-US" dirty="0">
                <a:latin typeface="+mn-ea"/>
              </a:rPr>
              <a:t>块的另一部分</a:t>
            </a:r>
          </a:p>
          <a:p>
            <a:pPr marL="1085850" lvl="1" indent="-457200">
              <a:lnSpc>
                <a:spcPct val="110000"/>
              </a:lnSpc>
            </a:pPr>
            <a:endParaRPr lang="zh-CN" altLang="en-US" dirty="0">
              <a:latin typeface="黑体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66818" y="203041"/>
            <a:ext cx="4134465" cy="4514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>
              <a:lnSpc>
                <a:spcPts val="2800"/>
              </a:lnSpc>
            </a:pPr>
            <a:r>
              <a:rPr lang="zh-CN" altLang="en-US" sz="2800" dirty="0">
                <a:latin typeface="黑体" panose="02010609060101010101" pitchFamily="49" charset="-122"/>
              </a:rPr>
              <a:t>方法四：请求字处理技术</a:t>
            </a:r>
            <a:endParaRPr lang="en-US" altLang="zh-CN" sz="2800" dirty="0">
              <a:latin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8908288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06938" y="1608586"/>
            <a:ext cx="9803403" cy="4394200"/>
          </a:xfrm>
        </p:spPr>
        <p:txBody>
          <a:bodyPr/>
          <a:lstStyle/>
          <a:p>
            <a:pPr marL="265113" indent="-265113">
              <a:lnSpc>
                <a:spcPts val="3000"/>
              </a:lnSpc>
              <a:spcBef>
                <a:spcPts val="1200"/>
              </a:spcBef>
            </a:pPr>
            <a:r>
              <a:rPr lang="zh-CN" altLang="en-US" sz="2400" dirty="0">
                <a:latin typeface="黑体" panose="02010609060101010101" pitchFamily="49" charset="-122"/>
              </a:rPr>
              <a:t>非阻塞</a:t>
            </a:r>
            <a:r>
              <a:rPr lang="en-US" altLang="zh-CN" sz="2400" dirty="0">
                <a:latin typeface="黑体" panose="02010609060101010101" pitchFamily="49" charset="-122"/>
              </a:rPr>
              <a:t>Cache</a:t>
            </a:r>
            <a:r>
              <a:rPr lang="zh-CN" altLang="en-US" sz="2400" dirty="0">
                <a:latin typeface="黑体" panose="02010609060101010101" pitchFamily="49" charset="-122"/>
              </a:rPr>
              <a:t>：采用记分牌或者</a:t>
            </a:r>
            <a:r>
              <a:rPr lang="en-US" altLang="zh-CN" sz="2400" dirty="0">
                <a:latin typeface="黑体" panose="02010609060101010101" pitchFamily="49" charset="-122"/>
              </a:rPr>
              <a:t>Tomasulo</a:t>
            </a:r>
            <a:r>
              <a:rPr lang="zh-CN" altLang="en-US" sz="2400" dirty="0">
                <a:latin typeface="黑体" panose="02010609060101010101" pitchFamily="49" charset="-122"/>
              </a:rPr>
              <a:t>类控制方式，允许指令乱序执行，</a:t>
            </a:r>
            <a:r>
              <a:rPr lang="en-US" altLang="zh-CN" sz="2400" dirty="0">
                <a:latin typeface="黑体" panose="02010609060101010101" pitchFamily="49" charset="-122"/>
              </a:rPr>
              <a:t>CPU</a:t>
            </a:r>
            <a:r>
              <a:rPr lang="zh-CN" altLang="en-US" sz="2400" dirty="0">
                <a:latin typeface="黑体" panose="02010609060101010101" pitchFamily="49" charset="-122"/>
              </a:rPr>
              <a:t>无需在</a:t>
            </a:r>
            <a:r>
              <a:rPr lang="en-US" altLang="zh-CN" sz="2400" dirty="0">
                <a:latin typeface="黑体" panose="02010609060101010101" pitchFamily="49" charset="-122"/>
              </a:rPr>
              <a:t>Cache</a:t>
            </a:r>
            <a:r>
              <a:rPr lang="zh-CN" altLang="en-US" sz="2400" dirty="0">
                <a:latin typeface="黑体" panose="02010609060101010101" pitchFamily="49" charset="-122"/>
              </a:rPr>
              <a:t>不命中时停顿；</a:t>
            </a:r>
          </a:p>
          <a:p>
            <a:pPr marL="265113" indent="-265113">
              <a:lnSpc>
                <a:spcPts val="3000"/>
              </a:lnSpc>
              <a:spcBef>
                <a:spcPts val="1200"/>
              </a:spcBef>
            </a:pPr>
            <a:r>
              <a:rPr lang="zh-CN" altLang="en-US" sz="2400" dirty="0">
                <a:latin typeface="黑体" panose="02010609060101010101" pitchFamily="49" charset="-122"/>
              </a:rPr>
              <a:t>允许多次不命中，进一步提高性能；</a:t>
            </a:r>
            <a:endParaRPr lang="en-US" altLang="zh-CN" sz="2400" dirty="0">
              <a:latin typeface="黑体" panose="02010609060101010101" pitchFamily="49" charset="-122"/>
            </a:endParaRPr>
          </a:p>
          <a:p>
            <a:pPr marL="265113" indent="-265113">
              <a:lnSpc>
                <a:spcPts val="3000"/>
              </a:lnSpc>
              <a:spcBef>
                <a:spcPts val="1200"/>
              </a:spcBef>
            </a:pPr>
            <a:r>
              <a:rPr lang="zh-CN" altLang="en-US" sz="2400" dirty="0">
                <a:latin typeface="黑体" panose="02010609060101010101" pitchFamily="49" charset="-122"/>
              </a:rPr>
              <a:t>可以同时处理的不命中次数越多，所能带来的性能上的提高就越大。</a:t>
            </a:r>
            <a:endParaRPr lang="en-US" altLang="zh-CN" sz="2400" dirty="0">
              <a:solidFill>
                <a:srgbClr val="000000"/>
              </a:solidFill>
            </a:endParaRPr>
          </a:p>
          <a:p>
            <a:pPr marL="265113" indent="-265113">
              <a:lnSpc>
                <a:spcPts val="3000"/>
              </a:lnSpc>
              <a:spcBef>
                <a:spcPts val="1200"/>
              </a:spcBef>
            </a:pPr>
            <a:endParaRPr lang="en-US" altLang="zh-CN" sz="24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marL="457200" indent="-457200">
              <a:buFont typeface="Wingdings" panose="05000000000000000000" pitchFamily="2" charset="2"/>
              <a:buAutoNum type="arabicPeriod" startAt="3"/>
            </a:pPr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166818" y="203041"/>
            <a:ext cx="4314001" cy="4514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>
              <a:lnSpc>
                <a:spcPts val="2800"/>
              </a:lnSpc>
            </a:pPr>
            <a:r>
              <a:rPr lang="zh-CN" altLang="en-US" sz="2800" dirty="0">
                <a:latin typeface="黑体" panose="02010609060101010101" pitchFamily="49" charset="-122"/>
              </a:rPr>
              <a:t>方法五：非阻塞</a:t>
            </a:r>
            <a:r>
              <a:rPr lang="en-US" altLang="zh-CN" sz="2800" dirty="0">
                <a:latin typeface="黑体" panose="02010609060101010101" pitchFamily="49" charset="-122"/>
              </a:rPr>
              <a:t>Cache</a:t>
            </a:r>
            <a:r>
              <a:rPr lang="zh-CN" altLang="en-US" sz="2800" dirty="0">
                <a:latin typeface="黑体" panose="02010609060101010101" pitchFamily="49" charset="-122"/>
              </a:rPr>
              <a:t>技术</a:t>
            </a:r>
            <a:endParaRPr lang="en-US" altLang="zh-CN" sz="2800" dirty="0">
              <a:latin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3527138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76553" y="1142708"/>
            <a:ext cx="10123969" cy="5018088"/>
          </a:xfrm>
        </p:spPr>
        <p:txBody>
          <a:bodyPr/>
          <a:lstStyle/>
          <a:p>
            <a:pPr marL="893763" lvl="1" indent="-265113">
              <a:lnSpc>
                <a:spcPts val="3000"/>
              </a:lnSpc>
            </a:pPr>
            <a:r>
              <a:rPr lang="zh-CN" altLang="en-US" dirty="0">
                <a:latin typeface="+mn-ea"/>
              </a:rPr>
              <a:t>模拟研究</a:t>
            </a:r>
          </a:p>
          <a:p>
            <a:pPr lvl="2" eaLnBrk="1" hangingPunct="1"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+mn-ea"/>
              </a:rPr>
              <a:t>     数据</a:t>
            </a:r>
            <a:r>
              <a:rPr lang="en-US" altLang="zh-CN" sz="2400" dirty="0">
                <a:latin typeface="+mn-ea"/>
              </a:rPr>
              <a:t>Cache</a:t>
            </a:r>
            <a:r>
              <a:rPr lang="zh-CN" altLang="en-US" sz="2400" dirty="0">
                <a:latin typeface="+mn-ea"/>
              </a:rPr>
              <a:t>的平均存储器等待时间（以周期为单位）与阻塞</a:t>
            </a:r>
            <a:r>
              <a:rPr lang="en-US" altLang="zh-CN" sz="2400" dirty="0">
                <a:latin typeface="+mn-ea"/>
              </a:rPr>
              <a:t>Cache</a:t>
            </a:r>
            <a:r>
              <a:rPr lang="zh-CN" altLang="en-US" sz="2400" dirty="0">
                <a:latin typeface="+mn-ea"/>
              </a:rPr>
              <a:t>平均存储器等待时间的比值。</a:t>
            </a:r>
          </a:p>
          <a:p>
            <a:pPr marL="1339850" lvl="2" indent="-266700" eaLnBrk="1" hangingPunct="1">
              <a:lnSpc>
                <a:spcPts val="3000"/>
              </a:lnSpc>
            </a:pPr>
            <a:r>
              <a:rPr lang="zh-CN" altLang="en-US" sz="2400" dirty="0">
                <a:latin typeface="+mn-ea"/>
              </a:rPr>
              <a:t>测试条件：</a:t>
            </a:r>
            <a:r>
              <a:rPr lang="en-US" altLang="zh-CN" sz="2400" dirty="0">
                <a:latin typeface="+mn-ea"/>
              </a:rPr>
              <a:t>8K</a:t>
            </a:r>
            <a:r>
              <a:rPr lang="zh-CN" altLang="en-US" sz="2400" dirty="0">
                <a:latin typeface="+mn-ea"/>
              </a:rPr>
              <a:t>直接映像</a:t>
            </a:r>
            <a:r>
              <a:rPr lang="en-US" altLang="zh-CN" sz="2400" dirty="0">
                <a:latin typeface="+mn-ea"/>
              </a:rPr>
              <a:t>Cache</a:t>
            </a:r>
            <a:r>
              <a:rPr lang="zh-CN" altLang="en-US" sz="2400" dirty="0">
                <a:latin typeface="+mn-ea"/>
              </a:rPr>
              <a:t>，块大小为</a:t>
            </a:r>
            <a:r>
              <a:rPr lang="en-US" altLang="zh-CN" sz="2400" dirty="0">
                <a:latin typeface="+mn-ea"/>
              </a:rPr>
              <a:t>32</a:t>
            </a:r>
            <a:r>
              <a:rPr lang="zh-CN" altLang="en-US" sz="2400" dirty="0">
                <a:latin typeface="+mn-ea"/>
              </a:rPr>
              <a:t>字节</a:t>
            </a:r>
          </a:p>
          <a:p>
            <a:pPr marL="1339850" lvl="2" indent="-266700" eaLnBrk="1" hangingPunct="1">
              <a:lnSpc>
                <a:spcPts val="3000"/>
              </a:lnSpc>
            </a:pPr>
            <a:r>
              <a:rPr lang="zh-CN" altLang="en-US" sz="2400" dirty="0">
                <a:latin typeface="+mn-ea"/>
              </a:rPr>
              <a:t>测试程序：</a:t>
            </a:r>
            <a:r>
              <a:rPr lang="en-US" altLang="zh-CN" sz="2400" dirty="0">
                <a:latin typeface="+mn-ea"/>
              </a:rPr>
              <a:t>SPEC92</a:t>
            </a:r>
            <a:r>
              <a:rPr lang="zh-CN" altLang="en-US" sz="2400" dirty="0">
                <a:latin typeface="+mn-ea"/>
              </a:rPr>
              <a:t>（</a:t>
            </a:r>
            <a:r>
              <a:rPr lang="en-US" altLang="zh-CN" sz="2400" dirty="0">
                <a:latin typeface="+mn-ea"/>
              </a:rPr>
              <a:t>14</a:t>
            </a:r>
            <a:r>
              <a:rPr lang="zh-CN" altLang="en-US" sz="2400" dirty="0">
                <a:latin typeface="+mn-ea"/>
              </a:rPr>
              <a:t>个浮点程序，</a:t>
            </a:r>
            <a:r>
              <a:rPr lang="en-US" altLang="zh-CN" sz="2400" dirty="0">
                <a:latin typeface="+mn-ea"/>
              </a:rPr>
              <a:t>4</a:t>
            </a:r>
            <a:r>
              <a:rPr lang="zh-CN" altLang="en-US" sz="2400" dirty="0">
                <a:latin typeface="+mn-ea"/>
              </a:rPr>
              <a:t>个整数程序）</a:t>
            </a:r>
          </a:p>
          <a:p>
            <a:pPr marL="1339850" lvl="2" indent="-266700" eaLnBrk="1" hangingPunct="1">
              <a:lnSpc>
                <a:spcPts val="3000"/>
              </a:lnSpc>
            </a:pPr>
            <a:r>
              <a:rPr lang="zh-CN" altLang="en-US" sz="2400" dirty="0">
                <a:latin typeface="+mn-ea"/>
              </a:rPr>
              <a:t>结果表明：在重叠不命中个数为</a:t>
            </a:r>
            <a:r>
              <a:rPr lang="en-US" altLang="zh-CN" sz="2400" dirty="0">
                <a:latin typeface="+mn-ea"/>
              </a:rPr>
              <a:t>1</a:t>
            </a:r>
            <a:r>
              <a:rPr lang="zh-CN" altLang="en-US" sz="2400" dirty="0">
                <a:latin typeface="+mn-ea"/>
              </a:rPr>
              <a:t>、</a:t>
            </a:r>
            <a:r>
              <a:rPr lang="en-US" altLang="zh-CN" sz="2400" dirty="0">
                <a:latin typeface="+mn-ea"/>
              </a:rPr>
              <a:t>2</a:t>
            </a:r>
            <a:r>
              <a:rPr lang="zh-CN" altLang="en-US" sz="2400" dirty="0">
                <a:latin typeface="+mn-ea"/>
              </a:rPr>
              <a:t>和</a:t>
            </a:r>
            <a:r>
              <a:rPr lang="en-US" altLang="zh-CN" sz="2400" dirty="0">
                <a:latin typeface="+mn-ea"/>
              </a:rPr>
              <a:t>64</a:t>
            </a:r>
            <a:r>
              <a:rPr lang="zh-CN" altLang="en-US" sz="2400" dirty="0">
                <a:latin typeface="+mn-ea"/>
              </a:rPr>
              <a:t>的情况下</a:t>
            </a:r>
          </a:p>
          <a:p>
            <a:pPr lvl="3">
              <a:lnSpc>
                <a:spcPts val="3000"/>
              </a:lnSpc>
            </a:pPr>
            <a:r>
              <a:rPr lang="zh-CN" altLang="en-US" sz="2400" dirty="0">
                <a:latin typeface="+mn-ea"/>
              </a:rPr>
              <a:t>浮点程序的平均比值分别为：</a:t>
            </a:r>
            <a:r>
              <a:rPr lang="en-US" altLang="zh-CN" sz="2400" dirty="0">
                <a:latin typeface="+mn-ea"/>
              </a:rPr>
              <a:t>76%</a:t>
            </a:r>
            <a:r>
              <a:rPr lang="zh-CN" altLang="en-US" sz="2400" dirty="0">
                <a:latin typeface="+mn-ea"/>
              </a:rPr>
              <a:t>、</a:t>
            </a:r>
            <a:r>
              <a:rPr lang="en-US" altLang="zh-CN" sz="2400" dirty="0">
                <a:latin typeface="+mn-ea"/>
              </a:rPr>
              <a:t>51%</a:t>
            </a:r>
            <a:r>
              <a:rPr lang="zh-CN" altLang="en-US" sz="2400" dirty="0">
                <a:latin typeface="+mn-ea"/>
              </a:rPr>
              <a:t>和</a:t>
            </a:r>
            <a:r>
              <a:rPr lang="en-US" altLang="zh-CN" sz="2400" dirty="0">
                <a:latin typeface="+mn-ea"/>
              </a:rPr>
              <a:t>39%</a:t>
            </a:r>
          </a:p>
          <a:p>
            <a:pPr lvl="3">
              <a:lnSpc>
                <a:spcPts val="3000"/>
              </a:lnSpc>
            </a:pPr>
            <a:r>
              <a:rPr lang="zh-CN" altLang="en-US" sz="2400" dirty="0">
                <a:latin typeface="+mn-ea"/>
              </a:rPr>
              <a:t>整数程序的平均比值则分别为：</a:t>
            </a:r>
            <a:r>
              <a:rPr lang="en-US" altLang="zh-CN" sz="2400" dirty="0">
                <a:latin typeface="+mn-ea"/>
              </a:rPr>
              <a:t>81%</a:t>
            </a:r>
            <a:r>
              <a:rPr lang="zh-CN" altLang="en-US" sz="2400" dirty="0">
                <a:latin typeface="+mn-ea"/>
              </a:rPr>
              <a:t>、</a:t>
            </a:r>
            <a:r>
              <a:rPr lang="en-US" altLang="zh-CN" sz="2400" dirty="0">
                <a:latin typeface="+mn-ea"/>
              </a:rPr>
              <a:t>78%</a:t>
            </a:r>
            <a:r>
              <a:rPr lang="zh-CN" altLang="en-US" sz="2400" dirty="0">
                <a:latin typeface="+mn-ea"/>
              </a:rPr>
              <a:t>和</a:t>
            </a:r>
            <a:r>
              <a:rPr lang="en-US" altLang="zh-CN" sz="2400" dirty="0">
                <a:latin typeface="+mn-ea"/>
              </a:rPr>
              <a:t>78%</a:t>
            </a:r>
          </a:p>
          <a:p>
            <a:pPr lvl="3">
              <a:lnSpc>
                <a:spcPts val="3000"/>
              </a:lnSpc>
            </a:pPr>
            <a:endParaRPr lang="en-US" altLang="zh-CN" sz="2400" dirty="0">
              <a:latin typeface="+mn-ea"/>
            </a:endParaRPr>
          </a:p>
          <a:p>
            <a:pPr lvl="2" eaLnBrk="1" hangingPunct="1"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+mn-ea"/>
              </a:rPr>
              <a:t>    对于整数程序来说，重叠次数对性能提高影响不大，简</a:t>
            </a:r>
          </a:p>
          <a:p>
            <a:pPr lvl="2" eaLnBrk="1" hangingPunct="1"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+mn-ea"/>
              </a:rPr>
              <a:t>单的“一次不命中下命中”就几乎可以得到所有的好处。</a:t>
            </a:r>
          </a:p>
          <a:p>
            <a:pPr marL="457200" indent="-457200">
              <a:lnSpc>
                <a:spcPts val="3000"/>
              </a:lnSpc>
            </a:pPr>
            <a:endParaRPr lang="en-US" altLang="zh-CN" dirty="0"/>
          </a:p>
        </p:txBody>
      </p:sp>
      <p:sp>
        <p:nvSpPr>
          <p:cNvPr id="2" name="矩形 1"/>
          <p:cNvSpPr/>
          <p:nvPr/>
        </p:nvSpPr>
        <p:spPr>
          <a:xfrm>
            <a:off x="565087" y="338091"/>
            <a:ext cx="4873450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3000"/>
              </a:lnSpc>
              <a:spcBef>
                <a:spcPts val="1200"/>
              </a:spcBef>
            </a:pPr>
            <a:r>
              <a:rPr lang="zh-CN" altLang="en-US" sz="2800" b="1" dirty="0">
                <a:solidFill>
                  <a:srgbClr val="000000"/>
                </a:solidFill>
              </a:rPr>
              <a:t>问题：不命中次数越多越好？</a:t>
            </a:r>
          </a:p>
        </p:txBody>
      </p:sp>
    </p:spTree>
    <p:extLst>
      <p:ext uri="{BB962C8B-B14F-4D97-AF65-F5344CB8AC3E}">
        <p14:creationId xmlns:p14="http://schemas.microsoft.com/office/powerpoint/2010/main" val="295939880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95350" y="1583624"/>
            <a:ext cx="9483134" cy="1511300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lnSpc>
                <a:spcPct val="110000"/>
              </a:lnSpc>
              <a:buNone/>
            </a:pPr>
            <a:r>
              <a:rPr lang="en-US" altLang="zh-CN" dirty="0"/>
              <a:t>        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</a:rPr>
              <a:t>命中时间直接影响到处理器的时钟频率。在当今的许</a:t>
            </a:r>
          </a:p>
          <a:p>
            <a:pPr marL="457200" indent="-457200">
              <a:lnSpc>
                <a:spcPct val="110000"/>
              </a:lnSpc>
              <a:buNone/>
            </a:pP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</a:rPr>
              <a:t>多计算机中，往往是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</a:rPr>
              <a:t>Cache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</a:rPr>
              <a:t>的访问时间限制了处理器的时</a:t>
            </a:r>
          </a:p>
          <a:p>
            <a:pPr marL="457200" indent="-457200">
              <a:lnSpc>
                <a:spcPct val="110000"/>
              </a:lnSpc>
              <a:buNone/>
            </a:pP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</a:rPr>
              <a:t>钟频率。</a:t>
            </a:r>
          </a:p>
        </p:txBody>
      </p:sp>
      <p:sp>
        <p:nvSpPr>
          <p:cNvPr id="7" name="标题 1"/>
          <p:cNvSpPr txBox="1">
            <a:spLocks/>
          </p:cNvSpPr>
          <p:nvPr/>
        </p:nvSpPr>
        <p:spPr>
          <a:xfrm>
            <a:off x="46039" y="53181"/>
            <a:ext cx="6905626" cy="771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/>
              <a:t>五</a:t>
            </a:r>
            <a:r>
              <a:rPr lang="en-US" altLang="zh-CN" sz="3600" b="1" dirty="0"/>
              <a:t>  </a:t>
            </a:r>
            <a:r>
              <a:rPr lang="zh-CN" altLang="en-US" sz="3600" b="1" dirty="0"/>
              <a:t>减少命中时间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32196455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9" name="Rectangle 6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785813" y="1366839"/>
            <a:ext cx="7772400" cy="3652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  <a:defRPr kumimoji="1" sz="2400">
                <a:solidFill>
                  <a:srgbClr val="E24C05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q"/>
              <a:defRPr kumimoji="1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rgbClr val="006600"/>
              </a:buClr>
              <a:buSzPct val="6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硬件越简单，速度就越快；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应使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Cache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足够小，以便可以与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CPU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一起放在同一块芯片上。</a:t>
            </a:r>
            <a:endParaRPr lang="en-US" altLang="zh-CN" sz="22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+mn-ea"/>
                <a:ea typeface="+mn-ea"/>
              </a:rPr>
              <a:t>某些设计采用了一种折衷方案：</a:t>
            </a:r>
          </a:p>
          <a:p>
            <a:pPr lvl="1">
              <a:buNone/>
            </a:pPr>
            <a:r>
              <a:rPr lang="zh-CN" altLang="en-US" dirty="0">
                <a:latin typeface="宋体" panose="02010600030101010101" pitchFamily="2" charset="-122"/>
              </a:rPr>
              <a:t>   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把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的标识放在片内，而把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的数据存储器放在片外。</a:t>
            </a:r>
            <a:endParaRPr lang="en-US" altLang="zh-CN" sz="20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+mn-ea"/>
                <a:ea typeface="+mn-ea"/>
              </a:rPr>
              <a:t>采用结构简单的</a:t>
            </a:r>
            <a:r>
              <a:rPr lang="en-US" altLang="zh-CN" sz="2200" dirty="0">
                <a:latin typeface="+mn-ea"/>
                <a:ea typeface="+mn-ea"/>
              </a:rPr>
              <a:t>Cache</a:t>
            </a:r>
            <a:r>
              <a:rPr lang="zh-CN" altLang="en-US" sz="2200" dirty="0">
                <a:latin typeface="+mn-ea"/>
                <a:ea typeface="+mn-ea"/>
              </a:rPr>
              <a:t>，比如直接映像</a:t>
            </a:r>
            <a:r>
              <a:rPr lang="en-US" altLang="zh-CN" sz="2200" dirty="0">
                <a:latin typeface="+mn-ea"/>
                <a:ea typeface="+mn-ea"/>
              </a:rPr>
              <a:t>Cache</a:t>
            </a:r>
            <a:r>
              <a:rPr lang="zh-CN" altLang="en-US" sz="2200" dirty="0">
                <a:latin typeface="+mn-ea"/>
                <a:ea typeface="+mn-ea"/>
              </a:rPr>
              <a:t>。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/>
              </a:solidFill>
              <a:latin typeface="+mn-ea"/>
              <a:ea typeface="+mn-ea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  <a:p>
            <a:pPr eaLnBrk="1" hangingPunct="1"/>
            <a:endParaRPr lang="en-US" altLang="zh-CN" dirty="0">
              <a:latin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38243" y="231616"/>
            <a:ext cx="6468437" cy="4514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>
              <a:lnSpc>
                <a:spcPts val="2800"/>
              </a:lnSpc>
            </a:pPr>
            <a:r>
              <a:rPr lang="zh-CN" altLang="en-US" sz="2800" dirty="0">
                <a:latin typeface="黑体" panose="02010609060101010101" pitchFamily="49" charset="-122"/>
              </a:rPr>
              <a:t>方法一：使用小容量、结构简单的</a:t>
            </a:r>
            <a:r>
              <a:rPr lang="en-US" altLang="zh-CN" sz="2800" dirty="0">
                <a:latin typeface="黑体" panose="02010609060101010101" pitchFamily="49" charset="-122"/>
              </a:rPr>
              <a:t>Cache</a:t>
            </a:r>
          </a:p>
        </p:txBody>
      </p:sp>
      <p:sp>
        <p:nvSpPr>
          <p:cNvPr id="9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971550" y="3448050"/>
            <a:ext cx="7772400" cy="1417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8872672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6" name="Rectangle 5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887413" y="893962"/>
            <a:ext cx="7702550" cy="2570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  <a:defRPr kumimoji="1" sz="2400">
                <a:solidFill>
                  <a:srgbClr val="E24C05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900113" indent="-271463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q"/>
              <a:defRPr kumimoji="1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rgbClr val="006600"/>
              </a:buClr>
              <a:buSzPct val="6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物理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Cache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+mn-ea"/>
                <a:ea typeface="+mn-ea"/>
              </a:rPr>
              <a:t>使用物理地址进行访问的传统</a:t>
            </a:r>
            <a:r>
              <a:rPr lang="en-US" altLang="zh-CN" sz="2200" dirty="0">
                <a:latin typeface="+mn-ea"/>
                <a:ea typeface="+mn-ea"/>
              </a:rPr>
              <a:t>Cache</a:t>
            </a:r>
            <a:r>
              <a:rPr lang="zh-CN" altLang="en-US" sz="2200" dirty="0">
                <a:latin typeface="+mn-ea"/>
                <a:ea typeface="+mn-ea"/>
              </a:rPr>
              <a:t>。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+mn-ea"/>
                <a:ea typeface="+mn-ea"/>
              </a:rPr>
              <a:t>标识存储器中存放的是物理地址，进行地址检测也是用物理地址。</a:t>
            </a:r>
            <a:endParaRPr lang="en-US" altLang="zh-CN" sz="2200" dirty="0">
              <a:latin typeface="+mn-ea"/>
              <a:ea typeface="+mn-ea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2200" kern="0" dirty="0">
                <a:latin typeface="+mn-ea"/>
                <a:ea typeface="+mn-ea"/>
              </a:rPr>
              <a:t>缺点：地址转换和访问</a:t>
            </a:r>
            <a:r>
              <a:rPr lang="en-US" altLang="zh-CN" sz="2200" kern="0" dirty="0">
                <a:latin typeface="+mn-ea"/>
                <a:ea typeface="+mn-ea"/>
              </a:rPr>
              <a:t>Cache</a:t>
            </a:r>
            <a:r>
              <a:rPr lang="zh-CN" altLang="en-US" sz="2200" kern="0" dirty="0">
                <a:latin typeface="+mn-ea"/>
                <a:ea typeface="+mn-ea"/>
              </a:rPr>
              <a:t>串行进行，访问速度很慢。</a:t>
            </a:r>
          </a:p>
          <a:p>
            <a:pPr lvl="1" eaLnBrk="1" hangingPunct="1"/>
            <a:endParaRPr lang="zh-CN" altLang="en-US" dirty="0"/>
          </a:p>
          <a:p>
            <a:pPr lvl="1" eaLnBrk="1" hangingPunct="1"/>
            <a:endParaRPr lang="en-US" altLang="zh-CN" dirty="0">
              <a:solidFill>
                <a:srgbClr val="E24C05"/>
              </a:solidFill>
            </a:endParaRPr>
          </a:p>
        </p:txBody>
      </p:sp>
      <p:sp>
        <p:nvSpPr>
          <p:cNvPr id="10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2322513" y="3789364"/>
            <a:ext cx="8062912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AutoNum type="arabicPeriod"/>
              <a:defRPr kumimoji="1" sz="2400">
                <a:solidFill>
                  <a:srgbClr val="E24C05"/>
                </a:solidFill>
                <a:latin typeface="+mn-lt"/>
                <a:ea typeface="+mn-ea"/>
                <a:cs typeface="+mn-cs"/>
              </a:defRPr>
            </a:lvl1pPr>
            <a:lvl2pPr marL="900113" indent="-271463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714500" indent="-4572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q"/>
              <a:defRPr kumimoji="1" sz="2000" b="1">
                <a:solidFill>
                  <a:srgbClr val="000000"/>
                </a:solidFill>
                <a:latin typeface="+mn-lt"/>
                <a:ea typeface="宋体" pitchFamily="2" charset="-122"/>
              </a:defRPr>
            </a:lvl3pPr>
            <a:lvl4pPr marL="2274888" indent="-3810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6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+mn-lt"/>
                <a:ea typeface="宋体" pitchFamily="2" charset="-122"/>
              </a:defRPr>
            </a:lvl4pPr>
            <a:lvl5pPr marL="2835275" indent="-3810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+mn-lt"/>
                <a:ea typeface="宋体" pitchFamily="2" charset="-122"/>
              </a:defRPr>
            </a:lvl5pPr>
            <a:lvl6pPr marL="3292475" indent="-3810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b="1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3749675" indent="-3810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b="1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4206875" indent="-3810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b="1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4664075" indent="-3810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b="1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pPr lvl="1" eaLnBrk="1" hangingPunct="1">
              <a:defRPr/>
            </a:pPr>
            <a:endParaRPr lang="zh-CN" altLang="en-US" kern="0" dirty="0">
              <a:latin typeface="Times New Roman" panose="02020603050405020304" pitchFamily="18" charset="0"/>
            </a:endParaRPr>
          </a:p>
        </p:txBody>
      </p:sp>
      <p:graphicFrame>
        <p:nvGraphicFramePr>
          <p:cNvPr id="7987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8234078"/>
              </p:ext>
            </p:extLst>
          </p:nvPr>
        </p:nvGraphicFramePr>
        <p:xfrm>
          <a:off x="1289051" y="3871914"/>
          <a:ext cx="6551613" cy="145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片" r:id="rId2" imgW="3557016" imgH="792480" progId="Word.Picture.8">
                  <p:embed/>
                </p:oleObj>
              </mc:Choice>
              <mc:Fallback>
                <p:oleObj name="图片" r:id="rId2" imgW="3557016" imgH="792480" progId="Word.Picture.8">
                  <p:embed/>
                  <p:pic>
                    <p:nvPicPr>
                      <p:cNvPr id="7987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9051" y="3871914"/>
                        <a:ext cx="6551613" cy="1457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79" name="Text Box 7"/>
          <p:cNvSpPr txBox="1">
            <a:spLocks noChangeArrowheads="1"/>
          </p:cNvSpPr>
          <p:nvPr/>
        </p:nvSpPr>
        <p:spPr bwMode="auto">
          <a:xfrm>
            <a:off x="3406775" y="5411789"/>
            <a:ext cx="26638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  <a:defRPr kumimoji="1" sz="2400">
                <a:solidFill>
                  <a:srgbClr val="E24C05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q"/>
              <a:defRPr kumimoji="1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rgbClr val="006600"/>
              </a:buClr>
              <a:buSzPct val="6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物理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Cache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存储系统 </a:t>
            </a:r>
          </a:p>
        </p:txBody>
      </p:sp>
      <p:sp>
        <p:nvSpPr>
          <p:cNvPr id="9" name="矩形 8"/>
          <p:cNvSpPr/>
          <p:nvPr/>
        </p:nvSpPr>
        <p:spPr>
          <a:xfrm>
            <a:off x="166818" y="117316"/>
            <a:ext cx="3236784" cy="4514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>
              <a:lnSpc>
                <a:spcPts val="2800"/>
              </a:lnSpc>
            </a:pPr>
            <a:r>
              <a:rPr lang="zh-CN" altLang="en-US" sz="2800" dirty="0">
                <a:latin typeface="黑体" panose="02010609060101010101" pitchFamily="49" charset="-122"/>
              </a:rPr>
              <a:t>方法二：虚拟</a:t>
            </a:r>
            <a:r>
              <a:rPr lang="en-US" altLang="zh-CN" sz="2800" dirty="0">
                <a:latin typeface="黑体" panose="02010609060101010101" pitchFamily="49" charset="-122"/>
              </a:rPr>
              <a:t>Cache</a:t>
            </a:r>
          </a:p>
        </p:txBody>
      </p:sp>
    </p:spTree>
    <p:extLst>
      <p:ext uri="{BB962C8B-B14F-4D97-AF65-F5344CB8AC3E}">
        <p14:creationId xmlns:p14="http://schemas.microsoft.com/office/powerpoint/2010/main" val="1550157665"/>
      </p:ext>
    </p:extLst>
  </p:cSld>
  <p:clrMapOvr>
    <a:masterClrMapping/>
  </p:clrMapOvr>
  <p:transition>
    <p:pull dir="rd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666751" y="438150"/>
            <a:ext cx="9267824" cy="4730750"/>
          </a:xfrm>
        </p:spPr>
        <p:txBody>
          <a:bodyPr/>
          <a:lstStyle/>
          <a:p>
            <a:pPr marL="449263" indent="-449263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</a:pPr>
            <a:r>
              <a:rPr kumimoji="1" lang="zh-CN" altLang="en-US" sz="2400" dirty="0">
                <a:latin typeface="+mn-ea"/>
              </a:rPr>
              <a:t>虚拟</a:t>
            </a:r>
            <a:r>
              <a:rPr kumimoji="1" lang="en-US" altLang="zh-CN" sz="2400" dirty="0">
                <a:latin typeface="+mn-ea"/>
              </a:rPr>
              <a:t>Cache</a:t>
            </a:r>
          </a:p>
          <a:p>
            <a:pPr marL="900113" lvl="1" indent="-271463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</a:pPr>
            <a:r>
              <a:rPr kumimoji="1" lang="zh-CN" altLang="en-US" sz="2200" dirty="0">
                <a:latin typeface="+mn-ea"/>
              </a:rPr>
              <a:t>可以直接用虚拟地址进行访问的</a:t>
            </a:r>
            <a:r>
              <a:rPr kumimoji="1" lang="en-US" altLang="zh-CN" sz="2200" dirty="0">
                <a:latin typeface="+mn-ea"/>
              </a:rPr>
              <a:t>Cache</a:t>
            </a:r>
            <a:r>
              <a:rPr kumimoji="1" lang="zh-CN" altLang="en-US" sz="2200" dirty="0">
                <a:latin typeface="+mn-ea"/>
              </a:rPr>
              <a:t>。标识存储器中存放的是虚拟地址，进行地址检测用的也是虚拟地址。 </a:t>
            </a:r>
          </a:p>
          <a:p>
            <a:pPr marL="900113" lvl="1" indent="-271463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</a:pPr>
            <a:r>
              <a:rPr kumimoji="1" lang="zh-CN" altLang="en-US" sz="2200" dirty="0">
                <a:latin typeface="+mn-ea"/>
              </a:rPr>
              <a:t>优点：在命中时不需要地址转换，省去了地址转换的时间。即使不命中，地址转换和访问</a:t>
            </a:r>
            <a:r>
              <a:rPr kumimoji="1" lang="en-US" altLang="zh-CN" sz="2200" dirty="0">
                <a:latin typeface="+mn-ea"/>
              </a:rPr>
              <a:t>Cache</a:t>
            </a:r>
            <a:r>
              <a:rPr kumimoji="1" lang="zh-CN" altLang="en-US" sz="2200" dirty="0">
                <a:latin typeface="+mn-ea"/>
              </a:rPr>
              <a:t>也是并行进行的，其速度比物理</a:t>
            </a:r>
            <a:r>
              <a:rPr kumimoji="1" lang="en-US" altLang="zh-CN" sz="2200" dirty="0">
                <a:latin typeface="+mn-ea"/>
              </a:rPr>
              <a:t>Cache</a:t>
            </a:r>
            <a:r>
              <a:rPr kumimoji="1" lang="zh-CN" altLang="en-US" sz="2200" dirty="0">
                <a:latin typeface="+mn-ea"/>
              </a:rPr>
              <a:t>快很多。 </a:t>
            </a:r>
          </a:p>
        </p:txBody>
      </p:sp>
      <p:graphicFrame>
        <p:nvGraphicFramePr>
          <p:cNvPr id="80900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61811420"/>
              </p:ext>
            </p:extLst>
          </p:nvPr>
        </p:nvGraphicFramePr>
        <p:xfrm>
          <a:off x="2214563" y="3644900"/>
          <a:ext cx="4751387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片" r:id="rId2" imgW="2956560" imgH="947928" progId="Word.Picture.8">
                  <p:embed/>
                </p:oleObj>
              </mc:Choice>
              <mc:Fallback>
                <p:oleObj name="图片" r:id="rId2" imgW="2956560" imgH="947928" progId="Word.Picture.8">
                  <p:embed/>
                  <p:pic>
                    <p:nvPicPr>
                      <p:cNvPr id="8090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563" y="3644900"/>
                        <a:ext cx="4751387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20967813"/>
      </p:ext>
    </p:extLst>
  </p:cSld>
  <p:clrMapOvr>
    <a:masterClrMapping/>
  </p:clrMapOvr>
  <p:transition>
    <p:pull dir="rd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76250" y="311149"/>
            <a:ext cx="10515600" cy="6270625"/>
          </a:xfrm>
        </p:spPr>
        <p:txBody>
          <a:bodyPr>
            <a:normAutofit/>
          </a:bodyPr>
          <a:lstStyle/>
          <a:p>
            <a:pPr marL="449263" indent="-449263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</a:pPr>
            <a:r>
              <a:rPr kumimoji="1" lang="zh-CN" altLang="en-US" sz="2400" dirty="0">
                <a:latin typeface="+mn-ea"/>
              </a:rPr>
              <a:t>并非都采用虚拟</a:t>
            </a:r>
            <a:r>
              <a:rPr kumimoji="1" lang="en-US" altLang="zh-CN" sz="2400" dirty="0">
                <a:latin typeface="+mn-ea"/>
              </a:rPr>
              <a:t>Cache</a:t>
            </a:r>
          </a:p>
          <a:p>
            <a:pPr lvl="1">
              <a:lnSpc>
                <a:spcPct val="150000"/>
              </a:lnSpc>
              <a:buClr>
                <a:schemeClr val="tx1"/>
              </a:buClr>
            </a:pPr>
            <a:r>
              <a:rPr lang="zh-CN" altLang="en-US" sz="2200" dirty="0">
                <a:latin typeface="+mn-ea"/>
              </a:rPr>
              <a:t>清空问题：由于新进程的虚拟地址可能与原进程相同；</a:t>
            </a:r>
            <a:endParaRPr lang="en-US" altLang="zh-CN" sz="2200" dirty="0">
              <a:latin typeface="+mn-ea"/>
            </a:endParaRPr>
          </a:p>
          <a:p>
            <a:pPr lvl="1">
              <a:lnSpc>
                <a:spcPct val="150000"/>
              </a:lnSpc>
              <a:buClr>
                <a:schemeClr val="tx1"/>
              </a:buClr>
            </a:pPr>
            <a:r>
              <a:rPr lang="zh-CN" altLang="en-US" sz="2200" dirty="0">
                <a:latin typeface="+mn-ea"/>
              </a:rPr>
              <a:t>解决方法：在地址标识中增加</a:t>
            </a:r>
            <a:r>
              <a:rPr lang="en-US" altLang="zh-CN" sz="2200" dirty="0">
                <a:latin typeface="+mn-ea"/>
              </a:rPr>
              <a:t>PID(</a:t>
            </a:r>
            <a:r>
              <a:rPr lang="zh-CN" altLang="en-US" sz="2200" dirty="0">
                <a:latin typeface="+mn-ea"/>
              </a:rPr>
              <a:t>进程标识符</a:t>
            </a:r>
            <a:r>
              <a:rPr lang="en-US" altLang="zh-CN" sz="2200" dirty="0">
                <a:latin typeface="+mn-ea"/>
              </a:rPr>
              <a:t>)</a:t>
            </a:r>
            <a:r>
              <a:rPr lang="zh-CN" altLang="en-US" sz="2200" dirty="0">
                <a:latin typeface="+mn-ea"/>
              </a:rPr>
              <a:t>字段；</a:t>
            </a:r>
            <a:endParaRPr lang="en-US" altLang="zh-CN" sz="2200" dirty="0">
              <a:latin typeface="+mn-ea"/>
            </a:endParaRPr>
          </a:p>
          <a:p>
            <a:pPr lvl="1">
              <a:lnSpc>
                <a:spcPct val="150000"/>
              </a:lnSpc>
              <a:buClr>
                <a:schemeClr val="tx1"/>
              </a:buClr>
            </a:pPr>
            <a:r>
              <a:rPr lang="en-US" altLang="zh-CN" sz="2200" dirty="0">
                <a:latin typeface="+mn-ea"/>
              </a:rPr>
              <a:t>PID</a:t>
            </a:r>
            <a:r>
              <a:rPr lang="zh-CN" altLang="en-US" sz="2200" dirty="0">
                <a:latin typeface="+mn-ea"/>
              </a:rPr>
              <a:t>相关问题：为了减少位数，</a:t>
            </a:r>
            <a:r>
              <a:rPr lang="en-US" altLang="zh-CN" sz="2200" dirty="0">
                <a:latin typeface="+mn-ea"/>
              </a:rPr>
              <a:t>PID</a:t>
            </a:r>
            <a:r>
              <a:rPr lang="zh-CN" altLang="en-US" sz="2200" dirty="0">
                <a:latin typeface="+mn-ea"/>
              </a:rPr>
              <a:t>可能循环使用，所以也可能存在多个进程使用同一个</a:t>
            </a:r>
            <a:r>
              <a:rPr lang="en-US" altLang="zh-CN" sz="2200" dirty="0">
                <a:latin typeface="+mn-ea"/>
              </a:rPr>
              <a:t>PID</a:t>
            </a:r>
            <a:r>
              <a:rPr lang="zh-CN" altLang="en-US" sz="2200" dirty="0">
                <a:latin typeface="+mn-ea"/>
              </a:rPr>
              <a:t>，所以此时也需要清空</a:t>
            </a:r>
            <a:r>
              <a:rPr lang="en-US" altLang="zh-CN" sz="2200" dirty="0">
                <a:latin typeface="+mn-ea"/>
              </a:rPr>
              <a:t>Cache</a:t>
            </a:r>
            <a:r>
              <a:rPr lang="zh-CN" altLang="en-US" sz="2200" dirty="0">
                <a:latin typeface="+mn-ea"/>
              </a:rPr>
              <a:t>。</a:t>
            </a:r>
          </a:p>
          <a:p>
            <a:pPr lvl="2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+mn-ea"/>
              </a:rPr>
              <a:t>                         </a:t>
            </a:r>
            <a:endParaRPr lang="en-US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2151882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963613" y="330201"/>
            <a:ext cx="10456861" cy="4457700"/>
          </a:xfrm>
        </p:spPr>
        <p:txBody>
          <a:bodyPr>
            <a:normAutofit/>
          </a:bodyPr>
          <a:lstStyle/>
          <a:p>
            <a:pPr marL="266700" indent="-26670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</a:pPr>
            <a:r>
              <a:rPr kumimoji="1" lang="zh-CN" altLang="en-US" sz="2400" dirty="0">
                <a:latin typeface="+mn-ea"/>
              </a:rPr>
              <a:t>虚拟索引＋物理标识</a:t>
            </a:r>
            <a:endParaRPr kumimoji="1" lang="en-US" altLang="zh-CN" sz="2400" dirty="0">
              <a:latin typeface="+mn-ea"/>
            </a:endParaRPr>
          </a:p>
          <a:p>
            <a:pPr marL="723900" lvl="1" indent="-26670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</a:pPr>
            <a:r>
              <a:rPr kumimoji="1" lang="zh-CN" altLang="en-US" sz="2000" dirty="0">
                <a:latin typeface="+mn-ea"/>
              </a:rPr>
              <a:t>原理：使用虚地址中的页内位移生成</a:t>
            </a:r>
            <a:r>
              <a:rPr kumimoji="1" lang="en-US" altLang="zh-CN" sz="2000" dirty="0">
                <a:latin typeface="+mn-ea"/>
              </a:rPr>
              <a:t>Cache</a:t>
            </a:r>
            <a:r>
              <a:rPr kumimoji="1" lang="zh-CN" altLang="en-US" sz="2000" dirty="0">
                <a:latin typeface="+mn-ea"/>
              </a:rPr>
              <a:t>索引；虚实转换后的实页地址作为标志</a:t>
            </a:r>
            <a:r>
              <a:rPr kumimoji="1" lang="en-US" altLang="zh-CN" sz="2000" dirty="0">
                <a:latin typeface="+mn-ea"/>
              </a:rPr>
              <a:t>tag</a:t>
            </a:r>
            <a:endParaRPr kumimoji="1" lang="zh-CN" altLang="en-US" sz="2000" dirty="0">
              <a:latin typeface="+mn-ea"/>
            </a:endParaRPr>
          </a:p>
          <a:p>
            <a:pPr marL="723900" lvl="1" indent="-26670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</a:pPr>
            <a:r>
              <a:rPr kumimoji="1" lang="zh-CN" altLang="en-US" sz="2000" dirty="0">
                <a:latin typeface="+mn-ea"/>
              </a:rPr>
              <a:t>优点：兼得虚拟</a:t>
            </a:r>
            <a:r>
              <a:rPr kumimoji="1" lang="en-US" altLang="zh-CN" sz="2000" dirty="0">
                <a:latin typeface="+mn-ea"/>
              </a:rPr>
              <a:t>Cache</a:t>
            </a:r>
            <a:r>
              <a:rPr kumimoji="1" lang="zh-CN" altLang="en-US" sz="2000" dirty="0">
                <a:latin typeface="+mn-ea"/>
              </a:rPr>
              <a:t>和物理</a:t>
            </a:r>
            <a:r>
              <a:rPr kumimoji="1" lang="en-US" altLang="zh-CN" sz="2000" dirty="0">
                <a:latin typeface="+mn-ea"/>
              </a:rPr>
              <a:t>Cache</a:t>
            </a:r>
            <a:r>
              <a:rPr kumimoji="1" lang="zh-CN" altLang="en-US" sz="2000" dirty="0">
                <a:latin typeface="+mn-ea"/>
              </a:rPr>
              <a:t>的好处</a:t>
            </a:r>
          </a:p>
          <a:p>
            <a:pPr marL="723900" lvl="1" indent="-26670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</a:pPr>
            <a:r>
              <a:rPr kumimoji="1" lang="zh-CN" altLang="en-US" sz="2000" dirty="0">
                <a:latin typeface="+mn-ea"/>
              </a:rPr>
              <a:t>局限性：</a:t>
            </a:r>
            <a:r>
              <a:rPr kumimoji="1" lang="en-US" altLang="zh-CN" sz="2000" dirty="0">
                <a:latin typeface="+mn-ea"/>
              </a:rPr>
              <a:t>Cache</a:t>
            </a:r>
            <a:r>
              <a:rPr kumimoji="1" lang="zh-CN" altLang="en-US" sz="2000" dirty="0">
                <a:latin typeface="+mn-ea"/>
              </a:rPr>
              <a:t>容量受到限制</a:t>
            </a:r>
          </a:p>
          <a:p>
            <a:pPr lvl="2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+mn-ea"/>
              </a:rPr>
              <a:t>   Cache</a:t>
            </a:r>
            <a:r>
              <a:rPr lang="zh-CN" altLang="en-US" dirty="0">
                <a:latin typeface="+mn-ea"/>
              </a:rPr>
              <a:t>容量≤页大小</a:t>
            </a:r>
            <a:r>
              <a:rPr lang="en-US" altLang="zh-CN" dirty="0">
                <a:latin typeface="+mn-ea"/>
              </a:rPr>
              <a:t>×</a:t>
            </a:r>
            <a:r>
              <a:rPr lang="zh-CN" altLang="en-US" dirty="0">
                <a:latin typeface="+mn-ea"/>
              </a:rPr>
              <a:t>相联度</a:t>
            </a:r>
          </a:p>
          <a:p>
            <a:pPr marL="266700" indent="-26670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</a:pPr>
            <a:r>
              <a:rPr kumimoji="1" lang="zh-CN" altLang="en-US" sz="2400" dirty="0">
                <a:latin typeface="+mn-ea"/>
              </a:rPr>
              <a:t>举例：</a:t>
            </a:r>
            <a:r>
              <a:rPr kumimoji="1" lang="en-US" altLang="zh-CN" sz="2400" dirty="0">
                <a:latin typeface="+mn-ea"/>
              </a:rPr>
              <a:t>IBM3033</a:t>
            </a:r>
            <a:r>
              <a:rPr kumimoji="1" lang="zh-CN" altLang="en-US" sz="2400" dirty="0">
                <a:latin typeface="+mn-ea"/>
              </a:rPr>
              <a:t>的</a:t>
            </a:r>
            <a:r>
              <a:rPr kumimoji="1" lang="en-US" altLang="zh-CN" sz="2400" dirty="0">
                <a:latin typeface="+mn-ea"/>
              </a:rPr>
              <a:t>Cache</a:t>
            </a:r>
          </a:p>
          <a:p>
            <a:pPr marL="895350" lvl="1" indent="-266700">
              <a:lnSpc>
                <a:spcPct val="110000"/>
              </a:lnSpc>
            </a:pPr>
            <a:r>
              <a:rPr lang="zh-CN" altLang="en-US" sz="2000" dirty="0">
                <a:latin typeface="+mn-ea"/>
              </a:rPr>
              <a:t>页大小＝</a:t>
            </a:r>
            <a:r>
              <a:rPr lang="en-US" altLang="zh-CN" sz="2000" dirty="0">
                <a:latin typeface="+mn-ea"/>
              </a:rPr>
              <a:t>4KB     </a:t>
            </a:r>
            <a:r>
              <a:rPr lang="zh-CN" altLang="en-US" sz="2000" dirty="0">
                <a:latin typeface="+mn-ea"/>
              </a:rPr>
              <a:t>相联度＝</a:t>
            </a:r>
            <a:r>
              <a:rPr lang="en-US" altLang="zh-CN" sz="2000" dirty="0">
                <a:latin typeface="+mn-ea"/>
              </a:rPr>
              <a:t>16</a:t>
            </a:r>
          </a:p>
        </p:txBody>
      </p:sp>
      <p:sp>
        <p:nvSpPr>
          <p:cNvPr id="3" name="矩形 2"/>
          <p:cNvSpPr/>
          <p:nvPr/>
        </p:nvSpPr>
        <p:spPr>
          <a:xfrm>
            <a:off x="2171594" y="5136119"/>
            <a:ext cx="389722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085850" lvl="1" indent="-457200">
              <a:defRPr/>
            </a:pPr>
            <a:r>
              <a:rPr lang="en-US" altLang="zh-CN" sz="2000" kern="0" dirty="0">
                <a:latin typeface="黑体" panose="02010609060101010101" pitchFamily="49" charset="-122"/>
              </a:rPr>
              <a:t>Cache</a:t>
            </a:r>
            <a:r>
              <a:rPr lang="zh-CN" altLang="en-US" sz="2000" kern="0" dirty="0">
                <a:latin typeface="黑体" panose="02010609060101010101" pitchFamily="49" charset="-122"/>
              </a:rPr>
              <a:t>容量＝</a:t>
            </a:r>
            <a:r>
              <a:rPr lang="en-US" altLang="zh-CN" sz="2000" kern="0" dirty="0">
                <a:latin typeface="黑体" panose="02010609060101010101" pitchFamily="49" charset="-122"/>
              </a:rPr>
              <a:t>16×4KB</a:t>
            </a:r>
            <a:r>
              <a:rPr lang="zh-CN" altLang="en-US" sz="2000" kern="0" dirty="0">
                <a:latin typeface="黑体" panose="02010609060101010101" pitchFamily="49" charset="-122"/>
              </a:rPr>
              <a:t>＝</a:t>
            </a:r>
            <a:r>
              <a:rPr lang="en-US" altLang="zh-CN" sz="2000" kern="0" dirty="0">
                <a:latin typeface="黑体" panose="02010609060101010101" pitchFamily="49" charset="-122"/>
              </a:rPr>
              <a:t>64KB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925" y="3906391"/>
            <a:ext cx="5177998" cy="1041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9435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Rectangle 6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1160463" y="906462"/>
            <a:ext cx="7772400" cy="433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  <a:defRPr kumimoji="1" sz="2400">
                <a:solidFill>
                  <a:srgbClr val="E24C05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1085850" indent="-4572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714500" indent="-4572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q"/>
              <a:defRPr kumimoji="1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rgbClr val="006600"/>
              </a:buClr>
              <a:buSzPct val="6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266700" indent="-266700" fontAlgn="base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对第一级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Cache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的访问按流水方式组织</a:t>
            </a:r>
          </a:p>
          <a:p>
            <a:pPr marL="266700" indent="-266700" fontAlgn="base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访问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Cache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需要多个时钟周期才可以完成</a:t>
            </a:r>
          </a:p>
          <a:p>
            <a:pPr marL="266700" lvl="1" indent="-266700" fontAlgn="base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latin typeface="+mn-ea"/>
                <a:ea typeface="+mn-ea"/>
              </a:rPr>
              <a:t>例如</a:t>
            </a:r>
          </a:p>
          <a:p>
            <a:pPr marL="1143000" lvl="2" indent="-228600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Pentium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访问指令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Cache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需要一个时钟周期</a:t>
            </a:r>
          </a:p>
          <a:p>
            <a:pPr marL="1143000" lvl="2" indent="-228600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Pentium Pro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到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Pentium Ⅲ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需要两个时钟周期</a:t>
            </a:r>
          </a:p>
          <a:p>
            <a:pPr marL="1143000" lvl="2" indent="-228600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Pentium 4 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则需要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4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个时钟周期</a:t>
            </a:r>
          </a:p>
        </p:txBody>
      </p:sp>
      <p:sp>
        <p:nvSpPr>
          <p:cNvPr id="6" name="矩形 5"/>
          <p:cNvSpPr/>
          <p:nvPr/>
        </p:nvSpPr>
        <p:spPr>
          <a:xfrm>
            <a:off x="166818" y="117316"/>
            <a:ext cx="4314001" cy="4514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>
              <a:lnSpc>
                <a:spcPts val="2800"/>
              </a:lnSpc>
            </a:pPr>
            <a:r>
              <a:rPr lang="zh-CN" altLang="en-US" sz="2800" dirty="0">
                <a:latin typeface="黑体" panose="02010609060101010101" pitchFamily="49" charset="-122"/>
              </a:rPr>
              <a:t>方法三：</a:t>
            </a:r>
            <a:r>
              <a:rPr lang="en-US" altLang="zh-CN" sz="2800" dirty="0">
                <a:latin typeface="黑体" panose="02010609060101010101" pitchFamily="49" charset="-122"/>
              </a:rPr>
              <a:t>Cache</a:t>
            </a:r>
            <a:r>
              <a:rPr lang="zh-CN" altLang="en-US" sz="2800" dirty="0">
                <a:latin typeface="黑体" panose="02010609060101010101" pitchFamily="49" charset="-122"/>
              </a:rPr>
              <a:t>访问流水化</a:t>
            </a:r>
            <a:endParaRPr lang="en-US" altLang="zh-CN" sz="2800" dirty="0">
              <a:latin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0659498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39764" y="650876"/>
            <a:ext cx="7558087" cy="5988049"/>
          </a:xfrm>
        </p:spPr>
        <p:txBody>
          <a:bodyPr>
            <a:normAutofit/>
          </a:bodyPr>
          <a:lstStyle/>
          <a:p>
            <a:pPr marL="266700" indent="-266700" fontAlgn="base">
              <a:lnSpc>
                <a:spcPts val="3200"/>
              </a:lnSpc>
              <a:spcBef>
                <a:spcPts val="0"/>
              </a:spcBef>
              <a:buClr>
                <a:schemeClr val="tx1"/>
              </a:buClr>
              <a:defRPr/>
            </a:pPr>
            <a:r>
              <a:rPr kumimoji="1" lang="zh-CN" altLang="sv-SE" sz="2400" dirty="0">
                <a:latin typeface="+mn-ea"/>
              </a:rPr>
              <a:t>开发指令级并行性所遇到的一个挑战是：</a:t>
            </a:r>
          </a:p>
          <a:p>
            <a:pPr marL="266700" lvl="1" indent="628650">
              <a:lnSpc>
                <a:spcPts val="3200"/>
              </a:lnSpc>
              <a:spcBef>
                <a:spcPts val="0"/>
              </a:spcBef>
              <a:buNone/>
            </a:pPr>
            <a:r>
              <a:rPr lang="zh-CN" altLang="sv-SE" sz="2200" dirty="0">
                <a:latin typeface="+mn-ea"/>
              </a:rPr>
              <a:t>当要每个时钟周期流出超过</a:t>
            </a:r>
            <a:r>
              <a:rPr lang="sv-SE" altLang="zh-CN" sz="2200" dirty="0">
                <a:latin typeface="+mn-ea"/>
              </a:rPr>
              <a:t>4</a:t>
            </a:r>
            <a:r>
              <a:rPr lang="zh-CN" altLang="sv-SE" sz="2200" dirty="0">
                <a:latin typeface="+mn-ea"/>
              </a:rPr>
              <a:t>条指令时，要提供足够多条彼此互不相关的指令是很困难的。</a:t>
            </a:r>
            <a:endParaRPr lang="en-US" altLang="zh-CN" sz="2200" dirty="0">
              <a:latin typeface="+mn-ea"/>
            </a:endParaRPr>
          </a:p>
          <a:p>
            <a:pPr marL="266700" lvl="1" indent="628650">
              <a:lnSpc>
                <a:spcPts val="3200"/>
              </a:lnSpc>
              <a:spcBef>
                <a:spcPts val="0"/>
              </a:spcBef>
              <a:buNone/>
            </a:pPr>
            <a:endParaRPr lang="zh-CN" altLang="sv-SE" sz="2200" dirty="0">
              <a:latin typeface="+mn-ea"/>
            </a:endParaRPr>
          </a:p>
          <a:p>
            <a:pPr marL="266700" indent="-266700" fontAlgn="base">
              <a:lnSpc>
                <a:spcPts val="3200"/>
              </a:lnSpc>
              <a:spcBef>
                <a:spcPts val="0"/>
              </a:spcBef>
              <a:buClr>
                <a:schemeClr val="tx1"/>
              </a:buClr>
              <a:defRPr/>
            </a:pPr>
            <a:r>
              <a:rPr kumimoji="1" lang="zh-CN" altLang="sv-SE" sz="2400" dirty="0">
                <a:latin typeface="+mn-ea"/>
              </a:rPr>
              <a:t>一个解决方法：采用踪迹 </a:t>
            </a:r>
            <a:r>
              <a:rPr kumimoji="1" lang="sv-SE" altLang="zh-CN" sz="2400" dirty="0">
                <a:latin typeface="+mn-ea"/>
              </a:rPr>
              <a:t>Cache</a:t>
            </a:r>
            <a:endParaRPr kumimoji="1" lang="zh-CN" altLang="sv-SE" sz="2400" dirty="0">
              <a:latin typeface="+mn-ea"/>
            </a:endParaRPr>
          </a:p>
          <a:p>
            <a:pPr marL="266700" lvl="1" indent="628650">
              <a:lnSpc>
                <a:spcPts val="3200"/>
              </a:lnSpc>
              <a:spcBef>
                <a:spcPts val="0"/>
              </a:spcBef>
              <a:buNone/>
            </a:pPr>
            <a:r>
              <a:rPr lang="zh-CN" altLang="sv-SE" sz="2200" dirty="0">
                <a:latin typeface="+mn-ea"/>
              </a:rPr>
              <a:t>存放</a:t>
            </a:r>
            <a:r>
              <a:rPr lang="sv-SE" altLang="zh-CN" sz="2200" dirty="0">
                <a:latin typeface="+mn-ea"/>
              </a:rPr>
              <a:t>CPU</a:t>
            </a:r>
            <a:r>
              <a:rPr lang="zh-CN" altLang="sv-SE" sz="2200" dirty="0">
                <a:latin typeface="+mn-ea"/>
              </a:rPr>
              <a:t>所执行的动态指令序列</a:t>
            </a:r>
            <a:r>
              <a:rPr lang="zh-CN" altLang="en-US" sz="2200" dirty="0">
                <a:latin typeface="+mn-ea"/>
              </a:rPr>
              <a:t>，</a:t>
            </a:r>
            <a:r>
              <a:rPr lang="zh-CN" altLang="sv-SE" sz="2200" dirty="0">
                <a:latin typeface="+mn-ea"/>
              </a:rPr>
              <a:t>包含了由分支预测展开的指令，该分支预测是否正确需要在取到该指令时进行确认。</a:t>
            </a:r>
            <a:endParaRPr lang="en-US" altLang="zh-CN" sz="2200" dirty="0">
              <a:latin typeface="+mn-ea"/>
            </a:endParaRPr>
          </a:p>
          <a:p>
            <a:pPr marL="266700" lvl="1" indent="628650">
              <a:lnSpc>
                <a:spcPts val="3200"/>
              </a:lnSpc>
              <a:spcBef>
                <a:spcPts val="0"/>
              </a:spcBef>
              <a:buNone/>
            </a:pPr>
            <a:endParaRPr lang="en-US" altLang="zh-CN" sz="2200" dirty="0">
              <a:latin typeface="+mn-ea"/>
            </a:endParaRPr>
          </a:p>
          <a:p>
            <a:pPr marL="266700" indent="-266700" fontAlgn="base">
              <a:lnSpc>
                <a:spcPts val="3200"/>
              </a:lnSpc>
              <a:spcBef>
                <a:spcPts val="0"/>
              </a:spcBef>
              <a:buClr>
                <a:schemeClr val="tx1"/>
              </a:buClr>
              <a:defRPr/>
            </a:pPr>
            <a:r>
              <a:rPr kumimoji="1" lang="zh-CN" altLang="sv-SE" sz="2400" dirty="0">
                <a:latin typeface="+mn-ea"/>
              </a:rPr>
              <a:t>优缺点</a:t>
            </a:r>
          </a:p>
          <a:p>
            <a:pPr marL="609600" lvl="1" indent="-342900">
              <a:lnSpc>
                <a:spcPts val="3200"/>
              </a:lnSpc>
              <a:spcBef>
                <a:spcPts val="0"/>
              </a:spcBef>
            </a:pPr>
            <a:r>
              <a:rPr lang="zh-CN" altLang="sv-SE" sz="2200" dirty="0">
                <a:latin typeface="+mn-ea"/>
              </a:rPr>
              <a:t>地址</a:t>
            </a:r>
            <a:r>
              <a:rPr lang="zh-CN" altLang="en-US" sz="2200" dirty="0">
                <a:latin typeface="+mn-ea"/>
              </a:rPr>
              <a:t>映像</a:t>
            </a:r>
            <a:r>
              <a:rPr lang="zh-CN" altLang="sv-SE" sz="2200" dirty="0">
                <a:latin typeface="+mn-ea"/>
              </a:rPr>
              <a:t>机制复杂</a:t>
            </a:r>
            <a:r>
              <a:rPr lang="zh-CN" altLang="en-US" sz="2200" dirty="0">
                <a:latin typeface="+mn-ea"/>
              </a:rPr>
              <a:t>；</a:t>
            </a:r>
            <a:endParaRPr lang="zh-CN" altLang="sv-SE" sz="2200" dirty="0">
              <a:latin typeface="+mn-ea"/>
            </a:endParaRPr>
          </a:p>
          <a:p>
            <a:pPr marL="609600" lvl="1" indent="-342900">
              <a:lnSpc>
                <a:spcPts val="3200"/>
              </a:lnSpc>
              <a:spcBef>
                <a:spcPts val="0"/>
              </a:spcBef>
            </a:pPr>
            <a:r>
              <a:rPr lang="zh-CN" altLang="sv-SE" sz="2200" dirty="0">
                <a:latin typeface="+mn-ea"/>
              </a:rPr>
              <a:t>相同的指令序列有可能被当作条件分支的不同选择而重复存放</a:t>
            </a:r>
            <a:r>
              <a:rPr lang="zh-CN" altLang="en-US" sz="2200" dirty="0">
                <a:latin typeface="+mn-ea"/>
              </a:rPr>
              <a:t>；</a:t>
            </a:r>
            <a:endParaRPr lang="sv-SE" altLang="zh-CN" sz="2200" dirty="0">
              <a:latin typeface="+mn-ea"/>
            </a:endParaRPr>
          </a:p>
          <a:p>
            <a:pPr marL="609600" lvl="1" indent="-342900">
              <a:lnSpc>
                <a:spcPts val="3200"/>
              </a:lnSpc>
              <a:spcBef>
                <a:spcPts val="0"/>
              </a:spcBef>
            </a:pPr>
            <a:r>
              <a:rPr lang="zh-CN" altLang="sv-SE" sz="2200" dirty="0">
                <a:latin typeface="+mn-ea"/>
              </a:rPr>
              <a:t>能够提高指令</a:t>
            </a:r>
            <a:r>
              <a:rPr lang="sv-SE" altLang="zh-CN" sz="2200" dirty="0">
                <a:latin typeface="+mn-ea"/>
              </a:rPr>
              <a:t>Cache</a:t>
            </a:r>
            <a:r>
              <a:rPr lang="zh-CN" altLang="sv-SE" sz="2200" dirty="0">
                <a:latin typeface="+mn-ea"/>
              </a:rPr>
              <a:t>的空间利用率。</a:t>
            </a:r>
            <a:endParaRPr lang="zh-CN" altLang="en-US" sz="2200" dirty="0">
              <a:latin typeface="+mn-ea"/>
            </a:endParaRPr>
          </a:p>
          <a:p>
            <a:pPr marL="266700" lvl="1" indent="628650">
              <a:buNone/>
            </a:pPr>
            <a:endParaRPr lang="zh-CN" altLang="sv-SE" sz="2200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66818" y="117316"/>
            <a:ext cx="3236784" cy="4514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>
              <a:lnSpc>
                <a:spcPts val="2800"/>
              </a:lnSpc>
            </a:pPr>
            <a:r>
              <a:rPr lang="zh-CN" altLang="en-US" sz="2800" dirty="0">
                <a:latin typeface="黑体" panose="02010609060101010101" pitchFamily="49" charset="-122"/>
              </a:rPr>
              <a:t>方法四：踪迹</a:t>
            </a:r>
            <a:r>
              <a:rPr lang="en-US" altLang="zh-CN" sz="2800" dirty="0">
                <a:latin typeface="黑体" panose="02010609060101010101" pitchFamily="49" charset="-122"/>
              </a:rPr>
              <a:t>Cache</a:t>
            </a:r>
          </a:p>
        </p:txBody>
      </p:sp>
    </p:spTree>
    <p:extLst>
      <p:ext uri="{BB962C8B-B14F-4D97-AF65-F5344CB8AC3E}">
        <p14:creationId xmlns:p14="http://schemas.microsoft.com/office/powerpoint/2010/main" val="73321917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46039" y="53181"/>
            <a:ext cx="6905626" cy="771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/>
              <a:t>六</a:t>
            </a:r>
            <a:r>
              <a:rPr lang="en-US" altLang="zh-CN" sz="3600" b="1"/>
              <a:t>  </a:t>
            </a:r>
            <a:r>
              <a:rPr lang="en-US" altLang="zh-CN" sz="3600" b="1" dirty="0"/>
              <a:t>Cache</a:t>
            </a:r>
            <a:r>
              <a:rPr lang="zh-CN" altLang="en-US" sz="3600" dirty="0"/>
              <a:t>优化技术总结</a:t>
            </a:r>
            <a:endParaRPr lang="en-US" altLang="zh-CN" sz="3600" b="1" dirty="0"/>
          </a:p>
        </p:txBody>
      </p:sp>
      <p:pic>
        <p:nvPicPr>
          <p:cNvPr id="9218" name="Picture 2" descr="https://p.ananas.chaoxing.com/star3/origin/3a841b459694df8afb1829cb882cc29b.png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1254126"/>
            <a:ext cx="6549698" cy="4308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https://p.ananas.chaoxing.com/star3/origin/a75a4a6b06da782e2d68377f3c8ace03.pn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5788" y="438943"/>
            <a:ext cx="3391771" cy="2428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https://p.ananas.chaoxing.com/star3/origin/c2f95d9aaa319fbb48e7a3b5deb43be2.png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5788" y="3725056"/>
            <a:ext cx="4200525" cy="2198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894847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ext Box 4"/>
          <p:cNvSpPr txBox="1">
            <a:spLocks noChangeArrowheads="1"/>
          </p:cNvSpPr>
          <p:nvPr/>
        </p:nvSpPr>
        <p:spPr bwMode="auto">
          <a:xfrm>
            <a:off x="731044" y="1108472"/>
            <a:ext cx="6840537" cy="456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  <a:defRPr kumimoji="1" sz="2400">
                <a:solidFill>
                  <a:srgbClr val="E24C05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q"/>
              <a:defRPr kumimoji="1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rgbClr val="006600"/>
              </a:buClr>
              <a:buSzPct val="6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266700" indent="-266700" fontAlgn="base">
              <a:lnSpc>
                <a:spcPts val="32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Cache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优化技术总结</a:t>
            </a:r>
          </a:p>
        </p:txBody>
      </p:sp>
      <p:sp>
        <p:nvSpPr>
          <p:cNvPr id="88067" name="Rectangle 5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169863" y="1709739"/>
            <a:ext cx="7772400" cy="228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  <a:defRPr kumimoji="1" sz="2400">
                <a:solidFill>
                  <a:srgbClr val="E24C05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714500" indent="-4572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q"/>
              <a:defRPr kumimoji="1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rgbClr val="006600"/>
              </a:buClr>
              <a:buSzPct val="6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2" eaLnBrk="1" hangingPunct="1"/>
            <a:r>
              <a:rPr lang="en-US" altLang="zh-CN" b="0" dirty="0">
                <a:solidFill>
                  <a:srgbClr val="D60093"/>
                </a:solidFill>
                <a:latin typeface="+mn-ea"/>
                <a:ea typeface="+mn-ea"/>
              </a:rPr>
              <a:t>“</a:t>
            </a:r>
            <a:r>
              <a:rPr lang="zh-CN" altLang="en-US" b="0" dirty="0">
                <a:solidFill>
                  <a:srgbClr val="D60093"/>
                </a:solidFill>
                <a:latin typeface="+mn-ea"/>
                <a:ea typeface="+mn-ea"/>
              </a:rPr>
              <a:t>＋”号：</a:t>
            </a:r>
            <a:r>
              <a:rPr lang="zh-CN" altLang="en-US" b="0" dirty="0">
                <a:latin typeface="+mn-ea"/>
                <a:ea typeface="+mn-ea"/>
              </a:rPr>
              <a:t>表示改进了相应指标。</a:t>
            </a:r>
          </a:p>
          <a:p>
            <a:pPr lvl="2" eaLnBrk="1" hangingPunct="1"/>
            <a:r>
              <a:rPr lang="zh-CN" altLang="en-US" b="0" dirty="0">
                <a:solidFill>
                  <a:srgbClr val="D60093"/>
                </a:solidFill>
                <a:latin typeface="+mn-ea"/>
                <a:ea typeface="+mn-ea"/>
              </a:rPr>
              <a:t>“－”号：</a:t>
            </a:r>
            <a:r>
              <a:rPr lang="zh-CN" altLang="en-US" b="0" dirty="0">
                <a:latin typeface="+mn-ea"/>
                <a:ea typeface="+mn-ea"/>
              </a:rPr>
              <a:t>表示它使该指标变差。</a:t>
            </a:r>
          </a:p>
          <a:p>
            <a:pPr lvl="2" eaLnBrk="1" hangingPunct="1"/>
            <a:r>
              <a:rPr lang="zh-CN" altLang="en-US" b="0" dirty="0">
                <a:solidFill>
                  <a:srgbClr val="D60093"/>
                </a:solidFill>
                <a:latin typeface="+mn-ea"/>
                <a:ea typeface="+mn-ea"/>
              </a:rPr>
              <a:t>空格栏：</a:t>
            </a:r>
            <a:r>
              <a:rPr lang="zh-CN" altLang="en-US" b="0" dirty="0">
                <a:latin typeface="+mn-ea"/>
                <a:ea typeface="+mn-ea"/>
              </a:rPr>
              <a:t>表示它对该指标无影响。</a:t>
            </a:r>
          </a:p>
          <a:p>
            <a:pPr lvl="2" eaLnBrk="1" hangingPunct="1"/>
            <a:r>
              <a:rPr lang="zh-CN" altLang="en-US" b="0" dirty="0">
                <a:solidFill>
                  <a:srgbClr val="D60093"/>
                </a:solidFill>
                <a:latin typeface="+mn-ea"/>
                <a:ea typeface="+mn-ea"/>
              </a:rPr>
              <a:t>复杂性：</a:t>
            </a:r>
            <a:r>
              <a:rPr lang="en-US" altLang="zh-CN" b="0" dirty="0">
                <a:latin typeface="+mn-ea"/>
                <a:ea typeface="+mn-ea"/>
              </a:rPr>
              <a:t>0</a:t>
            </a:r>
            <a:r>
              <a:rPr lang="zh-CN" altLang="en-US" b="0" dirty="0">
                <a:latin typeface="+mn-ea"/>
                <a:ea typeface="+mn-ea"/>
              </a:rPr>
              <a:t>表示最容易，</a:t>
            </a:r>
            <a:r>
              <a:rPr lang="en-US" altLang="zh-CN" b="0" dirty="0">
                <a:latin typeface="+mn-ea"/>
                <a:ea typeface="+mn-ea"/>
              </a:rPr>
              <a:t>3</a:t>
            </a:r>
            <a:r>
              <a:rPr lang="zh-CN" altLang="en-US" b="0" dirty="0">
                <a:latin typeface="+mn-ea"/>
                <a:ea typeface="+mn-ea"/>
              </a:rPr>
              <a:t>表示最复杂。 </a:t>
            </a:r>
            <a:endParaRPr lang="zh-CN" altLang="sv-SE" b="0" dirty="0">
              <a:latin typeface="+mn-ea"/>
              <a:ea typeface="+mn-ea"/>
            </a:endParaRPr>
          </a:p>
          <a:p>
            <a:pPr eaLnBrk="1" hangingPunct="1">
              <a:buFont typeface="Wingdings" panose="05000000000000000000" pitchFamily="2" charset="2"/>
              <a:buAutoNum type="arabicPeriod" startAt="3"/>
            </a:pPr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46039" y="53181"/>
            <a:ext cx="6905626" cy="771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/>
              <a:t>2.6  Cache</a:t>
            </a:r>
            <a:r>
              <a:rPr lang="zh-CN" altLang="en-US" sz="3600" dirty="0"/>
              <a:t>优化技术总结</a:t>
            </a:r>
            <a:endParaRPr lang="en-US" altLang="zh-CN" sz="3600" b="1" dirty="0"/>
          </a:p>
        </p:txBody>
      </p:sp>
    </p:spTree>
    <p:extLst>
      <p:ext uri="{BB962C8B-B14F-4D97-AF65-F5344CB8AC3E}">
        <p14:creationId xmlns:p14="http://schemas.microsoft.com/office/powerpoint/2010/main" val="146410015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9804" name="Group 124"/>
          <p:cNvGraphicFramePr>
            <a:graphicFrameLocks noGrp="1"/>
          </p:cNvGraphicFramePr>
          <p:nvPr>
            <p:ph idx="1"/>
          </p:nvPr>
        </p:nvGraphicFramePr>
        <p:xfrm>
          <a:off x="1703389" y="685801"/>
          <a:ext cx="8713787" cy="5667375"/>
        </p:xfrm>
        <a:graphic>
          <a:graphicData uri="http://schemas.openxmlformats.org/drawingml/2006/table">
            <a:tbl>
              <a:tblPr/>
              <a:tblGrid>
                <a:gridCol w="2089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0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257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30724"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优化技术 </a:t>
                      </a:r>
                    </a:p>
                  </a:txBody>
                  <a:tcPr marT="43843" marB="438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不命中率 </a:t>
                      </a:r>
                    </a:p>
                  </a:txBody>
                  <a:tcPr marT="43843" marB="438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不命中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开销 </a:t>
                      </a:r>
                    </a:p>
                  </a:txBody>
                  <a:tcPr marT="43843" marB="438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命中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时间 </a:t>
                      </a:r>
                    </a:p>
                  </a:txBody>
                  <a:tcPr marT="43843" marB="438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硬件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复杂度 </a:t>
                      </a:r>
                    </a:p>
                  </a:txBody>
                  <a:tcPr marT="43843" marB="438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说 明 </a:t>
                      </a:r>
                    </a:p>
                  </a:txBody>
                  <a:tcPr marT="43843" marB="438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9930"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2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增加块大小 </a:t>
                      </a:r>
                    </a:p>
                  </a:txBody>
                  <a:tcPr marT="43843" marB="438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2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+ </a:t>
                      </a:r>
                    </a:p>
                  </a:txBody>
                  <a:tcPr marT="43843" marB="438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2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Symbol" panose="05050102010706020507" pitchFamily="18" charset="2"/>
                        </a:rPr>
                        <a:t></a:t>
                      </a:r>
                      <a:r>
                        <a:rPr kumimoji="1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marT="43843" marB="438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2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3843" marB="438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2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0 </a:t>
                      </a:r>
                    </a:p>
                  </a:txBody>
                  <a:tcPr marT="43843" marB="438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实现容易；</a:t>
                      </a: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Pentium 4 </a:t>
                      </a: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的第二级</a:t>
                      </a: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Cache</a:t>
                      </a: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采用了</a:t>
                      </a: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128</a:t>
                      </a: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字节的块 </a:t>
                      </a:r>
                    </a:p>
                  </a:txBody>
                  <a:tcPr marT="43843" marB="438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9182"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增加</a:t>
                      </a:r>
                      <a:r>
                        <a:rPr kumimoji="1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Cache</a:t>
                      </a:r>
                      <a:r>
                        <a:rPr kumimoji="1" lang="zh-CN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容量 </a:t>
                      </a:r>
                    </a:p>
                  </a:txBody>
                  <a:tcPr marT="43843" marB="438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+ </a:t>
                      </a:r>
                    </a:p>
                  </a:txBody>
                  <a:tcPr marT="43843" marB="438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3843" marB="438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3843" marB="438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T="43843" marB="438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被广泛采用，特别是第二级</a:t>
                      </a: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Cache </a:t>
                      </a:r>
                    </a:p>
                  </a:txBody>
                  <a:tcPr marT="43843" marB="438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535"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提高相联度 </a:t>
                      </a:r>
                    </a:p>
                  </a:txBody>
                  <a:tcPr marT="43843" marB="438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+ </a:t>
                      </a:r>
                    </a:p>
                  </a:txBody>
                  <a:tcPr marT="43843" marB="438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3843" marB="438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Symbol" panose="05050102010706020507" pitchFamily="18" charset="2"/>
                        </a:rPr>
                        <a:t></a:t>
                      </a:r>
                      <a:r>
                        <a:rPr kumimoji="1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marT="43843" marB="438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1 </a:t>
                      </a:r>
                    </a:p>
                  </a:txBody>
                  <a:tcPr marT="43843" marB="438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被广泛采用 </a:t>
                      </a:r>
                    </a:p>
                  </a:txBody>
                  <a:tcPr marT="43843" marB="438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9182"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牺牲</a:t>
                      </a: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Cache</a:t>
                      </a:r>
                      <a:r>
                        <a:rPr kumimoji="1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marT="43843" marB="438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+ </a:t>
                      </a:r>
                    </a:p>
                  </a:txBody>
                  <a:tcPr marT="43843" marB="438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3843" marB="438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3843" marB="438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2 </a:t>
                      </a:r>
                    </a:p>
                  </a:txBody>
                  <a:tcPr marT="43843" marB="438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AMD Athlon</a:t>
                      </a: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采用了</a:t>
                      </a: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</a:t>
                      </a: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个项的</a:t>
                      </a: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Victim Cache</a:t>
                      </a:r>
                    </a:p>
                  </a:txBody>
                  <a:tcPr marT="43843" marB="438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9182"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伪相联</a:t>
                      </a:r>
                      <a:r>
                        <a:rPr kumimoji="1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Cache </a:t>
                      </a:r>
                    </a:p>
                  </a:txBody>
                  <a:tcPr marT="43843" marB="438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+ </a:t>
                      </a:r>
                    </a:p>
                  </a:txBody>
                  <a:tcPr marT="43843" marB="438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3843" marB="438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3843" marB="438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2 </a:t>
                      </a:r>
                    </a:p>
                  </a:txBody>
                  <a:tcPr marT="43843" marB="438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MIPS R10000</a:t>
                      </a: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的第二级</a:t>
                      </a: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Cache</a:t>
                      </a: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采用 </a:t>
                      </a:r>
                    </a:p>
                  </a:txBody>
                  <a:tcPr marT="43843" marB="438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47640"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硬件预取指令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和数据 </a:t>
                      </a:r>
                    </a:p>
                  </a:txBody>
                  <a:tcPr marT="43843" marB="438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+ </a:t>
                      </a:r>
                    </a:p>
                  </a:txBody>
                  <a:tcPr marT="43843" marB="438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3843" marB="438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3843" marB="438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2</a:t>
                      </a:r>
                      <a:r>
                        <a:rPr kumimoji="1" lang="zh-CN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～</a:t>
                      </a:r>
                      <a:r>
                        <a:rPr kumimoji="1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3 </a:t>
                      </a:r>
                    </a:p>
                  </a:txBody>
                  <a:tcPr marT="43843" marB="438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许多机器预取指令，</a:t>
                      </a:r>
                      <a:r>
                        <a:rPr kumimoji="1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UltraSPARC</a:t>
                      </a: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Ⅲ</a:t>
                      </a: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预取数据 </a:t>
                      </a:r>
                    </a:p>
                  </a:txBody>
                  <a:tcPr marT="43843" marB="438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9148" name="Text Box 80"/>
          <p:cNvSpPr txBox="1">
            <a:spLocks noChangeArrowheads="1"/>
          </p:cNvSpPr>
          <p:nvPr/>
        </p:nvSpPr>
        <p:spPr bwMode="auto">
          <a:xfrm>
            <a:off x="4657726" y="152400"/>
            <a:ext cx="3167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  <a:defRPr kumimoji="1" sz="2400">
                <a:solidFill>
                  <a:srgbClr val="E24C05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q"/>
              <a:defRPr kumimoji="1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rgbClr val="006600"/>
              </a:buClr>
              <a:buSzPct val="6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>
                <a:solidFill>
                  <a:srgbClr val="010000"/>
                </a:solidFill>
                <a:latin typeface="黑体" panose="02010609060101010101" pitchFamily="49" charset="-122"/>
              </a:rPr>
              <a:t>Cache</a:t>
            </a:r>
            <a:r>
              <a:rPr lang="zh-CN" altLang="en-US">
                <a:solidFill>
                  <a:srgbClr val="010000"/>
                </a:solidFill>
                <a:latin typeface="黑体" panose="02010609060101010101" pitchFamily="49" charset="-122"/>
              </a:rPr>
              <a:t>优化技术总结</a:t>
            </a:r>
            <a:r>
              <a:rPr lang="zh-CN" altLang="en-US">
                <a:solidFill>
                  <a:srgbClr val="000000"/>
                </a:solidFill>
                <a:latin typeface="黑体" panose="02010609060101010101" pitchFamily="49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42608893"/>
      </p:ext>
    </p:extLst>
  </p:cSld>
  <p:clrMapOvr>
    <a:masterClrMapping/>
  </p:clrMapOvr>
  <p:transition>
    <p:pull dir="rd"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0832" name="Group 128"/>
          <p:cNvGraphicFramePr>
            <a:graphicFrameLocks noGrp="1"/>
          </p:cNvGraphicFramePr>
          <p:nvPr>
            <p:ph/>
          </p:nvPr>
        </p:nvGraphicFramePr>
        <p:xfrm>
          <a:off x="1703389" y="603250"/>
          <a:ext cx="8713787" cy="5907217"/>
        </p:xfrm>
        <a:graphic>
          <a:graphicData uri="http://schemas.openxmlformats.org/drawingml/2006/table">
            <a:tbl>
              <a:tblPr/>
              <a:tblGrid>
                <a:gridCol w="21605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91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257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21210"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优化技术 </a:t>
                      </a:r>
                    </a:p>
                  </a:txBody>
                  <a:tcPr marT="44855" marB="448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不命中率 </a:t>
                      </a:r>
                    </a:p>
                  </a:txBody>
                  <a:tcPr marT="44855" marB="448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不命中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开销 </a:t>
                      </a:r>
                    </a:p>
                  </a:txBody>
                  <a:tcPr marT="44855" marB="448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命中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时间 </a:t>
                      </a:r>
                    </a:p>
                  </a:txBody>
                  <a:tcPr marT="44855" marB="448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硬件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复杂度 </a:t>
                      </a:r>
                    </a:p>
                  </a:txBody>
                  <a:tcPr marT="44855" marB="448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说 明 </a:t>
                      </a:r>
                    </a:p>
                  </a:txBody>
                  <a:tcPr marT="44855" marB="448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5522"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编译器控制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的预取 </a:t>
                      </a:r>
                    </a:p>
                  </a:txBody>
                  <a:tcPr marT="44855" marB="448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2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+ </a:t>
                      </a:r>
                    </a:p>
                  </a:txBody>
                  <a:tcPr marT="44855" marB="448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2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marT="44855" marB="448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2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4855" marB="448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2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3  </a:t>
                      </a:r>
                    </a:p>
                  </a:txBody>
                  <a:tcPr marT="44855" marB="448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需同时采用非阻塞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Cache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；有几种微处理器提供了对这种预取的支持 </a:t>
                      </a:r>
                    </a:p>
                  </a:txBody>
                  <a:tcPr marT="44855" marB="448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210"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用编译技术减少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Cache</a:t>
                      </a: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不命中次数 </a:t>
                      </a:r>
                    </a:p>
                  </a:txBody>
                  <a:tcPr marT="44855" marB="448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+ </a:t>
                      </a:r>
                    </a:p>
                  </a:txBody>
                  <a:tcPr marT="44855" marB="448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4855" marB="448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4855" marB="448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0 </a:t>
                      </a:r>
                    </a:p>
                  </a:txBody>
                  <a:tcPr marT="44855" marB="448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向软件提出了新要求；有些机器提供了编译器选项 </a:t>
                      </a:r>
                    </a:p>
                  </a:txBody>
                  <a:tcPr marT="44855" marB="448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9772"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使读不命中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优先于写 </a:t>
                      </a:r>
                    </a:p>
                  </a:txBody>
                  <a:tcPr marT="44855" marB="448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marT="44855" marB="448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+</a:t>
                      </a:r>
                    </a:p>
                  </a:txBody>
                  <a:tcPr marT="44855" marB="448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  <a:sym typeface="Symbol" panose="05050102010706020507" pitchFamily="18" charset="2"/>
                        </a:rPr>
                        <a:t>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marT="44855" marB="448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1 </a:t>
                      </a:r>
                    </a:p>
                  </a:txBody>
                  <a:tcPr marT="44855" marB="448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在单处理机上实现容易，被广泛采用 </a:t>
                      </a:r>
                    </a:p>
                  </a:txBody>
                  <a:tcPr marT="44855" marB="448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2647"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写缓冲归并 </a:t>
                      </a:r>
                    </a:p>
                  </a:txBody>
                  <a:tcPr marT="44855" marB="448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4855" marB="448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+</a:t>
                      </a:r>
                    </a:p>
                  </a:txBody>
                  <a:tcPr marT="44855" marB="448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4855" marB="448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1  </a:t>
                      </a:r>
                    </a:p>
                  </a:txBody>
                  <a:tcPr marT="44855" marB="448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与写直达合用，广泛应用，例如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21164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UltraSPARC Ⅲ </a:t>
                      </a:r>
                    </a:p>
                  </a:txBody>
                  <a:tcPr marT="44855" marB="448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5517"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尽早重启动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和关键字优先 </a:t>
                      </a:r>
                    </a:p>
                  </a:txBody>
                  <a:tcPr marT="44855" marB="448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4855" marB="448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+</a:t>
                      </a:r>
                    </a:p>
                  </a:txBody>
                  <a:tcPr marT="44855" marB="448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4855" marB="448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2 </a:t>
                      </a:r>
                    </a:p>
                  </a:txBody>
                  <a:tcPr marT="44855" marB="448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被广泛采用 </a:t>
                      </a:r>
                    </a:p>
                  </a:txBody>
                  <a:tcPr marT="44855" marB="448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1210"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非阻塞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Cache </a:t>
                      </a:r>
                    </a:p>
                  </a:txBody>
                  <a:tcPr marT="44855" marB="448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marT="44855" marB="448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+</a:t>
                      </a:r>
                    </a:p>
                  </a:txBody>
                  <a:tcPr marT="44855" marB="448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4855" marB="448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3 </a:t>
                      </a:r>
                    </a:p>
                  </a:txBody>
                  <a:tcPr marT="44855" marB="448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在支持乱序执行的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CPU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中使用 </a:t>
                      </a:r>
                    </a:p>
                  </a:txBody>
                  <a:tcPr marT="44855" marB="448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1370637"/>
      </p:ext>
    </p:extLst>
  </p:cSld>
  <p:clrMapOvr>
    <a:masterClrMapping/>
  </p:clrMapOvr>
  <p:transition>
    <p:pull dir="rd"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1838" name="Group 110"/>
          <p:cNvGraphicFramePr>
            <a:graphicFrameLocks noGrp="1"/>
          </p:cNvGraphicFramePr>
          <p:nvPr>
            <p:ph/>
          </p:nvPr>
        </p:nvGraphicFramePr>
        <p:xfrm>
          <a:off x="1774825" y="673100"/>
          <a:ext cx="8642350" cy="5386422"/>
        </p:xfrm>
        <a:graphic>
          <a:graphicData uri="http://schemas.openxmlformats.org/drawingml/2006/table">
            <a:tbl>
              <a:tblPr/>
              <a:tblGrid>
                <a:gridCol w="2089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91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257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58004"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优化技术 </a:t>
                      </a:r>
                    </a:p>
                  </a:txBody>
                  <a:tcPr marT="45508" marB="455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不命中率 </a:t>
                      </a:r>
                    </a:p>
                  </a:txBody>
                  <a:tcPr marT="45508" marB="455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不命中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开销 </a:t>
                      </a:r>
                    </a:p>
                  </a:txBody>
                  <a:tcPr marT="45508" marB="455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命中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时间 </a:t>
                      </a:r>
                    </a:p>
                  </a:txBody>
                  <a:tcPr marT="45508" marB="455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硬件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复杂度 </a:t>
                      </a:r>
                    </a:p>
                  </a:txBody>
                  <a:tcPr marT="45508" marB="455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说 明 </a:t>
                      </a:r>
                    </a:p>
                  </a:txBody>
                  <a:tcPr marT="45508" marB="455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405"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2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两级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Cache </a:t>
                      </a:r>
                    </a:p>
                  </a:txBody>
                  <a:tcPr marT="45508" marB="455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2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marT="45508" marB="455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2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5508" marB="455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2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+</a:t>
                      </a:r>
                    </a:p>
                  </a:txBody>
                  <a:tcPr marT="45508" marB="455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2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2 </a:t>
                      </a:r>
                    </a:p>
                  </a:txBody>
                  <a:tcPr marT="45508" marB="455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硬件代价大；两级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Cache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的块大小不同时实现困难；被广泛采用 </a:t>
                      </a:r>
                    </a:p>
                  </a:txBody>
                  <a:tcPr marT="45508" marB="455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527"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容量小且结构简单的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Cache </a:t>
                      </a:r>
                    </a:p>
                  </a:txBody>
                  <a:tcPr marT="45508" marB="455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  <a:sym typeface="Symbol" panose="05050102010706020507" pitchFamily="18" charset="2"/>
                        </a:rPr>
                        <a:t>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marT="45508" marB="455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5508" marB="455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+</a:t>
                      </a:r>
                    </a:p>
                  </a:txBody>
                  <a:tcPr marT="45508" marB="455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0</a:t>
                      </a:r>
                    </a:p>
                  </a:txBody>
                  <a:tcPr marT="45508" marB="455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实现容易，被广泛采用 </a:t>
                      </a:r>
                    </a:p>
                  </a:txBody>
                  <a:tcPr marT="45508" marB="455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282"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对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Cache</a:t>
                      </a: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进行索引时不必进行地址变换 </a:t>
                      </a:r>
                    </a:p>
                  </a:txBody>
                  <a:tcPr marT="45508" marB="455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marT="45508" marB="455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5508" marB="455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2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+</a:t>
                      </a:r>
                    </a:p>
                  </a:txBody>
                  <a:tcPr marT="45508" marB="455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2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2 </a:t>
                      </a:r>
                    </a:p>
                  </a:txBody>
                  <a:tcPr marT="45508" marB="455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对于小容量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Cache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来说实现容易，已被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Alpha 21164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和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UltraSPARC Ⅲ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采用 </a:t>
                      </a:r>
                    </a:p>
                  </a:txBody>
                  <a:tcPr marT="45508" marB="455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4798"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流水化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Cache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访问 </a:t>
                      </a:r>
                    </a:p>
                  </a:txBody>
                  <a:tcPr marT="45508" marB="455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marT="45508" marB="455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5508" marB="455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+</a:t>
                      </a:r>
                    </a:p>
                  </a:txBody>
                  <a:tcPr marT="45508" marB="455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1 </a:t>
                      </a:r>
                    </a:p>
                  </a:txBody>
                  <a:tcPr marT="45508" marB="455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被广泛采用 </a:t>
                      </a:r>
                    </a:p>
                  </a:txBody>
                  <a:tcPr marT="45508" marB="455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7372"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Trace Cache </a:t>
                      </a:r>
                    </a:p>
                  </a:txBody>
                  <a:tcPr marT="45508" marB="455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5508" marB="455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5508" marB="455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+</a:t>
                      </a:r>
                    </a:p>
                  </a:txBody>
                  <a:tcPr marT="45508" marB="455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3 </a:t>
                      </a:r>
                    </a:p>
                  </a:txBody>
                  <a:tcPr marT="45508" marB="455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Pentium 4 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采用</a:t>
                      </a:r>
                    </a:p>
                  </a:txBody>
                  <a:tcPr marT="45508" marB="455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650988"/>
      </p:ext>
    </p:extLst>
  </p:cSld>
  <p:clrMapOvr>
    <a:masterClrMapping/>
  </p:clrMapOvr>
  <p:transition>
    <p:pull dir="rd"/>
  </p:transition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5239</TotalTime>
  <Words>7769</Words>
  <Application>Microsoft Office PowerPoint</Application>
  <PresentationFormat>宽屏</PresentationFormat>
  <Paragraphs>708</Paragraphs>
  <Slides>68</Slides>
  <Notes>7</Notes>
  <HiddenSlides>0</HiddenSlides>
  <MMClips>2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68</vt:i4>
      </vt:variant>
    </vt:vector>
  </HeadingPairs>
  <TitlesOfParts>
    <vt:vector size="80" baseType="lpstr">
      <vt:lpstr>黑体</vt:lpstr>
      <vt:lpstr>宋体</vt:lpstr>
      <vt:lpstr>Arial</vt:lpstr>
      <vt:lpstr>Calibri</vt:lpstr>
      <vt:lpstr>Calibri Light</vt:lpstr>
      <vt:lpstr>Tahoma</vt:lpstr>
      <vt:lpstr>Times New Roman</vt:lpstr>
      <vt:lpstr>Wingdings</vt:lpstr>
      <vt:lpstr>Office 主题</vt:lpstr>
      <vt:lpstr>公式</vt:lpstr>
      <vt:lpstr>Picture</vt:lpstr>
      <vt:lpstr>图片</vt:lpstr>
      <vt:lpstr>PowerPoint 演示文稿</vt:lpstr>
      <vt:lpstr>一 存储体系基础知识复习</vt:lpstr>
      <vt:lpstr>二 Cache 性能分析与改进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总结</vt:lpstr>
      <vt:lpstr>PowerPoint 演示文稿</vt:lpstr>
      <vt:lpstr>三种类型的不命中</vt:lpstr>
      <vt:lpstr>PowerPoint 演示文稿</vt:lpstr>
      <vt:lpstr>请先观察不命中率随块大小变化的曲线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QU Guannan</dc:creator>
  <cp:lastModifiedBy>QU Guannan</cp:lastModifiedBy>
  <cp:revision>306</cp:revision>
  <dcterms:created xsi:type="dcterms:W3CDTF">2022-04-27T12:58:55Z</dcterms:created>
  <dcterms:modified xsi:type="dcterms:W3CDTF">2022-10-24T06:09:03Z</dcterms:modified>
</cp:coreProperties>
</file>