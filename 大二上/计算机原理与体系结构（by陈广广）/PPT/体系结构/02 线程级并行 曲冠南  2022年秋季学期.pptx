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6" r:id="rId4"/>
  </p:sldMasterIdLst>
  <p:notesMasterIdLst>
    <p:notesMasterId r:id="rId65"/>
  </p:notesMasterIdLst>
  <p:handoutMasterIdLst>
    <p:handoutMasterId r:id="rId66"/>
  </p:handoutMasterIdLst>
  <p:sldIdLst>
    <p:sldId id="256" r:id="rId5"/>
    <p:sldId id="269" r:id="rId6"/>
    <p:sldId id="259" r:id="rId7"/>
    <p:sldId id="270" r:id="rId8"/>
    <p:sldId id="271" r:id="rId9"/>
    <p:sldId id="268" r:id="rId10"/>
    <p:sldId id="267" r:id="rId11"/>
    <p:sldId id="266" r:id="rId12"/>
    <p:sldId id="265" r:id="rId13"/>
    <p:sldId id="263" r:id="rId14"/>
    <p:sldId id="264" r:id="rId15"/>
    <p:sldId id="260" r:id="rId16"/>
    <p:sldId id="272" r:id="rId17"/>
    <p:sldId id="274" r:id="rId18"/>
    <p:sldId id="275" r:id="rId19"/>
    <p:sldId id="277" r:id="rId20"/>
    <p:sldId id="278" r:id="rId21"/>
    <p:sldId id="279" r:id="rId22"/>
    <p:sldId id="280" r:id="rId23"/>
    <p:sldId id="282" r:id="rId24"/>
    <p:sldId id="283" r:id="rId25"/>
    <p:sldId id="285" r:id="rId26"/>
    <p:sldId id="286" r:id="rId27"/>
    <p:sldId id="287" r:id="rId28"/>
    <p:sldId id="288" r:id="rId29"/>
    <p:sldId id="289" r:id="rId30"/>
    <p:sldId id="324" r:id="rId31"/>
    <p:sldId id="322" r:id="rId32"/>
    <p:sldId id="325" r:id="rId33"/>
    <p:sldId id="326" r:id="rId34"/>
    <p:sldId id="327" r:id="rId35"/>
    <p:sldId id="328" r:id="rId36"/>
    <p:sldId id="330" r:id="rId37"/>
    <p:sldId id="329" r:id="rId38"/>
    <p:sldId id="293" r:id="rId39"/>
    <p:sldId id="295" r:id="rId40"/>
    <p:sldId id="296" r:id="rId41"/>
    <p:sldId id="297" r:id="rId42"/>
    <p:sldId id="298" r:id="rId43"/>
    <p:sldId id="300" r:id="rId44"/>
    <p:sldId id="301" r:id="rId45"/>
    <p:sldId id="302" r:id="rId46"/>
    <p:sldId id="334" r:id="rId47"/>
    <p:sldId id="331" r:id="rId48"/>
    <p:sldId id="304" r:id="rId49"/>
    <p:sldId id="332" r:id="rId50"/>
    <p:sldId id="335" r:id="rId51"/>
    <p:sldId id="336" r:id="rId52"/>
    <p:sldId id="307" r:id="rId53"/>
    <p:sldId id="337" r:id="rId54"/>
    <p:sldId id="338" r:id="rId55"/>
    <p:sldId id="339" r:id="rId56"/>
    <p:sldId id="309" r:id="rId57"/>
    <p:sldId id="314" r:id="rId58"/>
    <p:sldId id="315" r:id="rId59"/>
    <p:sldId id="316" r:id="rId60"/>
    <p:sldId id="317" r:id="rId61"/>
    <p:sldId id="318" r:id="rId62"/>
    <p:sldId id="319" r:id="rId63"/>
    <p:sldId id="321" r:id="rId64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65BB4A9-1D3D-446C-AD73-07A6DB8B8DAA}">
          <p14:sldIdLst>
            <p14:sldId id="256"/>
          </p14:sldIdLst>
        </p14:section>
        <p14:section name="1 概述" id="{DB3477F4-886D-4A70-A5A7-DB65D758A320}">
          <p14:sldIdLst>
            <p14:sldId id="269"/>
            <p14:sldId id="259"/>
            <p14:sldId id="270"/>
            <p14:sldId id="271"/>
            <p14:sldId id="268"/>
            <p14:sldId id="267"/>
            <p14:sldId id="266"/>
            <p14:sldId id="265"/>
            <p14:sldId id="263"/>
            <p14:sldId id="264"/>
            <p14:sldId id="260"/>
            <p14:sldId id="272"/>
            <p14:sldId id="274"/>
          </p14:sldIdLst>
        </p14:section>
        <p14:section name="2 Cache一致性" id="{470B5431-9B5E-41C5-946F-99AFB7C30712}">
          <p14:sldIdLst>
            <p14:sldId id="275"/>
            <p14:sldId id="277"/>
            <p14:sldId id="278"/>
            <p14:sldId id="279"/>
            <p14:sldId id="280"/>
            <p14:sldId id="282"/>
            <p14:sldId id="283"/>
            <p14:sldId id="285"/>
          </p14:sldIdLst>
        </p14:section>
        <p14:section name="2.1 监听式协议" id="{A7E8E602-A809-4C48-987F-D5AC47E07AB9}">
          <p14:sldIdLst>
            <p14:sldId id="286"/>
            <p14:sldId id="287"/>
            <p14:sldId id="288"/>
            <p14:sldId id="289"/>
            <p14:sldId id="324"/>
            <p14:sldId id="322"/>
            <p14:sldId id="325"/>
            <p14:sldId id="326"/>
            <p14:sldId id="327"/>
            <p14:sldId id="328"/>
            <p14:sldId id="330"/>
            <p14:sldId id="329"/>
          </p14:sldIdLst>
        </p14:section>
        <p14:section name="2.2 目录式协议" id="{33D4B850-1880-40BC-BFA6-D536A33B1E96}">
          <p14:sldIdLst>
            <p14:sldId id="293"/>
            <p14:sldId id="295"/>
            <p14:sldId id="296"/>
            <p14:sldId id="297"/>
            <p14:sldId id="298"/>
            <p14:sldId id="300"/>
            <p14:sldId id="301"/>
            <p14:sldId id="302"/>
            <p14:sldId id="334"/>
            <p14:sldId id="331"/>
            <p14:sldId id="304"/>
            <p14:sldId id="332"/>
            <p14:sldId id="335"/>
            <p14:sldId id="336"/>
            <p14:sldId id="307"/>
            <p14:sldId id="337"/>
            <p14:sldId id="338"/>
            <p14:sldId id="339"/>
            <p14:sldId id="309"/>
            <p14:sldId id="314"/>
            <p14:sldId id="315"/>
            <p14:sldId id="316"/>
            <p14:sldId id="317"/>
            <p14:sldId id="318"/>
            <p14:sldId id="319"/>
            <p14:sldId id="32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作者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6B13"/>
    <a:srgbClr val="FB43D8"/>
    <a:srgbClr val="C46E31"/>
    <a:srgbClr val="A9D18E"/>
    <a:srgbClr val="00B0F0"/>
    <a:srgbClr val="44CFFA"/>
    <a:srgbClr val="D50101"/>
    <a:srgbClr val="C54411"/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655" autoAdjust="0"/>
    <p:restoredTop sz="73458" autoAdjust="0"/>
  </p:normalViewPr>
  <p:slideViewPr>
    <p:cSldViewPr snapToGrid="0">
      <p:cViewPr varScale="1">
        <p:scale>
          <a:sx n="84" d="100"/>
          <a:sy n="84" d="100"/>
        </p:scale>
        <p:origin x="828" y="84"/>
      </p:cViewPr>
      <p:guideLst>
        <p:guide orient="horz" pos="33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20" y="102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microsoft.com/office/2018/10/relationships/authors" Target="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commentAuthors" Target="commentAuthor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BCF7363-46B3-4791-B1F1-74C9C73C71E6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2022/10/24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651558A8-E2C3-4D4F-B74A-F34DB9A5CC63}" type="datetime1">
              <a:rPr lang="zh-CN" altLang="en-US" noProof="0" smtClean="0"/>
              <a:t>2022/10/24</a:t>
            </a:fld>
            <a:endParaRPr lang="zh-CN" altLang="en-US" noProof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4B9A9E5-4F7F-4A7D-9DE1-899232329269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90056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系统域网络</a:t>
            </a:r>
            <a:r>
              <a:rPr lang="en-US" altLang="zh-CN" dirty="0"/>
              <a:t>SAN</a:t>
            </a:r>
            <a:r>
              <a:rPr lang="zh-CN" altLang="en-US" dirty="0"/>
              <a:t>：</a:t>
            </a:r>
            <a:r>
              <a:rPr lang="en-US" altLang="zh-CN" dirty="0"/>
              <a:t>3-25</a:t>
            </a:r>
            <a:r>
              <a:rPr lang="zh-CN" altLang="en-US" dirty="0"/>
              <a:t>米；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局域网络</a:t>
            </a:r>
            <a:r>
              <a:rPr lang="en-US" altLang="zh-CN" dirty="0"/>
              <a:t>LAN</a:t>
            </a:r>
            <a:r>
              <a:rPr lang="zh-CN" altLang="en-US" dirty="0"/>
              <a:t>：建筑物、校园或者企业，</a:t>
            </a:r>
            <a:r>
              <a:rPr lang="en-US" altLang="zh-CN" dirty="0"/>
              <a:t>500-2km</a:t>
            </a:r>
            <a:r>
              <a:rPr lang="zh-CN" altLang="en-US" dirty="0"/>
              <a:t>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城域网</a:t>
            </a:r>
            <a:r>
              <a:rPr lang="en-US" altLang="zh-CN" dirty="0"/>
              <a:t>MAN</a:t>
            </a:r>
          </a:p>
          <a:p>
            <a:endParaRPr lang="en-US" altLang="zh-CN" dirty="0"/>
          </a:p>
          <a:p>
            <a:r>
              <a:rPr lang="zh-CN" altLang="en-US" dirty="0"/>
              <a:t>广域网</a:t>
            </a:r>
            <a:r>
              <a:rPr lang="en-US" altLang="zh-CN" dirty="0"/>
              <a:t>WAN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9A9E5-4F7F-4A7D-9DE1-899232329269}" type="slidenum">
              <a:rPr lang="en-US" altLang="zh-CN" noProof="0" smtClean="0"/>
              <a:pPr/>
              <a:t>3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6490142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就是举几个例子，看看是啥东西。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9A9E5-4F7F-4A7D-9DE1-899232329269}" type="slidenum">
              <a:rPr lang="en-US" altLang="zh-CN" noProof="0" smtClean="0"/>
              <a:pPr/>
              <a:t>4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7049767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9A9E5-4F7F-4A7D-9DE1-899232329269}" type="slidenum">
              <a:rPr lang="en-US" altLang="zh-CN" noProof="0" smtClean="0"/>
              <a:pPr/>
              <a:t>11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7470738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9A9E5-4F7F-4A7D-9DE1-899232329269}" type="slidenum">
              <a:rPr lang="en-US" altLang="zh-CN" noProof="0" smtClean="0"/>
              <a:pPr/>
              <a:t>12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40430838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9A9E5-4F7F-4A7D-9DE1-899232329269}" type="slidenum">
              <a:rPr lang="en-US" altLang="zh-CN" noProof="0" smtClean="0"/>
              <a:pPr/>
              <a:t>13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7817644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9A9E5-4F7F-4A7D-9DE1-899232329269}" type="slidenum">
              <a:rPr lang="en-US" altLang="zh-CN" noProof="0" smtClean="0"/>
              <a:pPr/>
              <a:t>14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5105865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存储器一致的属性：</a:t>
            </a:r>
            <a:endParaRPr lang="en-US" altLang="zh-CN" dirty="0"/>
          </a:p>
          <a:p>
            <a:r>
              <a:rPr lang="zh-CN" altLang="en-US" dirty="0"/>
              <a:t>第一条保证了程序的顺序，即便在单处理机中也有此要求；</a:t>
            </a:r>
            <a:endParaRPr lang="en-US" altLang="zh-CN" dirty="0"/>
          </a:p>
          <a:p>
            <a:r>
              <a:rPr lang="zh-CN" altLang="en-US" dirty="0"/>
              <a:t>第二条给出了多处理器存储一致性的概念，如果一个处理器不断的读到旧的数据，那么肯定是不一致的；</a:t>
            </a:r>
            <a:endParaRPr lang="en-US" altLang="zh-CN" dirty="0"/>
          </a:p>
          <a:p>
            <a:r>
              <a:rPr lang="zh-CN" altLang="en-US" dirty="0"/>
              <a:t>第三条要求写串行化，比如Ｐ１先写，Ｐ２后写，对其他处理器来说看到的也是Ｐ１先写，Ｐ２后写。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9A9E5-4F7F-4A7D-9DE1-899232329269}" type="slidenum">
              <a:rPr lang="en-US" altLang="zh-CN" noProof="0" smtClean="0"/>
              <a:pPr/>
              <a:t>16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0915453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共享数据的迁移：把远程的共享数据复制一份，迁入本地</a:t>
            </a:r>
            <a:r>
              <a:rPr lang="en-US" altLang="zh-CN" dirty="0"/>
              <a:t>Cache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共享数据的复制：把多个处理器需要同时读取的共享数据在这些处理器的本地</a:t>
            </a:r>
            <a:r>
              <a:rPr lang="en-US" altLang="zh-CN" dirty="0"/>
              <a:t>Cache</a:t>
            </a:r>
            <a:r>
              <a:rPr lang="zh-CN" altLang="en-US" dirty="0"/>
              <a:t>中各存放一个副本。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9A9E5-4F7F-4A7D-9DE1-899232329269}" type="slidenum">
              <a:rPr lang="en-US" altLang="zh-CN" noProof="0" smtClean="0"/>
              <a:pPr/>
              <a:t>18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1116417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在多个微处理器中，每个</a:t>
            </a:r>
            <a:r>
              <a:rPr lang="en-US" altLang="zh-CN" dirty="0"/>
              <a:t>Cache</a:t>
            </a:r>
            <a:r>
              <a:rPr lang="zh-CN" altLang="en-US" dirty="0"/>
              <a:t>都和单一共享的存储器相连接，这个时候一般采用监听。因为可以直接使用总线进行监听。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9A9E5-4F7F-4A7D-9DE1-899232329269}" type="slidenum">
              <a:rPr lang="en-US" altLang="zh-CN" noProof="0" smtClean="0"/>
              <a:pPr/>
              <a:t>19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8781267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9D25BB1-EC35-4080-A4E1-046BAB7B1662}" type="slidenum">
              <a:rPr lang="en-US" altLang="zh-CN" smtClean="0"/>
              <a:pPr>
                <a:spcBef>
                  <a:spcPct val="0"/>
                </a:spcBef>
              </a:pPr>
              <a:t>26</a:t>
            </a:fld>
            <a:endParaRPr lang="en-US" altLang="zh-CN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原子操作：比如对写不命中的检查、申请总线和接收响应作为一个单独的原子操作，中间不被打断。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6622247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9D25BB1-EC35-4080-A4E1-046BAB7B1662}" type="slidenum">
              <a:rPr lang="en-US" altLang="zh-CN" smtClean="0"/>
              <a:pPr>
                <a:spcBef>
                  <a:spcPct val="0"/>
                </a:spcBef>
              </a:pPr>
              <a:t>27</a:t>
            </a:fld>
            <a:endParaRPr lang="en-US" altLang="zh-CN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809341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按照就近原则，这里应该共享本地数据。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altLang="zh-CN" noProof="0" smtClean="0"/>
              <a:pPr/>
              <a:t>34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2740613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9A9E5-4F7F-4A7D-9DE1-899232329269}" type="slidenum">
              <a:rPr lang="en-US" altLang="zh-CN" noProof="0" smtClean="0"/>
              <a:pPr/>
              <a:t>35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7967717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信息量和处理器数目成正比，可扩放性不好，只有在处理器个数比较少的情况下可行。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9A9E5-4F7F-4A7D-9DE1-899232329269}" type="slidenum">
              <a:rPr lang="en-US" altLang="zh-CN" noProof="0" smtClean="0"/>
              <a:pPr/>
              <a:t>37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2306550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73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6FBB739-B16A-4554-8402-F05E0C81114D}" type="slidenum">
              <a:rPr lang="en-US" altLang="zh-CN" smtClean="0"/>
              <a:pPr>
                <a:spcBef>
                  <a:spcPct val="0"/>
                </a:spcBef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67639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9A9E5-4F7F-4A7D-9DE1-899232329269}" type="slidenum">
              <a:rPr lang="en-US" altLang="zh-CN" noProof="0" smtClean="0"/>
              <a:pPr/>
              <a:t>44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290403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1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16041" y="5586890"/>
            <a:ext cx="4941771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rtl="0"/>
            <a:r>
              <a:rPr lang="zh-CN" altLang="en-US" noProof="0"/>
              <a:t>单击以编辑母版副标题样式</a:t>
            </a: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2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 3 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7800" y="599925"/>
            <a:ext cx="9296400" cy="921933"/>
          </a:xfrm>
        </p:spPr>
        <p:txBody>
          <a:bodyPr rtlCol="0">
            <a:normAutofit/>
          </a:bodyPr>
          <a:lstStyle>
            <a:lvl1pPr algn="l">
              <a:defRPr lang="en-US" sz="2800" kern="1200" spc="15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 dirty="0"/>
              <a:t>单击以编辑模板标题样式</a:t>
            </a:r>
          </a:p>
        </p:txBody>
      </p:sp>
      <p:cxnSp>
        <p:nvCxnSpPr>
          <p:cNvPr id="2" name="直接连接符​​(S)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9" y="2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5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B43549F0-9EAD-CE4F-AB6E-8CC321E5898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1447800" y="2121780"/>
            <a:ext cx="9296400" cy="3657320"/>
          </a:xfrm>
        </p:spPr>
        <p:txBody>
          <a:bodyPr/>
          <a:lstStyle>
            <a:lvl1pPr>
              <a:lnSpc>
                <a:spcPct val="100000"/>
              </a:lnSpc>
              <a:spcBef>
                <a:spcPts val="2000"/>
              </a:spcBef>
              <a:defRPr/>
            </a:lvl1pPr>
            <a:lvl2pPr>
              <a:lnSpc>
                <a:spcPct val="100000"/>
              </a:lnSpc>
              <a:spcBef>
                <a:spcPts val="2000"/>
              </a:spcBef>
              <a:defRPr/>
            </a:lvl2pPr>
            <a:lvl3pPr>
              <a:lnSpc>
                <a:spcPct val="100000"/>
              </a:lnSpc>
              <a:spcBef>
                <a:spcPts val="2000"/>
              </a:spcBef>
              <a:defRPr/>
            </a:lvl3pPr>
            <a:lvl4pPr>
              <a:lnSpc>
                <a:spcPct val="100000"/>
              </a:lnSpc>
              <a:spcBef>
                <a:spcPts val="2000"/>
              </a:spcBef>
              <a:defRPr/>
            </a:lvl4pPr>
            <a:lvl5pPr>
              <a:lnSpc>
                <a:spcPct val="100000"/>
              </a:lnSpc>
              <a:spcBef>
                <a:spcPts val="2000"/>
              </a:spcBef>
              <a:defRPr/>
            </a:lvl5pPr>
          </a:lstStyle>
          <a:p>
            <a:pPr lvl="0"/>
            <a:r>
              <a:rPr kumimoji="1" lang="zh-CN" altLang="en-US" dirty="0"/>
              <a:t>编辑母版文本样式</a:t>
            </a:r>
          </a:p>
          <a:p>
            <a:pPr lvl="1"/>
            <a:r>
              <a:rPr kumimoji="1" lang="zh-CN" altLang="en-US" dirty="0"/>
              <a:t>第二级</a:t>
            </a:r>
          </a:p>
          <a:p>
            <a:pPr lvl="2"/>
            <a:r>
              <a:rPr kumimoji="1" lang="zh-CN" altLang="en-US" dirty="0"/>
              <a:t>第三级</a:t>
            </a:r>
          </a:p>
          <a:p>
            <a:pPr lvl="3"/>
            <a:r>
              <a:rPr kumimoji="1" lang="zh-CN" altLang="en-US" dirty="0"/>
              <a:t>第四级</a:t>
            </a:r>
          </a:p>
          <a:p>
            <a:pPr lvl="4"/>
            <a:r>
              <a:rPr kumimoji="1" lang="zh-CN" altLang="en-US" dirty="0"/>
              <a:t>第五级</a:t>
            </a:r>
          </a:p>
        </p:txBody>
      </p:sp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1DC8F430-9205-C148-944D-F3A648B4A6A4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r>
              <a:rPr lang="en-US" altLang="zh-CN" noProof="0"/>
              <a:t>chexilong@jlu.edu.cn</a:t>
            </a:r>
            <a:endParaRPr lang="zh-CN" altLang="en-US" noProof="0"/>
          </a:p>
        </p:txBody>
      </p:sp>
      <p:sp>
        <p:nvSpPr>
          <p:cNvPr id="16" name="页脚占位符 15">
            <a:extLst>
              <a:ext uri="{FF2B5EF4-FFF2-40B4-BE49-F238E27FC236}">
                <a16:creationId xmlns:a16="http://schemas.microsoft.com/office/drawing/2014/main" id="{1C05E7C8-C742-3C4F-93A2-A50D56DC97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zh-CN" altLang="en-US"/>
              <a:t>吉林大学◆计算机科学与技术学院                                 共</a:t>
            </a:r>
            <a:r>
              <a:rPr lang="en-US" altLang="zh-CN"/>
              <a:t>42</a:t>
            </a:r>
            <a:r>
              <a:rPr lang="zh-CN" altLang="en-US"/>
              <a:t>页</a:t>
            </a:r>
            <a:endParaRPr lang="zh-CN" altLang="en-US" dirty="0"/>
          </a:p>
        </p:txBody>
      </p:sp>
      <p:sp>
        <p:nvSpPr>
          <p:cNvPr id="18" name="幻灯片编号占位符 17">
            <a:extLst>
              <a:ext uri="{FF2B5EF4-FFF2-40B4-BE49-F238E27FC236}">
                <a16:creationId xmlns:a16="http://schemas.microsoft.com/office/drawing/2014/main" id="{E11EEEC5-629D-8B48-82D1-5B10AB760DFF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992658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7">
            <a:extLst>
              <a:ext uri="{FF2B5EF4-FFF2-40B4-BE49-F238E27FC236}">
                <a16:creationId xmlns:a16="http://schemas.microsoft.com/office/drawing/2014/main" id="{D7EC8D66-5770-2C43-ACF5-C7608B3C88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5464" y="365127"/>
            <a:ext cx="11866536" cy="5469295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457189" indent="0">
              <a:buNone/>
              <a:defRPr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914377" indent="0">
              <a:buNone/>
              <a:defRPr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1371566" indent="0">
              <a:buNone/>
              <a:defRPr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828755" indent="0">
              <a:buNone/>
              <a:defRPr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kumimoji="1" lang="en-US" altLang="zh-CN" dirty="0"/>
              <a:t>codes</a:t>
            </a:r>
            <a:endParaRPr kumimoji="1"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54073" y="365127"/>
            <a:ext cx="799453" cy="5469295"/>
          </a:xfrm>
        </p:spPr>
        <p:txBody>
          <a:bodyPr vert="eaVert" rtlCol="0">
            <a:normAutofit/>
          </a:bodyPr>
          <a:lstStyle>
            <a:lvl1pPr algn="ctr">
              <a:defRPr lang="en-US" sz="2800" kern="1200" spc="15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 dirty="0"/>
              <a:t>单击以编辑模板标题样式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chexilong@jlu.edu.cn</a:t>
            </a:r>
            <a:endParaRPr lang="zh-CN" altLang="en-US" noProof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吉林大学◆计算机科学与技术学院                                 共</a:t>
            </a:r>
            <a:r>
              <a:rPr lang="en-US" altLang="zh-CN"/>
              <a:t>42</a:t>
            </a:r>
            <a:r>
              <a:rPr lang="zh-CN" altLang="en-US"/>
              <a:t>页</a:t>
            </a:r>
            <a:endParaRPr lang="zh-CN" altLang="en-US" dirty="0"/>
          </a:p>
        </p:txBody>
      </p:sp>
      <p:cxnSp>
        <p:nvCxnSpPr>
          <p:cNvPr id="10" name="直接连接符​​(S)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​​(S)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1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5797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议程​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1" y="1020447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1" y="2924177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89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914377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371566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828754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2"/>
            <a:ext cx="985157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chexilong@jlu.edu.cn</a:t>
            </a:r>
            <a:endParaRPr lang="zh-CN" altLang="en-US" noProof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5" y="6356351"/>
            <a:ext cx="2482843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吉林大学◆计算机科学与技术学院                                 共</a:t>
            </a:r>
            <a:r>
              <a:rPr lang="en-US" altLang="zh-CN"/>
              <a:t>42</a:t>
            </a:r>
            <a:r>
              <a:rPr lang="zh-CN" altLang="en-US"/>
              <a:t>页</a:t>
            </a:r>
            <a:endParaRPr lang="zh-CN" altLang="en-US" dirty="0"/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2"/>
            <a:ext cx="987552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日程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5509419"/>
            <a:ext cx="4082143" cy="585788"/>
          </a:xfrm>
        </p:spPr>
        <p:txBody>
          <a:bodyPr rtlCol="0">
            <a:normAutofit/>
          </a:bodyPr>
          <a:lstStyle>
            <a:lvl1pPr>
              <a:defRPr lang="en-US" sz="2800" kern="1200" cap="all" spc="15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单击此处编辑标题</a:t>
            </a: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9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单击以编辑母版文本样式</a:t>
            </a:r>
          </a:p>
        </p:txBody>
      </p:sp>
      <p:sp>
        <p:nvSpPr>
          <p:cNvPr id="17" name="文本占位符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单击以编辑母版文本样式</a:t>
            </a:r>
          </a:p>
        </p:txBody>
      </p:sp>
      <p:sp>
        <p:nvSpPr>
          <p:cNvPr id="18" name="文本占位符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1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单击以编辑母版文本样式</a:t>
            </a:r>
          </a:p>
        </p:txBody>
      </p:sp>
      <p:sp>
        <p:nvSpPr>
          <p:cNvPr id="19" name="文本占位符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1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单击以编辑母版文本样式</a:t>
            </a:r>
          </a:p>
        </p:txBody>
      </p:sp>
      <p:sp>
        <p:nvSpPr>
          <p:cNvPr id="34" name="文本占位符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7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单击编辑主文本样式</a:t>
            </a:r>
          </a:p>
        </p:txBody>
      </p:sp>
      <p:sp>
        <p:nvSpPr>
          <p:cNvPr id="35" name="文本占位符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30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单击编辑主文本样式</a:t>
            </a:r>
          </a:p>
        </p:txBody>
      </p:sp>
      <p:sp>
        <p:nvSpPr>
          <p:cNvPr id="36" name="文本占位符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8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单击编辑主文本样式</a:t>
            </a:r>
          </a:p>
        </p:txBody>
      </p:sp>
      <p:sp>
        <p:nvSpPr>
          <p:cNvPr id="37" name="文本占位符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81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单击编辑主文本样式</a:t>
            </a:r>
          </a:p>
        </p:txBody>
      </p:sp>
      <p:cxnSp>
        <p:nvCxnSpPr>
          <p:cNvPr id="3" name="直接连接符​​(S)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6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直接连接符​​(S)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直接连接符​​(S)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直接连接符​​(S)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4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chexilong@jlu.edu.cn</a:t>
            </a:r>
            <a:endParaRPr lang="zh-CN" altLang="en-US" noProof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2"/>
            <a:ext cx="1808712" cy="365125"/>
          </a:xfrm>
        </p:spPr>
        <p:txBody>
          <a:bodyPr rtlCol="0"/>
          <a:lstStyle>
            <a:lvl1pPr algn="l"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吉林大学◆计算机科学与技术学院                                 共</a:t>
            </a:r>
            <a:r>
              <a:rPr lang="en-US" altLang="zh-CN"/>
              <a:t>42</a:t>
            </a:r>
            <a:r>
              <a:rPr lang="zh-CN" altLang="en-US"/>
              <a:t>页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5" y="6356352"/>
            <a:ext cx="542925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 3 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9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15" name="文本占位符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1" y="2563125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lvl="0" rtl="0"/>
            <a:r>
              <a:rPr lang="zh-CN" altLang="en-US" noProof="0"/>
              <a:t>单击此处添加副标题</a:t>
            </a:r>
          </a:p>
        </p:txBody>
      </p:sp>
      <p:sp>
        <p:nvSpPr>
          <p:cNvPr id="17" name="文本占位符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5" y="3070348"/>
            <a:ext cx="4031031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31" name="文本占位符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5" y="2563125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noProof="0"/>
              <a:t>单击此处添加副标题</a:t>
            </a:r>
          </a:p>
        </p:txBody>
      </p:sp>
      <p:sp>
        <p:nvSpPr>
          <p:cNvPr id="32" name="文本占位符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1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33" name="文本占位符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901" y="431943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noProof="0"/>
              <a:t>单击此处添加副标题</a:t>
            </a:r>
          </a:p>
        </p:txBody>
      </p:sp>
      <p:sp>
        <p:nvSpPr>
          <p:cNvPr id="34" name="文本占位符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3" y="4826656"/>
            <a:ext cx="4031031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12" name="文本占位符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2" y="431943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noProof="0"/>
              <a:t>单击此处添加副标题</a:t>
            </a:r>
          </a:p>
        </p:txBody>
      </p:sp>
      <p:sp>
        <p:nvSpPr>
          <p:cNvPr id="13" name="文本占位符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1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chexilong@jlu.edu.cn</a:t>
            </a:r>
            <a:endParaRPr lang="zh-CN" altLang="en-US" noProof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吉林大学◆计算机科学与技术学院                                 共</a:t>
            </a:r>
            <a:r>
              <a:rPr lang="en-US" altLang="zh-CN"/>
              <a:t>42</a:t>
            </a:r>
            <a:r>
              <a:rPr lang="zh-CN" altLang="en-US"/>
              <a:t>页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  <p:cxnSp>
        <p:nvCxnSpPr>
          <p:cNvPr id="2" name="直接连接符​​(S)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9" y="2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5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 2 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7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15" name="文本占位符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5" y="153063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lvl="0" rtl="0"/>
            <a:r>
              <a:rPr lang="zh-CN" altLang="en-US" noProof="0"/>
              <a:t>单击此处添加副标题</a:t>
            </a:r>
          </a:p>
        </p:txBody>
      </p:sp>
      <p:sp>
        <p:nvSpPr>
          <p:cNvPr id="17" name="文本占位符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9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5" y="2630433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lvl="0" rtl="0"/>
            <a:r>
              <a:rPr lang="zh-CN" altLang="en-US" noProof="0"/>
              <a:t>单击此处添加副标题</a:t>
            </a:r>
          </a:p>
        </p:txBody>
      </p:sp>
      <p:sp>
        <p:nvSpPr>
          <p:cNvPr id="18" name="文本占位符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9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19" name="文本占位符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5" y="3730229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lvl="0" rtl="0"/>
            <a:r>
              <a:rPr lang="zh-CN" altLang="en-US" noProof="0"/>
              <a:t>单击此处添加副标题</a:t>
            </a:r>
          </a:p>
        </p:txBody>
      </p:sp>
      <p:sp>
        <p:nvSpPr>
          <p:cNvPr id="20" name="文本占位符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9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23" name="文本占位符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7" y="4830026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lvl="0" rtl="0"/>
            <a:r>
              <a:rPr lang="zh-CN" altLang="en-US" noProof="0"/>
              <a:t>单击此处添加副标题</a:t>
            </a:r>
          </a:p>
        </p:txBody>
      </p:sp>
      <p:sp>
        <p:nvSpPr>
          <p:cNvPr id="24" name="文本占位符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1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1" y="6356352"/>
            <a:ext cx="947516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chexilong@jlu.edu.cn</a:t>
            </a:r>
            <a:endParaRPr lang="zh-CN" altLang="en-US" noProof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2"/>
            <a:ext cx="3243943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吉林大学◆计算机科学与技术学院                                 共</a:t>
            </a:r>
            <a:r>
              <a:rPr lang="en-US" altLang="zh-CN"/>
              <a:t>42</a:t>
            </a:r>
            <a:r>
              <a:rPr lang="zh-CN" altLang="en-US"/>
              <a:t>页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8" y="6356352"/>
            <a:ext cx="653143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简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1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1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9" name="日期占位符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chexilong@jlu.edu.cn</a:t>
            </a:r>
            <a:endParaRPr lang="zh-CN" altLang="en-US" noProof="0"/>
          </a:p>
        </p:txBody>
      </p:sp>
      <p:sp>
        <p:nvSpPr>
          <p:cNvPr id="10" name="页脚占位符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4" y="6356352"/>
            <a:ext cx="1743075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吉林大学◆计算机科学与技术学院                                 共</a:t>
            </a:r>
            <a:r>
              <a:rPr lang="en-US" altLang="zh-CN"/>
              <a:t>42</a:t>
            </a:r>
            <a:r>
              <a:rPr lang="zh-CN" altLang="en-US"/>
              <a:t>页</a:t>
            </a:r>
            <a:endParaRPr lang="zh-CN" altLang="en-US" dirty="0"/>
          </a:p>
        </p:txBody>
      </p:sp>
      <p:sp>
        <p:nvSpPr>
          <p:cNvPr id="11" name="幻灯片编号占位符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节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49" y="2571237"/>
            <a:ext cx="4179571" cy="1715531"/>
          </a:xfrm>
        </p:spPr>
        <p:txBody>
          <a:bodyPr rtlCol="0" anchor="ctr">
            <a:noAutofit/>
          </a:bodyPr>
          <a:lstStyle>
            <a:lvl1pPr algn="l">
              <a:defRPr sz="3600" spc="1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3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11" name="文本占位符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5" y="246951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lvl="0" rtl="0"/>
            <a:r>
              <a:rPr lang="zh-CN" altLang="en-US" noProof="0"/>
              <a:t>单击此处添加副标题</a:t>
            </a:r>
          </a:p>
        </p:txBody>
      </p:sp>
      <p:sp>
        <p:nvSpPr>
          <p:cNvPr id="12" name="文本占位符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9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13" name="文本占位符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5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lvl="0" rtl="0"/>
            <a:r>
              <a:rPr lang="zh-CN" altLang="en-US" noProof="0"/>
              <a:t>单击此处添加副标题</a:t>
            </a:r>
          </a:p>
        </p:txBody>
      </p:sp>
      <p:sp>
        <p:nvSpPr>
          <p:cNvPr id="14" name="文本占位符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9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15" name="文本占位符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5" y="4669109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lvl="0" rtl="0"/>
            <a:r>
              <a:rPr lang="zh-CN" altLang="en-US" noProof="0"/>
              <a:t>单击此处添加副标题</a:t>
            </a:r>
          </a:p>
        </p:txBody>
      </p:sp>
      <p:sp>
        <p:nvSpPr>
          <p:cNvPr id="16" name="文本占位符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9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17" name="日期占位符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1" y="6356352"/>
            <a:ext cx="947516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chexilong@jlu.edu.cn</a:t>
            </a:r>
            <a:endParaRPr lang="zh-CN" altLang="en-US" noProof="0"/>
          </a:p>
        </p:txBody>
      </p:sp>
      <p:sp>
        <p:nvSpPr>
          <p:cNvPr id="18" name="页脚占位符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2"/>
            <a:ext cx="3243943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吉林大学◆计算机科学与技术学院                                 共</a:t>
            </a:r>
            <a:r>
              <a:rPr lang="en-US" altLang="zh-CN"/>
              <a:t>42</a:t>
            </a:r>
            <a:r>
              <a:rPr lang="zh-CN" altLang="en-US"/>
              <a:t>页</a:t>
            </a:r>
            <a:endParaRPr lang="zh-CN" altLang="en-US" dirty="0"/>
          </a:p>
        </p:txBody>
      </p:sp>
      <p:sp>
        <p:nvSpPr>
          <p:cNvPr id="19" name="灯片编号占位符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8" y="6356352"/>
            <a:ext cx="653143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三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9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105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1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5" y="3834608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89" indent="0">
              <a:lnSpc>
                <a:spcPct val="100000"/>
              </a:lnSpc>
              <a:buNone/>
              <a:defRPr sz="1400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914377" indent="0">
              <a:lnSpc>
                <a:spcPct val="100000"/>
              </a:lnSpc>
              <a:buNone/>
              <a:defRPr sz="1400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371566" indent="0">
              <a:lnSpc>
                <a:spcPct val="100000"/>
              </a:lnSpc>
              <a:buNone/>
              <a:defRPr sz="1400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828754" indent="0">
              <a:lnSpc>
                <a:spcPct val="100000"/>
              </a:lnSpc>
              <a:buNone/>
              <a:defRPr sz="1400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7666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1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noProof="0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6" y="3834608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89" indent="0">
              <a:lnSpc>
                <a:spcPct val="100000"/>
              </a:lnSpc>
              <a:buNone/>
              <a:defRPr sz="1400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914377" indent="0">
              <a:lnSpc>
                <a:spcPct val="100000"/>
              </a:lnSpc>
              <a:buNone/>
              <a:defRPr sz="1400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371566" indent="0">
              <a:lnSpc>
                <a:spcPct val="100000"/>
              </a:lnSpc>
              <a:buNone/>
              <a:defRPr sz="1400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828754" indent="0">
              <a:lnSpc>
                <a:spcPct val="100000"/>
              </a:lnSpc>
              <a:buNone/>
              <a:defRPr sz="1400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21" name="文本占位符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1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22" name="内容占位符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8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89" indent="0">
              <a:lnSpc>
                <a:spcPct val="100000"/>
              </a:lnSpc>
              <a:buNone/>
              <a:defRPr sz="1400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914377" indent="0">
              <a:lnSpc>
                <a:spcPct val="100000"/>
              </a:lnSpc>
              <a:buNone/>
              <a:defRPr sz="1400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371566" indent="0">
              <a:lnSpc>
                <a:spcPct val="100000"/>
              </a:lnSpc>
              <a:buNone/>
              <a:defRPr sz="1400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828754" indent="0">
              <a:lnSpc>
                <a:spcPct val="100000"/>
              </a:lnSpc>
              <a:buNone/>
              <a:defRPr sz="1400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chexilong@jlu.edu.cn</a:t>
            </a:r>
            <a:endParaRPr lang="zh-CN" altLang="en-US" noProof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吉林大学◆计算机科学与技术学院                                 共</a:t>
            </a:r>
            <a:r>
              <a:rPr lang="en-US" altLang="zh-CN"/>
              <a:t>42</a:t>
            </a:r>
            <a:r>
              <a:rPr lang="zh-CN" altLang="en-US"/>
              <a:t>页</a:t>
            </a:r>
            <a:endParaRPr lang="zh-CN" altLang="en-US" dirty="0"/>
          </a:p>
        </p:txBody>
      </p:sp>
      <p:sp>
        <p:nvSpPr>
          <p:cNvPr id="9" name="幻灯片编号占位符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  <p:cxnSp>
        <p:nvCxnSpPr>
          <p:cNvPr id="16" name="直接连接符​​(S)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1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​​(S)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市场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9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6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1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 rtl="0"/>
            <a:r>
              <a:rPr lang="en-US" altLang="zh-CN" noProof="0"/>
              <a:t>#</a:t>
            </a:r>
          </a:p>
        </p:txBody>
      </p:sp>
      <p:sp>
        <p:nvSpPr>
          <p:cNvPr id="23" name="文本占位符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1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 rtl="0"/>
            <a:r>
              <a:rPr lang="en-US" altLang="zh-CN" noProof="0"/>
              <a:t>#</a:t>
            </a:r>
          </a:p>
        </p:txBody>
      </p:sp>
      <p:sp>
        <p:nvSpPr>
          <p:cNvPr id="24" name="文本占位符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1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 rtl="0"/>
            <a:r>
              <a:rPr lang="en-US" altLang="zh-CN" noProof="0"/>
              <a:t>#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129699" y="4824190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89" indent="0">
              <a:lnSpc>
                <a:spcPct val="100000"/>
              </a:lnSpc>
              <a:buNone/>
              <a:defRPr sz="1400" spc="51" baseline="0">
                <a:solidFill>
                  <a:schemeClr val="bg1"/>
                </a:solidFill>
              </a:defRPr>
            </a:lvl2pPr>
            <a:lvl3pPr marL="914377" indent="0">
              <a:lnSpc>
                <a:spcPct val="100000"/>
              </a:lnSpc>
              <a:buNone/>
              <a:defRPr sz="1400" spc="51" baseline="0">
                <a:solidFill>
                  <a:schemeClr val="bg1"/>
                </a:solidFill>
              </a:defRPr>
            </a:lvl3pPr>
            <a:lvl4pPr marL="1371566" indent="0">
              <a:lnSpc>
                <a:spcPct val="100000"/>
              </a:lnSpc>
              <a:buNone/>
              <a:defRPr sz="1400" spc="51" baseline="0">
                <a:solidFill>
                  <a:schemeClr val="bg1"/>
                </a:solidFill>
              </a:defRPr>
            </a:lvl4pPr>
            <a:lvl5pPr marL="1828754" indent="0">
              <a:lnSpc>
                <a:spcPct val="100000"/>
              </a:lnSpc>
              <a:buNone/>
              <a:defRPr sz="1400" spc="51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26262" y="4824190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89" indent="0">
              <a:lnSpc>
                <a:spcPct val="100000"/>
              </a:lnSpc>
              <a:buNone/>
              <a:defRPr sz="2000" cap="all" spc="51" baseline="0">
                <a:solidFill>
                  <a:schemeClr val="bg1"/>
                </a:solidFill>
              </a:defRPr>
            </a:lvl2pPr>
            <a:lvl3pPr marL="914377" indent="0">
              <a:lnSpc>
                <a:spcPct val="100000"/>
              </a:lnSpc>
              <a:buNone/>
              <a:defRPr sz="1400" spc="51" baseline="0">
                <a:solidFill>
                  <a:schemeClr val="bg1"/>
                </a:solidFill>
              </a:defRPr>
            </a:lvl3pPr>
            <a:lvl4pPr marL="1371566" indent="0">
              <a:lnSpc>
                <a:spcPct val="100000"/>
              </a:lnSpc>
              <a:buNone/>
              <a:defRPr sz="1400" spc="51" baseline="0">
                <a:solidFill>
                  <a:schemeClr val="bg1"/>
                </a:solidFill>
              </a:defRPr>
            </a:lvl4pPr>
            <a:lvl5pPr marL="1828754" indent="0">
              <a:lnSpc>
                <a:spcPct val="100000"/>
              </a:lnSpc>
              <a:buNone/>
              <a:defRPr sz="1400" spc="51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2" name="内容占位符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938211" y="4824190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89" indent="0">
              <a:lnSpc>
                <a:spcPct val="100000"/>
              </a:lnSpc>
              <a:buNone/>
              <a:defRPr sz="1400" spc="51" baseline="0">
                <a:solidFill>
                  <a:schemeClr val="bg1"/>
                </a:solidFill>
              </a:defRPr>
            </a:lvl2pPr>
            <a:lvl3pPr marL="914377" indent="0">
              <a:lnSpc>
                <a:spcPct val="100000"/>
              </a:lnSpc>
              <a:buNone/>
              <a:defRPr sz="1400" spc="51" baseline="0">
                <a:solidFill>
                  <a:schemeClr val="bg1"/>
                </a:solidFill>
              </a:defRPr>
            </a:lvl3pPr>
            <a:lvl4pPr marL="1371566" indent="0">
              <a:lnSpc>
                <a:spcPct val="100000"/>
              </a:lnSpc>
              <a:buNone/>
              <a:defRPr sz="1400" spc="51" baseline="0">
                <a:solidFill>
                  <a:schemeClr val="bg1"/>
                </a:solidFill>
              </a:defRPr>
            </a:lvl4pPr>
            <a:lvl5pPr marL="1828754" indent="0">
              <a:lnSpc>
                <a:spcPct val="100000"/>
              </a:lnSpc>
              <a:buNone/>
              <a:defRPr sz="1400" spc="51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pic>
        <p:nvPicPr>
          <p:cNvPr id="11" name="图形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图形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6" y="2531837"/>
            <a:ext cx="2190751" cy="1943100"/>
          </a:xfrm>
          <a:prstGeom prst="rect">
            <a:avLst/>
          </a:prstGeom>
        </p:spPr>
      </p:pic>
      <p:pic>
        <p:nvPicPr>
          <p:cNvPr id="15" name="图形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9" y="2421056"/>
            <a:ext cx="2324100" cy="2057400"/>
          </a:xfrm>
          <a:prstGeom prst="rect">
            <a:avLst/>
          </a:prstGeom>
        </p:spPr>
      </p:pic>
      <p:sp>
        <p:nvSpPr>
          <p:cNvPr id="25" name="内容占位符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9" y="5280765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89" indent="0">
              <a:lnSpc>
                <a:spcPct val="100000"/>
              </a:lnSpc>
              <a:buNone/>
              <a:defRPr sz="1400" spc="51" baseline="0">
                <a:solidFill>
                  <a:schemeClr val="bg1"/>
                </a:solidFill>
              </a:defRPr>
            </a:lvl2pPr>
            <a:lvl3pPr marL="914377" indent="0">
              <a:lnSpc>
                <a:spcPct val="100000"/>
              </a:lnSpc>
              <a:buNone/>
              <a:defRPr sz="1400" spc="51" baseline="0">
                <a:solidFill>
                  <a:schemeClr val="bg1"/>
                </a:solidFill>
              </a:defRPr>
            </a:lvl3pPr>
            <a:lvl4pPr marL="1371566" indent="0">
              <a:lnSpc>
                <a:spcPct val="100000"/>
              </a:lnSpc>
              <a:buNone/>
              <a:defRPr sz="1400" spc="51" baseline="0">
                <a:solidFill>
                  <a:schemeClr val="bg1"/>
                </a:solidFill>
              </a:defRPr>
            </a:lvl4pPr>
            <a:lvl5pPr marL="1828754" indent="0">
              <a:lnSpc>
                <a:spcPct val="100000"/>
              </a:lnSpc>
              <a:buNone/>
              <a:defRPr sz="1400" spc="51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26" name="内容占位符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2" y="5280765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89" indent="0" algn="ctr">
              <a:lnSpc>
                <a:spcPct val="100000"/>
              </a:lnSpc>
              <a:buNone/>
              <a:defRPr sz="1400" cap="none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914377" indent="0">
              <a:lnSpc>
                <a:spcPct val="100000"/>
              </a:lnSpc>
              <a:buNone/>
              <a:defRPr sz="1400" spc="51" baseline="0">
                <a:solidFill>
                  <a:schemeClr val="bg1"/>
                </a:solidFill>
              </a:defRPr>
            </a:lvl3pPr>
            <a:lvl4pPr marL="1371566" indent="0">
              <a:lnSpc>
                <a:spcPct val="100000"/>
              </a:lnSpc>
              <a:buNone/>
              <a:defRPr sz="1400" spc="51" baseline="0">
                <a:solidFill>
                  <a:schemeClr val="bg1"/>
                </a:solidFill>
              </a:defRPr>
            </a:lvl4pPr>
            <a:lvl5pPr marL="1828754" indent="0">
              <a:lnSpc>
                <a:spcPct val="100000"/>
              </a:lnSpc>
              <a:buNone/>
              <a:defRPr sz="1400" spc="51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</p:txBody>
      </p:sp>
      <p:sp>
        <p:nvSpPr>
          <p:cNvPr id="27" name="内容占位符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1" y="5280765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89" indent="0">
              <a:lnSpc>
                <a:spcPct val="100000"/>
              </a:lnSpc>
              <a:buNone/>
              <a:defRPr sz="1400" spc="51" baseline="0">
                <a:solidFill>
                  <a:schemeClr val="bg1"/>
                </a:solidFill>
              </a:defRPr>
            </a:lvl2pPr>
            <a:lvl3pPr marL="914377" indent="0">
              <a:lnSpc>
                <a:spcPct val="100000"/>
              </a:lnSpc>
              <a:buNone/>
              <a:defRPr sz="1400" spc="51" baseline="0">
                <a:solidFill>
                  <a:schemeClr val="bg1"/>
                </a:solidFill>
              </a:defRPr>
            </a:lvl3pPr>
            <a:lvl4pPr marL="1371566" indent="0">
              <a:lnSpc>
                <a:spcPct val="100000"/>
              </a:lnSpc>
              <a:buNone/>
              <a:defRPr sz="1400" spc="51" baseline="0">
                <a:solidFill>
                  <a:schemeClr val="bg1"/>
                </a:solidFill>
              </a:defRPr>
            </a:lvl4pPr>
            <a:lvl5pPr marL="1828754" indent="0">
              <a:lnSpc>
                <a:spcPct val="100000"/>
              </a:lnSpc>
              <a:buNone/>
              <a:defRPr sz="1400" spc="51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chexilong@jlu.edu.cn</a:t>
            </a:r>
            <a:endParaRPr lang="zh-CN" altLang="en-US" noProof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吉林大学◆计算机科学与技术学院                                 共</a:t>
            </a:r>
            <a:r>
              <a:rPr lang="en-US" altLang="zh-CN"/>
              <a:t>42</a:t>
            </a:r>
            <a:r>
              <a:rPr lang="zh-CN" altLang="en-US"/>
              <a:t>页</a:t>
            </a:r>
            <a:endParaRPr lang="zh-CN" altLang="en-US" dirty="0"/>
          </a:p>
        </p:txBody>
      </p:sp>
      <p:sp>
        <p:nvSpPr>
          <p:cNvPr id="9" name="幻灯片编号占位符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7800" y="526653"/>
            <a:ext cx="9296400" cy="1325563"/>
          </a:xfrm>
        </p:spPr>
        <p:txBody>
          <a:bodyPr rtlCol="0">
            <a:normAutofit/>
          </a:bodyPr>
          <a:lstStyle>
            <a:lvl1pPr>
              <a:defRPr lang="en-US" sz="2800" kern="1200" spc="15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7800" y="2250283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1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 rtl="0"/>
            <a:r>
              <a:rPr lang="zh-CN" altLang="en-US" noProof="0" dirty="0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7800" y="3343276"/>
            <a:ext cx="3924300" cy="250864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89" indent="0">
              <a:lnSpc>
                <a:spcPct val="100000"/>
              </a:lnSpc>
              <a:buNone/>
              <a:defRPr sz="1400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914377" indent="0">
              <a:lnSpc>
                <a:spcPct val="100000"/>
              </a:lnSpc>
              <a:buNone/>
              <a:defRPr sz="1400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371566" indent="0">
              <a:lnSpc>
                <a:spcPct val="100000"/>
              </a:lnSpc>
              <a:buNone/>
              <a:defRPr sz="1400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828754" indent="0">
              <a:lnSpc>
                <a:spcPct val="100000"/>
              </a:lnSpc>
              <a:buNone/>
              <a:defRPr sz="1400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00573" y="2250283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1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noProof="0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00573" y="3343276"/>
            <a:ext cx="3943627" cy="250864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89" indent="0">
              <a:lnSpc>
                <a:spcPct val="100000"/>
              </a:lnSpc>
              <a:buNone/>
              <a:defRPr sz="1400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914377" indent="0">
              <a:lnSpc>
                <a:spcPct val="100000"/>
              </a:lnSpc>
              <a:buNone/>
              <a:defRPr sz="1400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371566" indent="0">
              <a:lnSpc>
                <a:spcPct val="100000"/>
              </a:lnSpc>
              <a:buNone/>
              <a:defRPr sz="1400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828754" indent="0">
              <a:lnSpc>
                <a:spcPct val="100000"/>
              </a:lnSpc>
              <a:buNone/>
              <a:defRPr sz="1400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chexilong@jlu.edu.cn</a:t>
            </a:r>
            <a:endParaRPr lang="zh-CN" altLang="en-US" noProof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吉林大学◆计算机科学与技术学院                                 共</a:t>
            </a:r>
            <a:r>
              <a:rPr lang="en-US" altLang="zh-CN"/>
              <a:t>42</a:t>
            </a:r>
            <a:r>
              <a:rPr lang="zh-CN" altLang="en-US"/>
              <a:t>页</a:t>
            </a:r>
            <a:endParaRPr lang="zh-CN" altLang="en-US" dirty="0"/>
          </a:p>
        </p:txBody>
      </p:sp>
      <p:sp>
        <p:nvSpPr>
          <p:cNvPr id="9" name="幻灯片编号占位符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形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标题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3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20" name="文本占位符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5" y="246951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lvl="0" rtl="0"/>
            <a:r>
              <a:rPr lang="zh-CN" altLang="en-US" noProof="0"/>
              <a:t>单击此处添加副标题</a:t>
            </a:r>
          </a:p>
        </p:txBody>
      </p:sp>
      <p:sp>
        <p:nvSpPr>
          <p:cNvPr id="25" name="文本占位符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9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26" name="文本占位符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5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lvl="0" rtl="0"/>
            <a:r>
              <a:rPr lang="zh-CN" altLang="en-US" noProof="0"/>
              <a:t>单击此处添加副标题</a:t>
            </a:r>
          </a:p>
        </p:txBody>
      </p:sp>
      <p:sp>
        <p:nvSpPr>
          <p:cNvPr id="27" name="文本占位符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9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28" name="文本占位符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5" y="4669109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lvl="0" rtl="0"/>
            <a:r>
              <a:rPr lang="zh-CN" altLang="en-US" noProof="0"/>
              <a:t>单击此处添加副标题</a:t>
            </a:r>
          </a:p>
        </p:txBody>
      </p:sp>
      <p:sp>
        <p:nvSpPr>
          <p:cNvPr id="29" name="文本占位符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9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21" name="日期占位符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chexilong@jlu.edu.cn</a:t>
            </a:r>
            <a:endParaRPr lang="zh-CN" altLang="en-US" noProof="0"/>
          </a:p>
        </p:txBody>
      </p:sp>
      <p:sp>
        <p:nvSpPr>
          <p:cNvPr id="22" name="页脚占位符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吉林大学◆计算机科学与技术学院                                 共</a:t>
            </a:r>
            <a:r>
              <a:rPr lang="en-US" altLang="zh-CN"/>
              <a:t>42</a:t>
            </a:r>
            <a:r>
              <a:rPr lang="zh-CN" altLang="en-US"/>
              <a:t>页</a:t>
            </a:r>
            <a:endParaRPr lang="zh-CN" altLang="en-US" dirty="0"/>
          </a:p>
        </p:txBody>
      </p:sp>
      <p:sp>
        <p:nvSpPr>
          <p:cNvPr id="24" name="幻灯片编号占位符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日程表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长方形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1" y="3057683"/>
            <a:ext cx="12191999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>
              <a:solidFill>
                <a:schemeClr val="tx1">
                  <a:lumMod val="75000"/>
                  <a:lumOff val="2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6" name="文本占位符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年</a:t>
            </a:r>
            <a:endParaRPr lang="zh-CN" altLang="en-ZA" noProof="0"/>
          </a:p>
        </p:txBody>
      </p:sp>
      <p:sp>
        <p:nvSpPr>
          <p:cNvPr id="7" name="文本占位符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8" name="文本占位符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9" name="文本占位符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10" name="文本占位符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年</a:t>
            </a:r>
            <a:endParaRPr lang="zh-CN" altLang="en-ZA" noProof="0"/>
          </a:p>
        </p:txBody>
      </p:sp>
      <p:sp>
        <p:nvSpPr>
          <p:cNvPr id="12" name="文本占位符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13" name="文本占位符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14" name="文本占位符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15" name="文本占位符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16" name="文本占位符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17" name="文本占位符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18" name="文本占位符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19" name="文本占位符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20" name="文本占位符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21" name="文本占位符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22" name="文本占位符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23" name="文本占位符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24" name="文本占位符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25" name="文本占位符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26" name="文本占位符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27" name="文本占位符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28" name="文本占位符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29" name="文本占位符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30" name="文本占位符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31" name="文本占位符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32" name="长方形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ZA" sz="1800" noProof="0">
              <a:solidFill>
                <a:schemeClr val="tx1">
                  <a:lumMod val="75000"/>
                  <a:lumOff val="2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6" name="日期占位符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chexilong@jlu.edu.cn</a:t>
            </a:r>
            <a:endParaRPr lang="zh-CN" altLang="en-US" noProof="0"/>
          </a:p>
        </p:txBody>
      </p:sp>
      <p:sp>
        <p:nvSpPr>
          <p:cNvPr id="37" name="页脚占位符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吉林大学◆计算机科学与技术学院                                 共</a:t>
            </a:r>
            <a:r>
              <a:rPr lang="en-US" altLang="zh-CN"/>
              <a:t>42</a:t>
            </a:r>
            <a:r>
              <a:rPr lang="zh-CN" altLang="en-US"/>
              <a:t>页</a:t>
            </a:r>
            <a:endParaRPr lang="zh-CN" altLang="en-US" dirty="0"/>
          </a:p>
        </p:txBody>
      </p:sp>
      <p:sp>
        <p:nvSpPr>
          <p:cNvPr id="38" name="灯片编号占位符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martArt 占位符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7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单击图标以添加 </a:t>
            </a:r>
            <a:r>
              <a:rPr lang="en-US" altLang="zh-CN" noProof="0"/>
              <a:t>SmartArt </a:t>
            </a:r>
            <a:r>
              <a:rPr lang="zh-CN" altLang="en-US" noProof="0"/>
              <a:t>图形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chexilong@jlu.edu.cn</a:t>
            </a:r>
            <a:endParaRPr lang="zh-CN" altLang="en-US" noProof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吉林大学◆计算机科学与技术学院                                 共</a:t>
            </a:r>
            <a:r>
              <a:rPr lang="en-US" altLang="zh-CN"/>
              <a:t>42</a:t>
            </a:r>
            <a:r>
              <a:rPr lang="zh-CN" altLang="en-US"/>
              <a:t>页</a:t>
            </a:r>
            <a:endParaRPr lang="zh-CN" altLang="en-US" dirty="0"/>
          </a:p>
        </p:txBody>
      </p:sp>
      <p:cxnSp>
        <p:nvCxnSpPr>
          <p:cNvPr id="10" name="直接连接符​​(S)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​​(S)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1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团队幻灯片 4 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9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11" name="图片占位符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487182" y="2886076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  <p:sp>
        <p:nvSpPr>
          <p:cNvPr id="17" name="图片占位符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36915" y="2886076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  <p:sp>
        <p:nvSpPr>
          <p:cNvPr id="18" name="图片占位符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27579" y="2886076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89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zh-CN" altLang="en-US" noProof="0"/>
              <a:t>单击图标以添加图片</a:t>
            </a:r>
          </a:p>
        </p:txBody>
      </p:sp>
      <p:sp>
        <p:nvSpPr>
          <p:cNvPr id="19" name="图片占位符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747459" y="2886076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50" y="508452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1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3" name="文本占位符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1" y="5099208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1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4" name="文本占位符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6" y="5099208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1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5" name="文本占位符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6" y="508452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1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6" name="文本占位符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2" y="546411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1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7" name="文本占位符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4" y="5478798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1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8" name="文本占位符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8" y="5478798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1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9" name="文本占位符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1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chexilong@jlu.edu.cn</a:t>
            </a:r>
            <a:endParaRPr lang="zh-CN" altLang="en-US" noProof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吉林大学◆计算机科学与技术学院                                 共</a:t>
            </a:r>
            <a:r>
              <a:rPr lang="en-US" altLang="zh-CN"/>
              <a:t>42</a:t>
            </a:r>
            <a:r>
              <a:rPr lang="zh-CN" altLang="en-US"/>
              <a:t>页</a:t>
            </a:r>
            <a:endParaRPr lang="zh-CN" altLang="en-US" dirty="0"/>
          </a:p>
        </p:txBody>
      </p:sp>
      <p:sp>
        <p:nvSpPr>
          <p:cNvPr id="9" name="幻灯片编号占位符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  <p:cxnSp>
        <p:nvCxnSpPr>
          <p:cNvPr id="10" name="直接连接符​​(S)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1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​​(S)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49" y="2"/>
            <a:ext cx="704851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36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团队幻灯片 8 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9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1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11" name="图片占位符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  <p:sp>
        <p:nvSpPr>
          <p:cNvPr id="17" name="图片占位符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26271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  <p:sp>
        <p:nvSpPr>
          <p:cNvPr id="18" name="图片占位符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16935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89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zh-CN" altLang="en-US" noProof="0"/>
              <a:t>单击图标以添加图片</a:t>
            </a:r>
          </a:p>
        </p:txBody>
      </p:sp>
      <p:sp>
        <p:nvSpPr>
          <p:cNvPr id="19" name="图片占位符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136815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8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1" kern="1200" spc="151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6" name="文本占位符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4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1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3" name="文本占位符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3" y="3669062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1" kern="1200" spc="151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7" name="文本占位符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5" y="3796722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1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4" name="文本占位符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7" y="3669062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1" kern="1200" spc="151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8" name="文本占位符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2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1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5" name="文本占位符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7" y="365438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1" kern="1200" spc="151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9" name="文本占位符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4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1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55" name="图片占位符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  <p:sp>
        <p:nvSpPr>
          <p:cNvPr id="56" name="图片占位符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226271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  <p:sp>
        <p:nvSpPr>
          <p:cNvPr id="57" name="图片占位符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716935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89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zh-CN" altLang="en-US" noProof="0"/>
              <a:t>单击图标以添加图片</a:t>
            </a:r>
          </a:p>
        </p:txBody>
      </p:sp>
      <p:sp>
        <p:nvSpPr>
          <p:cNvPr id="58" name="图片占位符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36815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  <p:sp>
        <p:nvSpPr>
          <p:cNvPr id="54" name="文本占位符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1" kern="1200" spc="151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62" name="文本占位符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1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59" name="文本占位符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3" y="552789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1" kern="1200" spc="151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63" name="文本占位符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5" y="565555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1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60" name="文本占位符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7" y="552789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1" kern="1200" spc="151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64" name="文本占位符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9" y="565555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1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61" name="文本占位符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7" y="551321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1" kern="1200" spc="151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65" name="文本占位符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1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chexilong@jlu.edu.cn</a:t>
            </a:r>
            <a:endParaRPr lang="zh-CN" altLang="en-US" noProof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吉林大学◆计算机科学与技术学院                                 共</a:t>
            </a:r>
            <a:r>
              <a:rPr lang="en-US" altLang="zh-CN"/>
              <a:t>42</a:t>
            </a:r>
            <a:r>
              <a:rPr lang="zh-CN" altLang="en-US"/>
              <a:t>页</a:t>
            </a:r>
            <a:endParaRPr lang="zh-CN" altLang="en-US" dirty="0"/>
          </a:p>
        </p:txBody>
      </p:sp>
      <p:sp>
        <p:nvSpPr>
          <p:cNvPr id="9" name="幻灯片编号占位符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6090955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9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100"/>
            </a:lvl3pPr>
            <a:lvl4pPr marL="1371566" indent="0">
              <a:buNone/>
              <a:defRPr sz="1051"/>
            </a:lvl4pPr>
            <a:lvl5pPr marL="1828754" indent="0">
              <a:buNone/>
              <a:defRPr sz="1051"/>
            </a:lvl5pPr>
          </a:lstStyle>
          <a:p>
            <a:pPr lvl="0" rtl="0"/>
            <a:r>
              <a:rPr lang="zh-CN" altLang="en-US" noProof="0"/>
              <a:t>单击此处添加内容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1" y="3788814"/>
            <a:ext cx="2330727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1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 rtl="0"/>
            <a:r>
              <a:rPr lang="en-US" altLang="zh-CN" noProof="0"/>
              <a:t>#</a:t>
            </a:r>
            <a:endParaRPr lang="zh-CN" altLang="en-US" noProof="0"/>
          </a:p>
        </p:txBody>
      </p:sp>
      <p:sp>
        <p:nvSpPr>
          <p:cNvPr id="17" name="文本占位符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1" y="4464812"/>
            <a:ext cx="2330727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1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1" y="5120724"/>
            <a:ext cx="2330727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89" indent="0">
              <a:lnSpc>
                <a:spcPct val="100000"/>
              </a:lnSpc>
              <a:buNone/>
              <a:defRPr sz="1400" spc="51" baseline="0"/>
            </a:lvl2pPr>
            <a:lvl3pPr marL="914377" indent="0">
              <a:lnSpc>
                <a:spcPct val="100000"/>
              </a:lnSpc>
              <a:buNone/>
              <a:defRPr sz="1400" spc="51" baseline="0"/>
            </a:lvl3pPr>
            <a:lvl4pPr marL="1371566" indent="0">
              <a:lnSpc>
                <a:spcPct val="100000"/>
              </a:lnSpc>
              <a:buNone/>
              <a:defRPr sz="1400" spc="51" baseline="0"/>
            </a:lvl4pPr>
            <a:lvl5pPr marL="1828754" indent="0">
              <a:lnSpc>
                <a:spcPct val="100000"/>
              </a:lnSpc>
              <a:buNone/>
              <a:defRPr sz="1400" spc="51" baseline="0"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24" name="内容占位符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100"/>
            </a:lvl3pPr>
            <a:lvl4pPr marL="1371566" indent="0">
              <a:buNone/>
              <a:defRPr sz="1051"/>
            </a:lvl4pPr>
            <a:lvl5pPr marL="1828754" indent="0">
              <a:buNone/>
              <a:defRPr sz="1051"/>
            </a:lvl5pPr>
          </a:lstStyle>
          <a:p>
            <a:pPr lvl="0" rtl="0"/>
            <a:r>
              <a:rPr lang="zh-CN" altLang="en-US" noProof="0"/>
              <a:t>单击此处添加内容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6" y="3788814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1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 rtl="0"/>
            <a:r>
              <a:rPr lang="en-US" altLang="zh-CN" noProof="0"/>
              <a:t>#</a:t>
            </a:r>
            <a:endParaRPr lang="zh-CN" altLang="en-US" noProof="0"/>
          </a:p>
        </p:txBody>
      </p:sp>
      <p:sp>
        <p:nvSpPr>
          <p:cNvPr id="18" name="文本占位符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6" y="4464812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1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noProof="0"/>
              <a:t>单击以编辑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6" y="5120724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89" indent="0">
              <a:lnSpc>
                <a:spcPct val="100000"/>
              </a:lnSpc>
              <a:buNone/>
              <a:defRPr sz="1400" spc="51" baseline="0"/>
            </a:lvl2pPr>
            <a:lvl3pPr marL="914377" indent="0">
              <a:lnSpc>
                <a:spcPct val="100000"/>
              </a:lnSpc>
              <a:buNone/>
              <a:defRPr sz="1400" spc="51" baseline="0"/>
            </a:lvl3pPr>
            <a:lvl4pPr marL="1371566" indent="0">
              <a:lnSpc>
                <a:spcPct val="100000"/>
              </a:lnSpc>
              <a:buNone/>
              <a:defRPr sz="1400" spc="51" baseline="0"/>
            </a:lvl4pPr>
            <a:lvl5pPr marL="1828754" indent="0">
              <a:lnSpc>
                <a:spcPct val="100000"/>
              </a:lnSpc>
              <a:buNone/>
              <a:defRPr sz="1400" spc="51" baseline="0"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25" name="内容占位符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100"/>
            </a:lvl3pPr>
            <a:lvl4pPr marL="1371566" indent="0">
              <a:buNone/>
              <a:defRPr sz="1051"/>
            </a:lvl4pPr>
            <a:lvl5pPr marL="1828754" indent="0">
              <a:buNone/>
              <a:defRPr sz="1051"/>
            </a:lvl5pPr>
          </a:lstStyle>
          <a:p>
            <a:pPr lvl="0" rtl="0"/>
            <a:r>
              <a:rPr lang="zh-CN" altLang="en-US" noProof="0"/>
              <a:t>单击此处添加内容</a:t>
            </a:r>
          </a:p>
        </p:txBody>
      </p:sp>
      <p:sp>
        <p:nvSpPr>
          <p:cNvPr id="21" name="文本占位符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10" y="3788814"/>
            <a:ext cx="2330727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1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 rtl="0"/>
            <a:r>
              <a:rPr lang="en-US" altLang="zh-CN" noProof="0"/>
              <a:t>#</a:t>
            </a:r>
            <a:endParaRPr lang="zh-CN" altLang="en-US" noProof="0"/>
          </a:p>
        </p:txBody>
      </p:sp>
      <p:sp>
        <p:nvSpPr>
          <p:cNvPr id="19" name="文本占位符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10" y="4464812"/>
            <a:ext cx="2330727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1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2" name="内容占位符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10" y="5120724"/>
            <a:ext cx="2330727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89" indent="0">
              <a:lnSpc>
                <a:spcPct val="100000"/>
              </a:lnSpc>
              <a:buNone/>
              <a:defRPr sz="1400" spc="51" baseline="0"/>
            </a:lvl2pPr>
            <a:lvl3pPr marL="914377" indent="0">
              <a:lnSpc>
                <a:spcPct val="100000"/>
              </a:lnSpc>
              <a:buNone/>
              <a:defRPr sz="1400" spc="51" baseline="0"/>
            </a:lvl3pPr>
            <a:lvl4pPr marL="1371566" indent="0">
              <a:lnSpc>
                <a:spcPct val="100000"/>
              </a:lnSpc>
              <a:buNone/>
              <a:defRPr sz="1400" spc="51" baseline="0"/>
            </a:lvl4pPr>
            <a:lvl5pPr marL="1828754" indent="0">
              <a:lnSpc>
                <a:spcPct val="100000"/>
              </a:lnSpc>
              <a:buNone/>
              <a:defRPr sz="1400" spc="51" baseline="0"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26" name="内容占位符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100"/>
            </a:lvl3pPr>
            <a:lvl4pPr marL="1371566" indent="0">
              <a:buNone/>
              <a:defRPr sz="1051"/>
            </a:lvl4pPr>
            <a:lvl5pPr marL="1828754" indent="0">
              <a:buNone/>
              <a:defRPr sz="1051"/>
            </a:lvl5pPr>
          </a:lstStyle>
          <a:p>
            <a:pPr lvl="0" rtl="0"/>
            <a:r>
              <a:rPr lang="zh-CN" altLang="en-US" noProof="0"/>
              <a:t>单击此处添加内容</a:t>
            </a:r>
          </a:p>
        </p:txBody>
      </p:sp>
      <p:sp>
        <p:nvSpPr>
          <p:cNvPr id="14" name="文本占位符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9"/>
            <a:ext cx="2330727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1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 rtl="0"/>
            <a:r>
              <a:rPr lang="en-US" altLang="zh-CN" noProof="0"/>
              <a:t>#</a:t>
            </a:r>
            <a:endParaRPr lang="zh-CN" altLang="en-US" noProof="0"/>
          </a:p>
        </p:txBody>
      </p:sp>
      <p:sp>
        <p:nvSpPr>
          <p:cNvPr id="23" name="文本占位符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6"/>
            <a:ext cx="2330727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1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15" name="内容占位符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8"/>
            <a:ext cx="2330727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89" indent="0">
              <a:lnSpc>
                <a:spcPct val="100000"/>
              </a:lnSpc>
              <a:buNone/>
              <a:defRPr sz="1400" spc="51" baseline="0"/>
            </a:lvl2pPr>
            <a:lvl3pPr marL="914377" indent="0">
              <a:lnSpc>
                <a:spcPct val="100000"/>
              </a:lnSpc>
              <a:buNone/>
              <a:defRPr sz="1400" spc="51" baseline="0"/>
            </a:lvl3pPr>
            <a:lvl4pPr marL="1371566" indent="0">
              <a:lnSpc>
                <a:spcPct val="100000"/>
              </a:lnSpc>
              <a:buNone/>
              <a:defRPr sz="1400" spc="51" baseline="0"/>
            </a:lvl4pPr>
            <a:lvl5pPr marL="1828754" indent="0">
              <a:lnSpc>
                <a:spcPct val="100000"/>
              </a:lnSpc>
              <a:buNone/>
              <a:defRPr sz="1400" spc="51" baseline="0"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chexilong@jlu.edu.cn</a:t>
            </a:r>
            <a:endParaRPr lang="zh-CN" altLang="en-US" noProof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吉林大学◆计算机科学与技术学院                                 共</a:t>
            </a:r>
            <a:r>
              <a:rPr lang="en-US" altLang="zh-CN"/>
              <a:t>42</a:t>
            </a:r>
            <a:r>
              <a:rPr lang="zh-CN" altLang="en-US"/>
              <a:t>页</a:t>
            </a:r>
            <a:endParaRPr lang="zh-CN" altLang="en-US" dirty="0"/>
          </a:p>
        </p:txBody>
      </p:sp>
      <p:sp>
        <p:nvSpPr>
          <p:cNvPr id="9" name="幻灯片编号占位符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摘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1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1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1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21" name="日期占位符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chexilong@jlu.edu.cn</a:t>
            </a:r>
            <a:endParaRPr lang="zh-CN" altLang="en-US" noProof="0"/>
          </a:p>
        </p:txBody>
      </p:sp>
      <p:sp>
        <p:nvSpPr>
          <p:cNvPr id="22" name="页脚占位符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吉林大学◆计算机科学与技术学院                                 共</a:t>
            </a:r>
            <a:r>
              <a:rPr lang="en-US" altLang="zh-CN"/>
              <a:t>42</a:t>
            </a:r>
            <a:r>
              <a:rPr lang="zh-CN" altLang="en-US"/>
              <a:t>页</a:t>
            </a:r>
            <a:endParaRPr lang="zh-CN" altLang="en-US" dirty="0"/>
          </a:p>
        </p:txBody>
      </p:sp>
      <p:sp>
        <p:nvSpPr>
          <p:cNvPr id="24" name="幻灯片编号占位符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结束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8"/>
            <a:ext cx="4179571" cy="1524735"/>
          </a:xfrm>
        </p:spPr>
        <p:txBody>
          <a:bodyPr rtlCol="0" anchor="b">
            <a:noAutofit/>
          </a:bodyPr>
          <a:lstStyle>
            <a:lvl1pPr algn="l">
              <a:defRPr sz="3200" spc="15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5"/>
            <a:ext cx="4179571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rtl="0"/>
            <a:r>
              <a:rPr lang="zh-CN" altLang="en-US" noProof="0"/>
              <a:t>单击以编辑母版副标题样式</a:t>
            </a:r>
          </a:p>
        </p:txBody>
      </p:sp>
      <p:pic>
        <p:nvPicPr>
          <p:cNvPr id="6" name="图形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9" cy="6858000"/>
          </a:xfrm>
          <a:prstGeom prst="rect">
            <a:avLst/>
          </a:prstGeom>
        </p:spPr>
      </p:pic>
      <p:sp>
        <p:nvSpPr>
          <p:cNvPr id="9" name="日期占位符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1" y="6356352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US" altLang="zh-CN" noProof="0"/>
              <a:t>chexilong@jlu.edu.cn</a:t>
            </a:r>
            <a:endParaRPr lang="zh-CN" altLang="en-US" noProof="0"/>
          </a:p>
        </p:txBody>
      </p:sp>
      <p:sp>
        <p:nvSpPr>
          <p:cNvPr id="10" name="页脚占位符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2" y="6356352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r>
              <a:rPr lang="zh-CN" altLang="en-US"/>
              <a:t>吉林大学◆计算机科学与技术学院                                 共</a:t>
            </a:r>
            <a:r>
              <a:rPr lang="en-US" altLang="zh-CN"/>
              <a:t>42</a:t>
            </a:r>
            <a:r>
              <a:rPr lang="zh-CN" altLang="en-US"/>
              <a:t>页</a:t>
            </a:r>
            <a:endParaRPr lang="zh-CN" altLang="en-US" dirty="0"/>
          </a:p>
        </p:txBody>
      </p:sp>
      <p:sp>
        <p:nvSpPr>
          <p:cNvPr id="11" name="幻灯片编号占位符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9" y="6356352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US" altLang="zh-CN" noProof="0" smtClean="0"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81600" y="247650"/>
            <a:ext cx="6807200" cy="381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1219200"/>
            <a:ext cx="5080000" cy="4953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219200"/>
            <a:ext cx="5080000" cy="4953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03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15D634-50EF-4419-9AA6-241D2EBA463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6168643"/>
      </p:ext>
    </p:extLst>
  </p:cSld>
  <p:clrMapOvr>
    <a:masterClrMapping/>
  </p:clrMapOvr>
  <p:transition>
    <p:pull dir="r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chexilong@jlu.edu.cn</a:t>
            </a:r>
            <a:endParaRPr lang="zh-CN" altLang="en-US" noProof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吉林大学◆计算机科学与技术学院                                 共</a:t>
            </a:r>
            <a:r>
              <a:rPr lang="en-US" altLang="zh-CN"/>
              <a:t>42</a:t>
            </a:r>
            <a:r>
              <a:rPr lang="zh-CN" altLang="en-US"/>
              <a:t>页</a:t>
            </a:r>
            <a:endParaRPr lang="zh-CN" altLang="en-US" dirty="0"/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01" r:id="rId2"/>
    <p:sldLayoutId id="2147483702" r:id="rId3"/>
    <p:sldLayoutId id="2147483668" r:id="rId4"/>
    <p:sldLayoutId id="2147483670" r:id="rId5"/>
    <p:sldLayoutId id="2147483688" r:id="rId6"/>
    <p:sldLayoutId id="2147483694" r:id="rId7"/>
    <p:sldLayoutId id="2147483697" r:id="rId8"/>
    <p:sldLayoutId id="2147483673" r:id="rId9"/>
    <p:sldLayoutId id="2147483676" r:id="rId10"/>
    <p:sldLayoutId id="2147483672" r:id="rId11"/>
    <p:sldLayoutId id="2147483699" r:id="rId12"/>
    <p:sldLayoutId id="2147483671" r:id="rId13"/>
    <p:sldLayoutId id="2147483700" r:id="rId14"/>
    <p:sldLayoutId id="2147483692" r:id="rId15"/>
    <p:sldLayoutId id="2147483681" r:id="rId16"/>
    <p:sldLayoutId id="2147483674" r:id="rId17"/>
    <p:sldLayoutId id="2147483675" r:id="rId18"/>
    <p:sldLayoutId id="2147483696" r:id="rId19"/>
    <p:sldLayoutId id="2147483677" r:id="rId20"/>
    <p:sldLayoutId id="2147483678" r:id="rId21"/>
    <p:sldLayoutId id="2147483703" r:id="rId22"/>
  </p:sldLayoutIdLst>
  <p:hf sldNum="0"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SimSun" panose="02010600030101010101" pitchFamily="2" charset="-122"/>
          <a:ea typeface="SimSun" panose="02010600030101010101" pitchFamily="2" charset="-122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SimSun" panose="02010600030101010101" pitchFamily="2" charset="-122"/>
          <a:ea typeface="SimSun" panose="02010600030101010101" pitchFamily="2" charset="-122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SimSun" panose="02010600030101010101" pitchFamily="2" charset="-122"/>
          <a:ea typeface="SimSun" panose="02010600030101010101" pitchFamily="2" charset="-122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SimSun" panose="02010600030101010101" pitchFamily="2" charset="-122"/>
          <a:ea typeface="SimSun" panose="02010600030101010101" pitchFamily="2" charset="-122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SimSun" panose="02010600030101010101" pitchFamily="2" charset="-122"/>
          <a:ea typeface="SimSun" panose="02010600030101010101" pitchFamily="2" charset="-122"/>
          <a:cs typeface="+mn-cs"/>
        </a:defRPr>
      </a:lvl5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5292" y="4693959"/>
            <a:ext cx="7096708" cy="1122203"/>
          </a:xfrm>
        </p:spPr>
        <p:txBody>
          <a:bodyPr rtlCol="0"/>
          <a:lstStyle/>
          <a:p>
            <a:pPr rtl="0"/>
            <a:r>
              <a:rPr lang="zh-CN" altLang="en-US" dirty="0"/>
              <a:t>线程级并行：多处理机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23"/>
          </p:nvPr>
        </p:nvSpPr>
        <p:spPr>
          <a:xfrm>
            <a:off x="1652587" y="2619263"/>
            <a:ext cx="8982074" cy="3657320"/>
          </a:xfrm>
        </p:spPr>
        <p:txBody>
          <a:bodyPr/>
          <a:lstStyle/>
          <a:p>
            <a:pPr marL="361950" indent="-361950">
              <a:buFont typeface="Wingdings" panose="05000000000000000000" pitchFamily="2" charset="2"/>
              <a:buChar char="Ø"/>
            </a:pPr>
            <a:r>
              <a:rPr lang="zh-CN" altLang="en-US" dirty="0"/>
              <a:t>点：包括小到</a:t>
            </a:r>
            <a:r>
              <a:rPr lang="en-US" altLang="zh-CN" dirty="0"/>
              <a:t>CPU</a:t>
            </a:r>
            <a:r>
              <a:rPr lang="zh-CN" altLang="en-US" dirty="0"/>
              <a:t>内部的寄存器、</a:t>
            </a:r>
            <a:r>
              <a:rPr lang="en-US" altLang="zh-CN" dirty="0"/>
              <a:t>ALU</a:t>
            </a:r>
            <a:r>
              <a:rPr lang="zh-CN" altLang="en-US" dirty="0"/>
              <a:t>、控制器，到存储模块、外设，乃至多处理机的计算节点，都可以视为点；</a:t>
            </a:r>
            <a:endParaRPr lang="en-US" altLang="zh-CN" dirty="0"/>
          </a:p>
          <a:p>
            <a:pPr marL="361950" indent="-361950">
              <a:buFont typeface="Wingdings" panose="05000000000000000000" pitchFamily="2" charset="2"/>
              <a:buChar char="Ø"/>
            </a:pPr>
            <a:r>
              <a:rPr lang="zh-CN" altLang="en-US" dirty="0"/>
              <a:t>互连网络：按照一定拓扑结构和控制方式，将点连接起来。</a:t>
            </a:r>
          </a:p>
        </p:txBody>
      </p:sp>
      <p:sp>
        <p:nvSpPr>
          <p:cNvPr id="5" name="标题 3"/>
          <p:cNvSpPr txBox="1">
            <a:spLocks/>
          </p:cNvSpPr>
          <p:nvPr/>
        </p:nvSpPr>
        <p:spPr>
          <a:xfrm>
            <a:off x="729614" y="1366955"/>
            <a:ext cx="9296400" cy="9219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1. </a:t>
            </a:r>
            <a:r>
              <a:rPr lang="zh-CN" altLang="en-US" dirty="0"/>
              <a:t>计算机构成的两个最基本的要素</a:t>
            </a:r>
          </a:p>
        </p:txBody>
      </p:sp>
      <p:sp>
        <p:nvSpPr>
          <p:cNvPr id="2" name="标题 3">
            <a:extLst>
              <a:ext uri="{FF2B5EF4-FFF2-40B4-BE49-F238E27FC236}">
                <a16:creationId xmlns:a16="http://schemas.microsoft.com/office/drawing/2014/main" id="{F91D255C-610E-C833-A288-2F9276B95E82}"/>
              </a:ext>
            </a:extLst>
          </p:cNvPr>
          <p:cNvSpPr txBox="1">
            <a:spLocks/>
          </p:cNvSpPr>
          <p:nvPr/>
        </p:nvSpPr>
        <p:spPr>
          <a:xfrm>
            <a:off x="0" y="114647"/>
            <a:ext cx="9296400" cy="9219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一</a:t>
            </a:r>
            <a:r>
              <a:rPr lang="en-US" altLang="zh-CN" dirty="0"/>
              <a:t>. </a:t>
            </a:r>
            <a:r>
              <a:rPr lang="zh-CN" altLang="en-US" dirty="0"/>
              <a:t>概述</a:t>
            </a:r>
          </a:p>
        </p:txBody>
      </p:sp>
    </p:spTree>
    <p:extLst>
      <p:ext uri="{BB962C8B-B14F-4D97-AF65-F5344CB8AC3E}">
        <p14:creationId xmlns:p14="http://schemas.microsoft.com/office/powerpoint/2010/main" val="3025812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3"/>
          <p:cNvSpPr>
            <a:spLocks noGrp="1"/>
          </p:cNvSpPr>
          <p:nvPr>
            <p:ph type="title"/>
          </p:nvPr>
        </p:nvSpPr>
        <p:spPr>
          <a:xfrm>
            <a:off x="1476374" y="561825"/>
            <a:ext cx="9296400" cy="921933"/>
          </a:xfrm>
        </p:spPr>
        <p:txBody>
          <a:bodyPr/>
          <a:lstStyle/>
          <a:p>
            <a:r>
              <a:rPr lang="zh-CN" altLang="en-US" dirty="0"/>
              <a:t>系统互连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5661" y="1483758"/>
            <a:ext cx="5457825" cy="4772025"/>
          </a:xfrm>
          <a:prstGeom prst="rect">
            <a:avLst/>
          </a:prstGeom>
        </p:spPr>
      </p:pic>
      <p:sp>
        <p:nvSpPr>
          <p:cNvPr id="9" name="圆角矩形标注 8"/>
          <p:cNvSpPr/>
          <p:nvPr/>
        </p:nvSpPr>
        <p:spPr>
          <a:xfrm>
            <a:off x="9258300" y="5067300"/>
            <a:ext cx="1924050" cy="612648"/>
          </a:xfrm>
          <a:prstGeom prst="wedgeRoundRectCallout">
            <a:avLst>
              <a:gd name="adj1" fmla="val -80208"/>
              <a:gd name="adj2" fmla="val 54726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距离增加</a:t>
            </a:r>
          </a:p>
        </p:txBody>
      </p:sp>
      <p:sp>
        <p:nvSpPr>
          <p:cNvPr id="10" name="圆角矩形标注 9"/>
          <p:cNvSpPr/>
          <p:nvPr/>
        </p:nvSpPr>
        <p:spPr>
          <a:xfrm>
            <a:off x="1357311" y="1381125"/>
            <a:ext cx="1924050" cy="612648"/>
          </a:xfrm>
          <a:prstGeom prst="wedgeRoundRectCallout">
            <a:avLst>
              <a:gd name="adj1" fmla="val 72762"/>
              <a:gd name="adj2" fmla="val 31405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单位时间</a:t>
            </a:r>
            <a:endParaRPr lang="en-US" altLang="zh-CN" dirty="0"/>
          </a:p>
          <a:p>
            <a:pPr algn="ctr"/>
            <a:r>
              <a:rPr lang="zh-CN" altLang="en-US" dirty="0"/>
              <a:t>信息量增加</a:t>
            </a:r>
          </a:p>
        </p:txBody>
      </p:sp>
    </p:spTree>
    <p:extLst>
      <p:ext uri="{BB962C8B-B14F-4D97-AF65-F5344CB8AC3E}">
        <p14:creationId xmlns:p14="http://schemas.microsoft.com/office/powerpoint/2010/main" val="1946223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3"/>
          <p:cNvSpPr>
            <a:spLocks noGrp="1"/>
          </p:cNvSpPr>
          <p:nvPr>
            <p:ph type="title"/>
          </p:nvPr>
        </p:nvSpPr>
        <p:spPr>
          <a:xfrm>
            <a:off x="71436" y="97242"/>
            <a:ext cx="11838065" cy="921933"/>
          </a:xfrm>
        </p:spPr>
        <p:txBody>
          <a:bodyPr>
            <a:normAutofit fontScale="90000"/>
          </a:bodyPr>
          <a:lstStyle/>
          <a:p>
            <a:pPr indent="628650"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静态互连网络：指处理单元间有固定连接的一类网络，在程序执行期间，这种点到点的链接保持不变。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024" y="1514475"/>
            <a:ext cx="2695575" cy="24193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1125" y="1514475"/>
            <a:ext cx="5972175" cy="20574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2" y="4429125"/>
            <a:ext cx="3848100" cy="17145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1125" y="3908786"/>
            <a:ext cx="5972175" cy="2330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126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3"/>
          <p:cNvSpPr>
            <a:spLocks noGrp="1"/>
          </p:cNvSpPr>
          <p:nvPr>
            <p:ph type="title"/>
          </p:nvPr>
        </p:nvSpPr>
        <p:spPr>
          <a:xfrm>
            <a:off x="193984" y="193835"/>
            <a:ext cx="11804728" cy="921933"/>
          </a:xfrm>
        </p:spPr>
        <p:txBody>
          <a:bodyPr>
            <a:normAutofit fontScale="90000"/>
          </a:bodyPr>
          <a:lstStyle/>
          <a:p>
            <a:pPr indent="628650"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动态互连网络：由开关单元构成，可以按照应用程序的要求动态的改变连接组态。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57" y="1450551"/>
            <a:ext cx="5295900" cy="461962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14557" y="6209142"/>
            <a:ext cx="5295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各种总线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3326" y="835382"/>
            <a:ext cx="3626527" cy="2112596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7103326" y="3060781"/>
            <a:ext cx="36265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交叉开关网络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4838" y="3589525"/>
            <a:ext cx="3515015" cy="231251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7214838" y="6209142"/>
            <a:ext cx="35150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多级互连网络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2869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23"/>
          </p:nvPr>
        </p:nvSpPr>
        <p:spPr>
          <a:xfrm>
            <a:off x="1250416" y="1810142"/>
            <a:ext cx="11159297" cy="3657320"/>
          </a:xfrm>
        </p:spPr>
        <p:txBody>
          <a:bodyPr>
            <a:normAutofit/>
          </a:bodyPr>
          <a:lstStyle/>
          <a:p>
            <a:r>
              <a:rPr lang="en-US" altLang="zh-CN" dirty="0"/>
              <a:t>PVP</a:t>
            </a:r>
            <a:r>
              <a:rPr lang="zh-CN" altLang="en-US" dirty="0"/>
              <a:t>，</a:t>
            </a:r>
            <a:r>
              <a:rPr lang="en-US" altLang="zh-CN" dirty="0"/>
              <a:t>Parallel Vector Processor, </a:t>
            </a:r>
            <a:r>
              <a:rPr lang="zh-CN" altLang="en-US" dirty="0"/>
              <a:t>并行向量处理机</a:t>
            </a:r>
            <a:endParaRPr lang="en-US" altLang="zh-CN" dirty="0"/>
          </a:p>
          <a:p>
            <a:r>
              <a:rPr lang="en-US" altLang="zh-CN" dirty="0"/>
              <a:t>SMP, Symmetric Multiprocessor, </a:t>
            </a:r>
            <a:r>
              <a:rPr lang="zh-CN" altLang="en-US" dirty="0"/>
              <a:t>对称多处理机</a:t>
            </a:r>
            <a:endParaRPr lang="en-US" altLang="zh-CN" dirty="0"/>
          </a:p>
          <a:p>
            <a:r>
              <a:rPr lang="en-US" altLang="zh-CN" dirty="0"/>
              <a:t>MPP, Massively Parallel Processor, </a:t>
            </a:r>
            <a:r>
              <a:rPr lang="zh-CN" altLang="en-US" dirty="0"/>
              <a:t>大规模并行处理机</a:t>
            </a:r>
            <a:endParaRPr lang="en-US" altLang="zh-CN" dirty="0"/>
          </a:p>
          <a:p>
            <a:r>
              <a:rPr lang="en-US" altLang="zh-CN" dirty="0"/>
              <a:t>DSM</a:t>
            </a:r>
            <a:r>
              <a:rPr lang="zh-CN" altLang="en-US" dirty="0"/>
              <a:t>，</a:t>
            </a:r>
            <a:r>
              <a:rPr lang="en-US" altLang="zh-CN" dirty="0"/>
              <a:t>Distributed Shared Memory, </a:t>
            </a:r>
            <a:r>
              <a:rPr lang="zh-CN" altLang="en-US" dirty="0"/>
              <a:t>分布式共享存储多处理机</a:t>
            </a:r>
            <a:endParaRPr lang="en-US" altLang="zh-CN" dirty="0"/>
          </a:p>
          <a:p>
            <a:r>
              <a:rPr lang="en-US" altLang="zh-CN" dirty="0"/>
              <a:t>COW</a:t>
            </a:r>
            <a:r>
              <a:rPr lang="zh-CN" altLang="en-US" dirty="0"/>
              <a:t>，</a:t>
            </a:r>
            <a:r>
              <a:rPr lang="en-US" altLang="zh-CN" dirty="0"/>
              <a:t>Cluster of Workstations, </a:t>
            </a:r>
            <a:r>
              <a:rPr lang="zh-CN" altLang="en-US" dirty="0"/>
              <a:t>工作站集群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749030" y="580064"/>
            <a:ext cx="9296400" cy="921933"/>
          </a:xfrm>
        </p:spPr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几种基本的</a:t>
            </a:r>
            <a:r>
              <a:rPr lang="en-US" altLang="zh-CN" dirty="0"/>
              <a:t>MIMD</a:t>
            </a:r>
            <a:r>
              <a:rPr lang="zh-CN" altLang="en-US" dirty="0"/>
              <a:t>并行机结构模型</a:t>
            </a:r>
          </a:p>
        </p:txBody>
      </p:sp>
    </p:spTree>
    <p:extLst>
      <p:ext uri="{BB962C8B-B14F-4D97-AF65-F5344CB8AC3E}">
        <p14:creationId xmlns:p14="http://schemas.microsoft.com/office/powerpoint/2010/main" val="464636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230" y="561014"/>
            <a:ext cx="9296400" cy="921933"/>
          </a:xfrm>
        </p:spPr>
        <p:txBody>
          <a:bodyPr/>
          <a:lstStyle/>
          <a:p>
            <a:r>
              <a:rPr lang="en-US" altLang="zh-CN" dirty="0"/>
              <a:t>PVP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23"/>
          </p:nvPr>
        </p:nvSpPr>
        <p:spPr>
          <a:xfrm>
            <a:off x="5843722" y="732048"/>
            <a:ext cx="6043478" cy="576173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这样的系统中包含了少量的高性能专门设计定制的向量处理器 ＶＰ，每个至少具有１Ｇ</a:t>
            </a:r>
            <a:r>
              <a:rPr lang="en-US" altLang="zh-CN" sz="2000" dirty="0"/>
              <a:t>flops</a:t>
            </a:r>
            <a:r>
              <a:rPr lang="zh-CN" altLang="en-US" sz="2000" dirty="0"/>
              <a:t>的处理能力；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存储器以兆字节每秒的速度向处理器提供数据。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向量处理器</a:t>
            </a:r>
            <a:r>
              <a:rPr lang="en-US" altLang="zh-CN" sz="2000" dirty="0"/>
              <a:t>VP</a:t>
            </a:r>
            <a:r>
              <a:rPr lang="zh-CN" altLang="en-US" sz="2000" dirty="0"/>
              <a:t>和共享存储模块通过高带宽的交叉开关网络互连；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这样的机器通常不使用高速缓存，而是使用大量的向量寄存器和指令缓冲器；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例如：</a:t>
            </a:r>
            <a:r>
              <a:rPr lang="en-US" altLang="zh-CN" sz="2000" dirty="0"/>
              <a:t>Cray90</a:t>
            </a:r>
            <a:r>
              <a:rPr lang="zh-CN" altLang="en-US" sz="2000" dirty="0"/>
              <a:t>、</a:t>
            </a:r>
            <a:r>
              <a:rPr lang="en-US" altLang="zh-CN" sz="2000" dirty="0"/>
              <a:t>NECSX-4</a:t>
            </a:r>
            <a:r>
              <a:rPr lang="zh-CN" altLang="en-US" sz="2000" dirty="0"/>
              <a:t>和我国的银河１号等都是 </a:t>
            </a:r>
            <a:r>
              <a:rPr lang="en-US" altLang="zh-CN" sz="2000" dirty="0"/>
              <a:t>PVP</a:t>
            </a:r>
            <a:r>
              <a:rPr lang="zh-CN" altLang="en-US" sz="2000" dirty="0"/>
              <a:t>。</a:t>
            </a:r>
            <a:endParaRPr lang="en-US" altLang="zh-CN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650" y="1891299"/>
            <a:ext cx="4152900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611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230" y="561014"/>
            <a:ext cx="9296400" cy="921933"/>
          </a:xfrm>
        </p:spPr>
        <p:txBody>
          <a:bodyPr/>
          <a:lstStyle/>
          <a:p>
            <a:r>
              <a:rPr lang="en-US" altLang="zh-CN" dirty="0"/>
              <a:t>SMP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23"/>
          </p:nvPr>
        </p:nvSpPr>
        <p:spPr>
          <a:xfrm>
            <a:off x="6050463" y="349332"/>
            <a:ext cx="5847887" cy="628564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zh-CN" altLang="en-US" sz="2200" dirty="0"/>
              <a:t>ＳＭＰ系统使用商品微处理器（具有片上或外置高速缓存）；</a:t>
            </a:r>
            <a:endParaRPr lang="en-US" altLang="zh-CN" sz="2200" dirty="0"/>
          </a:p>
          <a:p>
            <a:pPr>
              <a:lnSpc>
                <a:spcPct val="120000"/>
              </a:lnSpc>
            </a:pPr>
            <a:r>
              <a:rPr lang="zh-CN" altLang="en-US" sz="2200" dirty="0"/>
              <a:t>它们经由高速总线（或交叉开关）连向共享存储器和</a:t>
            </a:r>
            <a:r>
              <a:rPr lang="en-US" altLang="zh-CN" sz="2200" dirty="0"/>
              <a:t>I/O</a:t>
            </a:r>
            <a:r>
              <a:rPr lang="zh-CN" altLang="en-US" sz="2200" dirty="0"/>
              <a:t>；</a:t>
            </a:r>
            <a:endParaRPr lang="en-US" altLang="zh-CN" sz="2200" dirty="0"/>
          </a:p>
          <a:p>
            <a:pPr>
              <a:lnSpc>
                <a:spcPct val="120000"/>
              </a:lnSpc>
            </a:pPr>
            <a:r>
              <a:rPr lang="zh-CN" altLang="en-US" sz="2200" dirty="0"/>
              <a:t>这种机器主要应用于商务，例如数据库、在线事务处理系统和数据仓库等；</a:t>
            </a:r>
            <a:endParaRPr lang="en-US" altLang="zh-CN" sz="2200" dirty="0"/>
          </a:p>
          <a:p>
            <a:pPr>
              <a:lnSpc>
                <a:spcPct val="120000"/>
              </a:lnSpc>
            </a:pPr>
            <a:r>
              <a:rPr lang="zh-CN" altLang="en-US" sz="2200" dirty="0"/>
              <a:t>重要的是系统是对称的，每个处理器可等同的访问共享存储器、Ｉ／Ｏ设备和操作系统服务。正是对称，才能开拓较高的并行度；也正是共享存储，限制系统中的处理器不能太多（一般少于６４个），同时总线和交叉开关互连一旦作成也难于扩展。</a:t>
            </a:r>
            <a:endParaRPr lang="en-US" altLang="zh-CN" sz="2200" dirty="0"/>
          </a:p>
          <a:p>
            <a:pPr>
              <a:lnSpc>
                <a:spcPct val="120000"/>
              </a:lnSpc>
            </a:pPr>
            <a:r>
              <a:rPr lang="zh-CN" altLang="en-US" sz="2200" dirty="0"/>
              <a:t>例如：</a:t>
            </a:r>
            <a:r>
              <a:rPr lang="en-US" altLang="zh-CN" sz="2200" dirty="0"/>
              <a:t>IBM R50</a:t>
            </a:r>
            <a:r>
              <a:rPr lang="zh-CN" altLang="en-US" sz="2200" dirty="0"/>
              <a:t>、</a:t>
            </a:r>
            <a:r>
              <a:rPr lang="en-US" altLang="zh-CN" sz="2200" dirty="0"/>
              <a:t>SGI Power Challenge</a:t>
            </a:r>
            <a:r>
              <a:rPr lang="zh-CN" altLang="en-US" sz="2200" dirty="0"/>
              <a:t>、</a:t>
            </a:r>
            <a:r>
              <a:rPr lang="en-US" altLang="zh-CN" sz="2200" dirty="0"/>
              <a:t>DEC Alpha</a:t>
            </a:r>
            <a:r>
              <a:rPr lang="zh-CN" altLang="en-US" sz="2200" dirty="0"/>
              <a:t>服务器</a:t>
            </a:r>
            <a:r>
              <a:rPr lang="en-US" altLang="zh-CN" sz="2200" dirty="0"/>
              <a:t>8400</a:t>
            </a:r>
            <a:r>
              <a:rPr lang="zh-CN" altLang="en-US" sz="2200" dirty="0"/>
              <a:t>和我国的曙光１号等都是这种类型的机器。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49" y="1873172"/>
            <a:ext cx="4210051" cy="2940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491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230" y="549862"/>
            <a:ext cx="4670197" cy="921933"/>
          </a:xfrm>
        </p:spPr>
        <p:txBody>
          <a:bodyPr/>
          <a:lstStyle/>
          <a:p>
            <a:r>
              <a:rPr lang="en-US" altLang="zh-CN" dirty="0"/>
              <a:t>MPP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23"/>
          </p:nvPr>
        </p:nvSpPr>
        <p:spPr>
          <a:xfrm>
            <a:off x="6110867" y="761735"/>
            <a:ext cx="5780049" cy="5218770"/>
          </a:xfrm>
        </p:spPr>
        <p:txBody>
          <a:bodyPr>
            <a:noAutofit/>
          </a:bodyPr>
          <a:lstStyle/>
          <a:p>
            <a:r>
              <a:rPr lang="zh-CN" altLang="en-US" sz="2000" dirty="0"/>
              <a:t>ＭＰＰ一般是指超大型计算机系统；</a:t>
            </a:r>
            <a:endParaRPr lang="en-US" altLang="zh-CN" sz="2000" dirty="0"/>
          </a:p>
          <a:p>
            <a:r>
              <a:rPr lang="zh-CN" altLang="en-US" sz="2000" dirty="0"/>
              <a:t>处理节点采用商品微处理器；每个节点上有自己的局部存储器；采用高通信带宽和低延迟的互连网络（专门设计和定制的）进行节点互连；</a:t>
            </a:r>
            <a:endParaRPr lang="en-US" altLang="zh-CN" sz="2000" dirty="0"/>
          </a:p>
          <a:p>
            <a:r>
              <a:rPr lang="zh-CN" altLang="en-US" sz="2000" dirty="0"/>
              <a:t>能扩放至成百上千乃至上万个处理器；</a:t>
            </a:r>
            <a:endParaRPr lang="en-US" altLang="zh-CN" sz="2000" dirty="0"/>
          </a:p>
          <a:p>
            <a:r>
              <a:rPr lang="zh-CN" altLang="en-US" sz="2000" dirty="0"/>
              <a:t>它是一种异步的ＭＩＭＤ机器，程序系由多个进程组成，每个都有其私有地址空间，进程间采用传递消息相互作用；</a:t>
            </a:r>
            <a:endParaRPr lang="en-US" altLang="zh-CN" sz="2000" dirty="0"/>
          </a:p>
          <a:p>
            <a:r>
              <a:rPr lang="zh-CN" altLang="en-US" sz="2000" dirty="0"/>
              <a:t>ＭＰＰ的主要应用是科学计算、工程模拟和信号处理等以计算为主的领域。</a:t>
            </a:r>
            <a:endParaRPr lang="en-US" altLang="zh-CN" sz="2000" dirty="0"/>
          </a:p>
          <a:p>
            <a:r>
              <a:rPr lang="zh-CN" altLang="en-US" sz="2000" dirty="0"/>
              <a:t>例如：</a:t>
            </a:r>
            <a:r>
              <a:rPr lang="en-US" altLang="zh-CN" sz="2000" dirty="0"/>
              <a:t>Intel Paragon</a:t>
            </a:r>
            <a:r>
              <a:rPr lang="zh-CN" altLang="en-US" sz="2000" dirty="0"/>
              <a:t>、</a:t>
            </a:r>
            <a:r>
              <a:rPr lang="en-US" altLang="zh-CN" sz="2000" dirty="0"/>
              <a:t>Cray T3E</a:t>
            </a:r>
            <a:r>
              <a:rPr lang="zh-CN" altLang="en-US" sz="2000" dirty="0"/>
              <a:t>、</a:t>
            </a:r>
            <a:r>
              <a:rPr lang="en-US" altLang="zh-CN" sz="2000" dirty="0" err="1"/>
              <a:t>IntelOption</a:t>
            </a:r>
            <a:r>
              <a:rPr lang="en-US" altLang="zh-CN" sz="2000" dirty="0"/>
              <a:t> Red</a:t>
            </a:r>
            <a:r>
              <a:rPr lang="zh-CN" altLang="en-US" sz="2000" dirty="0"/>
              <a:t>和我国的曙光</a:t>
            </a:r>
            <a:r>
              <a:rPr lang="en-US" altLang="zh-CN" sz="2000" dirty="0"/>
              <a:t>-</a:t>
            </a:r>
            <a:r>
              <a:rPr lang="zh-CN" altLang="en-US" sz="2000" dirty="0"/>
              <a:t>１０００等都是这种类型的机器。</a:t>
            </a:r>
            <a:endParaRPr lang="en-US" altLang="zh-CN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230" y="1810142"/>
            <a:ext cx="4670197" cy="344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37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230" y="561014"/>
            <a:ext cx="9296400" cy="921933"/>
          </a:xfrm>
        </p:spPr>
        <p:txBody>
          <a:bodyPr/>
          <a:lstStyle/>
          <a:p>
            <a:r>
              <a:rPr lang="en-US" altLang="zh-CN" dirty="0"/>
              <a:t>DSM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23"/>
          </p:nvPr>
        </p:nvSpPr>
        <p:spPr>
          <a:xfrm>
            <a:off x="6980245" y="1285844"/>
            <a:ext cx="4617023" cy="5951297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物理上有分布在各节点中的局部存储器，但是对用户而言，系统硬件和软件提供了逻辑上单地址的编程空间。</a:t>
            </a:r>
            <a:endParaRPr lang="en-US" altLang="zh-CN" sz="2000" dirty="0"/>
          </a:p>
          <a:p>
            <a:r>
              <a:rPr lang="zh-CN" altLang="en-US" sz="2000" dirty="0"/>
              <a:t>高速缓存目录</a:t>
            </a:r>
            <a:r>
              <a:rPr lang="en-US" altLang="zh-CN" sz="2000" dirty="0"/>
              <a:t>DIR</a:t>
            </a:r>
            <a:r>
              <a:rPr lang="zh-CN" altLang="en-US" sz="2000" dirty="0"/>
              <a:t>用以支持分布高速缓存的一致性。</a:t>
            </a:r>
            <a:endParaRPr lang="en-US" altLang="zh-CN" sz="2000" dirty="0"/>
          </a:p>
          <a:p>
            <a:r>
              <a:rPr lang="zh-CN" altLang="en-US" sz="2000" dirty="0"/>
              <a:t>ＤＳＭ 相对于 ＭＰＰ的优越性是编程较容易。</a:t>
            </a:r>
            <a:endParaRPr lang="en-US" altLang="zh-CN" sz="2000" dirty="0"/>
          </a:p>
          <a:p>
            <a:r>
              <a:rPr lang="zh-CN" altLang="en-US" sz="2000" dirty="0"/>
              <a:t>例如：</a:t>
            </a:r>
            <a:r>
              <a:rPr lang="en-US" altLang="zh-CN" sz="2000" dirty="0"/>
              <a:t>Stanford DASH</a:t>
            </a:r>
            <a:r>
              <a:rPr lang="zh-CN" altLang="en-US" sz="2000" dirty="0"/>
              <a:t>、</a:t>
            </a:r>
            <a:r>
              <a:rPr lang="en-US" altLang="zh-CN" sz="2000" dirty="0"/>
              <a:t>Cray T3D</a:t>
            </a:r>
            <a:r>
              <a:rPr lang="zh-CN" altLang="en-US" sz="2000" dirty="0"/>
              <a:t>和</a:t>
            </a:r>
            <a:r>
              <a:rPr lang="en-US" altLang="zh-CN" sz="2000" dirty="0"/>
              <a:t>SGI/Cray Origin 2000</a:t>
            </a:r>
            <a:r>
              <a:rPr lang="zh-CN" altLang="en-US" sz="2000" dirty="0"/>
              <a:t>等。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230" y="1737577"/>
            <a:ext cx="5391150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339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230" y="561014"/>
            <a:ext cx="9296400" cy="921933"/>
          </a:xfrm>
        </p:spPr>
        <p:txBody>
          <a:bodyPr/>
          <a:lstStyle/>
          <a:p>
            <a:r>
              <a:rPr lang="en-US" altLang="zh-CN" dirty="0"/>
              <a:t>COW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23"/>
          </p:nvPr>
        </p:nvSpPr>
        <p:spPr>
          <a:xfrm>
            <a:off x="5832087" y="561014"/>
            <a:ext cx="6077413" cy="5928995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zh-CN" altLang="en-US" sz="1800" dirty="0"/>
              <a:t>在有些情况</a:t>
            </a:r>
            <a:r>
              <a:rPr lang="zh-CN" altLang="en-US" sz="1800"/>
              <a:t>下，集群往往</a:t>
            </a:r>
            <a:r>
              <a:rPr lang="zh-CN" altLang="en-US" sz="1800" dirty="0"/>
              <a:t>是低成本的变形的ＭＰＰ</a:t>
            </a:r>
            <a:r>
              <a:rPr lang="en-US" altLang="zh-CN" sz="1800" dirty="0"/>
              <a:t>;</a:t>
            </a:r>
          </a:p>
          <a:p>
            <a:pPr>
              <a:spcBef>
                <a:spcPts val="600"/>
              </a:spcBef>
            </a:pPr>
            <a:r>
              <a:rPr lang="zh-CN" altLang="en-US" sz="1800" dirty="0"/>
              <a:t>ＣＯＷ 的重要界线和特征是：</a:t>
            </a:r>
            <a:endParaRPr lang="en-US" altLang="zh-CN" sz="1800" dirty="0"/>
          </a:p>
          <a:p>
            <a:pPr marL="623888" indent="-266700">
              <a:spcBef>
                <a:spcPts val="600"/>
              </a:spcBef>
              <a:buNone/>
            </a:pPr>
            <a:r>
              <a:rPr lang="zh-CN" altLang="en-US" sz="1800" dirty="0"/>
              <a:t>①ＣＯＷ 的每个节点都是一个完整的工作站（不包括监视器、键盘、鼠标等），这样的节点有时叫作“无头工作站”，一个节点也可以是一台ＰＣ或ＳＭＰ；</a:t>
            </a:r>
            <a:endParaRPr lang="en-US" altLang="zh-CN" sz="1800" dirty="0"/>
          </a:p>
          <a:p>
            <a:pPr marL="623888" indent="-266700">
              <a:spcBef>
                <a:spcPts val="600"/>
              </a:spcBef>
              <a:buNone/>
            </a:pPr>
            <a:r>
              <a:rPr lang="zh-CN" altLang="en-US" sz="1800" dirty="0"/>
              <a:t>②各节点通过一种低成本的商品（标准）网络（如以太网、ＦＤＤＩ和 ＡＴＭ 开关等）互连（有的商用机群也使用定做的网络）；</a:t>
            </a:r>
            <a:endParaRPr lang="en-US" altLang="zh-CN" sz="1800" dirty="0"/>
          </a:p>
          <a:p>
            <a:pPr marL="623888" indent="-266700">
              <a:spcBef>
                <a:spcPts val="600"/>
              </a:spcBef>
              <a:buNone/>
            </a:pPr>
            <a:r>
              <a:rPr lang="zh-CN" altLang="en-US" sz="1800" dirty="0"/>
              <a:t>③各节点内总是有本地磁盘，而 ＭＰＰ节点内却没有；</a:t>
            </a:r>
            <a:endParaRPr lang="en-US" altLang="zh-CN" sz="1800" dirty="0"/>
          </a:p>
          <a:p>
            <a:pPr marL="623888" indent="-266700">
              <a:spcBef>
                <a:spcPts val="600"/>
              </a:spcBef>
              <a:buNone/>
            </a:pPr>
            <a:r>
              <a:rPr lang="zh-CN" altLang="en-US" sz="1800" dirty="0"/>
              <a:t>④节点内的网络接口是松散耦合到Ｉ／Ｏ 总线上的，而 ＭＰＰ内的网络接口是连到处理节点的存储总线上的，因而可谓是紧耦合式的；</a:t>
            </a:r>
            <a:endParaRPr lang="en-US" altLang="zh-CN" sz="1800" dirty="0"/>
          </a:p>
          <a:p>
            <a:pPr marL="623888" indent="-266700">
              <a:spcBef>
                <a:spcPts val="600"/>
              </a:spcBef>
              <a:buNone/>
            </a:pPr>
            <a:r>
              <a:rPr lang="zh-CN" altLang="en-US" sz="1800" dirty="0"/>
              <a:t>⑤一个完整的操作系统驻留在每个节点中，而 ＭＰＰ中通常只是个微核，ＣＯＷ 的操作系统是工作站 ＵＮＩＸ，加上一个附加的软件层以支持单一系统映像、并行度、通信和负载平衡等。</a:t>
            </a:r>
            <a:endParaRPr lang="en-US" altLang="zh-CN" sz="1800" dirty="0"/>
          </a:p>
          <a:p>
            <a:pPr>
              <a:spcBef>
                <a:spcPts val="600"/>
              </a:spcBef>
            </a:pPr>
            <a:r>
              <a:rPr lang="en-US" altLang="zh-CN" sz="1800" dirty="0"/>
              <a:t>Berkeley NOW</a:t>
            </a:r>
            <a:r>
              <a:rPr lang="zh-CN" altLang="en-US" sz="1800" dirty="0"/>
              <a:t>、</a:t>
            </a:r>
            <a:r>
              <a:rPr lang="en-US" altLang="zh-CN" sz="1800" dirty="0"/>
              <a:t>Alpha Farm</a:t>
            </a:r>
            <a:r>
              <a:rPr lang="zh-CN" altLang="en-US" sz="1800" dirty="0"/>
              <a:t>、</a:t>
            </a:r>
            <a:r>
              <a:rPr lang="en-US" altLang="zh-CN" sz="1800" dirty="0"/>
              <a:t>Digital </a:t>
            </a:r>
            <a:r>
              <a:rPr lang="en-US" altLang="zh-CN" sz="1800" dirty="0" err="1"/>
              <a:t>Truclster</a:t>
            </a:r>
            <a:r>
              <a:rPr lang="zh-CN" altLang="en-US" sz="1800" dirty="0"/>
              <a:t>等都是 ＣＯＷ 结构。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24" y="1901457"/>
            <a:ext cx="5119106" cy="3663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616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230" y="561014"/>
            <a:ext cx="9296400" cy="921933"/>
          </a:xfrm>
        </p:spPr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从存储角度来看</a:t>
            </a:r>
            <a:r>
              <a:rPr lang="en-US" altLang="zh-CN" dirty="0"/>
              <a:t>MIMD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23"/>
          </p:nvPr>
        </p:nvSpPr>
        <p:spPr>
          <a:xfrm>
            <a:off x="1403195" y="1664580"/>
            <a:ext cx="9296400" cy="36573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dirty="0"/>
              <a:t>单地址空间共享存储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r>
              <a:rPr lang="zh-CN" altLang="en-US" dirty="0"/>
              <a:t>均匀存储访问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r>
              <a:rPr lang="zh-CN" altLang="en-US" dirty="0"/>
              <a:t>非均匀存储访问</a:t>
            </a:r>
            <a:endParaRPr lang="en-US" altLang="zh-CN" dirty="0"/>
          </a:p>
          <a:p>
            <a:pPr marL="228594" lvl="1">
              <a:buFont typeface="Wingdings" panose="05000000000000000000" pitchFamily="2" charset="2"/>
              <a:buChar char="Ø"/>
            </a:pPr>
            <a:r>
              <a:rPr lang="zh-CN" altLang="en-US" sz="2800" dirty="0"/>
              <a:t>多地址空间非共享存储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108149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23"/>
          </p:nvPr>
        </p:nvSpPr>
        <p:spPr>
          <a:xfrm>
            <a:off x="465253" y="233506"/>
            <a:ext cx="5210718" cy="6401470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zh-CN" altLang="en-US" dirty="0"/>
              <a:t>单地址空间共享存储</a:t>
            </a:r>
            <a:endParaRPr lang="en-US" altLang="zh-CN" dirty="0"/>
          </a:p>
          <a:p>
            <a:pPr marL="0" lvl="1" indent="0">
              <a:buNone/>
            </a:pPr>
            <a:r>
              <a:rPr lang="zh-CN" altLang="en-US" dirty="0"/>
              <a:t>    存储器可以是物理上集中的或者分布的，但是所有存储单元有统一的地址空间，并被所有的处理器所访问。</a:t>
            </a:r>
            <a:endParaRPr lang="en-US" altLang="zh-CN" dirty="0"/>
          </a:p>
          <a:p>
            <a:pPr marL="0" lvl="1" indent="0">
              <a:buNone/>
            </a:pPr>
            <a:endParaRPr lang="en-US" altLang="zh-CN" dirty="0"/>
          </a:p>
        </p:txBody>
      </p:sp>
      <p:sp>
        <p:nvSpPr>
          <p:cNvPr id="6" name="内容占位符 3"/>
          <p:cNvSpPr txBox="1">
            <a:spLocks/>
          </p:cNvSpPr>
          <p:nvPr/>
        </p:nvSpPr>
        <p:spPr>
          <a:xfrm>
            <a:off x="6683917" y="243988"/>
            <a:ext cx="4846444" cy="6390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10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10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10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10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10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  <a:cs typeface="+mn-cs"/>
              </a:defRPr>
            </a:lvl5pPr>
          </a:lstStyle>
          <a:p>
            <a:pPr marL="0" lvl="1" indent="0">
              <a:buNone/>
            </a:pPr>
            <a:r>
              <a:rPr lang="zh-CN" altLang="en-US" dirty="0"/>
              <a:t>多地址空间非共享存储</a:t>
            </a:r>
            <a:endParaRPr lang="en-US" altLang="zh-CN" dirty="0"/>
          </a:p>
          <a:p>
            <a:pPr marL="0" lvl="1" indent="0">
              <a:buNone/>
            </a:pPr>
            <a:r>
              <a:rPr lang="zh-CN" altLang="en-US" dirty="0"/>
              <a:t>    所有的存储器都是私有的、仅能由其处理器所访问。</a:t>
            </a: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351" y="2142361"/>
            <a:ext cx="2820933" cy="197060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6396" y="1839950"/>
            <a:ext cx="3080603" cy="227301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5883" y="4419543"/>
            <a:ext cx="3101628" cy="221983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7351" y="4287886"/>
            <a:ext cx="2787863" cy="2172169"/>
          </a:xfrm>
          <a:prstGeom prst="rect">
            <a:avLst/>
          </a:prstGeom>
        </p:spPr>
      </p:pic>
      <p:sp>
        <p:nvSpPr>
          <p:cNvPr id="11" name="矩形标注 10"/>
          <p:cNvSpPr/>
          <p:nvPr/>
        </p:nvSpPr>
        <p:spPr>
          <a:xfrm>
            <a:off x="4692496" y="2363809"/>
            <a:ext cx="1875573" cy="612648"/>
          </a:xfrm>
          <a:prstGeom prst="wedgeRectCallout">
            <a:avLst>
              <a:gd name="adj1" fmla="val -69202"/>
              <a:gd name="adj2" fmla="val 109824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均匀存储访问</a:t>
            </a:r>
          </a:p>
        </p:txBody>
      </p:sp>
      <p:sp>
        <p:nvSpPr>
          <p:cNvPr id="12" name="矩形标注 11"/>
          <p:cNvSpPr/>
          <p:nvPr/>
        </p:nvSpPr>
        <p:spPr>
          <a:xfrm>
            <a:off x="4692496" y="6022328"/>
            <a:ext cx="1875573" cy="612648"/>
          </a:xfrm>
          <a:prstGeom prst="wedgeRectCallout">
            <a:avLst>
              <a:gd name="adj1" fmla="val -67418"/>
              <a:gd name="adj2" fmla="val -97675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非均匀存储访问</a:t>
            </a:r>
          </a:p>
        </p:txBody>
      </p:sp>
    </p:spTree>
    <p:extLst>
      <p:ext uri="{BB962C8B-B14F-4D97-AF65-F5344CB8AC3E}">
        <p14:creationId xmlns:p14="http://schemas.microsoft.com/office/powerpoint/2010/main" val="4132315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7533" y="304536"/>
            <a:ext cx="9296400" cy="921933"/>
          </a:xfrm>
        </p:spPr>
        <p:txBody>
          <a:bodyPr/>
          <a:lstStyle/>
          <a:p>
            <a:r>
              <a:rPr lang="zh-CN" altLang="en-US" dirty="0"/>
              <a:t>本章组织结构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624" y="1103805"/>
            <a:ext cx="6701883" cy="5622493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8854068" y="6207860"/>
            <a:ext cx="2954655" cy="3597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lnSpc>
                <a:spcPct val="110000"/>
              </a:lnSpc>
            </a:pPr>
            <a:r>
              <a:rPr lang="zh-CN" altLang="en-US" dirty="0"/>
              <a:t>注释：着色部分为自学内容</a:t>
            </a:r>
          </a:p>
        </p:txBody>
      </p:sp>
    </p:spTree>
    <p:extLst>
      <p:ext uri="{BB962C8B-B14F-4D97-AF65-F5344CB8AC3E}">
        <p14:creationId xmlns:p14="http://schemas.microsoft.com/office/powerpoint/2010/main" val="908531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67083" y="9696"/>
            <a:ext cx="7487114" cy="652236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anose="02010609060101010101" pitchFamily="49" charset="-122"/>
              </a:rPr>
              <a:t>二</a:t>
            </a:r>
            <a:r>
              <a:rPr lang="en-US" altLang="zh-CN" dirty="0">
                <a:latin typeface="黑体" panose="02010609060101010101" pitchFamily="49" charset="-122"/>
              </a:rPr>
              <a:t> </a:t>
            </a:r>
            <a:r>
              <a:rPr lang="zh-CN" altLang="en-US" dirty="0">
                <a:latin typeface="黑体" panose="02010609060101010101" pitchFamily="49" charset="-122"/>
              </a:rPr>
              <a:t>多处理机</a:t>
            </a:r>
            <a:r>
              <a:rPr lang="en-US" altLang="zh-CN" dirty="0">
                <a:latin typeface="黑体" panose="02010609060101010101" pitchFamily="49" charset="-122"/>
              </a:rPr>
              <a:t>Cache</a:t>
            </a:r>
            <a:r>
              <a:rPr lang="zh-CN" altLang="en-US" dirty="0">
                <a:latin typeface="黑体" panose="02010609060101010101" pitchFamily="49" charset="-122"/>
              </a:rPr>
              <a:t>一致性</a:t>
            </a:r>
          </a:p>
        </p:txBody>
      </p:sp>
      <p:sp>
        <p:nvSpPr>
          <p:cNvPr id="296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47764" y="932648"/>
            <a:ext cx="10727201" cy="382905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什么是多处理机的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一致性问题</a:t>
            </a:r>
          </a:p>
          <a:p>
            <a:pPr marL="0" lvl="1" indent="628650"/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允许共享数据进入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，就可能出现多个处理器的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中都有同一存储块的副本，当其中某个处理器对其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中的数据进行修改后，就会使得其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中的数据与其他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中的数据不一致。 </a:t>
            </a:r>
          </a:p>
          <a:p>
            <a:pPr marL="1085850" lvl="1" indent="-457200"/>
            <a:endParaRPr lang="en-US" altLang="zh-CN" sz="3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932" y="2666675"/>
            <a:ext cx="6498383" cy="3855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261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27051" y="159833"/>
            <a:ext cx="10067692" cy="6530898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存储器的一致性</a:t>
            </a:r>
          </a:p>
          <a:p>
            <a:pPr marL="700088" lvl="1" indent="-342900"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如果对某个数据项的任何读操作均可得到其最新写入的值，则认为这个存储系统是一致的。</a:t>
            </a:r>
          </a:p>
          <a:p>
            <a:pPr marL="700088" lvl="1" indent="-342900">
              <a:buFont typeface="Wingdings" panose="05000000000000000000" pitchFamily="2" charset="2"/>
              <a:buChar char="p"/>
            </a:pPr>
            <a:r>
              <a:rPr lang="zh-CN" altLang="en-US" sz="2100" dirty="0">
                <a:latin typeface="宋体" panose="02010600030101010101" pitchFamily="2" charset="-122"/>
                <a:ea typeface="宋体" panose="02010600030101010101" pitchFamily="2" charset="-122"/>
              </a:rPr>
              <a:t>存储系统行为的两个不同方面：</a:t>
            </a:r>
          </a:p>
          <a:p>
            <a:pPr marL="1423988" lvl="2" indent="-342900" eaLnBrk="1" hangingPunct="1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What: 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读操作得到的是什么值</a:t>
            </a:r>
          </a:p>
          <a:p>
            <a:pPr marL="1423988" lvl="2" indent="-342900" eaLnBrk="1" hangingPunct="1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When: 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什么时候才能将已写入的值返回给读操作</a:t>
            </a:r>
          </a:p>
          <a:p>
            <a:pPr marL="700088" lvl="1" indent="-342900">
              <a:buFont typeface="Wingdings" panose="05000000000000000000" pitchFamily="2" charset="2"/>
              <a:buChar char="p"/>
            </a:pPr>
            <a:r>
              <a:rPr lang="zh-CN" altLang="en-US" sz="2100" dirty="0">
                <a:latin typeface="宋体" panose="02010600030101010101" pitchFamily="2" charset="-122"/>
                <a:ea typeface="宋体" panose="02010600030101010101" pitchFamily="2" charset="-122"/>
              </a:rPr>
              <a:t>若满足如下条件，称存储器是一致的</a:t>
            </a:r>
          </a:p>
          <a:p>
            <a:pPr marL="1423988" lvl="2" indent="-342900">
              <a:buFont typeface="Arial" panose="020B0604020202020204" pitchFamily="34" charset="0"/>
              <a:buChar char="•"/>
            </a:pPr>
            <a:r>
              <a:rPr lang="zh-CN" altLang="en-US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处理器</a:t>
            </a:r>
            <a:r>
              <a:rPr lang="en-US" altLang="zh-CN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对单元</a:t>
            </a:r>
            <a:r>
              <a:rPr lang="en-US" altLang="zh-CN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进行一次写之后又对单元</a:t>
            </a:r>
            <a:r>
              <a:rPr lang="en-US" altLang="zh-CN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进行读，读和写之间没有其他处理器对单元</a:t>
            </a:r>
            <a:r>
              <a:rPr lang="en-US" altLang="zh-CN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进行写，则</a:t>
            </a:r>
            <a:r>
              <a:rPr lang="en-US" altLang="zh-CN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读到的值总是前面写进去的值。 </a:t>
            </a:r>
            <a:endParaRPr lang="en-US" altLang="zh-CN" sz="21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423988" lvl="2" indent="-342900">
              <a:buFont typeface="Arial" panose="020B0604020202020204" pitchFamily="34" charset="0"/>
              <a:buChar char="•"/>
            </a:pPr>
            <a:r>
              <a:rPr lang="zh-CN" altLang="en-US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处理器</a:t>
            </a:r>
            <a:r>
              <a:rPr lang="en-US" altLang="zh-CN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对单元</a:t>
            </a:r>
            <a:r>
              <a:rPr lang="en-US" altLang="zh-CN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进行写之后，另一处理器</a:t>
            </a:r>
            <a:r>
              <a:rPr lang="en-US" altLang="zh-CN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</a:t>
            </a:r>
            <a:r>
              <a:rPr lang="zh-CN" altLang="en-US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对单元</a:t>
            </a:r>
            <a:r>
              <a:rPr lang="en-US" altLang="zh-CN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进行读，读和写之间无其他写，则</a:t>
            </a:r>
            <a:r>
              <a:rPr lang="en-US" altLang="zh-CN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</a:t>
            </a:r>
            <a:r>
              <a:rPr lang="zh-CN" altLang="en-US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读到的值应为</a:t>
            </a:r>
            <a:r>
              <a:rPr lang="en-US" altLang="zh-CN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写进去的值。</a:t>
            </a:r>
          </a:p>
          <a:p>
            <a:pPr marL="1423988" lvl="2" indent="-342900">
              <a:buFont typeface="Arial" panose="020B0604020202020204" pitchFamily="34" charset="0"/>
              <a:buChar char="•"/>
            </a:pPr>
            <a:r>
              <a:rPr lang="zh-CN" altLang="en-US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对同一单元的写是串行化的，即任意两个处理器对同一单元的两次写，从各个处理器的角度看来顺序都是相同的。</a:t>
            </a:r>
            <a:r>
              <a:rPr lang="en-US" altLang="zh-CN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写串行化 </a:t>
            </a:r>
            <a:r>
              <a:rPr lang="en-US" altLang="zh-CN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 marL="714375" lvl="2" indent="546100" eaLnBrk="1" hangingPunct="1"/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88934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827051" y="847493"/>
            <a:ext cx="10067692" cy="5843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</a:lstStyle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存储器的一致性</a:t>
            </a:r>
          </a:p>
          <a:p>
            <a:pPr marL="700088" lvl="1" indent="-342900">
              <a:buFont typeface="Wingdings" panose="05000000000000000000" pitchFamily="2" charset="2"/>
              <a:buChar char="p"/>
            </a:pPr>
            <a:r>
              <a:rPr lang="zh-CN" altLang="en-US" sz="2100" dirty="0">
                <a:latin typeface="宋体" panose="02010600030101010101" pitchFamily="2" charset="-122"/>
                <a:ea typeface="宋体" panose="02010600030101010101" pitchFamily="2" charset="-122"/>
              </a:rPr>
              <a:t>在后面的讨论中，我们</a:t>
            </a:r>
            <a:r>
              <a:rPr lang="zh-CN" altLang="en-US" sz="2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假设</a:t>
            </a:r>
            <a:r>
              <a:rPr lang="zh-CN" altLang="en-US" sz="21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</a:p>
          <a:p>
            <a:pPr marL="1423988" lvl="2" indent="-342900">
              <a:buFont typeface="Arial" panose="020B0604020202020204" pitchFamily="34" charset="0"/>
              <a:buChar char="•"/>
            </a:pPr>
            <a:r>
              <a:rPr lang="zh-CN" altLang="en-US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直到所有的处理器均看到了写的结果，这个写操作才算完成；</a:t>
            </a:r>
          </a:p>
          <a:p>
            <a:pPr marL="1423988" lvl="2" indent="-342900">
              <a:buFont typeface="Arial" panose="020B0604020202020204" pitchFamily="34" charset="0"/>
              <a:buChar char="•"/>
            </a:pPr>
            <a:r>
              <a:rPr lang="zh-CN" altLang="en-US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处理器的任何访存均不能改变写的顺序。就是说，允许处理器对读进行重排序，但必须以程序规定的顺序进行写。 </a:t>
            </a:r>
          </a:p>
          <a:p>
            <a:pPr marL="714375" lvl="2" indent="546100"/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7995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0141" y="555665"/>
            <a:ext cx="10736766" cy="4256087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在一致的多处理机中，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提供两种功能：</a:t>
            </a:r>
          </a:p>
          <a:p>
            <a:pPr marL="700088" lvl="1" indent="-342900"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共享数据的迁移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减少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了对远程共享数据的访问延迟，也减少了对共享存储器带宽的要求。</a:t>
            </a:r>
          </a:p>
          <a:p>
            <a:pPr marL="700088" lvl="1" indent="-342900"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共享数据的复制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不仅减少了访问共享数据的延迟，也减少了访问共享数据所产生的冲突。</a:t>
            </a:r>
          </a:p>
          <a:p>
            <a:pPr marL="457200" indent="-457200"/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endParaRPr lang="en-US" altLang="zh-CN" sz="20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/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一般情况下，小规模多处理机是采用硬件的方法来实现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的一致性。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75720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80946" y="211874"/>
            <a:ext cx="10415239" cy="6278136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一致性协议</a:t>
            </a:r>
          </a:p>
          <a:p>
            <a:pPr marL="1085850" lvl="1" indent="-457200"/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在多个处理器中用来维护一致性的协议。</a:t>
            </a:r>
          </a:p>
          <a:p>
            <a:pPr marL="700088" lvl="1" indent="-342900"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关键：跟踪记录共享数据块的状态 </a:t>
            </a:r>
          </a:p>
          <a:p>
            <a:pPr marL="700088" lvl="1" indent="-342900"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两类协议（采用不同的技术跟踪共享数据的状态）</a:t>
            </a:r>
          </a:p>
          <a:p>
            <a:pPr marL="1423988" lvl="2" indent="-342900">
              <a:buFont typeface="Arial" panose="020B0604020202020204" pitchFamily="34" charset="0"/>
              <a:buChar char="•"/>
            </a:pPr>
            <a:r>
              <a:rPr lang="zh-CN" altLang="en-US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目录式协议（</a:t>
            </a:r>
            <a:r>
              <a:rPr lang="en-US" altLang="zh-CN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directory</a:t>
            </a:r>
            <a:r>
              <a:rPr lang="zh-CN" altLang="en-US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  <a:p>
            <a:pPr marL="2063750" lvl="3" indent="-268288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物理存储器中数据块的共享状态被保存在一个称为目录的地方。</a:t>
            </a:r>
          </a:p>
          <a:p>
            <a:pPr marL="1423988" lvl="2" indent="-342900">
              <a:buFont typeface="Arial" panose="020B0604020202020204" pitchFamily="34" charset="0"/>
              <a:buChar char="•"/>
            </a:pPr>
            <a:r>
              <a:rPr lang="zh-CN" altLang="en-US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监听式协议（</a:t>
            </a:r>
            <a:r>
              <a:rPr lang="en-US" altLang="zh-CN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snooping</a:t>
            </a:r>
            <a:r>
              <a:rPr lang="zh-CN" altLang="en-US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  <a:p>
            <a:pPr marL="2063750" lvl="3" indent="-268288" eaLnBrk="1" hangingPunct="1">
              <a:buFont typeface="Wingdings" panose="05000000000000000000" pitchFamily="2" charset="2"/>
              <a:buChar char="ü"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每个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除了包含物理存储器中块的数据拷贝之外，也保存着各个块的共享状态信息。</a:t>
            </a:r>
            <a:endParaRPr lang="en-US" altLang="zh-CN" sz="2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063750" lvl="3" indent="-268288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通常连在共享存储器的总线上，当某个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需要访问存储器时，它会把请求放到总线上广播出去，其他各个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控制器通过监听总线（它们一直在监听）来判断它们是否有总线上请求的数据块。如果有，就进行相应的操作。 </a:t>
            </a:r>
          </a:p>
          <a:p>
            <a:pPr lvl="3" eaLnBrk="1" hangingPunct="1"/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797742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51"/>
          <p:cNvSpPr txBox="1">
            <a:spLocks noChangeArrowheads="1"/>
          </p:cNvSpPr>
          <p:nvPr/>
        </p:nvSpPr>
        <p:spPr bwMode="auto">
          <a:xfrm>
            <a:off x="1605776" y="1817583"/>
            <a:ext cx="10158760" cy="129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例 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监听总线、写作废协议举例（采用写直达法）   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初始状态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CPU A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CPU B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CPU C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都有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的副本。在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CPU A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要对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进行写入时，需先作废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CPU B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CPU C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中的副本，然后再将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写入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 A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中的副本，同时用该数据更新主存单元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 </a:t>
            </a:r>
          </a:p>
        </p:txBody>
      </p:sp>
      <p:sp>
        <p:nvSpPr>
          <p:cNvPr id="2" name="矩形 1"/>
          <p:cNvSpPr/>
          <p:nvPr/>
        </p:nvSpPr>
        <p:spPr>
          <a:xfrm>
            <a:off x="692215" y="126490"/>
            <a:ext cx="9957200" cy="14763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采用两种方法保持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一致性。 </a:t>
            </a:r>
          </a:p>
          <a:p>
            <a:pPr marL="700088" lvl="1" indent="-342900" defTabSz="914377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写作废协议 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在处理器对某个数据项进行写入之前，保证它拥有对该数据项的唯一的访问权。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作废其他的副本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)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901" y="3325036"/>
            <a:ext cx="7339181" cy="313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8057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759560" y="153214"/>
            <a:ext cx="10347054" cy="939606"/>
          </a:xfrm>
        </p:spPr>
        <p:txBody>
          <a:bodyPr>
            <a:normAutofit/>
          </a:bodyPr>
          <a:lstStyle/>
          <a:p>
            <a:pPr marL="700088" lvl="1" indent="-342900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写更新协议：当一个处理器对某数据项进行写入时，通过广播使其他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中所有对应于该数据项的副本进行更新。</a:t>
            </a:r>
          </a:p>
          <a:p>
            <a:pPr marL="457200" indent="-457200">
              <a:buNone/>
            </a:pP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083" y="3040946"/>
            <a:ext cx="7381625" cy="3605181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989115" y="992459"/>
            <a:ext cx="911749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例 监听总线、写更新协议举例（采用写直达法）</a:t>
            </a:r>
          </a:p>
          <a:p>
            <a:pPr>
              <a:spcBef>
                <a:spcPts val="1200"/>
              </a:spcBef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假设：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都有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的副本。</a:t>
            </a:r>
          </a:p>
          <a:p>
            <a:pPr>
              <a:spcBef>
                <a:spcPts val="1200"/>
              </a:spcBef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CPU A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将数据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写入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Cache A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中的副本时，将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广播给所有的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，这些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用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更新其中的副本。由于这里是采用写直达法，所以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CPU A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还要将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写入存储器中的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。如果采用写回法，则不需要写入存储器。 </a:t>
            </a:r>
          </a:p>
        </p:txBody>
      </p:sp>
    </p:spTree>
    <p:extLst>
      <p:ext uri="{BB962C8B-B14F-4D97-AF65-F5344CB8AC3E}">
        <p14:creationId xmlns:p14="http://schemas.microsoft.com/office/powerpoint/2010/main" val="1200753942"/>
      </p:ext>
    </p:extLst>
  </p:cSld>
  <p:clrMapOvr>
    <a:masterClrMapping/>
  </p:clrMapOvr>
  <p:transition>
    <p:pull dir="r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13730" y="739697"/>
            <a:ext cx="10838212" cy="4953000"/>
          </a:xfrm>
        </p:spPr>
        <p:txBody>
          <a:bodyPr>
            <a:noAutofit/>
          </a:bodyPr>
          <a:lstStyle/>
          <a:p>
            <a:pPr marL="700088" lvl="1" indent="-342900"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写更新和写作废协议性能上的差别主要来自：</a:t>
            </a:r>
          </a:p>
          <a:p>
            <a:pPr marL="1260475" lvl="2" indent="-279400" eaLnBrk="1" hangingPunct="1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在对同一个数据进行多次写操作而中间无读操作的情况下，写更新协议需进行多次写广播操作，而写作废协议只需一次作废操作。</a:t>
            </a:r>
          </a:p>
          <a:p>
            <a:pPr marL="1260475" lvl="2" indent="-279400" eaLnBrk="1" hangingPunct="1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在对同一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块的多个字进行写操作的情况下，写更新协议对于每一个写操作都要进行一次广播，而写作废协议仅在对该块的第一次写时进行作废操作即可。</a:t>
            </a:r>
          </a:p>
          <a:p>
            <a:pPr marL="981075" lvl="2" eaLnBrk="1" hangingPunct="1"/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写作废是针对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块进行操作，而写更新则是针对字（或字节）进行。</a:t>
            </a:r>
          </a:p>
          <a:p>
            <a:pPr marL="1260475" lvl="2" indent="-279400" eaLnBrk="1" hangingPunct="1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考虑从一个处理器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进行写操作后到另一个处理器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能读到该写入数据之间的延迟时间。</a:t>
            </a:r>
          </a:p>
          <a:p>
            <a:pPr marL="981075" lvl="3" eaLnBrk="1" hangingPunct="1"/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写更新协议的延迟时间较小。</a:t>
            </a:r>
          </a:p>
        </p:txBody>
      </p:sp>
    </p:spTree>
    <p:extLst>
      <p:ext uri="{BB962C8B-B14F-4D97-AF65-F5344CB8AC3E}">
        <p14:creationId xmlns:p14="http://schemas.microsoft.com/office/powerpoint/2010/main" val="8228897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2438" y="1144008"/>
            <a:ext cx="10582235" cy="5346002"/>
          </a:xfrm>
        </p:spPr>
        <p:txBody>
          <a:bodyPr/>
          <a:lstStyle/>
          <a:p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1.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监听协议的基本实现技术</a:t>
            </a:r>
          </a:p>
          <a:p>
            <a:pPr marL="1085850" lvl="1" indent="-4572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实现监听协议的</a:t>
            </a:r>
            <a:r>
              <a:rPr lang="zh-CN" altLang="en-US" sz="2000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有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个方面</a:t>
            </a:r>
          </a:p>
          <a:p>
            <a:pPr marL="1527175" lvl="1" indent="-366713"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处理器之间通过一个可以实现广播的互连机制相连。</a:t>
            </a:r>
          </a:p>
          <a:p>
            <a:pPr marL="1527175" lvl="2" indent="-366713"/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通常采用的是总线。</a:t>
            </a:r>
          </a:p>
          <a:p>
            <a:pPr marL="1527175" lvl="1" indent="-366713"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当一个处理器的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响应本地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的访问时，如果它涉及全局操作，其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控制器就要在获得总线的控制权后，在总线上发出相应的消息。</a:t>
            </a:r>
          </a:p>
          <a:p>
            <a:pPr marL="1527175" lvl="1" indent="-366713"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所有处理器都一直在监听总线，它们检测总线上的地址在它们的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中是否有副本。若有，则响应该消息，并进行相应的操作。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085850" lvl="1" indent="-4572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写操作的串行化：由总线实现</a:t>
            </a:r>
          </a:p>
          <a:p>
            <a:pPr lvl="2">
              <a:lnSpc>
                <a:spcPct val="110000"/>
              </a:lnSpc>
            </a:pPr>
            <a:r>
              <a:rPr lang="zh-CN" altLang="en-US" sz="2000" dirty="0"/>
              <a:t> 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（获取总线控制权的顺序性）</a:t>
            </a:r>
          </a:p>
          <a:p>
            <a:pPr marL="1527175" lvl="1" indent="-366713">
              <a:buFont typeface="Wingdings" panose="05000000000000000000" pitchFamily="2" charset="2"/>
              <a:buChar char="p"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0964" name="Text Box 4"/>
          <p:cNvSpPr txBox="1">
            <a:spLocks noChangeArrowheads="1"/>
          </p:cNvSpPr>
          <p:nvPr/>
        </p:nvSpPr>
        <p:spPr bwMode="auto">
          <a:xfrm>
            <a:off x="457473" y="255511"/>
            <a:ext cx="68405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2.1 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监听协议的实现</a:t>
            </a:r>
          </a:p>
        </p:txBody>
      </p:sp>
    </p:spTree>
    <p:extLst>
      <p:ext uri="{BB962C8B-B14F-4D97-AF65-F5344CB8AC3E}">
        <p14:creationId xmlns:p14="http://schemas.microsoft.com/office/powerpoint/2010/main" val="12315931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19102" y="615875"/>
            <a:ext cx="10152255" cy="5796076"/>
          </a:xfrm>
        </p:spPr>
        <p:txBody>
          <a:bodyPr>
            <a:noAutofit/>
          </a:bodyPr>
          <a:lstStyle/>
          <a:p>
            <a:pPr marL="457200" indent="-457200">
              <a:lnSpc>
                <a:spcPct val="110000"/>
              </a:lnSpc>
              <a:buFont typeface="Wingdings" panose="05000000000000000000" pitchFamily="2" charset="2"/>
              <a:buAutoNum type="arabicPeriod" startAt="2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发送到总线上的消息主要有以下两种：</a:t>
            </a:r>
          </a:p>
          <a:p>
            <a:pPr marL="1527175" lvl="1" indent="-366713"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RdMiss——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读不命中</a:t>
            </a:r>
          </a:p>
          <a:p>
            <a:pPr marL="1527175" lvl="1" indent="-366713"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WtMiss——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写不命中 </a:t>
            </a:r>
          </a:p>
          <a:p>
            <a:pPr marL="1085850" lvl="1" indent="-4572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需要通过总线找到相应数据块的最新副本，然后调入本地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中。</a:t>
            </a:r>
          </a:p>
          <a:p>
            <a:pPr marL="1527175" lvl="1" indent="-366713"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写直达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：因为所有写入的数据都同时被写回主存，所以从主存中总可以取到其最新值。</a:t>
            </a:r>
          </a:p>
          <a:p>
            <a:pPr marL="1527175" lvl="1" indent="-366713"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对于写回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，得到数据的最新值会困难一些，因为最新值可能在某个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中，也可能在主存中。</a:t>
            </a:r>
          </a:p>
          <a:p>
            <a:pPr marL="1160462" lvl="1"/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（后面的讨论中，只考虑写回法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） </a:t>
            </a:r>
          </a:p>
        </p:txBody>
      </p:sp>
    </p:spTree>
    <p:extLst>
      <p:ext uri="{BB962C8B-B14F-4D97-AF65-F5344CB8AC3E}">
        <p14:creationId xmlns:p14="http://schemas.microsoft.com/office/powerpoint/2010/main" val="21019465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98603" y="693933"/>
            <a:ext cx="10319524" cy="5550750"/>
          </a:xfrm>
        </p:spPr>
        <p:txBody>
          <a:bodyPr>
            <a:normAutofit/>
          </a:bodyPr>
          <a:lstStyle/>
          <a:p>
            <a:pPr marL="1085850" lvl="1" indent="-4572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有的监听协议还增设了一条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Invalidate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消息，用来通知其他各处理器作废其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中相应的副本。</a:t>
            </a:r>
          </a:p>
          <a:p>
            <a:pPr marL="1527175" lvl="1" indent="-366713"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WtMiss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的区别：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Invalidate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不引起调块</a:t>
            </a:r>
          </a:p>
          <a:p>
            <a:pPr marL="1085850" lvl="1" indent="-4572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的标识（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tag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）可直接用来实现监听。</a:t>
            </a:r>
          </a:p>
          <a:p>
            <a:pPr marL="1085850" lvl="1" indent="-4572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作废一个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块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只需将其有效位置为无效。</a:t>
            </a:r>
          </a:p>
          <a:p>
            <a:pPr marL="1085850" lvl="1" indent="-4572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给每个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块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增设一个共享位</a:t>
            </a:r>
          </a:p>
          <a:p>
            <a:pPr marL="1527175" lvl="1" indent="-366713"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为“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1”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：该块是被多个处理器所共享</a:t>
            </a:r>
          </a:p>
          <a:p>
            <a:pPr marL="1527175" lvl="1" indent="-366713"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为“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0”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：仅被某个处理器所独占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块的拥有者：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拥有该数据块的唯一副本的处理器。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zh-CN" altLang="en-US" dirty="0">
              <a:latin typeface="Times New Roman" panose="02020603050405020304" pitchFamily="18" charset="0"/>
            </a:endParaRPr>
          </a:p>
          <a:p>
            <a:pPr lvl="1"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086205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46380" y="0"/>
            <a:ext cx="9884626" cy="6858000"/>
          </a:xfrm>
        </p:spPr>
        <p:txBody>
          <a:bodyPr>
            <a:normAutofit lnSpcReduction="10000"/>
          </a:bodyPr>
          <a:lstStyle/>
          <a:p>
            <a:pPr marL="457200" indent="-457200">
              <a:lnSpc>
                <a:spcPct val="110000"/>
              </a:lnSpc>
              <a:buFont typeface="Wingdings" panose="05000000000000000000" pitchFamily="2" charset="2"/>
              <a:buAutoNum type="arabicPeriod" startAt="3"/>
            </a:pPr>
            <a:r>
              <a:rPr lang="zh-CN" altLang="sv-SE" sz="2400" dirty="0">
                <a:latin typeface="宋体" panose="02010600030101010101" pitchFamily="2" charset="-122"/>
                <a:ea typeface="宋体" panose="02010600030101010101" pitchFamily="2" charset="-122"/>
              </a:rPr>
              <a:t>监听协议举例 </a:t>
            </a:r>
          </a:p>
          <a:p>
            <a:pPr marL="1085850" lvl="1" indent="-4572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在每个结点内嵌入一个有限状态控制器。</a:t>
            </a:r>
          </a:p>
          <a:p>
            <a:pPr marL="1527175" lvl="1" indent="-366713"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该控制器根据来自处理器或总线的请求以及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块的状态，做出相应的响应。</a:t>
            </a:r>
          </a:p>
          <a:p>
            <a:pPr marL="1085850" lvl="1" indent="-4572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每个数据块的状态取以下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种状态中的一种：</a:t>
            </a:r>
          </a:p>
          <a:p>
            <a:pPr marL="1527175" lvl="1" indent="-366713"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无效（简称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）：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中该块的内容为无效。 </a:t>
            </a:r>
          </a:p>
          <a:p>
            <a:pPr marL="1527175" lvl="1" indent="-366713"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共享（简称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）：该块可能处于共享状态。</a:t>
            </a:r>
          </a:p>
          <a:p>
            <a:pPr marL="1971675" lvl="3" indent="-266700" eaLnBrk="1" hangingPunct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在多个处理器中都有副本。这些副本都相同，且与存储器中相应的块相同。 </a:t>
            </a:r>
          </a:p>
          <a:p>
            <a:pPr marL="1527175" lvl="1" indent="-366713"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已修改（简称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）：该块已经被修改过，并且还没写入存储器。</a:t>
            </a:r>
          </a:p>
          <a:p>
            <a:pPr marL="1160462" lvl="1"/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（块中的内容是最新的，系统中唯一的最新副本）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085850" lvl="1" indent="-4572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前提</a:t>
            </a:r>
          </a:p>
          <a:p>
            <a:pPr marL="1527175" lvl="1" indent="-366713"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写作废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527175" lvl="1" indent="-366713"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写回法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527175" lvl="1" indent="-366713"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原子操作</a:t>
            </a:r>
          </a:p>
          <a:p>
            <a:pPr marL="1160462" lvl="1"/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标注 1"/>
          <p:cNvSpPr/>
          <p:nvPr/>
        </p:nvSpPr>
        <p:spPr>
          <a:xfrm>
            <a:off x="9505586" y="4092498"/>
            <a:ext cx="2450840" cy="778930"/>
          </a:xfrm>
          <a:prstGeom prst="wedgeRectCallout">
            <a:avLst>
              <a:gd name="adj1" fmla="val -59608"/>
              <a:gd name="adj2" fmla="val -2934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“已修改” 隐含表明该块是独占的（</a:t>
            </a:r>
            <a:r>
              <a:rPr lang="en-US" altLang="zh-CN" dirty="0">
                <a:solidFill>
                  <a:schemeClr val="tx1"/>
                </a:solidFill>
              </a:rPr>
              <a:t>exclusive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1812316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组合 46"/>
          <p:cNvGrpSpPr/>
          <p:nvPr/>
        </p:nvGrpSpPr>
        <p:grpSpPr>
          <a:xfrm>
            <a:off x="329697" y="1524922"/>
            <a:ext cx="5026301" cy="3447175"/>
            <a:chOff x="329697" y="1497632"/>
            <a:chExt cx="6858000" cy="4625054"/>
          </a:xfrm>
        </p:grpSpPr>
        <p:sp>
          <p:nvSpPr>
            <p:cNvPr id="5" name="Line 4"/>
            <p:cNvSpPr>
              <a:spLocks noChangeShapeType="1"/>
            </p:cNvSpPr>
            <p:nvPr/>
          </p:nvSpPr>
          <p:spPr bwMode="auto">
            <a:xfrm>
              <a:off x="1853697" y="2716039"/>
              <a:ext cx="0" cy="6191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" name="Oval 5"/>
            <p:cNvSpPr>
              <a:spLocks noChangeArrowheads="1"/>
            </p:cNvSpPr>
            <p:nvPr/>
          </p:nvSpPr>
          <p:spPr bwMode="auto">
            <a:xfrm>
              <a:off x="1506035" y="2073102"/>
              <a:ext cx="685800" cy="685800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rgbClr val="080808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AutoNum type="arabicPeriod"/>
                <a:defRPr kumimoji="1" sz="2600">
                  <a:solidFill>
                    <a:srgbClr val="E24C05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90000"/>
                <a:buFont typeface="Wingdings" panose="05000000000000000000" pitchFamily="2" charset="2"/>
                <a:buChar char="Ø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q"/>
                <a:defRPr kumimoji="1" sz="2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zh-CN" sz="24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1320297" y="3325639"/>
              <a:ext cx="1066800" cy="1143000"/>
            </a:xfrm>
            <a:prstGeom prst="rect">
              <a:avLst/>
            </a:prstGeom>
            <a:solidFill>
              <a:srgbClr val="FDE19B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AutoNum type="arabicPeriod"/>
                <a:defRPr kumimoji="1" sz="2600">
                  <a:solidFill>
                    <a:srgbClr val="E24C05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90000"/>
                <a:buFont typeface="Wingdings" panose="05000000000000000000" pitchFamily="2" charset="2"/>
                <a:buChar char="Ø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q"/>
                <a:defRPr kumimoji="1" sz="2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zh-CN" sz="24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1515561" y="2223914"/>
              <a:ext cx="762000" cy="4129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AutoNum type="arabicPeriod"/>
                <a:defRPr kumimoji="1" sz="2600">
                  <a:solidFill>
                    <a:srgbClr val="E24C05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90000"/>
                <a:buFont typeface="Wingdings" panose="05000000000000000000" pitchFamily="2" charset="2"/>
                <a:buChar char="Ø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q"/>
                <a:defRPr kumimoji="1" sz="2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400" dirty="0">
                  <a:solidFill>
                    <a:schemeClr val="tx1"/>
                  </a:solidFill>
                  <a:ea typeface="宋体" panose="02010600030101010101" pitchFamily="2" charset="-122"/>
                </a:rPr>
                <a:t>CPU</a:t>
              </a:r>
            </a:p>
          </p:txBody>
        </p: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405897" y="3843164"/>
              <a:ext cx="1066800" cy="4129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AutoNum type="arabicPeriod"/>
                <a:defRPr kumimoji="1" sz="2600">
                  <a:solidFill>
                    <a:srgbClr val="E24C05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90000"/>
                <a:buFont typeface="Wingdings" panose="05000000000000000000" pitchFamily="2" charset="2"/>
                <a:buChar char="Ø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q"/>
                <a:defRPr kumimoji="1" sz="2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400" dirty="0">
                  <a:solidFill>
                    <a:schemeClr val="tx1"/>
                  </a:solidFill>
                  <a:ea typeface="宋体" panose="02010600030101010101" pitchFamily="2" charset="-122"/>
                </a:rPr>
                <a:t>Cache</a:t>
              </a: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1620335" y="1586534"/>
              <a:ext cx="457200" cy="3968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AutoNum type="arabicPeriod"/>
                <a:defRPr kumimoji="1" sz="2600">
                  <a:solidFill>
                    <a:srgbClr val="E24C05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90000"/>
                <a:buFont typeface="Wingdings" panose="05000000000000000000" pitchFamily="2" charset="2"/>
                <a:buChar char="Ø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q"/>
                <a:defRPr kumimoji="1" sz="2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P</a:t>
              </a:r>
            </a:p>
          </p:txBody>
        </p:sp>
        <p:sp>
          <p:nvSpPr>
            <p:cNvPr id="11" name="Rectangle 12"/>
            <p:cNvSpPr>
              <a:spLocks noChangeArrowheads="1"/>
            </p:cNvSpPr>
            <p:nvPr/>
          </p:nvSpPr>
          <p:spPr bwMode="auto">
            <a:xfrm>
              <a:off x="4977897" y="3306589"/>
              <a:ext cx="1066800" cy="1143000"/>
            </a:xfrm>
            <a:prstGeom prst="rect">
              <a:avLst/>
            </a:prstGeom>
            <a:solidFill>
              <a:srgbClr val="FDE19B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AutoNum type="arabicPeriod"/>
                <a:defRPr kumimoji="1" sz="2600">
                  <a:solidFill>
                    <a:srgbClr val="E24C05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90000"/>
                <a:buFont typeface="Wingdings" panose="05000000000000000000" pitchFamily="2" charset="2"/>
                <a:buChar char="Ø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q"/>
                <a:defRPr kumimoji="1" sz="2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zh-CN" sz="24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" name="Text Box 13"/>
            <p:cNvSpPr txBox="1">
              <a:spLocks noChangeArrowheads="1"/>
            </p:cNvSpPr>
            <p:nvPr/>
          </p:nvSpPr>
          <p:spPr bwMode="auto">
            <a:xfrm>
              <a:off x="4063497" y="3859039"/>
              <a:ext cx="1066800" cy="4129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AutoNum type="arabicPeriod"/>
                <a:defRPr kumimoji="1" sz="2600">
                  <a:solidFill>
                    <a:srgbClr val="E24C05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90000"/>
                <a:buFont typeface="Wingdings" panose="05000000000000000000" pitchFamily="2" charset="2"/>
                <a:buChar char="Ø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q"/>
                <a:defRPr kumimoji="1" sz="2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400" dirty="0">
                  <a:solidFill>
                    <a:schemeClr val="tx1"/>
                  </a:solidFill>
                  <a:ea typeface="宋体" panose="02010600030101010101" pitchFamily="2" charset="-122"/>
                </a:rPr>
                <a:t>Cache</a:t>
              </a:r>
            </a:p>
          </p:txBody>
        </p:sp>
        <p:sp>
          <p:nvSpPr>
            <p:cNvPr id="13" name="Oval 30"/>
            <p:cNvSpPr>
              <a:spLocks noChangeArrowheads="1"/>
            </p:cNvSpPr>
            <p:nvPr/>
          </p:nvSpPr>
          <p:spPr bwMode="auto">
            <a:xfrm>
              <a:off x="5168397" y="1996902"/>
              <a:ext cx="685800" cy="685800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rgbClr val="080808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AutoNum type="arabicPeriod"/>
                <a:defRPr kumimoji="1" sz="2600">
                  <a:solidFill>
                    <a:srgbClr val="E24C05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90000"/>
                <a:buFont typeface="Wingdings" panose="05000000000000000000" pitchFamily="2" charset="2"/>
                <a:buChar char="Ø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q"/>
                <a:defRPr kumimoji="1" sz="2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zh-CN" sz="24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" name="Text Box 31"/>
            <p:cNvSpPr txBox="1">
              <a:spLocks noChangeArrowheads="1"/>
            </p:cNvSpPr>
            <p:nvPr/>
          </p:nvSpPr>
          <p:spPr bwMode="auto">
            <a:xfrm>
              <a:off x="5177921" y="2147714"/>
              <a:ext cx="762000" cy="4129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AutoNum type="arabicPeriod"/>
                <a:defRPr kumimoji="1" sz="2600">
                  <a:solidFill>
                    <a:srgbClr val="E24C05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90000"/>
                <a:buFont typeface="Wingdings" panose="05000000000000000000" pitchFamily="2" charset="2"/>
                <a:buChar char="Ø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q"/>
                <a:defRPr kumimoji="1" sz="2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400" dirty="0">
                  <a:solidFill>
                    <a:schemeClr val="tx1"/>
                  </a:solidFill>
                  <a:ea typeface="宋体" panose="02010600030101010101" pitchFamily="2" charset="-122"/>
                </a:rPr>
                <a:t>CPU</a:t>
              </a:r>
            </a:p>
          </p:txBody>
        </p:sp>
        <p:sp>
          <p:nvSpPr>
            <p:cNvPr id="15" name="Text Box 32"/>
            <p:cNvSpPr txBox="1">
              <a:spLocks noChangeArrowheads="1"/>
            </p:cNvSpPr>
            <p:nvPr/>
          </p:nvSpPr>
          <p:spPr bwMode="auto">
            <a:xfrm>
              <a:off x="5193017" y="1497632"/>
              <a:ext cx="457200" cy="3968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AutoNum type="arabicPeriod"/>
                <a:defRPr kumimoji="1" sz="2600">
                  <a:solidFill>
                    <a:srgbClr val="E24C05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90000"/>
                <a:buFont typeface="Wingdings" panose="05000000000000000000" pitchFamily="2" charset="2"/>
                <a:buChar char="Ø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q"/>
                <a:defRPr kumimoji="1" sz="2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Q</a:t>
              </a:r>
            </a:p>
          </p:txBody>
        </p:sp>
        <p:sp>
          <p:nvSpPr>
            <p:cNvPr id="16" name="Line 33"/>
            <p:cNvSpPr>
              <a:spLocks noChangeShapeType="1"/>
            </p:cNvSpPr>
            <p:nvPr/>
          </p:nvSpPr>
          <p:spPr bwMode="auto">
            <a:xfrm>
              <a:off x="1853697" y="4468639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" name="Line 35"/>
            <p:cNvSpPr>
              <a:spLocks noChangeShapeType="1"/>
            </p:cNvSpPr>
            <p:nvPr/>
          </p:nvSpPr>
          <p:spPr bwMode="auto">
            <a:xfrm>
              <a:off x="329697" y="5154439"/>
              <a:ext cx="6858000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" name="Line 36"/>
            <p:cNvSpPr>
              <a:spLocks noChangeShapeType="1"/>
            </p:cNvSpPr>
            <p:nvPr/>
          </p:nvSpPr>
          <p:spPr bwMode="auto">
            <a:xfrm>
              <a:off x="5511297" y="4468639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" name="Line 38"/>
            <p:cNvSpPr>
              <a:spLocks noChangeShapeType="1"/>
            </p:cNvSpPr>
            <p:nvPr/>
          </p:nvSpPr>
          <p:spPr bwMode="auto">
            <a:xfrm>
              <a:off x="5511297" y="2706514"/>
              <a:ext cx="0" cy="6191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" name="Rectangle 39"/>
            <p:cNvSpPr>
              <a:spLocks noChangeArrowheads="1"/>
            </p:cNvSpPr>
            <p:nvPr/>
          </p:nvSpPr>
          <p:spPr bwMode="auto">
            <a:xfrm>
              <a:off x="1319125" y="3954699"/>
              <a:ext cx="1066800" cy="228601"/>
            </a:xfrm>
            <a:prstGeom prst="rect">
              <a:avLst/>
            </a:prstGeom>
            <a:solidFill>
              <a:srgbClr val="C1FEA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AutoNum type="arabicPeriod"/>
                <a:defRPr kumimoji="1" sz="2600">
                  <a:solidFill>
                    <a:srgbClr val="E24C05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90000"/>
                <a:buFont typeface="Wingdings" panose="05000000000000000000" pitchFamily="2" charset="2"/>
                <a:buChar char="Ø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q"/>
                <a:defRPr kumimoji="1" sz="2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zh-CN" sz="2400">
                <a:solidFill>
                  <a:srgbClr val="FA94B8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5" name="Text Box 43"/>
            <p:cNvSpPr txBox="1">
              <a:spLocks noChangeArrowheads="1"/>
            </p:cNvSpPr>
            <p:nvPr/>
          </p:nvSpPr>
          <p:spPr bwMode="auto">
            <a:xfrm>
              <a:off x="2006097" y="4975052"/>
              <a:ext cx="3962400" cy="1147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AutoNum type="arabicPeriod"/>
                <a:defRPr kumimoji="1" sz="2600">
                  <a:solidFill>
                    <a:srgbClr val="E24C05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90000"/>
                <a:buFont typeface="Wingdings" panose="05000000000000000000" pitchFamily="2" charset="2"/>
                <a:buChar char="Ø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q"/>
                <a:defRPr kumimoji="1" sz="2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FontTx/>
                <a:buNone/>
              </a:pPr>
              <a:endParaRPr lang="en-US" altLang="zh-CN" sz="1600" dirty="0">
                <a:solidFill>
                  <a:srgbClr val="A200A2"/>
                </a:solidFill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rgbClr val="A200A2"/>
                  </a:solidFill>
                  <a:ea typeface="宋体" panose="02010600030101010101" pitchFamily="2" charset="-122"/>
                </a:rPr>
                <a:t>Read miss    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rgbClr val="D66B00"/>
                  </a:solidFill>
                  <a:ea typeface="宋体" panose="02010600030101010101" pitchFamily="2" charset="-122"/>
                </a:rPr>
                <a:t>Write miss</a:t>
              </a:r>
            </a:p>
          </p:txBody>
        </p:sp>
        <p:sp>
          <p:nvSpPr>
            <p:cNvPr id="26" name="Text Box 45"/>
            <p:cNvSpPr txBox="1">
              <a:spLocks noChangeArrowheads="1"/>
            </p:cNvSpPr>
            <p:nvPr/>
          </p:nvSpPr>
          <p:spPr bwMode="auto">
            <a:xfrm>
              <a:off x="3377698" y="4621039"/>
              <a:ext cx="1371600" cy="495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AutoNum type="arabicPeriod"/>
                <a:defRPr kumimoji="1" sz="2600">
                  <a:solidFill>
                    <a:srgbClr val="E24C05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90000"/>
                <a:buFont typeface="Wingdings" panose="05000000000000000000" pitchFamily="2" charset="2"/>
                <a:buChar char="Ø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q"/>
                <a:defRPr kumimoji="1" sz="2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chemeClr val="tx1"/>
                  </a:solidFill>
                </a:rPr>
                <a:t>BUS</a:t>
              </a:r>
            </a:p>
          </p:txBody>
        </p:sp>
      </p:grpSp>
      <p:sp>
        <p:nvSpPr>
          <p:cNvPr id="4" name="矩形 3"/>
          <p:cNvSpPr/>
          <p:nvPr/>
        </p:nvSpPr>
        <p:spPr>
          <a:xfrm>
            <a:off x="364416" y="163279"/>
            <a:ext cx="31999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下面考虑两种情况：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6242290" y="1553725"/>
            <a:ext cx="5723570" cy="3437748"/>
            <a:chOff x="838200" y="1397662"/>
            <a:chExt cx="7696200" cy="4860907"/>
          </a:xfrm>
        </p:grpSpPr>
        <p:sp>
          <p:nvSpPr>
            <p:cNvPr id="28" name="Line 15"/>
            <p:cNvSpPr>
              <a:spLocks noChangeShapeType="1"/>
            </p:cNvSpPr>
            <p:nvPr/>
          </p:nvSpPr>
          <p:spPr bwMode="auto">
            <a:xfrm>
              <a:off x="6019800" y="4419600"/>
              <a:ext cx="0" cy="762000"/>
            </a:xfrm>
            <a:prstGeom prst="line">
              <a:avLst/>
            </a:prstGeom>
            <a:noFill/>
            <a:ln w="28575">
              <a:solidFill>
                <a:srgbClr val="FF2F2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" name="Line 2"/>
            <p:cNvSpPr>
              <a:spLocks noChangeShapeType="1"/>
            </p:cNvSpPr>
            <p:nvPr/>
          </p:nvSpPr>
          <p:spPr bwMode="auto">
            <a:xfrm>
              <a:off x="2362200" y="2743200"/>
              <a:ext cx="0" cy="6191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" name="Oval 3"/>
            <p:cNvSpPr>
              <a:spLocks noChangeArrowheads="1"/>
            </p:cNvSpPr>
            <p:nvPr/>
          </p:nvSpPr>
          <p:spPr bwMode="auto">
            <a:xfrm>
              <a:off x="2014538" y="2100263"/>
              <a:ext cx="685800" cy="685800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rgbClr val="080808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AutoNum type="arabicPeriod"/>
                <a:defRPr kumimoji="1" sz="2600">
                  <a:solidFill>
                    <a:srgbClr val="E24C05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90000"/>
                <a:buFont typeface="Wingdings" panose="05000000000000000000" pitchFamily="2" charset="2"/>
                <a:buChar char="Ø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q"/>
                <a:defRPr kumimoji="1" sz="2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zh-CN" sz="24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1" name="Rectangle 4"/>
            <p:cNvSpPr>
              <a:spLocks noChangeArrowheads="1"/>
            </p:cNvSpPr>
            <p:nvPr/>
          </p:nvSpPr>
          <p:spPr bwMode="auto">
            <a:xfrm>
              <a:off x="1828800" y="3352800"/>
              <a:ext cx="1066800" cy="114300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AutoNum type="arabicPeriod"/>
                <a:defRPr kumimoji="1" sz="2600">
                  <a:solidFill>
                    <a:srgbClr val="E24C05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90000"/>
                <a:buFont typeface="Wingdings" panose="05000000000000000000" pitchFamily="2" charset="2"/>
                <a:buChar char="Ø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q"/>
                <a:defRPr kumimoji="1" sz="2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zh-CN" sz="24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" name="Text Box 5"/>
            <p:cNvSpPr txBox="1">
              <a:spLocks noChangeArrowheads="1"/>
            </p:cNvSpPr>
            <p:nvPr/>
          </p:nvSpPr>
          <p:spPr bwMode="auto">
            <a:xfrm>
              <a:off x="2024063" y="2251075"/>
              <a:ext cx="762000" cy="435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AutoNum type="arabicPeriod"/>
                <a:defRPr kumimoji="1" sz="2600">
                  <a:solidFill>
                    <a:srgbClr val="E24C05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90000"/>
                <a:buFont typeface="Wingdings" panose="05000000000000000000" pitchFamily="2" charset="2"/>
                <a:buChar char="Ø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q"/>
                <a:defRPr kumimoji="1" sz="2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400" dirty="0">
                  <a:solidFill>
                    <a:schemeClr val="tx1"/>
                  </a:solidFill>
                  <a:ea typeface="宋体" panose="02010600030101010101" pitchFamily="2" charset="-122"/>
                </a:rPr>
                <a:t>CPU</a:t>
              </a:r>
            </a:p>
          </p:txBody>
        </p:sp>
        <p:sp>
          <p:nvSpPr>
            <p:cNvPr id="33" name="Text Box 7"/>
            <p:cNvSpPr txBox="1">
              <a:spLocks noChangeArrowheads="1"/>
            </p:cNvSpPr>
            <p:nvPr/>
          </p:nvSpPr>
          <p:spPr bwMode="auto">
            <a:xfrm>
              <a:off x="2099019" y="1533526"/>
              <a:ext cx="457199" cy="565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AutoNum type="arabicPeriod"/>
                <a:defRPr kumimoji="1" sz="2600">
                  <a:solidFill>
                    <a:srgbClr val="E24C05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90000"/>
                <a:buFont typeface="Wingdings" panose="05000000000000000000" pitchFamily="2" charset="2"/>
                <a:buChar char="Ø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q"/>
                <a:defRPr kumimoji="1" sz="2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P</a:t>
              </a:r>
            </a:p>
          </p:txBody>
        </p:sp>
        <p:sp>
          <p:nvSpPr>
            <p:cNvPr id="34" name="Rectangle 8"/>
            <p:cNvSpPr>
              <a:spLocks noChangeArrowheads="1"/>
            </p:cNvSpPr>
            <p:nvPr/>
          </p:nvSpPr>
          <p:spPr bwMode="auto">
            <a:xfrm>
              <a:off x="5486400" y="3333750"/>
              <a:ext cx="1066800" cy="1143000"/>
            </a:xfrm>
            <a:prstGeom prst="rect">
              <a:avLst/>
            </a:prstGeom>
            <a:solidFill>
              <a:srgbClr val="FDE19B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AutoNum type="arabicPeriod"/>
                <a:defRPr kumimoji="1" sz="2600">
                  <a:solidFill>
                    <a:srgbClr val="E24C05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90000"/>
                <a:buFont typeface="Wingdings" panose="05000000000000000000" pitchFamily="2" charset="2"/>
                <a:buChar char="Ø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q"/>
                <a:defRPr kumimoji="1" sz="2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zh-CN" sz="24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5" name="Text Box 9"/>
            <p:cNvSpPr txBox="1">
              <a:spLocks noChangeArrowheads="1"/>
            </p:cNvSpPr>
            <p:nvPr/>
          </p:nvSpPr>
          <p:spPr bwMode="auto">
            <a:xfrm>
              <a:off x="4488177" y="3870108"/>
              <a:ext cx="1066800" cy="435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AutoNum type="arabicPeriod"/>
                <a:defRPr kumimoji="1" sz="2600">
                  <a:solidFill>
                    <a:srgbClr val="E24C05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90000"/>
                <a:buFont typeface="Wingdings" panose="05000000000000000000" pitchFamily="2" charset="2"/>
                <a:buChar char="Ø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q"/>
                <a:defRPr kumimoji="1" sz="2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400" dirty="0">
                  <a:solidFill>
                    <a:schemeClr val="tx1"/>
                  </a:solidFill>
                  <a:ea typeface="宋体" panose="02010600030101010101" pitchFamily="2" charset="-122"/>
                </a:rPr>
                <a:t>Cache</a:t>
              </a:r>
            </a:p>
          </p:txBody>
        </p:sp>
        <p:sp>
          <p:nvSpPr>
            <p:cNvPr id="36" name="Oval 10"/>
            <p:cNvSpPr>
              <a:spLocks noChangeArrowheads="1"/>
            </p:cNvSpPr>
            <p:nvPr/>
          </p:nvSpPr>
          <p:spPr bwMode="auto">
            <a:xfrm>
              <a:off x="5676900" y="2024063"/>
              <a:ext cx="685800" cy="685800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rgbClr val="080808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AutoNum type="arabicPeriod"/>
                <a:defRPr kumimoji="1" sz="2600">
                  <a:solidFill>
                    <a:srgbClr val="E24C05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90000"/>
                <a:buFont typeface="Wingdings" panose="05000000000000000000" pitchFamily="2" charset="2"/>
                <a:buChar char="Ø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q"/>
                <a:defRPr kumimoji="1" sz="2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zh-CN" sz="24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7" name="Text Box 11"/>
            <p:cNvSpPr txBox="1">
              <a:spLocks noChangeArrowheads="1"/>
            </p:cNvSpPr>
            <p:nvPr/>
          </p:nvSpPr>
          <p:spPr bwMode="auto">
            <a:xfrm>
              <a:off x="5686425" y="2174875"/>
              <a:ext cx="762000" cy="435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AutoNum type="arabicPeriod"/>
                <a:defRPr kumimoji="1" sz="2600">
                  <a:solidFill>
                    <a:srgbClr val="E24C05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90000"/>
                <a:buFont typeface="Wingdings" panose="05000000000000000000" pitchFamily="2" charset="2"/>
                <a:buChar char="Ø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q"/>
                <a:defRPr kumimoji="1" sz="2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400" dirty="0">
                  <a:solidFill>
                    <a:schemeClr val="tx1"/>
                  </a:solidFill>
                  <a:ea typeface="宋体" panose="02010600030101010101" pitchFamily="2" charset="-122"/>
                </a:rPr>
                <a:t>CPU</a:t>
              </a:r>
            </a:p>
          </p:txBody>
        </p:sp>
        <p:sp>
          <p:nvSpPr>
            <p:cNvPr id="38" name="Text Box 12"/>
            <p:cNvSpPr txBox="1">
              <a:spLocks noChangeArrowheads="1"/>
            </p:cNvSpPr>
            <p:nvPr/>
          </p:nvSpPr>
          <p:spPr bwMode="auto">
            <a:xfrm>
              <a:off x="5773408" y="1397662"/>
              <a:ext cx="457200" cy="565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AutoNum type="arabicPeriod"/>
                <a:defRPr kumimoji="1" sz="2600">
                  <a:solidFill>
                    <a:srgbClr val="E24C05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90000"/>
                <a:buFont typeface="Wingdings" panose="05000000000000000000" pitchFamily="2" charset="2"/>
                <a:buChar char="Ø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q"/>
                <a:defRPr kumimoji="1" sz="2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Q</a:t>
              </a:r>
            </a:p>
          </p:txBody>
        </p:sp>
        <p:sp>
          <p:nvSpPr>
            <p:cNvPr id="39" name="Line 13"/>
            <p:cNvSpPr>
              <a:spLocks noChangeShapeType="1"/>
            </p:cNvSpPr>
            <p:nvPr/>
          </p:nvSpPr>
          <p:spPr bwMode="auto">
            <a:xfrm>
              <a:off x="2362200" y="4495800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0" name="Line 14"/>
            <p:cNvSpPr>
              <a:spLocks noChangeShapeType="1"/>
            </p:cNvSpPr>
            <p:nvPr/>
          </p:nvSpPr>
          <p:spPr bwMode="auto">
            <a:xfrm>
              <a:off x="838200" y="5181600"/>
              <a:ext cx="6858000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" name="Line 17"/>
            <p:cNvSpPr>
              <a:spLocks noChangeShapeType="1"/>
            </p:cNvSpPr>
            <p:nvPr/>
          </p:nvSpPr>
          <p:spPr bwMode="auto">
            <a:xfrm>
              <a:off x="6019800" y="2733675"/>
              <a:ext cx="0" cy="6191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2" name="Rectangle 18"/>
            <p:cNvSpPr>
              <a:spLocks noChangeArrowheads="1"/>
            </p:cNvSpPr>
            <p:nvPr/>
          </p:nvSpPr>
          <p:spPr bwMode="auto">
            <a:xfrm>
              <a:off x="5486400" y="3581400"/>
              <a:ext cx="1066800" cy="228600"/>
            </a:xfrm>
            <a:prstGeom prst="rect">
              <a:avLst/>
            </a:prstGeom>
            <a:solidFill>
              <a:srgbClr val="C1FEA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AutoNum type="arabicPeriod"/>
                <a:defRPr kumimoji="1" sz="2600">
                  <a:solidFill>
                    <a:srgbClr val="E24C05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90000"/>
                <a:buFont typeface="Wingdings" panose="05000000000000000000" pitchFamily="2" charset="2"/>
                <a:buChar char="Ø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q"/>
                <a:defRPr kumimoji="1" sz="2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zh-CN" sz="2400">
                <a:solidFill>
                  <a:srgbClr val="FA94B8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3" name="AutoShape 20"/>
            <p:cNvSpPr>
              <a:spLocks/>
            </p:cNvSpPr>
            <p:nvPr/>
          </p:nvSpPr>
          <p:spPr bwMode="auto">
            <a:xfrm>
              <a:off x="6705600" y="3124200"/>
              <a:ext cx="304800" cy="1066800"/>
            </a:xfrm>
            <a:prstGeom prst="leftBrace">
              <a:avLst>
                <a:gd name="adj1" fmla="val 291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AutoNum type="arabicPeriod"/>
                <a:defRPr kumimoji="1" sz="2600">
                  <a:solidFill>
                    <a:srgbClr val="E24C05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90000"/>
                <a:buFont typeface="Wingdings" panose="05000000000000000000" pitchFamily="2" charset="2"/>
                <a:buChar char="Ø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q"/>
                <a:defRPr kumimoji="1" sz="2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zh-CN" sz="24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" name="Text Box 23"/>
            <p:cNvSpPr txBox="1">
              <a:spLocks noChangeArrowheads="1"/>
            </p:cNvSpPr>
            <p:nvPr/>
          </p:nvSpPr>
          <p:spPr bwMode="auto">
            <a:xfrm>
              <a:off x="3886199" y="4648200"/>
              <a:ext cx="1371600" cy="522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AutoNum type="arabicPeriod"/>
                <a:defRPr kumimoji="1" sz="2600">
                  <a:solidFill>
                    <a:srgbClr val="E24C05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90000"/>
                <a:buFont typeface="Wingdings" panose="05000000000000000000" pitchFamily="2" charset="2"/>
                <a:buChar char="Ø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q"/>
                <a:defRPr kumimoji="1" sz="2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chemeClr val="tx1"/>
                  </a:solidFill>
                </a:rPr>
                <a:t>BUS</a:t>
              </a:r>
            </a:p>
          </p:txBody>
        </p:sp>
        <p:sp>
          <p:nvSpPr>
            <p:cNvPr id="45" name="Arc 24"/>
            <p:cNvSpPr>
              <a:spLocks/>
            </p:cNvSpPr>
            <p:nvPr/>
          </p:nvSpPr>
          <p:spPr bwMode="auto">
            <a:xfrm flipV="1">
              <a:off x="5181600" y="4648200"/>
              <a:ext cx="609600" cy="381000"/>
            </a:xfrm>
            <a:custGeom>
              <a:avLst/>
              <a:gdLst>
                <a:gd name="T0" fmla="*/ 0 w 21600"/>
                <a:gd name="T1" fmla="*/ 0 h 21600"/>
                <a:gd name="T2" fmla="*/ 2147483646 w 21600"/>
                <a:gd name="T3" fmla="*/ 2147483646 h 21600"/>
                <a:gd name="T4" fmla="*/ 0 w 21600"/>
                <a:gd name="T5" fmla="*/ 2147483646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2F2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Text Box 25"/>
            <p:cNvSpPr txBox="1">
              <a:spLocks noChangeArrowheads="1"/>
            </p:cNvSpPr>
            <p:nvPr/>
          </p:nvSpPr>
          <p:spPr bwMode="auto">
            <a:xfrm>
              <a:off x="4571999" y="4952999"/>
              <a:ext cx="3962401" cy="13055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AutoNum type="arabicPeriod"/>
                <a:defRPr kumimoji="1" sz="2600">
                  <a:solidFill>
                    <a:srgbClr val="E24C05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90000"/>
                <a:buFont typeface="Wingdings" panose="05000000000000000000" pitchFamily="2" charset="2"/>
                <a:buChar char="Ø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q"/>
                <a:defRPr kumimoji="1" sz="2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FontTx/>
                <a:buNone/>
              </a:pPr>
              <a:endParaRPr lang="en-US" altLang="zh-CN" sz="2400" dirty="0">
                <a:solidFill>
                  <a:srgbClr val="A200A2"/>
                </a:solidFill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rgbClr val="A200A2"/>
                  </a:solidFill>
                  <a:ea typeface="宋体" panose="02010600030101010101" pitchFamily="2" charset="-122"/>
                </a:rPr>
                <a:t>Read miss    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rgbClr val="D66B00"/>
                  </a:solidFill>
                  <a:ea typeface="宋体" panose="02010600030101010101" pitchFamily="2" charset="-122"/>
                </a:rPr>
                <a:t>Write miss</a:t>
              </a:r>
            </a:p>
          </p:txBody>
        </p:sp>
      </p:grpSp>
      <p:sp>
        <p:nvSpPr>
          <p:cNvPr id="50" name="Text Box 42"/>
          <p:cNvSpPr txBox="1">
            <a:spLocks noChangeArrowheads="1"/>
          </p:cNvSpPr>
          <p:nvPr/>
        </p:nvSpPr>
        <p:spPr bwMode="auto">
          <a:xfrm>
            <a:off x="2059259" y="3050073"/>
            <a:ext cx="2133600" cy="901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6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1919F9"/>
                </a:solidFill>
                <a:ea typeface="宋体" panose="02010600030101010101" pitchFamily="2" charset="-122"/>
              </a:rPr>
              <a:t>Invalid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30941C"/>
                </a:solidFill>
                <a:ea typeface="宋体" panose="02010600030101010101" pitchFamily="2" charset="-122"/>
              </a:rPr>
              <a:t>Shared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FF0066"/>
                </a:solidFill>
                <a:ea typeface="宋体" panose="02010600030101010101" pitchFamily="2" charset="-122"/>
              </a:rPr>
              <a:t>Modified</a:t>
            </a:r>
          </a:p>
        </p:txBody>
      </p:sp>
      <p:sp>
        <p:nvSpPr>
          <p:cNvPr id="51" name="AutoShape 41"/>
          <p:cNvSpPr>
            <a:spLocks/>
          </p:cNvSpPr>
          <p:nvPr/>
        </p:nvSpPr>
        <p:spPr bwMode="auto">
          <a:xfrm>
            <a:off x="1894165" y="3038566"/>
            <a:ext cx="188718" cy="803171"/>
          </a:xfrm>
          <a:prstGeom prst="leftBrace">
            <a:avLst>
              <a:gd name="adj1" fmla="val 291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6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en-US" altLang="zh-CN" sz="24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2" name="Arc 33"/>
          <p:cNvSpPr>
            <a:spLocks/>
          </p:cNvSpPr>
          <p:nvPr/>
        </p:nvSpPr>
        <p:spPr bwMode="auto">
          <a:xfrm flipH="1" flipV="1">
            <a:off x="1737009" y="3851846"/>
            <a:ext cx="462999" cy="286036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rgbClr val="FF2F2F"/>
            </a:solidFill>
            <a:round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3" name="Group 32"/>
          <p:cNvGrpSpPr>
            <a:grpSpLocks/>
          </p:cNvGrpSpPr>
          <p:nvPr/>
        </p:nvGrpSpPr>
        <p:grpSpPr bwMode="auto">
          <a:xfrm>
            <a:off x="1854471" y="1609276"/>
            <a:ext cx="2338388" cy="1232782"/>
            <a:chOff x="1887" y="1543"/>
            <a:chExt cx="1473" cy="477"/>
          </a:xfrm>
        </p:grpSpPr>
        <p:sp>
          <p:nvSpPr>
            <p:cNvPr id="54" name="Text Box 20"/>
            <p:cNvSpPr txBox="1">
              <a:spLocks noChangeArrowheads="1"/>
            </p:cNvSpPr>
            <p:nvPr/>
          </p:nvSpPr>
          <p:spPr bwMode="auto">
            <a:xfrm>
              <a:off x="2016" y="1562"/>
              <a:ext cx="1344" cy="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AutoNum type="arabicPeriod"/>
                <a:defRPr kumimoji="1" sz="2600">
                  <a:solidFill>
                    <a:srgbClr val="E24C05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90000"/>
                <a:buFont typeface="Wingdings" panose="05000000000000000000" pitchFamily="2" charset="2"/>
                <a:buChar char="Ø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q"/>
                <a:defRPr kumimoji="1" sz="2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chemeClr val="accent5"/>
                  </a:solidFill>
                  <a:ea typeface="宋体" panose="02010600030101010101" pitchFamily="2" charset="-122"/>
                </a:rPr>
                <a:t>Read hit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rgbClr val="A200A2"/>
                  </a:solidFill>
                  <a:ea typeface="宋体" panose="02010600030101010101" pitchFamily="2" charset="-122"/>
                </a:rPr>
                <a:t>Read miss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rgbClr val="D50101"/>
                  </a:solidFill>
                  <a:ea typeface="宋体" panose="02010600030101010101" pitchFamily="2" charset="-122"/>
                </a:rPr>
                <a:t>Write hit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rgbClr val="D66B00"/>
                  </a:solidFill>
                  <a:ea typeface="宋体" panose="02010600030101010101" pitchFamily="2" charset="-122"/>
                </a:rPr>
                <a:t>Write miss</a:t>
              </a:r>
            </a:p>
          </p:txBody>
        </p:sp>
        <p:sp>
          <p:nvSpPr>
            <p:cNvPr id="55" name="AutoShape 23"/>
            <p:cNvSpPr>
              <a:spLocks/>
            </p:cNvSpPr>
            <p:nvPr/>
          </p:nvSpPr>
          <p:spPr bwMode="auto">
            <a:xfrm>
              <a:off x="1887" y="1543"/>
              <a:ext cx="132" cy="477"/>
            </a:xfrm>
            <a:prstGeom prst="leftBrace">
              <a:avLst>
                <a:gd name="adj1" fmla="val 3125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AutoNum type="arabicPeriod"/>
                <a:defRPr kumimoji="1" sz="2600">
                  <a:solidFill>
                    <a:srgbClr val="E24C05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90000"/>
                <a:buFont typeface="Wingdings" panose="05000000000000000000" pitchFamily="2" charset="2"/>
                <a:buChar char="Ø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q"/>
                <a:defRPr kumimoji="1" sz="2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zh-CN" sz="18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56" name="Text Box 42"/>
          <p:cNvSpPr txBox="1">
            <a:spLocks noChangeArrowheads="1"/>
          </p:cNvSpPr>
          <p:nvPr/>
        </p:nvSpPr>
        <p:spPr bwMode="auto">
          <a:xfrm>
            <a:off x="10874087" y="2774773"/>
            <a:ext cx="2133600" cy="901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6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1919F9"/>
                </a:solidFill>
                <a:ea typeface="宋体" panose="02010600030101010101" pitchFamily="2" charset="-122"/>
              </a:rPr>
              <a:t>Invalid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30941C"/>
                </a:solidFill>
                <a:ea typeface="宋体" panose="02010600030101010101" pitchFamily="2" charset="-122"/>
              </a:rPr>
              <a:t>Shared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FF0066"/>
                </a:solidFill>
                <a:ea typeface="宋体" panose="02010600030101010101" pitchFamily="2" charset="-122"/>
              </a:rPr>
              <a:t>Modified</a:t>
            </a:r>
          </a:p>
        </p:txBody>
      </p:sp>
      <p:sp>
        <p:nvSpPr>
          <p:cNvPr id="48" name="矩形 47"/>
          <p:cNvSpPr/>
          <p:nvPr/>
        </p:nvSpPr>
        <p:spPr>
          <a:xfrm>
            <a:off x="1478068" y="5544491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I.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请求来自处理器 </a:t>
            </a:r>
            <a:endParaRPr lang="zh-CN" altLang="en-US" dirty="0"/>
          </a:p>
        </p:txBody>
      </p:sp>
      <p:sp>
        <p:nvSpPr>
          <p:cNvPr id="57" name="矩形 56"/>
          <p:cNvSpPr/>
          <p:nvPr/>
        </p:nvSpPr>
        <p:spPr>
          <a:xfrm>
            <a:off x="8225727" y="5512230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II.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请求来自总线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41432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3832" y="133739"/>
            <a:ext cx="9296400" cy="644184"/>
          </a:xfrm>
        </p:spPr>
        <p:txBody>
          <a:bodyPr>
            <a:normAutofit/>
          </a:bodyPr>
          <a:lstStyle/>
          <a:p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I.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请求来自处理器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–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读命中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769623"/>
              </p:ext>
            </p:extLst>
          </p:nvPr>
        </p:nvGraphicFramePr>
        <p:xfrm>
          <a:off x="522321" y="897086"/>
          <a:ext cx="1102198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1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3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69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所寻址缓存块状态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缓存操作类型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功能与解释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共享或已修改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正常命中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读取本地缓存中的数据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3" name="组合 32"/>
          <p:cNvGrpSpPr/>
          <p:nvPr/>
        </p:nvGrpSpPr>
        <p:grpSpPr>
          <a:xfrm>
            <a:off x="3269958" y="3009304"/>
            <a:ext cx="4329977" cy="3236396"/>
            <a:chOff x="3269958" y="3009304"/>
            <a:chExt cx="4329977" cy="3236396"/>
          </a:xfrm>
        </p:grpSpPr>
        <p:grpSp>
          <p:nvGrpSpPr>
            <p:cNvPr id="34" name="Group 14"/>
            <p:cNvGrpSpPr>
              <a:grpSpLocks/>
            </p:cNvGrpSpPr>
            <p:nvPr/>
          </p:nvGrpSpPr>
          <p:grpSpPr bwMode="auto">
            <a:xfrm rot="900131">
              <a:off x="6306069" y="3054838"/>
              <a:ext cx="430771" cy="407972"/>
              <a:chOff x="1776" y="3024"/>
              <a:chExt cx="402" cy="384"/>
            </a:xfrm>
          </p:grpSpPr>
          <p:sp>
            <p:nvSpPr>
              <p:cNvPr id="52" name="Oval 15"/>
              <p:cNvSpPr>
                <a:spLocks noChangeArrowheads="1"/>
              </p:cNvSpPr>
              <p:nvPr/>
            </p:nvSpPr>
            <p:spPr bwMode="auto">
              <a:xfrm>
                <a:off x="1776" y="3024"/>
                <a:ext cx="384" cy="38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3" name="Line 16"/>
              <p:cNvSpPr>
                <a:spLocks noChangeShapeType="1"/>
              </p:cNvSpPr>
              <p:nvPr/>
            </p:nvSpPr>
            <p:spPr bwMode="auto">
              <a:xfrm rot="1800000">
                <a:off x="2082" y="3102"/>
                <a:ext cx="96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</p:grpSp>
        <p:grpSp>
          <p:nvGrpSpPr>
            <p:cNvPr id="35" name="Group 14"/>
            <p:cNvGrpSpPr>
              <a:grpSpLocks/>
            </p:cNvGrpSpPr>
            <p:nvPr/>
          </p:nvGrpSpPr>
          <p:grpSpPr bwMode="auto">
            <a:xfrm rot="20448015">
              <a:off x="3866541" y="5509183"/>
              <a:ext cx="430771" cy="407972"/>
              <a:chOff x="1776" y="3025"/>
              <a:chExt cx="402" cy="384"/>
            </a:xfrm>
          </p:grpSpPr>
          <p:sp>
            <p:nvSpPr>
              <p:cNvPr id="50" name="Oval 15"/>
              <p:cNvSpPr>
                <a:spLocks noChangeArrowheads="1"/>
              </p:cNvSpPr>
              <p:nvPr/>
            </p:nvSpPr>
            <p:spPr bwMode="auto">
              <a:xfrm>
                <a:off x="1776" y="3025"/>
                <a:ext cx="384" cy="38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1" name="Line 16"/>
              <p:cNvSpPr>
                <a:spLocks noChangeShapeType="1"/>
              </p:cNvSpPr>
              <p:nvPr/>
            </p:nvSpPr>
            <p:spPr bwMode="auto">
              <a:xfrm rot="1800000">
                <a:off x="2082" y="3102"/>
                <a:ext cx="96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4110736" y="3268494"/>
              <a:ext cx="3088592" cy="2977206"/>
              <a:chOff x="2770323" y="2071167"/>
              <a:chExt cx="4943904" cy="4566073"/>
            </a:xfrm>
          </p:grpSpPr>
          <p:grpSp>
            <p:nvGrpSpPr>
              <p:cNvPr id="41" name="Group 42"/>
              <p:cNvGrpSpPr>
                <a:grpSpLocks/>
              </p:cNvGrpSpPr>
              <p:nvPr/>
            </p:nvGrpSpPr>
            <p:grpSpPr bwMode="auto">
              <a:xfrm>
                <a:off x="2828879" y="2071167"/>
                <a:ext cx="1358756" cy="1220813"/>
                <a:chOff x="1410" y="935"/>
                <a:chExt cx="884" cy="848"/>
              </a:xfrm>
            </p:grpSpPr>
            <p:sp>
              <p:nvSpPr>
                <p:cNvPr id="48" name="Oval 4"/>
                <p:cNvSpPr>
                  <a:spLocks noChangeArrowheads="1"/>
                </p:cNvSpPr>
                <p:nvPr/>
              </p:nvSpPr>
              <p:spPr bwMode="auto">
                <a:xfrm>
                  <a:off x="1410" y="935"/>
                  <a:ext cx="884" cy="848"/>
                </a:xfrm>
                <a:prstGeom prst="ellipse">
                  <a:avLst/>
                </a:prstGeom>
                <a:solidFill>
                  <a:srgbClr val="0000FF"/>
                </a:solidFill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AutoNum type="arabicPeriod"/>
                    <a:defRPr kumimoji="1" sz="2600">
                      <a:solidFill>
                        <a:srgbClr val="E24C05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Font typeface="Wingdings" panose="05000000000000000000" pitchFamily="2" charset="2"/>
                    <a:buChar char="Ø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q"/>
                    <a:defRPr kumimoji="1" sz="2000">
                      <a:solidFill>
                        <a:srgbClr val="000000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6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800">
                    <a:solidFill>
                      <a:schemeClr val="tx1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9" name="Rectangle 18"/>
                <p:cNvSpPr>
                  <a:spLocks noChangeArrowheads="1"/>
                </p:cNvSpPr>
                <p:nvPr/>
              </p:nvSpPr>
              <p:spPr bwMode="auto">
                <a:xfrm>
                  <a:off x="1470" y="1188"/>
                  <a:ext cx="780" cy="3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AutoNum type="arabicPeriod"/>
                    <a:defRPr kumimoji="1" sz="2600">
                      <a:solidFill>
                        <a:srgbClr val="E24C05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Font typeface="Wingdings" panose="05000000000000000000" pitchFamily="2" charset="2"/>
                    <a:buChar char="Ø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q"/>
                    <a:defRPr kumimoji="1" sz="2000">
                      <a:solidFill>
                        <a:srgbClr val="000000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6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en-US" sz="1400" b="1" dirty="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Invalid</a:t>
                  </a:r>
                </a:p>
              </p:txBody>
            </p:sp>
          </p:grpSp>
          <p:grpSp>
            <p:nvGrpSpPr>
              <p:cNvPr id="42" name="Group 44"/>
              <p:cNvGrpSpPr>
                <a:grpSpLocks/>
              </p:cNvGrpSpPr>
              <p:nvPr/>
            </p:nvGrpSpPr>
            <p:grpSpPr bwMode="auto">
              <a:xfrm>
                <a:off x="6092635" y="2071167"/>
                <a:ext cx="1621592" cy="1220812"/>
                <a:chOff x="3460" y="935"/>
                <a:chExt cx="1055" cy="848"/>
              </a:xfrm>
            </p:grpSpPr>
            <p:sp>
              <p:nvSpPr>
                <p:cNvPr id="46" name="Oval 28"/>
                <p:cNvSpPr>
                  <a:spLocks noChangeArrowheads="1"/>
                </p:cNvSpPr>
                <p:nvPr/>
              </p:nvSpPr>
              <p:spPr bwMode="auto">
                <a:xfrm>
                  <a:off x="3546" y="935"/>
                  <a:ext cx="884" cy="848"/>
                </a:xfrm>
                <a:prstGeom prst="ellipse">
                  <a:avLst/>
                </a:prstGeom>
                <a:solidFill>
                  <a:srgbClr val="00BC00"/>
                </a:solidFill>
                <a:ln w="25400">
                  <a:solidFill>
                    <a:srgbClr val="008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AutoNum type="arabicPeriod"/>
                    <a:defRPr kumimoji="1" sz="2600">
                      <a:solidFill>
                        <a:srgbClr val="E24C05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Font typeface="Wingdings" panose="05000000000000000000" pitchFamily="2" charset="2"/>
                    <a:buChar char="Ø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q"/>
                    <a:defRPr kumimoji="1" sz="2000">
                      <a:solidFill>
                        <a:srgbClr val="000000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6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US" altLang="zh-CN" sz="1400"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7" name="Rectangle 34"/>
                <p:cNvSpPr>
                  <a:spLocks noChangeArrowheads="1"/>
                </p:cNvSpPr>
                <p:nvPr/>
              </p:nvSpPr>
              <p:spPr bwMode="auto">
                <a:xfrm>
                  <a:off x="3460" y="1211"/>
                  <a:ext cx="1055" cy="5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488" tIns="44450" rIns="90488" bIns="44450">
                  <a:spAutoFit/>
                </a:bodyPr>
                <a:lstStyle>
                  <a:lvl1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AutoNum type="arabicPeriod"/>
                    <a:defRPr kumimoji="1" sz="2600">
                      <a:solidFill>
                        <a:srgbClr val="E24C05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Font typeface="Wingdings" panose="05000000000000000000" pitchFamily="2" charset="2"/>
                    <a:buChar char="Ø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q"/>
                    <a:defRPr kumimoji="1" sz="2000">
                      <a:solidFill>
                        <a:srgbClr val="000000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6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en-US" sz="1400" b="1" dirty="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Shared</a:t>
                  </a:r>
                </a:p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US" altLang="en-US" sz="14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43" name="Group 43"/>
              <p:cNvGrpSpPr>
                <a:grpSpLocks/>
              </p:cNvGrpSpPr>
              <p:nvPr/>
            </p:nvGrpSpPr>
            <p:grpSpPr bwMode="auto">
              <a:xfrm>
                <a:off x="2770323" y="5416428"/>
                <a:ext cx="1515536" cy="1220812"/>
                <a:chOff x="1370" y="3172"/>
                <a:chExt cx="986" cy="848"/>
              </a:xfrm>
            </p:grpSpPr>
            <p:sp>
              <p:nvSpPr>
                <p:cNvPr id="44" name="Oval 29"/>
                <p:cNvSpPr>
                  <a:spLocks noChangeArrowheads="1"/>
                </p:cNvSpPr>
                <p:nvPr/>
              </p:nvSpPr>
              <p:spPr bwMode="auto">
                <a:xfrm>
                  <a:off x="1408" y="3172"/>
                  <a:ext cx="884" cy="848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A8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AutoNum type="arabicPeriod"/>
                    <a:defRPr kumimoji="1" sz="2600">
                      <a:solidFill>
                        <a:srgbClr val="E24C05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Font typeface="Wingdings" panose="05000000000000000000" pitchFamily="2" charset="2"/>
                    <a:buChar char="Ø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q"/>
                    <a:defRPr kumimoji="1" sz="2000">
                      <a:solidFill>
                        <a:srgbClr val="000000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6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800">
                    <a:solidFill>
                      <a:schemeClr val="tx1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5" name="Rectangle 35"/>
                <p:cNvSpPr>
                  <a:spLocks noChangeArrowheads="1"/>
                </p:cNvSpPr>
                <p:nvPr/>
              </p:nvSpPr>
              <p:spPr bwMode="auto">
                <a:xfrm>
                  <a:off x="1370" y="3452"/>
                  <a:ext cx="986" cy="3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488" tIns="44450" rIns="90488" bIns="44450">
                  <a:spAutoFit/>
                </a:bodyPr>
                <a:lstStyle>
                  <a:lvl1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AutoNum type="arabicPeriod"/>
                    <a:defRPr kumimoji="1" sz="2600">
                      <a:solidFill>
                        <a:srgbClr val="E24C05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Font typeface="Wingdings" panose="05000000000000000000" pitchFamily="2" charset="2"/>
                    <a:buChar char="Ø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q"/>
                    <a:defRPr kumimoji="1" sz="2000">
                      <a:solidFill>
                        <a:srgbClr val="000000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6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400" b="1" dirty="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Modified</a:t>
                  </a:r>
                  <a:endParaRPr kumimoji="0" lang="en-US" altLang="en-US" sz="14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37" name="矩形 36"/>
            <p:cNvSpPr/>
            <p:nvPr/>
          </p:nvSpPr>
          <p:spPr>
            <a:xfrm>
              <a:off x="3269958" y="5967220"/>
              <a:ext cx="902811" cy="2215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dirty="0">
                  <a:solidFill>
                    <a:schemeClr val="accent5"/>
                  </a:solidFill>
                  <a:ea typeface="宋体" panose="02010600030101010101" pitchFamily="2" charset="-122"/>
                </a:rPr>
                <a:t>Read hit</a:t>
              </a:r>
            </a:p>
          </p:txBody>
        </p:sp>
        <p:sp>
          <p:nvSpPr>
            <p:cNvPr id="38" name="矩形 37"/>
            <p:cNvSpPr/>
            <p:nvPr/>
          </p:nvSpPr>
          <p:spPr>
            <a:xfrm>
              <a:off x="6697124" y="3009304"/>
              <a:ext cx="902811" cy="2215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dirty="0">
                  <a:solidFill>
                    <a:schemeClr val="accent5"/>
                  </a:solidFill>
                  <a:ea typeface="宋体" panose="02010600030101010101" pitchFamily="2" charset="-122"/>
                </a:rPr>
                <a:t>Read hit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86146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3832" y="133739"/>
            <a:ext cx="9296400" cy="6441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I.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请求来自处理器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–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读缺失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854925"/>
              </p:ext>
            </p:extLst>
          </p:nvPr>
        </p:nvGraphicFramePr>
        <p:xfrm>
          <a:off x="522321" y="897086"/>
          <a:ext cx="11231529" cy="16145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688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52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17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所寻址缓存块状态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缓存操作类型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功能与解释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7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失效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正常缺失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将读取缺失放在总线上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7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共享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替换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地址冲突缺失；将读取缺失放总线上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25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已修改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替换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地址冲突缺失；写回，然后将读取缺失放总线上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3" name="组合 42"/>
          <p:cNvGrpSpPr/>
          <p:nvPr/>
        </p:nvGrpSpPr>
        <p:grpSpPr>
          <a:xfrm>
            <a:off x="3107790" y="3009304"/>
            <a:ext cx="5271430" cy="3236396"/>
            <a:chOff x="3107790" y="3009304"/>
            <a:chExt cx="5271430" cy="3236396"/>
          </a:xfrm>
        </p:grpSpPr>
        <p:grpSp>
          <p:nvGrpSpPr>
            <p:cNvPr id="37" name="Group 14"/>
            <p:cNvGrpSpPr>
              <a:grpSpLocks/>
            </p:cNvGrpSpPr>
            <p:nvPr/>
          </p:nvGrpSpPr>
          <p:grpSpPr bwMode="auto">
            <a:xfrm rot="9177292">
              <a:off x="6983942" y="3559340"/>
              <a:ext cx="430771" cy="407972"/>
              <a:chOff x="1776" y="3024"/>
              <a:chExt cx="402" cy="384"/>
            </a:xfrm>
          </p:grpSpPr>
          <p:sp>
            <p:nvSpPr>
              <p:cNvPr id="38" name="Oval 15"/>
              <p:cNvSpPr>
                <a:spLocks noChangeArrowheads="1"/>
              </p:cNvSpPr>
              <p:nvPr/>
            </p:nvSpPr>
            <p:spPr bwMode="auto">
              <a:xfrm>
                <a:off x="1776" y="3024"/>
                <a:ext cx="384" cy="38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4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9" name="Line 16"/>
              <p:cNvSpPr>
                <a:spLocks noChangeShapeType="1"/>
              </p:cNvSpPr>
              <p:nvPr/>
            </p:nvSpPr>
            <p:spPr bwMode="auto">
              <a:xfrm rot="1800000">
                <a:off x="2082" y="3102"/>
                <a:ext cx="96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sz="1100"/>
              </a:p>
            </p:txBody>
          </p:sp>
        </p:grpSp>
        <p:grpSp>
          <p:nvGrpSpPr>
            <p:cNvPr id="15" name="Group 14"/>
            <p:cNvGrpSpPr>
              <a:grpSpLocks/>
            </p:cNvGrpSpPr>
            <p:nvPr/>
          </p:nvGrpSpPr>
          <p:grpSpPr bwMode="auto">
            <a:xfrm rot="900131">
              <a:off x="6306069" y="3054838"/>
              <a:ext cx="430771" cy="407972"/>
              <a:chOff x="1776" y="3024"/>
              <a:chExt cx="402" cy="384"/>
            </a:xfrm>
          </p:grpSpPr>
          <p:sp>
            <p:nvSpPr>
              <p:cNvPr id="31" name="Oval 15"/>
              <p:cNvSpPr>
                <a:spLocks noChangeArrowheads="1"/>
              </p:cNvSpPr>
              <p:nvPr/>
            </p:nvSpPr>
            <p:spPr bwMode="auto">
              <a:xfrm>
                <a:off x="1776" y="3024"/>
                <a:ext cx="384" cy="38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4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 rot="1800000">
                <a:off x="2082" y="3102"/>
                <a:ext cx="96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sz="1100"/>
              </a:p>
            </p:txBody>
          </p:sp>
        </p:grpSp>
        <p:grpSp>
          <p:nvGrpSpPr>
            <p:cNvPr id="16" name="Group 14"/>
            <p:cNvGrpSpPr>
              <a:grpSpLocks/>
            </p:cNvGrpSpPr>
            <p:nvPr/>
          </p:nvGrpSpPr>
          <p:grpSpPr bwMode="auto">
            <a:xfrm rot="20448015">
              <a:off x="3866541" y="5509183"/>
              <a:ext cx="430771" cy="407972"/>
              <a:chOff x="1776" y="3025"/>
              <a:chExt cx="402" cy="384"/>
            </a:xfrm>
          </p:grpSpPr>
          <p:sp>
            <p:nvSpPr>
              <p:cNvPr id="29" name="Oval 15"/>
              <p:cNvSpPr>
                <a:spLocks noChangeArrowheads="1"/>
              </p:cNvSpPr>
              <p:nvPr/>
            </p:nvSpPr>
            <p:spPr bwMode="auto">
              <a:xfrm>
                <a:off x="1776" y="3025"/>
                <a:ext cx="384" cy="38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4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0" name="Line 16"/>
              <p:cNvSpPr>
                <a:spLocks noChangeShapeType="1"/>
              </p:cNvSpPr>
              <p:nvPr/>
            </p:nvSpPr>
            <p:spPr bwMode="auto">
              <a:xfrm rot="1800000">
                <a:off x="2082" y="3102"/>
                <a:ext cx="96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sz="1100"/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4110736" y="3268494"/>
              <a:ext cx="3088592" cy="2977206"/>
              <a:chOff x="2770323" y="2071167"/>
              <a:chExt cx="4943904" cy="4566073"/>
            </a:xfrm>
          </p:grpSpPr>
          <p:grpSp>
            <p:nvGrpSpPr>
              <p:cNvPr id="20" name="Group 42"/>
              <p:cNvGrpSpPr>
                <a:grpSpLocks/>
              </p:cNvGrpSpPr>
              <p:nvPr/>
            </p:nvGrpSpPr>
            <p:grpSpPr bwMode="auto">
              <a:xfrm>
                <a:off x="2828879" y="2071167"/>
                <a:ext cx="1358756" cy="1220813"/>
                <a:chOff x="1410" y="935"/>
                <a:chExt cx="884" cy="848"/>
              </a:xfrm>
            </p:grpSpPr>
            <p:sp>
              <p:nvSpPr>
                <p:cNvPr id="27" name="Oval 4"/>
                <p:cNvSpPr>
                  <a:spLocks noChangeArrowheads="1"/>
                </p:cNvSpPr>
                <p:nvPr/>
              </p:nvSpPr>
              <p:spPr bwMode="auto">
                <a:xfrm>
                  <a:off x="1410" y="935"/>
                  <a:ext cx="884" cy="848"/>
                </a:xfrm>
                <a:prstGeom prst="ellipse">
                  <a:avLst/>
                </a:prstGeom>
                <a:solidFill>
                  <a:srgbClr val="0000FF"/>
                </a:solidFill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AutoNum type="arabicPeriod"/>
                    <a:defRPr kumimoji="1" sz="2600">
                      <a:solidFill>
                        <a:srgbClr val="E24C05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Font typeface="Wingdings" panose="05000000000000000000" pitchFamily="2" charset="2"/>
                    <a:buChar char="Ø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q"/>
                    <a:defRPr kumimoji="1" sz="2000">
                      <a:solidFill>
                        <a:srgbClr val="000000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6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>
                    <a:solidFill>
                      <a:schemeClr val="tx1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8" name="Rectangle 18"/>
                <p:cNvSpPr>
                  <a:spLocks noChangeArrowheads="1"/>
                </p:cNvSpPr>
                <p:nvPr/>
              </p:nvSpPr>
              <p:spPr bwMode="auto">
                <a:xfrm>
                  <a:off x="1470" y="1188"/>
                  <a:ext cx="780" cy="3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AutoNum type="arabicPeriod"/>
                    <a:defRPr kumimoji="1" sz="2600">
                      <a:solidFill>
                        <a:srgbClr val="E24C05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Font typeface="Wingdings" panose="05000000000000000000" pitchFamily="2" charset="2"/>
                    <a:buChar char="Ø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q"/>
                    <a:defRPr kumimoji="1" sz="2000">
                      <a:solidFill>
                        <a:srgbClr val="000000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6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en-US" sz="1400" b="1" dirty="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Invalid</a:t>
                  </a:r>
                </a:p>
              </p:txBody>
            </p:sp>
          </p:grpSp>
          <p:grpSp>
            <p:nvGrpSpPr>
              <p:cNvPr id="21" name="Group 44"/>
              <p:cNvGrpSpPr>
                <a:grpSpLocks/>
              </p:cNvGrpSpPr>
              <p:nvPr/>
            </p:nvGrpSpPr>
            <p:grpSpPr bwMode="auto">
              <a:xfrm>
                <a:off x="6092635" y="2071167"/>
                <a:ext cx="1621592" cy="1220812"/>
                <a:chOff x="3460" y="935"/>
                <a:chExt cx="1055" cy="848"/>
              </a:xfrm>
            </p:grpSpPr>
            <p:sp>
              <p:nvSpPr>
                <p:cNvPr id="25" name="Oval 28"/>
                <p:cNvSpPr>
                  <a:spLocks noChangeArrowheads="1"/>
                </p:cNvSpPr>
                <p:nvPr/>
              </p:nvSpPr>
              <p:spPr bwMode="auto">
                <a:xfrm>
                  <a:off x="3546" y="935"/>
                  <a:ext cx="884" cy="848"/>
                </a:xfrm>
                <a:prstGeom prst="ellipse">
                  <a:avLst/>
                </a:prstGeom>
                <a:solidFill>
                  <a:srgbClr val="00BC00"/>
                </a:solidFill>
                <a:ln w="25400">
                  <a:solidFill>
                    <a:srgbClr val="008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AutoNum type="arabicPeriod"/>
                    <a:defRPr kumimoji="1" sz="2600">
                      <a:solidFill>
                        <a:srgbClr val="E24C05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Font typeface="Wingdings" panose="05000000000000000000" pitchFamily="2" charset="2"/>
                    <a:buChar char="Ø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q"/>
                    <a:defRPr kumimoji="1" sz="2000">
                      <a:solidFill>
                        <a:srgbClr val="000000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6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US" altLang="zh-CN" sz="1100"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6" name="Rectangle 34"/>
                <p:cNvSpPr>
                  <a:spLocks noChangeArrowheads="1"/>
                </p:cNvSpPr>
                <p:nvPr/>
              </p:nvSpPr>
              <p:spPr bwMode="auto">
                <a:xfrm>
                  <a:off x="3460" y="1211"/>
                  <a:ext cx="1055" cy="5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488" tIns="44450" rIns="90488" bIns="44450">
                  <a:spAutoFit/>
                </a:bodyPr>
                <a:lstStyle>
                  <a:lvl1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AutoNum type="arabicPeriod"/>
                    <a:defRPr kumimoji="1" sz="2600">
                      <a:solidFill>
                        <a:srgbClr val="E24C05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Font typeface="Wingdings" panose="05000000000000000000" pitchFamily="2" charset="2"/>
                    <a:buChar char="Ø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q"/>
                    <a:defRPr kumimoji="1" sz="2000">
                      <a:solidFill>
                        <a:srgbClr val="000000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6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en-US" sz="1400" b="1" dirty="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Shared</a:t>
                  </a:r>
                </a:p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US" altLang="en-US" sz="14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2" name="Group 43"/>
              <p:cNvGrpSpPr>
                <a:grpSpLocks/>
              </p:cNvGrpSpPr>
              <p:nvPr/>
            </p:nvGrpSpPr>
            <p:grpSpPr bwMode="auto">
              <a:xfrm>
                <a:off x="2770323" y="5416428"/>
                <a:ext cx="1515536" cy="1220812"/>
                <a:chOff x="1370" y="3172"/>
                <a:chExt cx="986" cy="848"/>
              </a:xfrm>
            </p:grpSpPr>
            <p:sp>
              <p:nvSpPr>
                <p:cNvPr id="23" name="Oval 29"/>
                <p:cNvSpPr>
                  <a:spLocks noChangeArrowheads="1"/>
                </p:cNvSpPr>
                <p:nvPr/>
              </p:nvSpPr>
              <p:spPr bwMode="auto">
                <a:xfrm>
                  <a:off x="1408" y="3172"/>
                  <a:ext cx="884" cy="848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A8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AutoNum type="arabicPeriod"/>
                    <a:defRPr kumimoji="1" sz="2600">
                      <a:solidFill>
                        <a:srgbClr val="E24C05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Font typeface="Wingdings" panose="05000000000000000000" pitchFamily="2" charset="2"/>
                    <a:buChar char="Ø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q"/>
                    <a:defRPr kumimoji="1" sz="2000">
                      <a:solidFill>
                        <a:srgbClr val="000000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6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>
                    <a:solidFill>
                      <a:schemeClr val="tx1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4" name="Rectangle 35"/>
                <p:cNvSpPr>
                  <a:spLocks noChangeArrowheads="1"/>
                </p:cNvSpPr>
                <p:nvPr/>
              </p:nvSpPr>
              <p:spPr bwMode="auto">
                <a:xfrm>
                  <a:off x="1370" y="3452"/>
                  <a:ext cx="986" cy="3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488" tIns="44450" rIns="90488" bIns="44450">
                  <a:spAutoFit/>
                </a:bodyPr>
                <a:lstStyle>
                  <a:lvl1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AutoNum type="arabicPeriod"/>
                    <a:defRPr kumimoji="1" sz="2600">
                      <a:solidFill>
                        <a:srgbClr val="E24C05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Font typeface="Wingdings" panose="05000000000000000000" pitchFamily="2" charset="2"/>
                    <a:buChar char="Ø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q"/>
                    <a:defRPr kumimoji="1" sz="2000">
                      <a:solidFill>
                        <a:srgbClr val="000000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6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400" b="1" dirty="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Modified</a:t>
                  </a:r>
                  <a:endParaRPr kumimoji="0" lang="en-US" altLang="en-US" sz="14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18" name="矩形 17"/>
            <p:cNvSpPr/>
            <p:nvPr/>
          </p:nvSpPr>
          <p:spPr>
            <a:xfrm>
              <a:off x="3107790" y="5981264"/>
              <a:ext cx="902811" cy="2215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dirty="0">
                  <a:solidFill>
                    <a:schemeClr val="accent5"/>
                  </a:solidFill>
                  <a:ea typeface="宋体" panose="02010600030101010101" pitchFamily="2" charset="-122"/>
                </a:rPr>
                <a:t>Read hit</a:t>
              </a:r>
            </a:p>
          </p:txBody>
        </p:sp>
        <p:sp>
          <p:nvSpPr>
            <p:cNvPr id="19" name="矩形 18"/>
            <p:cNvSpPr/>
            <p:nvPr/>
          </p:nvSpPr>
          <p:spPr>
            <a:xfrm>
              <a:off x="6697124" y="3009304"/>
              <a:ext cx="902811" cy="2215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dirty="0">
                  <a:solidFill>
                    <a:schemeClr val="accent5"/>
                  </a:solidFill>
                  <a:ea typeface="宋体" panose="02010600030101010101" pitchFamily="2" charset="-122"/>
                </a:rPr>
                <a:t>Read hit</a:t>
              </a:r>
            </a:p>
          </p:txBody>
        </p:sp>
        <p:sp>
          <p:nvSpPr>
            <p:cNvPr id="33" name="矩形 32"/>
            <p:cNvSpPr/>
            <p:nvPr/>
          </p:nvSpPr>
          <p:spPr>
            <a:xfrm>
              <a:off x="4973124" y="3393141"/>
              <a:ext cx="992579" cy="2215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dirty="0">
                  <a:solidFill>
                    <a:srgbClr val="A200A2"/>
                  </a:solidFill>
                  <a:ea typeface="宋体" panose="02010600030101010101" pitchFamily="2" charset="-122"/>
                </a:rPr>
                <a:t>Read miss</a:t>
              </a:r>
            </a:p>
          </p:txBody>
        </p:sp>
        <p:sp>
          <p:nvSpPr>
            <p:cNvPr id="34" name="Line 30"/>
            <p:cNvSpPr>
              <a:spLocks noChangeShapeType="1"/>
            </p:cNvSpPr>
            <p:nvPr/>
          </p:nvSpPr>
          <p:spPr bwMode="auto">
            <a:xfrm>
              <a:off x="4996077" y="3666495"/>
              <a:ext cx="127277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0" name="矩形 39"/>
            <p:cNvSpPr/>
            <p:nvPr/>
          </p:nvSpPr>
          <p:spPr>
            <a:xfrm>
              <a:off x="7386641" y="3659570"/>
              <a:ext cx="992579" cy="2215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dirty="0">
                  <a:solidFill>
                    <a:srgbClr val="A200A2"/>
                  </a:solidFill>
                  <a:ea typeface="宋体" panose="02010600030101010101" pitchFamily="2" charset="-122"/>
                </a:rPr>
                <a:t>Read miss</a:t>
              </a:r>
            </a:p>
          </p:txBody>
        </p:sp>
        <p:sp>
          <p:nvSpPr>
            <p:cNvPr id="41" name="Line 30"/>
            <p:cNvSpPr>
              <a:spLocks noChangeShapeType="1"/>
            </p:cNvSpPr>
            <p:nvPr/>
          </p:nvSpPr>
          <p:spPr bwMode="auto">
            <a:xfrm flipV="1">
              <a:off x="4953919" y="4001039"/>
              <a:ext cx="1526394" cy="171148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2" name="矩形 41"/>
            <p:cNvSpPr/>
            <p:nvPr/>
          </p:nvSpPr>
          <p:spPr>
            <a:xfrm rot="18777607">
              <a:off x="5130323" y="4668816"/>
              <a:ext cx="992579" cy="2215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dirty="0">
                  <a:solidFill>
                    <a:srgbClr val="A200A2"/>
                  </a:solidFill>
                  <a:ea typeface="宋体" panose="02010600030101010101" pitchFamily="2" charset="-122"/>
                </a:rPr>
                <a:t>Read miss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491402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3832" y="133739"/>
            <a:ext cx="9296400" cy="6441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I.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请求来自处理器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–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写命中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6985443"/>
              </p:ext>
            </p:extLst>
          </p:nvPr>
        </p:nvGraphicFramePr>
        <p:xfrm>
          <a:off x="522321" y="897086"/>
          <a:ext cx="11060079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22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1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6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所寻址缓存块状态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缓存操作类型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功能与解释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已修改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正常命中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在本地缓存中写数据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共享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一致性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将失效的操作放在总线上。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矩形标注 3"/>
          <p:cNvSpPr/>
          <p:nvPr/>
        </p:nvSpPr>
        <p:spPr>
          <a:xfrm>
            <a:off x="9840684" y="2128769"/>
            <a:ext cx="2255521" cy="612648"/>
          </a:xfrm>
          <a:prstGeom prst="wedgeRectCallout">
            <a:avLst>
              <a:gd name="adj1" fmla="val -84642"/>
              <a:gd name="adj2" fmla="val -6827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这个操作不提取数据仅仅改变状态。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2958319" y="2741417"/>
            <a:ext cx="5298981" cy="3409477"/>
            <a:chOff x="2958319" y="2741417"/>
            <a:chExt cx="5298981" cy="3409477"/>
          </a:xfrm>
        </p:grpSpPr>
        <p:grpSp>
          <p:nvGrpSpPr>
            <p:cNvPr id="5" name="组合 4"/>
            <p:cNvGrpSpPr/>
            <p:nvPr/>
          </p:nvGrpSpPr>
          <p:grpSpPr>
            <a:xfrm>
              <a:off x="2985870" y="2741417"/>
              <a:ext cx="5271430" cy="3236396"/>
              <a:chOff x="3107790" y="3009304"/>
              <a:chExt cx="5271430" cy="3236396"/>
            </a:xfrm>
          </p:grpSpPr>
          <p:grpSp>
            <p:nvGrpSpPr>
              <p:cNvPr id="6" name="Group 14"/>
              <p:cNvGrpSpPr>
                <a:grpSpLocks/>
              </p:cNvGrpSpPr>
              <p:nvPr/>
            </p:nvGrpSpPr>
            <p:grpSpPr bwMode="auto">
              <a:xfrm rot="9177292">
                <a:off x="6983942" y="3559340"/>
                <a:ext cx="430771" cy="407972"/>
                <a:chOff x="1776" y="3024"/>
                <a:chExt cx="402" cy="384"/>
              </a:xfrm>
            </p:grpSpPr>
            <p:sp>
              <p:nvSpPr>
                <p:cNvPr id="30" name="Oval 15"/>
                <p:cNvSpPr>
                  <a:spLocks noChangeArrowheads="1"/>
                </p:cNvSpPr>
                <p:nvPr/>
              </p:nvSpPr>
              <p:spPr bwMode="auto">
                <a:xfrm>
                  <a:off x="1776" y="3024"/>
                  <a:ext cx="384" cy="384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AutoNum type="arabicPeriod"/>
                    <a:defRPr kumimoji="1" sz="2600">
                      <a:solidFill>
                        <a:srgbClr val="E24C05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Font typeface="Wingdings" panose="05000000000000000000" pitchFamily="2" charset="2"/>
                    <a:buChar char="Ø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q"/>
                    <a:defRPr kumimoji="1" sz="2000">
                      <a:solidFill>
                        <a:srgbClr val="000000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6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>
                    <a:solidFill>
                      <a:schemeClr val="tx1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1" name="Line 16"/>
                <p:cNvSpPr>
                  <a:spLocks noChangeShapeType="1"/>
                </p:cNvSpPr>
                <p:nvPr/>
              </p:nvSpPr>
              <p:spPr bwMode="auto">
                <a:xfrm rot="1800000">
                  <a:off x="2082" y="3102"/>
                  <a:ext cx="96" cy="4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endParaRPr lang="zh-CN" altLang="en-US" sz="1100"/>
                </a:p>
              </p:txBody>
            </p:sp>
          </p:grpSp>
          <p:grpSp>
            <p:nvGrpSpPr>
              <p:cNvPr id="7" name="Group 14"/>
              <p:cNvGrpSpPr>
                <a:grpSpLocks/>
              </p:cNvGrpSpPr>
              <p:nvPr/>
            </p:nvGrpSpPr>
            <p:grpSpPr bwMode="auto">
              <a:xfrm rot="900131">
                <a:off x="6306069" y="3054838"/>
                <a:ext cx="430771" cy="407972"/>
                <a:chOff x="1776" y="3024"/>
                <a:chExt cx="402" cy="384"/>
              </a:xfrm>
            </p:grpSpPr>
            <p:sp>
              <p:nvSpPr>
                <p:cNvPr id="28" name="Oval 15"/>
                <p:cNvSpPr>
                  <a:spLocks noChangeArrowheads="1"/>
                </p:cNvSpPr>
                <p:nvPr/>
              </p:nvSpPr>
              <p:spPr bwMode="auto">
                <a:xfrm>
                  <a:off x="1776" y="3024"/>
                  <a:ext cx="384" cy="384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AutoNum type="arabicPeriod"/>
                    <a:defRPr kumimoji="1" sz="2600">
                      <a:solidFill>
                        <a:srgbClr val="E24C05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Font typeface="Wingdings" panose="05000000000000000000" pitchFamily="2" charset="2"/>
                    <a:buChar char="Ø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q"/>
                    <a:defRPr kumimoji="1" sz="2000">
                      <a:solidFill>
                        <a:srgbClr val="000000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6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>
                    <a:solidFill>
                      <a:schemeClr val="tx1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9" name="Line 16"/>
                <p:cNvSpPr>
                  <a:spLocks noChangeShapeType="1"/>
                </p:cNvSpPr>
                <p:nvPr/>
              </p:nvSpPr>
              <p:spPr bwMode="auto">
                <a:xfrm rot="1800000">
                  <a:off x="2082" y="3102"/>
                  <a:ext cx="96" cy="4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endParaRPr lang="zh-CN" altLang="en-US" sz="1100"/>
                </a:p>
              </p:txBody>
            </p:sp>
          </p:grpSp>
          <p:grpSp>
            <p:nvGrpSpPr>
              <p:cNvPr id="8" name="Group 14"/>
              <p:cNvGrpSpPr>
                <a:grpSpLocks/>
              </p:cNvGrpSpPr>
              <p:nvPr/>
            </p:nvGrpSpPr>
            <p:grpSpPr bwMode="auto">
              <a:xfrm rot="20448015">
                <a:off x="3866541" y="5509183"/>
                <a:ext cx="430771" cy="407972"/>
                <a:chOff x="1776" y="3025"/>
                <a:chExt cx="402" cy="384"/>
              </a:xfrm>
            </p:grpSpPr>
            <p:sp>
              <p:nvSpPr>
                <p:cNvPr id="26" name="Oval 15"/>
                <p:cNvSpPr>
                  <a:spLocks noChangeArrowheads="1"/>
                </p:cNvSpPr>
                <p:nvPr/>
              </p:nvSpPr>
              <p:spPr bwMode="auto">
                <a:xfrm>
                  <a:off x="1776" y="3025"/>
                  <a:ext cx="384" cy="384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AutoNum type="arabicPeriod"/>
                    <a:defRPr kumimoji="1" sz="2600">
                      <a:solidFill>
                        <a:srgbClr val="E24C05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Font typeface="Wingdings" panose="05000000000000000000" pitchFamily="2" charset="2"/>
                    <a:buChar char="Ø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q"/>
                    <a:defRPr kumimoji="1" sz="2000">
                      <a:solidFill>
                        <a:srgbClr val="000000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6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>
                    <a:solidFill>
                      <a:schemeClr val="tx1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" name="Line 16"/>
                <p:cNvSpPr>
                  <a:spLocks noChangeShapeType="1"/>
                </p:cNvSpPr>
                <p:nvPr/>
              </p:nvSpPr>
              <p:spPr bwMode="auto">
                <a:xfrm rot="1800000">
                  <a:off x="2082" y="3102"/>
                  <a:ext cx="96" cy="4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endParaRPr lang="zh-CN" altLang="en-US" sz="1100"/>
                </a:p>
              </p:txBody>
            </p:sp>
          </p:grpSp>
          <p:grpSp>
            <p:nvGrpSpPr>
              <p:cNvPr id="9" name="组合 8"/>
              <p:cNvGrpSpPr/>
              <p:nvPr/>
            </p:nvGrpSpPr>
            <p:grpSpPr>
              <a:xfrm>
                <a:off x="4110736" y="3268494"/>
                <a:ext cx="3088592" cy="2977206"/>
                <a:chOff x="2770323" y="2071167"/>
                <a:chExt cx="4943904" cy="4566073"/>
              </a:xfrm>
            </p:grpSpPr>
            <p:grpSp>
              <p:nvGrpSpPr>
                <p:cNvPr id="17" name="Group 42"/>
                <p:cNvGrpSpPr>
                  <a:grpSpLocks/>
                </p:cNvGrpSpPr>
                <p:nvPr/>
              </p:nvGrpSpPr>
              <p:grpSpPr bwMode="auto">
                <a:xfrm>
                  <a:off x="2828879" y="2071167"/>
                  <a:ext cx="1358756" cy="1220813"/>
                  <a:chOff x="1410" y="935"/>
                  <a:chExt cx="884" cy="848"/>
                </a:xfrm>
              </p:grpSpPr>
              <p:sp>
                <p:nvSpPr>
                  <p:cNvPr id="24" name="Oval 4"/>
                  <p:cNvSpPr>
                    <a:spLocks noChangeArrowheads="1"/>
                  </p:cNvSpPr>
                  <p:nvPr/>
                </p:nvSpPr>
                <p:spPr bwMode="auto">
                  <a:xfrm>
                    <a:off x="1410" y="935"/>
                    <a:ext cx="884" cy="848"/>
                  </a:xfrm>
                  <a:prstGeom prst="ellipse">
                    <a:avLst/>
                  </a:prstGeom>
                  <a:solidFill>
                    <a:srgbClr val="0000FF"/>
                  </a:solidFill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AutoNum type="arabicPeriod"/>
                      <a:defRPr kumimoji="1" sz="2600">
                        <a:solidFill>
                          <a:srgbClr val="E24C05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Font typeface="Wingdings" panose="05000000000000000000" pitchFamily="2" charset="2"/>
                      <a:buChar char="Ø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q"/>
                      <a:defRPr kumimoji="1" sz="2000">
                        <a:solidFill>
                          <a:srgbClr val="000000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SzPct val="65000"/>
                      <a:buFont typeface="Wingdings" panose="05000000000000000000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1400">
                      <a:solidFill>
                        <a:schemeClr val="tx1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5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1470" y="1188"/>
                    <a:ext cx="780" cy="3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488" tIns="44450" rIns="90488" bIns="44450">
                    <a:spAutoFit/>
                  </a:bodyPr>
                  <a:lstStyle>
                    <a:lvl1pPr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AutoNum type="arabicPeriod"/>
                      <a:defRPr kumimoji="1" sz="2600">
                        <a:solidFill>
                          <a:srgbClr val="E24C05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Font typeface="Wingdings" panose="05000000000000000000" pitchFamily="2" charset="2"/>
                      <a:buChar char="Ø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q"/>
                      <a:defRPr kumimoji="1" sz="2000">
                        <a:solidFill>
                          <a:srgbClr val="000000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SzPct val="65000"/>
                      <a:buFont typeface="Wingdings" panose="05000000000000000000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en-US" sz="14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rPr>
                      <a:t>Invalid</a:t>
                    </a:r>
                  </a:p>
                </p:txBody>
              </p:sp>
            </p:grpSp>
            <p:grpSp>
              <p:nvGrpSpPr>
                <p:cNvPr id="18" name="Group 44"/>
                <p:cNvGrpSpPr>
                  <a:grpSpLocks/>
                </p:cNvGrpSpPr>
                <p:nvPr/>
              </p:nvGrpSpPr>
              <p:grpSpPr bwMode="auto">
                <a:xfrm>
                  <a:off x="6092635" y="2071167"/>
                  <a:ext cx="1621592" cy="1220812"/>
                  <a:chOff x="3460" y="935"/>
                  <a:chExt cx="1055" cy="848"/>
                </a:xfrm>
              </p:grpSpPr>
              <p:sp>
                <p:nvSpPr>
                  <p:cNvPr id="22" name="Oval 28"/>
                  <p:cNvSpPr>
                    <a:spLocks noChangeArrowheads="1"/>
                  </p:cNvSpPr>
                  <p:nvPr/>
                </p:nvSpPr>
                <p:spPr bwMode="auto">
                  <a:xfrm>
                    <a:off x="3546" y="935"/>
                    <a:ext cx="884" cy="848"/>
                  </a:xfrm>
                  <a:prstGeom prst="ellipse">
                    <a:avLst/>
                  </a:prstGeom>
                  <a:solidFill>
                    <a:srgbClr val="00BC00"/>
                  </a:solidFill>
                  <a:ln w="25400">
                    <a:solidFill>
                      <a:srgbClr val="008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AutoNum type="arabicPeriod"/>
                      <a:defRPr kumimoji="1" sz="2600">
                        <a:solidFill>
                          <a:srgbClr val="E24C05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Font typeface="Wingdings" panose="05000000000000000000" pitchFamily="2" charset="2"/>
                      <a:buChar char="Ø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q"/>
                      <a:defRPr kumimoji="1" sz="2000">
                        <a:solidFill>
                          <a:srgbClr val="000000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SzPct val="65000"/>
                      <a:buFont typeface="Wingdings" panose="05000000000000000000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en-US" altLang="zh-CN" sz="11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3" name="Rectangle 34"/>
                  <p:cNvSpPr>
                    <a:spLocks noChangeArrowheads="1"/>
                  </p:cNvSpPr>
                  <p:nvPr/>
                </p:nvSpPr>
                <p:spPr bwMode="auto">
                  <a:xfrm>
                    <a:off x="3460" y="1211"/>
                    <a:ext cx="1055" cy="55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488" tIns="44450" rIns="90488" bIns="44450">
                    <a:spAutoFit/>
                  </a:bodyPr>
                  <a:lstStyle>
                    <a:lvl1pPr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AutoNum type="arabicPeriod"/>
                      <a:defRPr kumimoji="1" sz="2600">
                        <a:solidFill>
                          <a:srgbClr val="E24C05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Font typeface="Wingdings" panose="05000000000000000000" pitchFamily="2" charset="2"/>
                      <a:buChar char="Ø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q"/>
                      <a:defRPr kumimoji="1" sz="2000">
                        <a:solidFill>
                          <a:srgbClr val="000000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SzPct val="65000"/>
                      <a:buFont typeface="Wingdings" panose="05000000000000000000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en-US" sz="14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rPr>
                      <a:t>Shared</a:t>
                    </a:r>
                  </a:p>
                  <a:p>
                    <a:pPr algn="ctr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en-US" altLang="en-US" sz="1400" b="1" dirty="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19" name="Group 43"/>
                <p:cNvGrpSpPr>
                  <a:grpSpLocks/>
                </p:cNvGrpSpPr>
                <p:nvPr/>
              </p:nvGrpSpPr>
              <p:grpSpPr bwMode="auto">
                <a:xfrm>
                  <a:off x="2770323" y="5416428"/>
                  <a:ext cx="1515536" cy="1220812"/>
                  <a:chOff x="1370" y="3172"/>
                  <a:chExt cx="986" cy="848"/>
                </a:xfrm>
              </p:grpSpPr>
              <p:sp>
                <p:nvSpPr>
                  <p:cNvPr id="20" name="Oval 29"/>
                  <p:cNvSpPr>
                    <a:spLocks noChangeArrowheads="1"/>
                  </p:cNvSpPr>
                  <p:nvPr/>
                </p:nvSpPr>
                <p:spPr bwMode="auto">
                  <a:xfrm>
                    <a:off x="1408" y="3172"/>
                    <a:ext cx="884" cy="848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5400">
                    <a:solidFill>
                      <a:srgbClr val="A8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AutoNum type="arabicPeriod"/>
                      <a:defRPr kumimoji="1" sz="2600">
                        <a:solidFill>
                          <a:srgbClr val="E24C05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Font typeface="Wingdings" panose="05000000000000000000" pitchFamily="2" charset="2"/>
                      <a:buChar char="Ø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q"/>
                      <a:defRPr kumimoji="1" sz="2000">
                        <a:solidFill>
                          <a:srgbClr val="000000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SzPct val="65000"/>
                      <a:buFont typeface="Wingdings" panose="05000000000000000000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1400">
                      <a:solidFill>
                        <a:schemeClr val="tx1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1" name="Rectangle 35"/>
                  <p:cNvSpPr>
                    <a:spLocks noChangeArrowheads="1"/>
                  </p:cNvSpPr>
                  <p:nvPr/>
                </p:nvSpPr>
                <p:spPr bwMode="auto">
                  <a:xfrm>
                    <a:off x="1370" y="3452"/>
                    <a:ext cx="986" cy="3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488" tIns="44450" rIns="90488" bIns="44450">
                    <a:spAutoFit/>
                  </a:bodyPr>
                  <a:lstStyle>
                    <a:lvl1pPr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AutoNum type="arabicPeriod"/>
                      <a:defRPr kumimoji="1" sz="2600">
                        <a:solidFill>
                          <a:srgbClr val="E24C05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Font typeface="Wingdings" panose="05000000000000000000" pitchFamily="2" charset="2"/>
                      <a:buChar char="Ø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q"/>
                      <a:defRPr kumimoji="1" sz="2000">
                        <a:solidFill>
                          <a:srgbClr val="000000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SzPct val="65000"/>
                      <a:buFont typeface="Wingdings" panose="05000000000000000000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14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rPr>
                      <a:t>Modified</a:t>
                    </a:r>
                    <a:endParaRPr kumimoji="0" lang="en-US" altLang="en-US" sz="1400" b="1" dirty="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sp>
            <p:nvSpPr>
              <p:cNvPr id="10" name="矩形 9"/>
              <p:cNvSpPr/>
              <p:nvPr/>
            </p:nvSpPr>
            <p:spPr>
              <a:xfrm>
                <a:off x="3107790" y="5981264"/>
                <a:ext cx="902811" cy="2215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altLang="zh-CN" sz="1400" dirty="0">
                    <a:solidFill>
                      <a:schemeClr val="accent5"/>
                    </a:solidFill>
                    <a:ea typeface="宋体" panose="02010600030101010101" pitchFamily="2" charset="-122"/>
                  </a:rPr>
                  <a:t>Read hit</a:t>
                </a: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6697124" y="3009304"/>
                <a:ext cx="902811" cy="2215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altLang="zh-CN" sz="1400" dirty="0">
                    <a:solidFill>
                      <a:schemeClr val="accent5"/>
                    </a:solidFill>
                    <a:ea typeface="宋体" panose="02010600030101010101" pitchFamily="2" charset="-122"/>
                  </a:rPr>
                  <a:t>Read hit</a:t>
                </a: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4973124" y="3393141"/>
                <a:ext cx="992579" cy="2215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altLang="zh-CN" sz="1400" dirty="0">
                    <a:solidFill>
                      <a:srgbClr val="A200A2"/>
                    </a:solidFill>
                    <a:ea typeface="宋体" panose="02010600030101010101" pitchFamily="2" charset="-122"/>
                  </a:rPr>
                  <a:t>Read miss</a:t>
                </a:r>
              </a:p>
            </p:txBody>
          </p:sp>
          <p:sp>
            <p:nvSpPr>
              <p:cNvPr id="13" name="Line 30"/>
              <p:cNvSpPr>
                <a:spLocks noChangeShapeType="1"/>
              </p:cNvSpPr>
              <p:nvPr/>
            </p:nvSpPr>
            <p:spPr bwMode="auto">
              <a:xfrm>
                <a:off x="4996077" y="3666495"/>
                <a:ext cx="127277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7386641" y="3659570"/>
                <a:ext cx="992579" cy="2215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altLang="zh-CN" sz="1400" dirty="0">
                    <a:solidFill>
                      <a:srgbClr val="A200A2"/>
                    </a:solidFill>
                    <a:ea typeface="宋体" panose="02010600030101010101" pitchFamily="2" charset="-122"/>
                  </a:rPr>
                  <a:t>Read miss</a:t>
                </a:r>
              </a:p>
            </p:txBody>
          </p:sp>
          <p:sp>
            <p:nvSpPr>
              <p:cNvPr id="15" name="Line 30"/>
              <p:cNvSpPr>
                <a:spLocks noChangeShapeType="1"/>
              </p:cNvSpPr>
              <p:nvPr/>
            </p:nvSpPr>
            <p:spPr bwMode="auto">
              <a:xfrm flipV="1">
                <a:off x="4762599" y="3784333"/>
                <a:ext cx="1526394" cy="171148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16" name="矩形 15"/>
              <p:cNvSpPr/>
              <p:nvPr/>
            </p:nvSpPr>
            <p:spPr>
              <a:xfrm rot="18777607">
                <a:off x="4876933" y="4533917"/>
                <a:ext cx="992579" cy="2215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altLang="zh-CN" sz="1400" dirty="0">
                    <a:solidFill>
                      <a:srgbClr val="A200A2"/>
                    </a:solidFill>
                    <a:ea typeface="宋体" panose="02010600030101010101" pitchFamily="2" charset="-122"/>
                  </a:rPr>
                  <a:t>Read miss</a:t>
                </a:r>
              </a:p>
            </p:txBody>
          </p:sp>
        </p:grpSp>
        <p:sp>
          <p:nvSpPr>
            <p:cNvPr id="32" name="矩形 31"/>
            <p:cNvSpPr/>
            <p:nvPr/>
          </p:nvSpPr>
          <p:spPr>
            <a:xfrm>
              <a:off x="2958319" y="5929295"/>
              <a:ext cx="992579" cy="2215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dirty="0">
                  <a:solidFill>
                    <a:srgbClr val="D50101"/>
                  </a:solidFill>
                  <a:ea typeface="宋体" panose="02010600030101010101" pitchFamily="2" charset="-122"/>
                </a:rPr>
                <a:t>Write hit</a:t>
              </a:r>
            </a:p>
          </p:txBody>
        </p:sp>
        <p:sp>
          <p:nvSpPr>
            <p:cNvPr id="33" name="Line 30"/>
            <p:cNvSpPr>
              <a:spLocks noChangeShapeType="1"/>
            </p:cNvSpPr>
            <p:nvPr/>
          </p:nvSpPr>
          <p:spPr bwMode="auto">
            <a:xfrm flipH="1">
              <a:off x="4851202" y="3754571"/>
              <a:ext cx="1482469" cy="16900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" name="矩形 60"/>
            <p:cNvSpPr/>
            <p:nvPr/>
          </p:nvSpPr>
          <p:spPr>
            <a:xfrm rot="18732890">
              <a:off x="4969314" y="4500847"/>
              <a:ext cx="992579" cy="2215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dirty="0">
                  <a:solidFill>
                    <a:srgbClr val="D50101"/>
                  </a:solidFill>
                  <a:ea typeface="宋体" panose="02010600030101010101" pitchFamily="2" charset="-122"/>
                </a:rPr>
                <a:t>Write hit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3087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3832" y="133739"/>
            <a:ext cx="9296400" cy="6441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I.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请求来自处理器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–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写缺失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501340"/>
              </p:ext>
            </p:extLst>
          </p:nvPr>
        </p:nvGraphicFramePr>
        <p:xfrm>
          <a:off x="522321" y="897086"/>
          <a:ext cx="110778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268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50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所寻址缓存块状态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缓存操作类型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功能与解释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无效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正常缺失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将写缺失放在总线上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共享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替换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地址冲突缺失：将写缺失放在总线上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已修改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替换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地址冲突缺失；写回，然后将写缺失放总线上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3" name="组合 42"/>
          <p:cNvGrpSpPr/>
          <p:nvPr/>
        </p:nvGrpSpPr>
        <p:grpSpPr>
          <a:xfrm>
            <a:off x="3000849" y="2890273"/>
            <a:ext cx="5298981" cy="3731478"/>
            <a:chOff x="3000849" y="2890273"/>
            <a:chExt cx="5298981" cy="3731478"/>
          </a:xfrm>
        </p:grpSpPr>
        <p:grpSp>
          <p:nvGrpSpPr>
            <p:cNvPr id="39" name="Group 14"/>
            <p:cNvGrpSpPr>
              <a:grpSpLocks/>
            </p:cNvGrpSpPr>
            <p:nvPr/>
          </p:nvGrpSpPr>
          <p:grpSpPr bwMode="auto">
            <a:xfrm rot="11970357">
              <a:off x="4501785" y="5974890"/>
              <a:ext cx="430771" cy="407972"/>
              <a:chOff x="1776" y="3024"/>
              <a:chExt cx="402" cy="384"/>
            </a:xfrm>
          </p:grpSpPr>
          <p:sp>
            <p:nvSpPr>
              <p:cNvPr id="40" name="Oval 15"/>
              <p:cNvSpPr>
                <a:spLocks noChangeArrowheads="1"/>
              </p:cNvSpPr>
              <p:nvPr/>
            </p:nvSpPr>
            <p:spPr bwMode="auto">
              <a:xfrm>
                <a:off x="1776" y="3024"/>
                <a:ext cx="384" cy="38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4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1" name="Line 16"/>
              <p:cNvSpPr>
                <a:spLocks noChangeShapeType="1"/>
              </p:cNvSpPr>
              <p:nvPr/>
            </p:nvSpPr>
            <p:spPr bwMode="auto">
              <a:xfrm rot="1800000">
                <a:off x="2082" y="3102"/>
                <a:ext cx="96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sz="1100"/>
              </a:p>
            </p:txBody>
          </p:sp>
        </p:grpSp>
        <p:grpSp>
          <p:nvGrpSpPr>
            <p:cNvPr id="9" name="Group 14"/>
            <p:cNvGrpSpPr>
              <a:grpSpLocks/>
            </p:cNvGrpSpPr>
            <p:nvPr/>
          </p:nvGrpSpPr>
          <p:grpSpPr bwMode="auto">
            <a:xfrm rot="9177292">
              <a:off x="6904552" y="3440309"/>
              <a:ext cx="430771" cy="407972"/>
              <a:chOff x="1776" y="3024"/>
              <a:chExt cx="402" cy="384"/>
            </a:xfrm>
          </p:grpSpPr>
          <p:sp>
            <p:nvSpPr>
              <p:cNvPr id="33" name="Oval 15"/>
              <p:cNvSpPr>
                <a:spLocks noChangeArrowheads="1"/>
              </p:cNvSpPr>
              <p:nvPr/>
            </p:nvSpPr>
            <p:spPr bwMode="auto">
              <a:xfrm>
                <a:off x="1776" y="3024"/>
                <a:ext cx="384" cy="38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4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4" name="Line 16"/>
              <p:cNvSpPr>
                <a:spLocks noChangeShapeType="1"/>
              </p:cNvSpPr>
              <p:nvPr/>
            </p:nvSpPr>
            <p:spPr bwMode="auto">
              <a:xfrm rot="1800000">
                <a:off x="2082" y="3102"/>
                <a:ext cx="96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sz="1100"/>
              </a:p>
            </p:txBody>
          </p:sp>
        </p:grpSp>
        <p:grpSp>
          <p:nvGrpSpPr>
            <p:cNvPr id="10" name="Group 14"/>
            <p:cNvGrpSpPr>
              <a:grpSpLocks/>
            </p:cNvGrpSpPr>
            <p:nvPr/>
          </p:nvGrpSpPr>
          <p:grpSpPr bwMode="auto">
            <a:xfrm rot="900131">
              <a:off x="6226679" y="2935807"/>
              <a:ext cx="430771" cy="407972"/>
              <a:chOff x="1776" y="3024"/>
              <a:chExt cx="402" cy="384"/>
            </a:xfrm>
          </p:grpSpPr>
          <p:sp>
            <p:nvSpPr>
              <p:cNvPr id="31" name="Oval 15"/>
              <p:cNvSpPr>
                <a:spLocks noChangeArrowheads="1"/>
              </p:cNvSpPr>
              <p:nvPr/>
            </p:nvSpPr>
            <p:spPr bwMode="auto">
              <a:xfrm>
                <a:off x="1776" y="3024"/>
                <a:ext cx="384" cy="38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4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 rot="1800000">
                <a:off x="2082" y="3102"/>
                <a:ext cx="96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sz="1100"/>
              </a:p>
            </p:txBody>
          </p:sp>
        </p:grpSp>
        <p:grpSp>
          <p:nvGrpSpPr>
            <p:cNvPr id="11" name="Group 14"/>
            <p:cNvGrpSpPr>
              <a:grpSpLocks/>
            </p:cNvGrpSpPr>
            <p:nvPr/>
          </p:nvGrpSpPr>
          <p:grpSpPr bwMode="auto">
            <a:xfrm rot="20448015">
              <a:off x="3787151" y="5390152"/>
              <a:ext cx="430771" cy="407972"/>
              <a:chOff x="1776" y="3025"/>
              <a:chExt cx="402" cy="384"/>
            </a:xfrm>
          </p:grpSpPr>
          <p:sp>
            <p:nvSpPr>
              <p:cNvPr id="29" name="Oval 15"/>
              <p:cNvSpPr>
                <a:spLocks noChangeArrowheads="1"/>
              </p:cNvSpPr>
              <p:nvPr/>
            </p:nvSpPr>
            <p:spPr bwMode="auto">
              <a:xfrm>
                <a:off x="1776" y="3025"/>
                <a:ext cx="384" cy="38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4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0" name="Line 16"/>
              <p:cNvSpPr>
                <a:spLocks noChangeShapeType="1"/>
              </p:cNvSpPr>
              <p:nvPr/>
            </p:nvSpPr>
            <p:spPr bwMode="auto">
              <a:xfrm rot="1800000">
                <a:off x="2082" y="3102"/>
                <a:ext cx="96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sz="1100"/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4031346" y="3149463"/>
              <a:ext cx="3088592" cy="2977206"/>
              <a:chOff x="2770323" y="2071167"/>
              <a:chExt cx="4943904" cy="4566073"/>
            </a:xfrm>
          </p:grpSpPr>
          <p:grpSp>
            <p:nvGrpSpPr>
              <p:cNvPr id="20" name="Group 42"/>
              <p:cNvGrpSpPr>
                <a:grpSpLocks/>
              </p:cNvGrpSpPr>
              <p:nvPr/>
            </p:nvGrpSpPr>
            <p:grpSpPr bwMode="auto">
              <a:xfrm>
                <a:off x="2828879" y="2071167"/>
                <a:ext cx="1358756" cy="1220813"/>
                <a:chOff x="1410" y="935"/>
                <a:chExt cx="884" cy="848"/>
              </a:xfrm>
            </p:grpSpPr>
            <p:sp>
              <p:nvSpPr>
                <p:cNvPr id="27" name="Oval 4"/>
                <p:cNvSpPr>
                  <a:spLocks noChangeArrowheads="1"/>
                </p:cNvSpPr>
                <p:nvPr/>
              </p:nvSpPr>
              <p:spPr bwMode="auto">
                <a:xfrm>
                  <a:off x="1410" y="935"/>
                  <a:ext cx="884" cy="848"/>
                </a:xfrm>
                <a:prstGeom prst="ellipse">
                  <a:avLst/>
                </a:prstGeom>
                <a:solidFill>
                  <a:srgbClr val="0000FF"/>
                </a:solidFill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AutoNum type="arabicPeriod"/>
                    <a:defRPr kumimoji="1" sz="2600">
                      <a:solidFill>
                        <a:srgbClr val="E24C05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Font typeface="Wingdings" panose="05000000000000000000" pitchFamily="2" charset="2"/>
                    <a:buChar char="Ø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q"/>
                    <a:defRPr kumimoji="1" sz="2000">
                      <a:solidFill>
                        <a:srgbClr val="000000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6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>
                    <a:solidFill>
                      <a:schemeClr val="tx1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8" name="Rectangle 18"/>
                <p:cNvSpPr>
                  <a:spLocks noChangeArrowheads="1"/>
                </p:cNvSpPr>
                <p:nvPr/>
              </p:nvSpPr>
              <p:spPr bwMode="auto">
                <a:xfrm>
                  <a:off x="1470" y="1188"/>
                  <a:ext cx="780" cy="3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AutoNum type="arabicPeriod"/>
                    <a:defRPr kumimoji="1" sz="2600">
                      <a:solidFill>
                        <a:srgbClr val="E24C05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Font typeface="Wingdings" panose="05000000000000000000" pitchFamily="2" charset="2"/>
                    <a:buChar char="Ø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q"/>
                    <a:defRPr kumimoji="1" sz="2000">
                      <a:solidFill>
                        <a:srgbClr val="000000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6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en-US" sz="1400" b="1" dirty="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Invalid</a:t>
                  </a:r>
                </a:p>
              </p:txBody>
            </p:sp>
          </p:grpSp>
          <p:grpSp>
            <p:nvGrpSpPr>
              <p:cNvPr id="21" name="Group 44"/>
              <p:cNvGrpSpPr>
                <a:grpSpLocks/>
              </p:cNvGrpSpPr>
              <p:nvPr/>
            </p:nvGrpSpPr>
            <p:grpSpPr bwMode="auto">
              <a:xfrm>
                <a:off x="6092635" y="2071167"/>
                <a:ext cx="1621592" cy="1220812"/>
                <a:chOff x="3460" y="935"/>
                <a:chExt cx="1055" cy="848"/>
              </a:xfrm>
            </p:grpSpPr>
            <p:sp>
              <p:nvSpPr>
                <p:cNvPr id="25" name="Oval 28"/>
                <p:cNvSpPr>
                  <a:spLocks noChangeArrowheads="1"/>
                </p:cNvSpPr>
                <p:nvPr/>
              </p:nvSpPr>
              <p:spPr bwMode="auto">
                <a:xfrm>
                  <a:off x="3546" y="935"/>
                  <a:ext cx="884" cy="848"/>
                </a:xfrm>
                <a:prstGeom prst="ellipse">
                  <a:avLst/>
                </a:prstGeom>
                <a:solidFill>
                  <a:srgbClr val="00BC00"/>
                </a:solidFill>
                <a:ln w="25400">
                  <a:solidFill>
                    <a:srgbClr val="008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AutoNum type="arabicPeriod"/>
                    <a:defRPr kumimoji="1" sz="2600">
                      <a:solidFill>
                        <a:srgbClr val="E24C05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Font typeface="Wingdings" panose="05000000000000000000" pitchFamily="2" charset="2"/>
                    <a:buChar char="Ø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q"/>
                    <a:defRPr kumimoji="1" sz="2000">
                      <a:solidFill>
                        <a:srgbClr val="000000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6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US" altLang="zh-CN" sz="1100"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6" name="Rectangle 34"/>
                <p:cNvSpPr>
                  <a:spLocks noChangeArrowheads="1"/>
                </p:cNvSpPr>
                <p:nvPr/>
              </p:nvSpPr>
              <p:spPr bwMode="auto">
                <a:xfrm>
                  <a:off x="3460" y="1211"/>
                  <a:ext cx="1055" cy="5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488" tIns="44450" rIns="90488" bIns="44450">
                  <a:spAutoFit/>
                </a:bodyPr>
                <a:lstStyle>
                  <a:lvl1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AutoNum type="arabicPeriod"/>
                    <a:defRPr kumimoji="1" sz="2600">
                      <a:solidFill>
                        <a:srgbClr val="E24C05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Font typeface="Wingdings" panose="05000000000000000000" pitchFamily="2" charset="2"/>
                    <a:buChar char="Ø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q"/>
                    <a:defRPr kumimoji="1" sz="2000">
                      <a:solidFill>
                        <a:srgbClr val="000000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6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en-US" sz="1400" b="1" dirty="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Shared</a:t>
                  </a:r>
                </a:p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US" altLang="en-US" sz="14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2" name="Group 43"/>
              <p:cNvGrpSpPr>
                <a:grpSpLocks/>
              </p:cNvGrpSpPr>
              <p:nvPr/>
            </p:nvGrpSpPr>
            <p:grpSpPr bwMode="auto">
              <a:xfrm>
                <a:off x="2770323" y="5416428"/>
                <a:ext cx="1515536" cy="1220812"/>
                <a:chOff x="1370" y="3172"/>
                <a:chExt cx="986" cy="848"/>
              </a:xfrm>
            </p:grpSpPr>
            <p:sp>
              <p:nvSpPr>
                <p:cNvPr id="23" name="Oval 29"/>
                <p:cNvSpPr>
                  <a:spLocks noChangeArrowheads="1"/>
                </p:cNvSpPr>
                <p:nvPr/>
              </p:nvSpPr>
              <p:spPr bwMode="auto">
                <a:xfrm>
                  <a:off x="1408" y="3172"/>
                  <a:ext cx="884" cy="848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A8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AutoNum type="arabicPeriod"/>
                    <a:defRPr kumimoji="1" sz="2600">
                      <a:solidFill>
                        <a:srgbClr val="E24C05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Font typeface="Wingdings" panose="05000000000000000000" pitchFamily="2" charset="2"/>
                    <a:buChar char="Ø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q"/>
                    <a:defRPr kumimoji="1" sz="2000">
                      <a:solidFill>
                        <a:srgbClr val="000000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6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>
                    <a:solidFill>
                      <a:schemeClr val="tx1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4" name="Rectangle 35"/>
                <p:cNvSpPr>
                  <a:spLocks noChangeArrowheads="1"/>
                </p:cNvSpPr>
                <p:nvPr/>
              </p:nvSpPr>
              <p:spPr bwMode="auto">
                <a:xfrm>
                  <a:off x="1370" y="3452"/>
                  <a:ext cx="986" cy="3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488" tIns="44450" rIns="90488" bIns="44450">
                  <a:spAutoFit/>
                </a:bodyPr>
                <a:lstStyle>
                  <a:lvl1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AutoNum type="arabicPeriod"/>
                    <a:defRPr kumimoji="1" sz="2600">
                      <a:solidFill>
                        <a:srgbClr val="E24C05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Font typeface="Wingdings" panose="05000000000000000000" pitchFamily="2" charset="2"/>
                    <a:buChar char="Ø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q"/>
                    <a:defRPr kumimoji="1" sz="2000">
                      <a:solidFill>
                        <a:srgbClr val="000000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6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400" b="1" dirty="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Modified</a:t>
                  </a:r>
                  <a:endParaRPr kumimoji="0" lang="en-US" altLang="en-US" sz="14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13" name="矩形 12"/>
            <p:cNvSpPr/>
            <p:nvPr/>
          </p:nvSpPr>
          <p:spPr>
            <a:xfrm>
              <a:off x="3028400" y="5862233"/>
              <a:ext cx="902811" cy="2215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dirty="0">
                  <a:solidFill>
                    <a:schemeClr val="accent5"/>
                  </a:solidFill>
                  <a:ea typeface="宋体" panose="02010600030101010101" pitchFamily="2" charset="-122"/>
                </a:rPr>
                <a:t>Read hit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6617734" y="2890273"/>
              <a:ext cx="902811" cy="2215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dirty="0">
                  <a:solidFill>
                    <a:schemeClr val="accent5"/>
                  </a:solidFill>
                  <a:ea typeface="宋体" panose="02010600030101010101" pitchFamily="2" charset="-122"/>
                </a:rPr>
                <a:t>Read hit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4893734" y="3274110"/>
              <a:ext cx="992579" cy="2215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dirty="0">
                  <a:solidFill>
                    <a:srgbClr val="A200A2"/>
                  </a:solidFill>
                  <a:ea typeface="宋体" panose="02010600030101010101" pitchFamily="2" charset="-122"/>
                </a:rPr>
                <a:t>Read miss</a:t>
              </a:r>
            </a:p>
          </p:txBody>
        </p:sp>
        <p:sp>
          <p:nvSpPr>
            <p:cNvPr id="16" name="Line 30"/>
            <p:cNvSpPr>
              <a:spLocks noChangeShapeType="1"/>
            </p:cNvSpPr>
            <p:nvPr/>
          </p:nvSpPr>
          <p:spPr bwMode="auto">
            <a:xfrm>
              <a:off x="4916687" y="3547464"/>
              <a:ext cx="127277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7" name="矩形 16"/>
            <p:cNvSpPr/>
            <p:nvPr/>
          </p:nvSpPr>
          <p:spPr>
            <a:xfrm>
              <a:off x="7307251" y="3540539"/>
              <a:ext cx="992579" cy="2215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dirty="0">
                  <a:solidFill>
                    <a:srgbClr val="A200A2"/>
                  </a:solidFill>
                  <a:ea typeface="宋体" panose="02010600030101010101" pitchFamily="2" charset="-122"/>
                </a:rPr>
                <a:t>Read miss</a:t>
              </a:r>
            </a:p>
          </p:txBody>
        </p:sp>
        <p:sp>
          <p:nvSpPr>
            <p:cNvPr id="18" name="Line 30"/>
            <p:cNvSpPr>
              <a:spLocks noChangeShapeType="1"/>
            </p:cNvSpPr>
            <p:nvPr/>
          </p:nvSpPr>
          <p:spPr bwMode="auto">
            <a:xfrm flipV="1">
              <a:off x="4654823" y="3634634"/>
              <a:ext cx="1526394" cy="171148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9" name="矩形 18"/>
            <p:cNvSpPr/>
            <p:nvPr/>
          </p:nvSpPr>
          <p:spPr>
            <a:xfrm rot="18777607">
              <a:off x="4740342" y="4370261"/>
              <a:ext cx="992579" cy="2215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dirty="0">
                  <a:solidFill>
                    <a:srgbClr val="A200A2"/>
                  </a:solidFill>
                  <a:ea typeface="宋体" panose="02010600030101010101" pitchFamily="2" charset="-122"/>
                </a:rPr>
                <a:t>Read miss</a:t>
              </a:r>
            </a:p>
          </p:txBody>
        </p:sp>
        <p:sp>
          <p:nvSpPr>
            <p:cNvPr id="6" name="矩形 5"/>
            <p:cNvSpPr/>
            <p:nvPr/>
          </p:nvSpPr>
          <p:spPr>
            <a:xfrm>
              <a:off x="3000849" y="6078151"/>
              <a:ext cx="992579" cy="2215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dirty="0">
                  <a:solidFill>
                    <a:srgbClr val="D50101"/>
                  </a:solidFill>
                  <a:ea typeface="宋体" panose="02010600030101010101" pitchFamily="2" charset="-122"/>
                </a:rPr>
                <a:t>Write hit</a:t>
              </a:r>
            </a:p>
          </p:txBody>
        </p:sp>
        <p:sp>
          <p:nvSpPr>
            <p:cNvPr id="7" name="Line 30"/>
            <p:cNvSpPr>
              <a:spLocks noChangeShapeType="1"/>
            </p:cNvSpPr>
            <p:nvPr/>
          </p:nvSpPr>
          <p:spPr bwMode="auto">
            <a:xfrm flipH="1">
              <a:off x="4811841" y="3801916"/>
              <a:ext cx="1482469" cy="16900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8" name="矩形 7"/>
            <p:cNvSpPr/>
            <p:nvPr/>
          </p:nvSpPr>
          <p:spPr>
            <a:xfrm rot="18732890">
              <a:off x="4940731" y="4550608"/>
              <a:ext cx="992579" cy="2215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dirty="0">
                  <a:solidFill>
                    <a:srgbClr val="D50101"/>
                  </a:solidFill>
                  <a:ea typeface="宋体" panose="02010600030101010101" pitchFamily="2" charset="-122"/>
                </a:rPr>
                <a:t>Write hit</a:t>
              </a:r>
            </a:p>
          </p:txBody>
        </p:sp>
        <p:sp>
          <p:nvSpPr>
            <p:cNvPr id="35" name="矩形 34"/>
            <p:cNvSpPr/>
            <p:nvPr/>
          </p:nvSpPr>
          <p:spPr>
            <a:xfrm rot="16200000">
              <a:off x="3817036" y="4485735"/>
              <a:ext cx="1082348" cy="2215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dirty="0">
                  <a:solidFill>
                    <a:srgbClr val="D66B00"/>
                  </a:solidFill>
                  <a:ea typeface="宋体" panose="02010600030101010101" pitchFamily="2" charset="-122"/>
                </a:rPr>
                <a:t>Write miss</a:t>
              </a:r>
            </a:p>
          </p:txBody>
        </p:sp>
        <p:sp>
          <p:nvSpPr>
            <p:cNvPr id="36" name="Line 30"/>
            <p:cNvSpPr>
              <a:spLocks noChangeShapeType="1"/>
            </p:cNvSpPr>
            <p:nvPr/>
          </p:nvSpPr>
          <p:spPr bwMode="auto">
            <a:xfrm flipH="1">
              <a:off x="4490088" y="3957423"/>
              <a:ext cx="16565" cy="140797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7" name="Line 30"/>
            <p:cNvSpPr>
              <a:spLocks noChangeShapeType="1"/>
            </p:cNvSpPr>
            <p:nvPr/>
          </p:nvSpPr>
          <p:spPr bwMode="auto">
            <a:xfrm flipH="1">
              <a:off x="4916686" y="3929508"/>
              <a:ext cx="1534642" cy="175543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8" name="矩形 37"/>
            <p:cNvSpPr/>
            <p:nvPr/>
          </p:nvSpPr>
          <p:spPr>
            <a:xfrm rot="18648707">
              <a:off x="5114183" y="4651573"/>
              <a:ext cx="1082348" cy="2215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dirty="0">
                  <a:solidFill>
                    <a:srgbClr val="D66B00"/>
                  </a:solidFill>
                  <a:ea typeface="宋体" panose="02010600030101010101" pitchFamily="2" charset="-122"/>
                </a:rPr>
                <a:t>Write miss</a:t>
              </a:r>
            </a:p>
          </p:txBody>
        </p:sp>
        <p:sp>
          <p:nvSpPr>
            <p:cNvPr id="42" name="矩形 41"/>
            <p:cNvSpPr/>
            <p:nvPr/>
          </p:nvSpPr>
          <p:spPr>
            <a:xfrm>
              <a:off x="4207288" y="6400152"/>
              <a:ext cx="1082348" cy="2215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dirty="0">
                  <a:solidFill>
                    <a:srgbClr val="D66B00"/>
                  </a:solidFill>
                  <a:ea typeface="宋体" panose="02010600030101010101" pitchFamily="2" charset="-122"/>
                </a:rPr>
                <a:t>Write miss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76031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3832" y="133739"/>
            <a:ext cx="9296400" cy="6441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II.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请求来自总线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–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读缺失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4113811"/>
              </p:ext>
            </p:extLst>
          </p:nvPr>
        </p:nvGraphicFramePr>
        <p:xfrm>
          <a:off x="522321" y="897086"/>
          <a:ext cx="11184126" cy="138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559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7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07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所寻址缓存块状态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缓存操作类型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功能与解释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共享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无操作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允许共享缓存或存储器为读取缺失提供服务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已修改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一致性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将修改写回，并中止存储器访问，尝试共享数据：将缓存块放总线上，并将状态改为共享。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5" name="组合 24"/>
          <p:cNvGrpSpPr/>
          <p:nvPr/>
        </p:nvGrpSpPr>
        <p:grpSpPr>
          <a:xfrm>
            <a:off x="4075591" y="3178960"/>
            <a:ext cx="4268484" cy="2977206"/>
            <a:chOff x="4031346" y="3149463"/>
            <a:chExt cx="4268484" cy="2977206"/>
          </a:xfrm>
        </p:grpSpPr>
        <p:grpSp>
          <p:nvGrpSpPr>
            <p:cNvPr id="27" name="Group 14"/>
            <p:cNvGrpSpPr>
              <a:grpSpLocks/>
            </p:cNvGrpSpPr>
            <p:nvPr/>
          </p:nvGrpSpPr>
          <p:grpSpPr bwMode="auto">
            <a:xfrm rot="9177292">
              <a:off x="6904552" y="3440309"/>
              <a:ext cx="430771" cy="407972"/>
              <a:chOff x="1776" y="3024"/>
              <a:chExt cx="402" cy="384"/>
            </a:xfrm>
          </p:grpSpPr>
          <p:sp>
            <p:nvSpPr>
              <p:cNvPr id="59" name="Oval 15"/>
              <p:cNvSpPr>
                <a:spLocks noChangeArrowheads="1"/>
              </p:cNvSpPr>
              <p:nvPr/>
            </p:nvSpPr>
            <p:spPr bwMode="auto">
              <a:xfrm>
                <a:off x="1776" y="3024"/>
                <a:ext cx="384" cy="38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4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0" name="Line 16"/>
              <p:cNvSpPr>
                <a:spLocks noChangeShapeType="1"/>
              </p:cNvSpPr>
              <p:nvPr/>
            </p:nvSpPr>
            <p:spPr bwMode="auto">
              <a:xfrm rot="1800000">
                <a:off x="2082" y="3102"/>
                <a:ext cx="96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sz="1100"/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4031346" y="3149463"/>
              <a:ext cx="3088592" cy="2977206"/>
              <a:chOff x="2770323" y="2071167"/>
              <a:chExt cx="4943904" cy="4566073"/>
            </a:xfrm>
          </p:grpSpPr>
          <p:grpSp>
            <p:nvGrpSpPr>
              <p:cNvPr id="46" name="Group 42"/>
              <p:cNvGrpSpPr>
                <a:grpSpLocks/>
              </p:cNvGrpSpPr>
              <p:nvPr/>
            </p:nvGrpSpPr>
            <p:grpSpPr bwMode="auto">
              <a:xfrm>
                <a:off x="2828879" y="2071167"/>
                <a:ext cx="1358756" cy="1220813"/>
                <a:chOff x="1410" y="935"/>
                <a:chExt cx="884" cy="848"/>
              </a:xfrm>
            </p:grpSpPr>
            <p:sp>
              <p:nvSpPr>
                <p:cNvPr id="53" name="Oval 4"/>
                <p:cNvSpPr>
                  <a:spLocks noChangeArrowheads="1"/>
                </p:cNvSpPr>
                <p:nvPr/>
              </p:nvSpPr>
              <p:spPr bwMode="auto">
                <a:xfrm>
                  <a:off x="1410" y="935"/>
                  <a:ext cx="884" cy="848"/>
                </a:xfrm>
                <a:prstGeom prst="ellipse">
                  <a:avLst/>
                </a:prstGeom>
                <a:solidFill>
                  <a:srgbClr val="0000FF"/>
                </a:solidFill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AutoNum type="arabicPeriod"/>
                    <a:defRPr kumimoji="1" sz="2600">
                      <a:solidFill>
                        <a:srgbClr val="E24C05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Font typeface="Wingdings" panose="05000000000000000000" pitchFamily="2" charset="2"/>
                    <a:buChar char="Ø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q"/>
                    <a:defRPr kumimoji="1" sz="2000">
                      <a:solidFill>
                        <a:srgbClr val="000000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6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>
                    <a:solidFill>
                      <a:schemeClr val="tx1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" name="Rectangle 18"/>
                <p:cNvSpPr>
                  <a:spLocks noChangeArrowheads="1"/>
                </p:cNvSpPr>
                <p:nvPr/>
              </p:nvSpPr>
              <p:spPr bwMode="auto">
                <a:xfrm>
                  <a:off x="1470" y="1188"/>
                  <a:ext cx="780" cy="3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AutoNum type="arabicPeriod"/>
                    <a:defRPr kumimoji="1" sz="2600">
                      <a:solidFill>
                        <a:srgbClr val="E24C05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Font typeface="Wingdings" panose="05000000000000000000" pitchFamily="2" charset="2"/>
                    <a:buChar char="Ø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q"/>
                    <a:defRPr kumimoji="1" sz="2000">
                      <a:solidFill>
                        <a:srgbClr val="000000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6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en-US" sz="1400" b="1" dirty="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Invalid</a:t>
                  </a:r>
                </a:p>
              </p:txBody>
            </p:sp>
          </p:grpSp>
          <p:grpSp>
            <p:nvGrpSpPr>
              <p:cNvPr id="47" name="Group 44"/>
              <p:cNvGrpSpPr>
                <a:grpSpLocks/>
              </p:cNvGrpSpPr>
              <p:nvPr/>
            </p:nvGrpSpPr>
            <p:grpSpPr bwMode="auto">
              <a:xfrm>
                <a:off x="6092635" y="2071167"/>
                <a:ext cx="1621592" cy="1220812"/>
                <a:chOff x="3460" y="935"/>
                <a:chExt cx="1055" cy="848"/>
              </a:xfrm>
            </p:grpSpPr>
            <p:sp>
              <p:nvSpPr>
                <p:cNvPr id="51" name="Oval 28"/>
                <p:cNvSpPr>
                  <a:spLocks noChangeArrowheads="1"/>
                </p:cNvSpPr>
                <p:nvPr/>
              </p:nvSpPr>
              <p:spPr bwMode="auto">
                <a:xfrm>
                  <a:off x="3546" y="935"/>
                  <a:ext cx="884" cy="848"/>
                </a:xfrm>
                <a:prstGeom prst="ellipse">
                  <a:avLst/>
                </a:prstGeom>
                <a:solidFill>
                  <a:srgbClr val="00BC00"/>
                </a:solidFill>
                <a:ln w="25400">
                  <a:solidFill>
                    <a:srgbClr val="008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AutoNum type="arabicPeriod"/>
                    <a:defRPr kumimoji="1" sz="2600">
                      <a:solidFill>
                        <a:srgbClr val="E24C05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Font typeface="Wingdings" panose="05000000000000000000" pitchFamily="2" charset="2"/>
                    <a:buChar char="Ø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q"/>
                    <a:defRPr kumimoji="1" sz="2000">
                      <a:solidFill>
                        <a:srgbClr val="000000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6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US" altLang="zh-CN" sz="1100"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2" name="Rectangle 34"/>
                <p:cNvSpPr>
                  <a:spLocks noChangeArrowheads="1"/>
                </p:cNvSpPr>
                <p:nvPr/>
              </p:nvSpPr>
              <p:spPr bwMode="auto">
                <a:xfrm>
                  <a:off x="3460" y="1211"/>
                  <a:ext cx="1055" cy="5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488" tIns="44450" rIns="90488" bIns="44450">
                  <a:spAutoFit/>
                </a:bodyPr>
                <a:lstStyle>
                  <a:lvl1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AutoNum type="arabicPeriod"/>
                    <a:defRPr kumimoji="1" sz="2600">
                      <a:solidFill>
                        <a:srgbClr val="E24C05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Font typeface="Wingdings" panose="05000000000000000000" pitchFamily="2" charset="2"/>
                    <a:buChar char="Ø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q"/>
                    <a:defRPr kumimoji="1" sz="2000">
                      <a:solidFill>
                        <a:srgbClr val="000000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6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en-US" sz="1400" b="1" dirty="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Shared</a:t>
                  </a:r>
                </a:p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US" altLang="en-US" sz="14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48" name="Group 43"/>
              <p:cNvGrpSpPr>
                <a:grpSpLocks/>
              </p:cNvGrpSpPr>
              <p:nvPr/>
            </p:nvGrpSpPr>
            <p:grpSpPr bwMode="auto">
              <a:xfrm>
                <a:off x="2770323" y="5416428"/>
                <a:ext cx="1515536" cy="1220812"/>
                <a:chOff x="1370" y="3172"/>
                <a:chExt cx="986" cy="848"/>
              </a:xfrm>
            </p:grpSpPr>
            <p:sp>
              <p:nvSpPr>
                <p:cNvPr id="49" name="Oval 29"/>
                <p:cNvSpPr>
                  <a:spLocks noChangeArrowheads="1"/>
                </p:cNvSpPr>
                <p:nvPr/>
              </p:nvSpPr>
              <p:spPr bwMode="auto">
                <a:xfrm>
                  <a:off x="1408" y="3172"/>
                  <a:ext cx="884" cy="848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A8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AutoNum type="arabicPeriod"/>
                    <a:defRPr kumimoji="1" sz="2600">
                      <a:solidFill>
                        <a:srgbClr val="E24C05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Font typeface="Wingdings" panose="05000000000000000000" pitchFamily="2" charset="2"/>
                    <a:buChar char="Ø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q"/>
                    <a:defRPr kumimoji="1" sz="2000">
                      <a:solidFill>
                        <a:srgbClr val="000000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6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>
                    <a:solidFill>
                      <a:schemeClr val="tx1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0" name="Rectangle 35"/>
                <p:cNvSpPr>
                  <a:spLocks noChangeArrowheads="1"/>
                </p:cNvSpPr>
                <p:nvPr/>
              </p:nvSpPr>
              <p:spPr bwMode="auto">
                <a:xfrm>
                  <a:off x="1370" y="3452"/>
                  <a:ext cx="986" cy="3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488" tIns="44450" rIns="90488" bIns="44450">
                  <a:spAutoFit/>
                </a:bodyPr>
                <a:lstStyle>
                  <a:lvl1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AutoNum type="arabicPeriod"/>
                    <a:defRPr kumimoji="1" sz="2600">
                      <a:solidFill>
                        <a:srgbClr val="E24C05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Font typeface="Wingdings" panose="05000000000000000000" pitchFamily="2" charset="2"/>
                    <a:buChar char="Ø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q"/>
                    <a:defRPr kumimoji="1" sz="2000">
                      <a:solidFill>
                        <a:srgbClr val="000000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6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400" b="1" dirty="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Modified</a:t>
                  </a:r>
                  <a:endParaRPr kumimoji="0" lang="en-US" altLang="en-US" sz="14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35" name="矩形 34"/>
            <p:cNvSpPr/>
            <p:nvPr/>
          </p:nvSpPr>
          <p:spPr>
            <a:xfrm>
              <a:off x="7307251" y="3540539"/>
              <a:ext cx="992579" cy="2215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dirty="0">
                  <a:solidFill>
                    <a:srgbClr val="A200A2"/>
                  </a:solidFill>
                  <a:ea typeface="宋体" panose="02010600030101010101" pitchFamily="2" charset="-122"/>
                </a:rPr>
                <a:t>Read miss</a:t>
              </a:r>
            </a:p>
          </p:txBody>
        </p:sp>
        <p:sp>
          <p:nvSpPr>
            <p:cNvPr id="36" name="Line 30"/>
            <p:cNvSpPr>
              <a:spLocks noChangeShapeType="1"/>
            </p:cNvSpPr>
            <p:nvPr/>
          </p:nvSpPr>
          <p:spPr bwMode="auto">
            <a:xfrm flipV="1">
              <a:off x="4839378" y="3829742"/>
              <a:ext cx="1539299" cy="16802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7" name="矩形 36"/>
            <p:cNvSpPr/>
            <p:nvPr/>
          </p:nvSpPr>
          <p:spPr>
            <a:xfrm rot="18777607">
              <a:off x="4983691" y="4547197"/>
              <a:ext cx="992579" cy="2215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dirty="0">
                  <a:solidFill>
                    <a:srgbClr val="A200A2"/>
                  </a:solidFill>
                  <a:ea typeface="宋体" panose="02010600030101010101" pitchFamily="2" charset="-122"/>
                </a:rPr>
                <a:t>Read miss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92589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3832" y="133739"/>
            <a:ext cx="9296400" cy="6441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II.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请求来自总线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–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失效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301270"/>
              </p:ext>
            </p:extLst>
          </p:nvPr>
        </p:nvGraphicFramePr>
        <p:xfrm>
          <a:off x="522321" y="897086"/>
          <a:ext cx="11184126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559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7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07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所寻址缓存块状态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缓存操作类型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功能与解释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共享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一致性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有处理器尝试写共享块，将本</a:t>
                      </a:r>
                      <a:r>
                        <a:rPr lang="en-US" altLang="zh-CN" dirty="0"/>
                        <a:t>Cache</a:t>
                      </a:r>
                      <a:r>
                        <a:rPr lang="zh-CN" altLang="en-US" dirty="0"/>
                        <a:t>中该块失效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3" name="组合 22"/>
          <p:cNvGrpSpPr/>
          <p:nvPr/>
        </p:nvGrpSpPr>
        <p:grpSpPr>
          <a:xfrm>
            <a:off x="4214928" y="2787075"/>
            <a:ext cx="4268484" cy="2977206"/>
            <a:chOff x="4214928" y="2787075"/>
            <a:chExt cx="4268484" cy="2977206"/>
          </a:xfrm>
        </p:grpSpPr>
        <p:grpSp>
          <p:nvGrpSpPr>
            <p:cNvPr id="4" name="组合 3"/>
            <p:cNvGrpSpPr/>
            <p:nvPr/>
          </p:nvGrpSpPr>
          <p:grpSpPr>
            <a:xfrm>
              <a:off x="4214928" y="2787075"/>
              <a:ext cx="4268484" cy="2977206"/>
              <a:chOff x="4031346" y="3149463"/>
              <a:chExt cx="4268484" cy="2977206"/>
            </a:xfrm>
          </p:grpSpPr>
          <p:grpSp>
            <p:nvGrpSpPr>
              <p:cNvPr id="5" name="Group 14"/>
              <p:cNvGrpSpPr>
                <a:grpSpLocks/>
              </p:cNvGrpSpPr>
              <p:nvPr/>
            </p:nvGrpSpPr>
            <p:grpSpPr bwMode="auto">
              <a:xfrm rot="9177292">
                <a:off x="6904552" y="3440309"/>
                <a:ext cx="430771" cy="407972"/>
                <a:chOff x="1776" y="3024"/>
                <a:chExt cx="402" cy="384"/>
              </a:xfrm>
            </p:grpSpPr>
            <p:sp>
              <p:nvSpPr>
                <p:cNvPr id="19" name="Oval 15"/>
                <p:cNvSpPr>
                  <a:spLocks noChangeArrowheads="1"/>
                </p:cNvSpPr>
                <p:nvPr/>
              </p:nvSpPr>
              <p:spPr bwMode="auto">
                <a:xfrm>
                  <a:off x="1776" y="3024"/>
                  <a:ext cx="384" cy="384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AutoNum type="arabicPeriod"/>
                    <a:defRPr kumimoji="1" sz="2600">
                      <a:solidFill>
                        <a:srgbClr val="E24C05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Font typeface="Wingdings" panose="05000000000000000000" pitchFamily="2" charset="2"/>
                    <a:buChar char="Ø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q"/>
                    <a:defRPr kumimoji="1" sz="2000">
                      <a:solidFill>
                        <a:srgbClr val="000000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6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>
                    <a:solidFill>
                      <a:schemeClr val="tx1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" name="Line 16"/>
                <p:cNvSpPr>
                  <a:spLocks noChangeShapeType="1"/>
                </p:cNvSpPr>
                <p:nvPr/>
              </p:nvSpPr>
              <p:spPr bwMode="auto">
                <a:xfrm rot="1800000">
                  <a:off x="2082" y="3102"/>
                  <a:ext cx="96" cy="4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endParaRPr lang="zh-CN" altLang="en-US" sz="1100"/>
                </a:p>
              </p:txBody>
            </p:sp>
          </p:grpSp>
          <p:grpSp>
            <p:nvGrpSpPr>
              <p:cNvPr id="6" name="组合 5"/>
              <p:cNvGrpSpPr/>
              <p:nvPr/>
            </p:nvGrpSpPr>
            <p:grpSpPr>
              <a:xfrm>
                <a:off x="4031346" y="3149463"/>
                <a:ext cx="3088592" cy="2977206"/>
                <a:chOff x="2770323" y="2071167"/>
                <a:chExt cx="4943904" cy="4566073"/>
              </a:xfrm>
            </p:grpSpPr>
            <p:grpSp>
              <p:nvGrpSpPr>
                <p:cNvPr id="10" name="Group 42"/>
                <p:cNvGrpSpPr>
                  <a:grpSpLocks/>
                </p:cNvGrpSpPr>
                <p:nvPr/>
              </p:nvGrpSpPr>
              <p:grpSpPr bwMode="auto">
                <a:xfrm>
                  <a:off x="2828879" y="2071167"/>
                  <a:ext cx="1358756" cy="1220813"/>
                  <a:chOff x="1410" y="935"/>
                  <a:chExt cx="884" cy="848"/>
                </a:xfrm>
              </p:grpSpPr>
              <p:sp>
                <p:nvSpPr>
                  <p:cNvPr id="17" name="Oval 4"/>
                  <p:cNvSpPr>
                    <a:spLocks noChangeArrowheads="1"/>
                  </p:cNvSpPr>
                  <p:nvPr/>
                </p:nvSpPr>
                <p:spPr bwMode="auto">
                  <a:xfrm>
                    <a:off x="1410" y="935"/>
                    <a:ext cx="884" cy="848"/>
                  </a:xfrm>
                  <a:prstGeom prst="ellipse">
                    <a:avLst/>
                  </a:prstGeom>
                  <a:solidFill>
                    <a:srgbClr val="0000FF"/>
                  </a:solidFill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AutoNum type="arabicPeriod"/>
                      <a:defRPr kumimoji="1" sz="2600">
                        <a:solidFill>
                          <a:srgbClr val="E24C05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Font typeface="Wingdings" panose="05000000000000000000" pitchFamily="2" charset="2"/>
                      <a:buChar char="Ø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q"/>
                      <a:defRPr kumimoji="1" sz="2000">
                        <a:solidFill>
                          <a:srgbClr val="000000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SzPct val="65000"/>
                      <a:buFont typeface="Wingdings" panose="05000000000000000000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1400">
                      <a:solidFill>
                        <a:schemeClr val="tx1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8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1470" y="1188"/>
                    <a:ext cx="780" cy="3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488" tIns="44450" rIns="90488" bIns="44450">
                    <a:spAutoFit/>
                  </a:bodyPr>
                  <a:lstStyle>
                    <a:lvl1pPr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AutoNum type="arabicPeriod"/>
                      <a:defRPr kumimoji="1" sz="2600">
                        <a:solidFill>
                          <a:srgbClr val="E24C05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Font typeface="Wingdings" panose="05000000000000000000" pitchFamily="2" charset="2"/>
                      <a:buChar char="Ø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q"/>
                      <a:defRPr kumimoji="1" sz="2000">
                        <a:solidFill>
                          <a:srgbClr val="000000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SzPct val="65000"/>
                      <a:buFont typeface="Wingdings" panose="05000000000000000000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en-US" sz="14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rPr>
                      <a:t>Invalid</a:t>
                    </a:r>
                  </a:p>
                </p:txBody>
              </p:sp>
            </p:grpSp>
            <p:grpSp>
              <p:nvGrpSpPr>
                <p:cNvPr id="11" name="Group 44"/>
                <p:cNvGrpSpPr>
                  <a:grpSpLocks/>
                </p:cNvGrpSpPr>
                <p:nvPr/>
              </p:nvGrpSpPr>
              <p:grpSpPr bwMode="auto">
                <a:xfrm>
                  <a:off x="6092635" y="2071167"/>
                  <a:ext cx="1621592" cy="1220812"/>
                  <a:chOff x="3460" y="935"/>
                  <a:chExt cx="1055" cy="848"/>
                </a:xfrm>
              </p:grpSpPr>
              <p:sp>
                <p:nvSpPr>
                  <p:cNvPr id="15" name="Oval 28"/>
                  <p:cNvSpPr>
                    <a:spLocks noChangeArrowheads="1"/>
                  </p:cNvSpPr>
                  <p:nvPr/>
                </p:nvSpPr>
                <p:spPr bwMode="auto">
                  <a:xfrm>
                    <a:off x="3546" y="935"/>
                    <a:ext cx="884" cy="848"/>
                  </a:xfrm>
                  <a:prstGeom prst="ellipse">
                    <a:avLst/>
                  </a:prstGeom>
                  <a:solidFill>
                    <a:srgbClr val="00BC00"/>
                  </a:solidFill>
                  <a:ln w="25400">
                    <a:solidFill>
                      <a:srgbClr val="008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AutoNum type="arabicPeriod"/>
                      <a:defRPr kumimoji="1" sz="2600">
                        <a:solidFill>
                          <a:srgbClr val="E24C05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Font typeface="Wingdings" panose="05000000000000000000" pitchFamily="2" charset="2"/>
                      <a:buChar char="Ø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q"/>
                      <a:defRPr kumimoji="1" sz="2000">
                        <a:solidFill>
                          <a:srgbClr val="000000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SzPct val="65000"/>
                      <a:buFont typeface="Wingdings" panose="05000000000000000000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en-US" altLang="zh-CN" sz="11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6" name="Rectangle 34"/>
                  <p:cNvSpPr>
                    <a:spLocks noChangeArrowheads="1"/>
                  </p:cNvSpPr>
                  <p:nvPr/>
                </p:nvSpPr>
                <p:spPr bwMode="auto">
                  <a:xfrm>
                    <a:off x="3460" y="1211"/>
                    <a:ext cx="1055" cy="55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488" tIns="44450" rIns="90488" bIns="44450">
                    <a:spAutoFit/>
                  </a:bodyPr>
                  <a:lstStyle>
                    <a:lvl1pPr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AutoNum type="arabicPeriod"/>
                      <a:defRPr kumimoji="1" sz="2600">
                        <a:solidFill>
                          <a:srgbClr val="E24C05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Font typeface="Wingdings" panose="05000000000000000000" pitchFamily="2" charset="2"/>
                      <a:buChar char="Ø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q"/>
                      <a:defRPr kumimoji="1" sz="2000">
                        <a:solidFill>
                          <a:srgbClr val="000000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SzPct val="65000"/>
                      <a:buFont typeface="Wingdings" panose="05000000000000000000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en-US" sz="14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rPr>
                      <a:t>Shared</a:t>
                    </a:r>
                  </a:p>
                  <a:p>
                    <a:pPr algn="ctr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en-US" altLang="en-US" sz="1400" b="1" dirty="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12" name="Group 43"/>
                <p:cNvGrpSpPr>
                  <a:grpSpLocks/>
                </p:cNvGrpSpPr>
                <p:nvPr/>
              </p:nvGrpSpPr>
              <p:grpSpPr bwMode="auto">
                <a:xfrm>
                  <a:off x="2770323" y="5416428"/>
                  <a:ext cx="1515536" cy="1220812"/>
                  <a:chOff x="1370" y="3172"/>
                  <a:chExt cx="986" cy="848"/>
                </a:xfrm>
              </p:grpSpPr>
              <p:sp>
                <p:nvSpPr>
                  <p:cNvPr id="13" name="Oval 29"/>
                  <p:cNvSpPr>
                    <a:spLocks noChangeArrowheads="1"/>
                  </p:cNvSpPr>
                  <p:nvPr/>
                </p:nvSpPr>
                <p:spPr bwMode="auto">
                  <a:xfrm>
                    <a:off x="1408" y="3172"/>
                    <a:ext cx="884" cy="848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5400">
                    <a:solidFill>
                      <a:srgbClr val="A8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AutoNum type="arabicPeriod"/>
                      <a:defRPr kumimoji="1" sz="2600">
                        <a:solidFill>
                          <a:srgbClr val="E24C05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Font typeface="Wingdings" panose="05000000000000000000" pitchFamily="2" charset="2"/>
                      <a:buChar char="Ø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q"/>
                      <a:defRPr kumimoji="1" sz="2000">
                        <a:solidFill>
                          <a:srgbClr val="000000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SzPct val="65000"/>
                      <a:buFont typeface="Wingdings" panose="05000000000000000000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1400">
                      <a:solidFill>
                        <a:schemeClr val="tx1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4" name="Rectangle 35"/>
                  <p:cNvSpPr>
                    <a:spLocks noChangeArrowheads="1"/>
                  </p:cNvSpPr>
                  <p:nvPr/>
                </p:nvSpPr>
                <p:spPr bwMode="auto">
                  <a:xfrm>
                    <a:off x="1370" y="3452"/>
                    <a:ext cx="986" cy="3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488" tIns="44450" rIns="90488" bIns="44450">
                    <a:spAutoFit/>
                  </a:bodyPr>
                  <a:lstStyle>
                    <a:lvl1pPr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AutoNum type="arabicPeriod"/>
                      <a:defRPr kumimoji="1" sz="2600">
                        <a:solidFill>
                          <a:srgbClr val="E24C05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Font typeface="Wingdings" panose="05000000000000000000" pitchFamily="2" charset="2"/>
                      <a:buChar char="Ø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q"/>
                      <a:defRPr kumimoji="1" sz="2000">
                        <a:solidFill>
                          <a:srgbClr val="000000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SzPct val="65000"/>
                      <a:buFont typeface="Wingdings" panose="05000000000000000000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14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rPr>
                      <a:t>Modified</a:t>
                    </a:r>
                    <a:endParaRPr kumimoji="0" lang="en-US" altLang="en-US" sz="1400" b="1" dirty="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sp>
            <p:nvSpPr>
              <p:cNvPr id="7" name="矩形 6"/>
              <p:cNvSpPr/>
              <p:nvPr/>
            </p:nvSpPr>
            <p:spPr>
              <a:xfrm>
                <a:off x="7307251" y="3540539"/>
                <a:ext cx="992579" cy="2215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altLang="zh-CN" sz="1400" dirty="0">
                    <a:solidFill>
                      <a:srgbClr val="A200A2"/>
                    </a:solidFill>
                    <a:ea typeface="宋体" panose="02010600030101010101" pitchFamily="2" charset="-122"/>
                  </a:rPr>
                  <a:t>Read miss</a:t>
                </a:r>
              </a:p>
            </p:txBody>
          </p:sp>
          <p:sp>
            <p:nvSpPr>
              <p:cNvPr id="8" name="Line 30"/>
              <p:cNvSpPr>
                <a:spLocks noChangeShapeType="1"/>
              </p:cNvSpPr>
              <p:nvPr/>
            </p:nvSpPr>
            <p:spPr bwMode="auto">
              <a:xfrm flipV="1">
                <a:off x="4839378" y="3829742"/>
                <a:ext cx="1539299" cy="168023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9" name="矩形 8"/>
              <p:cNvSpPr/>
              <p:nvPr/>
            </p:nvSpPr>
            <p:spPr>
              <a:xfrm rot="18777607">
                <a:off x="4983691" y="4547197"/>
                <a:ext cx="992579" cy="2215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altLang="zh-CN" sz="1400" dirty="0">
                    <a:solidFill>
                      <a:srgbClr val="A200A2"/>
                    </a:solidFill>
                    <a:ea typeface="宋体" panose="02010600030101010101" pitchFamily="2" charset="-122"/>
                  </a:rPr>
                  <a:t>Read miss</a:t>
                </a:r>
              </a:p>
            </p:txBody>
          </p:sp>
        </p:grpSp>
        <p:sp>
          <p:nvSpPr>
            <p:cNvPr id="21" name="Line 30"/>
            <p:cNvSpPr>
              <a:spLocks noChangeShapeType="1"/>
            </p:cNvSpPr>
            <p:nvPr/>
          </p:nvSpPr>
          <p:spPr bwMode="auto">
            <a:xfrm flipH="1" flipV="1">
              <a:off x="5100269" y="3288950"/>
              <a:ext cx="127277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2" name="矩形 21"/>
            <p:cNvSpPr/>
            <p:nvPr/>
          </p:nvSpPr>
          <p:spPr>
            <a:xfrm>
              <a:off x="5262028" y="3353500"/>
              <a:ext cx="1082348" cy="2215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dirty="0">
                  <a:ea typeface="宋体" panose="02010600030101010101" pitchFamily="2" charset="-122"/>
                </a:rPr>
                <a:t>Invalidate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11600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3832" y="133739"/>
            <a:ext cx="9296400" cy="6441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II.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请求来自总线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–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写缺失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914629"/>
              </p:ext>
            </p:extLst>
          </p:nvPr>
        </p:nvGraphicFramePr>
        <p:xfrm>
          <a:off x="522321" y="897086"/>
          <a:ext cx="11152229" cy="138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72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4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所寻址缓存块状态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缓存操作类型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功能与解释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共享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一致性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尝试共享数据，并在本地缓存中使其失效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已修改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一致性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将缓存块写回存储器，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共享本地数据，</a:t>
                      </a:r>
                      <a:r>
                        <a:rPr lang="zh-CN" altLang="en-US" dirty="0"/>
                        <a:t>并在本地缓存中使其状态失效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9" name="组合 38"/>
          <p:cNvGrpSpPr/>
          <p:nvPr/>
        </p:nvGrpSpPr>
        <p:grpSpPr>
          <a:xfrm>
            <a:off x="4225561" y="2787075"/>
            <a:ext cx="4268484" cy="2977206"/>
            <a:chOff x="4214928" y="2787075"/>
            <a:chExt cx="4268484" cy="2977206"/>
          </a:xfrm>
        </p:grpSpPr>
        <p:grpSp>
          <p:nvGrpSpPr>
            <p:cNvPr id="40" name="组合 39"/>
            <p:cNvGrpSpPr/>
            <p:nvPr/>
          </p:nvGrpSpPr>
          <p:grpSpPr>
            <a:xfrm>
              <a:off x="4214928" y="2787075"/>
              <a:ext cx="4268484" cy="2977206"/>
              <a:chOff x="4031346" y="3149463"/>
              <a:chExt cx="4268484" cy="2977206"/>
            </a:xfrm>
          </p:grpSpPr>
          <p:grpSp>
            <p:nvGrpSpPr>
              <p:cNvPr id="43" name="Group 14"/>
              <p:cNvGrpSpPr>
                <a:grpSpLocks/>
              </p:cNvGrpSpPr>
              <p:nvPr/>
            </p:nvGrpSpPr>
            <p:grpSpPr bwMode="auto">
              <a:xfrm rot="9177292">
                <a:off x="6904552" y="3440309"/>
                <a:ext cx="430771" cy="407972"/>
                <a:chOff x="1776" y="3024"/>
                <a:chExt cx="402" cy="384"/>
              </a:xfrm>
            </p:grpSpPr>
            <p:sp>
              <p:nvSpPr>
                <p:cNvPr id="57" name="Oval 15"/>
                <p:cNvSpPr>
                  <a:spLocks noChangeArrowheads="1"/>
                </p:cNvSpPr>
                <p:nvPr/>
              </p:nvSpPr>
              <p:spPr bwMode="auto">
                <a:xfrm>
                  <a:off x="1776" y="3024"/>
                  <a:ext cx="384" cy="384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AutoNum type="arabicPeriod"/>
                    <a:defRPr kumimoji="1" sz="2600">
                      <a:solidFill>
                        <a:srgbClr val="E24C05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Font typeface="Wingdings" panose="05000000000000000000" pitchFamily="2" charset="2"/>
                    <a:buChar char="Ø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q"/>
                    <a:defRPr kumimoji="1" sz="2000">
                      <a:solidFill>
                        <a:srgbClr val="000000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SzPct val="6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>
                    <a:solidFill>
                      <a:schemeClr val="tx1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8" name="Line 16"/>
                <p:cNvSpPr>
                  <a:spLocks noChangeShapeType="1"/>
                </p:cNvSpPr>
                <p:nvPr/>
              </p:nvSpPr>
              <p:spPr bwMode="auto">
                <a:xfrm rot="1800000">
                  <a:off x="2082" y="3102"/>
                  <a:ext cx="96" cy="4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endParaRPr lang="zh-CN" altLang="en-US" sz="1100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031346" y="3149463"/>
                <a:ext cx="3088592" cy="2977206"/>
                <a:chOff x="2770323" y="2071167"/>
                <a:chExt cx="4943904" cy="4566073"/>
              </a:xfrm>
            </p:grpSpPr>
            <p:grpSp>
              <p:nvGrpSpPr>
                <p:cNvPr id="48" name="Group 42"/>
                <p:cNvGrpSpPr>
                  <a:grpSpLocks/>
                </p:cNvGrpSpPr>
                <p:nvPr/>
              </p:nvGrpSpPr>
              <p:grpSpPr bwMode="auto">
                <a:xfrm>
                  <a:off x="2828879" y="2071167"/>
                  <a:ext cx="1358756" cy="1220813"/>
                  <a:chOff x="1410" y="935"/>
                  <a:chExt cx="884" cy="848"/>
                </a:xfrm>
              </p:grpSpPr>
              <p:sp>
                <p:nvSpPr>
                  <p:cNvPr id="55" name="Oval 4"/>
                  <p:cNvSpPr>
                    <a:spLocks noChangeArrowheads="1"/>
                  </p:cNvSpPr>
                  <p:nvPr/>
                </p:nvSpPr>
                <p:spPr bwMode="auto">
                  <a:xfrm>
                    <a:off x="1410" y="935"/>
                    <a:ext cx="884" cy="848"/>
                  </a:xfrm>
                  <a:prstGeom prst="ellipse">
                    <a:avLst/>
                  </a:prstGeom>
                  <a:solidFill>
                    <a:srgbClr val="0000FF"/>
                  </a:solidFill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AutoNum type="arabicPeriod"/>
                      <a:defRPr kumimoji="1" sz="2600">
                        <a:solidFill>
                          <a:srgbClr val="E24C05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Font typeface="Wingdings" panose="05000000000000000000" pitchFamily="2" charset="2"/>
                      <a:buChar char="Ø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q"/>
                      <a:defRPr kumimoji="1" sz="2000">
                        <a:solidFill>
                          <a:srgbClr val="000000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SzPct val="65000"/>
                      <a:buFont typeface="Wingdings" panose="05000000000000000000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1400">
                      <a:solidFill>
                        <a:schemeClr val="tx1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6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1470" y="1188"/>
                    <a:ext cx="780" cy="3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488" tIns="44450" rIns="90488" bIns="44450">
                    <a:spAutoFit/>
                  </a:bodyPr>
                  <a:lstStyle>
                    <a:lvl1pPr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AutoNum type="arabicPeriod"/>
                      <a:defRPr kumimoji="1" sz="2600">
                        <a:solidFill>
                          <a:srgbClr val="E24C05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Font typeface="Wingdings" panose="05000000000000000000" pitchFamily="2" charset="2"/>
                      <a:buChar char="Ø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q"/>
                      <a:defRPr kumimoji="1" sz="2000">
                        <a:solidFill>
                          <a:srgbClr val="000000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SzPct val="65000"/>
                      <a:buFont typeface="Wingdings" panose="05000000000000000000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en-US" sz="14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rPr>
                      <a:t>Invalid</a:t>
                    </a:r>
                  </a:p>
                </p:txBody>
              </p:sp>
            </p:grpSp>
            <p:grpSp>
              <p:nvGrpSpPr>
                <p:cNvPr id="49" name="Group 44"/>
                <p:cNvGrpSpPr>
                  <a:grpSpLocks/>
                </p:cNvGrpSpPr>
                <p:nvPr/>
              </p:nvGrpSpPr>
              <p:grpSpPr bwMode="auto">
                <a:xfrm>
                  <a:off x="6092635" y="2071167"/>
                  <a:ext cx="1621592" cy="1220812"/>
                  <a:chOff x="3460" y="935"/>
                  <a:chExt cx="1055" cy="848"/>
                </a:xfrm>
              </p:grpSpPr>
              <p:sp>
                <p:nvSpPr>
                  <p:cNvPr id="53" name="Oval 28"/>
                  <p:cNvSpPr>
                    <a:spLocks noChangeArrowheads="1"/>
                  </p:cNvSpPr>
                  <p:nvPr/>
                </p:nvSpPr>
                <p:spPr bwMode="auto">
                  <a:xfrm>
                    <a:off x="3546" y="935"/>
                    <a:ext cx="884" cy="848"/>
                  </a:xfrm>
                  <a:prstGeom prst="ellipse">
                    <a:avLst/>
                  </a:prstGeom>
                  <a:solidFill>
                    <a:srgbClr val="00BC00"/>
                  </a:solidFill>
                  <a:ln w="25400">
                    <a:solidFill>
                      <a:srgbClr val="008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AutoNum type="arabicPeriod"/>
                      <a:defRPr kumimoji="1" sz="2600">
                        <a:solidFill>
                          <a:srgbClr val="E24C05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Font typeface="Wingdings" panose="05000000000000000000" pitchFamily="2" charset="2"/>
                      <a:buChar char="Ø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q"/>
                      <a:defRPr kumimoji="1" sz="2000">
                        <a:solidFill>
                          <a:srgbClr val="000000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SzPct val="65000"/>
                      <a:buFont typeface="Wingdings" panose="05000000000000000000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en-US" altLang="zh-CN" sz="11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4" name="Rectangle 34"/>
                  <p:cNvSpPr>
                    <a:spLocks noChangeArrowheads="1"/>
                  </p:cNvSpPr>
                  <p:nvPr/>
                </p:nvSpPr>
                <p:spPr bwMode="auto">
                  <a:xfrm>
                    <a:off x="3460" y="1211"/>
                    <a:ext cx="1055" cy="55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488" tIns="44450" rIns="90488" bIns="44450">
                    <a:spAutoFit/>
                  </a:bodyPr>
                  <a:lstStyle>
                    <a:lvl1pPr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AutoNum type="arabicPeriod"/>
                      <a:defRPr kumimoji="1" sz="2600">
                        <a:solidFill>
                          <a:srgbClr val="E24C05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Font typeface="Wingdings" panose="05000000000000000000" pitchFamily="2" charset="2"/>
                      <a:buChar char="Ø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q"/>
                      <a:defRPr kumimoji="1" sz="2000">
                        <a:solidFill>
                          <a:srgbClr val="000000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SzPct val="65000"/>
                      <a:buFont typeface="Wingdings" panose="05000000000000000000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en-US" sz="14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rPr>
                      <a:t>Shared</a:t>
                    </a:r>
                  </a:p>
                  <a:p>
                    <a:pPr algn="ctr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en-US" altLang="en-US" sz="1400" b="1" dirty="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50" name="Group 43"/>
                <p:cNvGrpSpPr>
                  <a:grpSpLocks/>
                </p:cNvGrpSpPr>
                <p:nvPr/>
              </p:nvGrpSpPr>
              <p:grpSpPr bwMode="auto">
                <a:xfrm>
                  <a:off x="2770323" y="5416428"/>
                  <a:ext cx="1515536" cy="1220812"/>
                  <a:chOff x="1370" y="3172"/>
                  <a:chExt cx="986" cy="848"/>
                </a:xfrm>
              </p:grpSpPr>
              <p:sp>
                <p:nvSpPr>
                  <p:cNvPr id="51" name="Oval 29"/>
                  <p:cNvSpPr>
                    <a:spLocks noChangeArrowheads="1"/>
                  </p:cNvSpPr>
                  <p:nvPr/>
                </p:nvSpPr>
                <p:spPr bwMode="auto">
                  <a:xfrm>
                    <a:off x="1408" y="3172"/>
                    <a:ext cx="884" cy="848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5400">
                    <a:solidFill>
                      <a:srgbClr val="A8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AutoNum type="arabicPeriod"/>
                      <a:defRPr kumimoji="1" sz="2600">
                        <a:solidFill>
                          <a:srgbClr val="E24C05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Font typeface="Wingdings" panose="05000000000000000000" pitchFamily="2" charset="2"/>
                      <a:buChar char="Ø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q"/>
                      <a:defRPr kumimoji="1" sz="2000">
                        <a:solidFill>
                          <a:srgbClr val="000000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SzPct val="65000"/>
                      <a:buFont typeface="Wingdings" panose="05000000000000000000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1400">
                      <a:solidFill>
                        <a:schemeClr val="tx1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2" name="Rectangle 35"/>
                  <p:cNvSpPr>
                    <a:spLocks noChangeArrowheads="1"/>
                  </p:cNvSpPr>
                  <p:nvPr/>
                </p:nvSpPr>
                <p:spPr bwMode="auto">
                  <a:xfrm>
                    <a:off x="1370" y="3452"/>
                    <a:ext cx="986" cy="3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488" tIns="44450" rIns="90488" bIns="44450">
                    <a:spAutoFit/>
                  </a:bodyPr>
                  <a:lstStyle>
                    <a:lvl1pPr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AutoNum type="arabicPeriod"/>
                      <a:defRPr kumimoji="1" sz="2600">
                        <a:solidFill>
                          <a:srgbClr val="E24C05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Font typeface="Wingdings" panose="05000000000000000000" pitchFamily="2" charset="2"/>
                      <a:buChar char="Ø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q"/>
                      <a:defRPr kumimoji="1" sz="2000">
                        <a:solidFill>
                          <a:srgbClr val="000000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tx1"/>
                      </a:buClr>
                      <a:buSzPct val="65000"/>
                      <a:buFont typeface="Wingdings" panose="05000000000000000000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lnSpc>
                        <a:spcPct val="110000"/>
                      </a:lnSpc>
                      <a:spcBef>
                        <a:spcPct val="20000"/>
                      </a:spcBef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60000"/>
                      <a:buFont typeface="Wingdings" panose="05000000000000000000" pitchFamily="2" charset="2"/>
                      <a:buChar char="n"/>
                      <a:defRPr kumimoji="1"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14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rPr>
                      <a:t>Modified</a:t>
                    </a:r>
                    <a:endParaRPr kumimoji="0" lang="en-US" altLang="en-US" sz="1400" b="1" dirty="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sp>
            <p:nvSpPr>
              <p:cNvPr id="45" name="矩形 44"/>
              <p:cNvSpPr/>
              <p:nvPr/>
            </p:nvSpPr>
            <p:spPr>
              <a:xfrm>
                <a:off x="7307251" y="3540539"/>
                <a:ext cx="992579" cy="2215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altLang="zh-CN" sz="1400" dirty="0">
                    <a:solidFill>
                      <a:srgbClr val="A200A2"/>
                    </a:solidFill>
                    <a:ea typeface="宋体" panose="02010600030101010101" pitchFamily="2" charset="-122"/>
                  </a:rPr>
                  <a:t>Read miss</a:t>
                </a:r>
              </a:p>
            </p:txBody>
          </p:sp>
          <p:sp>
            <p:nvSpPr>
              <p:cNvPr id="46" name="Line 30"/>
              <p:cNvSpPr>
                <a:spLocks noChangeShapeType="1"/>
              </p:cNvSpPr>
              <p:nvPr/>
            </p:nvSpPr>
            <p:spPr bwMode="auto">
              <a:xfrm flipV="1">
                <a:off x="4839378" y="3829742"/>
                <a:ext cx="1539299" cy="168023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7" name="矩形 46"/>
              <p:cNvSpPr/>
              <p:nvPr/>
            </p:nvSpPr>
            <p:spPr>
              <a:xfrm rot="18777607">
                <a:off x="4983691" y="4547197"/>
                <a:ext cx="992579" cy="2215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altLang="zh-CN" sz="1400" dirty="0">
                    <a:solidFill>
                      <a:srgbClr val="A200A2"/>
                    </a:solidFill>
                    <a:ea typeface="宋体" panose="02010600030101010101" pitchFamily="2" charset="-122"/>
                  </a:rPr>
                  <a:t>Read miss</a:t>
                </a:r>
              </a:p>
            </p:txBody>
          </p:sp>
        </p:grpSp>
        <p:sp>
          <p:nvSpPr>
            <p:cNvPr id="41" name="Line 30"/>
            <p:cNvSpPr>
              <a:spLocks noChangeShapeType="1"/>
            </p:cNvSpPr>
            <p:nvPr/>
          </p:nvSpPr>
          <p:spPr bwMode="auto">
            <a:xfrm flipH="1" flipV="1">
              <a:off x="5100269" y="3288950"/>
              <a:ext cx="127277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2" name="矩形 41"/>
            <p:cNvSpPr/>
            <p:nvPr/>
          </p:nvSpPr>
          <p:spPr>
            <a:xfrm>
              <a:off x="5262028" y="3353500"/>
              <a:ext cx="1082348" cy="2215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dirty="0">
                  <a:ea typeface="宋体" panose="02010600030101010101" pitchFamily="2" charset="-122"/>
                </a:rPr>
                <a:t>Invalidate</a:t>
              </a:r>
            </a:p>
          </p:txBody>
        </p:sp>
      </p:grpSp>
      <p:sp>
        <p:nvSpPr>
          <p:cNvPr id="59" name="Line 30"/>
          <p:cNvSpPr>
            <a:spLocks noChangeShapeType="1"/>
          </p:cNvSpPr>
          <p:nvPr/>
        </p:nvSpPr>
        <p:spPr bwMode="auto">
          <a:xfrm flipH="1" flipV="1">
            <a:off x="5110902" y="3046151"/>
            <a:ext cx="127277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/>
          </a:p>
        </p:txBody>
      </p:sp>
      <p:sp>
        <p:nvSpPr>
          <p:cNvPr id="60" name="Line 30"/>
          <p:cNvSpPr>
            <a:spLocks noChangeShapeType="1"/>
          </p:cNvSpPr>
          <p:nvPr/>
        </p:nvSpPr>
        <p:spPr bwMode="auto">
          <a:xfrm flipV="1">
            <a:off x="4686475" y="3575099"/>
            <a:ext cx="13115" cy="1393179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/>
          </a:p>
        </p:txBody>
      </p:sp>
      <p:sp>
        <p:nvSpPr>
          <p:cNvPr id="61" name="矩形 60"/>
          <p:cNvSpPr/>
          <p:nvPr/>
        </p:nvSpPr>
        <p:spPr>
          <a:xfrm>
            <a:off x="5226398" y="2764349"/>
            <a:ext cx="1082348" cy="2215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1400" dirty="0">
                <a:solidFill>
                  <a:srgbClr val="D66B00"/>
                </a:solidFill>
                <a:ea typeface="宋体" panose="02010600030101010101" pitchFamily="2" charset="-122"/>
              </a:rPr>
              <a:t>Write miss</a:t>
            </a:r>
          </a:p>
        </p:txBody>
      </p:sp>
      <p:sp>
        <p:nvSpPr>
          <p:cNvPr id="62" name="矩形 61"/>
          <p:cNvSpPr/>
          <p:nvPr/>
        </p:nvSpPr>
        <p:spPr>
          <a:xfrm rot="16200000">
            <a:off x="3995848" y="4184808"/>
            <a:ext cx="1082348" cy="2215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1400" dirty="0">
                <a:solidFill>
                  <a:srgbClr val="D66B00"/>
                </a:solidFill>
                <a:ea typeface="宋体" panose="02010600030101010101" pitchFamily="2" charset="-122"/>
              </a:rPr>
              <a:t>Write miss</a:t>
            </a:r>
          </a:p>
        </p:txBody>
      </p:sp>
    </p:spTree>
    <p:extLst>
      <p:ext uri="{BB962C8B-B14F-4D97-AF65-F5344CB8AC3E}">
        <p14:creationId xmlns:p14="http://schemas.microsoft.com/office/powerpoint/2010/main" val="28725786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Text Box 8"/>
          <p:cNvSpPr txBox="1">
            <a:spLocks noChangeArrowheads="1"/>
          </p:cNvSpPr>
          <p:nvPr/>
        </p:nvSpPr>
        <p:spPr bwMode="auto">
          <a:xfrm>
            <a:off x="0" y="33642"/>
            <a:ext cx="6840537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2.2 </a:t>
            </a:r>
            <a:r>
              <a:rPr lang="zh-CN" altLang="en-US" sz="2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目录协议</a:t>
            </a:r>
          </a:p>
        </p:txBody>
      </p:sp>
      <p:sp>
        <p:nvSpPr>
          <p:cNvPr id="49157" name="Rectangle 9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46028" y="1225545"/>
            <a:ext cx="11040256" cy="5489580"/>
          </a:xfrm>
          <a:noFill/>
        </p:spPr>
        <p:txBody>
          <a:bodyPr>
            <a:normAutofit lnSpcReduction="10000"/>
          </a:bodyPr>
          <a:lstStyle/>
          <a:p>
            <a:pPr marL="895350" lvl="1" indent="-2667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广播和监听的机制使得监听一致性协议的可扩放性很差。 </a:t>
            </a:r>
          </a:p>
          <a:p>
            <a:pPr marL="895350" lvl="1" indent="-2667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寻找替代监听协议的一致性协议。</a:t>
            </a:r>
          </a:p>
          <a:p>
            <a:pPr lvl="2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（采用目录协议）</a:t>
            </a:r>
            <a:endParaRPr lang="en-US" altLang="zh-CN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spcBef>
                <a:spcPts val="600"/>
              </a:spcBef>
              <a:buFont typeface="+mj-ea"/>
              <a:buAutoNum type="circleNumDbPlain"/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目录协议</a:t>
            </a:r>
          </a:p>
          <a:p>
            <a:pPr marL="895350" lvl="1" indent="-2667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目录：一种集中的数据结构。对于存储器中的每一个可以调入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的数据块，在目录中设置一条目录项，用于记录该块的状态以及哪些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中有副本等相关信息。 </a:t>
            </a:r>
            <a:endParaRPr lang="en-US" altLang="zh-CN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438275" lvl="2" indent="-276225"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特点：对于任何一个数据块，都可以快速地在唯一的一个位置中找到相关的信息。这使一致性协议避免了广播操作。</a:t>
            </a:r>
            <a:endParaRPr lang="zh-CN" altLang="en-US" sz="22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95350" lvl="1" indent="-2667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位向量：记录哪些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中有副本。</a:t>
            </a:r>
          </a:p>
          <a:p>
            <a:pPr marL="1438275" lvl="2" indent="-276225"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每一位对应于一个处理器。</a:t>
            </a:r>
          </a:p>
          <a:p>
            <a:pPr marL="1438275" lvl="2" indent="-276225"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长度与处理器的个数成正比。</a:t>
            </a:r>
          </a:p>
          <a:p>
            <a:pPr marL="1438275" lvl="2" indent="-276225"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由位向量指定的处理机的集合称为共享集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。 </a:t>
            </a:r>
          </a:p>
          <a:p>
            <a:pPr marL="1085850" lvl="1" indent="-457200"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zh-CN" altLang="en-US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12653" y="643236"/>
            <a:ext cx="31085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1.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目录协议基本思想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11416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3" name="Picture 4" descr="7-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6838" y="2063750"/>
            <a:ext cx="6183312" cy="4721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5" name="Text Box 7"/>
          <p:cNvSpPr txBox="1">
            <a:spLocks noChangeArrowheads="1"/>
          </p:cNvSpPr>
          <p:nvPr/>
        </p:nvSpPr>
        <p:spPr bwMode="auto">
          <a:xfrm>
            <a:off x="260350" y="158751"/>
            <a:ext cx="11245850" cy="1775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1085850" lvl="1" indent="-457200">
              <a:spcBef>
                <a:spcPts val="600"/>
              </a:spcBef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分布式目录</a:t>
            </a:r>
          </a:p>
          <a:p>
            <a:pPr marL="1438275" lvl="2" indent="-276225">
              <a:spcBef>
                <a:spcPts val="600"/>
              </a:spcBef>
              <a:buClrTx/>
              <a:buFont typeface="Wingdings" panose="05000000000000000000" pitchFamily="2" charset="2"/>
              <a:buChar char="p"/>
            </a:pPr>
            <a:r>
              <a:rPr lang="zh-CN" altLang="en-US" b="0" dirty="0">
                <a:latin typeface="宋体" panose="02010600030101010101" pitchFamily="2" charset="-122"/>
              </a:rPr>
              <a:t>目录与存储器一起分布到各结点中，从而对于不同目录内容的访问可以在不同的结点进行。</a:t>
            </a:r>
            <a:endParaRPr lang="en-US" altLang="zh-CN" b="0" dirty="0">
              <a:latin typeface="宋体" panose="02010600030101010101" pitchFamily="2" charset="-122"/>
            </a:endParaRPr>
          </a:p>
          <a:p>
            <a:pPr marL="1438275" lvl="2" indent="-276225">
              <a:spcBef>
                <a:spcPts val="600"/>
              </a:spcBef>
              <a:buClrTx/>
              <a:buFont typeface="Wingdings" panose="05000000000000000000" pitchFamily="2" charset="2"/>
              <a:buChar char="p"/>
            </a:pPr>
            <a:r>
              <a:rPr lang="zh-CN" altLang="en-US" b="0" dirty="0">
                <a:latin typeface="宋体" panose="02010600030101010101" pitchFamily="2" charset="-122"/>
              </a:rPr>
              <a:t>对每个结点增加目录后的分布式存储器多处理机</a:t>
            </a:r>
          </a:p>
        </p:txBody>
      </p:sp>
    </p:spTree>
    <p:extLst>
      <p:ext uri="{BB962C8B-B14F-4D97-AF65-F5344CB8AC3E}">
        <p14:creationId xmlns:p14="http://schemas.microsoft.com/office/powerpoint/2010/main" val="10321393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200149" y="493714"/>
            <a:ext cx="9972675" cy="5945186"/>
          </a:xfrm>
        </p:spPr>
        <p:txBody>
          <a:bodyPr>
            <a:normAutofit/>
          </a:bodyPr>
          <a:lstStyle/>
          <a:p>
            <a:pPr marL="990600" lvl="1" indent="-36195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目录法</a:t>
            </a:r>
            <a:r>
              <a:rPr lang="zh-CN" altLang="en-US" sz="2000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最简单的实现方案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：对于存储器中每一块都在目录中设置一项。目录中的信息量与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M×N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成正比。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其中：</a:t>
            </a:r>
          </a:p>
          <a:p>
            <a:pPr marL="1619250" lvl="2" indent="-276225" eaLnBrk="1" hangingPunct="1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：存储器中存储块的总数量</a:t>
            </a:r>
          </a:p>
          <a:p>
            <a:pPr marL="1619250" lvl="2" indent="-276225" eaLnBrk="1" hangingPunct="1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：处理器的个数</a:t>
            </a:r>
            <a:endParaRPr lang="en-US" altLang="zh-CN" sz="20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/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由于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M=K×N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是每个处理机中存储块的数量。目录中的信息量即为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K×N×N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，所以如果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保持不变，则目录中的信息量就与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altLang="zh-CN" sz="2000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成正比。 </a:t>
            </a:r>
          </a:p>
        </p:txBody>
      </p:sp>
    </p:spTree>
    <p:extLst>
      <p:ext uri="{BB962C8B-B14F-4D97-AF65-F5344CB8AC3E}">
        <p14:creationId xmlns:p14="http://schemas.microsoft.com/office/powerpoint/2010/main" val="33569196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295399" y="642939"/>
            <a:ext cx="10067925" cy="5900736"/>
          </a:xfrm>
        </p:spPr>
        <p:txBody>
          <a:bodyPr/>
          <a:lstStyle/>
          <a:p>
            <a:pPr marL="457200" indent="-457200">
              <a:spcBef>
                <a:spcPts val="600"/>
              </a:spcBef>
              <a:buFont typeface="+mj-ea"/>
              <a:buAutoNum type="circleNumDbPlain" startAt="2"/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在目录协议中，</a:t>
            </a:r>
            <a:r>
              <a:rPr lang="zh-CN" altLang="en-US" sz="2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存储块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的状态有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种： </a:t>
            </a:r>
          </a:p>
          <a:p>
            <a:pPr marL="895350" lvl="1" indent="-2667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未缓冲（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uncached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）：该块尚未被调入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。所有处理器的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中都没有这个块的副本。</a:t>
            </a:r>
          </a:p>
          <a:p>
            <a:pPr marL="895350" lvl="1" indent="-2667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共享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(shared)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：该块在一个或多个处理机上有这个块的副本，且这些副本与存储器中的该块相同。</a:t>
            </a:r>
          </a:p>
          <a:p>
            <a:pPr marL="895350" lvl="1" indent="-2667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独占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(exclusive)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：仅有一个处理机有这个块的副本，且该处理机已经对其进行了写操作，所以其内容是最新的，而存储器中该块的数据已过时。这个处理机称为该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块的拥有者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8393815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058862" y="293688"/>
            <a:ext cx="9932987" cy="2125662"/>
          </a:xfrm>
        </p:spPr>
        <p:txBody>
          <a:bodyPr>
            <a:normAutofit/>
          </a:bodyPr>
          <a:lstStyle/>
          <a:p>
            <a:pPr marL="457200" indent="-457200">
              <a:buFont typeface="+mj-ea"/>
              <a:buAutoNum type="circleNumDbPlain" startAt="3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本地结点、宿主结点以及远程结点的关系 </a:t>
            </a:r>
          </a:p>
          <a:p>
            <a:pPr marL="1257277" lvl="2" indent="-342900" eaLnBrk="1" hangingPunct="1">
              <a:buClr>
                <a:schemeClr val="tx1"/>
              </a:buClr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本地结点：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发出访问请求的结点； </a:t>
            </a:r>
          </a:p>
          <a:p>
            <a:pPr marL="1257277" lvl="2" indent="-342900" eaLnBrk="1" hangingPunct="1">
              <a:buClr>
                <a:schemeClr val="tx1"/>
              </a:buClr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宿主结点：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包含所访问的存储单元及其目录项的结点； </a:t>
            </a:r>
          </a:p>
          <a:p>
            <a:pPr marL="1257277" lvl="2" indent="-342900" eaLnBrk="1" hangingPunct="1">
              <a:buClr>
                <a:schemeClr val="tx1"/>
              </a:buClr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远程结点：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拥有该块的副本。 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049" y="2198016"/>
            <a:ext cx="4966277" cy="3829272"/>
          </a:xfrm>
          <a:prstGeom prst="rect">
            <a:avLst/>
          </a:prstGeom>
        </p:spPr>
      </p:pic>
      <p:sp>
        <p:nvSpPr>
          <p:cNvPr id="6" name="Text Box 27"/>
          <p:cNvSpPr txBox="1">
            <a:spLocks noChangeArrowheads="1"/>
          </p:cNvSpPr>
          <p:nvPr/>
        </p:nvSpPr>
        <p:spPr bwMode="auto">
          <a:xfrm>
            <a:off x="2184398" y="6124576"/>
            <a:ext cx="768191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宿主结点：</a:t>
            </a:r>
            <a:r>
              <a:rPr lang="zh-CN" altLang="en-US" sz="2000" dirty="0">
                <a:solidFill>
                  <a:srgbClr val="4045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存放有对应地址的存储器块和目录项的结点 </a:t>
            </a:r>
          </a:p>
        </p:txBody>
      </p:sp>
      <p:sp>
        <p:nvSpPr>
          <p:cNvPr id="7" name="Text Box 27"/>
          <p:cNvSpPr txBox="1">
            <a:spLocks noChangeArrowheads="1"/>
          </p:cNvSpPr>
          <p:nvPr/>
        </p:nvSpPr>
        <p:spPr bwMode="auto">
          <a:xfrm>
            <a:off x="9093228" y="4552438"/>
            <a:ext cx="309877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注意：统一地址空间，地址高位为节点地址，低位为节点内存储器偏移量。</a:t>
            </a:r>
            <a:endParaRPr lang="zh-CN" altLang="en-US" sz="2000" dirty="0">
              <a:solidFill>
                <a:srgbClr val="4045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标注 1"/>
          <p:cNvSpPr/>
          <p:nvPr/>
        </p:nvSpPr>
        <p:spPr>
          <a:xfrm>
            <a:off x="2893207" y="4666481"/>
            <a:ext cx="914400" cy="612648"/>
          </a:xfrm>
          <a:prstGeom prst="wedgeRectCallout">
            <a:avLst>
              <a:gd name="adj1" fmla="val 51341"/>
              <a:gd name="adj2" fmla="val -1269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标注 7"/>
          <p:cNvSpPr/>
          <p:nvPr/>
        </p:nvSpPr>
        <p:spPr>
          <a:xfrm>
            <a:off x="2893207" y="4666481"/>
            <a:ext cx="914400" cy="612648"/>
          </a:xfrm>
          <a:prstGeom prst="wedgeRectCallout">
            <a:avLst>
              <a:gd name="adj1" fmla="val 126124"/>
              <a:gd name="adj2" fmla="val 9624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可以是同一个节点</a:t>
            </a:r>
          </a:p>
        </p:txBody>
      </p:sp>
      <p:sp>
        <p:nvSpPr>
          <p:cNvPr id="9" name="矩形标注 8"/>
          <p:cNvSpPr/>
          <p:nvPr/>
        </p:nvSpPr>
        <p:spPr>
          <a:xfrm>
            <a:off x="7648877" y="4360157"/>
            <a:ext cx="914400" cy="612648"/>
          </a:xfrm>
          <a:prstGeom prst="wedgeRectCallout">
            <a:avLst>
              <a:gd name="adj1" fmla="val -61702"/>
              <a:gd name="adj2" fmla="val -117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可以是同一个节点</a:t>
            </a:r>
          </a:p>
        </p:txBody>
      </p:sp>
      <p:sp>
        <p:nvSpPr>
          <p:cNvPr id="10" name="矩形标注 9"/>
          <p:cNvSpPr/>
          <p:nvPr/>
        </p:nvSpPr>
        <p:spPr>
          <a:xfrm>
            <a:off x="7648877" y="4359775"/>
            <a:ext cx="914400" cy="612648"/>
          </a:xfrm>
          <a:prstGeom prst="wedgeRectCallout">
            <a:avLst>
              <a:gd name="adj1" fmla="val -89529"/>
              <a:gd name="adj2" fmla="val 11571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可以是同一个节点</a:t>
            </a:r>
          </a:p>
        </p:txBody>
      </p:sp>
      <p:sp>
        <p:nvSpPr>
          <p:cNvPr id="11" name="矩形标注 10"/>
          <p:cNvSpPr/>
          <p:nvPr/>
        </p:nvSpPr>
        <p:spPr>
          <a:xfrm>
            <a:off x="5110954" y="2290366"/>
            <a:ext cx="914400" cy="612648"/>
          </a:xfrm>
          <a:prstGeom prst="wedgeRectCallout">
            <a:avLst>
              <a:gd name="adj1" fmla="val -86920"/>
              <a:gd name="adj2" fmla="val 8196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可以是同一个节点</a:t>
            </a:r>
          </a:p>
        </p:txBody>
      </p:sp>
      <p:sp>
        <p:nvSpPr>
          <p:cNvPr id="12" name="矩形标注 11"/>
          <p:cNvSpPr/>
          <p:nvPr/>
        </p:nvSpPr>
        <p:spPr>
          <a:xfrm>
            <a:off x="5110954" y="2290366"/>
            <a:ext cx="914400" cy="612648"/>
          </a:xfrm>
          <a:prstGeom prst="wedgeRectCallout">
            <a:avLst>
              <a:gd name="adj1" fmla="val 101776"/>
              <a:gd name="adj2" fmla="val 676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可以是同一个节点</a:t>
            </a:r>
          </a:p>
        </p:txBody>
      </p:sp>
    </p:spTree>
    <p:extLst>
      <p:ext uri="{BB962C8B-B14F-4D97-AF65-F5344CB8AC3E}">
        <p14:creationId xmlns:p14="http://schemas.microsoft.com/office/powerpoint/2010/main" val="525993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3401" y="95253"/>
            <a:ext cx="10058399" cy="123824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+mj-ea"/>
              <a:buAutoNum type="circleNumDbPlain" startAt="4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在结点之间发送的消息</a:t>
            </a:r>
          </a:p>
          <a:p>
            <a:pPr marL="1085850" lvl="1" indent="-4572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本地结点发给宿主结点（目录）的消息</a:t>
            </a:r>
          </a:p>
        </p:txBody>
      </p:sp>
      <p:sp>
        <p:nvSpPr>
          <p:cNvPr id="2" name="矩形 1"/>
          <p:cNvSpPr/>
          <p:nvPr/>
        </p:nvSpPr>
        <p:spPr>
          <a:xfrm>
            <a:off x="-1066801" y="1207396"/>
            <a:ext cx="488632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00" lvl="2" indent="-266700" algn="just"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RdMiss</a:t>
            </a:r>
            <a:r>
              <a:rPr lang="zh-CN" altLang="en-US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en-US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57300" lvl="2" indent="533400" algn="just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处理机</a:t>
            </a:r>
            <a:r>
              <a:rPr lang="en-US" altLang="zh-CN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读取地址为</a:t>
            </a:r>
            <a:r>
              <a:rPr lang="en-US" altLang="zh-CN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的数据时不命中，请求宿主结点提供数据（块），并要求把</a:t>
            </a:r>
            <a:r>
              <a:rPr lang="en-US" altLang="zh-CN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加入共享集。</a:t>
            </a:r>
          </a:p>
        </p:txBody>
      </p:sp>
      <p:sp>
        <p:nvSpPr>
          <p:cNvPr id="3" name="矩形 2"/>
          <p:cNvSpPr/>
          <p:nvPr/>
        </p:nvSpPr>
        <p:spPr>
          <a:xfrm>
            <a:off x="3062287" y="1207396"/>
            <a:ext cx="500062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00" lvl="2" indent="-266700"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WtMiss</a:t>
            </a:r>
            <a:r>
              <a:rPr lang="zh-CN" altLang="en-US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en-US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 </a:t>
            </a:r>
          </a:p>
          <a:p>
            <a:pPr marL="1257300" lvl="2" indent="533400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处理机</a:t>
            </a:r>
            <a:r>
              <a:rPr lang="en-US" altLang="zh-CN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对地址</a:t>
            </a:r>
            <a:r>
              <a:rPr lang="en-US" altLang="zh-CN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进行写入时不命中，请求宿主结点提供数据，并使</a:t>
            </a:r>
            <a:r>
              <a:rPr lang="en-US" altLang="zh-CN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成为所访问数据块的独占者。 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05675" y="1207396"/>
            <a:ext cx="4886325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00" lvl="2" indent="-266700"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Invalidate</a:t>
            </a:r>
            <a:r>
              <a:rPr lang="zh-CN" altLang="en-US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en-US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  <a:p>
            <a:pPr marL="1343025" lvl="2" indent="447675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请求向所有拥有相应数据块副本（包含地址</a:t>
            </a:r>
            <a:r>
              <a:rPr lang="en-US" altLang="zh-CN" i="1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）的远程</a:t>
            </a:r>
            <a:r>
              <a:rPr lang="en-US" altLang="zh-CN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发</a:t>
            </a:r>
            <a:r>
              <a:rPr lang="en-US" altLang="zh-CN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Invalidate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消息，作废这些副本。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01" y="2639301"/>
            <a:ext cx="3222724" cy="235398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399" y="2639301"/>
            <a:ext cx="3040653" cy="2220999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-428625" y="5747177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marL="1085850" lvl="1" indent="-457200">
              <a:lnSpc>
                <a:spcPct val="100000"/>
              </a:lnSpc>
            </a:pP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说明：括号中的内容表示所带参数。</a:t>
            </a:r>
          </a:p>
          <a:p>
            <a:pPr marL="1085850" lvl="1" indent="-457200">
              <a:lnSpc>
                <a:spcPct val="100000"/>
              </a:lnSpc>
            </a:pPr>
            <a:r>
              <a:rPr lang="zh-CN" altLang="en-US" sz="1600" b="1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1600" b="1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：发出请求的处理机编号</a:t>
            </a:r>
          </a:p>
          <a:p>
            <a:pPr marL="1085850" lvl="1" indent="-457200">
              <a:lnSpc>
                <a:spcPct val="100000"/>
              </a:lnSpc>
            </a:pPr>
            <a:r>
              <a:rPr lang="zh-CN" altLang="en-US" sz="1600" b="1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1600" b="1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：所要访问的地址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6350" y="2588378"/>
            <a:ext cx="3204846" cy="245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4153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-438150" y="380339"/>
            <a:ext cx="9944099" cy="714372"/>
          </a:xfrm>
        </p:spPr>
        <p:txBody>
          <a:bodyPr>
            <a:noAutofit/>
          </a:bodyPr>
          <a:lstStyle/>
          <a:p>
            <a:pPr marL="1085850" lvl="1" indent="-4572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zh-CN" altLang="en-US" sz="1900" dirty="0">
                <a:latin typeface="宋体" panose="02010600030101010101" pitchFamily="2" charset="-122"/>
                <a:ea typeface="宋体" panose="02010600030101010101" pitchFamily="2" charset="-122"/>
              </a:rPr>
              <a:t>宿主结点（目录）发送给远程结点的消息</a:t>
            </a:r>
          </a:p>
          <a:p>
            <a:pPr lvl="2" eaLnBrk="1" hangingPunct="1"/>
            <a:endParaRPr lang="zh-CN" altLang="en-US" sz="2000" dirty="0">
              <a:solidFill>
                <a:srgbClr val="D6009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</a:t>
            </a:r>
          </a:p>
        </p:txBody>
      </p:sp>
      <p:sp>
        <p:nvSpPr>
          <p:cNvPr id="2" name="矩形 1"/>
          <p:cNvSpPr/>
          <p:nvPr/>
        </p:nvSpPr>
        <p:spPr>
          <a:xfrm>
            <a:off x="-766763" y="1371710"/>
            <a:ext cx="4743450" cy="951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00" lvl="2" indent="-266700">
              <a:lnSpc>
                <a:spcPct val="11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Invalidate</a:t>
            </a:r>
            <a:r>
              <a:rPr lang="zh-CN" altLang="en-US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en-US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  <a:p>
            <a:pPr lvl="2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       作废远程</a:t>
            </a:r>
            <a:r>
              <a:rPr lang="en-US" altLang="zh-CN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中包含地址</a:t>
            </a:r>
            <a:r>
              <a:rPr lang="en-US" altLang="zh-CN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的数据块。</a:t>
            </a:r>
          </a:p>
        </p:txBody>
      </p:sp>
      <p:sp>
        <p:nvSpPr>
          <p:cNvPr id="3" name="矩形 2"/>
          <p:cNvSpPr/>
          <p:nvPr/>
        </p:nvSpPr>
        <p:spPr>
          <a:xfrm>
            <a:off x="3286125" y="1371710"/>
            <a:ext cx="4743450" cy="15050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00" lvl="2" indent="-266700" algn="just">
              <a:lnSpc>
                <a:spcPct val="11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Fetch</a:t>
            </a:r>
            <a:r>
              <a:rPr lang="zh-CN" altLang="en-US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en-US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  <a:p>
            <a:pPr marL="1257300" lvl="2" indent="533400" algn="just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从远程</a:t>
            </a:r>
            <a:r>
              <a:rPr lang="en-US" altLang="zh-CN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中取出包含地址</a:t>
            </a:r>
            <a:r>
              <a:rPr lang="en-US" altLang="zh-CN" i="1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的数据块，并将之送到宿主结点。把远程</a:t>
            </a:r>
            <a:r>
              <a:rPr lang="en-US" altLang="zh-CN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中那个块的状态改为“共享”。</a:t>
            </a:r>
          </a:p>
        </p:txBody>
      </p:sp>
      <p:sp>
        <p:nvSpPr>
          <p:cNvPr id="4" name="矩形 3"/>
          <p:cNvSpPr/>
          <p:nvPr/>
        </p:nvSpPr>
        <p:spPr>
          <a:xfrm>
            <a:off x="7196138" y="1371710"/>
            <a:ext cx="4886325" cy="12280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00" lvl="2" indent="-266700" algn="just">
              <a:lnSpc>
                <a:spcPct val="11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Fetch&amp;Inv</a:t>
            </a:r>
            <a:r>
              <a:rPr lang="zh-CN" altLang="en-US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en-US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dirty="0">
              <a:solidFill>
                <a:srgbClr val="D6009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57300" lvl="2" indent="533400" algn="just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从远程</a:t>
            </a:r>
            <a:r>
              <a:rPr lang="en-US" altLang="zh-CN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中取出包含地址</a:t>
            </a:r>
            <a:r>
              <a:rPr lang="en-US" altLang="zh-CN" i="1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的数据块，并将之送到宿主结点。然后作废远程</a:t>
            </a:r>
            <a:r>
              <a:rPr lang="en-US" altLang="zh-CN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中的那个块。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44" y="3124684"/>
            <a:ext cx="3536218" cy="215843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900" y="3033776"/>
            <a:ext cx="3654508" cy="212058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599" y="2915134"/>
            <a:ext cx="3490913" cy="210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0404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-257175" y="346711"/>
            <a:ext cx="5448300" cy="5676898"/>
          </a:xfrm>
        </p:spPr>
        <p:txBody>
          <a:bodyPr>
            <a:normAutofit/>
          </a:bodyPr>
          <a:lstStyle/>
          <a:p>
            <a:pPr marL="1085850" lvl="1" indent="-4572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宿主结点发送给本地结点的消息</a:t>
            </a:r>
          </a:p>
          <a:p>
            <a:pPr marL="1085850" lvl="1" indent="-457200"/>
            <a:r>
              <a:rPr lang="en-US" altLang="zh-CN" sz="1800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DReply</a:t>
            </a:r>
            <a:r>
              <a:rPr lang="zh-CN" altLang="en-US" sz="1800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zh-CN" altLang="en-US" sz="1800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  <a:p>
            <a:pPr marL="1257300" lvl="2" indent="266700" eaLnBrk="1" hangingPunct="1">
              <a:buClr>
                <a:schemeClr val="tx1"/>
              </a:buClr>
              <a:buFont typeface="Wingdings" panose="05000000000000000000" pitchFamily="2" charset="2"/>
              <a:buChar char="p"/>
            </a:pPr>
            <a:r>
              <a:rPr lang="en-US" altLang="zh-CN" sz="18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表示数据内容。</a:t>
            </a:r>
          </a:p>
          <a:p>
            <a:pPr marL="1257300" lvl="2" indent="266700" eaLnBrk="1" hangingPunct="1">
              <a:buClr>
                <a:schemeClr val="tx1"/>
              </a:buClr>
              <a:buFont typeface="Wingdings" panose="05000000000000000000" pitchFamily="2" charset="2"/>
              <a:buChar char="p"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把从宿主存储器获得的数据返回给本地</a:t>
            </a:r>
            <a:r>
              <a:rPr lang="en-US" altLang="zh-CN" sz="18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2" name="矩形 1"/>
          <p:cNvSpPr/>
          <p:nvPr/>
        </p:nvSpPr>
        <p:spPr>
          <a:xfrm>
            <a:off x="5486400" y="346711"/>
            <a:ext cx="6096000" cy="2631490"/>
          </a:xfrm>
          <a:prstGeom prst="rect">
            <a:avLst/>
          </a:prstGeom>
        </p:spPr>
        <p:txBody>
          <a:bodyPr>
            <a:spAutoFit/>
          </a:bodyPr>
          <a:lstStyle/>
          <a:p>
            <a:pPr marL="108585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远程结点发送给宿主结点的消息</a:t>
            </a:r>
          </a:p>
          <a:p>
            <a:pPr marL="1085850" lvl="1" indent="-457200">
              <a:lnSpc>
                <a:spcPct val="150000"/>
              </a:lnSpc>
            </a:pPr>
            <a:r>
              <a:rPr lang="zh-CN" altLang="en-US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dirty="0" err="1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WtBack</a:t>
            </a:r>
            <a:r>
              <a:rPr lang="zh-CN" altLang="en-US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en-US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zh-CN" altLang="en-US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  <a:p>
            <a:pPr marL="1524000" lvl="2" indent="-2667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把远程</a:t>
            </a:r>
            <a:r>
              <a:rPr lang="en-US" altLang="zh-CN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中包含地址</a:t>
            </a:r>
            <a:r>
              <a:rPr lang="en-US" altLang="zh-CN" i="1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的数据块写回到宿主结点中， 该消息是远程结点对宿主结点发来的“取数据”或“取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作废”消息的响应。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05" y="3104397"/>
            <a:ext cx="4572695" cy="331218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141" y="3104397"/>
            <a:ext cx="4243401" cy="3150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5877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06697" y="429513"/>
            <a:ext cx="10563224" cy="4886323"/>
          </a:xfrm>
        </p:spPr>
        <p:txBody>
          <a:bodyPr>
            <a:normAutofit/>
          </a:bodyPr>
          <a:lstStyle/>
          <a:p>
            <a:pPr marL="1085850" lvl="1" indent="-4572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本地结点发送给被替换块的宿主结点的消息</a:t>
            </a:r>
          </a:p>
          <a:p>
            <a:pPr marL="1257277" lvl="2" indent="-342900" eaLnBrk="1" hangingPunct="1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MdSharer</a:t>
            </a:r>
            <a:r>
              <a:rPr lang="zh-CN" altLang="en-US" sz="2000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sz="2000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en-US" sz="2000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  <a:p>
            <a:pPr marL="912813" lvl="2" indent="525463" eaLnBrk="1" hangingPunct="1">
              <a:buFont typeface="Wingdings" panose="05000000000000000000" pitchFamily="2" charset="2"/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用于当本地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中需要替换一个包含地址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的块、且该块未被修改过的情况。这个消息发给该块的宿主结点，请求它将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从共享集中删除。如果删除后共享集变为空集，则宿主结点还要将该块的状态改变为“未缓存”（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</a:p>
          <a:p>
            <a:pPr marL="1257277" lvl="2" indent="-342900" eaLnBrk="1" hangingPunct="1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WtBack2</a:t>
            </a:r>
            <a:r>
              <a:rPr lang="zh-CN" altLang="en-US" sz="2000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sz="2000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en-US" sz="2000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zh-CN" altLang="en-US" sz="2000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  <a:p>
            <a:pPr marL="912813" lvl="2" indent="525463" eaLnBrk="1" hangingPunct="1">
              <a:buFont typeface="Wingdings" panose="05000000000000000000" pitchFamily="2" charset="2"/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用于当本地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中需要替换一个包含地址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的块、且该块已被修改过的情况。这个消息发给该块的宿主结点，完成两步操作：①把该块写回；②进行与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MdSharer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相同的操作。 </a:t>
            </a:r>
          </a:p>
        </p:txBody>
      </p:sp>
    </p:spTree>
    <p:extLst>
      <p:ext uri="{BB962C8B-B14F-4D97-AF65-F5344CB8AC3E}">
        <p14:creationId xmlns:p14="http://schemas.microsoft.com/office/powerpoint/2010/main" val="12650813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9575" y="152250"/>
            <a:ext cx="9296400" cy="562125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综合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sz="quarter" idx="23"/>
            <p:extLst>
              <p:ext uri="{D42A27DB-BD31-4B8C-83A1-F6EECF244321}">
                <p14:modId xmlns:p14="http://schemas.microsoft.com/office/powerpoint/2010/main" val="2688743517"/>
              </p:ext>
            </p:extLst>
          </p:nvPr>
        </p:nvGraphicFramePr>
        <p:xfrm>
          <a:off x="409575" y="1131888"/>
          <a:ext cx="11344275" cy="542544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885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77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消息类型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目的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消息内容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操作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RdMiss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本地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cache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宿主目录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K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节点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在地址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K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发生读失效，请求数据，并将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设置为读取共享者；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WtMiss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本地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cache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宿主目录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K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节点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在地址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K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发生写失效，请求数据，并将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设置为独占拥有者；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Invalidate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本地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cache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宿主目录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K</a:t>
                      </a:r>
                      <a:r>
                        <a:rPr lang="en-US" altLang="zh-CN" baseline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向所有缓存了地址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K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块的远程缓存发送失效请求；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Invalidate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宿主目录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远程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cache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K</a:t>
                      </a:r>
                      <a:r>
                        <a:rPr lang="en-US" altLang="zh-CN" baseline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使地址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K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处数据的共享副本失效；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Fetch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宿主目录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远程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cache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K</a:t>
                      </a:r>
                      <a:r>
                        <a:rPr lang="en-US" altLang="zh-CN" baseline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取回地址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K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的块，并发送到它的主目录；把远程缓存中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K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的状态改为共享；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Fetch&amp;Inv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宿主目录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远程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cache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K</a:t>
                      </a:r>
                      <a:r>
                        <a:rPr lang="en-US" altLang="zh-CN" baseline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取回地址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K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的块，并发送到它的主目录；使缓存中的块失效；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DReply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宿主目录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本地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cache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baseline="0" dirty="0">
                          <a:solidFill>
                            <a:schemeClr val="tx1"/>
                          </a:solidFill>
                        </a:rPr>
                        <a:t>D 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从主存储器返回数据值；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 err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WtBack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远程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cache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本地目录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K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写回地址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K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的数据值；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MdSharer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本地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cache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宿主目录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K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读失效，请求替换，将地址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K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处共享者集合更新；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WtBack2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本地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cache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宿主目录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K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写失效，需要替换，写回，并更新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K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的贡献者集合。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65228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67994" y="857249"/>
            <a:ext cx="10625136" cy="5610225"/>
          </a:xfrm>
        </p:spPr>
        <p:txBody>
          <a:bodyPr>
            <a:normAutofit/>
          </a:bodyPr>
          <a:lstStyle/>
          <a:p>
            <a:pPr marL="1085850" lvl="1" indent="-4572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在基于目录的协议中，目录承担了一致性协议操作的主要功能。 </a:t>
            </a:r>
          </a:p>
          <a:p>
            <a:pPr marL="1257277" lvl="2" indent="-342900" eaLnBrk="1" hangingPunct="1">
              <a:lnSpc>
                <a:spcPct val="10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本地结点把请求发给宿主结点中的目录，再由目录控制器有选择地向远程结点发出相应的消息。</a:t>
            </a:r>
          </a:p>
          <a:p>
            <a:pPr marL="1257277" lvl="2" indent="-342900" eaLnBrk="1" hangingPunct="1">
              <a:lnSpc>
                <a:spcPct val="10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发出的消息会产生</a:t>
            </a:r>
            <a:r>
              <a:rPr lang="zh-CN" altLang="en-US" sz="2000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两种不同类型的动作：</a:t>
            </a:r>
          </a:p>
          <a:p>
            <a:pPr marL="1616075" lvl="3" indent="-246063" eaLnBrk="1" hangingPunct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更新目录状态</a:t>
            </a:r>
          </a:p>
          <a:p>
            <a:pPr marL="1616075" lvl="3" indent="-246063" eaLnBrk="1" hangingPunct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使远程结点完成相应的操作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085850" lvl="1" indent="-4572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某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的状态转换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598613" lvl="2" indent="-25876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三状态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:Invalid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Shared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Modified</a:t>
            </a:r>
          </a:p>
          <a:p>
            <a:pPr marL="1598613" lvl="2" indent="-25876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触发：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读请求，</a:t>
            </a:r>
            <a:r>
              <a:rPr lang="en-US" altLang="zh-CN" sz="20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lang="zh-CN" altLang="en-US" sz="20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写请求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000" dirty="0">
                <a:solidFill>
                  <a:srgbClr val="FB43D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远程</a:t>
            </a:r>
            <a:r>
              <a:rPr lang="en-US" altLang="zh-CN" sz="2000" dirty="0">
                <a:solidFill>
                  <a:srgbClr val="FB43D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solidFill>
                  <a:srgbClr val="FB43D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块收到请求</a:t>
            </a:r>
            <a:endParaRPr lang="en-US" altLang="zh-CN" sz="2000" dirty="0">
              <a:solidFill>
                <a:srgbClr val="FB43D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085838" lvl="2">
              <a:lnSpc>
                <a:spcPct val="100000"/>
              </a:lnSpc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085838" lvl="2">
              <a:lnSpc>
                <a:spcPct val="100000"/>
              </a:lnSpc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72794" y="245418"/>
            <a:ext cx="2492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2.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目录协议实例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25349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14"/>
          <p:cNvGrpSpPr>
            <a:grpSpLocks/>
          </p:cNvGrpSpPr>
          <p:nvPr/>
        </p:nvGrpSpPr>
        <p:grpSpPr bwMode="auto">
          <a:xfrm rot="9201175">
            <a:off x="7590053" y="2109377"/>
            <a:ext cx="632998" cy="611155"/>
            <a:chOff x="1776" y="3024"/>
            <a:chExt cx="402" cy="384"/>
          </a:xfrm>
        </p:grpSpPr>
        <p:sp>
          <p:nvSpPr>
            <p:cNvPr id="27" name="Oval 15"/>
            <p:cNvSpPr>
              <a:spLocks noChangeArrowheads="1"/>
            </p:cNvSpPr>
            <p:nvPr/>
          </p:nvSpPr>
          <p:spPr bwMode="auto">
            <a:xfrm>
              <a:off x="1776" y="3024"/>
              <a:ext cx="384" cy="38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AutoNum type="arabicPeriod"/>
                <a:defRPr kumimoji="1" sz="2600">
                  <a:solidFill>
                    <a:srgbClr val="E24C05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90000"/>
                <a:buFont typeface="Wingdings" panose="05000000000000000000" pitchFamily="2" charset="2"/>
                <a:buChar char="Ø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q"/>
                <a:defRPr kumimoji="1" sz="2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zh-CN" sz="18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8" name="Line 16"/>
            <p:cNvSpPr>
              <a:spLocks noChangeShapeType="1"/>
            </p:cNvSpPr>
            <p:nvPr/>
          </p:nvSpPr>
          <p:spPr bwMode="auto">
            <a:xfrm rot="1800000">
              <a:off x="2082" y="3102"/>
              <a:ext cx="96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sz="140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3832" y="133739"/>
            <a:ext cx="9296400" cy="644184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具体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块的状态转换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– CPU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读</a:t>
            </a:r>
          </a:p>
        </p:txBody>
      </p:sp>
      <p:grpSp>
        <p:nvGrpSpPr>
          <p:cNvPr id="34" name="Group 14"/>
          <p:cNvGrpSpPr>
            <a:grpSpLocks/>
          </p:cNvGrpSpPr>
          <p:nvPr/>
        </p:nvGrpSpPr>
        <p:grpSpPr bwMode="auto">
          <a:xfrm rot="900131">
            <a:off x="6566449" y="1363611"/>
            <a:ext cx="632998" cy="611155"/>
            <a:chOff x="1776" y="3024"/>
            <a:chExt cx="402" cy="384"/>
          </a:xfrm>
        </p:grpSpPr>
        <p:sp>
          <p:nvSpPr>
            <p:cNvPr id="52" name="Oval 15"/>
            <p:cNvSpPr>
              <a:spLocks noChangeArrowheads="1"/>
            </p:cNvSpPr>
            <p:nvPr/>
          </p:nvSpPr>
          <p:spPr bwMode="auto">
            <a:xfrm>
              <a:off x="1776" y="3024"/>
              <a:ext cx="384" cy="38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AutoNum type="arabicPeriod"/>
                <a:defRPr kumimoji="1" sz="2600">
                  <a:solidFill>
                    <a:srgbClr val="E24C05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90000"/>
                <a:buFont typeface="Wingdings" panose="05000000000000000000" pitchFamily="2" charset="2"/>
                <a:buChar char="Ø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q"/>
                <a:defRPr kumimoji="1" sz="2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zh-CN" sz="18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3" name="Line 16"/>
            <p:cNvSpPr>
              <a:spLocks noChangeShapeType="1"/>
            </p:cNvSpPr>
            <p:nvPr/>
          </p:nvSpPr>
          <p:spPr bwMode="auto">
            <a:xfrm rot="1800000">
              <a:off x="2082" y="3102"/>
              <a:ext cx="96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sz="1400"/>
            </a:p>
          </p:txBody>
        </p:sp>
      </p:grpSp>
      <p:grpSp>
        <p:nvGrpSpPr>
          <p:cNvPr id="35" name="Group 14"/>
          <p:cNvGrpSpPr>
            <a:grpSpLocks/>
          </p:cNvGrpSpPr>
          <p:nvPr/>
        </p:nvGrpSpPr>
        <p:grpSpPr bwMode="auto">
          <a:xfrm rot="20448015">
            <a:off x="2981677" y="5040299"/>
            <a:ext cx="632998" cy="611155"/>
            <a:chOff x="1776" y="3025"/>
            <a:chExt cx="402" cy="384"/>
          </a:xfrm>
        </p:grpSpPr>
        <p:sp>
          <p:nvSpPr>
            <p:cNvPr id="50" name="Oval 15"/>
            <p:cNvSpPr>
              <a:spLocks noChangeArrowheads="1"/>
            </p:cNvSpPr>
            <p:nvPr/>
          </p:nvSpPr>
          <p:spPr bwMode="auto">
            <a:xfrm>
              <a:off x="1776" y="3025"/>
              <a:ext cx="384" cy="38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AutoNum type="arabicPeriod"/>
                <a:defRPr kumimoji="1" sz="2600">
                  <a:solidFill>
                    <a:srgbClr val="E24C05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90000"/>
                <a:buFont typeface="Wingdings" panose="05000000000000000000" pitchFamily="2" charset="2"/>
                <a:buChar char="Ø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q"/>
                <a:defRPr kumimoji="1" sz="2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zh-CN" sz="18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1" name="Line 16"/>
            <p:cNvSpPr>
              <a:spLocks noChangeShapeType="1"/>
            </p:cNvSpPr>
            <p:nvPr/>
          </p:nvSpPr>
          <p:spPr bwMode="auto">
            <a:xfrm rot="1800000">
              <a:off x="2082" y="3102"/>
              <a:ext cx="96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sz="1400"/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3340510" y="1683674"/>
            <a:ext cx="4538542" cy="4459951"/>
            <a:chOff x="2770323" y="2071167"/>
            <a:chExt cx="4943904" cy="4566073"/>
          </a:xfrm>
        </p:grpSpPr>
        <p:grpSp>
          <p:nvGrpSpPr>
            <p:cNvPr id="41" name="Group 42"/>
            <p:cNvGrpSpPr>
              <a:grpSpLocks/>
            </p:cNvGrpSpPr>
            <p:nvPr/>
          </p:nvGrpSpPr>
          <p:grpSpPr bwMode="auto">
            <a:xfrm>
              <a:off x="2828879" y="2071167"/>
              <a:ext cx="1358756" cy="1220813"/>
              <a:chOff x="1410" y="935"/>
              <a:chExt cx="884" cy="848"/>
            </a:xfrm>
          </p:grpSpPr>
          <p:sp>
            <p:nvSpPr>
              <p:cNvPr id="48" name="Oval 4"/>
              <p:cNvSpPr>
                <a:spLocks noChangeArrowheads="1"/>
              </p:cNvSpPr>
              <p:nvPr/>
            </p:nvSpPr>
            <p:spPr bwMode="auto">
              <a:xfrm>
                <a:off x="1410" y="935"/>
                <a:ext cx="884" cy="848"/>
              </a:xfrm>
              <a:prstGeom prst="ellipse">
                <a:avLst/>
              </a:prstGeom>
              <a:solidFill>
                <a:srgbClr val="0000FF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9" name="Rectangle 18"/>
              <p:cNvSpPr>
                <a:spLocks noChangeArrowheads="1"/>
              </p:cNvSpPr>
              <p:nvPr/>
            </p:nvSpPr>
            <p:spPr bwMode="auto">
              <a:xfrm>
                <a:off x="1500" y="1188"/>
                <a:ext cx="704" cy="2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Invalid</a:t>
                </a:r>
              </a:p>
            </p:txBody>
          </p:sp>
        </p:grpSp>
        <p:grpSp>
          <p:nvGrpSpPr>
            <p:cNvPr id="42" name="Group 44"/>
            <p:cNvGrpSpPr>
              <a:grpSpLocks/>
            </p:cNvGrpSpPr>
            <p:nvPr/>
          </p:nvGrpSpPr>
          <p:grpSpPr bwMode="auto">
            <a:xfrm>
              <a:off x="6092635" y="2071167"/>
              <a:ext cx="1621592" cy="1220812"/>
              <a:chOff x="3460" y="935"/>
              <a:chExt cx="1055" cy="848"/>
            </a:xfrm>
          </p:grpSpPr>
          <p:sp>
            <p:nvSpPr>
              <p:cNvPr id="46" name="Oval 28"/>
              <p:cNvSpPr>
                <a:spLocks noChangeArrowheads="1"/>
              </p:cNvSpPr>
              <p:nvPr/>
            </p:nvSpPr>
            <p:spPr bwMode="auto">
              <a:xfrm>
                <a:off x="3546" y="935"/>
                <a:ext cx="884" cy="848"/>
              </a:xfrm>
              <a:prstGeom prst="ellipse">
                <a:avLst/>
              </a:prstGeom>
              <a:solidFill>
                <a:srgbClr val="00BC00"/>
              </a:solidFill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zh-CN" sz="1400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" name="Rectangle 34"/>
              <p:cNvSpPr>
                <a:spLocks noChangeArrowheads="1"/>
              </p:cNvSpPr>
              <p:nvPr/>
            </p:nvSpPr>
            <p:spPr bwMode="auto">
              <a:xfrm>
                <a:off x="3460" y="1200"/>
                <a:ext cx="1055" cy="4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488" tIns="44450" rIns="90488" bIns="44450">
                <a:spAutoFit/>
              </a:bodyPr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Shared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1400" b="1" dirty="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3" name="Group 43"/>
            <p:cNvGrpSpPr>
              <a:grpSpLocks/>
            </p:cNvGrpSpPr>
            <p:nvPr/>
          </p:nvGrpSpPr>
          <p:grpSpPr bwMode="auto">
            <a:xfrm>
              <a:off x="2770323" y="5416428"/>
              <a:ext cx="1515536" cy="1220812"/>
              <a:chOff x="1370" y="3172"/>
              <a:chExt cx="986" cy="848"/>
            </a:xfrm>
          </p:grpSpPr>
          <p:sp>
            <p:nvSpPr>
              <p:cNvPr id="44" name="Oval 29"/>
              <p:cNvSpPr>
                <a:spLocks noChangeArrowheads="1"/>
              </p:cNvSpPr>
              <p:nvPr/>
            </p:nvSpPr>
            <p:spPr bwMode="auto">
              <a:xfrm>
                <a:off x="1408" y="3172"/>
                <a:ext cx="884" cy="848"/>
              </a:xfrm>
              <a:prstGeom prst="ellipse">
                <a:avLst/>
              </a:prstGeom>
              <a:solidFill>
                <a:srgbClr val="FF0000"/>
              </a:solidFill>
              <a:ln w="25400">
                <a:solidFill>
                  <a:srgbClr val="A8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5" name="Rectangle 35"/>
              <p:cNvSpPr>
                <a:spLocks noChangeArrowheads="1"/>
              </p:cNvSpPr>
              <p:nvPr/>
            </p:nvSpPr>
            <p:spPr bwMode="auto">
              <a:xfrm>
                <a:off x="1370" y="3452"/>
                <a:ext cx="986" cy="2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488" tIns="44450" rIns="90488" bIns="44450">
                <a:spAutoFit/>
              </a:bodyPr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20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Modified</a:t>
                </a:r>
                <a:endParaRPr kumimoji="0" lang="en-US" altLang="en-US" sz="2000" b="1" dirty="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37" name="矩形 36"/>
          <p:cNvSpPr/>
          <p:nvPr/>
        </p:nvSpPr>
        <p:spPr>
          <a:xfrm>
            <a:off x="1417820" y="5266891"/>
            <a:ext cx="1454244" cy="258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>
                <a:ea typeface="宋体" panose="02010600030101010101" pitchFamily="2" charset="-122"/>
              </a:rPr>
              <a:t>CPU</a:t>
            </a:r>
            <a:r>
              <a:rPr lang="zh-CN" altLang="en-US" dirty="0">
                <a:ea typeface="宋体" panose="02010600030101010101" pitchFamily="2" charset="-122"/>
              </a:rPr>
              <a:t>读取命中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6780589" y="1081040"/>
            <a:ext cx="1454244" cy="258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>
                <a:ea typeface="宋体" panose="02010600030101010101" pitchFamily="2" charset="-122"/>
              </a:rPr>
              <a:t>CPU</a:t>
            </a:r>
            <a:r>
              <a:rPr lang="zh-CN" altLang="en-US" dirty="0">
                <a:ea typeface="宋体" panose="02010600030101010101" pitchFamily="2" charset="-122"/>
              </a:rPr>
              <a:t>读取命中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3" name="Line 30"/>
          <p:cNvSpPr>
            <a:spLocks noChangeShapeType="1"/>
          </p:cNvSpPr>
          <p:nvPr/>
        </p:nvSpPr>
        <p:spPr bwMode="auto">
          <a:xfrm flipV="1">
            <a:off x="4646008" y="2253780"/>
            <a:ext cx="1852129" cy="3454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/>
          </a:p>
        </p:txBody>
      </p:sp>
      <p:sp>
        <p:nvSpPr>
          <p:cNvPr id="24" name="矩形 23"/>
          <p:cNvSpPr/>
          <p:nvPr/>
        </p:nvSpPr>
        <p:spPr>
          <a:xfrm>
            <a:off x="4623255" y="1976779"/>
            <a:ext cx="1454244" cy="258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>
                <a:ea typeface="宋体" panose="02010600030101010101" pitchFamily="2" charset="-122"/>
              </a:rPr>
              <a:t>CPU</a:t>
            </a:r>
            <a:r>
              <a:rPr lang="zh-CN" altLang="en-US" dirty="0">
                <a:ea typeface="宋体" panose="02010600030101010101" pitchFamily="2" charset="-122"/>
              </a:rPr>
              <a:t>读不命中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623255" y="2266581"/>
            <a:ext cx="160978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algn="just"/>
            <a:r>
              <a:rPr lang="zh-CN" altLang="en-US" sz="1600" dirty="0">
                <a:ea typeface="宋体" panose="02010600030101010101" pitchFamily="2" charset="-122"/>
              </a:rPr>
              <a:t>发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RdMiss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消息</a:t>
            </a:r>
          </a:p>
        </p:txBody>
      </p:sp>
      <p:sp>
        <p:nvSpPr>
          <p:cNvPr id="29" name="矩形 28"/>
          <p:cNvSpPr/>
          <p:nvPr/>
        </p:nvSpPr>
        <p:spPr>
          <a:xfrm>
            <a:off x="8169218" y="2169545"/>
            <a:ext cx="1454244" cy="258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>
                <a:ea typeface="宋体" panose="02010600030101010101" pitchFamily="2" charset="-122"/>
              </a:rPr>
              <a:t>CPU</a:t>
            </a:r>
            <a:r>
              <a:rPr lang="zh-CN" altLang="en-US" dirty="0">
                <a:ea typeface="宋体" panose="02010600030101010101" pitchFamily="2" charset="-122"/>
              </a:rPr>
              <a:t>读不命中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234833" y="2342778"/>
            <a:ext cx="160978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algn="just"/>
            <a:r>
              <a:rPr lang="zh-CN" altLang="en-US" sz="1600" dirty="0">
                <a:ea typeface="宋体" panose="02010600030101010101" pitchFamily="2" charset="-122"/>
              </a:rPr>
              <a:t>发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MdSharer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消息</a:t>
            </a:r>
          </a:p>
        </p:txBody>
      </p:sp>
      <p:sp>
        <p:nvSpPr>
          <p:cNvPr id="32" name="Line 30"/>
          <p:cNvSpPr>
            <a:spLocks noChangeShapeType="1"/>
          </p:cNvSpPr>
          <p:nvPr/>
        </p:nvSpPr>
        <p:spPr bwMode="auto">
          <a:xfrm flipV="1">
            <a:off x="4242392" y="2614482"/>
            <a:ext cx="2360427" cy="23480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/>
          </a:p>
        </p:txBody>
      </p:sp>
      <p:sp>
        <p:nvSpPr>
          <p:cNvPr id="39" name="矩形 38"/>
          <p:cNvSpPr/>
          <p:nvPr/>
        </p:nvSpPr>
        <p:spPr>
          <a:xfrm rot="18956381">
            <a:off x="4055382" y="4141698"/>
            <a:ext cx="1454244" cy="258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>
                <a:ea typeface="宋体" panose="02010600030101010101" pitchFamily="2" charset="-122"/>
              </a:rPr>
              <a:t>CPU</a:t>
            </a:r>
            <a:r>
              <a:rPr lang="zh-CN" altLang="en-US" dirty="0">
                <a:ea typeface="宋体" panose="02010600030101010101" pitchFamily="2" charset="-122"/>
              </a:rPr>
              <a:t>读不命中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0" name="矩形 39"/>
          <p:cNvSpPr/>
          <p:nvPr/>
        </p:nvSpPr>
        <p:spPr>
          <a:xfrm rot="18883919">
            <a:off x="4914500" y="3110894"/>
            <a:ext cx="160978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algn="just"/>
            <a:r>
              <a:rPr lang="zh-CN" altLang="en-US" sz="1600" dirty="0">
                <a:ea typeface="宋体" panose="02010600030101010101" pitchFamily="2" charset="-122"/>
              </a:rPr>
              <a:t>发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WtBack2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消息</a:t>
            </a:r>
          </a:p>
        </p:txBody>
      </p:sp>
    </p:spTree>
    <p:extLst>
      <p:ext uri="{BB962C8B-B14F-4D97-AF65-F5344CB8AC3E}">
        <p14:creationId xmlns:p14="http://schemas.microsoft.com/office/powerpoint/2010/main" val="23053888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14"/>
          <p:cNvGrpSpPr>
            <a:grpSpLocks/>
          </p:cNvGrpSpPr>
          <p:nvPr/>
        </p:nvGrpSpPr>
        <p:grpSpPr bwMode="auto">
          <a:xfrm rot="11375519">
            <a:off x="4103610" y="5788383"/>
            <a:ext cx="632998" cy="611155"/>
            <a:chOff x="1776" y="3025"/>
            <a:chExt cx="402" cy="384"/>
          </a:xfrm>
        </p:grpSpPr>
        <p:sp>
          <p:nvSpPr>
            <p:cNvPr id="62" name="Oval 15"/>
            <p:cNvSpPr>
              <a:spLocks noChangeArrowheads="1"/>
            </p:cNvSpPr>
            <p:nvPr/>
          </p:nvSpPr>
          <p:spPr bwMode="auto">
            <a:xfrm>
              <a:off x="1776" y="3025"/>
              <a:ext cx="384" cy="38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AutoNum type="arabicPeriod"/>
                <a:defRPr kumimoji="1" sz="2600">
                  <a:solidFill>
                    <a:srgbClr val="E24C05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90000"/>
                <a:buFont typeface="Wingdings" panose="05000000000000000000" pitchFamily="2" charset="2"/>
                <a:buChar char="Ø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q"/>
                <a:defRPr kumimoji="1" sz="2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zh-CN" sz="18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3" name="Line 16"/>
            <p:cNvSpPr>
              <a:spLocks noChangeShapeType="1"/>
            </p:cNvSpPr>
            <p:nvPr/>
          </p:nvSpPr>
          <p:spPr bwMode="auto">
            <a:xfrm rot="1800000">
              <a:off x="2082" y="3102"/>
              <a:ext cx="96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sz="1400"/>
            </a:p>
          </p:txBody>
        </p:sp>
      </p:grpSp>
      <p:grpSp>
        <p:nvGrpSpPr>
          <p:cNvPr id="26" name="Group 14"/>
          <p:cNvGrpSpPr>
            <a:grpSpLocks/>
          </p:cNvGrpSpPr>
          <p:nvPr/>
        </p:nvGrpSpPr>
        <p:grpSpPr bwMode="auto">
          <a:xfrm rot="9201175">
            <a:off x="7590053" y="2109377"/>
            <a:ext cx="632998" cy="611155"/>
            <a:chOff x="1776" y="3024"/>
            <a:chExt cx="402" cy="384"/>
          </a:xfrm>
        </p:grpSpPr>
        <p:sp>
          <p:nvSpPr>
            <p:cNvPr id="27" name="Oval 15"/>
            <p:cNvSpPr>
              <a:spLocks noChangeArrowheads="1"/>
            </p:cNvSpPr>
            <p:nvPr/>
          </p:nvSpPr>
          <p:spPr bwMode="auto">
            <a:xfrm>
              <a:off x="1776" y="3024"/>
              <a:ext cx="384" cy="38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AutoNum type="arabicPeriod"/>
                <a:defRPr kumimoji="1" sz="2600">
                  <a:solidFill>
                    <a:srgbClr val="E24C05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90000"/>
                <a:buFont typeface="Wingdings" panose="05000000000000000000" pitchFamily="2" charset="2"/>
                <a:buChar char="Ø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q"/>
                <a:defRPr kumimoji="1" sz="2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zh-CN" sz="18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8" name="Line 16"/>
            <p:cNvSpPr>
              <a:spLocks noChangeShapeType="1"/>
            </p:cNvSpPr>
            <p:nvPr/>
          </p:nvSpPr>
          <p:spPr bwMode="auto">
            <a:xfrm rot="1800000">
              <a:off x="2082" y="3102"/>
              <a:ext cx="96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sz="140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3832" y="133739"/>
            <a:ext cx="9296400" cy="644184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具体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块的状态转换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– CPU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写</a:t>
            </a:r>
          </a:p>
        </p:txBody>
      </p:sp>
      <p:grpSp>
        <p:nvGrpSpPr>
          <p:cNvPr id="34" name="Group 14"/>
          <p:cNvGrpSpPr>
            <a:grpSpLocks/>
          </p:cNvGrpSpPr>
          <p:nvPr/>
        </p:nvGrpSpPr>
        <p:grpSpPr bwMode="auto">
          <a:xfrm rot="900131">
            <a:off x="6566449" y="1363611"/>
            <a:ext cx="632998" cy="611155"/>
            <a:chOff x="1776" y="3024"/>
            <a:chExt cx="402" cy="384"/>
          </a:xfrm>
        </p:grpSpPr>
        <p:sp>
          <p:nvSpPr>
            <p:cNvPr id="52" name="Oval 15"/>
            <p:cNvSpPr>
              <a:spLocks noChangeArrowheads="1"/>
            </p:cNvSpPr>
            <p:nvPr/>
          </p:nvSpPr>
          <p:spPr bwMode="auto">
            <a:xfrm>
              <a:off x="1776" y="3024"/>
              <a:ext cx="384" cy="38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AutoNum type="arabicPeriod"/>
                <a:defRPr kumimoji="1" sz="2600">
                  <a:solidFill>
                    <a:srgbClr val="E24C05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90000"/>
                <a:buFont typeface="Wingdings" panose="05000000000000000000" pitchFamily="2" charset="2"/>
                <a:buChar char="Ø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q"/>
                <a:defRPr kumimoji="1" sz="2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zh-CN" sz="18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3" name="Line 16"/>
            <p:cNvSpPr>
              <a:spLocks noChangeShapeType="1"/>
            </p:cNvSpPr>
            <p:nvPr/>
          </p:nvSpPr>
          <p:spPr bwMode="auto">
            <a:xfrm rot="1800000">
              <a:off x="2082" y="3102"/>
              <a:ext cx="96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sz="1400"/>
            </a:p>
          </p:txBody>
        </p:sp>
      </p:grpSp>
      <p:grpSp>
        <p:nvGrpSpPr>
          <p:cNvPr id="35" name="Group 14"/>
          <p:cNvGrpSpPr>
            <a:grpSpLocks/>
          </p:cNvGrpSpPr>
          <p:nvPr/>
        </p:nvGrpSpPr>
        <p:grpSpPr bwMode="auto">
          <a:xfrm rot="20448015">
            <a:off x="2981677" y="5040299"/>
            <a:ext cx="632998" cy="611155"/>
            <a:chOff x="1776" y="3025"/>
            <a:chExt cx="402" cy="384"/>
          </a:xfrm>
        </p:grpSpPr>
        <p:sp>
          <p:nvSpPr>
            <p:cNvPr id="50" name="Oval 15"/>
            <p:cNvSpPr>
              <a:spLocks noChangeArrowheads="1"/>
            </p:cNvSpPr>
            <p:nvPr/>
          </p:nvSpPr>
          <p:spPr bwMode="auto">
            <a:xfrm>
              <a:off x="1776" y="3025"/>
              <a:ext cx="384" cy="38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AutoNum type="arabicPeriod"/>
                <a:defRPr kumimoji="1" sz="2600">
                  <a:solidFill>
                    <a:srgbClr val="E24C05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90000"/>
                <a:buFont typeface="Wingdings" panose="05000000000000000000" pitchFamily="2" charset="2"/>
                <a:buChar char="Ø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q"/>
                <a:defRPr kumimoji="1" sz="2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zh-CN" sz="18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1" name="Line 16"/>
            <p:cNvSpPr>
              <a:spLocks noChangeShapeType="1"/>
            </p:cNvSpPr>
            <p:nvPr/>
          </p:nvSpPr>
          <p:spPr bwMode="auto">
            <a:xfrm rot="1800000">
              <a:off x="2082" y="3102"/>
              <a:ext cx="96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sz="1400"/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3340510" y="1683674"/>
            <a:ext cx="4538542" cy="4459951"/>
            <a:chOff x="2770323" y="2071167"/>
            <a:chExt cx="4943904" cy="4566073"/>
          </a:xfrm>
        </p:grpSpPr>
        <p:grpSp>
          <p:nvGrpSpPr>
            <p:cNvPr id="41" name="Group 42"/>
            <p:cNvGrpSpPr>
              <a:grpSpLocks/>
            </p:cNvGrpSpPr>
            <p:nvPr/>
          </p:nvGrpSpPr>
          <p:grpSpPr bwMode="auto">
            <a:xfrm>
              <a:off x="2828879" y="2071167"/>
              <a:ext cx="1358756" cy="1220813"/>
              <a:chOff x="1410" y="935"/>
              <a:chExt cx="884" cy="848"/>
            </a:xfrm>
          </p:grpSpPr>
          <p:sp>
            <p:nvSpPr>
              <p:cNvPr id="48" name="Oval 4"/>
              <p:cNvSpPr>
                <a:spLocks noChangeArrowheads="1"/>
              </p:cNvSpPr>
              <p:nvPr/>
            </p:nvSpPr>
            <p:spPr bwMode="auto">
              <a:xfrm>
                <a:off x="1410" y="935"/>
                <a:ext cx="884" cy="848"/>
              </a:xfrm>
              <a:prstGeom prst="ellipse">
                <a:avLst/>
              </a:prstGeom>
              <a:solidFill>
                <a:srgbClr val="0000FF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9" name="Rectangle 18"/>
              <p:cNvSpPr>
                <a:spLocks noChangeArrowheads="1"/>
              </p:cNvSpPr>
              <p:nvPr/>
            </p:nvSpPr>
            <p:spPr bwMode="auto">
              <a:xfrm>
                <a:off x="1500" y="1188"/>
                <a:ext cx="704" cy="2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Invalid</a:t>
                </a:r>
              </a:p>
            </p:txBody>
          </p:sp>
        </p:grpSp>
        <p:grpSp>
          <p:nvGrpSpPr>
            <p:cNvPr id="42" name="Group 44"/>
            <p:cNvGrpSpPr>
              <a:grpSpLocks/>
            </p:cNvGrpSpPr>
            <p:nvPr/>
          </p:nvGrpSpPr>
          <p:grpSpPr bwMode="auto">
            <a:xfrm>
              <a:off x="6092635" y="2071167"/>
              <a:ext cx="1621592" cy="1220812"/>
              <a:chOff x="3460" y="935"/>
              <a:chExt cx="1055" cy="848"/>
            </a:xfrm>
          </p:grpSpPr>
          <p:sp>
            <p:nvSpPr>
              <p:cNvPr id="46" name="Oval 28"/>
              <p:cNvSpPr>
                <a:spLocks noChangeArrowheads="1"/>
              </p:cNvSpPr>
              <p:nvPr/>
            </p:nvSpPr>
            <p:spPr bwMode="auto">
              <a:xfrm>
                <a:off x="3546" y="935"/>
                <a:ext cx="884" cy="848"/>
              </a:xfrm>
              <a:prstGeom prst="ellipse">
                <a:avLst/>
              </a:prstGeom>
              <a:solidFill>
                <a:srgbClr val="00BC00"/>
              </a:solidFill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zh-CN" sz="1400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" name="Rectangle 34"/>
              <p:cNvSpPr>
                <a:spLocks noChangeArrowheads="1"/>
              </p:cNvSpPr>
              <p:nvPr/>
            </p:nvSpPr>
            <p:spPr bwMode="auto">
              <a:xfrm>
                <a:off x="3460" y="1200"/>
                <a:ext cx="1055" cy="4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488" tIns="44450" rIns="90488" bIns="44450">
                <a:spAutoFit/>
              </a:bodyPr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Shared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1400" b="1" dirty="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3" name="Group 43"/>
            <p:cNvGrpSpPr>
              <a:grpSpLocks/>
            </p:cNvGrpSpPr>
            <p:nvPr/>
          </p:nvGrpSpPr>
          <p:grpSpPr bwMode="auto">
            <a:xfrm>
              <a:off x="2770323" y="5416428"/>
              <a:ext cx="1515536" cy="1220812"/>
              <a:chOff x="1370" y="3172"/>
              <a:chExt cx="986" cy="848"/>
            </a:xfrm>
          </p:grpSpPr>
          <p:sp>
            <p:nvSpPr>
              <p:cNvPr id="44" name="Oval 29"/>
              <p:cNvSpPr>
                <a:spLocks noChangeArrowheads="1"/>
              </p:cNvSpPr>
              <p:nvPr/>
            </p:nvSpPr>
            <p:spPr bwMode="auto">
              <a:xfrm>
                <a:off x="1408" y="3172"/>
                <a:ext cx="884" cy="848"/>
              </a:xfrm>
              <a:prstGeom prst="ellipse">
                <a:avLst/>
              </a:prstGeom>
              <a:solidFill>
                <a:srgbClr val="FF0000"/>
              </a:solidFill>
              <a:ln w="25400">
                <a:solidFill>
                  <a:srgbClr val="A8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5" name="Rectangle 35"/>
              <p:cNvSpPr>
                <a:spLocks noChangeArrowheads="1"/>
              </p:cNvSpPr>
              <p:nvPr/>
            </p:nvSpPr>
            <p:spPr bwMode="auto">
              <a:xfrm>
                <a:off x="1370" y="3452"/>
                <a:ext cx="986" cy="2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488" tIns="44450" rIns="90488" bIns="44450">
                <a:spAutoFit/>
              </a:bodyPr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20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Modified</a:t>
                </a:r>
                <a:endParaRPr kumimoji="0" lang="en-US" altLang="en-US" sz="2000" b="1" dirty="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37" name="矩形 36"/>
          <p:cNvSpPr/>
          <p:nvPr/>
        </p:nvSpPr>
        <p:spPr>
          <a:xfrm>
            <a:off x="1600071" y="5128042"/>
            <a:ext cx="1454244" cy="258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>
                <a:ea typeface="宋体" panose="02010600030101010101" pitchFamily="2" charset="-122"/>
              </a:rPr>
              <a:t>CPU</a:t>
            </a:r>
            <a:r>
              <a:rPr lang="zh-CN" altLang="en-US" dirty="0">
                <a:ea typeface="宋体" panose="02010600030101010101" pitchFamily="2" charset="-122"/>
              </a:rPr>
              <a:t>读取命中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6780589" y="1081040"/>
            <a:ext cx="1454244" cy="258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>
                <a:ea typeface="宋体" panose="02010600030101010101" pitchFamily="2" charset="-122"/>
              </a:rPr>
              <a:t>CPU</a:t>
            </a:r>
            <a:r>
              <a:rPr lang="zh-CN" altLang="en-US" dirty="0">
                <a:ea typeface="宋体" panose="02010600030101010101" pitchFamily="2" charset="-122"/>
              </a:rPr>
              <a:t>读取命中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3" name="Line 30"/>
          <p:cNvSpPr>
            <a:spLocks noChangeShapeType="1"/>
          </p:cNvSpPr>
          <p:nvPr/>
        </p:nvSpPr>
        <p:spPr bwMode="auto">
          <a:xfrm flipV="1">
            <a:off x="4646008" y="2253780"/>
            <a:ext cx="1852129" cy="3454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/>
          </a:p>
        </p:txBody>
      </p:sp>
      <p:sp>
        <p:nvSpPr>
          <p:cNvPr id="24" name="矩形 23"/>
          <p:cNvSpPr/>
          <p:nvPr/>
        </p:nvSpPr>
        <p:spPr>
          <a:xfrm>
            <a:off x="4623255" y="1976779"/>
            <a:ext cx="1454244" cy="258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>
                <a:ea typeface="宋体" panose="02010600030101010101" pitchFamily="2" charset="-122"/>
              </a:rPr>
              <a:t>CPU</a:t>
            </a:r>
            <a:r>
              <a:rPr lang="zh-CN" altLang="en-US" dirty="0">
                <a:ea typeface="宋体" panose="02010600030101010101" pitchFamily="2" charset="-122"/>
              </a:rPr>
              <a:t>读不命中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623255" y="2266581"/>
            <a:ext cx="16097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algn="just"/>
            <a:r>
              <a:rPr lang="zh-CN" altLang="en-US" dirty="0">
                <a:ea typeface="宋体" panose="02010600030101010101" pitchFamily="2" charset="-122"/>
              </a:rPr>
              <a:t>发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RdMiss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消息</a:t>
            </a:r>
          </a:p>
        </p:txBody>
      </p:sp>
      <p:sp>
        <p:nvSpPr>
          <p:cNvPr id="29" name="矩形 28"/>
          <p:cNvSpPr/>
          <p:nvPr/>
        </p:nvSpPr>
        <p:spPr>
          <a:xfrm>
            <a:off x="8169218" y="2169545"/>
            <a:ext cx="1454244" cy="258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>
                <a:ea typeface="宋体" panose="02010600030101010101" pitchFamily="2" charset="-122"/>
              </a:rPr>
              <a:t>CPU</a:t>
            </a:r>
            <a:r>
              <a:rPr lang="zh-CN" altLang="en-US" dirty="0">
                <a:ea typeface="宋体" panose="02010600030101010101" pitchFamily="2" charset="-122"/>
              </a:rPr>
              <a:t>读不命中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234832" y="2342778"/>
            <a:ext cx="21212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algn="just"/>
            <a:r>
              <a:rPr lang="zh-CN" altLang="en-US" dirty="0">
                <a:ea typeface="宋体" panose="02010600030101010101" pitchFamily="2" charset="-122"/>
              </a:rPr>
              <a:t>发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MdSharer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消息</a:t>
            </a:r>
          </a:p>
        </p:txBody>
      </p:sp>
      <p:sp>
        <p:nvSpPr>
          <p:cNvPr id="32" name="Line 30"/>
          <p:cNvSpPr>
            <a:spLocks noChangeShapeType="1"/>
          </p:cNvSpPr>
          <p:nvPr/>
        </p:nvSpPr>
        <p:spPr bwMode="auto">
          <a:xfrm flipV="1">
            <a:off x="4242392" y="2591074"/>
            <a:ext cx="2360427" cy="237145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/>
          </a:p>
        </p:txBody>
      </p:sp>
      <p:sp>
        <p:nvSpPr>
          <p:cNvPr id="39" name="矩形 38"/>
          <p:cNvSpPr/>
          <p:nvPr/>
        </p:nvSpPr>
        <p:spPr>
          <a:xfrm rot="18956381">
            <a:off x="3921435" y="4181117"/>
            <a:ext cx="1454244" cy="258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>
                <a:ea typeface="宋体" panose="02010600030101010101" pitchFamily="2" charset="-122"/>
              </a:rPr>
              <a:t>CPU</a:t>
            </a:r>
            <a:r>
              <a:rPr lang="zh-CN" altLang="en-US" dirty="0">
                <a:ea typeface="宋体" panose="02010600030101010101" pitchFamily="2" charset="-122"/>
              </a:rPr>
              <a:t>读不命中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0" name="矩形 39"/>
          <p:cNvSpPr/>
          <p:nvPr/>
        </p:nvSpPr>
        <p:spPr>
          <a:xfrm rot="18952341">
            <a:off x="4765755" y="3064427"/>
            <a:ext cx="18245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algn="just"/>
            <a:r>
              <a:rPr lang="zh-CN" altLang="en-US" dirty="0">
                <a:ea typeface="宋体" panose="02010600030101010101" pitchFamily="2" charset="-122"/>
              </a:rPr>
              <a:t>发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RtBack2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消息</a:t>
            </a:r>
          </a:p>
        </p:txBody>
      </p:sp>
      <p:sp>
        <p:nvSpPr>
          <p:cNvPr id="33" name="矩形 32"/>
          <p:cNvSpPr/>
          <p:nvPr/>
        </p:nvSpPr>
        <p:spPr>
          <a:xfrm>
            <a:off x="1600071" y="5386574"/>
            <a:ext cx="1223412" cy="258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CPU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写命中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sp>
        <p:nvSpPr>
          <p:cNvPr id="54" name="Line 30"/>
          <p:cNvSpPr>
            <a:spLocks noChangeShapeType="1"/>
          </p:cNvSpPr>
          <p:nvPr/>
        </p:nvSpPr>
        <p:spPr bwMode="auto">
          <a:xfrm flipH="1">
            <a:off x="4407591" y="2725831"/>
            <a:ext cx="2316576" cy="235235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/>
          </a:p>
        </p:txBody>
      </p:sp>
      <p:sp>
        <p:nvSpPr>
          <p:cNvPr id="56" name="矩形 55"/>
          <p:cNvSpPr/>
          <p:nvPr/>
        </p:nvSpPr>
        <p:spPr>
          <a:xfrm rot="18846303">
            <a:off x="4038743" y="3913309"/>
            <a:ext cx="3438380" cy="25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CPU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写命中 发送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Invalidate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消息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sp>
        <p:nvSpPr>
          <p:cNvPr id="57" name="Line 30"/>
          <p:cNvSpPr>
            <a:spLocks noChangeShapeType="1"/>
          </p:cNvSpPr>
          <p:nvPr/>
        </p:nvSpPr>
        <p:spPr bwMode="auto">
          <a:xfrm flipH="1">
            <a:off x="3985802" y="2899247"/>
            <a:ext cx="375" cy="2009679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/>
          </a:p>
        </p:txBody>
      </p:sp>
      <p:sp>
        <p:nvSpPr>
          <p:cNvPr id="58" name="矩形 57"/>
          <p:cNvSpPr/>
          <p:nvPr/>
        </p:nvSpPr>
        <p:spPr>
          <a:xfrm rot="16200000">
            <a:off x="3050082" y="3526579"/>
            <a:ext cx="1981766" cy="5632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CPU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写缺失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algn="ctr">
              <a:lnSpc>
                <a:spcPct val="6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 发送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WtMiss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消息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sp>
        <p:nvSpPr>
          <p:cNvPr id="59" name="Line 30"/>
          <p:cNvSpPr>
            <a:spLocks noChangeShapeType="1"/>
          </p:cNvSpPr>
          <p:nvPr/>
        </p:nvSpPr>
        <p:spPr bwMode="auto">
          <a:xfrm flipH="1">
            <a:off x="4686086" y="3051789"/>
            <a:ext cx="2316576" cy="235235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/>
          </a:p>
        </p:txBody>
      </p:sp>
      <p:sp>
        <p:nvSpPr>
          <p:cNvPr id="60" name="矩形 59"/>
          <p:cNvSpPr/>
          <p:nvPr/>
        </p:nvSpPr>
        <p:spPr>
          <a:xfrm rot="18862669">
            <a:off x="4203048" y="4076526"/>
            <a:ext cx="3950886" cy="24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1600" dirty="0">
                <a:solidFill>
                  <a:srgbClr val="C00000"/>
                </a:solidFill>
                <a:ea typeface="宋体" panose="02010600030101010101" pitchFamily="2" charset="-122"/>
              </a:rPr>
              <a:t>CPU</a:t>
            </a:r>
            <a:r>
              <a:rPr lang="zh-CN" altLang="en-US" sz="1600" dirty="0">
                <a:solidFill>
                  <a:srgbClr val="C00000"/>
                </a:solidFill>
                <a:ea typeface="宋体" panose="02010600030101010101" pitchFamily="2" charset="-122"/>
              </a:rPr>
              <a:t>写缺失，发送</a:t>
            </a:r>
            <a:r>
              <a:rPr lang="en-US" altLang="zh-CN" sz="1600" dirty="0">
                <a:solidFill>
                  <a:srgbClr val="C00000"/>
                </a:solidFill>
                <a:ea typeface="宋体" panose="02010600030101010101" pitchFamily="2" charset="-122"/>
              </a:rPr>
              <a:t>MdSharer</a:t>
            </a:r>
            <a:r>
              <a:rPr lang="zh-CN" altLang="en-US" sz="1600" dirty="0">
                <a:solidFill>
                  <a:srgbClr val="C00000"/>
                </a:solidFill>
                <a:ea typeface="宋体" panose="02010600030101010101" pitchFamily="2" charset="-122"/>
              </a:rPr>
              <a:t>，发送</a:t>
            </a:r>
            <a:r>
              <a:rPr lang="en-US" altLang="zh-CN" sz="1600" dirty="0">
                <a:solidFill>
                  <a:srgbClr val="C00000"/>
                </a:solidFill>
                <a:ea typeface="宋体" panose="02010600030101010101" pitchFamily="2" charset="-122"/>
              </a:rPr>
              <a:t>WtMiss</a:t>
            </a:r>
          </a:p>
        </p:txBody>
      </p:sp>
      <p:sp>
        <p:nvSpPr>
          <p:cNvPr id="64" name="矩形 63"/>
          <p:cNvSpPr/>
          <p:nvPr/>
        </p:nvSpPr>
        <p:spPr>
          <a:xfrm>
            <a:off x="4733077" y="5832544"/>
            <a:ext cx="2452432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CPU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写缺失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,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发送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Wtback2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，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发送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WtMiss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消息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78817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3832" y="133739"/>
            <a:ext cx="9296400" cy="644184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具体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块的状态转换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–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远程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块收到请求</a:t>
            </a:r>
          </a:p>
        </p:txBody>
      </p:sp>
      <p:grpSp>
        <p:nvGrpSpPr>
          <p:cNvPr id="36" name="组合 35"/>
          <p:cNvGrpSpPr/>
          <p:nvPr/>
        </p:nvGrpSpPr>
        <p:grpSpPr>
          <a:xfrm>
            <a:off x="3340510" y="1683674"/>
            <a:ext cx="4538542" cy="4459951"/>
            <a:chOff x="2770323" y="2071167"/>
            <a:chExt cx="4943904" cy="4566073"/>
          </a:xfrm>
        </p:grpSpPr>
        <p:grpSp>
          <p:nvGrpSpPr>
            <p:cNvPr id="41" name="Group 42"/>
            <p:cNvGrpSpPr>
              <a:grpSpLocks/>
            </p:cNvGrpSpPr>
            <p:nvPr/>
          </p:nvGrpSpPr>
          <p:grpSpPr bwMode="auto">
            <a:xfrm>
              <a:off x="2828879" y="2071167"/>
              <a:ext cx="1358756" cy="1220813"/>
              <a:chOff x="1410" y="935"/>
              <a:chExt cx="884" cy="848"/>
            </a:xfrm>
          </p:grpSpPr>
          <p:sp>
            <p:nvSpPr>
              <p:cNvPr id="48" name="Oval 4"/>
              <p:cNvSpPr>
                <a:spLocks noChangeArrowheads="1"/>
              </p:cNvSpPr>
              <p:nvPr/>
            </p:nvSpPr>
            <p:spPr bwMode="auto">
              <a:xfrm>
                <a:off x="1410" y="935"/>
                <a:ext cx="884" cy="848"/>
              </a:xfrm>
              <a:prstGeom prst="ellipse">
                <a:avLst/>
              </a:prstGeom>
              <a:solidFill>
                <a:srgbClr val="0000FF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9" name="Rectangle 18"/>
              <p:cNvSpPr>
                <a:spLocks noChangeArrowheads="1"/>
              </p:cNvSpPr>
              <p:nvPr/>
            </p:nvSpPr>
            <p:spPr bwMode="auto">
              <a:xfrm>
                <a:off x="1500" y="1188"/>
                <a:ext cx="704" cy="2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Invalid</a:t>
                </a:r>
              </a:p>
            </p:txBody>
          </p:sp>
        </p:grpSp>
        <p:grpSp>
          <p:nvGrpSpPr>
            <p:cNvPr id="42" name="Group 44"/>
            <p:cNvGrpSpPr>
              <a:grpSpLocks/>
            </p:cNvGrpSpPr>
            <p:nvPr/>
          </p:nvGrpSpPr>
          <p:grpSpPr bwMode="auto">
            <a:xfrm>
              <a:off x="6092635" y="2071167"/>
              <a:ext cx="1621592" cy="1220812"/>
              <a:chOff x="3460" y="935"/>
              <a:chExt cx="1055" cy="848"/>
            </a:xfrm>
          </p:grpSpPr>
          <p:sp>
            <p:nvSpPr>
              <p:cNvPr id="46" name="Oval 28"/>
              <p:cNvSpPr>
                <a:spLocks noChangeArrowheads="1"/>
              </p:cNvSpPr>
              <p:nvPr/>
            </p:nvSpPr>
            <p:spPr bwMode="auto">
              <a:xfrm>
                <a:off x="3546" y="935"/>
                <a:ext cx="884" cy="848"/>
              </a:xfrm>
              <a:prstGeom prst="ellipse">
                <a:avLst/>
              </a:prstGeom>
              <a:solidFill>
                <a:srgbClr val="00BC00"/>
              </a:solidFill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zh-CN" sz="1400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" name="Rectangle 34"/>
              <p:cNvSpPr>
                <a:spLocks noChangeArrowheads="1"/>
              </p:cNvSpPr>
              <p:nvPr/>
            </p:nvSpPr>
            <p:spPr bwMode="auto">
              <a:xfrm>
                <a:off x="3460" y="1200"/>
                <a:ext cx="1055" cy="4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488" tIns="44450" rIns="90488" bIns="44450">
                <a:spAutoFit/>
              </a:bodyPr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Shared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1400" b="1" dirty="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3" name="Group 43"/>
            <p:cNvGrpSpPr>
              <a:grpSpLocks/>
            </p:cNvGrpSpPr>
            <p:nvPr/>
          </p:nvGrpSpPr>
          <p:grpSpPr bwMode="auto">
            <a:xfrm>
              <a:off x="2770323" y="5416428"/>
              <a:ext cx="1515536" cy="1220812"/>
              <a:chOff x="1370" y="3172"/>
              <a:chExt cx="986" cy="848"/>
            </a:xfrm>
          </p:grpSpPr>
          <p:sp>
            <p:nvSpPr>
              <p:cNvPr id="44" name="Oval 29"/>
              <p:cNvSpPr>
                <a:spLocks noChangeArrowheads="1"/>
              </p:cNvSpPr>
              <p:nvPr/>
            </p:nvSpPr>
            <p:spPr bwMode="auto">
              <a:xfrm>
                <a:off x="1408" y="3172"/>
                <a:ext cx="884" cy="848"/>
              </a:xfrm>
              <a:prstGeom prst="ellipse">
                <a:avLst/>
              </a:prstGeom>
              <a:solidFill>
                <a:srgbClr val="FF0000"/>
              </a:solidFill>
              <a:ln w="25400">
                <a:solidFill>
                  <a:srgbClr val="A8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5" name="Rectangle 35"/>
              <p:cNvSpPr>
                <a:spLocks noChangeArrowheads="1"/>
              </p:cNvSpPr>
              <p:nvPr/>
            </p:nvSpPr>
            <p:spPr bwMode="auto">
              <a:xfrm>
                <a:off x="1370" y="3452"/>
                <a:ext cx="986" cy="2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488" tIns="44450" rIns="90488" bIns="44450">
                <a:spAutoFit/>
              </a:bodyPr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20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Modified</a:t>
                </a:r>
                <a:endParaRPr kumimoji="0" lang="en-US" altLang="en-US" sz="2000" b="1" dirty="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23" name="Line 30"/>
          <p:cNvSpPr>
            <a:spLocks noChangeShapeType="1"/>
          </p:cNvSpPr>
          <p:nvPr/>
        </p:nvSpPr>
        <p:spPr bwMode="auto">
          <a:xfrm flipH="1">
            <a:off x="4671995" y="2252357"/>
            <a:ext cx="1789425" cy="12449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/>
          </a:p>
        </p:txBody>
      </p:sp>
      <p:sp>
        <p:nvSpPr>
          <p:cNvPr id="24" name="矩形 23"/>
          <p:cNvSpPr/>
          <p:nvPr/>
        </p:nvSpPr>
        <p:spPr>
          <a:xfrm>
            <a:off x="4552808" y="1944310"/>
            <a:ext cx="2031325" cy="2400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1600" dirty="0">
                <a:solidFill>
                  <a:srgbClr val="FB43D8"/>
                </a:solidFill>
                <a:ea typeface="宋体" panose="02010600030101010101" pitchFamily="2" charset="-122"/>
              </a:rPr>
              <a:t>收到</a:t>
            </a:r>
            <a:r>
              <a:rPr lang="en-US" altLang="zh-CN" sz="1600" dirty="0">
                <a:solidFill>
                  <a:srgbClr val="FB43D8"/>
                </a:solidFill>
                <a:ea typeface="宋体" panose="02010600030101010101" pitchFamily="2" charset="-122"/>
              </a:rPr>
              <a:t>Invalidate</a:t>
            </a:r>
            <a:r>
              <a:rPr lang="zh-CN" altLang="en-US" sz="1600" dirty="0">
                <a:solidFill>
                  <a:srgbClr val="FB43D8"/>
                </a:solidFill>
                <a:ea typeface="宋体" panose="02010600030101010101" pitchFamily="2" charset="-122"/>
              </a:rPr>
              <a:t>消息</a:t>
            </a:r>
            <a:endParaRPr lang="en-US" altLang="zh-CN" sz="1600" dirty="0">
              <a:solidFill>
                <a:srgbClr val="FB43D8"/>
              </a:solidFill>
              <a:ea typeface="宋体" panose="02010600030101010101" pitchFamily="2" charset="-122"/>
            </a:endParaRPr>
          </a:p>
        </p:txBody>
      </p:sp>
      <p:sp>
        <p:nvSpPr>
          <p:cNvPr id="32" name="Line 30"/>
          <p:cNvSpPr>
            <a:spLocks noChangeShapeType="1"/>
          </p:cNvSpPr>
          <p:nvPr/>
        </p:nvSpPr>
        <p:spPr bwMode="auto">
          <a:xfrm flipV="1">
            <a:off x="4434082" y="2762064"/>
            <a:ext cx="2360427" cy="237145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/>
          </a:p>
        </p:txBody>
      </p:sp>
      <p:sp>
        <p:nvSpPr>
          <p:cNvPr id="57" name="Line 30"/>
          <p:cNvSpPr>
            <a:spLocks noChangeShapeType="1"/>
          </p:cNvSpPr>
          <p:nvPr/>
        </p:nvSpPr>
        <p:spPr bwMode="auto">
          <a:xfrm flipH="1" flipV="1">
            <a:off x="4003326" y="2866457"/>
            <a:ext cx="1" cy="206804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/>
          </a:p>
        </p:txBody>
      </p:sp>
      <p:sp>
        <p:nvSpPr>
          <p:cNvPr id="58" name="矩形 57"/>
          <p:cNvSpPr/>
          <p:nvPr/>
        </p:nvSpPr>
        <p:spPr>
          <a:xfrm rot="16200000">
            <a:off x="2998686" y="3517488"/>
            <a:ext cx="19817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B43D8"/>
                </a:solidFill>
                <a:ea typeface="宋体" panose="02010600030101010101" pitchFamily="2" charset="-122"/>
              </a:rPr>
              <a:t>收到</a:t>
            </a:r>
            <a:r>
              <a:rPr lang="en-US" altLang="zh-CN" dirty="0">
                <a:solidFill>
                  <a:srgbClr val="FB43D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Fetch&amp;Inv</a:t>
            </a:r>
            <a:r>
              <a:rPr lang="zh-CN" altLang="en-US" dirty="0">
                <a:solidFill>
                  <a:srgbClr val="FB43D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，发出 </a:t>
            </a:r>
            <a:r>
              <a:rPr lang="en-US" altLang="zh-CN" dirty="0" err="1">
                <a:solidFill>
                  <a:srgbClr val="FB43D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WtBack</a:t>
            </a:r>
            <a:endParaRPr lang="zh-CN" altLang="en-US" dirty="0">
              <a:solidFill>
                <a:srgbClr val="FB43D8"/>
              </a:solidFill>
            </a:endParaRPr>
          </a:p>
        </p:txBody>
      </p:sp>
      <p:sp>
        <p:nvSpPr>
          <p:cNvPr id="55" name="矩形 54"/>
          <p:cNvSpPr/>
          <p:nvPr/>
        </p:nvSpPr>
        <p:spPr>
          <a:xfrm rot="18796178">
            <a:off x="4874858" y="3577312"/>
            <a:ext cx="15191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B43D8"/>
                </a:solidFill>
                <a:ea typeface="宋体" panose="02010600030101010101" pitchFamily="2" charset="-122"/>
              </a:rPr>
              <a:t>收到</a:t>
            </a:r>
            <a:r>
              <a:rPr lang="en-US" altLang="zh-CN" dirty="0">
                <a:solidFill>
                  <a:srgbClr val="FB43D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Fetch</a:t>
            </a:r>
            <a:r>
              <a:rPr lang="zh-CN" altLang="en-US" dirty="0">
                <a:solidFill>
                  <a:srgbClr val="FB43D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，发出</a:t>
            </a:r>
            <a:r>
              <a:rPr lang="en-US" altLang="zh-CN" dirty="0" err="1">
                <a:solidFill>
                  <a:srgbClr val="FB43D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WtBack</a:t>
            </a:r>
            <a:endParaRPr lang="zh-CN" altLang="en-US" dirty="0">
              <a:solidFill>
                <a:srgbClr val="FB43D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29496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85826" y="219075"/>
            <a:ext cx="10810874" cy="4953000"/>
          </a:xfrm>
        </p:spPr>
        <p:txBody>
          <a:bodyPr>
            <a:noAutofit/>
          </a:bodyPr>
          <a:lstStyle/>
          <a:p>
            <a:pPr marL="265113" lvl="1" indent="-265113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目录的状态转换</a:t>
            </a:r>
          </a:p>
          <a:p>
            <a:pPr marL="1085850" lvl="1" indent="-457200">
              <a:lnSpc>
                <a:spcPct val="10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如前所述：</a:t>
            </a:r>
          </a:p>
          <a:p>
            <a:pPr marL="1257277" lvl="2" indent="-342900" eaLnBrk="1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目录中存储器块的状态有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种</a:t>
            </a:r>
          </a:p>
          <a:p>
            <a:pPr marL="1714466" lvl="3" indent="-342900" eaLnBrk="1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未缓存</a:t>
            </a:r>
          </a:p>
          <a:p>
            <a:pPr marL="1714466" lvl="3" indent="-342900" eaLnBrk="1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共享</a:t>
            </a:r>
          </a:p>
          <a:p>
            <a:pPr marL="1714466" lvl="3" indent="-342900" eaLnBrk="1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独占</a:t>
            </a:r>
          </a:p>
          <a:p>
            <a:pPr marL="1257277" lvl="2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位向量记录拥有其副本的处理器的集合。这个集合称为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共享集合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 marL="1257277" lvl="2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对于从本地结点发来的请求，目录所进行的操作包括：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714466" lvl="3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向远程结点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发送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消息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以完成相应的操作。这些远程结点由共享集合指出；</a:t>
            </a:r>
          </a:p>
          <a:p>
            <a:pPr marL="1714466" lvl="3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修改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目录中该块的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</a:p>
          <a:p>
            <a:pPr marL="1714466" lvl="3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更新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共享集合。 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目录可能接收到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种不同的请求：</a:t>
            </a:r>
          </a:p>
          <a:p>
            <a:pPr marL="1257277" lvl="2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读不命中</a:t>
            </a:r>
          </a:p>
          <a:p>
            <a:pPr marL="1257277" lvl="2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B43D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写不命中</a:t>
            </a:r>
          </a:p>
          <a:p>
            <a:pPr marL="1257277" lvl="2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96B1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数据写回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（假设这些操作是原子的）</a:t>
            </a:r>
          </a:p>
          <a:p>
            <a:pPr lvl="2" eaLnBrk="1" hangingPunct="1"/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8599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3832" y="133739"/>
            <a:ext cx="9296400" cy="644184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存储块的状态转换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–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收到</a:t>
            </a:r>
            <a:r>
              <a:rPr lang="zh-CN" altLang="en-US" sz="2400" dirty="0">
                <a:solidFill>
                  <a:srgbClr val="D5010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读不命中</a:t>
            </a:r>
          </a:p>
        </p:txBody>
      </p:sp>
      <p:sp>
        <p:nvSpPr>
          <p:cNvPr id="3" name="矩形 2"/>
          <p:cNvSpPr/>
          <p:nvPr/>
        </p:nvSpPr>
        <p:spPr>
          <a:xfrm>
            <a:off x="0" y="1054584"/>
            <a:ext cx="2753833" cy="1077218"/>
          </a:xfrm>
          <a:prstGeom prst="rect">
            <a:avLst/>
          </a:prstGeom>
          <a:solidFill>
            <a:srgbClr val="44CFFA"/>
          </a:solidFill>
        </p:spPr>
        <p:txBody>
          <a:bodyPr wrap="square">
            <a:spAutoFit/>
          </a:bodyPr>
          <a:lstStyle/>
          <a:p>
            <a:pPr marL="0" lvl="3" algn="just"/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将所要访问的存储器数据送往请求方处理机，且该处理机成为该块的唯一共享结点，本块的状态变成共享。</a:t>
            </a:r>
          </a:p>
        </p:txBody>
      </p:sp>
      <p:sp>
        <p:nvSpPr>
          <p:cNvPr id="4" name="矩形 3"/>
          <p:cNvSpPr/>
          <p:nvPr/>
        </p:nvSpPr>
        <p:spPr>
          <a:xfrm>
            <a:off x="9096903" y="1223464"/>
            <a:ext cx="2868968" cy="584775"/>
          </a:xfrm>
          <a:prstGeom prst="rect">
            <a:avLst/>
          </a:prstGeom>
          <a:solidFill>
            <a:srgbClr val="A9D18E"/>
          </a:solidFill>
        </p:spPr>
        <p:txBody>
          <a:bodyPr wrap="square">
            <a:spAutoFit/>
          </a:bodyPr>
          <a:lstStyle/>
          <a:p>
            <a:pPr marL="0" lvl="3"/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将存储器数据送往请求方处理机，并将其加入共享集合。</a:t>
            </a:r>
          </a:p>
        </p:txBody>
      </p:sp>
      <p:sp>
        <p:nvSpPr>
          <p:cNvPr id="5" name="矩形 4"/>
          <p:cNvSpPr/>
          <p:nvPr/>
        </p:nvSpPr>
        <p:spPr>
          <a:xfrm>
            <a:off x="7446335" y="4951186"/>
            <a:ext cx="4345172" cy="1892826"/>
          </a:xfrm>
          <a:prstGeom prst="rect">
            <a:avLst/>
          </a:prstGeom>
          <a:solidFill>
            <a:srgbClr val="C46E31"/>
          </a:solidFill>
        </p:spPr>
        <p:txBody>
          <a:bodyPr wrap="square">
            <a:spAutoFit/>
          </a:bodyPr>
          <a:lstStyle/>
          <a:p>
            <a:pPr marL="180975" lvl="3" indent="-18097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将“取数据”的消息发往拥有者处理机，将它所返回给宿主结点的数据写入存储器，并进而把该数据送回请求方处理机，将请求方处理机加入共享集合。</a:t>
            </a:r>
          </a:p>
          <a:p>
            <a:pPr marL="180975" lvl="3" indent="-18097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此时共享集合中仍保留原拥有者处理机（因为它仍有一个可读的副本）。</a:t>
            </a:r>
          </a:p>
          <a:p>
            <a:pPr marL="180975" lvl="3" indent="-18097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将该块的状态变为共享。</a:t>
            </a:r>
            <a:endParaRPr lang="en-US" altLang="zh-CN" sz="16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394129" y="1020446"/>
            <a:ext cx="5686260" cy="5123179"/>
            <a:chOff x="3394129" y="1020446"/>
            <a:chExt cx="5686260" cy="5123179"/>
          </a:xfrm>
        </p:grpSpPr>
        <p:grpSp>
          <p:nvGrpSpPr>
            <p:cNvPr id="26" name="Group 14"/>
            <p:cNvGrpSpPr>
              <a:grpSpLocks/>
            </p:cNvGrpSpPr>
            <p:nvPr/>
          </p:nvGrpSpPr>
          <p:grpSpPr bwMode="auto">
            <a:xfrm rot="5596328">
              <a:off x="7361869" y="1515901"/>
              <a:ext cx="632998" cy="611155"/>
              <a:chOff x="1776" y="3024"/>
              <a:chExt cx="402" cy="384"/>
            </a:xfrm>
          </p:grpSpPr>
          <p:sp>
            <p:nvSpPr>
              <p:cNvPr id="27" name="Oval 15"/>
              <p:cNvSpPr>
                <a:spLocks noChangeArrowheads="1"/>
              </p:cNvSpPr>
              <p:nvPr/>
            </p:nvSpPr>
            <p:spPr bwMode="auto">
              <a:xfrm>
                <a:off x="1776" y="3024"/>
                <a:ext cx="384" cy="38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8" name="Line 16"/>
              <p:cNvSpPr>
                <a:spLocks noChangeShapeType="1"/>
              </p:cNvSpPr>
              <p:nvPr/>
            </p:nvSpPr>
            <p:spPr bwMode="auto">
              <a:xfrm rot="1800000">
                <a:off x="2082" y="3102"/>
                <a:ext cx="96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</p:grpSp>
        <p:grpSp>
          <p:nvGrpSpPr>
            <p:cNvPr id="41" name="Group 42"/>
            <p:cNvGrpSpPr>
              <a:grpSpLocks/>
            </p:cNvGrpSpPr>
            <p:nvPr/>
          </p:nvGrpSpPr>
          <p:grpSpPr bwMode="auto">
            <a:xfrm>
              <a:off x="3394267" y="1683674"/>
              <a:ext cx="1247349" cy="1192440"/>
              <a:chOff x="1410" y="935"/>
              <a:chExt cx="884" cy="848"/>
            </a:xfrm>
          </p:grpSpPr>
          <p:sp>
            <p:nvSpPr>
              <p:cNvPr id="48" name="Oval 4"/>
              <p:cNvSpPr>
                <a:spLocks noChangeArrowheads="1"/>
              </p:cNvSpPr>
              <p:nvPr/>
            </p:nvSpPr>
            <p:spPr bwMode="auto">
              <a:xfrm>
                <a:off x="1410" y="935"/>
                <a:ext cx="884" cy="848"/>
              </a:xfrm>
              <a:prstGeom prst="ellipse">
                <a:avLst/>
              </a:prstGeom>
              <a:solidFill>
                <a:srgbClr val="00B0F0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9" name="Rectangle 18"/>
              <p:cNvSpPr>
                <a:spLocks noChangeArrowheads="1"/>
              </p:cNvSpPr>
              <p:nvPr/>
            </p:nvSpPr>
            <p:spPr bwMode="auto">
              <a:xfrm>
                <a:off x="1446" y="1212"/>
                <a:ext cx="823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1600" b="1" dirty="0" err="1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Uncached</a:t>
                </a:r>
                <a:endParaRPr kumimoji="0" lang="en-US" altLang="en-US" sz="1600" b="1" dirty="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2" name="Group 44"/>
            <p:cNvGrpSpPr>
              <a:grpSpLocks/>
            </p:cNvGrpSpPr>
            <p:nvPr/>
          </p:nvGrpSpPr>
          <p:grpSpPr bwMode="auto">
            <a:xfrm>
              <a:off x="6390418" y="1683674"/>
              <a:ext cx="1488634" cy="1192439"/>
              <a:chOff x="3460" y="935"/>
              <a:chExt cx="1055" cy="848"/>
            </a:xfrm>
          </p:grpSpPr>
          <p:sp>
            <p:nvSpPr>
              <p:cNvPr id="46" name="Oval 28"/>
              <p:cNvSpPr>
                <a:spLocks noChangeArrowheads="1"/>
              </p:cNvSpPr>
              <p:nvPr/>
            </p:nvSpPr>
            <p:spPr bwMode="auto">
              <a:xfrm>
                <a:off x="3546" y="935"/>
                <a:ext cx="884" cy="848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zh-CN" sz="1400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" name="Rectangle 34"/>
              <p:cNvSpPr>
                <a:spLocks noChangeArrowheads="1"/>
              </p:cNvSpPr>
              <p:nvPr/>
            </p:nvSpPr>
            <p:spPr bwMode="auto">
              <a:xfrm>
                <a:off x="3460" y="1212"/>
                <a:ext cx="1055" cy="3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488" tIns="44450" rIns="90488" bIns="44450">
                <a:spAutoFit/>
              </a:bodyPr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16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Shared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1400" b="1" dirty="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3" name="Group 43"/>
            <p:cNvGrpSpPr>
              <a:grpSpLocks/>
            </p:cNvGrpSpPr>
            <p:nvPr/>
          </p:nvGrpSpPr>
          <p:grpSpPr bwMode="auto">
            <a:xfrm>
              <a:off x="3394129" y="4951186"/>
              <a:ext cx="1247349" cy="1192439"/>
              <a:chOff x="1408" y="3172"/>
              <a:chExt cx="884" cy="848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44" name="Oval 29"/>
              <p:cNvSpPr>
                <a:spLocks noChangeArrowheads="1"/>
              </p:cNvSpPr>
              <p:nvPr/>
            </p:nvSpPr>
            <p:spPr bwMode="auto">
              <a:xfrm>
                <a:off x="1408" y="3172"/>
                <a:ext cx="884" cy="848"/>
              </a:xfrm>
              <a:prstGeom prst="ellipse">
                <a:avLst/>
              </a:prstGeom>
              <a:grpFill/>
              <a:ln w="25400">
                <a:solidFill>
                  <a:srgbClr val="A8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5" name="Rectangle 35"/>
              <p:cNvSpPr>
                <a:spLocks noChangeArrowheads="1"/>
              </p:cNvSpPr>
              <p:nvPr/>
            </p:nvSpPr>
            <p:spPr bwMode="auto">
              <a:xfrm>
                <a:off x="1451" y="3469"/>
                <a:ext cx="810" cy="23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488" tIns="44450" rIns="90488" bIns="44450">
                <a:spAutoFit/>
              </a:bodyPr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6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Exclusive</a:t>
                </a:r>
                <a:endParaRPr kumimoji="0" lang="en-US" altLang="en-US" sz="1600" b="1" dirty="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2" name="Line 30"/>
            <p:cNvSpPr>
              <a:spLocks noChangeShapeType="1"/>
            </p:cNvSpPr>
            <p:nvPr/>
          </p:nvSpPr>
          <p:spPr bwMode="auto">
            <a:xfrm flipV="1">
              <a:off x="4646008" y="2253780"/>
              <a:ext cx="1852129" cy="34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5" name="矩形 24"/>
            <p:cNvSpPr/>
            <p:nvPr/>
          </p:nvSpPr>
          <p:spPr>
            <a:xfrm>
              <a:off x="4710297" y="2024437"/>
              <a:ext cx="1723549" cy="5109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发出</a:t>
              </a:r>
              <a:r>
                <a:rPr lang="en-US" altLang="zh-CN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DReply</a:t>
              </a:r>
              <a:r>
                <a:rPr lang="zh-CN" altLang="en-US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，</a:t>
              </a:r>
              <a:endParaRPr lang="en-US" altLang="zh-CN" sz="1600" dirty="0">
                <a:solidFill>
                  <a:srgbClr val="C00000"/>
                </a:solidFill>
                <a:ea typeface="宋体" panose="02010600030101010101" pitchFamily="2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将</a:t>
              </a:r>
              <a:r>
                <a:rPr lang="en-US" altLang="zh-CN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P</a:t>
              </a:r>
              <a:r>
                <a:rPr lang="zh-CN" altLang="en-US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加入共享集合</a:t>
              </a:r>
              <a:endParaRPr lang="en-US" altLang="zh-CN" sz="1600" dirty="0">
                <a:solidFill>
                  <a:srgbClr val="C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7356840" y="1020446"/>
              <a:ext cx="1723549" cy="5109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发出</a:t>
              </a:r>
              <a:r>
                <a:rPr lang="en-US" altLang="zh-CN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DReply</a:t>
              </a:r>
              <a:r>
                <a:rPr lang="zh-CN" altLang="en-US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，</a:t>
              </a:r>
              <a:endParaRPr lang="en-US" altLang="zh-CN" sz="1600" dirty="0">
                <a:solidFill>
                  <a:srgbClr val="C00000"/>
                </a:solidFill>
                <a:ea typeface="宋体" panose="02010600030101010101" pitchFamily="2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将</a:t>
              </a:r>
              <a:r>
                <a:rPr lang="en-US" altLang="zh-CN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P</a:t>
              </a:r>
              <a:r>
                <a:rPr lang="zh-CN" altLang="en-US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加入共享集合</a:t>
              </a:r>
              <a:endParaRPr lang="en-US" altLang="zh-CN" sz="1600" dirty="0">
                <a:solidFill>
                  <a:srgbClr val="C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0" name="Line 30"/>
            <p:cNvSpPr>
              <a:spLocks noChangeShapeType="1"/>
            </p:cNvSpPr>
            <p:nvPr/>
          </p:nvSpPr>
          <p:spPr bwMode="auto">
            <a:xfrm flipV="1">
              <a:off x="4641478" y="2827340"/>
              <a:ext cx="2290950" cy="252652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1" name="矩形 30"/>
            <p:cNvSpPr/>
            <p:nvPr/>
          </p:nvSpPr>
          <p:spPr>
            <a:xfrm rot="18828380">
              <a:off x="4844562" y="3724508"/>
              <a:ext cx="2130396" cy="5109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发出</a:t>
              </a:r>
              <a:r>
                <a:rPr lang="en-US" altLang="zh-CN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Fetch</a:t>
              </a:r>
              <a:r>
                <a:rPr lang="zh-CN" altLang="en-US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，</a:t>
              </a:r>
              <a:r>
                <a:rPr lang="en-US" altLang="zh-CN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DReply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将</a:t>
              </a:r>
              <a:r>
                <a:rPr lang="en-US" altLang="zh-CN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P</a:t>
              </a:r>
              <a:r>
                <a:rPr lang="zh-CN" altLang="en-US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加入共享集合</a:t>
              </a:r>
              <a:endParaRPr lang="en-US" altLang="zh-CN" sz="1600" dirty="0">
                <a:solidFill>
                  <a:srgbClr val="C00000"/>
                </a:solidFill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98599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3832" y="133739"/>
            <a:ext cx="9296400" cy="644184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存储块的状态转换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–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收到</a:t>
            </a:r>
            <a:r>
              <a:rPr lang="zh-CN" altLang="en-US" sz="2400" dirty="0">
                <a:solidFill>
                  <a:srgbClr val="FB43D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写不命中</a:t>
            </a:r>
          </a:p>
        </p:txBody>
      </p:sp>
      <p:sp>
        <p:nvSpPr>
          <p:cNvPr id="3" name="矩形 2"/>
          <p:cNvSpPr/>
          <p:nvPr/>
        </p:nvSpPr>
        <p:spPr>
          <a:xfrm>
            <a:off x="0" y="898844"/>
            <a:ext cx="2608521" cy="1569660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marL="0" lvl="3"/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将所要访问的存储器数据送往请求方处理机，该块的状态变成独占，表示该块仅存在唯一的副本。其共享集合仅包含该处理机，指出该处理机是其拥有者。</a:t>
            </a:r>
          </a:p>
        </p:txBody>
      </p:sp>
      <p:sp>
        <p:nvSpPr>
          <p:cNvPr id="4" name="矩形 3"/>
          <p:cNvSpPr/>
          <p:nvPr/>
        </p:nvSpPr>
        <p:spPr>
          <a:xfrm>
            <a:off x="9903888" y="839603"/>
            <a:ext cx="2288112" cy="1569660"/>
          </a:xfrm>
          <a:prstGeom prst="rect">
            <a:avLst/>
          </a:prstGeom>
          <a:solidFill>
            <a:srgbClr val="A9D18E"/>
          </a:solidFill>
        </p:spPr>
        <p:txBody>
          <a:bodyPr wrap="square">
            <a:spAutoFit/>
          </a:bodyPr>
          <a:lstStyle/>
          <a:p>
            <a:pPr marL="0" lvl="3"/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将数据送往请求方处理机，对共享集合中所有的处理机发送作废消息，且将共享集合改为仅含有该处理机，该块的状态变为独占。</a:t>
            </a:r>
          </a:p>
        </p:txBody>
      </p:sp>
      <p:sp>
        <p:nvSpPr>
          <p:cNvPr id="5" name="矩形 4"/>
          <p:cNvSpPr/>
          <p:nvPr/>
        </p:nvSpPr>
        <p:spPr>
          <a:xfrm>
            <a:off x="8562754" y="4680481"/>
            <a:ext cx="3629246" cy="2177519"/>
          </a:xfrm>
          <a:prstGeom prst="rect">
            <a:avLst/>
          </a:prstGeom>
          <a:solidFill>
            <a:srgbClr val="C46E31"/>
          </a:solidFill>
        </p:spPr>
        <p:txBody>
          <a:bodyPr wrap="square">
            <a:spAutoFit/>
          </a:bodyPr>
          <a:lstStyle/>
          <a:p>
            <a:pPr marL="180975" lvl="3" indent="-180975" algn="just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该块将有一个新的拥有者。</a:t>
            </a:r>
          </a:p>
          <a:p>
            <a:pPr marL="180975" lvl="3" indent="-180975" algn="just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给旧的拥有者处理机发送消息，要求它将数据块送回宿主结点写入存储器，然后再从该结点送给请求方处理机。</a:t>
            </a:r>
          </a:p>
          <a:p>
            <a:pPr marL="180975" lvl="3" indent="-180975" algn="just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同时还要把旧拥有者处理机中的该块作废。把请求处理机加入共享者集合，使之成为新的拥有者。</a:t>
            </a:r>
          </a:p>
          <a:p>
            <a:pPr marL="180975" lvl="3" indent="-180975" algn="just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该块的状态仍旧是独占。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3394129" y="1504980"/>
            <a:ext cx="6355073" cy="4990059"/>
            <a:chOff x="3394129" y="1504980"/>
            <a:chExt cx="6355073" cy="4990059"/>
          </a:xfrm>
        </p:grpSpPr>
        <p:grpSp>
          <p:nvGrpSpPr>
            <p:cNvPr id="37" name="Group 14"/>
            <p:cNvGrpSpPr>
              <a:grpSpLocks/>
            </p:cNvGrpSpPr>
            <p:nvPr/>
          </p:nvGrpSpPr>
          <p:grpSpPr bwMode="auto">
            <a:xfrm rot="9401435">
              <a:off x="4401318" y="5557828"/>
              <a:ext cx="632998" cy="611155"/>
              <a:chOff x="1776" y="3024"/>
              <a:chExt cx="402" cy="384"/>
            </a:xfrm>
          </p:grpSpPr>
          <p:sp>
            <p:nvSpPr>
              <p:cNvPr id="38" name="Oval 15"/>
              <p:cNvSpPr>
                <a:spLocks noChangeArrowheads="1"/>
              </p:cNvSpPr>
              <p:nvPr/>
            </p:nvSpPr>
            <p:spPr bwMode="auto">
              <a:xfrm>
                <a:off x="1776" y="3024"/>
                <a:ext cx="384" cy="38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9" name="Line 16"/>
              <p:cNvSpPr>
                <a:spLocks noChangeShapeType="1"/>
              </p:cNvSpPr>
              <p:nvPr/>
            </p:nvSpPr>
            <p:spPr bwMode="auto">
              <a:xfrm rot="1800000">
                <a:off x="2082" y="3102"/>
                <a:ext cx="96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</p:grpSp>
        <p:grpSp>
          <p:nvGrpSpPr>
            <p:cNvPr id="16" name="Group 14"/>
            <p:cNvGrpSpPr>
              <a:grpSpLocks/>
            </p:cNvGrpSpPr>
            <p:nvPr/>
          </p:nvGrpSpPr>
          <p:grpSpPr bwMode="auto">
            <a:xfrm rot="5596328">
              <a:off x="7361869" y="1515901"/>
              <a:ext cx="632998" cy="611155"/>
              <a:chOff x="1776" y="3024"/>
              <a:chExt cx="402" cy="384"/>
            </a:xfrm>
          </p:grpSpPr>
          <p:sp>
            <p:nvSpPr>
              <p:cNvPr id="31" name="Oval 15"/>
              <p:cNvSpPr>
                <a:spLocks noChangeArrowheads="1"/>
              </p:cNvSpPr>
              <p:nvPr/>
            </p:nvSpPr>
            <p:spPr bwMode="auto">
              <a:xfrm>
                <a:off x="1776" y="3024"/>
                <a:ext cx="384" cy="38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 rot="1800000">
                <a:off x="2082" y="3102"/>
                <a:ext cx="96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</p:grpSp>
        <p:grpSp>
          <p:nvGrpSpPr>
            <p:cNvPr id="17" name="Group 42"/>
            <p:cNvGrpSpPr>
              <a:grpSpLocks/>
            </p:cNvGrpSpPr>
            <p:nvPr/>
          </p:nvGrpSpPr>
          <p:grpSpPr bwMode="auto">
            <a:xfrm>
              <a:off x="3394267" y="1683674"/>
              <a:ext cx="1247349" cy="1192440"/>
              <a:chOff x="1410" y="935"/>
              <a:chExt cx="884" cy="848"/>
            </a:xfrm>
          </p:grpSpPr>
          <p:sp>
            <p:nvSpPr>
              <p:cNvPr id="29" name="Oval 4"/>
              <p:cNvSpPr>
                <a:spLocks noChangeArrowheads="1"/>
              </p:cNvSpPr>
              <p:nvPr/>
            </p:nvSpPr>
            <p:spPr bwMode="auto">
              <a:xfrm>
                <a:off x="1410" y="935"/>
                <a:ext cx="884" cy="848"/>
              </a:xfrm>
              <a:prstGeom prst="ellipse">
                <a:avLst/>
              </a:prstGeom>
              <a:solidFill>
                <a:srgbClr val="00B0F0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0" name="Rectangle 18"/>
              <p:cNvSpPr>
                <a:spLocks noChangeArrowheads="1"/>
              </p:cNvSpPr>
              <p:nvPr/>
            </p:nvSpPr>
            <p:spPr bwMode="auto">
              <a:xfrm>
                <a:off x="1446" y="1212"/>
                <a:ext cx="823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1600" b="1" dirty="0" err="1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Uncached</a:t>
                </a:r>
                <a:endParaRPr kumimoji="0" lang="en-US" altLang="en-US" sz="1600" b="1" dirty="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8" name="Group 44"/>
            <p:cNvGrpSpPr>
              <a:grpSpLocks/>
            </p:cNvGrpSpPr>
            <p:nvPr/>
          </p:nvGrpSpPr>
          <p:grpSpPr bwMode="auto">
            <a:xfrm>
              <a:off x="6390418" y="1683674"/>
              <a:ext cx="1488634" cy="1192439"/>
              <a:chOff x="3460" y="935"/>
              <a:chExt cx="1055" cy="848"/>
            </a:xfrm>
          </p:grpSpPr>
          <p:sp>
            <p:nvSpPr>
              <p:cNvPr id="27" name="Oval 28"/>
              <p:cNvSpPr>
                <a:spLocks noChangeArrowheads="1"/>
              </p:cNvSpPr>
              <p:nvPr/>
            </p:nvSpPr>
            <p:spPr bwMode="auto">
              <a:xfrm>
                <a:off x="3546" y="935"/>
                <a:ext cx="884" cy="848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zh-CN" sz="1400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" name="Rectangle 34"/>
              <p:cNvSpPr>
                <a:spLocks noChangeArrowheads="1"/>
              </p:cNvSpPr>
              <p:nvPr/>
            </p:nvSpPr>
            <p:spPr bwMode="auto">
              <a:xfrm>
                <a:off x="3460" y="1212"/>
                <a:ext cx="1055" cy="3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488" tIns="44450" rIns="90488" bIns="44450">
                <a:spAutoFit/>
              </a:bodyPr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16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Shared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1400" b="1" dirty="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9" name="Group 43"/>
            <p:cNvGrpSpPr>
              <a:grpSpLocks/>
            </p:cNvGrpSpPr>
            <p:nvPr/>
          </p:nvGrpSpPr>
          <p:grpSpPr bwMode="auto">
            <a:xfrm>
              <a:off x="3394129" y="4951186"/>
              <a:ext cx="1247349" cy="1192439"/>
              <a:chOff x="1408" y="3172"/>
              <a:chExt cx="884" cy="848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25" name="Oval 29"/>
              <p:cNvSpPr>
                <a:spLocks noChangeArrowheads="1"/>
              </p:cNvSpPr>
              <p:nvPr/>
            </p:nvSpPr>
            <p:spPr bwMode="auto">
              <a:xfrm>
                <a:off x="1408" y="3172"/>
                <a:ext cx="884" cy="848"/>
              </a:xfrm>
              <a:prstGeom prst="ellipse">
                <a:avLst/>
              </a:prstGeom>
              <a:grpFill/>
              <a:ln w="25400">
                <a:solidFill>
                  <a:srgbClr val="A8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6" name="Rectangle 35"/>
              <p:cNvSpPr>
                <a:spLocks noChangeArrowheads="1"/>
              </p:cNvSpPr>
              <p:nvPr/>
            </p:nvSpPr>
            <p:spPr bwMode="auto">
              <a:xfrm>
                <a:off x="1451" y="3469"/>
                <a:ext cx="810" cy="23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488" tIns="44450" rIns="90488" bIns="44450">
                <a:spAutoFit/>
              </a:bodyPr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6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Exclusive</a:t>
                </a:r>
                <a:endParaRPr kumimoji="0" lang="en-US" altLang="en-US" sz="1600" b="1" dirty="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0" name="Line 30"/>
            <p:cNvSpPr>
              <a:spLocks noChangeShapeType="1"/>
            </p:cNvSpPr>
            <p:nvPr/>
          </p:nvSpPr>
          <p:spPr bwMode="auto">
            <a:xfrm flipV="1">
              <a:off x="4646008" y="2253780"/>
              <a:ext cx="1852129" cy="34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1" name="矩形 20"/>
            <p:cNvSpPr/>
            <p:nvPr/>
          </p:nvSpPr>
          <p:spPr>
            <a:xfrm>
              <a:off x="4710297" y="2024437"/>
              <a:ext cx="1723549" cy="5109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发出</a:t>
              </a:r>
              <a:r>
                <a:rPr lang="en-US" altLang="zh-CN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DReply</a:t>
              </a:r>
              <a:r>
                <a:rPr lang="zh-CN" altLang="en-US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，</a:t>
              </a:r>
              <a:endParaRPr lang="en-US" altLang="zh-CN" sz="1600" dirty="0">
                <a:solidFill>
                  <a:srgbClr val="C00000"/>
                </a:solidFill>
                <a:ea typeface="宋体" panose="02010600030101010101" pitchFamily="2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将</a:t>
              </a:r>
              <a:r>
                <a:rPr lang="en-US" altLang="zh-CN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P</a:t>
              </a:r>
              <a:r>
                <a:rPr lang="zh-CN" altLang="en-US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加入共享集合</a:t>
              </a:r>
              <a:endParaRPr lang="en-US" altLang="zh-CN" sz="1600" dirty="0">
                <a:solidFill>
                  <a:srgbClr val="C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8025653" y="1615699"/>
              <a:ext cx="1723549" cy="5109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发出</a:t>
              </a:r>
              <a:r>
                <a:rPr lang="en-US" altLang="zh-CN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DReply</a:t>
              </a:r>
              <a:r>
                <a:rPr lang="zh-CN" altLang="en-US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，</a:t>
              </a:r>
              <a:endParaRPr lang="en-US" altLang="zh-CN" sz="1600" dirty="0">
                <a:solidFill>
                  <a:srgbClr val="C00000"/>
                </a:solidFill>
                <a:ea typeface="宋体" panose="02010600030101010101" pitchFamily="2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将</a:t>
              </a:r>
              <a:r>
                <a:rPr lang="en-US" altLang="zh-CN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P</a:t>
              </a:r>
              <a:r>
                <a:rPr lang="zh-CN" altLang="en-US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加入共享集合</a:t>
              </a:r>
              <a:endParaRPr lang="en-US" altLang="zh-CN" sz="1600" dirty="0">
                <a:solidFill>
                  <a:srgbClr val="C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3" name="Line 30"/>
            <p:cNvSpPr>
              <a:spLocks noChangeShapeType="1"/>
            </p:cNvSpPr>
            <p:nvPr/>
          </p:nvSpPr>
          <p:spPr bwMode="auto">
            <a:xfrm flipV="1">
              <a:off x="4277914" y="2594578"/>
              <a:ext cx="2336712" cy="243462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4" name="矩形 23"/>
            <p:cNvSpPr/>
            <p:nvPr/>
          </p:nvSpPr>
          <p:spPr>
            <a:xfrm rot="18828380">
              <a:off x="4314710" y="3190766"/>
              <a:ext cx="2130396" cy="5109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发出</a:t>
              </a:r>
              <a:r>
                <a:rPr lang="en-US" altLang="zh-CN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Fetch</a:t>
              </a:r>
              <a:r>
                <a:rPr lang="zh-CN" altLang="en-US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，</a:t>
              </a:r>
              <a:r>
                <a:rPr lang="en-US" altLang="zh-CN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DReply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将</a:t>
              </a:r>
              <a:r>
                <a:rPr lang="en-US" altLang="zh-CN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P</a:t>
              </a:r>
              <a:r>
                <a:rPr lang="zh-CN" altLang="en-US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加入共享集合</a:t>
              </a:r>
              <a:endParaRPr lang="en-US" altLang="zh-CN" sz="1600" dirty="0">
                <a:solidFill>
                  <a:srgbClr val="C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" name="Line 30"/>
            <p:cNvSpPr>
              <a:spLocks noChangeShapeType="1"/>
            </p:cNvSpPr>
            <p:nvPr/>
          </p:nvSpPr>
          <p:spPr bwMode="auto">
            <a:xfrm flipH="1">
              <a:off x="4058496" y="2876113"/>
              <a:ext cx="0" cy="207507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4" name="矩形 33"/>
            <p:cNvSpPr/>
            <p:nvPr/>
          </p:nvSpPr>
          <p:spPr>
            <a:xfrm rot="16200000">
              <a:off x="3029336" y="3543515"/>
              <a:ext cx="2130396" cy="5109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600" dirty="0">
                  <a:solidFill>
                    <a:srgbClr val="FB43D8"/>
                  </a:solidFill>
                  <a:ea typeface="宋体" panose="02010600030101010101" pitchFamily="2" charset="-122"/>
                </a:rPr>
                <a:t>DReply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1600" dirty="0">
                  <a:solidFill>
                    <a:srgbClr val="FB43D8"/>
                  </a:solidFill>
                  <a:ea typeface="宋体" panose="02010600030101010101" pitchFamily="2" charset="-122"/>
                </a:rPr>
                <a:t>将</a:t>
              </a:r>
              <a:r>
                <a:rPr lang="en-US" altLang="zh-CN" sz="1600" dirty="0">
                  <a:solidFill>
                    <a:srgbClr val="FB43D8"/>
                  </a:solidFill>
                  <a:ea typeface="宋体" panose="02010600030101010101" pitchFamily="2" charset="-122"/>
                </a:rPr>
                <a:t>P</a:t>
              </a:r>
              <a:r>
                <a:rPr lang="zh-CN" altLang="en-US" sz="1600" dirty="0">
                  <a:solidFill>
                    <a:srgbClr val="FB43D8"/>
                  </a:solidFill>
                  <a:ea typeface="宋体" panose="02010600030101010101" pitchFamily="2" charset="-122"/>
                </a:rPr>
                <a:t>加入共享集合</a:t>
              </a:r>
              <a:endParaRPr lang="en-US" altLang="zh-CN" sz="1600" dirty="0">
                <a:solidFill>
                  <a:srgbClr val="FB43D8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5" name="Line 30"/>
            <p:cNvSpPr>
              <a:spLocks noChangeShapeType="1"/>
            </p:cNvSpPr>
            <p:nvPr/>
          </p:nvSpPr>
          <p:spPr bwMode="auto">
            <a:xfrm flipH="1">
              <a:off x="4497331" y="2778626"/>
              <a:ext cx="2297575" cy="243014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6" name="矩形 35"/>
            <p:cNvSpPr/>
            <p:nvPr/>
          </p:nvSpPr>
          <p:spPr>
            <a:xfrm rot="18828380">
              <a:off x="4978940" y="3809645"/>
              <a:ext cx="2130396" cy="5109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1600" dirty="0">
                  <a:solidFill>
                    <a:srgbClr val="FB43D8"/>
                  </a:solidFill>
                  <a:ea typeface="宋体" panose="02010600030101010101" pitchFamily="2" charset="-122"/>
                </a:rPr>
                <a:t>发出</a:t>
              </a:r>
              <a:r>
                <a:rPr lang="en-US" altLang="zh-CN" sz="1600" dirty="0">
                  <a:solidFill>
                    <a:srgbClr val="FB43D8"/>
                  </a:solidFill>
                  <a:ea typeface="宋体" panose="02010600030101010101" pitchFamily="2" charset="-122"/>
                </a:rPr>
                <a:t>Invalidate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1600" dirty="0">
                  <a:solidFill>
                    <a:srgbClr val="FB43D8"/>
                  </a:solidFill>
                  <a:ea typeface="宋体" panose="02010600030101010101" pitchFamily="2" charset="-122"/>
                </a:rPr>
                <a:t>更新共享集合</a:t>
              </a:r>
              <a:endParaRPr lang="en-US" altLang="zh-CN" sz="1600" dirty="0">
                <a:solidFill>
                  <a:srgbClr val="FB43D8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5024792" y="5713287"/>
              <a:ext cx="2130396" cy="7817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1600" dirty="0">
                  <a:solidFill>
                    <a:srgbClr val="FB43D8"/>
                  </a:solidFill>
                  <a:ea typeface="宋体" panose="02010600030101010101" pitchFamily="2" charset="-122"/>
                </a:rPr>
                <a:t>发出</a:t>
              </a:r>
              <a:r>
                <a:rPr lang="en-US" altLang="zh-CN" sz="1600" dirty="0">
                  <a:solidFill>
                    <a:srgbClr val="FB43D8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Fetch&amp;Inv</a:t>
              </a:r>
              <a:r>
                <a:rPr lang="zh-CN" altLang="en-US" sz="1600" dirty="0">
                  <a:solidFill>
                    <a:srgbClr val="FB43D8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，</a:t>
              </a:r>
              <a:endParaRPr lang="en-US" altLang="zh-CN" sz="1600" dirty="0">
                <a:solidFill>
                  <a:srgbClr val="FB43D8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1600" dirty="0">
                  <a:solidFill>
                    <a:srgbClr val="FB43D8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发出</a:t>
              </a:r>
              <a:r>
                <a:rPr lang="en-US" altLang="zh-CN" sz="1600" dirty="0">
                  <a:solidFill>
                    <a:srgbClr val="FB43D8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DReply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1600" dirty="0">
                  <a:solidFill>
                    <a:srgbClr val="FB43D8"/>
                  </a:solidFill>
                  <a:ea typeface="宋体" panose="02010600030101010101" pitchFamily="2" charset="-122"/>
                </a:rPr>
                <a:t>更新共享集合</a:t>
              </a:r>
              <a:endParaRPr lang="en-US" altLang="zh-CN" sz="1600" dirty="0">
                <a:solidFill>
                  <a:srgbClr val="FB43D8"/>
                </a:solidFill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27966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3832" y="133739"/>
            <a:ext cx="9296400" cy="644184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存储块的状态转换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–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收到</a:t>
            </a:r>
            <a:r>
              <a:rPr lang="zh-CN" altLang="en-US" sz="2400" dirty="0">
                <a:solidFill>
                  <a:srgbClr val="F96B1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数据写回</a:t>
            </a:r>
          </a:p>
        </p:txBody>
      </p:sp>
      <p:sp>
        <p:nvSpPr>
          <p:cNvPr id="3" name="矩形 2"/>
          <p:cNvSpPr/>
          <p:nvPr/>
        </p:nvSpPr>
        <p:spPr>
          <a:xfrm>
            <a:off x="8020494" y="5249867"/>
            <a:ext cx="4171506" cy="1608133"/>
          </a:xfrm>
          <a:prstGeom prst="rect">
            <a:avLst/>
          </a:prstGeom>
          <a:solidFill>
            <a:srgbClr val="C46E31"/>
          </a:solidFill>
        </p:spPr>
        <p:txBody>
          <a:bodyPr wrap="square">
            <a:spAutoFit/>
          </a:bodyPr>
          <a:lstStyle/>
          <a:p>
            <a:pPr marL="265113" lvl="3" indent="-265113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当一个块的拥有者处理机要从其</a:t>
            </a:r>
            <a:r>
              <a:rPr lang="en-US" altLang="zh-CN" sz="1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1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中把该块替换出去时，必须将该块写回其宿主结点的存储器中，从而使存储器中相应的块中存放的数据是最新的（宿主结点实际上成为拥有者）；</a:t>
            </a:r>
          </a:p>
          <a:p>
            <a:pPr marL="265113" lvl="3" indent="-265113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该块的状态变成未缓冲，其共享集合为空。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543524" y="1063874"/>
            <a:ext cx="6355073" cy="4990059"/>
            <a:chOff x="3394129" y="1504980"/>
            <a:chExt cx="6355073" cy="4990059"/>
          </a:xfrm>
        </p:grpSpPr>
        <p:grpSp>
          <p:nvGrpSpPr>
            <p:cNvPr id="14" name="Group 14"/>
            <p:cNvGrpSpPr>
              <a:grpSpLocks/>
            </p:cNvGrpSpPr>
            <p:nvPr/>
          </p:nvGrpSpPr>
          <p:grpSpPr bwMode="auto">
            <a:xfrm rot="9401435">
              <a:off x="4401318" y="5557828"/>
              <a:ext cx="632998" cy="611155"/>
              <a:chOff x="1776" y="3024"/>
              <a:chExt cx="402" cy="384"/>
            </a:xfrm>
          </p:grpSpPr>
          <p:sp>
            <p:nvSpPr>
              <p:cNvPr id="37" name="Oval 15"/>
              <p:cNvSpPr>
                <a:spLocks noChangeArrowheads="1"/>
              </p:cNvSpPr>
              <p:nvPr/>
            </p:nvSpPr>
            <p:spPr bwMode="auto">
              <a:xfrm>
                <a:off x="1776" y="3024"/>
                <a:ext cx="384" cy="38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8" name="Line 16"/>
              <p:cNvSpPr>
                <a:spLocks noChangeShapeType="1"/>
              </p:cNvSpPr>
              <p:nvPr/>
            </p:nvSpPr>
            <p:spPr bwMode="auto">
              <a:xfrm rot="1800000">
                <a:off x="2082" y="3102"/>
                <a:ext cx="96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</p:grpSp>
        <p:grpSp>
          <p:nvGrpSpPr>
            <p:cNvPr id="15" name="Group 14"/>
            <p:cNvGrpSpPr>
              <a:grpSpLocks/>
            </p:cNvGrpSpPr>
            <p:nvPr/>
          </p:nvGrpSpPr>
          <p:grpSpPr bwMode="auto">
            <a:xfrm rot="5596328">
              <a:off x="7361869" y="1515901"/>
              <a:ext cx="632998" cy="611155"/>
              <a:chOff x="1776" y="3024"/>
              <a:chExt cx="402" cy="384"/>
            </a:xfrm>
          </p:grpSpPr>
          <p:sp>
            <p:nvSpPr>
              <p:cNvPr id="35" name="Oval 15"/>
              <p:cNvSpPr>
                <a:spLocks noChangeArrowheads="1"/>
              </p:cNvSpPr>
              <p:nvPr/>
            </p:nvSpPr>
            <p:spPr bwMode="auto">
              <a:xfrm>
                <a:off x="1776" y="3024"/>
                <a:ext cx="384" cy="38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6" name="Line 16"/>
              <p:cNvSpPr>
                <a:spLocks noChangeShapeType="1"/>
              </p:cNvSpPr>
              <p:nvPr/>
            </p:nvSpPr>
            <p:spPr bwMode="auto">
              <a:xfrm rot="1800000">
                <a:off x="2082" y="3102"/>
                <a:ext cx="96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</p:grpSp>
        <p:grpSp>
          <p:nvGrpSpPr>
            <p:cNvPr id="16" name="Group 42"/>
            <p:cNvGrpSpPr>
              <a:grpSpLocks/>
            </p:cNvGrpSpPr>
            <p:nvPr/>
          </p:nvGrpSpPr>
          <p:grpSpPr bwMode="auto">
            <a:xfrm>
              <a:off x="3394267" y="1683674"/>
              <a:ext cx="1247349" cy="1192440"/>
              <a:chOff x="1410" y="935"/>
              <a:chExt cx="884" cy="848"/>
            </a:xfrm>
          </p:grpSpPr>
          <p:sp>
            <p:nvSpPr>
              <p:cNvPr id="33" name="Oval 4"/>
              <p:cNvSpPr>
                <a:spLocks noChangeArrowheads="1"/>
              </p:cNvSpPr>
              <p:nvPr/>
            </p:nvSpPr>
            <p:spPr bwMode="auto">
              <a:xfrm>
                <a:off x="1410" y="935"/>
                <a:ext cx="884" cy="848"/>
              </a:xfrm>
              <a:prstGeom prst="ellipse">
                <a:avLst/>
              </a:prstGeom>
              <a:solidFill>
                <a:srgbClr val="00B0F0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4" name="Rectangle 18"/>
              <p:cNvSpPr>
                <a:spLocks noChangeArrowheads="1"/>
              </p:cNvSpPr>
              <p:nvPr/>
            </p:nvSpPr>
            <p:spPr bwMode="auto">
              <a:xfrm>
                <a:off x="1446" y="1212"/>
                <a:ext cx="823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1600" b="1" dirty="0" err="1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Uncached</a:t>
                </a:r>
                <a:endParaRPr kumimoji="0" lang="en-US" altLang="en-US" sz="1600" b="1" dirty="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7" name="Group 44"/>
            <p:cNvGrpSpPr>
              <a:grpSpLocks/>
            </p:cNvGrpSpPr>
            <p:nvPr/>
          </p:nvGrpSpPr>
          <p:grpSpPr bwMode="auto">
            <a:xfrm>
              <a:off x="6390418" y="1683674"/>
              <a:ext cx="1488634" cy="1192439"/>
              <a:chOff x="3460" y="935"/>
              <a:chExt cx="1055" cy="848"/>
            </a:xfrm>
          </p:grpSpPr>
          <p:sp>
            <p:nvSpPr>
              <p:cNvPr id="31" name="Oval 28"/>
              <p:cNvSpPr>
                <a:spLocks noChangeArrowheads="1"/>
              </p:cNvSpPr>
              <p:nvPr/>
            </p:nvSpPr>
            <p:spPr bwMode="auto">
              <a:xfrm>
                <a:off x="3546" y="935"/>
                <a:ext cx="884" cy="848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zh-CN" sz="1400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" name="Rectangle 34"/>
              <p:cNvSpPr>
                <a:spLocks noChangeArrowheads="1"/>
              </p:cNvSpPr>
              <p:nvPr/>
            </p:nvSpPr>
            <p:spPr bwMode="auto">
              <a:xfrm>
                <a:off x="3460" y="1212"/>
                <a:ext cx="1055" cy="3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488" tIns="44450" rIns="90488" bIns="44450">
                <a:spAutoFit/>
              </a:bodyPr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16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Shared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1400" b="1" dirty="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8" name="Group 43"/>
            <p:cNvGrpSpPr>
              <a:grpSpLocks/>
            </p:cNvGrpSpPr>
            <p:nvPr/>
          </p:nvGrpSpPr>
          <p:grpSpPr bwMode="auto">
            <a:xfrm>
              <a:off x="3394129" y="4951186"/>
              <a:ext cx="1247349" cy="1192439"/>
              <a:chOff x="1408" y="3172"/>
              <a:chExt cx="884" cy="848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29" name="Oval 29"/>
              <p:cNvSpPr>
                <a:spLocks noChangeArrowheads="1"/>
              </p:cNvSpPr>
              <p:nvPr/>
            </p:nvSpPr>
            <p:spPr bwMode="auto">
              <a:xfrm>
                <a:off x="1408" y="3172"/>
                <a:ext cx="884" cy="848"/>
              </a:xfrm>
              <a:prstGeom prst="ellipse">
                <a:avLst/>
              </a:prstGeom>
              <a:grpFill/>
              <a:ln w="25400">
                <a:solidFill>
                  <a:srgbClr val="A8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0" name="Rectangle 35"/>
              <p:cNvSpPr>
                <a:spLocks noChangeArrowheads="1"/>
              </p:cNvSpPr>
              <p:nvPr/>
            </p:nvSpPr>
            <p:spPr bwMode="auto">
              <a:xfrm>
                <a:off x="1451" y="3469"/>
                <a:ext cx="810" cy="23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488" tIns="44450" rIns="90488" bIns="44450">
                <a:spAutoFit/>
              </a:bodyPr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AutoNum type="arabicPeriod"/>
                  <a:defRPr kumimoji="1" sz="2600">
                    <a:solidFill>
                      <a:srgbClr val="E24C05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q"/>
                  <a:defRPr kumimoji="1" sz="2000">
                    <a:solidFill>
                      <a:srgbClr val="00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6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Exclusive</a:t>
                </a:r>
                <a:endParaRPr kumimoji="0" lang="en-US" altLang="en-US" sz="1600" b="1" dirty="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9" name="Line 30"/>
            <p:cNvSpPr>
              <a:spLocks noChangeShapeType="1"/>
            </p:cNvSpPr>
            <p:nvPr/>
          </p:nvSpPr>
          <p:spPr bwMode="auto">
            <a:xfrm flipV="1">
              <a:off x="4646008" y="2253780"/>
              <a:ext cx="1852129" cy="34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0" name="矩形 19"/>
            <p:cNvSpPr/>
            <p:nvPr/>
          </p:nvSpPr>
          <p:spPr>
            <a:xfrm>
              <a:off x="4710297" y="2024437"/>
              <a:ext cx="1723549" cy="5109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发出</a:t>
              </a:r>
              <a:r>
                <a:rPr lang="en-US" altLang="zh-CN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DReply</a:t>
              </a:r>
              <a:r>
                <a:rPr lang="zh-CN" altLang="en-US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，</a:t>
              </a:r>
              <a:endParaRPr lang="en-US" altLang="zh-CN" sz="1600" dirty="0">
                <a:solidFill>
                  <a:srgbClr val="C00000"/>
                </a:solidFill>
                <a:ea typeface="宋体" panose="02010600030101010101" pitchFamily="2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将</a:t>
              </a:r>
              <a:r>
                <a:rPr lang="en-US" altLang="zh-CN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P</a:t>
              </a:r>
              <a:r>
                <a:rPr lang="zh-CN" altLang="en-US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加入共享集合</a:t>
              </a:r>
              <a:endParaRPr lang="en-US" altLang="zh-CN" sz="1600" dirty="0">
                <a:solidFill>
                  <a:srgbClr val="C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8025653" y="1615699"/>
              <a:ext cx="1723549" cy="5109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发出</a:t>
              </a:r>
              <a:r>
                <a:rPr lang="en-US" altLang="zh-CN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DReply</a:t>
              </a:r>
              <a:r>
                <a:rPr lang="zh-CN" altLang="en-US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，</a:t>
              </a:r>
              <a:endParaRPr lang="en-US" altLang="zh-CN" sz="1600" dirty="0">
                <a:solidFill>
                  <a:srgbClr val="C00000"/>
                </a:solidFill>
                <a:ea typeface="宋体" panose="02010600030101010101" pitchFamily="2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将</a:t>
              </a:r>
              <a:r>
                <a:rPr lang="en-US" altLang="zh-CN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P</a:t>
              </a:r>
              <a:r>
                <a:rPr lang="zh-CN" altLang="en-US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加入共享集合</a:t>
              </a:r>
              <a:endParaRPr lang="en-US" altLang="zh-CN" sz="1600" dirty="0">
                <a:solidFill>
                  <a:srgbClr val="C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" name="Line 30"/>
            <p:cNvSpPr>
              <a:spLocks noChangeShapeType="1"/>
            </p:cNvSpPr>
            <p:nvPr/>
          </p:nvSpPr>
          <p:spPr bwMode="auto">
            <a:xfrm flipV="1">
              <a:off x="4277914" y="2594578"/>
              <a:ext cx="2336712" cy="243462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3" name="矩形 22"/>
            <p:cNvSpPr/>
            <p:nvPr/>
          </p:nvSpPr>
          <p:spPr>
            <a:xfrm rot="18828380">
              <a:off x="4314710" y="3190766"/>
              <a:ext cx="2130396" cy="5109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发出</a:t>
              </a:r>
              <a:r>
                <a:rPr lang="en-US" altLang="zh-CN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Fetch</a:t>
              </a:r>
              <a:r>
                <a:rPr lang="zh-CN" altLang="en-US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，</a:t>
              </a:r>
              <a:r>
                <a:rPr lang="en-US" altLang="zh-CN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DReply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将</a:t>
              </a:r>
              <a:r>
                <a:rPr lang="en-US" altLang="zh-CN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P</a:t>
              </a:r>
              <a:r>
                <a:rPr lang="zh-CN" altLang="en-US" sz="1600" dirty="0">
                  <a:solidFill>
                    <a:srgbClr val="C00000"/>
                  </a:solidFill>
                  <a:ea typeface="宋体" panose="02010600030101010101" pitchFamily="2" charset="-122"/>
                </a:rPr>
                <a:t>加入共享集合</a:t>
              </a:r>
              <a:endParaRPr lang="en-US" altLang="zh-CN" sz="1600" dirty="0">
                <a:solidFill>
                  <a:srgbClr val="C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" name="Line 30"/>
            <p:cNvSpPr>
              <a:spLocks noChangeShapeType="1"/>
            </p:cNvSpPr>
            <p:nvPr/>
          </p:nvSpPr>
          <p:spPr bwMode="auto">
            <a:xfrm flipH="1">
              <a:off x="4144561" y="2876113"/>
              <a:ext cx="0" cy="207507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5" name="矩形 24"/>
            <p:cNvSpPr/>
            <p:nvPr/>
          </p:nvSpPr>
          <p:spPr>
            <a:xfrm rot="16200000">
              <a:off x="3113680" y="3550506"/>
              <a:ext cx="2130396" cy="5109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600" dirty="0">
                  <a:solidFill>
                    <a:srgbClr val="FB43D8"/>
                  </a:solidFill>
                  <a:ea typeface="宋体" panose="02010600030101010101" pitchFamily="2" charset="-122"/>
                </a:rPr>
                <a:t>DReply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1600" dirty="0">
                  <a:solidFill>
                    <a:srgbClr val="FB43D8"/>
                  </a:solidFill>
                  <a:ea typeface="宋体" panose="02010600030101010101" pitchFamily="2" charset="-122"/>
                </a:rPr>
                <a:t>将</a:t>
              </a:r>
              <a:r>
                <a:rPr lang="en-US" altLang="zh-CN" sz="1600" dirty="0">
                  <a:solidFill>
                    <a:srgbClr val="FB43D8"/>
                  </a:solidFill>
                  <a:ea typeface="宋体" panose="02010600030101010101" pitchFamily="2" charset="-122"/>
                </a:rPr>
                <a:t>P</a:t>
              </a:r>
              <a:r>
                <a:rPr lang="zh-CN" altLang="en-US" sz="1600" dirty="0">
                  <a:solidFill>
                    <a:srgbClr val="FB43D8"/>
                  </a:solidFill>
                  <a:ea typeface="宋体" panose="02010600030101010101" pitchFamily="2" charset="-122"/>
                </a:rPr>
                <a:t>加入共享集合</a:t>
              </a:r>
              <a:endParaRPr lang="en-US" altLang="zh-CN" sz="1600" dirty="0">
                <a:solidFill>
                  <a:srgbClr val="FB43D8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6" name="Line 30"/>
            <p:cNvSpPr>
              <a:spLocks noChangeShapeType="1"/>
            </p:cNvSpPr>
            <p:nvPr/>
          </p:nvSpPr>
          <p:spPr bwMode="auto">
            <a:xfrm flipH="1">
              <a:off x="4497331" y="2778626"/>
              <a:ext cx="2297575" cy="243014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7" name="矩形 26"/>
            <p:cNvSpPr/>
            <p:nvPr/>
          </p:nvSpPr>
          <p:spPr>
            <a:xfrm rot="18828380">
              <a:off x="4978940" y="3809645"/>
              <a:ext cx="2130396" cy="5109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1600" dirty="0">
                  <a:solidFill>
                    <a:srgbClr val="FB43D8"/>
                  </a:solidFill>
                  <a:ea typeface="宋体" panose="02010600030101010101" pitchFamily="2" charset="-122"/>
                </a:rPr>
                <a:t>发出</a:t>
              </a:r>
              <a:r>
                <a:rPr lang="en-US" altLang="zh-CN" sz="1600" dirty="0">
                  <a:solidFill>
                    <a:srgbClr val="FB43D8"/>
                  </a:solidFill>
                  <a:ea typeface="宋体" panose="02010600030101010101" pitchFamily="2" charset="-122"/>
                </a:rPr>
                <a:t>Invalidate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1600" dirty="0">
                  <a:solidFill>
                    <a:srgbClr val="FB43D8"/>
                  </a:solidFill>
                  <a:ea typeface="宋体" panose="02010600030101010101" pitchFamily="2" charset="-122"/>
                </a:rPr>
                <a:t>更新共享集合</a:t>
              </a:r>
              <a:endParaRPr lang="en-US" altLang="zh-CN" sz="1600" dirty="0">
                <a:solidFill>
                  <a:srgbClr val="FB43D8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5024792" y="5713287"/>
              <a:ext cx="2130396" cy="7817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1600" dirty="0">
                  <a:solidFill>
                    <a:srgbClr val="FB43D8"/>
                  </a:solidFill>
                  <a:ea typeface="宋体" panose="02010600030101010101" pitchFamily="2" charset="-122"/>
                </a:rPr>
                <a:t>发出</a:t>
              </a:r>
              <a:r>
                <a:rPr lang="en-US" altLang="zh-CN" sz="1600" dirty="0">
                  <a:solidFill>
                    <a:srgbClr val="FB43D8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Fetch&amp;Inv</a:t>
              </a:r>
              <a:r>
                <a:rPr lang="zh-CN" altLang="en-US" sz="1600" dirty="0">
                  <a:solidFill>
                    <a:srgbClr val="FB43D8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，</a:t>
              </a:r>
              <a:endParaRPr lang="en-US" altLang="zh-CN" sz="1600" dirty="0">
                <a:solidFill>
                  <a:srgbClr val="FB43D8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1600" dirty="0">
                  <a:solidFill>
                    <a:srgbClr val="FB43D8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发出</a:t>
              </a:r>
              <a:r>
                <a:rPr lang="en-US" altLang="zh-CN" sz="1600" dirty="0">
                  <a:solidFill>
                    <a:srgbClr val="FB43D8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DReply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1600" dirty="0">
                  <a:solidFill>
                    <a:srgbClr val="FB43D8"/>
                  </a:solidFill>
                  <a:ea typeface="宋体" panose="02010600030101010101" pitchFamily="2" charset="-122"/>
                </a:rPr>
                <a:t>更新共享集合</a:t>
              </a:r>
              <a:endParaRPr lang="en-US" altLang="zh-CN" sz="1600" dirty="0">
                <a:solidFill>
                  <a:srgbClr val="FB43D8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39" name="Line 30"/>
          <p:cNvSpPr>
            <a:spLocks noChangeShapeType="1"/>
          </p:cNvSpPr>
          <p:nvPr/>
        </p:nvSpPr>
        <p:spPr bwMode="auto">
          <a:xfrm flipH="1" flipV="1">
            <a:off x="3014378" y="2417222"/>
            <a:ext cx="37179" cy="2071766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/>
          </a:p>
        </p:txBody>
      </p:sp>
      <p:sp>
        <p:nvSpPr>
          <p:cNvPr id="40" name="矩形 39"/>
          <p:cNvSpPr/>
          <p:nvPr/>
        </p:nvSpPr>
        <p:spPr>
          <a:xfrm rot="16200000">
            <a:off x="2170281" y="3266278"/>
            <a:ext cx="1415772" cy="2400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1600" dirty="0">
                <a:solidFill>
                  <a:srgbClr val="F96B13"/>
                </a:solidFill>
                <a:ea typeface="宋体" panose="02010600030101010101" pitchFamily="2" charset="-122"/>
              </a:rPr>
              <a:t>清空共享集合</a:t>
            </a:r>
            <a:endParaRPr lang="en-US" altLang="zh-CN" sz="1600" dirty="0">
              <a:solidFill>
                <a:srgbClr val="F96B13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275684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Text Box 4"/>
          <p:cNvSpPr txBox="1">
            <a:spLocks noChangeArrowheads="1"/>
          </p:cNvSpPr>
          <p:nvPr/>
        </p:nvSpPr>
        <p:spPr bwMode="auto">
          <a:xfrm>
            <a:off x="3732561" y="399865"/>
            <a:ext cx="451830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全部目录存储块状态转换及相应的操作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33835" y="1346204"/>
            <a:ext cx="8888738" cy="444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1552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5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760303" y="944564"/>
            <a:ext cx="11069747" cy="4818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1085850" indent="-4572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714500" indent="-4572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/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不同目录协议的</a:t>
            </a:r>
            <a:r>
              <a:rPr lang="zh-CN" altLang="en-US" sz="2000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主要区别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主要有两个</a:t>
            </a:r>
          </a:p>
          <a:p>
            <a:pPr marL="1619250" lvl="2" indent="-361950" eaLnBrk="1" hangingPunct="1"/>
            <a:r>
              <a:rPr lang="zh-CN" altLang="en-US" b="0" dirty="0">
                <a:latin typeface="宋体" panose="02010600030101010101" pitchFamily="2" charset="-122"/>
              </a:rPr>
              <a:t>所设置的存储器块的状态及其个数不同</a:t>
            </a:r>
          </a:p>
          <a:p>
            <a:pPr marL="1619250" lvl="2" indent="-361950" eaLnBrk="1" hangingPunct="1"/>
            <a:r>
              <a:rPr lang="zh-CN" altLang="en-US" b="0" dirty="0">
                <a:latin typeface="宋体" panose="02010600030101010101" pitchFamily="2" charset="-122"/>
              </a:rPr>
              <a:t>目录的结构</a:t>
            </a:r>
          </a:p>
          <a:p>
            <a:pPr lvl="1" eaLnBrk="1" hangingPunct="1"/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目录协议分为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类</a:t>
            </a:r>
          </a:p>
          <a:p>
            <a:pPr marL="1619250" lvl="2" indent="-361950"/>
            <a:r>
              <a:rPr lang="zh-CN" altLang="en-US" b="0" dirty="0">
                <a:latin typeface="宋体" panose="02010600030101010101" pitchFamily="2" charset="-122"/>
              </a:rPr>
              <a:t>全映像目录</a:t>
            </a:r>
            <a:endParaRPr lang="en-US" altLang="zh-CN" b="0" dirty="0">
              <a:latin typeface="宋体" panose="02010600030101010101" pitchFamily="2" charset="-122"/>
            </a:endParaRPr>
          </a:p>
          <a:p>
            <a:pPr marL="1619250" lvl="2" indent="-361950"/>
            <a:r>
              <a:rPr lang="zh-CN" altLang="en-US" b="0" dirty="0">
                <a:latin typeface="宋体" panose="02010600030101010101" pitchFamily="2" charset="-122"/>
              </a:rPr>
              <a:t>有限映像目录</a:t>
            </a:r>
            <a:endParaRPr lang="en-US" altLang="zh-CN" b="0" dirty="0">
              <a:latin typeface="宋体" panose="02010600030101010101" pitchFamily="2" charset="-122"/>
            </a:endParaRPr>
          </a:p>
          <a:p>
            <a:pPr marL="1619250" lvl="2" indent="-361950"/>
            <a:r>
              <a:rPr lang="zh-CN" altLang="en-US" b="0" dirty="0">
                <a:latin typeface="宋体" panose="02010600030101010101" pitchFamily="2" charset="-122"/>
              </a:rPr>
              <a:t>链式目录</a:t>
            </a:r>
          </a:p>
        </p:txBody>
      </p:sp>
      <p:sp>
        <p:nvSpPr>
          <p:cNvPr id="8" name="矩形 7"/>
          <p:cNvSpPr/>
          <p:nvPr/>
        </p:nvSpPr>
        <p:spPr>
          <a:xfrm>
            <a:off x="760303" y="197793"/>
            <a:ext cx="28007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3.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目录的三种结构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525062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582613"/>
            <a:ext cx="10439400" cy="5040312"/>
          </a:xfrm>
        </p:spPr>
        <p:txBody>
          <a:bodyPr>
            <a:normAutofit/>
          </a:bodyPr>
          <a:lstStyle/>
          <a:p>
            <a:pPr marL="457200" indent="-457200">
              <a:buFont typeface="+mj-ea"/>
              <a:buAutoNum type="circleNumDbPlain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全映像目录</a:t>
            </a:r>
          </a:p>
          <a:p>
            <a:pPr marL="447675" lvl="1" indent="447675"/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每一个目录项都包含一个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位（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为处理机的个数）的位向量，其每一位对应于一个处理机。</a:t>
            </a:r>
          </a:p>
          <a:p>
            <a:pPr marL="1085850" lvl="1" indent="-457200"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优点：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处理比较简单，速度也比较快。</a:t>
            </a:r>
          </a:p>
          <a:p>
            <a:pPr marL="1085850" lvl="1" indent="-457200"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缺点：</a:t>
            </a:r>
          </a:p>
          <a:p>
            <a:pPr marL="1257277" lvl="2" indent="-342900" eaLnBrk="1" hangingPunct="1"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存储空间的开销很大。</a:t>
            </a:r>
          </a:p>
          <a:p>
            <a:pPr marL="1257277" lvl="2" indent="-342900" eaLnBrk="1" hangingPunct="1"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目录项的数目与处理机的个数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成正比，而目录项的大小（位数）也与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成正比，因此目录所占用的空间与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altLang="zh-CN" sz="2000" baseline="30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成正比。</a:t>
            </a:r>
          </a:p>
          <a:p>
            <a:pPr marL="1257277" lvl="2" indent="-342900" eaLnBrk="1" hangingPunct="1"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可扩放性很差。</a:t>
            </a:r>
            <a:endParaRPr lang="zh-CN" altLang="en-US" sz="2000" dirty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93573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8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979759" y="4605011"/>
            <a:ext cx="9374187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714500" indent="-4572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buFont typeface="Wingdings" panose="05000000000000000000" pitchFamily="2" charset="2"/>
              <a:buChar char="p"/>
            </a:pPr>
            <a:r>
              <a:rPr lang="zh-CN" altLang="en-US" b="0" dirty="0">
                <a:latin typeface="宋体" panose="02010600030101010101" pitchFamily="2" charset="-122"/>
              </a:rPr>
              <a:t>当位向量中的值为</a:t>
            </a:r>
            <a:r>
              <a:rPr lang="zh-CN" altLang="en-US" b="0" dirty="0">
                <a:solidFill>
                  <a:srgbClr val="9933FF"/>
                </a:solidFill>
                <a:latin typeface="宋体" panose="02010600030101010101" pitchFamily="2" charset="-122"/>
              </a:rPr>
              <a:t>“</a:t>
            </a:r>
            <a:r>
              <a:rPr lang="en-US" altLang="zh-CN" b="0" dirty="0">
                <a:solidFill>
                  <a:srgbClr val="9933FF"/>
                </a:solidFill>
                <a:latin typeface="宋体" panose="02010600030101010101" pitchFamily="2" charset="-122"/>
              </a:rPr>
              <a:t>1”</a:t>
            </a:r>
            <a:r>
              <a:rPr lang="zh-CN" altLang="en-US" b="0" dirty="0">
                <a:latin typeface="宋体" panose="02010600030101010101" pitchFamily="2" charset="-122"/>
              </a:rPr>
              <a:t>时，就表示它所对应的处理机有该数据块的副本；否则就表示没有。</a:t>
            </a:r>
          </a:p>
          <a:p>
            <a:pPr lvl="2" eaLnBrk="1" hangingPunct="1"/>
            <a:r>
              <a:rPr lang="zh-CN" altLang="en-US" b="0" dirty="0">
                <a:latin typeface="宋体" panose="02010600030101010101" pitchFamily="2" charset="-122"/>
              </a:rPr>
              <a:t>在这种情况下，共享集合由位向量中值为</a:t>
            </a:r>
            <a:r>
              <a:rPr lang="zh-CN" altLang="en-US" b="0" dirty="0">
                <a:solidFill>
                  <a:srgbClr val="9933FF"/>
                </a:solidFill>
                <a:latin typeface="宋体" panose="02010600030101010101" pitchFamily="2" charset="-122"/>
              </a:rPr>
              <a:t>“</a:t>
            </a:r>
            <a:r>
              <a:rPr lang="en-US" altLang="zh-CN" b="0" dirty="0">
                <a:solidFill>
                  <a:srgbClr val="9933FF"/>
                </a:solidFill>
                <a:latin typeface="宋体" panose="02010600030101010101" pitchFamily="2" charset="-122"/>
              </a:rPr>
              <a:t>1”</a:t>
            </a:r>
            <a:r>
              <a:rPr lang="zh-CN" altLang="en-US" b="0" dirty="0">
                <a:latin typeface="宋体" panose="02010600030101010101" pitchFamily="2" charset="-122"/>
              </a:rPr>
              <a:t>的位所对应的处理机构成。 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247" y="1236969"/>
            <a:ext cx="5486876" cy="3176291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979759" y="389950"/>
            <a:ext cx="19223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085850" lvl="1" indent="-4572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举例 </a:t>
            </a:r>
          </a:p>
        </p:txBody>
      </p:sp>
    </p:spTree>
    <p:extLst>
      <p:ext uri="{BB962C8B-B14F-4D97-AF65-F5344CB8AC3E}">
        <p14:creationId xmlns:p14="http://schemas.microsoft.com/office/powerpoint/2010/main" val="291544365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975632" y="372701"/>
            <a:ext cx="10188757" cy="5728107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buFont typeface="+mj-ea"/>
              <a:buAutoNum type="circleNumDbPlain" startAt="2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有限映像目录 </a:t>
            </a:r>
          </a:p>
          <a:p>
            <a:pPr marL="896938" lvl="1" indent="-268288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提高其可扩放性和减少目录所占用的空间。</a:t>
            </a:r>
          </a:p>
          <a:p>
            <a:pPr marL="896938" lvl="1" indent="-268288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核心思想：采用位数固定的目录项目</a:t>
            </a:r>
          </a:p>
          <a:p>
            <a:pPr marL="1257300" lvl="2" indent="-342900" eaLnBrk="1" hangingPunct="1">
              <a:lnSpc>
                <a:spcPct val="10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限制同一数据块在所有</a:t>
            </a:r>
            <a:r>
              <a:rPr lang="en-US" altLang="zh-CN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中的副本总数。 </a:t>
            </a:r>
          </a:p>
          <a:p>
            <a:pPr marL="1257300" lvl="2" indent="-342900" eaLnBrk="1" hangingPunct="1">
              <a:lnSpc>
                <a:spcPct val="10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例如，限定为常数</a:t>
            </a:r>
            <a:r>
              <a:rPr lang="en-US" altLang="zh-CN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。则目录项中用于表示共享集合所需的二进制位数为：</a:t>
            </a:r>
            <a:r>
              <a:rPr lang="en-US" altLang="zh-CN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m×log</a:t>
            </a:r>
            <a:r>
              <a:rPr lang="en-US" altLang="zh-CN" baseline="-25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。 </a:t>
            </a:r>
          </a:p>
          <a:p>
            <a:pPr marL="1257300" lvl="2" indent="-342900" eaLnBrk="1" hangingPunct="1">
              <a:lnSpc>
                <a:spcPct val="10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目录所占用的空间与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N×      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成正比。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96938" lvl="1" indent="-268288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缺点</a:t>
            </a:r>
          </a:p>
          <a:p>
            <a:pPr lvl="2">
              <a:lnSpc>
                <a:spcPct val="10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当同一数据的副本个数大于</a:t>
            </a:r>
            <a:r>
              <a:rPr lang="en-US" altLang="zh-CN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时，必须做特殊处理。当目录项中的</a:t>
            </a:r>
            <a:r>
              <a:rPr lang="en-US" altLang="zh-CN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个指针都已经全被占满，而某处理机又需要新调入该块时，就需要在其</a:t>
            </a:r>
            <a:r>
              <a:rPr lang="en-US" altLang="zh-CN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个指针中选择一个，将之驱逐，以便腾出位置，存放指向新调入块的处理机的指针 。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AutoNum type="arabicPeriod" startAt="2"/>
            </a:pP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74756" name="Rectangle 8"/>
          <p:cNvSpPr>
            <a:spLocks noChangeArrowheads="1"/>
          </p:cNvSpPr>
          <p:nvPr/>
        </p:nvSpPr>
        <p:spPr bwMode="auto">
          <a:xfrm>
            <a:off x="1524001" y="3236755"/>
            <a:ext cx="18473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zh-CN" altLang="en-US" sz="2600">
              <a:solidFill>
                <a:schemeClr val="tx1"/>
              </a:solidFill>
            </a:endParaRPr>
          </a:p>
        </p:txBody>
      </p:sp>
      <p:graphicFrame>
        <p:nvGraphicFramePr>
          <p:cNvPr id="7475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3049075"/>
              </p:ext>
            </p:extLst>
          </p:nvPr>
        </p:nvGraphicFramePr>
        <p:xfrm>
          <a:off x="5044485" y="2612527"/>
          <a:ext cx="719138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44114" imgH="177646" progId="Equation.3">
                  <p:embed/>
                </p:oleObj>
              </mc:Choice>
              <mc:Fallback>
                <p:oleObj name="公式" r:id="rId2" imgW="444114" imgH="177646" progId="Equation.3">
                  <p:embed/>
                  <p:pic>
                    <p:nvPicPr>
                      <p:cNvPr id="7475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4485" y="2612527"/>
                        <a:ext cx="719138" cy="290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51603649"/>
      </p:ext>
    </p:extLst>
  </p:cSld>
  <p:clrMapOvr>
    <a:masterClrMapping/>
  </p:clrMapOvr>
  <p:transition>
    <p:pull dir="rd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Text Box 7"/>
          <p:cNvSpPr txBox="1">
            <a:spLocks noChangeArrowheads="1"/>
          </p:cNvSpPr>
          <p:nvPr/>
        </p:nvSpPr>
        <p:spPr bwMode="auto">
          <a:xfrm>
            <a:off x="3379789" y="4494214"/>
            <a:ext cx="5400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有限映像目录（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N≥8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的情况） </a:t>
            </a:r>
          </a:p>
        </p:txBody>
      </p:sp>
      <p:sp>
        <p:nvSpPr>
          <p:cNvPr id="75820" name="Rectangle 51"/>
          <p:cNvSpPr>
            <a:spLocks noChangeArrowheads="1"/>
          </p:cNvSpPr>
          <p:nvPr/>
        </p:nvSpPr>
        <p:spPr bwMode="auto">
          <a:xfrm>
            <a:off x="1524001" y="3092293"/>
            <a:ext cx="18473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zh-CN" altLang="en-US" sz="2600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145" y="1334135"/>
            <a:ext cx="5864860" cy="2932430"/>
          </a:xfrm>
          <a:prstGeom prst="rect">
            <a:avLst/>
          </a:prstGeom>
        </p:spPr>
      </p:pic>
      <p:sp>
        <p:nvSpPr>
          <p:cNvPr id="48" name="矩形 47"/>
          <p:cNvSpPr/>
          <p:nvPr/>
        </p:nvSpPr>
        <p:spPr>
          <a:xfrm>
            <a:off x="979759" y="389950"/>
            <a:ext cx="19223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085850" lvl="1" indent="-4572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举例 </a:t>
            </a:r>
          </a:p>
        </p:txBody>
      </p:sp>
    </p:spTree>
    <p:extLst>
      <p:ext uri="{BB962C8B-B14F-4D97-AF65-F5344CB8AC3E}">
        <p14:creationId xmlns:p14="http://schemas.microsoft.com/office/powerpoint/2010/main" val="13372528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124496" y="346441"/>
            <a:ext cx="9639298" cy="5784394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lnSpc>
                <a:spcPct val="110000"/>
              </a:lnSpc>
              <a:buFont typeface="+mj-ea"/>
              <a:buAutoNum type="circleNumDbPlain" startAt="3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链式目录</a:t>
            </a:r>
          </a:p>
          <a:p>
            <a:pPr marL="1085850" lvl="1" indent="-4572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用一个目录指针链表来表示共享集合。当一个数据块的副本数增加（或减少）时，其指针链表就跟着变长（或变短）。</a:t>
            </a:r>
          </a:p>
          <a:p>
            <a:pPr marL="1085850" lvl="1" indent="-4572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由于链表的长度不受限制，因而带来了以下</a:t>
            </a:r>
            <a:r>
              <a:rPr lang="zh-CN" altLang="en-US" sz="2000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优点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：既不限制副本的个数，又保持了可扩展性。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085850" lvl="1" indent="-4572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zh-CN" altLang="en-US" sz="2100" dirty="0">
                <a:latin typeface="宋体" panose="02010600030101010101" pitchFamily="2" charset="-122"/>
                <a:ea typeface="宋体" panose="02010600030101010101" pitchFamily="2" charset="-122"/>
              </a:rPr>
              <a:t>链式目录有两种实现方法</a:t>
            </a:r>
          </a:p>
          <a:p>
            <a:pPr marL="1257277" lvl="2" indent="-342900">
              <a:lnSpc>
                <a:spcPct val="11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单链法</a:t>
            </a:r>
          </a:p>
          <a:p>
            <a:pPr lvl="2">
              <a:lnSpc>
                <a:spcPct val="11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当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中的块被替换出去时，需要对相应的链表进行操作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把相应的链表元素（假设是链表中的第</a:t>
            </a:r>
            <a:r>
              <a:rPr lang="en-US" altLang="zh-CN" sz="2000" dirty="0" err="1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个）删除。</a:t>
            </a:r>
            <a:r>
              <a:rPr lang="zh-CN" altLang="en-US" sz="2000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实现方法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有以下两种：</a:t>
            </a:r>
          </a:p>
          <a:p>
            <a:pPr marL="1714466" lvl="3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沿着链表往下寻找第</a:t>
            </a:r>
            <a:r>
              <a:rPr lang="en-US" altLang="zh-CN" sz="2000" dirty="0" err="1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个元素，找到后，修改其前后的链接指针，跳过该元素。</a:t>
            </a:r>
          </a:p>
          <a:p>
            <a:pPr marL="1714466" lvl="3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找到第</a:t>
            </a:r>
            <a:r>
              <a:rPr lang="en-US" altLang="zh-CN" sz="2000" dirty="0" err="1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个元素后，作废它及其后的所有元素所对应的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副本。</a:t>
            </a:r>
          </a:p>
          <a:p>
            <a:pPr marL="1257277" lvl="2" indent="-342900">
              <a:lnSpc>
                <a:spcPct val="110000"/>
              </a:lnSpc>
              <a:buFont typeface="Wingdings" panose="05000000000000000000" pitchFamily="2" charset="2"/>
              <a:buChar char="p"/>
            </a:pPr>
            <a:r>
              <a:rPr lang="zh-CN" altLang="en-US" sz="2100" dirty="0">
                <a:latin typeface="宋体" panose="02010600030101010101" pitchFamily="2" charset="-122"/>
                <a:ea typeface="宋体" panose="02010600030101010101" pitchFamily="2" charset="-122"/>
              </a:rPr>
              <a:t>双链法 </a:t>
            </a:r>
          </a:p>
          <a:p>
            <a:pPr marL="1714466" lvl="3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100" dirty="0">
                <a:latin typeface="宋体" panose="02010600030101010101" pitchFamily="2" charset="-122"/>
                <a:ea typeface="宋体" panose="02010600030101010101" pitchFamily="2" charset="-122"/>
              </a:rPr>
              <a:t>在替换时不需要遍历整个链表。</a:t>
            </a:r>
          </a:p>
          <a:p>
            <a:pPr marL="1714466" lvl="3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100" dirty="0">
                <a:latin typeface="宋体" panose="02010600030101010101" pitchFamily="2" charset="-122"/>
                <a:ea typeface="宋体" panose="02010600030101010101" pitchFamily="2" charset="-122"/>
              </a:rPr>
              <a:t>节省了处理时间，但其指针增加了一倍，而且一致性协议也更复杂了。 </a:t>
            </a:r>
          </a:p>
          <a:p>
            <a:pPr marL="1085850" lvl="1" indent="-457200">
              <a:lnSpc>
                <a:spcPct val="110000"/>
              </a:lnSpc>
              <a:buFont typeface="Wingdings" panose="05000000000000000000" pitchFamily="2" charset="2"/>
              <a:buChar char="Ø"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128709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Text Box 4"/>
          <p:cNvSpPr txBox="1">
            <a:spLocks noChangeArrowheads="1"/>
          </p:cNvSpPr>
          <p:nvPr/>
        </p:nvSpPr>
        <p:spPr bwMode="auto">
          <a:xfrm>
            <a:off x="896463" y="1561284"/>
            <a:ext cx="492443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000" b="1" dirty="0">
                <a:solidFill>
                  <a:schemeClr val="tx1"/>
                </a:solidFill>
                <a:ea typeface="宋体" panose="02010600030101010101" pitchFamily="2" charset="-122"/>
              </a:rPr>
              <a:t>采用单向链法的示意图</a:t>
            </a:r>
          </a:p>
        </p:txBody>
      </p:sp>
      <p:sp>
        <p:nvSpPr>
          <p:cNvPr id="78863" name="Text Box 16"/>
          <p:cNvSpPr txBox="1">
            <a:spLocks noChangeArrowheads="1"/>
          </p:cNvSpPr>
          <p:nvPr/>
        </p:nvSpPr>
        <p:spPr bwMode="auto">
          <a:xfrm>
            <a:off x="5063151" y="2528736"/>
            <a:ext cx="1838325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共享集＝</a:t>
            </a:r>
            <a:r>
              <a:rPr lang="en-US" altLang="zh-CN" sz="1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 P</a:t>
            </a:r>
            <a:r>
              <a:rPr lang="en-US" altLang="zh-CN" sz="1800" b="1" baseline="-250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 </a:t>
            </a:r>
            <a:r>
              <a:rPr lang="en-US" altLang="zh-CN" sz="1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altLang="zh-CN" sz="1800" b="1" dirty="0">
              <a:solidFill>
                <a:srgbClr val="0000FF"/>
              </a:solidFill>
            </a:endParaRPr>
          </a:p>
        </p:txBody>
      </p:sp>
      <p:sp>
        <p:nvSpPr>
          <p:cNvPr id="78916" name="Text Box 71"/>
          <p:cNvSpPr txBox="1">
            <a:spLocks noChangeArrowheads="1"/>
          </p:cNvSpPr>
          <p:nvPr/>
        </p:nvSpPr>
        <p:spPr bwMode="auto">
          <a:xfrm>
            <a:off x="4803504" y="6011771"/>
            <a:ext cx="2486025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共享集＝</a:t>
            </a:r>
            <a:r>
              <a:rPr lang="en-US" altLang="zh-CN" sz="1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 P</a:t>
            </a:r>
            <a:r>
              <a:rPr lang="en-US" altLang="zh-CN" sz="1800" b="1" baseline="-250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en-US" altLang="zh-CN" sz="1800" b="1" baseline="-250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en-US" altLang="zh-CN" sz="1800" b="1" baseline="-250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 </a:t>
            </a:r>
            <a:r>
              <a:rPr lang="en-US" altLang="zh-CN" sz="1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altLang="zh-CN" sz="1800" b="1" dirty="0">
              <a:solidFill>
                <a:srgbClr val="0000FF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172" y="411482"/>
            <a:ext cx="5520284" cy="196810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3064" y="3473272"/>
            <a:ext cx="5700762" cy="220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40137"/>
      </p:ext>
    </p:extLst>
  </p:cSld>
  <p:clrMapOvr>
    <a:masterClrMapping/>
  </p:clrMapOvr>
</p:sld>
</file>

<file path=ppt/theme/theme1.xml><?xml version="1.0" encoding="utf-8"?>
<a:theme xmlns:a="http://schemas.openxmlformats.org/drawingml/2006/main" name="单线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30_TF56180624_Win32" id="{9D727254-2BE9-4C85-8515-511A9B42E99C}" vid="{98F67272-6949-4B1C-8084-EC46719CFC44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单线</Template>
  <TotalTime>0</TotalTime>
  <Words>5748</Words>
  <Application>Microsoft Office PowerPoint</Application>
  <PresentationFormat>宽屏</PresentationFormat>
  <Paragraphs>633</Paragraphs>
  <Slides>60</Slides>
  <Notes>17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73" baseType="lpstr">
      <vt:lpstr>Microsoft YaHei UI</vt:lpstr>
      <vt:lpstr>黑体</vt:lpstr>
      <vt:lpstr>宋体</vt:lpstr>
      <vt:lpstr>宋体</vt:lpstr>
      <vt:lpstr>Arial</vt:lpstr>
      <vt:lpstr>Comic Sans MS</vt:lpstr>
      <vt:lpstr>Consolas</vt:lpstr>
      <vt:lpstr>Tahoma</vt:lpstr>
      <vt:lpstr>Tenorite</vt:lpstr>
      <vt:lpstr>Times New Roman</vt:lpstr>
      <vt:lpstr>Wingdings</vt:lpstr>
      <vt:lpstr>单线</vt:lpstr>
      <vt:lpstr>公式</vt:lpstr>
      <vt:lpstr>线程级并行：多处理机</vt:lpstr>
      <vt:lpstr>PowerPoint 演示文稿</vt:lpstr>
      <vt:lpstr>系统互连</vt:lpstr>
      <vt:lpstr>静态互连网络：指处理单元间有固定连接的一类网络，在程序执行期间，这种点到点的链接保持不变。</vt:lpstr>
      <vt:lpstr>动态互连网络：由开关单元构成，可以按照应用程序的要求动态的改变连接组态。</vt:lpstr>
      <vt:lpstr>2. 几种基本的MIMD并行机结构模型</vt:lpstr>
      <vt:lpstr>PVP</vt:lpstr>
      <vt:lpstr>SMP</vt:lpstr>
      <vt:lpstr>MPP</vt:lpstr>
      <vt:lpstr>DSM</vt:lpstr>
      <vt:lpstr>COW</vt:lpstr>
      <vt:lpstr>3. 从存储角度来看MIMD</vt:lpstr>
      <vt:lpstr>PowerPoint 演示文稿</vt:lpstr>
      <vt:lpstr>本章组织结构</vt:lpstr>
      <vt:lpstr>二 多处理机Cache一致性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I. 请求来自处理器 – 读命中</vt:lpstr>
      <vt:lpstr>I. 请求来自处理器 – 读缺失</vt:lpstr>
      <vt:lpstr>I. 请求来自处理器 – 写命中</vt:lpstr>
      <vt:lpstr>I. 请求来自处理器 – 写缺失</vt:lpstr>
      <vt:lpstr>II. 请求来自总线 – 读缺失</vt:lpstr>
      <vt:lpstr>II. 请求来自总线 – 失效</vt:lpstr>
      <vt:lpstr>II. 请求来自总线 – 写缺失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综合</vt:lpstr>
      <vt:lpstr>PowerPoint 演示文稿</vt:lpstr>
      <vt:lpstr>具体Cache块的状态转换 – CPU读</vt:lpstr>
      <vt:lpstr>具体Cache块的状态转换 – CPU写</vt:lpstr>
      <vt:lpstr>具体Cache块的状态转换 – 远程Cache块收到请求</vt:lpstr>
      <vt:lpstr>PowerPoint 演示文稿</vt:lpstr>
      <vt:lpstr>存储块的状态转换 – 收到读不命中</vt:lpstr>
      <vt:lpstr>存储块的状态转换 – 收到写不命中</vt:lpstr>
      <vt:lpstr>存储块的状态转换 – 收到数据写回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2022-01-04T05:59:07Z</dcterms:created>
  <dcterms:modified xsi:type="dcterms:W3CDTF">2022-10-24T05:23:24Z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