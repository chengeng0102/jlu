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3"/>
  </p:notesMasterIdLst>
  <p:sldIdLst>
    <p:sldId id="497" r:id="rId2"/>
    <p:sldId id="694" r:id="rId3"/>
    <p:sldId id="691" r:id="rId4"/>
    <p:sldId id="498" r:id="rId5"/>
    <p:sldId id="499" r:id="rId6"/>
    <p:sldId id="500" r:id="rId7"/>
    <p:sldId id="502" r:id="rId8"/>
    <p:sldId id="503" r:id="rId9"/>
    <p:sldId id="695" r:id="rId10"/>
    <p:sldId id="504" r:id="rId11"/>
    <p:sldId id="505" r:id="rId12"/>
    <p:sldId id="506" r:id="rId13"/>
    <p:sldId id="507" r:id="rId14"/>
    <p:sldId id="509" r:id="rId15"/>
    <p:sldId id="510" r:id="rId16"/>
    <p:sldId id="511" r:id="rId17"/>
    <p:sldId id="513" r:id="rId18"/>
    <p:sldId id="515" r:id="rId19"/>
    <p:sldId id="696" r:id="rId20"/>
    <p:sldId id="518" r:id="rId21"/>
    <p:sldId id="519" r:id="rId22"/>
    <p:sldId id="520" r:id="rId23"/>
    <p:sldId id="522" r:id="rId24"/>
    <p:sldId id="690" r:id="rId25"/>
    <p:sldId id="689" r:id="rId26"/>
    <p:sldId id="534" r:id="rId27"/>
    <p:sldId id="535" r:id="rId28"/>
    <p:sldId id="536" r:id="rId29"/>
    <p:sldId id="537" r:id="rId30"/>
    <p:sldId id="538" r:id="rId31"/>
    <p:sldId id="539" r:id="rId32"/>
    <p:sldId id="697" r:id="rId33"/>
    <p:sldId id="698" r:id="rId34"/>
    <p:sldId id="699" r:id="rId35"/>
    <p:sldId id="700" r:id="rId36"/>
    <p:sldId id="701" r:id="rId37"/>
    <p:sldId id="702" r:id="rId38"/>
    <p:sldId id="703" r:id="rId39"/>
    <p:sldId id="704" r:id="rId40"/>
    <p:sldId id="705" r:id="rId41"/>
    <p:sldId id="706" r:id="rId42"/>
    <p:sldId id="707" r:id="rId43"/>
    <p:sldId id="708" r:id="rId44"/>
    <p:sldId id="709" r:id="rId45"/>
    <p:sldId id="710" r:id="rId46"/>
    <p:sldId id="711" r:id="rId47"/>
    <p:sldId id="712" r:id="rId48"/>
    <p:sldId id="713" r:id="rId49"/>
    <p:sldId id="714" r:id="rId50"/>
    <p:sldId id="715" r:id="rId51"/>
    <p:sldId id="716" r:id="rId52"/>
    <p:sldId id="717" r:id="rId53"/>
    <p:sldId id="718" r:id="rId54"/>
    <p:sldId id="719" r:id="rId55"/>
    <p:sldId id="720" r:id="rId56"/>
    <p:sldId id="721" r:id="rId57"/>
    <p:sldId id="722" r:id="rId58"/>
    <p:sldId id="723" r:id="rId59"/>
    <p:sldId id="724" r:id="rId60"/>
    <p:sldId id="725" r:id="rId61"/>
    <p:sldId id="726" r:id="rId62"/>
    <p:sldId id="727" r:id="rId63"/>
    <p:sldId id="728" r:id="rId64"/>
    <p:sldId id="729" r:id="rId65"/>
    <p:sldId id="730" r:id="rId66"/>
    <p:sldId id="731" r:id="rId67"/>
    <p:sldId id="732" r:id="rId68"/>
    <p:sldId id="733" r:id="rId69"/>
    <p:sldId id="734" r:id="rId70"/>
    <p:sldId id="735" r:id="rId71"/>
    <p:sldId id="736" r:id="rId72"/>
    <p:sldId id="737" r:id="rId73"/>
    <p:sldId id="738" r:id="rId74"/>
    <p:sldId id="739" r:id="rId75"/>
    <p:sldId id="740" r:id="rId76"/>
    <p:sldId id="741" r:id="rId77"/>
    <p:sldId id="742" r:id="rId78"/>
    <p:sldId id="743" r:id="rId79"/>
    <p:sldId id="744" r:id="rId80"/>
    <p:sldId id="745" r:id="rId81"/>
    <p:sldId id="756" r:id="rId82"/>
    <p:sldId id="746" r:id="rId83"/>
    <p:sldId id="748" r:id="rId84"/>
    <p:sldId id="603" r:id="rId85"/>
    <p:sldId id="604" r:id="rId86"/>
    <p:sldId id="605" r:id="rId87"/>
    <p:sldId id="606" r:id="rId88"/>
    <p:sldId id="607" r:id="rId89"/>
    <p:sldId id="609" r:id="rId90"/>
    <p:sldId id="610" r:id="rId91"/>
    <p:sldId id="611" r:id="rId92"/>
    <p:sldId id="612" r:id="rId93"/>
    <p:sldId id="758" r:id="rId94"/>
    <p:sldId id="614" r:id="rId95"/>
    <p:sldId id="618" r:id="rId96"/>
    <p:sldId id="620" r:id="rId97"/>
    <p:sldId id="621" r:id="rId98"/>
    <p:sldId id="623" r:id="rId99"/>
    <p:sldId id="757" r:id="rId100"/>
    <p:sldId id="629" r:id="rId101"/>
    <p:sldId id="630" r:id="rId102"/>
    <p:sldId id="633" r:id="rId103"/>
    <p:sldId id="635" r:id="rId104"/>
    <p:sldId id="636" r:id="rId105"/>
    <p:sldId id="637" r:id="rId106"/>
    <p:sldId id="639" r:id="rId107"/>
    <p:sldId id="640" r:id="rId108"/>
    <p:sldId id="643" r:id="rId109"/>
    <p:sldId id="765" r:id="rId110"/>
    <p:sldId id="767" r:id="rId111"/>
    <p:sldId id="769" r:id="rId112"/>
    <p:sldId id="770" r:id="rId113"/>
    <p:sldId id="771" r:id="rId114"/>
    <p:sldId id="772" r:id="rId115"/>
    <p:sldId id="773" r:id="rId116"/>
    <p:sldId id="655" r:id="rId117"/>
    <p:sldId id="656" r:id="rId118"/>
    <p:sldId id="759" r:id="rId119"/>
    <p:sldId id="760" r:id="rId120"/>
    <p:sldId id="761" r:id="rId121"/>
    <p:sldId id="762" r:id="rId1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9ED9BD1-C0F1-41EF-AE61-B99363B323AE}">
          <p14:sldIdLst>
            <p14:sldId id="497"/>
          </p14:sldIdLst>
        </p14:section>
        <p14:section name="一 指令流水线基础知识复习" id="{DF24B174-4990-45E5-BCFE-B49E1ABA889D}">
          <p14:sldIdLst>
            <p14:sldId id="694"/>
            <p14:sldId id="691"/>
            <p14:sldId id="498"/>
          </p14:sldIdLst>
        </p14:section>
        <p14:section name="二 指令级并行概念及基本编译技术" id="{69140B64-4ECA-4760-B040-6559FDE4D4E1}">
          <p14:sldIdLst>
            <p14:sldId id="499"/>
            <p14:sldId id="500"/>
            <p14:sldId id="502"/>
            <p14:sldId id="503"/>
            <p14:sldId id="695"/>
            <p14:sldId id="504"/>
            <p14:sldId id="505"/>
            <p14:sldId id="506"/>
            <p14:sldId id="507"/>
            <p14:sldId id="509"/>
            <p14:sldId id="510"/>
            <p14:sldId id="511"/>
            <p14:sldId id="513"/>
            <p14:sldId id="515"/>
            <p14:sldId id="696"/>
            <p14:sldId id="518"/>
            <p14:sldId id="519"/>
            <p14:sldId id="520"/>
            <p14:sldId id="522"/>
          </p14:sldIdLst>
        </p14:section>
        <p14:section name="三 动态调度解决数据冒险" id="{E41B005A-03ED-467C-A321-BD50F5C9A54A}">
          <p14:sldIdLst>
            <p14:sldId id="690"/>
            <p14:sldId id="689"/>
            <p14:sldId id="534"/>
            <p14:sldId id="535"/>
            <p14:sldId id="536"/>
            <p14:sldId id="537"/>
            <p14:sldId id="538"/>
            <p14:sldId id="539"/>
            <p14:sldId id="697"/>
            <p14:sldId id="698"/>
            <p14:sldId id="699"/>
            <p14:sldId id="700"/>
            <p14:sldId id="701"/>
            <p14:sldId id="702"/>
            <p14:sldId id="703"/>
            <p14:sldId id="704"/>
            <p14:sldId id="705"/>
            <p14:sldId id="706"/>
            <p14:sldId id="707"/>
            <p14:sldId id="708"/>
            <p14:sldId id="709"/>
            <p14:sldId id="710"/>
            <p14:sldId id="711"/>
            <p14:sldId id="712"/>
            <p14:sldId id="713"/>
            <p14:sldId id="714"/>
            <p14:sldId id="715"/>
            <p14:sldId id="716"/>
            <p14:sldId id="717"/>
            <p14:sldId id="718"/>
            <p14:sldId id="719"/>
            <p14:sldId id="720"/>
            <p14:sldId id="721"/>
            <p14:sldId id="722"/>
            <p14:sldId id="723"/>
            <p14:sldId id="724"/>
            <p14:sldId id="725"/>
            <p14:sldId id="726"/>
            <p14:sldId id="727"/>
            <p14:sldId id="728"/>
            <p14:sldId id="729"/>
            <p14:sldId id="730"/>
            <p14:sldId id="731"/>
            <p14:sldId id="732"/>
            <p14:sldId id="733"/>
            <p14:sldId id="734"/>
            <p14:sldId id="735"/>
            <p14:sldId id="736"/>
            <p14:sldId id="737"/>
            <p14:sldId id="738"/>
            <p14:sldId id="739"/>
            <p14:sldId id="740"/>
            <p14:sldId id="741"/>
            <p14:sldId id="742"/>
            <p14:sldId id="743"/>
            <p14:sldId id="744"/>
            <p14:sldId id="745"/>
            <p14:sldId id="756"/>
            <p14:sldId id="746"/>
            <p14:sldId id="748"/>
          </p14:sldIdLst>
        </p14:section>
        <p14:section name="四 动态调度解决控制冒险" id="{EACF72B1-8616-4DF3-B53F-8F62EA5E22D0}">
          <p14:sldIdLst>
            <p14:sldId id="603"/>
            <p14:sldId id="604"/>
            <p14:sldId id="605"/>
            <p14:sldId id="606"/>
            <p14:sldId id="607"/>
            <p14:sldId id="609"/>
            <p14:sldId id="610"/>
            <p14:sldId id="611"/>
            <p14:sldId id="612"/>
            <p14:sldId id="758"/>
            <p14:sldId id="614"/>
            <p14:sldId id="618"/>
            <p14:sldId id="620"/>
            <p14:sldId id="621"/>
            <p14:sldId id="623"/>
            <p14:sldId id="757"/>
            <p14:sldId id="629"/>
            <p14:sldId id="630"/>
            <p14:sldId id="633"/>
            <p14:sldId id="635"/>
            <p14:sldId id="636"/>
            <p14:sldId id="637"/>
            <p14:sldId id="639"/>
            <p14:sldId id="640"/>
            <p14:sldId id="643"/>
            <p14:sldId id="765"/>
            <p14:sldId id="767"/>
            <p14:sldId id="769"/>
            <p14:sldId id="770"/>
            <p14:sldId id="771"/>
            <p14:sldId id="772"/>
            <p14:sldId id="773"/>
            <p14:sldId id="655"/>
            <p14:sldId id="656"/>
            <p14:sldId id="759"/>
            <p14:sldId id="760"/>
            <p14:sldId id="761"/>
            <p14:sldId id="7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00"/>
    <a:srgbClr val="CCFFCC"/>
    <a:srgbClr val="FFFF99"/>
    <a:srgbClr val="00FFFF"/>
    <a:srgbClr val="0000CC"/>
    <a:srgbClr val="003399"/>
    <a:srgbClr val="FF0000"/>
    <a:srgbClr val="0099CC"/>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39" autoAdjust="0"/>
    <p:restoredTop sz="76914" autoAdjust="0"/>
  </p:normalViewPr>
  <p:slideViewPr>
    <p:cSldViewPr snapToGrid="0">
      <p:cViewPr varScale="1">
        <p:scale>
          <a:sx n="95" d="100"/>
          <a:sy n="95" d="100"/>
        </p:scale>
        <p:origin x="87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192A0A-DD38-48BE-850C-F6E599DCD3D7}" type="datetimeFigureOut">
              <a:rPr lang="zh-CN" altLang="en-US" smtClean="0"/>
              <a:t>2022/10/17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819324-FDA4-45CF-B699-16CB978923DA}" type="slidenum">
              <a:rPr lang="zh-CN" altLang="en-US" smtClean="0"/>
              <a:t>‹#›</a:t>
            </a:fld>
            <a:endParaRPr lang="zh-CN" altLang="en-US"/>
          </a:p>
        </p:txBody>
      </p:sp>
    </p:spTree>
    <p:extLst>
      <p:ext uri="{BB962C8B-B14F-4D97-AF65-F5344CB8AC3E}">
        <p14:creationId xmlns:p14="http://schemas.microsoft.com/office/powerpoint/2010/main" val="71762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a:ln/>
        </p:spPr>
      </p:sp>
      <p:sp>
        <p:nvSpPr>
          <p:cNvPr id="1187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latin typeface="Arial" panose="020B0604020202020204" pitchFamily="34" charset="0"/>
              </a:rPr>
              <a:t>开发指令级并行对于提升处理器性能而是是不可或缺的。</a:t>
            </a:r>
            <a:endParaRPr lang="en-US" altLang="zh-CN" smtClean="0">
              <a:latin typeface="Arial" panose="020B0604020202020204" pitchFamily="34" charset="0"/>
            </a:endParaRPr>
          </a:p>
          <a:p>
            <a:r>
              <a:rPr lang="zh-CN" altLang="en-US" smtClean="0">
                <a:latin typeface="Arial" panose="020B0604020202020204" pitchFamily="34" charset="0"/>
              </a:rPr>
              <a:t>首先来看流水线处理机的实际</a:t>
            </a:r>
            <a:r>
              <a:rPr lang="en-US" altLang="zh-CN" smtClean="0">
                <a:latin typeface="Arial" panose="020B0604020202020204" pitchFamily="34" charset="0"/>
              </a:rPr>
              <a:t>CPI</a:t>
            </a:r>
            <a:r>
              <a:rPr lang="zh-CN" altLang="en-US" smtClean="0">
                <a:latin typeface="Arial" panose="020B0604020202020204" pitchFamily="34" charset="0"/>
              </a:rPr>
              <a:t>表达式。从上一章“流水线技术”的知识中，我们知道，理论上流水线技术能够成倍的提升指令处理的性能，即，流水线技术能够大幅降低理想</a:t>
            </a:r>
            <a:r>
              <a:rPr lang="en-US" altLang="zh-CN" smtClean="0">
                <a:latin typeface="Arial" panose="020B0604020202020204" pitchFamily="34" charset="0"/>
              </a:rPr>
              <a:t>CPI</a:t>
            </a:r>
            <a:r>
              <a:rPr lang="zh-CN" altLang="en-US" smtClean="0">
                <a:latin typeface="Arial" panose="020B0604020202020204" pitchFamily="34" charset="0"/>
              </a:rPr>
              <a:t>。然而流水线的实际</a:t>
            </a:r>
            <a:r>
              <a:rPr lang="en-US" altLang="zh-CN" smtClean="0">
                <a:latin typeface="Arial" panose="020B0604020202020204" pitchFamily="34" charset="0"/>
              </a:rPr>
              <a:t>CPI</a:t>
            </a:r>
            <a:r>
              <a:rPr lang="zh-CN" altLang="en-US" smtClean="0">
                <a:latin typeface="Arial" panose="020B0604020202020204" pitchFamily="34" charset="0"/>
              </a:rPr>
              <a:t>往往远大于理想</a:t>
            </a:r>
            <a:r>
              <a:rPr lang="en-US" altLang="zh-CN" smtClean="0">
                <a:latin typeface="Arial" panose="020B0604020202020204" pitchFamily="34" charset="0"/>
              </a:rPr>
              <a:t>CPI</a:t>
            </a:r>
            <a:r>
              <a:rPr lang="zh-CN" altLang="en-US" smtClean="0">
                <a:latin typeface="Arial" panose="020B0604020202020204" pitchFamily="34" charset="0"/>
              </a:rPr>
              <a:t>，其原因在于各种流水线冲突，如结构冲突、数据冲突、控制冲突，均会导致流水线停顿、断流，极大的降低了流水线的实际优化效果。因此，需要通过消除各种冲突，从而提升指令在流水线中执行时的可并行性，进而提升流水线的实际性能。</a:t>
            </a:r>
            <a:endParaRPr lang="en-US" altLang="zh-CN" smtClean="0">
              <a:latin typeface="Arial" panose="020B0604020202020204" pitchFamily="34" charset="0"/>
            </a:endParaRPr>
          </a:p>
        </p:txBody>
      </p:sp>
      <p:sp>
        <p:nvSpPr>
          <p:cNvPr id="1187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CF113FC-22B8-4ADC-A38E-74DA9E6D2337}" type="slidenum">
              <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87204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a:ln/>
        </p:spPr>
      </p:sp>
      <p:sp>
        <p:nvSpPr>
          <p:cNvPr id="1208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latin typeface="Arial" panose="020B0604020202020204" pitchFamily="34" charset="0"/>
              </a:rPr>
              <a:t>由于流水线冲突是导致流水线停顿的直接原因，而相关又是导致流水线冲突的主要原因，因此，这一章的内容将围绕消除相关与流水线冲突，或缓解它们的负面影响而展开。</a:t>
            </a:r>
            <a:endParaRPr lang="en-US" altLang="zh-CN" smtClean="0">
              <a:latin typeface="Arial" panose="020B0604020202020204" pitchFamily="34" charset="0"/>
            </a:endParaRPr>
          </a:p>
          <a:p>
            <a:endParaRPr lang="en-US" altLang="zh-CN" smtClean="0">
              <a:latin typeface="Arial" panose="020B0604020202020204" pitchFamily="34" charset="0"/>
            </a:endParaRPr>
          </a:p>
          <a:p>
            <a:r>
              <a:rPr lang="zh-CN" altLang="en-US" smtClean="0">
                <a:latin typeface="Arial" panose="020B0604020202020204" pitchFamily="34" charset="0"/>
              </a:rPr>
              <a:t>在讲解本章的知识之前，我们先回忆一下相关与流水线冲突的基本概念。</a:t>
            </a:r>
            <a:endParaRPr lang="en-US" altLang="zh-CN" smtClean="0">
              <a:latin typeface="Arial" panose="020B0604020202020204" pitchFamily="34" charset="0"/>
            </a:endParaRPr>
          </a:p>
          <a:p>
            <a:r>
              <a:rPr lang="zh-CN" altLang="en-US" smtClean="0">
                <a:latin typeface="Arial" panose="020B0604020202020204" pitchFamily="34" charset="0"/>
              </a:rPr>
              <a:t>首先看相关。</a:t>
            </a:r>
            <a:r>
              <a:rPr lang="zh-CN" altLang="zh-CN" smtClean="0">
                <a:latin typeface="Arial" panose="020B0604020202020204" pitchFamily="34" charset="0"/>
              </a:rPr>
              <a:t>相关是指两条指令之间存在某种依赖关系。如果两条指令相关，则它们就有可能不能在流水线中重叠执行或者只能部分重叠执行。相关可分为三类</a:t>
            </a:r>
            <a:r>
              <a:rPr lang="zh-CN" altLang="en-US" smtClean="0">
                <a:latin typeface="Arial" panose="020B0604020202020204" pitchFamily="34" charset="0"/>
              </a:rPr>
              <a:t>，</a:t>
            </a:r>
            <a:r>
              <a:rPr lang="zh-CN" altLang="zh-CN" smtClean="0">
                <a:latin typeface="Arial" panose="020B0604020202020204" pitchFamily="34" charset="0"/>
              </a:rPr>
              <a:t>数据相关</a:t>
            </a:r>
            <a:r>
              <a:rPr lang="zh-CN" altLang="en-US" smtClean="0">
                <a:latin typeface="Arial" panose="020B0604020202020204" pitchFamily="34" charset="0"/>
              </a:rPr>
              <a:t>，</a:t>
            </a:r>
            <a:r>
              <a:rPr lang="zh-CN" altLang="zh-CN" smtClean="0">
                <a:latin typeface="Arial" panose="020B0604020202020204" pitchFamily="34" charset="0"/>
              </a:rPr>
              <a:t>名相关</a:t>
            </a:r>
            <a:r>
              <a:rPr lang="zh-CN" altLang="en-US" smtClean="0">
                <a:latin typeface="Arial" panose="020B0604020202020204" pitchFamily="34" charset="0"/>
              </a:rPr>
              <a:t>，</a:t>
            </a:r>
            <a:r>
              <a:rPr lang="zh-CN" altLang="zh-CN" smtClean="0">
                <a:latin typeface="Arial" panose="020B0604020202020204" pitchFamily="34" charset="0"/>
              </a:rPr>
              <a:t>以及控制相关。</a:t>
            </a:r>
            <a:r>
              <a:rPr lang="zh-CN" altLang="en-US" smtClean="0">
                <a:latin typeface="Arial" panose="020B0604020202020204" pitchFamily="34" charset="0"/>
              </a:rPr>
              <a:t>其中，数据相关，又称真数据相关，表示两条指令之间存在生产</a:t>
            </a:r>
            <a:r>
              <a:rPr lang="en-US" altLang="zh-CN" smtClean="0">
                <a:latin typeface="Arial" panose="020B0604020202020204" pitchFamily="34" charset="0"/>
              </a:rPr>
              <a:t>——</a:t>
            </a:r>
            <a:r>
              <a:rPr lang="zh-CN" altLang="en-US" smtClean="0">
                <a:latin typeface="Arial" panose="020B0604020202020204" pitchFamily="34" charset="0"/>
              </a:rPr>
              <a:t>消费关系。名相关包括反相关与输出相关，这里的反指的是与数据相关相反，即先消费，再生产。在前一章中讲述的经典五段指令流水线中，名相关不会造成影响。控制相关是指分支指令引起的相关。</a:t>
            </a:r>
            <a:endParaRPr lang="en-US" altLang="zh-CN" smtClean="0">
              <a:latin typeface="Arial" panose="020B0604020202020204" pitchFamily="34" charset="0"/>
            </a:endParaRPr>
          </a:p>
          <a:p>
            <a:endParaRPr lang="en-US" altLang="zh-CN" smtClean="0">
              <a:latin typeface="Arial" panose="020B0604020202020204" pitchFamily="34" charset="0"/>
            </a:endParaRPr>
          </a:p>
          <a:p>
            <a:pPr eaLnBrk="1" hangingPunct="1">
              <a:spcBef>
                <a:spcPct val="0"/>
              </a:spcBef>
            </a:pPr>
            <a:r>
              <a:rPr lang="zh-CN" altLang="en-US" smtClean="0">
                <a:latin typeface="Arial" panose="020B0604020202020204" pitchFamily="34" charset="0"/>
              </a:rPr>
              <a:t>相关是程序固有的一种属性，它反映了程序中指令之间的相互依赖关系。相关是引起冲突的主要原因（并非唯一？结构冲突无对应相关）。因此消除相关是减少冲突停顿的一种有效方法。</a:t>
            </a:r>
            <a:endParaRPr lang="en-US" altLang="zh-CN" smtClean="0">
              <a:latin typeface="Arial" panose="020B0604020202020204" pitchFamily="34" charset="0"/>
            </a:endParaRPr>
          </a:p>
          <a:p>
            <a:endParaRPr lang="en-US" altLang="zh-CN" smtClean="0">
              <a:latin typeface="Arial" panose="020B0604020202020204" pitchFamily="34" charset="0"/>
            </a:endParaRPr>
          </a:p>
          <a:p>
            <a:r>
              <a:rPr lang="zh-CN" altLang="en-US" smtClean="0">
                <a:latin typeface="Arial" panose="020B0604020202020204" pitchFamily="34" charset="0"/>
              </a:rPr>
              <a:t>此外，具体的一次相关是否会导致实际冲突的发生以及该冲突会带来多长的停顿，则是流水线的属性。</a:t>
            </a:r>
            <a:r>
              <a:rPr lang="zh-CN" altLang="en-US" smtClean="0">
                <a:latin typeface="宋体" panose="02010600030101010101" pitchFamily="2" charset="-122"/>
              </a:rPr>
              <a:t>在上一章中，我们讲过的</a:t>
            </a:r>
            <a:r>
              <a:rPr lang="zh-CN" altLang="en-US" smtClean="0">
                <a:latin typeface="Arial" panose="020B0604020202020204" pitchFamily="34" charset="0"/>
              </a:rPr>
              <a:t>经典的五段流水线中的分支延迟就是一个很好的例子。改进前，在第四段时判断分支是否成功并产生分支指令的转移地址，将会导致后续</a:t>
            </a:r>
            <a:r>
              <a:rPr lang="en-US" altLang="zh-CN" smtClean="0">
                <a:latin typeface="Arial" panose="020B0604020202020204" pitchFamily="34" charset="0"/>
              </a:rPr>
              <a:t>3</a:t>
            </a:r>
            <a:r>
              <a:rPr lang="zh-CN" altLang="en-US" smtClean="0">
                <a:latin typeface="Arial" panose="020B0604020202020204" pitchFamily="34" charset="0"/>
              </a:rPr>
              <a:t>个周期的延迟。而改进后，第二个周期就已完成上述功能，仅导致</a:t>
            </a:r>
            <a:r>
              <a:rPr lang="en-US" altLang="zh-CN" smtClean="0">
                <a:latin typeface="Arial" panose="020B0604020202020204" pitchFamily="34" charset="0"/>
              </a:rPr>
              <a:t>1</a:t>
            </a:r>
            <a:r>
              <a:rPr lang="zh-CN" altLang="en-US" smtClean="0">
                <a:latin typeface="Arial" panose="020B0604020202020204" pitchFamily="34" charset="0"/>
              </a:rPr>
              <a:t>个周期的延迟。即，同样的分支延迟，在改进前与改进后的流水线上，带来的停顿是不同的，取决于流水线的属性。</a:t>
            </a:r>
          </a:p>
          <a:p>
            <a:endParaRPr lang="en-US" altLang="zh-CN" smtClean="0">
              <a:latin typeface="Arial" panose="020B0604020202020204" pitchFamily="34" charset="0"/>
            </a:endParaRPr>
          </a:p>
          <a:p>
            <a:r>
              <a:rPr lang="zh-CN" altLang="en-US" smtClean="0">
                <a:latin typeface="Arial" panose="020B0604020202020204" pitchFamily="34" charset="0"/>
              </a:rPr>
              <a:t>再来看流水线冲突。其也可分为三类，结构冲突，数据冲突，以及控制冲突。其中，结构冲突是指，</a:t>
            </a:r>
            <a:r>
              <a:rPr lang="zh-CN" altLang="en-US" smtClean="0">
                <a:latin typeface="黑体" panose="02010609060101010101" pitchFamily="49" charset="-122"/>
              </a:rPr>
              <a:t>因硬件资源满足不了指令重叠执行的要求而发生的冲突。</a:t>
            </a:r>
            <a:r>
              <a:rPr lang="zh-CN" altLang="en-US" smtClean="0">
                <a:solidFill>
                  <a:srgbClr val="FF0000"/>
                </a:solidFill>
                <a:latin typeface="黑体" panose="02010609060101010101" pitchFamily="49" charset="-122"/>
              </a:rPr>
              <a:t>数据冲突是指，</a:t>
            </a:r>
            <a:r>
              <a:rPr lang="zh-CN" altLang="en-US" smtClean="0">
                <a:latin typeface="黑体" panose="02010609060101010101" pitchFamily="49" charset="-122"/>
              </a:rPr>
              <a:t>当指令在流水线中重叠执行时，因需要用到前面指令的执行结果而发生的冲突。</a:t>
            </a:r>
            <a:r>
              <a:rPr lang="zh-CN" altLang="en-US" smtClean="0">
                <a:solidFill>
                  <a:srgbClr val="FF0000"/>
                </a:solidFill>
                <a:latin typeface="黑体" panose="02010609060101010101" pitchFamily="49" charset="-122"/>
              </a:rPr>
              <a:t>而控制冲突是指，</a:t>
            </a:r>
            <a:r>
              <a:rPr lang="zh-CN" altLang="en-US" smtClean="0">
                <a:latin typeface="宋体" panose="02010600030101010101" pitchFamily="2" charset="-122"/>
              </a:rPr>
              <a:t>流水线遇到分支指令和其它会改变</a:t>
            </a:r>
            <a:r>
              <a:rPr lang="en-US" altLang="zh-CN" smtClean="0">
                <a:solidFill>
                  <a:srgbClr val="9933FF"/>
                </a:solidFill>
                <a:latin typeface="宋体" panose="02010600030101010101" pitchFamily="2" charset="-122"/>
              </a:rPr>
              <a:t>PC</a:t>
            </a:r>
            <a:r>
              <a:rPr lang="zh-CN" altLang="en-US" smtClean="0">
                <a:latin typeface="宋体" panose="02010600030101010101" pitchFamily="2" charset="-122"/>
              </a:rPr>
              <a:t>值的指令所引起的冲突。相关是引发冲突的主要原因，其中数据相关与名相关可能导致数据冲突，而控制相关可能导致控制冲突。</a:t>
            </a:r>
            <a:endParaRPr lang="en-US" altLang="zh-CN" smtClean="0">
              <a:latin typeface="宋体" panose="02010600030101010101" pitchFamily="2" charset="-122"/>
            </a:endParaRPr>
          </a:p>
          <a:p>
            <a:endParaRPr lang="en-US" altLang="zh-CN" smtClean="0">
              <a:latin typeface="宋体" panose="02010600030101010101" pitchFamily="2" charset="-122"/>
            </a:endParaRPr>
          </a:p>
          <a:p>
            <a:endParaRPr lang="en-US" altLang="zh-CN" smtClean="0">
              <a:latin typeface="Arial" panose="020B0604020202020204" pitchFamily="34" charset="0"/>
            </a:endParaRPr>
          </a:p>
        </p:txBody>
      </p:sp>
      <p:sp>
        <p:nvSpPr>
          <p:cNvPr id="1208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F395227-BC12-4D25-A6C2-FB6275A5FBC4}" type="slidenum">
              <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20954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a:ln/>
        </p:spPr>
      </p:sp>
      <p:sp>
        <p:nvSpPr>
          <p:cNvPr id="1208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latin typeface="Arial" panose="020B0604020202020204" pitchFamily="34" charset="0"/>
              </a:rPr>
              <a:t>由于流水线冲突是导致流水线停顿的直接原因，而相关又是导致流水线冲突的主要原因，因此，这一章的内容将围绕消除相关与流水线冲突，或缓解它们的负面影响而展开。</a:t>
            </a:r>
            <a:endParaRPr lang="en-US" altLang="zh-CN" smtClean="0">
              <a:latin typeface="Arial" panose="020B0604020202020204" pitchFamily="34" charset="0"/>
            </a:endParaRPr>
          </a:p>
          <a:p>
            <a:endParaRPr lang="en-US" altLang="zh-CN" smtClean="0">
              <a:latin typeface="Arial" panose="020B0604020202020204" pitchFamily="34" charset="0"/>
            </a:endParaRPr>
          </a:p>
          <a:p>
            <a:r>
              <a:rPr lang="zh-CN" altLang="en-US" smtClean="0">
                <a:latin typeface="Arial" panose="020B0604020202020204" pitchFamily="34" charset="0"/>
              </a:rPr>
              <a:t>在讲解本章的知识之前，我们先回忆一下相关与流水线冲突的基本概念。</a:t>
            </a:r>
            <a:endParaRPr lang="en-US" altLang="zh-CN" smtClean="0">
              <a:latin typeface="Arial" panose="020B0604020202020204" pitchFamily="34" charset="0"/>
            </a:endParaRPr>
          </a:p>
          <a:p>
            <a:r>
              <a:rPr lang="zh-CN" altLang="en-US" smtClean="0">
                <a:latin typeface="Arial" panose="020B0604020202020204" pitchFamily="34" charset="0"/>
              </a:rPr>
              <a:t>首先看相关。</a:t>
            </a:r>
            <a:r>
              <a:rPr lang="zh-CN" altLang="zh-CN" smtClean="0">
                <a:latin typeface="Arial" panose="020B0604020202020204" pitchFamily="34" charset="0"/>
              </a:rPr>
              <a:t>相关是指两条指令之间存在某种依赖关系。如果两条指令相关，则它们就有可能不能在流水线中重叠执行或者只能部分重叠执行。相关可分为三类</a:t>
            </a:r>
            <a:r>
              <a:rPr lang="zh-CN" altLang="en-US" smtClean="0">
                <a:latin typeface="Arial" panose="020B0604020202020204" pitchFamily="34" charset="0"/>
              </a:rPr>
              <a:t>，</a:t>
            </a:r>
            <a:r>
              <a:rPr lang="zh-CN" altLang="zh-CN" smtClean="0">
                <a:latin typeface="Arial" panose="020B0604020202020204" pitchFamily="34" charset="0"/>
              </a:rPr>
              <a:t>数据相关</a:t>
            </a:r>
            <a:r>
              <a:rPr lang="zh-CN" altLang="en-US" smtClean="0">
                <a:latin typeface="Arial" panose="020B0604020202020204" pitchFamily="34" charset="0"/>
              </a:rPr>
              <a:t>，</a:t>
            </a:r>
            <a:r>
              <a:rPr lang="zh-CN" altLang="zh-CN" smtClean="0">
                <a:latin typeface="Arial" panose="020B0604020202020204" pitchFamily="34" charset="0"/>
              </a:rPr>
              <a:t>名相关</a:t>
            </a:r>
            <a:r>
              <a:rPr lang="zh-CN" altLang="en-US" smtClean="0">
                <a:latin typeface="Arial" panose="020B0604020202020204" pitchFamily="34" charset="0"/>
              </a:rPr>
              <a:t>，</a:t>
            </a:r>
            <a:r>
              <a:rPr lang="zh-CN" altLang="zh-CN" smtClean="0">
                <a:latin typeface="Arial" panose="020B0604020202020204" pitchFamily="34" charset="0"/>
              </a:rPr>
              <a:t>以及控制相关。</a:t>
            </a:r>
            <a:r>
              <a:rPr lang="zh-CN" altLang="en-US" smtClean="0">
                <a:latin typeface="Arial" panose="020B0604020202020204" pitchFamily="34" charset="0"/>
              </a:rPr>
              <a:t>其中，数据相关，又称真数据相关，表示两条指令之间存在生产</a:t>
            </a:r>
            <a:r>
              <a:rPr lang="en-US" altLang="zh-CN" smtClean="0">
                <a:latin typeface="Arial" panose="020B0604020202020204" pitchFamily="34" charset="0"/>
              </a:rPr>
              <a:t>——</a:t>
            </a:r>
            <a:r>
              <a:rPr lang="zh-CN" altLang="en-US" smtClean="0">
                <a:latin typeface="Arial" panose="020B0604020202020204" pitchFamily="34" charset="0"/>
              </a:rPr>
              <a:t>消费关系。名相关包括反相关与输出相关，这里的反指的是与数据相关相反，即先消费，再生产。在前一章中讲述的经典五段指令流水线中，名相关不会造成影响。控制相关是指分支指令引起的相关。</a:t>
            </a:r>
            <a:endParaRPr lang="en-US" altLang="zh-CN" smtClean="0">
              <a:latin typeface="Arial" panose="020B0604020202020204" pitchFamily="34" charset="0"/>
            </a:endParaRPr>
          </a:p>
          <a:p>
            <a:endParaRPr lang="en-US" altLang="zh-CN" smtClean="0">
              <a:latin typeface="Arial" panose="020B0604020202020204" pitchFamily="34" charset="0"/>
            </a:endParaRPr>
          </a:p>
          <a:p>
            <a:pPr eaLnBrk="1" hangingPunct="1">
              <a:spcBef>
                <a:spcPct val="0"/>
              </a:spcBef>
            </a:pPr>
            <a:r>
              <a:rPr lang="zh-CN" altLang="en-US" smtClean="0">
                <a:latin typeface="Arial" panose="020B0604020202020204" pitchFamily="34" charset="0"/>
              </a:rPr>
              <a:t>相关是程序固有的一种属性，它反映了程序中指令之间的相互依赖关系。相关是引起冲突的主要原因（并非唯一？结构冲突无对应相关）。因此消除相关是减少冲突停顿的一种有效方法。</a:t>
            </a:r>
            <a:endParaRPr lang="en-US" altLang="zh-CN" smtClean="0">
              <a:latin typeface="Arial" panose="020B0604020202020204" pitchFamily="34" charset="0"/>
            </a:endParaRPr>
          </a:p>
          <a:p>
            <a:endParaRPr lang="en-US" altLang="zh-CN" smtClean="0">
              <a:latin typeface="Arial" panose="020B0604020202020204" pitchFamily="34" charset="0"/>
            </a:endParaRPr>
          </a:p>
          <a:p>
            <a:r>
              <a:rPr lang="zh-CN" altLang="en-US" smtClean="0">
                <a:latin typeface="Arial" panose="020B0604020202020204" pitchFamily="34" charset="0"/>
              </a:rPr>
              <a:t>此外，具体的一次相关是否会导致实际冲突的发生以及该冲突会带来多长的停顿，则是流水线的属性。</a:t>
            </a:r>
            <a:r>
              <a:rPr lang="zh-CN" altLang="en-US" smtClean="0">
                <a:latin typeface="宋体" panose="02010600030101010101" pitchFamily="2" charset="-122"/>
              </a:rPr>
              <a:t>在上一章中，我们讲过的</a:t>
            </a:r>
            <a:r>
              <a:rPr lang="zh-CN" altLang="en-US" smtClean="0">
                <a:latin typeface="Arial" panose="020B0604020202020204" pitchFamily="34" charset="0"/>
              </a:rPr>
              <a:t>经典的五段流水线中的分支延迟就是一个很好的例子。改进前，在第四段时判断分支是否成功并产生分支指令的转移地址，将会导致后续</a:t>
            </a:r>
            <a:r>
              <a:rPr lang="en-US" altLang="zh-CN" smtClean="0">
                <a:latin typeface="Arial" panose="020B0604020202020204" pitchFamily="34" charset="0"/>
              </a:rPr>
              <a:t>3</a:t>
            </a:r>
            <a:r>
              <a:rPr lang="zh-CN" altLang="en-US" smtClean="0">
                <a:latin typeface="Arial" panose="020B0604020202020204" pitchFamily="34" charset="0"/>
              </a:rPr>
              <a:t>个周期的延迟。而改进后，第二个周期就已完成上述功能，仅导致</a:t>
            </a:r>
            <a:r>
              <a:rPr lang="en-US" altLang="zh-CN" smtClean="0">
                <a:latin typeface="Arial" panose="020B0604020202020204" pitchFamily="34" charset="0"/>
              </a:rPr>
              <a:t>1</a:t>
            </a:r>
            <a:r>
              <a:rPr lang="zh-CN" altLang="en-US" smtClean="0">
                <a:latin typeface="Arial" panose="020B0604020202020204" pitchFamily="34" charset="0"/>
              </a:rPr>
              <a:t>个周期的延迟。即，同样的分支延迟，在改进前与改进后的流水线上，带来的停顿是不同的，取决于流水线的属性。</a:t>
            </a:r>
          </a:p>
          <a:p>
            <a:endParaRPr lang="en-US" altLang="zh-CN" smtClean="0">
              <a:latin typeface="Arial" panose="020B0604020202020204" pitchFamily="34" charset="0"/>
            </a:endParaRPr>
          </a:p>
          <a:p>
            <a:r>
              <a:rPr lang="zh-CN" altLang="en-US" smtClean="0">
                <a:latin typeface="Arial" panose="020B0604020202020204" pitchFamily="34" charset="0"/>
              </a:rPr>
              <a:t>再来看流水线冲突。其也可分为三类，结构冲突，数据冲突，以及控制冲突。其中，结构冲突是指，</a:t>
            </a:r>
            <a:r>
              <a:rPr lang="zh-CN" altLang="en-US" smtClean="0">
                <a:latin typeface="黑体" panose="02010609060101010101" pitchFamily="49" charset="-122"/>
              </a:rPr>
              <a:t>因硬件资源满足不了指令重叠执行的要求而发生的冲突。</a:t>
            </a:r>
            <a:r>
              <a:rPr lang="zh-CN" altLang="en-US" smtClean="0">
                <a:solidFill>
                  <a:srgbClr val="FF0000"/>
                </a:solidFill>
                <a:latin typeface="黑体" panose="02010609060101010101" pitchFamily="49" charset="-122"/>
              </a:rPr>
              <a:t>数据冲突是指，</a:t>
            </a:r>
            <a:r>
              <a:rPr lang="zh-CN" altLang="en-US" smtClean="0">
                <a:latin typeface="黑体" panose="02010609060101010101" pitchFamily="49" charset="-122"/>
              </a:rPr>
              <a:t>当指令在流水线中重叠执行时，因需要用到前面指令的执行结果而发生的冲突。</a:t>
            </a:r>
            <a:r>
              <a:rPr lang="zh-CN" altLang="en-US" smtClean="0">
                <a:solidFill>
                  <a:srgbClr val="FF0000"/>
                </a:solidFill>
                <a:latin typeface="黑体" panose="02010609060101010101" pitchFamily="49" charset="-122"/>
              </a:rPr>
              <a:t>而控制冲突是指，</a:t>
            </a:r>
            <a:r>
              <a:rPr lang="zh-CN" altLang="en-US" smtClean="0">
                <a:latin typeface="宋体" panose="02010600030101010101" pitchFamily="2" charset="-122"/>
              </a:rPr>
              <a:t>流水线遇到分支指令和其它会改变</a:t>
            </a:r>
            <a:r>
              <a:rPr lang="en-US" altLang="zh-CN" smtClean="0">
                <a:solidFill>
                  <a:srgbClr val="9933FF"/>
                </a:solidFill>
                <a:latin typeface="宋体" panose="02010600030101010101" pitchFamily="2" charset="-122"/>
              </a:rPr>
              <a:t>PC</a:t>
            </a:r>
            <a:r>
              <a:rPr lang="zh-CN" altLang="en-US" smtClean="0">
                <a:latin typeface="宋体" panose="02010600030101010101" pitchFamily="2" charset="-122"/>
              </a:rPr>
              <a:t>值的指令所引起的冲突。相关是引发冲突的主要原因，其中数据相关与名相关可能导致数据冲突，而控制相关可能导致控制冲突。</a:t>
            </a:r>
            <a:endParaRPr lang="en-US" altLang="zh-CN" smtClean="0">
              <a:latin typeface="宋体" panose="02010600030101010101" pitchFamily="2" charset="-122"/>
            </a:endParaRPr>
          </a:p>
          <a:p>
            <a:endParaRPr lang="en-US" altLang="zh-CN" smtClean="0">
              <a:latin typeface="宋体" panose="02010600030101010101" pitchFamily="2" charset="-122"/>
            </a:endParaRPr>
          </a:p>
          <a:p>
            <a:endParaRPr lang="en-US" altLang="zh-CN" smtClean="0">
              <a:latin typeface="Arial" panose="020B0604020202020204" pitchFamily="34" charset="0"/>
            </a:endParaRPr>
          </a:p>
        </p:txBody>
      </p:sp>
      <p:sp>
        <p:nvSpPr>
          <p:cNvPr id="1208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F395227-BC12-4D25-A6C2-FB6275A5FBC4}" type="slidenum">
              <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770979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latin typeface="Arial" panose="020B0604020202020204" pitchFamily="34" charset="0"/>
              </a:rPr>
              <a:t>有两类办法可以消除相关。</a:t>
            </a:r>
            <a:endParaRPr lang="en-US" altLang="zh-CN" smtClean="0">
              <a:latin typeface="Arial" panose="020B0604020202020204" pitchFamily="34" charset="0"/>
            </a:endParaRPr>
          </a:p>
          <a:p>
            <a:r>
              <a:rPr lang="zh-CN" altLang="en-US" smtClean="0">
                <a:latin typeface="Arial" panose="020B0604020202020204" pitchFamily="34" charset="0"/>
              </a:rPr>
              <a:t>一类是保持相关，但避免发生冲突。典型的例子就是上一章讲到的指令调度方法。</a:t>
            </a:r>
            <a:endParaRPr lang="en-US" altLang="zh-CN" smtClean="0">
              <a:latin typeface="Arial" panose="020B0604020202020204" pitchFamily="34" charset="0"/>
            </a:endParaRPr>
          </a:p>
          <a:p>
            <a:r>
              <a:rPr lang="zh-CN" altLang="en-US" smtClean="0">
                <a:latin typeface="Arial" panose="020B0604020202020204" pitchFamily="34" charset="0"/>
              </a:rPr>
              <a:t>另一类是通过代码变换，消除相关。例如，上一章讲到的寄存器重命名技术。</a:t>
            </a:r>
            <a:endParaRPr lang="en-US" altLang="zh-CN" smtClean="0">
              <a:latin typeface="Arial" panose="020B0604020202020204" pitchFamily="34" charset="0"/>
            </a:endParaRPr>
          </a:p>
        </p:txBody>
      </p:sp>
      <p:sp>
        <p:nvSpPr>
          <p:cNvPr id="1228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06930D2-8624-4BE2-8DF9-F055206F6766}" type="slidenum">
              <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967456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latin typeface="Arial" panose="020B0604020202020204" pitchFamily="34" charset="0"/>
              </a:rPr>
              <a:t>本章中涉及的开发指令级并行的方法包含两类，一是基于硬件的动态开发方法，二是基于软件的静态开发方法。</a:t>
            </a:r>
            <a:endParaRPr lang="en-US" altLang="zh-CN" smtClean="0">
              <a:latin typeface="Arial" panose="020B0604020202020204" pitchFamily="34" charset="0"/>
            </a:endParaRPr>
          </a:p>
          <a:p>
            <a:r>
              <a:rPr lang="zh-CN" altLang="en-US" smtClean="0">
                <a:latin typeface="Arial" panose="020B0604020202020204" pitchFamily="34" charset="0"/>
              </a:rPr>
              <a:t>必要时，还能采取软件与硬件技术相结合的方式，最大程度地挖掘出程序中存在的指令级并行。</a:t>
            </a:r>
          </a:p>
          <a:p>
            <a:endParaRPr lang="en-US" altLang="zh-CN" smtClean="0">
              <a:latin typeface="Arial" panose="020B0604020202020204" pitchFamily="34" charset="0"/>
            </a:endParaRPr>
          </a:p>
        </p:txBody>
      </p:sp>
      <p:sp>
        <p:nvSpPr>
          <p:cNvPr id="1249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E60C4AA-31F0-4196-8805-0DBB9BFB194F}" type="slidenum">
              <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788265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819324-FDA4-45CF-B699-16CB978923DA}" type="slidenum">
              <a:rPr lang="zh-CN" altLang="en-US" smtClean="0"/>
              <a:t>85</a:t>
            </a:fld>
            <a:endParaRPr lang="zh-CN" altLang="en-US"/>
          </a:p>
        </p:txBody>
      </p:sp>
    </p:spTree>
    <p:extLst>
      <p:ext uri="{BB962C8B-B14F-4D97-AF65-F5344CB8AC3E}">
        <p14:creationId xmlns:p14="http://schemas.microsoft.com/office/powerpoint/2010/main" val="625235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按照例题的设计，所有的指令，</a:t>
            </a:r>
            <a:endParaRPr lang="en-US" altLang="zh-CN" dirty="0" smtClean="0"/>
          </a:p>
          <a:p>
            <a:r>
              <a:rPr lang="zh-CN" altLang="en-US" dirty="0" smtClean="0"/>
              <a:t>写回后，清空保留站；</a:t>
            </a:r>
            <a:endParaRPr lang="en-US" altLang="zh-CN" dirty="0" smtClean="0"/>
          </a:p>
          <a:p>
            <a:r>
              <a:rPr lang="zh-CN" altLang="en-US" dirty="0" smtClean="0"/>
              <a:t>确认后，清空寄存器状态表。</a:t>
            </a:r>
            <a:endParaRPr lang="zh-CN" altLang="en-US" dirty="0"/>
          </a:p>
        </p:txBody>
      </p:sp>
      <p:sp>
        <p:nvSpPr>
          <p:cNvPr id="4" name="灯片编号占位符 3"/>
          <p:cNvSpPr>
            <a:spLocks noGrp="1"/>
          </p:cNvSpPr>
          <p:nvPr>
            <p:ph type="sldNum" sz="quarter" idx="10"/>
          </p:nvPr>
        </p:nvSpPr>
        <p:spPr/>
        <p:txBody>
          <a:bodyPr/>
          <a:lstStyle/>
          <a:p>
            <a:fld id="{19819324-FDA4-45CF-B699-16CB978923DA}" type="slidenum">
              <a:rPr lang="zh-CN" altLang="en-US" smtClean="0"/>
              <a:t>119</a:t>
            </a:fld>
            <a:endParaRPr lang="zh-CN" altLang="en-US"/>
          </a:p>
        </p:txBody>
      </p:sp>
    </p:spTree>
    <p:extLst>
      <p:ext uri="{BB962C8B-B14F-4D97-AF65-F5344CB8AC3E}">
        <p14:creationId xmlns:p14="http://schemas.microsoft.com/office/powerpoint/2010/main" val="806574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我认为是确认后，清除寄存器状态表。</a:t>
            </a:r>
            <a:endParaRPr lang="en-US" altLang="zh-CN" dirty="0" smtClean="0"/>
          </a:p>
          <a:p>
            <a:r>
              <a:rPr lang="zh-CN" altLang="en-US" dirty="0" smtClean="0"/>
              <a:t>因为没有确认的时候，进入保留站的指令还要去读寄存器状态表，找数据相关的</a:t>
            </a:r>
            <a:r>
              <a:rPr lang="en-US" altLang="zh-CN" dirty="0" smtClean="0"/>
              <a:t>ROB</a:t>
            </a:r>
            <a:r>
              <a:rPr lang="zh-CN" altLang="en-US" smtClean="0"/>
              <a:t>编号。</a:t>
            </a:r>
            <a:endParaRPr lang="zh-CN" altLang="en-US" dirty="0"/>
          </a:p>
        </p:txBody>
      </p:sp>
      <p:sp>
        <p:nvSpPr>
          <p:cNvPr id="4" name="灯片编号占位符 3"/>
          <p:cNvSpPr>
            <a:spLocks noGrp="1"/>
          </p:cNvSpPr>
          <p:nvPr>
            <p:ph type="sldNum" sz="quarter" idx="10"/>
          </p:nvPr>
        </p:nvSpPr>
        <p:spPr/>
        <p:txBody>
          <a:bodyPr/>
          <a:lstStyle/>
          <a:p>
            <a:fld id="{19819324-FDA4-45CF-B699-16CB978923DA}" type="slidenum">
              <a:rPr lang="zh-CN" altLang="en-US" smtClean="0"/>
              <a:t>121</a:t>
            </a:fld>
            <a:endParaRPr lang="zh-CN" altLang="en-US"/>
          </a:p>
        </p:txBody>
      </p:sp>
    </p:spTree>
    <p:extLst>
      <p:ext uri="{BB962C8B-B14F-4D97-AF65-F5344CB8AC3E}">
        <p14:creationId xmlns:p14="http://schemas.microsoft.com/office/powerpoint/2010/main" val="3289389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DF6BDDE3-65BA-486E-A031-3502EE335418}" type="datetimeFigureOut">
              <a:rPr lang="zh-CN" altLang="en-US" smtClean="0"/>
              <a:t>2022/10/17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1016814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F6BDDE3-65BA-486E-A031-3502EE335418}" type="datetimeFigureOut">
              <a:rPr lang="zh-CN" altLang="en-US" smtClean="0"/>
              <a:t>2022/10/17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1393099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DF6BDDE3-65BA-486E-A031-3502EE335418}" type="datetimeFigureOut">
              <a:rPr lang="zh-CN" altLang="en-US" smtClean="0"/>
              <a:t>2022/10/17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4158959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F6BDDE3-65BA-486E-A031-3502EE335418}" type="datetimeFigureOut">
              <a:rPr lang="zh-CN" altLang="en-US" smtClean="0"/>
              <a:t>2022/10/17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3509116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F6BDDE3-65BA-486E-A031-3502EE335418}" type="datetimeFigureOut">
              <a:rPr lang="zh-CN" altLang="en-US" smtClean="0"/>
              <a:t>2022/10/17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1731555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F6BDDE3-65BA-486E-A031-3502EE335418}" type="datetimeFigureOut">
              <a:rPr lang="zh-CN" altLang="en-US" smtClean="0"/>
              <a:t>2022/10/17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3771082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F6BDDE3-65BA-486E-A031-3502EE335418}" type="datetimeFigureOut">
              <a:rPr lang="zh-CN" altLang="en-US" smtClean="0"/>
              <a:t>2022/10/17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2371510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DF6BDDE3-65BA-486E-A031-3502EE335418}" type="datetimeFigureOut">
              <a:rPr lang="zh-CN" altLang="en-US" smtClean="0"/>
              <a:t>2022/10/17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3386049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DF6BDDE3-65BA-486E-A031-3502EE335418}" type="datetimeFigureOut">
              <a:rPr lang="zh-CN" altLang="en-US" smtClean="0"/>
              <a:t>2022/10/17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3767724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F6BDDE3-65BA-486E-A031-3502EE335418}" type="datetimeFigureOut">
              <a:rPr lang="zh-CN" altLang="en-US" smtClean="0"/>
              <a:t>2022/10/17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2802045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F6BDDE3-65BA-486E-A031-3502EE335418}" type="datetimeFigureOut">
              <a:rPr lang="zh-CN" altLang="en-US" smtClean="0"/>
              <a:t>2022/10/17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41006651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181600" y="247650"/>
            <a:ext cx="6807200" cy="381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914400" y="1219200"/>
            <a:ext cx="5080000" cy="4953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219200"/>
            <a:ext cx="5080000" cy="4953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31"/>
          <p:cNvSpPr>
            <a:spLocks noGrp="1" noChangeArrowheads="1"/>
          </p:cNvSpPr>
          <p:nvPr>
            <p:ph type="sldNum" sz="quarter" idx="12"/>
          </p:nvPr>
        </p:nvSpPr>
        <p:spPr>
          <a:ln/>
        </p:spPr>
        <p:txBody>
          <a:bodyPr/>
          <a:lstStyle>
            <a:lvl1pPr>
              <a:defRPr/>
            </a:lvl1pPr>
          </a:lstStyle>
          <a:p>
            <a:pPr>
              <a:defRPr/>
            </a:pPr>
            <a:fld id="{E66E654F-0685-439C-8A49-9FBA08BB2248}" type="slidenum">
              <a:rPr lang="en-US" altLang="zh-CN"/>
              <a:pPr>
                <a:defRPr/>
              </a:pPr>
              <a:t>‹#›</a:t>
            </a:fld>
            <a:endParaRPr lang="en-US" altLang="zh-CN"/>
          </a:p>
        </p:txBody>
      </p:sp>
    </p:spTree>
    <p:extLst>
      <p:ext uri="{BB962C8B-B14F-4D97-AF65-F5344CB8AC3E}">
        <p14:creationId xmlns:p14="http://schemas.microsoft.com/office/powerpoint/2010/main" val="36895609"/>
      </p:ext>
    </p:extLst>
  </p:cSld>
  <p:clrMapOvr>
    <a:masterClrMapping/>
  </p:clrMapOvr>
  <p:transition>
    <p:pull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247650"/>
            <a:ext cx="11074400" cy="59245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031"/>
          <p:cNvSpPr>
            <a:spLocks noGrp="1" noChangeArrowheads="1"/>
          </p:cNvSpPr>
          <p:nvPr>
            <p:ph type="sldNum" sz="quarter" idx="12"/>
          </p:nvPr>
        </p:nvSpPr>
        <p:spPr>
          <a:ln/>
        </p:spPr>
        <p:txBody>
          <a:bodyPr/>
          <a:lstStyle>
            <a:lvl1pPr>
              <a:defRPr/>
            </a:lvl1pPr>
          </a:lstStyle>
          <a:p>
            <a:pPr>
              <a:defRPr/>
            </a:pPr>
            <a:fld id="{89644522-A069-42EB-9E50-8A2E4A7CD5B6}" type="slidenum">
              <a:rPr lang="en-US" altLang="zh-CN"/>
              <a:pPr>
                <a:defRPr/>
              </a:pPr>
              <a:t>‹#›</a:t>
            </a:fld>
            <a:endParaRPr lang="en-US" altLang="zh-CN"/>
          </a:p>
        </p:txBody>
      </p:sp>
    </p:spTree>
    <p:extLst>
      <p:ext uri="{BB962C8B-B14F-4D97-AF65-F5344CB8AC3E}">
        <p14:creationId xmlns:p14="http://schemas.microsoft.com/office/powerpoint/2010/main" val="19181578"/>
      </p:ext>
    </p:extLst>
  </p:cSld>
  <p:clrMapOvr>
    <a:masterClrMapping/>
  </p:clrMapOvr>
  <p:transition>
    <p:pull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181600" y="247650"/>
            <a:ext cx="6807200" cy="381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914400" y="1219200"/>
            <a:ext cx="10363200" cy="4953000"/>
          </a:xfrm>
        </p:spPr>
        <p:txBody>
          <a:bodyPr/>
          <a:lstStyle/>
          <a:p>
            <a:pPr lvl="0"/>
            <a:endParaRPr lang="zh-CN" altLang="en-US" noProof="0" smtClean="0"/>
          </a:p>
        </p:txBody>
      </p:sp>
      <p:sp>
        <p:nvSpPr>
          <p:cNvPr id="4"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31"/>
          <p:cNvSpPr>
            <a:spLocks noGrp="1" noChangeArrowheads="1"/>
          </p:cNvSpPr>
          <p:nvPr>
            <p:ph type="sldNum" sz="quarter" idx="12"/>
          </p:nvPr>
        </p:nvSpPr>
        <p:spPr>
          <a:ln/>
        </p:spPr>
        <p:txBody>
          <a:bodyPr/>
          <a:lstStyle>
            <a:lvl1pPr>
              <a:defRPr/>
            </a:lvl1pPr>
          </a:lstStyle>
          <a:p>
            <a:pPr>
              <a:defRPr/>
            </a:pPr>
            <a:fld id="{4266BB7C-7046-4B72-B3E2-2900439D2617}" type="slidenum">
              <a:rPr lang="en-US" altLang="zh-CN"/>
              <a:pPr>
                <a:defRPr/>
              </a:pPr>
              <a:t>‹#›</a:t>
            </a:fld>
            <a:endParaRPr lang="en-US" altLang="zh-CN"/>
          </a:p>
        </p:txBody>
      </p:sp>
    </p:spTree>
    <p:extLst>
      <p:ext uri="{BB962C8B-B14F-4D97-AF65-F5344CB8AC3E}">
        <p14:creationId xmlns:p14="http://schemas.microsoft.com/office/powerpoint/2010/main" val="2288454000"/>
      </p:ext>
    </p:extLst>
  </p:cSld>
  <p:clrMapOvr>
    <a:masterClrMapping/>
  </p:clrMapOvr>
  <p:transition>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6BDDE3-65BA-486E-A031-3502EE335418}" type="datetimeFigureOut">
              <a:rPr lang="zh-CN" altLang="en-US" smtClean="0"/>
              <a:t>2022/10/17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809B89-61CB-488F-9657-F4BE9515341D}" type="slidenum">
              <a:rPr lang="zh-CN" altLang="en-US" smtClean="0"/>
              <a:t>‹#›</a:t>
            </a:fld>
            <a:endParaRPr lang="zh-CN" altLang="en-US"/>
          </a:p>
        </p:txBody>
      </p:sp>
    </p:spTree>
    <p:extLst>
      <p:ext uri="{BB962C8B-B14F-4D97-AF65-F5344CB8AC3E}">
        <p14:creationId xmlns:p14="http://schemas.microsoft.com/office/powerpoint/2010/main" val="2918970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833" r:id="rId12"/>
    <p:sldLayoutId id="2147483834" r:id="rId13"/>
    <p:sldLayoutId id="214748383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7.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7.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7.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8.png"/><Relationship Id="rId4" Type="http://schemas.openxmlformats.org/officeDocument/2006/relationships/image" Target="../media/image17.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7.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4.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5.e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6.e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7.e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8.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9.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30.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31.e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32.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3.e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34.e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35.e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6.emf"/></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37.e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38.e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39.e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41.png"/><Relationship Id="rId4" Type="http://schemas.openxmlformats.org/officeDocument/2006/relationships/image" Target="../media/image40.e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47.w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49.wm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3.xml"/><Relationship Id="rId1" Type="http://schemas.openxmlformats.org/officeDocument/2006/relationships/vmlDrawing" Target="../drawings/vmlDrawing26.vml"/><Relationship Id="rId4" Type="http://schemas.openxmlformats.org/officeDocument/2006/relationships/image" Target="../media/image50.wmf"/></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3.xml"/><Relationship Id="rId1" Type="http://schemas.openxmlformats.org/officeDocument/2006/relationships/vmlDrawing" Target="../drawings/vmlDrawing27.vml"/><Relationship Id="rId4" Type="http://schemas.openxmlformats.org/officeDocument/2006/relationships/image" Target="../media/image50.wmf"/></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3.xml"/><Relationship Id="rId1" Type="http://schemas.openxmlformats.org/officeDocument/2006/relationships/vmlDrawing" Target="../drawings/vmlDrawing28.vml"/><Relationship Id="rId4" Type="http://schemas.openxmlformats.org/officeDocument/2006/relationships/image" Target="../media/image50.wm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4.xml"/><Relationship Id="rId4" Type="http://schemas.openxmlformats.org/officeDocument/2006/relationships/image" Target="../media/image5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矩形 2"/>
          <p:cNvSpPr/>
          <p:nvPr/>
        </p:nvSpPr>
        <p:spPr>
          <a:xfrm>
            <a:off x="2144994" y="1340991"/>
            <a:ext cx="7375021" cy="2862322"/>
          </a:xfrm>
          <a:prstGeom prst="rect">
            <a:avLst/>
          </a:prstGeom>
        </p:spPr>
        <p:txBody>
          <a:bodyPr wrap="square">
            <a:spAutoFit/>
          </a:bodyPr>
          <a:lstStyle/>
          <a:p>
            <a:pPr algn="ctr"/>
            <a:r>
              <a:rPr lang="zh-CN" altLang="en-US" sz="6000" dirty="0">
                <a:solidFill>
                  <a:prstClr val="black"/>
                </a:solidFill>
                <a:latin typeface="Calibri Light" panose="020F0302020204030204"/>
                <a:cs typeface="+mj-cs"/>
              </a:rPr>
              <a:t>计算机系统结构</a:t>
            </a:r>
            <a:r>
              <a:rPr lang="en-US" altLang="zh-CN" sz="6000" dirty="0">
                <a:solidFill>
                  <a:prstClr val="black"/>
                </a:solidFill>
                <a:latin typeface="Calibri Light" panose="020F0302020204030204"/>
                <a:cs typeface="+mj-cs"/>
              </a:rPr>
              <a:t/>
            </a:r>
            <a:br>
              <a:rPr lang="en-US" altLang="zh-CN" sz="6000" dirty="0">
                <a:solidFill>
                  <a:prstClr val="black"/>
                </a:solidFill>
                <a:latin typeface="Calibri Light" panose="020F0302020204030204"/>
                <a:cs typeface="+mj-cs"/>
              </a:rPr>
            </a:br>
            <a:r>
              <a:rPr lang="en-US" altLang="zh-CN" sz="6000" dirty="0">
                <a:solidFill>
                  <a:prstClr val="black"/>
                </a:solidFill>
                <a:latin typeface="Calibri Light" panose="020F0302020204030204"/>
                <a:cs typeface="+mj-cs"/>
              </a:rPr>
              <a:t/>
            </a:r>
            <a:br>
              <a:rPr lang="en-US" altLang="zh-CN" sz="6000" dirty="0">
                <a:solidFill>
                  <a:prstClr val="black"/>
                </a:solidFill>
                <a:latin typeface="Calibri Light" panose="020F0302020204030204"/>
                <a:cs typeface="+mj-cs"/>
              </a:rPr>
            </a:br>
            <a:r>
              <a:rPr lang="zh-CN" altLang="en-US" sz="6000" dirty="0" smtClean="0">
                <a:solidFill>
                  <a:prstClr val="black"/>
                </a:solidFill>
                <a:latin typeface="Calibri Light" panose="020F0302020204030204"/>
                <a:cs typeface="+mj-cs"/>
              </a:rPr>
              <a:t>指令级并行</a:t>
            </a:r>
            <a:endParaRPr lang="zh-CN" altLang="en-US" dirty="0"/>
          </a:p>
        </p:txBody>
      </p:sp>
    </p:spTree>
    <p:extLst>
      <p:ext uri="{BB962C8B-B14F-4D97-AF65-F5344CB8AC3E}">
        <p14:creationId xmlns:p14="http://schemas.microsoft.com/office/powerpoint/2010/main" val="11449975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4" name="Object 4"/>
          <p:cNvGraphicFramePr>
            <a:graphicFrameLocks noGrp="1" noChangeAspect="1"/>
          </p:cNvGraphicFramePr>
          <p:nvPr>
            <p:ph idx="1"/>
            <p:extLst>
              <p:ext uri="{D42A27DB-BD31-4B8C-83A1-F6EECF244321}">
                <p14:modId xmlns:p14="http://schemas.microsoft.com/office/powerpoint/2010/main" val="975236260"/>
              </p:ext>
            </p:extLst>
          </p:nvPr>
        </p:nvGraphicFramePr>
        <p:xfrm>
          <a:off x="2838605" y="1325843"/>
          <a:ext cx="6550025" cy="1231900"/>
        </p:xfrm>
        <a:graphic>
          <a:graphicData uri="http://schemas.openxmlformats.org/presentationml/2006/ole">
            <mc:AlternateContent xmlns:mc="http://schemas.openxmlformats.org/markup-compatibility/2006">
              <mc:Choice xmlns:v="urn:schemas-microsoft-com:vml" Requires="v">
                <p:oleObj spid="_x0000_s68024" name="图片" r:id="rId3" imgW="3660653" imgH="691525" progId="Word.Picture.8">
                  <p:embed/>
                </p:oleObj>
              </mc:Choice>
              <mc:Fallback>
                <p:oleObj name="图片" r:id="rId3" imgW="3660653" imgH="691525" progId="Word.Picture.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8605" y="1325843"/>
                        <a:ext cx="6550025" cy="123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039333273"/>
              </p:ext>
            </p:extLst>
          </p:nvPr>
        </p:nvGraphicFramePr>
        <p:xfrm>
          <a:off x="2838605" y="3090956"/>
          <a:ext cx="6911975" cy="1300163"/>
        </p:xfrm>
        <a:graphic>
          <a:graphicData uri="http://schemas.openxmlformats.org/presentationml/2006/ole">
            <mc:AlternateContent xmlns:mc="http://schemas.openxmlformats.org/markup-compatibility/2006">
              <mc:Choice xmlns:v="urn:schemas-microsoft-com:vml" Requires="v">
                <p:oleObj spid="_x0000_s68025" name="图片" r:id="rId5" imgW="3660653" imgH="691525" progId="Word.Picture.8">
                  <p:embed/>
                </p:oleObj>
              </mc:Choice>
              <mc:Fallback>
                <p:oleObj name="图片" r:id="rId5" imgW="3660653" imgH="691525" progId="Word.Picture.8">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8605" y="3090956"/>
                        <a:ext cx="6911975" cy="1300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4096470191"/>
              </p:ext>
            </p:extLst>
          </p:nvPr>
        </p:nvGraphicFramePr>
        <p:xfrm>
          <a:off x="2838605" y="4924332"/>
          <a:ext cx="6767513" cy="1273175"/>
        </p:xfrm>
        <a:graphic>
          <a:graphicData uri="http://schemas.openxmlformats.org/presentationml/2006/ole">
            <mc:AlternateContent xmlns:mc="http://schemas.openxmlformats.org/markup-compatibility/2006">
              <mc:Choice xmlns:v="urn:schemas-microsoft-com:vml" Requires="v">
                <p:oleObj spid="_x0000_s68026" name="图片" r:id="rId7" imgW="3660653" imgH="691525" progId="Word.Picture.8">
                  <p:embed/>
                </p:oleObj>
              </mc:Choice>
              <mc:Fallback>
                <p:oleObj name="图片" r:id="rId7" imgW="3660653" imgH="691525" progId="Word.Picture.8">
                  <p:embed/>
                  <p:pic>
                    <p:nvPicPr>
                      <p:cNvPr id="0" name=""/>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8605" y="4924332"/>
                        <a:ext cx="6767513" cy="1273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标题 1"/>
          <p:cNvSpPr>
            <a:spLocks noGrp="1"/>
          </p:cNvSpPr>
          <p:nvPr>
            <p:ph type="title"/>
          </p:nvPr>
        </p:nvSpPr>
        <p:spPr>
          <a:xfrm>
            <a:off x="-1" y="0"/>
            <a:ext cx="6905626" cy="771525"/>
          </a:xfrm>
        </p:spPr>
        <p:txBody>
          <a:bodyPr>
            <a:normAutofit/>
          </a:bodyPr>
          <a:lstStyle/>
          <a:p>
            <a:r>
              <a:rPr lang="zh-CN" altLang="en-US" sz="3600" dirty="0" smtClean="0">
                <a:latin typeface="宋体" panose="02010600030101010101" pitchFamily="2" charset="-122"/>
                <a:ea typeface="宋体" panose="02010600030101010101" pitchFamily="2" charset="-122"/>
              </a:rPr>
              <a:t>一 指令流水线</a:t>
            </a:r>
            <a:r>
              <a:rPr lang="zh-CN" altLang="en-US" sz="3600" dirty="0" smtClean="0">
                <a:latin typeface="宋体" panose="02010600030101010101" pitchFamily="2" charset="-122"/>
                <a:ea typeface="宋体" panose="02010600030101010101" pitchFamily="2" charset="-122"/>
              </a:rPr>
              <a:t>基础知识复习</a:t>
            </a:r>
            <a:endParaRPr lang="zh-CN" altLang="en-US" sz="3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549027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7970016" y="0"/>
            <a:ext cx="4223657" cy="2487411"/>
          </a:xfrm>
          <a:prstGeom prst="rect">
            <a:avLst/>
          </a:prstGeom>
        </p:spPr>
      </p:pic>
      <p:pic>
        <p:nvPicPr>
          <p:cNvPr id="7" name="图片 6"/>
          <p:cNvPicPr>
            <a:picLocks noChangeAspect="1"/>
          </p:cNvPicPr>
          <p:nvPr/>
        </p:nvPicPr>
        <p:blipFill>
          <a:blip r:embed="rId3"/>
          <a:stretch>
            <a:fillRect/>
          </a:stretch>
        </p:blipFill>
        <p:spPr>
          <a:xfrm>
            <a:off x="872714" y="2033810"/>
            <a:ext cx="8497191" cy="5041211"/>
          </a:xfrm>
          <a:prstGeom prst="rect">
            <a:avLst/>
          </a:prstGeom>
        </p:spPr>
      </p:pic>
    </p:spTree>
    <p:extLst>
      <p:ext uri="{BB962C8B-B14F-4D97-AF65-F5344CB8AC3E}">
        <p14:creationId xmlns:p14="http://schemas.microsoft.com/office/powerpoint/2010/main" val="7201634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30722" name="Picture 2" descr="https://p.ananas.chaoxing.com/star3/origin/a9c64f5307a56c718453cde60739726b.png"/>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7726" y="552961"/>
            <a:ext cx="9399960" cy="4993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7121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标题 1"/>
          <p:cNvSpPr txBox="1">
            <a:spLocks/>
          </p:cNvSpPr>
          <p:nvPr/>
        </p:nvSpPr>
        <p:spPr>
          <a:xfrm>
            <a:off x="-1" y="0"/>
            <a:ext cx="7699762" cy="8887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smtClean="0">
                <a:latin typeface="宋体" panose="02010600030101010101" pitchFamily="2" charset="-122"/>
                <a:ea typeface="宋体" panose="02010600030101010101" pitchFamily="2" charset="-122"/>
              </a:rPr>
              <a:t>二</a:t>
            </a:r>
            <a:r>
              <a:rPr lang="en-US" altLang="zh-CN" sz="3600" dirty="0" smtClean="0">
                <a:latin typeface="宋体" panose="02010600030101010101" pitchFamily="2" charset="-122"/>
                <a:ea typeface="宋体" panose="02010600030101010101" pitchFamily="2" charset="-122"/>
              </a:rPr>
              <a:t> </a:t>
            </a:r>
            <a:r>
              <a:rPr lang="zh-CN" altLang="en-US" sz="3600" dirty="0" smtClean="0">
                <a:latin typeface="宋体" panose="02010600030101010101" pitchFamily="2" charset="-122"/>
                <a:ea typeface="宋体" panose="02010600030101010101" pitchFamily="2" charset="-122"/>
              </a:rPr>
              <a:t>指令级并行概念及基本编译技术</a:t>
            </a:r>
            <a:endParaRPr lang="zh-CN" altLang="en-US" sz="3600" dirty="0">
              <a:latin typeface="宋体" panose="02010600030101010101" pitchFamily="2" charset="-122"/>
              <a:ea typeface="宋体" panose="02010600030101010101" pitchFamily="2" charset="-122"/>
            </a:endParaRPr>
          </a:p>
        </p:txBody>
      </p:sp>
      <p:pic>
        <p:nvPicPr>
          <p:cNvPr id="31746" name="Picture 2" descr="https://p.ananas.chaoxing.com/star3/origin/336fa2751c3a243ef7b032104b6c68eb.png"/>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23682" y="888763"/>
            <a:ext cx="6789723" cy="5750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7259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14691" name="Rectangle 3" descr="Rectangle: Click to edit Master text styles&#10;Second level&#10;Third level&#10;Fourth level&#10;Fifth level"/>
          <p:cNvSpPr>
            <a:spLocks noGrp="1" noChangeArrowheads="1"/>
          </p:cNvSpPr>
          <p:nvPr>
            <p:ph idx="1"/>
          </p:nvPr>
        </p:nvSpPr>
        <p:spPr>
          <a:xfrm>
            <a:off x="630105" y="1012018"/>
            <a:ext cx="8983913" cy="4141177"/>
          </a:xfrm>
        </p:spPr>
        <p:txBody>
          <a:bodyPr>
            <a:normAutofit lnSpcReduction="10000"/>
          </a:bodyPr>
          <a:lstStyle/>
          <a:p>
            <a:pPr>
              <a:lnSpc>
                <a:spcPct val="150000"/>
              </a:lnSpc>
            </a:pPr>
            <a:r>
              <a:rPr lang="zh-CN" altLang="en-US" sz="2400" dirty="0" smtClean="0">
                <a:latin typeface="宋体" panose="02010600030101010101" pitchFamily="2" charset="-122"/>
                <a:ea typeface="宋体" panose="02010600030101010101" pitchFamily="2" charset="-122"/>
              </a:rPr>
              <a:t>指令级并行</a:t>
            </a:r>
            <a:r>
              <a:rPr lang="en-US" altLang="zh-CN" sz="2400" dirty="0" smtClean="0">
                <a:latin typeface="宋体" panose="02010600030101010101" pitchFamily="2" charset="-122"/>
                <a:ea typeface="宋体" panose="02010600030101010101" pitchFamily="2" charset="-122"/>
              </a:rPr>
              <a:t>ILP</a:t>
            </a:r>
            <a:r>
              <a:rPr lang="zh-CN" altLang="en-US" sz="2400" dirty="0" smtClean="0">
                <a:latin typeface="宋体" panose="02010600030101010101" pitchFamily="2" charset="-122"/>
                <a:ea typeface="宋体" panose="02010600030101010101" pitchFamily="2" charset="-122"/>
              </a:rPr>
              <a:t>概念</a:t>
            </a:r>
            <a:r>
              <a:rPr lang="en-US" altLang="zh-CN" sz="2400" dirty="0" smtClean="0">
                <a:latin typeface="宋体" panose="02010600030101010101" pitchFamily="2" charset="-122"/>
                <a:ea typeface="宋体" panose="02010600030101010101" pitchFamily="2" charset="-122"/>
              </a:rPr>
              <a:t>:</a:t>
            </a:r>
            <a:r>
              <a:rPr lang="zh-CN" altLang="en-US" sz="2400" dirty="0" smtClean="0">
                <a:latin typeface="宋体" panose="02010600030101010101" pitchFamily="2" charset="-122"/>
                <a:ea typeface="宋体" panose="02010600030101010101" pitchFamily="2" charset="-122"/>
              </a:rPr>
              <a:t>是指存在于指令一级即指令间的并行性</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主要是指机器语言一级</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如存储器访问指令、整型指令、浮点指令之间的并行性等。</a:t>
            </a:r>
            <a:endParaRPr lang="en-US" altLang="zh-CN" sz="2400" dirty="0" smtClean="0">
              <a:latin typeface="宋体" panose="02010600030101010101" pitchFamily="2" charset="-122"/>
              <a:ea typeface="宋体" panose="02010600030101010101" pitchFamily="2" charset="-122"/>
            </a:endParaRPr>
          </a:p>
          <a:p>
            <a:pPr>
              <a:lnSpc>
                <a:spcPct val="150000"/>
              </a:lnSpc>
            </a:pPr>
            <a:endParaRPr lang="en-US" altLang="zh-CN" sz="2400" dirty="0" smtClean="0">
              <a:latin typeface="宋体" panose="02010600030101010101" pitchFamily="2" charset="-122"/>
              <a:ea typeface="宋体" panose="02010600030101010101" pitchFamily="2" charset="-122"/>
            </a:endParaRPr>
          </a:p>
          <a:p>
            <a:pPr>
              <a:lnSpc>
                <a:spcPct val="150000"/>
              </a:lnSpc>
            </a:pPr>
            <a:r>
              <a:rPr lang="zh-CN" altLang="en-US" sz="2400" dirty="0" smtClean="0">
                <a:latin typeface="宋体" panose="02010600030101010101" pitchFamily="2" charset="-122"/>
                <a:ea typeface="宋体" panose="02010600030101010101" pitchFamily="2" charset="-122"/>
              </a:rPr>
              <a:t>指令级并行主要特点</a:t>
            </a:r>
            <a:r>
              <a:rPr lang="en-US" altLang="zh-CN" sz="2400" dirty="0" smtClean="0">
                <a:latin typeface="宋体" panose="02010600030101010101" pitchFamily="2" charset="-122"/>
                <a:ea typeface="宋体" panose="02010600030101010101" pitchFamily="2" charset="-122"/>
              </a:rPr>
              <a:t>:</a:t>
            </a:r>
            <a:r>
              <a:rPr lang="zh-CN" altLang="en-US" sz="2400" dirty="0" smtClean="0">
                <a:latin typeface="宋体" panose="02010600030101010101" pitchFamily="2" charset="-122"/>
                <a:ea typeface="宋体" panose="02010600030101010101" pitchFamily="2" charset="-122"/>
              </a:rPr>
              <a:t>是并行性由处理器硬件和编译程序自动识别和利用</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不需要程序员对顺序程序作任何修改。正是由于这一优点</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使得它的发展与处理器的发展紧密相连。</a:t>
            </a:r>
          </a:p>
          <a:p>
            <a:pPr marL="457200" indent="-457200" eaLnBrk="1" hangingPunct="1"/>
            <a:endParaRPr lang="en-US" altLang="zh-CN" b="1" dirty="0" smtClean="0"/>
          </a:p>
        </p:txBody>
      </p:sp>
      <p:sp>
        <p:nvSpPr>
          <p:cNvPr id="6" name="标题 1"/>
          <p:cNvSpPr txBox="1">
            <a:spLocks/>
          </p:cNvSpPr>
          <p:nvPr/>
        </p:nvSpPr>
        <p:spPr>
          <a:xfrm>
            <a:off x="-1" y="1"/>
            <a:ext cx="7699762" cy="5896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smtClean="0">
                <a:latin typeface="宋体" panose="02010600030101010101" pitchFamily="2" charset="-122"/>
                <a:ea typeface="宋体" panose="02010600030101010101" pitchFamily="2" charset="-122"/>
              </a:rPr>
              <a:t>2.1 </a:t>
            </a:r>
            <a:r>
              <a:rPr lang="zh-CN" altLang="en-US" sz="3200" dirty="0" smtClean="0">
                <a:latin typeface="宋体" panose="02010600030101010101" pitchFamily="2" charset="-122"/>
                <a:ea typeface="宋体" panose="02010600030101010101" pitchFamily="2" charset="-122"/>
              </a:rPr>
              <a:t>指令级并行的概念</a:t>
            </a:r>
            <a:endParaRPr lang="zh-CN" altLang="en-US" sz="3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4109850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290" name="Rectangle 3" descr="Rectangle: Click to edit Master text styles&#10;Second level&#10;Third level&#10;Fourth level&#10;Fifth level"/>
          <p:cNvSpPr>
            <a:spLocks noGrp="1" noChangeArrowheads="1"/>
          </p:cNvSpPr>
          <p:nvPr>
            <p:ph idx="1"/>
          </p:nvPr>
        </p:nvSpPr>
        <p:spPr>
          <a:xfrm>
            <a:off x="673885" y="1185211"/>
            <a:ext cx="10752993" cy="4162425"/>
          </a:xfrm>
        </p:spPr>
        <p:txBody>
          <a:bodyPr/>
          <a:lstStyle/>
          <a:p>
            <a:pPr>
              <a:lnSpc>
                <a:spcPct val="150000"/>
              </a:lnSpc>
              <a:defRPr/>
            </a:pPr>
            <a:r>
              <a:rPr lang="zh-CN" altLang="en-US" sz="2400" dirty="0" smtClean="0">
                <a:latin typeface="宋体" panose="02010600030101010101" pitchFamily="2" charset="-122"/>
                <a:ea typeface="宋体" panose="02010600030101010101" pitchFamily="2" charset="-122"/>
              </a:rPr>
              <a:t>理想</a:t>
            </a:r>
            <a:r>
              <a:rPr lang="en-US" altLang="zh-CN" sz="2400" dirty="0">
                <a:latin typeface="宋体" panose="02010600030101010101" pitchFamily="2" charset="-122"/>
                <a:ea typeface="宋体" panose="02010600030101010101" pitchFamily="2" charset="-122"/>
              </a:rPr>
              <a:t>CPI</a:t>
            </a:r>
            <a:r>
              <a:rPr lang="zh-CN" altLang="en-US" sz="2400" dirty="0">
                <a:latin typeface="宋体" panose="02010600030101010101" pitchFamily="2" charset="-122"/>
                <a:ea typeface="宋体" panose="02010600030101010101" pitchFamily="2" charset="-122"/>
              </a:rPr>
              <a:t>（无冲突）是衡量流水线最高性能的一个指标</a:t>
            </a:r>
            <a:endParaRPr lang="en-US" altLang="zh-CN" sz="2400" dirty="0">
              <a:latin typeface="宋体" panose="02010600030101010101" pitchFamily="2" charset="-122"/>
              <a:ea typeface="宋体" panose="02010600030101010101" pitchFamily="2" charset="-122"/>
            </a:endParaRPr>
          </a:p>
          <a:p>
            <a:pPr>
              <a:lnSpc>
                <a:spcPct val="150000"/>
              </a:lnSpc>
              <a:buClr>
                <a:srgbClr val="40458C"/>
              </a:buClr>
              <a:defRPr/>
            </a:pPr>
            <a:r>
              <a:rPr lang="zh-CN" altLang="en-US" sz="2400" dirty="0" smtClean="0">
                <a:latin typeface="宋体" panose="02010600030101010101" pitchFamily="2" charset="-122"/>
                <a:ea typeface="宋体" panose="02010600030101010101" pitchFamily="2" charset="-122"/>
              </a:rPr>
              <a:t>实际</a:t>
            </a:r>
            <a:r>
              <a:rPr lang="en-US" altLang="zh-CN" sz="2400" dirty="0">
                <a:latin typeface="宋体" panose="02010600030101010101" pitchFamily="2" charset="-122"/>
                <a:ea typeface="宋体" panose="02010600030101010101" pitchFamily="2" charset="-122"/>
              </a:rPr>
              <a:t>CPI</a:t>
            </a:r>
            <a:r>
              <a:rPr lang="zh-CN" altLang="en-US" sz="2400" dirty="0">
                <a:latin typeface="宋体" panose="02010600030101010101" pitchFamily="2" charset="-122"/>
                <a:ea typeface="宋体" panose="02010600030101010101" pitchFamily="2" charset="-122"/>
              </a:rPr>
              <a:t>往往远大于理想</a:t>
            </a:r>
            <a:r>
              <a:rPr lang="en-US" altLang="zh-CN" sz="2400" dirty="0">
                <a:latin typeface="宋体" panose="02010600030101010101" pitchFamily="2" charset="-122"/>
                <a:ea typeface="宋体" panose="02010600030101010101" pitchFamily="2" charset="-122"/>
              </a:rPr>
              <a:t>CPI</a:t>
            </a:r>
            <a:r>
              <a:rPr lang="zh-CN" altLang="en-US" sz="2400" dirty="0">
                <a:latin typeface="宋体" panose="02010600030101010101" pitchFamily="2" charset="-122"/>
                <a:ea typeface="宋体" panose="02010600030101010101" pitchFamily="2" charset="-122"/>
              </a:rPr>
              <a:t>，它是理想流水线的</a:t>
            </a:r>
            <a:r>
              <a:rPr lang="en-US" altLang="zh-CN" sz="2400" dirty="0">
                <a:latin typeface="宋体" panose="02010600030101010101" pitchFamily="2" charset="-122"/>
                <a:ea typeface="宋体" panose="02010600030101010101" pitchFamily="2" charset="-122"/>
              </a:rPr>
              <a:t>CPI</a:t>
            </a:r>
            <a:r>
              <a:rPr lang="zh-CN" altLang="en-US" sz="2400" dirty="0">
                <a:latin typeface="宋体" panose="02010600030101010101" pitchFamily="2" charset="-122"/>
                <a:ea typeface="宋体" panose="02010600030101010101" pitchFamily="2" charset="-122"/>
              </a:rPr>
              <a:t>加上各类停顿的时钟周期数：</a:t>
            </a:r>
            <a:endParaRPr lang="en-US" altLang="zh-CN" sz="2400" dirty="0">
              <a:latin typeface="宋体" panose="02010600030101010101" pitchFamily="2" charset="-122"/>
              <a:ea typeface="宋体" panose="02010600030101010101" pitchFamily="2" charset="-122"/>
            </a:endParaRPr>
          </a:p>
          <a:p>
            <a:pPr marL="457200" lvl="1" indent="0" eaLnBrk="1" hangingPunct="1">
              <a:lnSpc>
                <a:spcPct val="150000"/>
              </a:lnSpc>
              <a:buClr>
                <a:srgbClr val="40458C"/>
              </a:buClr>
              <a:buNone/>
              <a:defRPr/>
            </a:pPr>
            <a:r>
              <a:rPr lang="en-US" altLang="zh-CN" dirty="0" smtClean="0">
                <a:latin typeface="宋体" panose="02010600030101010101" pitchFamily="2" charset="-122"/>
                <a:ea typeface="宋体" panose="02010600030101010101" pitchFamily="2" charset="-122"/>
              </a:rPr>
              <a:t>   CPI</a:t>
            </a:r>
            <a:r>
              <a:rPr lang="zh-CN" altLang="en-US" baseline="-25000" dirty="0">
                <a:latin typeface="宋体" panose="02010600030101010101" pitchFamily="2" charset="-122"/>
                <a:ea typeface="宋体" panose="02010600030101010101" pitchFamily="2" charset="-122"/>
              </a:rPr>
              <a:t>流水线</a:t>
            </a: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 CPI</a:t>
            </a:r>
            <a:r>
              <a:rPr lang="zh-CN" altLang="en-US" baseline="-25000" dirty="0">
                <a:latin typeface="宋体" panose="02010600030101010101" pitchFamily="2" charset="-122"/>
                <a:ea typeface="宋体" panose="02010600030101010101" pitchFamily="2" charset="-122"/>
              </a:rPr>
              <a:t>理想</a:t>
            </a: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停顿</a:t>
            </a:r>
            <a:r>
              <a:rPr lang="zh-CN" altLang="en-US" baseline="-25000" dirty="0">
                <a:latin typeface="宋体" panose="02010600030101010101" pitchFamily="2" charset="-122"/>
                <a:ea typeface="宋体" panose="02010600030101010101" pitchFamily="2" charset="-122"/>
              </a:rPr>
              <a:t>结构冲突</a:t>
            </a: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停顿</a:t>
            </a:r>
            <a:r>
              <a:rPr lang="zh-CN" altLang="en-US" baseline="-25000" dirty="0">
                <a:latin typeface="宋体" panose="02010600030101010101" pitchFamily="2" charset="-122"/>
                <a:ea typeface="宋体" panose="02010600030101010101" pitchFamily="2" charset="-122"/>
              </a:rPr>
              <a:t>数据冲突</a:t>
            </a: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停顿</a:t>
            </a:r>
            <a:r>
              <a:rPr lang="zh-CN" altLang="en-US" baseline="-25000" dirty="0">
                <a:latin typeface="宋体" panose="02010600030101010101" pitchFamily="2" charset="-122"/>
                <a:ea typeface="宋体" panose="02010600030101010101" pitchFamily="2" charset="-122"/>
              </a:rPr>
              <a:t>控制冲突</a:t>
            </a:r>
            <a:endParaRPr lang="en-US" altLang="zh-CN" baseline="-25000" dirty="0">
              <a:latin typeface="宋体" panose="02010600030101010101" pitchFamily="2" charset="-122"/>
              <a:ea typeface="宋体" panose="02010600030101010101" pitchFamily="2" charset="-122"/>
            </a:endParaRPr>
          </a:p>
          <a:p>
            <a:pPr marL="628650" lvl="1" indent="0" eaLnBrk="1" hangingPunct="1">
              <a:lnSpc>
                <a:spcPct val="150000"/>
              </a:lnSpc>
              <a:buClr>
                <a:srgbClr val="40458C"/>
              </a:buClr>
              <a:buNone/>
              <a:defRPr/>
            </a:pPr>
            <a:endParaRPr lang="en-US" altLang="zh-CN" baseline="-25000" dirty="0">
              <a:solidFill>
                <a:srgbClr val="0070C0"/>
              </a:solidFill>
              <a:latin typeface="宋体" panose="02010600030101010101" pitchFamily="2" charset="-122"/>
              <a:ea typeface="宋体" panose="02010600030101010101" pitchFamily="2" charset="-122"/>
            </a:endParaRPr>
          </a:p>
          <a:p>
            <a:pPr>
              <a:lnSpc>
                <a:spcPct val="150000"/>
              </a:lnSpc>
              <a:buClr>
                <a:srgbClr val="40458C"/>
              </a:buClr>
              <a:defRPr/>
            </a:pPr>
            <a:r>
              <a:rPr lang="zh-CN" altLang="en-US" sz="2400" dirty="0" smtClean="0">
                <a:latin typeface="宋体" panose="02010600030101010101" pitchFamily="2" charset="-122"/>
                <a:ea typeface="宋体" panose="02010600030101010101" pitchFamily="2" charset="-122"/>
              </a:rPr>
              <a:t>减少</a:t>
            </a:r>
            <a:r>
              <a:rPr lang="zh-CN" altLang="en-US" sz="2400" dirty="0">
                <a:latin typeface="宋体" panose="02010600030101010101" pitchFamily="2" charset="-122"/>
                <a:ea typeface="宋体" panose="02010600030101010101" pitchFamily="2" charset="-122"/>
              </a:rPr>
              <a:t>等式右端的各项就减少了总</a:t>
            </a:r>
            <a:r>
              <a:rPr lang="zh-CN" altLang="en-US" sz="2400" dirty="0" smtClean="0">
                <a:latin typeface="宋体" panose="02010600030101010101" pitchFamily="2" charset="-122"/>
                <a:ea typeface="宋体" panose="02010600030101010101" pitchFamily="2" charset="-122"/>
              </a:rPr>
              <a:t>的</a:t>
            </a:r>
            <a:r>
              <a:rPr lang="en-US" altLang="zh-CN" sz="2400" dirty="0" smtClean="0">
                <a:latin typeface="宋体" panose="02010600030101010101" pitchFamily="2" charset="-122"/>
                <a:ea typeface="宋体" panose="02010600030101010101" pitchFamily="2" charset="-122"/>
              </a:rPr>
              <a:t>CPI</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从而提高</a:t>
            </a:r>
            <a:r>
              <a:rPr lang="en-US" altLang="zh-CN" sz="2400" dirty="0">
                <a:latin typeface="宋体" panose="02010600030101010101" pitchFamily="2" charset="-122"/>
                <a:ea typeface="宋体" panose="02010600030101010101" pitchFamily="2" charset="-122"/>
              </a:rPr>
              <a:t>IPC.</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Instructions Per Cycle</a:t>
            </a:r>
            <a:r>
              <a:rPr lang="zh-CN" altLang="en-US" sz="2400" dirty="0">
                <a:latin typeface="宋体" panose="02010600030101010101" pitchFamily="2" charset="-122"/>
                <a:ea typeface="宋体" panose="02010600030101010101" pitchFamily="2" charset="-122"/>
              </a:rPr>
              <a:t>：每个时钟周期完成的指令条数）</a:t>
            </a:r>
            <a:endParaRPr lang="en-US" altLang="zh-CN" sz="2400" dirty="0">
              <a:latin typeface="宋体" panose="02010600030101010101" pitchFamily="2" charset="-122"/>
              <a:ea typeface="宋体" panose="02010600030101010101" pitchFamily="2" charset="-122"/>
            </a:endParaRPr>
          </a:p>
          <a:p>
            <a:pPr marL="628650" lvl="1" indent="0" eaLnBrk="1" hangingPunct="1">
              <a:lnSpc>
                <a:spcPct val="110000"/>
              </a:lnSpc>
              <a:buClr>
                <a:srgbClr val="40458C"/>
              </a:buClr>
              <a:buNone/>
              <a:defRPr/>
            </a:pPr>
            <a:endParaRPr lang="en-US" altLang="zh-CN" sz="2000" b="1" baseline="-25000" dirty="0">
              <a:solidFill>
                <a:srgbClr val="000000"/>
              </a:solidFill>
              <a:latin typeface="宋体" panose="02010600030101010101" pitchFamily="2" charset="-122"/>
            </a:endParaRPr>
          </a:p>
          <a:p>
            <a:pPr eaLnBrk="1" hangingPunct="1">
              <a:lnSpc>
                <a:spcPct val="110000"/>
              </a:lnSpc>
              <a:defRPr/>
            </a:pPr>
            <a:endParaRPr lang="en-US" altLang="zh-CN" sz="2800" dirty="0">
              <a:latin typeface="黑体" panose="02010609060101010101" pitchFamily="49" charset="-122"/>
            </a:endParaRPr>
          </a:p>
        </p:txBody>
      </p:sp>
      <p:sp>
        <p:nvSpPr>
          <p:cNvPr id="4" name="标题 1"/>
          <p:cNvSpPr txBox="1">
            <a:spLocks/>
          </p:cNvSpPr>
          <p:nvPr/>
        </p:nvSpPr>
        <p:spPr>
          <a:xfrm>
            <a:off x="-1" y="1"/>
            <a:ext cx="7699762" cy="5896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smtClean="0">
                <a:latin typeface="宋体" panose="02010600030101010101" pitchFamily="2" charset="-122"/>
                <a:ea typeface="宋体" panose="02010600030101010101" pitchFamily="2" charset="-122"/>
              </a:rPr>
              <a:t>2.2 </a:t>
            </a:r>
            <a:r>
              <a:rPr lang="zh-CN" altLang="en-US" sz="3200" dirty="0" smtClean="0">
                <a:latin typeface="宋体" panose="02010600030101010101" pitchFamily="2" charset="-122"/>
                <a:ea typeface="宋体" panose="02010600030101010101" pitchFamily="2" charset="-122"/>
              </a:rPr>
              <a:t>开发指令级并行的重要性</a:t>
            </a:r>
            <a:endParaRPr lang="zh-CN" altLang="en-US" sz="3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403025567"/>
      </p:ext>
    </p:extLst>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6146" name="Rectangle 3" descr="Rectangle: Click to edit Master text styles&#10;Second level&#10;Third level&#10;Fourth level&#10;Fifth level"/>
          <p:cNvSpPr>
            <a:spLocks noGrp="1" noChangeArrowheads="1"/>
          </p:cNvSpPr>
          <p:nvPr>
            <p:ph idx="1"/>
          </p:nvPr>
        </p:nvSpPr>
        <p:spPr>
          <a:xfrm>
            <a:off x="975868" y="918924"/>
            <a:ext cx="8706517" cy="5225501"/>
          </a:xfrm>
        </p:spPr>
        <p:txBody>
          <a:bodyPr>
            <a:normAutofit/>
          </a:bodyPr>
          <a:lstStyle/>
          <a:p>
            <a:pPr>
              <a:lnSpc>
                <a:spcPts val="2800"/>
              </a:lnSpc>
              <a:spcBef>
                <a:spcPts val="600"/>
              </a:spcBef>
              <a:defRPr/>
            </a:pPr>
            <a:r>
              <a:rPr lang="zh-CN" altLang="en-US" sz="2400" dirty="0" smtClean="0">
                <a:latin typeface="宋体" panose="02010600030101010101" pitchFamily="2" charset="-122"/>
                <a:ea typeface="宋体" panose="02010600030101010101" pitchFamily="2" charset="-122"/>
              </a:rPr>
              <a:t>相关</a:t>
            </a:r>
            <a:endParaRPr lang="en-US" altLang="zh-CN" sz="2400" dirty="0" smtClean="0">
              <a:latin typeface="宋体" panose="02010600030101010101" pitchFamily="2" charset="-122"/>
              <a:ea typeface="宋体" panose="02010600030101010101" pitchFamily="2" charset="-122"/>
            </a:endParaRPr>
          </a:p>
          <a:p>
            <a:pPr marL="814388" lvl="1" eaLnBrk="1" hangingPunct="1">
              <a:lnSpc>
                <a:spcPts val="2800"/>
              </a:lnSpc>
              <a:spcBef>
                <a:spcPts val="600"/>
              </a:spcBef>
              <a:defRPr/>
            </a:pPr>
            <a:r>
              <a:rPr lang="zh-CN" altLang="zh-CN" sz="2000" kern="1200" dirty="0">
                <a:latin typeface="宋体" panose="02010600030101010101" pitchFamily="2" charset="-122"/>
                <a:ea typeface="宋体" panose="02010600030101010101" pitchFamily="2" charset="-122"/>
              </a:rPr>
              <a:t>两条指令之间存在某种依赖关系</a:t>
            </a:r>
            <a:endParaRPr lang="en-US" altLang="zh-CN" sz="2000" dirty="0">
              <a:latin typeface="宋体" panose="02010600030101010101" pitchFamily="2" charset="-122"/>
              <a:ea typeface="宋体" panose="02010600030101010101" pitchFamily="2" charset="-122"/>
            </a:endParaRPr>
          </a:p>
          <a:p>
            <a:pPr marL="814388" lvl="1" eaLnBrk="1" hangingPunct="1">
              <a:lnSpc>
                <a:spcPts val="2800"/>
              </a:lnSpc>
              <a:spcBef>
                <a:spcPts val="600"/>
              </a:spcBef>
              <a:defRPr/>
            </a:pPr>
            <a:r>
              <a:rPr lang="zh-CN" altLang="en-US" sz="2000" dirty="0">
                <a:latin typeface="宋体" panose="02010600030101010101" pitchFamily="2" charset="-122"/>
                <a:ea typeface="宋体" panose="02010600030101010101" pitchFamily="2" charset="-122"/>
              </a:rPr>
              <a:t>分类：数据相关、名相关、控制</a:t>
            </a:r>
            <a:r>
              <a:rPr lang="zh-CN" altLang="en-US" sz="2000" dirty="0" smtClean="0">
                <a:latin typeface="宋体" panose="02010600030101010101" pitchFamily="2" charset="-122"/>
                <a:ea typeface="宋体" panose="02010600030101010101" pitchFamily="2" charset="-122"/>
              </a:rPr>
              <a:t>相关</a:t>
            </a:r>
            <a:endParaRPr lang="en-US" altLang="zh-CN" sz="2000" dirty="0">
              <a:latin typeface="宋体" panose="02010600030101010101" pitchFamily="2" charset="-122"/>
              <a:ea typeface="宋体" panose="02010600030101010101" pitchFamily="2" charset="-122"/>
            </a:endParaRPr>
          </a:p>
        </p:txBody>
      </p:sp>
      <p:sp>
        <p:nvSpPr>
          <p:cNvPr id="4" name="标题 1"/>
          <p:cNvSpPr txBox="1">
            <a:spLocks/>
          </p:cNvSpPr>
          <p:nvPr/>
        </p:nvSpPr>
        <p:spPr>
          <a:xfrm>
            <a:off x="-1" y="1"/>
            <a:ext cx="8426154" cy="7007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smtClean="0">
                <a:latin typeface="宋体" panose="02010600030101010101" pitchFamily="2" charset="-122"/>
                <a:ea typeface="宋体" panose="02010600030101010101" pitchFamily="2" charset="-122"/>
              </a:rPr>
              <a:t>2.3 </a:t>
            </a:r>
            <a:r>
              <a:rPr lang="zh-CN" altLang="en-US" sz="3200" dirty="0" smtClean="0">
                <a:latin typeface="宋体" panose="02010600030101010101" pitchFamily="2" charset="-122"/>
                <a:ea typeface="宋体" panose="02010600030101010101" pitchFamily="2" charset="-122"/>
              </a:rPr>
              <a:t>开发</a:t>
            </a:r>
            <a:r>
              <a:rPr lang="zh-CN" altLang="en-US" sz="3200" dirty="0">
                <a:latin typeface="宋体" panose="02010600030101010101" pitchFamily="2" charset="-122"/>
                <a:ea typeface="宋体" panose="02010600030101010101" pitchFamily="2" charset="-122"/>
              </a:rPr>
              <a:t>指令级并行需要解决的具体问题</a:t>
            </a:r>
          </a:p>
        </p:txBody>
      </p:sp>
      <p:pic>
        <p:nvPicPr>
          <p:cNvPr id="2" name="图片 1"/>
          <p:cNvPicPr>
            <a:picLocks noChangeAspect="1"/>
          </p:cNvPicPr>
          <p:nvPr/>
        </p:nvPicPr>
        <p:blipFill>
          <a:blip r:embed="rId3"/>
          <a:stretch>
            <a:fillRect/>
          </a:stretch>
        </p:blipFill>
        <p:spPr>
          <a:xfrm>
            <a:off x="123254" y="2917098"/>
            <a:ext cx="2924175" cy="1343025"/>
          </a:xfrm>
          <a:prstGeom prst="rect">
            <a:avLst/>
          </a:prstGeom>
        </p:spPr>
      </p:pic>
      <p:pic>
        <p:nvPicPr>
          <p:cNvPr id="3" name="图片 2"/>
          <p:cNvPicPr>
            <a:picLocks noChangeAspect="1"/>
          </p:cNvPicPr>
          <p:nvPr/>
        </p:nvPicPr>
        <p:blipFill>
          <a:blip r:embed="rId4"/>
          <a:stretch>
            <a:fillRect/>
          </a:stretch>
        </p:blipFill>
        <p:spPr>
          <a:xfrm>
            <a:off x="3219337" y="2917098"/>
            <a:ext cx="4219575" cy="1323975"/>
          </a:xfrm>
          <a:prstGeom prst="rect">
            <a:avLst/>
          </a:prstGeom>
        </p:spPr>
      </p:pic>
      <p:pic>
        <p:nvPicPr>
          <p:cNvPr id="5" name="图片 4"/>
          <p:cNvPicPr>
            <a:picLocks noChangeAspect="1"/>
          </p:cNvPicPr>
          <p:nvPr/>
        </p:nvPicPr>
        <p:blipFill>
          <a:blip r:embed="rId5"/>
          <a:stretch>
            <a:fillRect/>
          </a:stretch>
        </p:blipFill>
        <p:spPr>
          <a:xfrm>
            <a:off x="7610820" y="2917098"/>
            <a:ext cx="4438650" cy="1752600"/>
          </a:xfrm>
          <a:prstGeom prst="rect">
            <a:avLst/>
          </a:prstGeom>
        </p:spPr>
      </p:pic>
      <p:pic>
        <p:nvPicPr>
          <p:cNvPr id="6" name="图片 5"/>
          <p:cNvPicPr>
            <a:picLocks noChangeAspect="1"/>
          </p:cNvPicPr>
          <p:nvPr/>
        </p:nvPicPr>
        <p:blipFill>
          <a:blip r:embed="rId6"/>
          <a:stretch>
            <a:fillRect/>
          </a:stretch>
        </p:blipFill>
        <p:spPr>
          <a:xfrm>
            <a:off x="-1" y="5181600"/>
            <a:ext cx="4124325" cy="1676400"/>
          </a:xfrm>
          <a:prstGeom prst="rect">
            <a:avLst/>
          </a:prstGeom>
        </p:spPr>
      </p:pic>
    </p:spTree>
    <p:extLst>
      <p:ext uri="{BB962C8B-B14F-4D97-AF65-F5344CB8AC3E}">
        <p14:creationId xmlns:p14="http://schemas.microsoft.com/office/powerpoint/2010/main" val="350641380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6146" name="Rectangle 3" descr="Rectangle: Click to edit Master text styles&#10;Second level&#10;Third level&#10;Fourth level&#10;Fifth level"/>
          <p:cNvSpPr>
            <a:spLocks noGrp="1" noChangeArrowheads="1"/>
          </p:cNvSpPr>
          <p:nvPr>
            <p:ph idx="1"/>
          </p:nvPr>
        </p:nvSpPr>
        <p:spPr>
          <a:xfrm>
            <a:off x="845239" y="687812"/>
            <a:ext cx="9424176" cy="5225501"/>
          </a:xfrm>
        </p:spPr>
        <p:txBody>
          <a:bodyPr>
            <a:normAutofit/>
          </a:bodyPr>
          <a:lstStyle/>
          <a:p>
            <a:pPr>
              <a:lnSpc>
                <a:spcPts val="2800"/>
              </a:lnSpc>
              <a:spcBef>
                <a:spcPts val="600"/>
              </a:spcBef>
              <a:defRPr/>
            </a:pPr>
            <a:r>
              <a:rPr lang="zh-CN" altLang="en-US" sz="2400" dirty="0" smtClean="0">
                <a:latin typeface="宋体" panose="02010600030101010101" pitchFamily="2" charset="-122"/>
                <a:ea typeface="宋体" panose="02010600030101010101" pitchFamily="2" charset="-122"/>
              </a:rPr>
              <a:t>流水线</a:t>
            </a:r>
            <a:r>
              <a:rPr lang="zh-CN" altLang="en-US" sz="2400" dirty="0">
                <a:latin typeface="宋体" panose="02010600030101010101" pitchFamily="2" charset="-122"/>
                <a:ea typeface="宋体" panose="02010600030101010101" pitchFamily="2" charset="-122"/>
              </a:rPr>
              <a:t>冲突</a:t>
            </a:r>
          </a:p>
          <a:p>
            <a:pPr marL="814388" lvl="1">
              <a:lnSpc>
                <a:spcPts val="2800"/>
              </a:lnSpc>
              <a:spcBef>
                <a:spcPts val="600"/>
              </a:spcBef>
              <a:defRPr/>
            </a:pPr>
            <a:r>
              <a:rPr lang="zh-CN" altLang="en-US" sz="2000" dirty="0">
                <a:latin typeface="宋体" panose="02010600030101010101" pitchFamily="2" charset="-122"/>
                <a:ea typeface="宋体" panose="02010600030101010101" pitchFamily="2" charset="-122"/>
              </a:rPr>
              <a:t>对于具体的流水线来说，由于相关等原因的存在，使得指令流中的下一条指令不能在指定的时钟周期执行。</a:t>
            </a:r>
            <a:endParaRPr lang="en-US" altLang="zh-CN" sz="2000" dirty="0">
              <a:latin typeface="宋体" panose="02010600030101010101" pitchFamily="2" charset="-122"/>
              <a:ea typeface="宋体" panose="02010600030101010101" pitchFamily="2" charset="-122"/>
            </a:endParaRPr>
          </a:p>
          <a:p>
            <a:pPr marL="814388" lvl="1">
              <a:lnSpc>
                <a:spcPts val="2800"/>
              </a:lnSpc>
              <a:spcBef>
                <a:spcPts val="600"/>
              </a:spcBef>
              <a:defRPr/>
            </a:pPr>
            <a:r>
              <a:rPr lang="zh-CN" altLang="en-US" sz="2000" dirty="0">
                <a:latin typeface="宋体" panose="02010600030101010101" pitchFamily="2" charset="-122"/>
                <a:ea typeface="宋体" panose="02010600030101010101" pitchFamily="2" charset="-122"/>
              </a:rPr>
              <a:t>流水线冲突有三种类型：结构冲突、数据冲突、控制</a:t>
            </a:r>
            <a:r>
              <a:rPr lang="zh-CN" altLang="en-US" sz="2000" dirty="0" smtClean="0">
                <a:latin typeface="宋体" panose="02010600030101010101" pitchFamily="2" charset="-122"/>
                <a:ea typeface="宋体" panose="02010600030101010101" pitchFamily="2" charset="-122"/>
              </a:rPr>
              <a:t>冲突</a:t>
            </a:r>
            <a:endParaRPr lang="en-US" altLang="zh-CN" sz="2000" dirty="0" smtClean="0">
              <a:latin typeface="宋体" panose="02010600030101010101" pitchFamily="2" charset="-122"/>
              <a:ea typeface="宋体" panose="02010600030101010101" pitchFamily="2" charset="-122"/>
            </a:endParaRPr>
          </a:p>
          <a:p>
            <a:pPr marL="814388" lvl="1">
              <a:lnSpc>
                <a:spcPts val="2800"/>
              </a:lnSpc>
              <a:spcBef>
                <a:spcPts val="600"/>
              </a:spcBef>
              <a:defRPr/>
            </a:pPr>
            <a:endParaRPr lang="en-US" altLang="zh-CN" sz="2000" dirty="0">
              <a:latin typeface="宋体" panose="02010600030101010101" pitchFamily="2" charset="-122"/>
              <a:ea typeface="宋体" panose="02010600030101010101" pitchFamily="2" charset="-122"/>
            </a:endParaRPr>
          </a:p>
          <a:p>
            <a:pPr marL="814388" lvl="1">
              <a:lnSpc>
                <a:spcPts val="2800"/>
              </a:lnSpc>
              <a:spcBef>
                <a:spcPts val="600"/>
              </a:spcBef>
              <a:defRPr/>
            </a:pPr>
            <a:endParaRPr lang="en-US" altLang="zh-CN" sz="2000" dirty="0">
              <a:latin typeface="宋体" panose="02010600030101010101" pitchFamily="2" charset="-122"/>
              <a:ea typeface="宋体" panose="02010600030101010101" pitchFamily="2" charset="-122"/>
            </a:endParaRPr>
          </a:p>
          <a:p>
            <a:pPr>
              <a:lnSpc>
                <a:spcPts val="2800"/>
              </a:lnSpc>
              <a:spcBef>
                <a:spcPts val="600"/>
              </a:spcBef>
              <a:defRPr/>
            </a:pPr>
            <a:r>
              <a:rPr lang="zh-CN" altLang="en-US" sz="2400" dirty="0">
                <a:latin typeface="宋体" panose="02010600030101010101" pitchFamily="2" charset="-122"/>
                <a:ea typeface="宋体" panose="02010600030101010101" pitchFamily="2" charset="-122"/>
              </a:rPr>
              <a:t>小结与比较</a:t>
            </a:r>
            <a:endParaRPr lang="en-US" altLang="zh-CN" sz="2400" dirty="0">
              <a:latin typeface="宋体" panose="02010600030101010101" pitchFamily="2" charset="-122"/>
              <a:ea typeface="宋体" panose="02010600030101010101" pitchFamily="2" charset="-122"/>
            </a:endParaRPr>
          </a:p>
          <a:p>
            <a:pPr marL="814388" lvl="1">
              <a:lnSpc>
                <a:spcPts val="2800"/>
              </a:lnSpc>
              <a:spcBef>
                <a:spcPts val="600"/>
              </a:spcBef>
              <a:defRPr/>
            </a:pPr>
            <a:r>
              <a:rPr lang="zh-CN" altLang="en-US" sz="2000" dirty="0">
                <a:latin typeface="宋体" panose="02010600030101010101" pitchFamily="2" charset="-122"/>
                <a:ea typeface="宋体" panose="02010600030101010101" pitchFamily="2" charset="-122"/>
              </a:rPr>
              <a:t>相关是程序固有的一种属性，它反映了程序中指令之间的相互依赖关系。</a:t>
            </a:r>
          </a:p>
          <a:p>
            <a:pPr marL="814388" lvl="1">
              <a:lnSpc>
                <a:spcPts val="2800"/>
              </a:lnSpc>
              <a:spcBef>
                <a:spcPts val="600"/>
              </a:spcBef>
              <a:defRPr/>
            </a:pPr>
            <a:r>
              <a:rPr lang="zh-CN" altLang="en-US" sz="2000" dirty="0">
                <a:latin typeface="宋体" panose="02010600030101010101" pitchFamily="2" charset="-122"/>
                <a:ea typeface="宋体" panose="02010600030101010101" pitchFamily="2" charset="-122"/>
              </a:rPr>
              <a:t>具体的一次相关是否会导致实际冲突的发生以及该冲突会带来多长的停顿，则是流水线的属性。</a:t>
            </a:r>
          </a:p>
        </p:txBody>
      </p:sp>
    </p:spTree>
    <p:extLst>
      <p:ext uri="{BB962C8B-B14F-4D97-AF65-F5344CB8AC3E}">
        <p14:creationId xmlns:p14="http://schemas.microsoft.com/office/powerpoint/2010/main" val="2180807069"/>
      </p:ext>
    </p:extLst>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6386" name="Rectangle 3" descr="Rectangle: Click to edit Master text styles&#10;Second level&#10;Third level&#10;Fourth level&#10;Fifth level"/>
          <p:cNvSpPr>
            <a:spLocks noGrp="1" noChangeArrowheads="1"/>
          </p:cNvSpPr>
          <p:nvPr>
            <p:ph idx="1"/>
          </p:nvPr>
        </p:nvSpPr>
        <p:spPr>
          <a:xfrm>
            <a:off x="975928" y="1293488"/>
            <a:ext cx="7913687" cy="4408487"/>
          </a:xfrm>
        </p:spPr>
        <p:txBody>
          <a:bodyPr/>
          <a:lstStyle/>
          <a:p>
            <a:pPr>
              <a:lnSpc>
                <a:spcPct val="150000"/>
              </a:lnSpc>
              <a:spcBef>
                <a:spcPts val="600"/>
              </a:spcBef>
              <a:defRPr/>
            </a:pPr>
            <a:r>
              <a:rPr lang="zh-CN" altLang="en-US" sz="2400" dirty="0" smtClean="0">
                <a:latin typeface="宋体" panose="02010600030101010101" pitchFamily="2" charset="-122"/>
                <a:ea typeface="宋体" panose="02010600030101010101" pitchFamily="2" charset="-122"/>
              </a:rPr>
              <a:t>保持</a:t>
            </a:r>
            <a:r>
              <a:rPr lang="zh-CN" altLang="en-US" sz="2400" dirty="0">
                <a:latin typeface="宋体" panose="02010600030101010101" pitchFamily="2" charset="-122"/>
                <a:ea typeface="宋体" panose="02010600030101010101" pitchFamily="2" charset="-122"/>
              </a:rPr>
              <a:t>相关，但避免发生冲突</a:t>
            </a:r>
            <a:endParaRPr lang="en-US" altLang="zh-CN" sz="2400" dirty="0">
              <a:latin typeface="宋体" panose="02010600030101010101" pitchFamily="2" charset="-122"/>
              <a:ea typeface="宋体" panose="02010600030101010101" pitchFamily="2" charset="-122"/>
            </a:endParaRPr>
          </a:p>
          <a:p>
            <a:pPr marL="814388" lvl="1">
              <a:lnSpc>
                <a:spcPct val="150000"/>
              </a:lnSpc>
              <a:spcBef>
                <a:spcPts val="600"/>
              </a:spcBef>
              <a:defRPr/>
            </a:pPr>
            <a:r>
              <a:rPr lang="zh-CN" altLang="en-US" sz="2000" dirty="0">
                <a:latin typeface="宋体" panose="02010600030101010101" pitchFamily="2" charset="-122"/>
                <a:ea typeface="宋体" panose="02010600030101010101" pitchFamily="2" charset="-122"/>
              </a:rPr>
              <a:t>指令</a:t>
            </a:r>
            <a:r>
              <a:rPr lang="zh-CN" altLang="en-US" sz="2000" dirty="0" smtClean="0">
                <a:latin typeface="宋体" panose="02010600030101010101" pitchFamily="2" charset="-122"/>
                <a:ea typeface="宋体" panose="02010600030101010101" pitchFamily="2" charset="-122"/>
              </a:rPr>
              <a:t>调度</a:t>
            </a:r>
            <a:r>
              <a:rPr lang="en-US" altLang="zh-CN" sz="2000" dirty="0" smtClean="0">
                <a:latin typeface="宋体" panose="02010600030101010101" pitchFamily="2" charset="-122"/>
                <a:ea typeface="宋体" panose="02010600030101010101" pitchFamily="2" charset="-122"/>
              </a:rPr>
              <a:t> -- </a:t>
            </a:r>
            <a:r>
              <a:rPr lang="zh-CN" altLang="en-US" sz="2000" dirty="0" smtClean="0">
                <a:latin typeface="宋体" panose="02010600030101010101" pitchFamily="2" charset="-122"/>
                <a:ea typeface="宋体" panose="02010600030101010101" pitchFamily="2" charset="-122"/>
              </a:rPr>
              <a:t>编译器静态调度</a:t>
            </a:r>
            <a:endParaRPr lang="en-US" altLang="zh-CN" sz="2000" dirty="0">
              <a:latin typeface="宋体" panose="02010600030101010101" pitchFamily="2" charset="-122"/>
              <a:ea typeface="宋体" panose="02010600030101010101" pitchFamily="2" charset="-122"/>
            </a:endParaRPr>
          </a:p>
          <a:p>
            <a:pPr>
              <a:lnSpc>
                <a:spcPct val="150000"/>
              </a:lnSpc>
              <a:spcBef>
                <a:spcPts val="600"/>
              </a:spcBef>
              <a:defRPr/>
            </a:pPr>
            <a:r>
              <a:rPr lang="zh-CN" altLang="en-US" sz="2400" dirty="0" smtClean="0">
                <a:latin typeface="宋体" panose="02010600030101010101" pitchFamily="2" charset="-122"/>
                <a:ea typeface="宋体" panose="02010600030101010101" pitchFamily="2" charset="-122"/>
              </a:rPr>
              <a:t>通过</a:t>
            </a:r>
            <a:r>
              <a:rPr lang="zh-CN" altLang="en-US" sz="2400" dirty="0">
                <a:latin typeface="宋体" panose="02010600030101010101" pitchFamily="2" charset="-122"/>
                <a:ea typeface="宋体" panose="02010600030101010101" pitchFamily="2" charset="-122"/>
              </a:rPr>
              <a:t>代码变换，消除相关</a:t>
            </a:r>
            <a:endParaRPr lang="en-US" altLang="zh-CN" sz="2400" dirty="0">
              <a:latin typeface="宋体" panose="02010600030101010101" pitchFamily="2" charset="-122"/>
              <a:ea typeface="宋体" panose="02010600030101010101" pitchFamily="2" charset="-122"/>
            </a:endParaRPr>
          </a:p>
          <a:p>
            <a:pPr marL="814388" lvl="1">
              <a:lnSpc>
                <a:spcPct val="150000"/>
              </a:lnSpc>
              <a:spcBef>
                <a:spcPts val="600"/>
              </a:spcBef>
              <a:defRPr/>
            </a:pPr>
            <a:r>
              <a:rPr lang="zh-CN" altLang="en-US" sz="2000" dirty="0">
                <a:latin typeface="宋体" panose="02010600030101010101" pitchFamily="2" charset="-122"/>
                <a:ea typeface="宋体" panose="02010600030101010101" pitchFamily="2" charset="-122"/>
              </a:rPr>
              <a:t>寄存器</a:t>
            </a:r>
            <a:r>
              <a:rPr lang="zh-CN" altLang="en-US" sz="2000" dirty="0" smtClean="0">
                <a:latin typeface="宋体" panose="02010600030101010101" pitchFamily="2" charset="-122"/>
                <a:ea typeface="宋体" panose="02010600030101010101" pitchFamily="2" charset="-122"/>
              </a:rPr>
              <a:t>重命名</a:t>
            </a:r>
            <a:r>
              <a:rPr lang="en-US" altLang="zh-CN" sz="2000" dirty="0">
                <a:latin typeface="宋体" panose="02010600030101010101" pitchFamily="2" charset="-122"/>
                <a:ea typeface="宋体" panose="02010600030101010101" pitchFamily="2" charset="-122"/>
              </a:rPr>
              <a:t> </a:t>
            </a:r>
            <a:r>
              <a:rPr lang="en-US" altLang="zh-CN" sz="2000" dirty="0" smtClean="0">
                <a:latin typeface="宋体" panose="02010600030101010101" pitchFamily="2" charset="-122"/>
                <a:ea typeface="宋体" panose="02010600030101010101" pitchFamily="2" charset="-122"/>
              </a:rPr>
              <a:t>-- </a:t>
            </a:r>
            <a:r>
              <a:rPr lang="zh-CN" altLang="en-US" sz="2000" dirty="0" smtClean="0">
                <a:latin typeface="宋体" panose="02010600030101010101" pitchFamily="2" charset="-122"/>
                <a:ea typeface="宋体" panose="02010600030101010101" pitchFamily="2" charset="-122"/>
              </a:rPr>
              <a:t>寄存器</a:t>
            </a:r>
            <a:r>
              <a:rPr lang="zh-CN" altLang="en-US" sz="2000" dirty="0">
                <a:latin typeface="宋体" panose="02010600030101010101" pitchFamily="2" charset="-122"/>
                <a:ea typeface="宋体" panose="02010600030101010101" pitchFamily="2" charset="-122"/>
              </a:rPr>
              <a:t>换名消除</a:t>
            </a:r>
            <a:r>
              <a:rPr lang="en-US" altLang="zh-CN" sz="2000" dirty="0">
                <a:latin typeface="宋体" panose="02010600030101010101" pitchFamily="2" charset="-122"/>
                <a:ea typeface="宋体" panose="02010600030101010101" pitchFamily="2" charset="-122"/>
              </a:rPr>
              <a:t>WAR</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WAW</a:t>
            </a:r>
            <a:endParaRPr lang="zh-CN" altLang="en-US" sz="2000" dirty="0">
              <a:latin typeface="宋体" panose="02010600030101010101" pitchFamily="2" charset="-122"/>
              <a:ea typeface="宋体" panose="02010600030101010101" pitchFamily="2" charset="-122"/>
            </a:endParaRPr>
          </a:p>
          <a:p>
            <a:pPr marL="542925" lvl="1" indent="0" eaLnBrk="1" hangingPunct="1">
              <a:lnSpc>
                <a:spcPct val="110000"/>
              </a:lnSpc>
              <a:buNone/>
              <a:defRPr/>
            </a:pPr>
            <a:endParaRPr lang="en-US" altLang="zh-CN" dirty="0" smtClean="0">
              <a:latin typeface="黑体" panose="02010609060101010101" pitchFamily="49" charset="-122"/>
            </a:endParaRPr>
          </a:p>
        </p:txBody>
      </p:sp>
      <p:sp>
        <p:nvSpPr>
          <p:cNvPr id="4" name="标题 1"/>
          <p:cNvSpPr txBox="1">
            <a:spLocks/>
          </p:cNvSpPr>
          <p:nvPr/>
        </p:nvSpPr>
        <p:spPr>
          <a:xfrm>
            <a:off x="-1" y="1"/>
            <a:ext cx="8426154" cy="7007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smtClean="0">
                <a:latin typeface="宋体" panose="02010600030101010101" pitchFamily="2" charset="-122"/>
                <a:ea typeface="宋体" panose="02010600030101010101" pitchFamily="2" charset="-122"/>
              </a:rPr>
              <a:t>2.4 </a:t>
            </a:r>
            <a:r>
              <a:rPr lang="zh-CN" altLang="en-US" sz="3200" dirty="0" smtClean="0">
                <a:latin typeface="宋体" panose="02010600030101010101" pitchFamily="2" charset="-122"/>
                <a:ea typeface="宋体" panose="02010600030101010101" pitchFamily="2" charset="-122"/>
              </a:rPr>
              <a:t>相关的两类解决方案</a:t>
            </a:r>
            <a:endParaRPr lang="zh-CN" altLang="en-US" sz="3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409052244"/>
      </p:ext>
    </p:extLst>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8434" name="Rectangle 3" descr="Rectangle: Click to edit Master text styles&#10;Second level&#10;Third level&#10;Fourth level&#10;Fifth level"/>
          <p:cNvSpPr>
            <a:spLocks noGrp="1" noChangeArrowheads="1"/>
          </p:cNvSpPr>
          <p:nvPr>
            <p:ph idx="1"/>
          </p:nvPr>
        </p:nvSpPr>
        <p:spPr>
          <a:xfrm>
            <a:off x="1198119" y="1287715"/>
            <a:ext cx="7913687" cy="3454400"/>
          </a:xfrm>
        </p:spPr>
        <p:txBody>
          <a:bodyPr>
            <a:normAutofit fontScale="92500" lnSpcReduction="10000"/>
          </a:bodyPr>
          <a:lstStyle/>
          <a:p>
            <a:pPr>
              <a:lnSpc>
                <a:spcPct val="150000"/>
              </a:lnSpc>
              <a:spcBef>
                <a:spcPts val="600"/>
              </a:spcBef>
              <a:defRPr/>
            </a:pPr>
            <a:r>
              <a:rPr lang="zh-CN" altLang="en-US" sz="2400" dirty="0" smtClean="0">
                <a:latin typeface="宋体" panose="02010600030101010101" pitchFamily="2" charset="-122"/>
                <a:ea typeface="宋体" panose="02010600030101010101" pitchFamily="2" charset="-122"/>
              </a:rPr>
              <a:t>基于</a:t>
            </a:r>
            <a:r>
              <a:rPr lang="zh-CN" altLang="en-US" sz="2400" dirty="0">
                <a:latin typeface="宋体" panose="02010600030101010101" pitchFamily="2" charset="-122"/>
                <a:ea typeface="宋体" panose="02010600030101010101" pitchFamily="2" charset="-122"/>
              </a:rPr>
              <a:t>软件的静态开发</a:t>
            </a:r>
            <a:r>
              <a:rPr lang="zh-CN" altLang="en-US" sz="2400" dirty="0" smtClean="0">
                <a:latin typeface="宋体" panose="02010600030101010101" pitchFamily="2" charset="-122"/>
                <a:ea typeface="宋体" panose="02010600030101010101" pitchFamily="2" charset="-122"/>
              </a:rPr>
              <a:t>方法</a:t>
            </a:r>
            <a:endParaRPr lang="en-US" altLang="zh-CN" sz="2400" dirty="0" smtClean="0">
              <a:latin typeface="宋体" panose="02010600030101010101" pitchFamily="2" charset="-122"/>
              <a:ea typeface="宋体" panose="02010600030101010101" pitchFamily="2" charset="-122"/>
            </a:endParaRPr>
          </a:p>
          <a:p>
            <a:pPr>
              <a:lnSpc>
                <a:spcPct val="150000"/>
              </a:lnSpc>
              <a:spcBef>
                <a:spcPts val="600"/>
              </a:spcBef>
              <a:defRPr/>
            </a:pPr>
            <a:r>
              <a:rPr lang="zh-CN" altLang="en-US" sz="2400" dirty="0">
                <a:latin typeface="宋体" panose="02010600030101010101" pitchFamily="2" charset="-122"/>
                <a:ea typeface="宋体" panose="02010600030101010101" pitchFamily="2" charset="-122"/>
              </a:rPr>
              <a:t>基于硬件的动态开发</a:t>
            </a:r>
            <a:r>
              <a:rPr lang="zh-CN" altLang="en-US" sz="2400" dirty="0" smtClean="0">
                <a:latin typeface="宋体" panose="02010600030101010101" pitchFamily="2" charset="-122"/>
                <a:ea typeface="宋体" panose="02010600030101010101" pitchFamily="2" charset="-122"/>
              </a:rPr>
              <a:t>方法</a:t>
            </a:r>
            <a:endParaRPr lang="en-US" altLang="zh-CN" sz="2400" dirty="0">
              <a:latin typeface="宋体" panose="02010600030101010101" pitchFamily="2" charset="-122"/>
              <a:ea typeface="宋体" panose="02010600030101010101" pitchFamily="2" charset="-122"/>
            </a:endParaRPr>
          </a:p>
          <a:p>
            <a:pPr>
              <a:lnSpc>
                <a:spcPct val="150000"/>
              </a:lnSpc>
              <a:spcBef>
                <a:spcPts val="600"/>
              </a:spcBef>
              <a:defRPr/>
            </a:pPr>
            <a:r>
              <a:rPr lang="zh-CN" altLang="en-US" sz="2400" dirty="0" smtClean="0">
                <a:latin typeface="宋体" panose="02010600030101010101" pitchFamily="2" charset="-122"/>
                <a:ea typeface="宋体" panose="02010600030101010101" pitchFamily="2" charset="-122"/>
              </a:rPr>
              <a:t>硬件</a:t>
            </a:r>
            <a:r>
              <a:rPr lang="zh-CN" altLang="en-US" sz="2400" dirty="0">
                <a:latin typeface="宋体" panose="02010600030101010101" pitchFamily="2" charset="-122"/>
                <a:ea typeface="宋体" panose="02010600030101010101" pitchFamily="2" charset="-122"/>
              </a:rPr>
              <a:t>＋软件技术</a:t>
            </a:r>
            <a:endParaRPr lang="en-US" altLang="zh-CN" sz="2400" dirty="0">
              <a:latin typeface="宋体" panose="02010600030101010101" pitchFamily="2" charset="-122"/>
              <a:ea typeface="宋体" panose="02010600030101010101" pitchFamily="2" charset="-122"/>
            </a:endParaRPr>
          </a:p>
          <a:p>
            <a:pPr marL="528638" indent="-457200" eaLnBrk="1" hangingPunct="1">
              <a:lnSpc>
                <a:spcPct val="150000"/>
              </a:lnSpc>
              <a:defRPr/>
            </a:pPr>
            <a:endParaRPr lang="zh-CN" altLang="en-US" sz="2800" dirty="0" smtClean="0">
              <a:solidFill>
                <a:srgbClr val="0070C0"/>
              </a:solidFill>
              <a:latin typeface="宋体" panose="02010600030101010101" pitchFamily="2" charset="-122"/>
            </a:endParaRPr>
          </a:p>
          <a:p>
            <a:pPr marL="0" indent="0">
              <a:lnSpc>
                <a:spcPct val="150000"/>
              </a:lnSpc>
              <a:spcBef>
                <a:spcPts val="600"/>
              </a:spcBef>
              <a:buNone/>
              <a:defRPr/>
            </a:pPr>
            <a:r>
              <a:rPr lang="zh-CN" altLang="en-US" sz="2400" dirty="0" smtClean="0">
                <a:latin typeface="宋体" panose="02010600030101010101" pitchFamily="2" charset="-122"/>
                <a:ea typeface="宋体" panose="02010600030101010101" pitchFamily="2" charset="-122"/>
              </a:rPr>
              <a:t>    只有</a:t>
            </a:r>
            <a:r>
              <a:rPr lang="zh-CN" altLang="en-US" sz="2400" dirty="0">
                <a:latin typeface="宋体" panose="02010600030101010101" pitchFamily="2" charset="-122"/>
                <a:ea typeface="宋体" panose="02010600030101010101" pitchFamily="2" charset="-122"/>
              </a:rPr>
              <a:t>硬件技术和软件技术互相配合，才能够最大限度地挖掘出程序中存在的指令级并行。</a:t>
            </a:r>
          </a:p>
          <a:p>
            <a:pPr marL="528638" indent="-457200" eaLnBrk="1" hangingPunct="1">
              <a:defRPr/>
            </a:pPr>
            <a:endParaRPr lang="en-US" altLang="zh-CN" dirty="0" smtClean="0">
              <a:solidFill>
                <a:srgbClr val="080808"/>
              </a:solidFill>
              <a:latin typeface="宋体" panose="02010600030101010101" pitchFamily="2" charset="-122"/>
            </a:endParaRPr>
          </a:p>
        </p:txBody>
      </p:sp>
      <p:sp>
        <p:nvSpPr>
          <p:cNvPr id="4" name="标题 1"/>
          <p:cNvSpPr txBox="1">
            <a:spLocks/>
          </p:cNvSpPr>
          <p:nvPr/>
        </p:nvSpPr>
        <p:spPr>
          <a:xfrm>
            <a:off x="-1" y="1"/>
            <a:ext cx="8426154" cy="7007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smtClean="0">
                <a:latin typeface="宋体" panose="02010600030101010101" pitchFamily="2" charset="-122"/>
                <a:ea typeface="宋体" panose="02010600030101010101" pitchFamily="2" charset="-122"/>
              </a:rPr>
              <a:t>2.5 </a:t>
            </a:r>
            <a:r>
              <a:rPr lang="zh-CN" altLang="en-US" sz="3200" dirty="0" smtClean="0">
                <a:latin typeface="宋体" panose="02010600030101010101" pitchFamily="2" charset="-122"/>
                <a:ea typeface="宋体" panose="02010600030101010101" pitchFamily="2" charset="-122"/>
              </a:rPr>
              <a:t>开发指令级并行的方法</a:t>
            </a:r>
            <a:endParaRPr lang="zh-CN" altLang="en-US" sz="3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656554522"/>
      </p:ext>
    </p:extLst>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1858" name="Rectangle 3" descr="Rectangle: Click to edit Master text styles&#10;Second level&#10;Third level&#10;Fourth level&#10;Fifth level"/>
          <p:cNvSpPr>
            <a:spLocks noGrp="1" noChangeArrowheads="1"/>
          </p:cNvSpPr>
          <p:nvPr>
            <p:ph type="body" idx="1"/>
          </p:nvPr>
        </p:nvSpPr>
        <p:spPr>
          <a:xfrm>
            <a:off x="851018" y="1048137"/>
            <a:ext cx="7959696" cy="4860294"/>
          </a:xfrm>
        </p:spPr>
        <p:txBody>
          <a:bodyPr>
            <a:normAutofit/>
          </a:bodyPr>
          <a:lstStyle/>
          <a:p>
            <a:pPr marL="457200" indent="-457200" eaLnBrk="1" hangingPunct="1">
              <a:lnSpc>
                <a:spcPct val="150000"/>
              </a:lnSpc>
              <a:spcBef>
                <a:spcPts val="600"/>
              </a:spcBef>
            </a:pPr>
            <a:r>
              <a:rPr lang="zh-CN" altLang="en-US" sz="2400" dirty="0" smtClean="0">
                <a:latin typeface="宋体" panose="02010600030101010101" pitchFamily="2" charset="-122"/>
                <a:ea typeface="宋体" panose="02010600030101010101" pitchFamily="2" charset="-122"/>
              </a:rPr>
              <a:t>充分开发指令之间存在的并行性，找出不相关的指令序列，让它们在流水线上重叠并行执行。 </a:t>
            </a:r>
          </a:p>
          <a:p>
            <a:pPr marL="457200" indent="-457200" eaLnBrk="1" hangingPunct="1">
              <a:lnSpc>
                <a:spcPct val="150000"/>
              </a:lnSpc>
              <a:spcBef>
                <a:spcPts val="600"/>
              </a:spcBef>
            </a:pPr>
            <a:r>
              <a:rPr lang="zh-CN" altLang="en-US" sz="2400" dirty="0" smtClean="0">
                <a:latin typeface="宋体" panose="02010600030101010101" pitchFamily="2" charset="-122"/>
                <a:ea typeface="宋体" panose="02010600030101010101" pitchFamily="2" charset="-122"/>
              </a:rPr>
              <a:t>增加指令间并行性最简单和最常用的方法</a:t>
            </a:r>
          </a:p>
          <a:p>
            <a:pPr marL="803275" lvl="1" indent="-174625" eaLnBrk="1" hangingPunct="1">
              <a:lnSpc>
                <a:spcPct val="150000"/>
              </a:lnSpc>
              <a:spcBef>
                <a:spcPts val="600"/>
              </a:spcBef>
            </a:pPr>
            <a:r>
              <a:rPr lang="zh-CN" altLang="en-US" sz="2000" dirty="0" smtClean="0">
                <a:latin typeface="宋体" panose="02010600030101010101" pitchFamily="2" charset="-122"/>
                <a:ea typeface="宋体" panose="02010600030101010101" pitchFamily="2" charset="-122"/>
              </a:rPr>
              <a:t>开发循环级并行性</a:t>
            </a:r>
            <a:r>
              <a:rPr lang="en-US" altLang="zh-CN" sz="2000" dirty="0" smtClean="0">
                <a:latin typeface="宋体" panose="02010600030101010101" pitchFamily="2" charset="-122"/>
                <a:ea typeface="宋体" panose="02010600030101010101" pitchFamily="2" charset="-122"/>
              </a:rPr>
              <a:t>——</a:t>
            </a:r>
            <a:r>
              <a:rPr lang="zh-CN" altLang="en-US" sz="2000" dirty="0" smtClean="0">
                <a:latin typeface="宋体" panose="02010600030101010101" pitchFamily="2" charset="-122"/>
                <a:ea typeface="宋体" panose="02010600030101010101" pitchFamily="2" charset="-122"/>
              </a:rPr>
              <a:t>循环的不同迭代之间存在的并行性。</a:t>
            </a:r>
          </a:p>
          <a:p>
            <a:pPr marL="803275" lvl="1" indent="-174625" eaLnBrk="1" hangingPunct="1">
              <a:lnSpc>
                <a:spcPct val="150000"/>
              </a:lnSpc>
              <a:spcBef>
                <a:spcPts val="600"/>
              </a:spcBef>
            </a:pPr>
            <a:r>
              <a:rPr lang="zh-CN" altLang="en-US" sz="2000" dirty="0" smtClean="0">
                <a:latin typeface="宋体" panose="02010600030101010101" pitchFamily="2" charset="-122"/>
                <a:ea typeface="宋体" panose="02010600030101010101" pitchFamily="2" charset="-122"/>
              </a:rPr>
              <a:t>在把循环展开后，通过重命名和指令调度来开发更多的并行性。 </a:t>
            </a:r>
            <a:endParaRPr lang="en-US" altLang="zh-CN" sz="2000" dirty="0" smtClean="0">
              <a:latin typeface="宋体" panose="02010600030101010101" pitchFamily="2" charset="-122"/>
              <a:ea typeface="宋体" panose="02010600030101010101" pitchFamily="2" charset="-122"/>
            </a:endParaRPr>
          </a:p>
          <a:p>
            <a:pPr marL="457200" indent="-457200">
              <a:lnSpc>
                <a:spcPct val="150000"/>
              </a:lnSpc>
              <a:spcBef>
                <a:spcPts val="600"/>
              </a:spcBef>
            </a:pPr>
            <a:r>
              <a:rPr lang="zh-CN" altLang="en-US" sz="2400" dirty="0">
                <a:latin typeface="宋体" panose="02010600030101010101" pitchFamily="2" charset="-122"/>
                <a:ea typeface="宋体" panose="02010600030101010101" pitchFamily="2" charset="-122"/>
              </a:rPr>
              <a:t>编译器完成这种指令调度的能力受限于两个特性：</a:t>
            </a:r>
          </a:p>
          <a:p>
            <a:pPr marL="803275" lvl="1" indent="-174625">
              <a:lnSpc>
                <a:spcPct val="150000"/>
              </a:lnSpc>
              <a:spcBef>
                <a:spcPts val="600"/>
              </a:spcBef>
            </a:pPr>
            <a:r>
              <a:rPr lang="zh-CN" altLang="en-US" sz="2000" dirty="0">
                <a:latin typeface="宋体" panose="02010600030101010101" pitchFamily="2" charset="-122"/>
                <a:ea typeface="宋体" panose="02010600030101010101" pitchFamily="2" charset="-122"/>
              </a:rPr>
              <a:t>程序固有的指令级并行性；</a:t>
            </a:r>
          </a:p>
          <a:p>
            <a:pPr marL="803275" lvl="1" indent="-174625">
              <a:lnSpc>
                <a:spcPct val="150000"/>
              </a:lnSpc>
              <a:spcBef>
                <a:spcPts val="600"/>
              </a:spcBef>
            </a:pPr>
            <a:r>
              <a:rPr lang="zh-CN" altLang="en-US" sz="2000" dirty="0">
                <a:latin typeface="宋体" panose="02010600030101010101" pitchFamily="2" charset="-122"/>
                <a:ea typeface="宋体" panose="02010600030101010101" pitchFamily="2" charset="-122"/>
              </a:rPr>
              <a:t>流水线功能部件的执行延迟。</a:t>
            </a:r>
          </a:p>
          <a:p>
            <a:pPr marL="1085850" lvl="1" indent="-457200" eaLnBrk="1" hangingPunct="1"/>
            <a:endParaRPr lang="zh-CN" altLang="en-US" sz="2000" dirty="0" smtClean="0"/>
          </a:p>
        </p:txBody>
      </p:sp>
      <p:sp>
        <p:nvSpPr>
          <p:cNvPr id="6" name="标题 1"/>
          <p:cNvSpPr txBox="1">
            <a:spLocks/>
          </p:cNvSpPr>
          <p:nvPr/>
        </p:nvSpPr>
        <p:spPr>
          <a:xfrm>
            <a:off x="-2" y="1"/>
            <a:ext cx="9120189" cy="70075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dirty="0" smtClean="0">
                <a:latin typeface="宋体" panose="02010600030101010101" pitchFamily="2" charset="-122"/>
                <a:ea typeface="宋体" panose="02010600030101010101" pitchFamily="2" charset="-122"/>
              </a:rPr>
              <a:t>2.6 </a:t>
            </a:r>
            <a:r>
              <a:rPr lang="zh-CN" altLang="en-US" sz="3200" dirty="0" smtClean="0">
                <a:latin typeface="宋体" panose="02010600030101010101" pitchFamily="2" charset="-122"/>
                <a:ea typeface="宋体" panose="02010600030101010101" pitchFamily="2" charset="-122"/>
              </a:rPr>
              <a:t>基本编译技术 </a:t>
            </a:r>
            <a:r>
              <a:rPr lang="en-US" altLang="zh-CN" sz="3200" dirty="0" smtClean="0">
                <a:latin typeface="宋体" panose="02010600030101010101" pitchFamily="2" charset="-122"/>
                <a:ea typeface="宋体" panose="02010600030101010101" pitchFamily="2" charset="-122"/>
              </a:rPr>
              <a:t>– </a:t>
            </a:r>
            <a:r>
              <a:rPr lang="zh-CN" altLang="en-US" sz="3200" dirty="0" smtClean="0">
                <a:latin typeface="宋体" panose="02010600030101010101" pitchFamily="2" charset="-122"/>
                <a:ea typeface="宋体" panose="02010600030101010101" pitchFamily="2" charset="-122"/>
              </a:rPr>
              <a:t>循环展开 与 指令调度</a:t>
            </a:r>
            <a:endParaRPr lang="zh-CN" altLang="en-US" sz="3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073465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853033" name="Group 41"/>
          <p:cNvGraphicFramePr>
            <a:graphicFrameLocks noGrp="1"/>
          </p:cNvGraphicFramePr>
          <p:nvPr>
            <p:ph sz="half" idx="2"/>
            <p:extLst>
              <p:ext uri="{D42A27DB-BD31-4B8C-83A1-F6EECF244321}">
                <p14:modId xmlns:p14="http://schemas.microsoft.com/office/powerpoint/2010/main" val="1558837028"/>
              </p:ext>
            </p:extLst>
          </p:nvPr>
        </p:nvGraphicFramePr>
        <p:xfrm>
          <a:off x="1288190" y="930558"/>
          <a:ext cx="7345363" cy="2286000"/>
        </p:xfrm>
        <a:graphic>
          <a:graphicData uri="http://schemas.openxmlformats.org/drawingml/2006/table">
            <a:tbl>
              <a:tblPr/>
              <a:tblGrid>
                <a:gridCol w="2305050"/>
                <a:gridCol w="2473325"/>
                <a:gridCol w="2566988"/>
              </a:tblGrid>
              <a:tr h="431800">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E24C05"/>
                          </a:solidFill>
                          <a:effectLst/>
                          <a:latin typeface="宋体" panose="02010600030101010101" pitchFamily="2" charset="-122"/>
                          <a:ea typeface="宋体" panose="02010600030101010101" pitchFamily="2" charset="-122"/>
                        </a:rPr>
                        <a:t>产生结果的指令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E24C05"/>
                          </a:solidFill>
                          <a:effectLst/>
                          <a:latin typeface="宋体" panose="02010600030101010101" pitchFamily="2" charset="-122"/>
                          <a:ea typeface="宋体" panose="02010600030101010101" pitchFamily="2" charset="-122"/>
                        </a:rPr>
                        <a:t>使用结果的指令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rgbClr val="E24C05"/>
                          </a:solidFill>
                          <a:effectLst/>
                          <a:latin typeface="宋体" panose="02010600030101010101" pitchFamily="2" charset="-122"/>
                          <a:ea typeface="宋体" panose="02010600030101010101" pitchFamily="2" charset="-122"/>
                        </a:rPr>
                        <a:t>延迟（时钟周期数）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浮点计算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另一个浮点计算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3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浮点计算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浮点</a:t>
                      </a:r>
                      <a:r>
                        <a:rPr kumimoji="1"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store</a:t>
                      </a:r>
                      <a:r>
                        <a:rPr kumimoji="1" lang="zh-CN" altLang="en-US"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r>
                        <a:rPr kumimoji="1"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S.D</a:t>
                      </a:r>
                      <a:r>
                        <a:rPr kumimoji="1" lang="zh-CN" altLang="en-US"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2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浮点</a:t>
                      </a:r>
                      <a:r>
                        <a:rPr kumimoji="1"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load</a:t>
                      </a:r>
                      <a:r>
                        <a:rPr kumimoji="1"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L.D</a:t>
                      </a:r>
                      <a:r>
                        <a:rPr kumimoji="1"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浮点计算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1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浮点</a:t>
                      </a:r>
                      <a:r>
                        <a:rPr kumimoji="1"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load</a:t>
                      </a:r>
                      <a:r>
                        <a:rPr kumimoji="1" lang="zh-CN" altLang="en-US"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r>
                        <a:rPr kumimoji="1"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L.D</a:t>
                      </a:r>
                      <a:r>
                        <a:rPr kumimoji="1" lang="zh-CN" altLang="en-US"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浮点</a:t>
                      </a:r>
                      <a:r>
                        <a:rPr kumimoji="1"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store</a:t>
                      </a:r>
                      <a:r>
                        <a:rPr kumimoji="1"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S.D</a:t>
                      </a:r>
                      <a:r>
                        <a:rPr kumimoji="1" lang="zh-CN" altLang="en-US" sz="20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62865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25730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893888">
                        <a:lnSpc>
                          <a:spcPct val="120000"/>
                        </a:lnSpc>
                        <a:spcBef>
                          <a:spcPct val="20000"/>
                        </a:spcBef>
                        <a:buClr>
                          <a:srgbClr val="006600"/>
                        </a:buClr>
                        <a:buSzPct val="65000"/>
                        <a:buFont typeface="Wingdings" pitchFamily="2" charset="2"/>
                        <a:defRPr kumimoji="1" b="1">
                          <a:solidFill>
                            <a:schemeClr val="tx1"/>
                          </a:solidFill>
                          <a:latin typeface="Tahoma" pitchFamily="34" charset="0"/>
                          <a:ea typeface="宋体" pitchFamily="2" charset="-122"/>
                        </a:defRPr>
                      </a:lvl4pPr>
                      <a:lvl5pPr marL="2454275">
                        <a:lnSpc>
                          <a:spcPct val="120000"/>
                        </a:lnSpc>
                        <a:spcBef>
                          <a:spcPct val="20000"/>
                        </a:spcBef>
                        <a:buClr>
                          <a:schemeClr val="hlink"/>
                        </a:buClr>
                        <a:buSzPct val="60000"/>
                        <a:buFont typeface="Wingdings" pitchFamily="2" charset="2"/>
                        <a:defRPr kumimoji="1" sz="1600" b="1">
                          <a:solidFill>
                            <a:schemeClr val="tx1"/>
                          </a:solidFill>
                          <a:latin typeface="Tahoma" pitchFamily="34" charset="0"/>
                          <a:ea typeface="宋体" pitchFamily="2" charset="-122"/>
                        </a:defRPr>
                      </a:lvl5pPr>
                      <a:lvl6pPr marL="29114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6pPr>
                      <a:lvl7pPr marL="33686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7pPr>
                      <a:lvl8pPr marL="38258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8pPr>
                      <a:lvl9pPr marL="4283075" fontAlgn="base">
                        <a:lnSpc>
                          <a:spcPct val="120000"/>
                        </a:lnSpc>
                        <a:spcBef>
                          <a:spcPct val="20000"/>
                        </a:spcBef>
                        <a:spcAft>
                          <a:spcPct val="0"/>
                        </a:spcAft>
                        <a:buClr>
                          <a:schemeClr val="hlink"/>
                        </a:buClr>
                        <a:buSzPct val="60000"/>
                        <a:buFont typeface="Wingdings" pitchFamily="2" charset="2"/>
                        <a:defRPr kumimoji="1" sz="1600"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矩形 3"/>
          <p:cNvSpPr/>
          <p:nvPr/>
        </p:nvSpPr>
        <p:spPr>
          <a:xfrm>
            <a:off x="607711" y="193485"/>
            <a:ext cx="6032421" cy="461665"/>
          </a:xfrm>
          <a:prstGeom prst="rect">
            <a:avLst/>
          </a:prstGeom>
        </p:spPr>
        <p:txBody>
          <a:bodyPr wrap="none">
            <a:spAutoFit/>
          </a:bodyPr>
          <a:lstStyle/>
          <a:p>
            <a:pPr marL="457200" indent="-457200"/>
            <a:r>
              <a:rPr lang="zh-CN" altLang="en-US" sz="2400" dirty="0">
                <a:latin typeface="宋体" panose="02010600030101010101" pitchFamily="2" charset="-122"/>
                <a:ea typeface="宋体" panose="02010600030101010101" pitchFamily="2" charset="-122"/>
              </a:rPr>
              <a:t>本节中，我们使用的浮点流水线延迟为：  </a:t>
            </a:r>
          </a:p>
        </p:txBody>
      </p:sp>
      <p:sp>
        <p:nvSpPr>
          <p:cNvPr id="8" name="Rectangle 3" descr="Rectangle: Click to edit Master text styles&#10;Second level&#10;Third level&#10;Fourth level&#10;Fifth level"/>
          <p:cNvSpPr>
            <a:spLocks noGrp="1" noChangeArrowheads="1"/>
          </p:cNvSpPr>
          <p:nvPr>
            <p:ph type="body" idx="1"/>
          </p:nvPr>
        </p:nvSpPr>
        <p:spPr>
          <a:xfrm>
            <a:off x="812810" y="3452012"/>
            <a:ext cx="7542212" cy="2530044"/>
          </a:xfrm>
        </p:spPr>
        <p:txBody>
          <a:bodyPr/>
          <a:lstStyle/>
          <a:p>
            <a:pPr marL="457200" indent="-457200" eaLnBrk="1" hangingPunct="1">
              <a:lnSpc>
                <a:spcPct val="140000"/>
              </a:lnSpc>
              <a:buNone/>
            </a:pPr>
            <a:r>
              <a:rPr lang="zh-CN" altLang="en-US" sz="2400" dirty="0" smtClean="0">
                <a:latin typeface="宋体" panose="02010600030101010101" pitchFamily="2" charset="-122"/>
                <a:ea typeface="宋体" panose="02010600030101010101" pitchFamily="2" charset="-122"/>
              </a:rPr>
              <a:t>假设采用</a:t>
            </a:r>
            <a:r>
              <a:rPr lang="en-US" altLang="zh-CN" sz="2400" dirty="0" smtClean="0">
                <a:latin typeface="宋体" panose="02010600030101010101" pitchFamily="2" charset="-122"/>
                <a:ea typeface="宋体" panose="02010600030101010101" pitchFamily="2" charset="-122"/>
              </a:rPr>
              <a:t>MIPS</a:t>
            </a:r>
            <a:r>
              <a:rPr lang="zh-CN" altLang="en-US" sz="2400" dirty="0" smtClean="0">
                <a:latin typeface="宋体" panose="02010600030101010101" pitchFamily="2" charset="-122"/>
                <a:ea typeface="宋体" panose="02010600030101010101" pitchFamily="2" charset="-122"/>
              </a:rPr>
              <a:t>的</a:t>
            </a:r>
            <a:r>
              <a:rPr lang="en-US" altLang="zh-CN" sz="2400" dirty="0" smtClean="0">
                <a:solidFill>
                  <a:srgbClr val="D60093"/>
                </a:solidFill>
                <a:latin typeface="宋体" panose="02010600030101010101" pitchFamily="2" charset="-122"/>
                <a:ea typeface="宋体" panose="02010600030101010101" pitchFamily="2" charset="-122"/>
              </a:rPr>
              <a:t>5</a:t>
            </a:r>
            <a:r>
              <a:rPr lang="zh-CN" altLang="en-US" sz="2400" dirty="0" smtClean="0">
                <a:solidFill>
                  <a:srgbClr val="D60093"/>
                </a:solidFill>
                <a:latin typeface="宋体" panose="02010600030101010101" pitchFamily="2" charset="-122"/>
                <a:ea typeface="宋体" panose="02010600030101010101" pitchFamily="2" charset="-122"/>
              </a:rPr>
              <a:t>段整数流水线</a:t>
            </a:r>
            <a:r>
              <a:rPr lang="zh-CN" altLang="en-US" sz="2400" dirty="0" smtClean="0">
                <a:latin typeface="宋体" panose="02010600030101010101" pitchFamily="2" charset="-122"/>
                <a:ea typeface="宋体" panose="02010600030101010101" pitchFamily="2" charset="-122"/>
              </a:rPr>
              <a:t>：</a:t>
            </a:r>
          </a:p>
          <a:p>
            <a:pPr marL="896938" lvl="1" indent="-268288" eaLnBrk="1" hangingPunct="1">
              <a:lnSpc>
                <a:spcPct val="140000"/>
              </a:lnSpc>
            </a:pPr>
            <a:r>
              <a:rPr lang="zh-CN" altLang="en-US" sz="2000" dirty="0" smtClean="0">
                <a:latin typeface="宋体" panose="02010600030101010101" pitchFamily="2" charset="-122"/>
                <a:ea typeface="宋体" panose="02010600030101010101" pitchFamily="2" charset="-122"/>
              </a:rPr>
              <a:t>分支的延迟：</a:t>
            </a:r>
            <a:r>
              <a:rPr lang="en-US" altLang="zh-CN" sz="2000" dirty="0" smtClean="0">
                <a:solidFill>
                  <a:srgbClr val="9933FF"/>
                </a:solidFill>
                <a:latin typeface="宋体" panose="02010600030101010101" pitchFamily="2" charset="-122"/>
                <a:ea typeface="宋体" panose="02010600030101010101" pitchFamily="2" charset="-122"/>
              </a:rPr>
              <a:t>1</a:t>
            </a:r>
            <a:r>
              <a:rPr lang="zh-CN" altLang="en-US" sz="2000" dirty="0" smtClean="0">
                <a:latin typeface="宋体" panose="02010600030101010101" pitchFamily="2" charset="-122"/>
                <a:ea typeface="宋体" panose="02010600030101010101" pitchFamily="2" charset="-122"/>
              </a:rPr>
              <a:t>个时钟周期。</a:t>
            </a:r>
          </a:p>
          <a:p>
            <a:pPr marL="896938" lvl="1" indent="-268288" eaLnBrk="1" hangingPunct="1">
              <a:lnSpc>
                <a:spcPct val="140000"/>
              </a:lnSpc>
            </a:pPr>
            <a:r>
              <a:rPr lang="zh-CN" altLang="en-US" sz="2000" dirty="0" smtClean="0">
                <a:latin typeface="宋体" panose="02010600030101010101" pitchFamily="2" charset="-122"/>
                <a:ea typeface="宋体" panose="02010600030101010101" pitchFamily="2" charset="-122"/>
              </a:rPr>
              <a:t>整数</a:t>
            </a:r>
            <a:r>
              <a:rPr lang="en-US" altLang="zh-CN" sz="2000" dirty="0" smtClean="0">
                <a:solidFill>
                  <a:srgbClr val="9933FF"/>
                </a:solidFill>
                <a:latin typeface="宋体" panose="02010600030101010101" pitchFamily="2" charset="-122"/>
                <a:ea typeface="宋体" panose="02010600030101010101" pitchFamily="2" charset="-122"/>
              </a:rPr>
              <a:t>load</a:t>
            </a:r>
            <a:r>
              <a:rPr lang="zh-CN" altLang="en-US" sz="2000" dirty="0" smtClean="0">
                <a:latin typeface="宋体" panose="02010600030101010101" pitchFamily="2" charset="-122"/>
                <a:ea typeface="宋体" panose="02010600030101010101" pitchFamily="2" charset="-122"/>
              </a:rPr>
              <a:t>指令的延迟：</a:t>
            </a:r>
            <a:r>
              <a:rPr lang="en-US" altLang="zh-CN" sz="2000" dirty="0" smtClean="0">
                <a:solidFill>
                  <a:srgbClr val="9933FF"/>
                </a:solidFill>
                <a:latin typeface="宋体" panose="02010600030101010101" pitchFamily="2" charset="-122"/>
                <a:ea typeface="宋体" panose="02010600030101010101" pitchFamily="2" charset="-122"/>
              </a:rPr>
              <a:t>1</a:t>
            </a:r>
            <a:r>
              <a:rPr lang="zh-CN" altLang="en-US" sz="2000" dirty="0" smtClean="0">
                <a:latin typeface="宋体" panose="02010600030101010101" pitchFamily="2" charset="-122"/>
                <a:ea typeface="宋体" panose="02010600030101010101" pitchFamily="2" charset="-122"/>
              </a:rPr>
              <a:t>个时钟周期。</a:t>
            </a:r>
          </a:p>
          <a:p>
            <a:pPr marL="896938" lvl="1" indent="-268288" eaLnBrk="1" hangingPunct="1">
              <a:lnSpc>
                <a:spcPct val="140000"/>
              </a:lnSpc>
            </a:pPr>
            <a:r>
              <a:rPr lang="zh-CN" altLang="en-US" sz="2000" dirty="0" smtClean="0">
                <a:latin typeface="宋体" panose="02010600030101010101" pitchFamily="2" charset="-122"/>
                <a:ea typeface="宋体" panose="02010600030101010101" pitchFamily="2" charset="-122"/>
              </a:rPr>
              <a:t>整数运算部件是全流水或者重复设置了足够的份数。 </a:t>
            </a:r>
          </a:p>
        </p:txBody>
      </p:sp>
    </p:spTree>
    <p:extLst>
      <p:ext uri="{BB962C8B-B14F-4D97-AF65-F5344CB8AC3E}">
        <p14:creationId xmlns:p14="http://schemas.microsoft.com/office/powerpoint/2010/main" val="478069854"/>
      </p:ext>
    </p:extLst>
  </p:cSld>
  <p:clrMapOvr>
    <a:masterClrMapping/>
  </p:clrMapOvr>
  <p:transition>
    <p:pull dir="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4931" name="Rectangle 3" descr="Rectangle: Click to edit Master text styles&#10;Second level&#10;Third level&#10;Fourth level&#10;Fifth level"/>
          <p:cNvSpPr>
            <a:spLocks noGrp="1" noChangeArrowheads="1"/>
          </p:cNvSpPr>
          <p:nvPr>
            <p:ph type="body" idx="1"/>
          </p:nvPr>
        </p:nvSpPr>
        <p:spPr>
          <a:xfrm>
            <a:off x="1014871" y="725993"/>
            <a:ext cx="7772400" cy="3938587"/>
          </a:xfrm>
        </p:spPr>
        <p:txBody>
          <a:bodyPr>
            <a:normAutofit/>
          </a:bodyPr>
          <a:lstStyle/>
          <a:p>
            <a:pPr marL="538163" indent="-538163" eaLnBrk="1" hangingPunct="1">
              <a:lnSpc>
                <a:spcPct val="150000"/>
              </a:lnSpc>
              <a:buNone/>
            </a:pPr>
            <a:r>
              <a:rPr lang="zh-CN" altLang="en-US" sz="2200" dirty="0" smtClean="0">
                <a:latin typeface="宋体" panose="02010600030101010101" pitchFamily="2" charset="-122"/>
                <a:ea typeface="宋体" panose="02010600030101010101" pitchFamily="2" charset="-122"/>
              </a:rPr>
              <a:t>例  </a:t>
            </a:r>
            <a:r>
              <a:rPr lang="zh-CN" altLang="en-US" sz="2200" dirty="0" smtClean="0">
                <a:solidFill>
                  <a:srgbClr val="000000"/>
                </a:solidFill>
                <a:latin typeface="宋体" panose="02010600030101010101" pitchFamily="2" charset="-122"/>
                <a:ea typeface="宋体" panose="02010600030101010101" pitchFamily="2" charset="-122"/>
              </a:rPr>
              <a:t>对于下面的源代码，转换成</a:t>
            </a:r>
            <a:r>
              <a:rPr lang="en-US" altLang="zh-CN" sz="2200" dirty="0" smtClean="0">
                <a:solidFill>
                  <a:srgbClr val="000000"/>
                </a:solidFill>
                <a:latin typeface="宋体" panose="02010600030101010101" pitchFamily="2" charset="-122"/>
                <a:ea typeface="宋体" panose="02010600030101010101" pitchFamily="2" charset="-122"/>
              </a:rPr>
              <a:t>MIPS</a:t>
            </a:r>
            <a:r>
              <a:rPr lang="zh-CN" altLang="en-US" sz="2200" dirty="0" smtClean="0">
                <a:solidFill>
                  <a:srgbClr val="000000"/>
                </a:solidFill>
                <a:latin typeface="宋体" panose="02010600030101010101" pitchFamily="2" charset="-122"/>
                <a:ea typeface="宋体" panose="02010600030101010101" pitchFamily="2" charset="-122"/>
              </a:rPr>
              <a:t>汇编语言，在</a:t>
            </a:r>
            <a:r>
              <a:rPr lang="zh-CN" altLang="en-US" sz="2200" dirty="0" smtClean="0">
                <a:solidFill>
                  <a:srgbClr val="D60093"/>
                </a:solidFill>
                <a:latin typeface="宋体" panose="02010600030101010101" pitchFamily="2" charset="-122"/>
                <a:ea typeface="宋体" panose="02010600030101010101" pitchFamily="2" charset="-122"/>
              </a:rPr>
              <a:t>不进行指令调度</a:t>
            </a:r>
            <a:r>
              <a:rPr lang="zh-CN" altLang="en-US" sz="2200" dirty="0" smtClean="0">
                <a:solidFill>
                  <a:srgbClr val="000000"/>
                </a:solidFill>
                <a:latin typeface="宋体" panose="02010600030101010101" pitchFamily="2" charset="-122"/>
                <a:ea typeface="宋体" panose="02010600030101010101" pitchFamily="2" charset="-122"/>
              </a:rPr>
              <a:t>和</a:t>
            </a:r>
            <a:r>
              <a:rPr lang="zh-CN" altLang="en-US" sz="2200" dirty="0" smtClean="0">
                <a:solidFill>
                  <a:srgbClr val="D60093"/>
                </a:solidFill>
                <a:latin typeface="宋体" panose="02010600030101010101" pitchFamily="2" charset="-122"/>
                <a:ea typeface="宋体" panose="02010600030101010101" pitchFamily="2" charset="-122"/>
              </a:rPr>
              <a:t>进行指令调度</a:t>
            </a:r>
            <a:r>
              <a:rPr lang="zh-CN" altLang="en-US" sz="2200" dirty="0" smtClean="0">
                <a:solidFill>
                  <a:srgbClr val="000000"/>
                </a:solidFill>
                <a:latin typeface="宋体" panose="02010600030101010101" pitchFamily="2" charset="-122"/>
                <a:ea typeface="宋体" panose="02010600030101010101" pitchFamily="2" charset="-122"/>
              </a:rPr>
              <a:t>两种情况下，分析其代码一次循环所需的执行时间。</a:t>
            </a:r>
          </a:p>
          <a:p>
            <a:pPr marL="457200" indent="-457200" eaLnBrk="1" hangingPunct="1">
              <a:lnSpc>
                <a:spcPct val="150000"/>
              </a:lnSpc>
              <a:buNone/>
            </a:pPr>
            <a:r>
              <a:rPr lang="zh-CN" altLang="en-US" sz="2200" dirty="0" smtClean="0">
                <a:solidFill>
                  <a:srgbClr val="000000"/>
                </a:solidFill>
                <a:latin typeface="宋体" panose="02010600030101010101" pitchFamily="2" charset="-122"/>
                <a:ea typeface="宋体" panose="02010600030101010101" pitchFamily="2" charset="-122"/>
              </a:rPr>
              <a:t>          </a:t>
            </a:r>
            <a:r>
              <a:rPr lang="en-US" altLang="zh-CN" sz="2200" dirty="0" smtClean="0">
                <a:solidFill>
                  <a:schemeClr val="tx1"/>
                </a:solidFill>
                <a:latin typeface="宋体" panose="02010600030101010101" pitchFamily="2" charset="-122"/>
                <a:ea typeface="宋体" panose="02010600030101010101" pitchFamily="2" charset="-122"/>
              </a:rPr>
              <a:t>for (</a:t>
            </a:r>
            <a:r>
              <a:rPr lang="en-US" altLang="zh-CN" sz="2200" dirty="0" err="1" smtClean="0">
                <a:solidFill>
                  <a:schemeClr val="tx1"/>
                </a:solidFill>
                <a:latin typeface="宋体" panose="02010600030101010101" pitchFamily="2" charset="-122"/>
                <a:ea typeface="宋体" panose="02010600030101010101" pitchFamily="2" charset="-122"/>
              </a:rPr>
              <a:t>i</a:t>
            </a:r>
            <a:r>
              <a:rPr lang="en-US" altLang="zh-CN" sz="2200" dirty="0" smtClean="0">
                <a:solidFill>
                  <a:schemeClr val="tx1"/>
                </a:solidFill>
                <a:latin typeface="宋体" panose="02010600030101010101" pitchFamily="2" charset="-122"/>
                <a:ea typeface="宋体" panose="02010600030101010101" pitchFamily="2" charset="-122"/>
              </a:rPr>
              <a:t>=1</a:t>
            </a:r>
            <a:r>
              <a:rPr lang="zh-CN" altLang="en-US" sz="2200" dirty="0" smtClean="0">
                <a:solidFill>
                  <a:schemeClr val="tx1"/>
                </a:solidFill>
                <a:latin typeface="宋体" panose="02010600030101010101" pitchFamily="2" charset="-122"/>
                <a:ea typeface="宋体" panose="02010600030101010101" pitchFamily="2" charset="-122"/>
              </a:rPr>
              <a:t>； </a:t>
            </a:r>
            <a:r>
              <a:rPr lang="en-US" altLang="zh-CN" sz="2200" dirty="0" err="1" smtClean="0">
                <a:solidFill>
                  <a:schemeClr val="tx1"/>
                </a:solidFill>
                <a:latin typeface="宋体" panose="02010600030101010101" pitchFamily="2" charset="-122"/>
                <a:ea typeface="宋体" panose="02010600030101010101" pitchFamily="2" charset="-122"/>
              </a:rPr>
              <a:t>i</a:t>
            </a:r>
            <a:r>
              <a:rPr lang="en-US" altLang="zh-CN" sz="2200" dirty="0" smtClean="0">
                <a:solidFill>
                  <a:schemeClr val="tx1"/>
                </a:solidFill>
                <a:latin typeface="宋体" panose="02010600030101010101" pitchFamily="2" charset="-122"/>
                <a:ea typeface="宋体" panose="02010600030101010101" pitchFamily="2" charset="-122"/>
              </a:rPr>
              <a:t>&lt;=1000</a:t>
            </a:r>
            <a:r>
              <a:rPr lang="zh-CN" altLang="en-US" sz="2200" dirty="0" smtClean="0">
                <a:solidFill>
                  <a:schemeClr val="tx1"/>
                </a:solidFill>
                <a:latin typeface="宋体" panose="02010600030101010101" pitchFamily="2" charset="-122"/>
                <a:ea typeface="宋体" panose="02010600030101010101" pitchFamily="2" charset="-122"/>
              </a:rPr>
              <a:t>； </a:t>
            </a:r>
            <a:r>
              <a:rPr lang="en-US" altLang="zh-CN" sz="2200" dirty="0" err="1" smtClean="0">
                <a:solidFill>
                  <a:schemeClr val="tx1"/>
                </a:solidFill>
                <a:latin typeface="宋体" panose="02010600030101010101" pitchFamily="2" charset="-122"/>
                <a:ea typeface="宋体" panose="02010600030101010101" pitchFamily="2" charset="-122"/>
              </a:rPr>
              <a:t>i</a:t>
            </a:r>
            <a:r>
              <a:rPr lang="en-US" altLang="zh-CN" sz="2200" dirty="0" smtClean="0">
                <a:solidFill>
                  <a:schemeClr val="tx1"/>
                </a:solidFill>
                <a:latin typeface="宋体" panose="02010600030101010101" pitchFamily="2" charset="-122"/>
                <a:ea typeface="宋体" panose="02010600030101010101" pitchFamily="2" charset="-122"/>
              </a:rPr>
              <a:t>++)</a:t>
            </a:r>
          </a:p>
          <a:p>
            <a:pPr marL="457200" indent="-457200" eaLnBrk="1" hangingPunct="1">
              <a:lnSpc>
                <a:spcPct val="150000"/>
              </a:lnSpc>
              <a:buNone/>
            </a:pPr>
            <a:r>
              <a:rPr lang="en-US" altLang="zh-CN" sz="2200" dirty="0" smtClean="0">
                <a:solidFill>
                  <a:schemeClr val="tx1"/>
                </a:solidFill>
                <a:latin typeface="宋体" panose="02010600030101010101" pitchFamily="2" charset="-122"/>
                <a:ea typeface="宋体" panose="02010600030101010101" pitchFamily="2" charset="-122"/>
              </a:rPr>
              <a:t>	             x[</a:t>
            </a:r>
            <a:r>
              <a:rPr lang="en-US" altLang="zh-CN" sz="2200" dirty="0" err="1" smtClean="0">
                <a:solidFill>
                  <a:schemeClr val="tx1"/>
                </a:solidFill>
                <a:latin typeface="宋体" panose="02010600030101010101" pitchFamily="2" charset="-122"/>
                <a:ea typeface="宋体" panose="02010600030101010101" pitchFamily="2" charset="-122"/>
              </a:rPr>
              <a:t>i</a:t>
            </a:r>
            <a:r>
              <a:rPr lang="en-US" altLang="zh-CN" sz="2200" dirty="0" smtClean="0">
                <a:solidFill>
                  <a:schemeClr val="tx1"/>
                </a:solidFill>
                <a:latin typeface="宋体" panose="02010600030101010101" pitchFamily="2" charset="-122"/>
                <a:ea typeface="宋体" panose="02010600030101010101" pitchFamily="2" charset="-122"/>
              </a:rPr>
              <a:t>] = x[</a:t>
            </a:r>
            <a:r>
              <a:rPr lang="en-US" altLang="zh-CN" sz="2200" dirty="0" err="1" smtClean="0">
                <a:solidFill>
                  <a:schemeClr val="tx1"/>
                </a:solidFill>
                <a:latin typeface="宋体" panose="02010600030101010101" pitchFamily="2" charset="-122"/>
                <a:ea typeface="宋体" panose="02010600030101010101" pitchFamily="2" charset="-122"/>
              </a:rPr>
              <a:t>i</a:t>
            </a:r>
            <a:r>
              <a:rPr lang="en-US" altLang="zh-CN" sz="2200" dirty="0" smtClean="0">
                <a:solidFill>
                  <a:schemeClr val="tx1"/>
                </a:solidFill>
                <a:latin typeface="宋体" panose="02010600030101010101" pitchFamily="2" charset="-122"/>
                <a:ea typeface="宋体" panose="02010600030101010101" pitchFamily="2" charset="-122"/>
              </a:rPr>
              <a:t>] + s</a:t>
            </a:r>
            <a:r>
              <a:rPr lang="zh-CN" altLang="en-US" sz="2200" dirty="0" smtClean="0">
                <a:solidFill>
                  <a:schemeClr val="tx1"/>
                </a:solidFill>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12380757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5955" name="Rectangle 3" descr="Rectangle: Click to edit Master text styles&#10;Second level&#10;Third level&#10;Fourth level&#10;Fifth level"/>
          <p:cNvSpPr>
            <a:spLocks noGrp="1" noChangeArrowheads="1"/>
          </p:cNvSpPr>
          <p:nvPr>
            <p:ph type="body" idx="1"/>
          </p:nvPr>
        </p:nvSpPr>
        <p:spPr>
          <a:xfrm>
            <a:off x="1513259" y="1505497"/>
            <a:ext cx="5761038" cy="4681537"/>
          </a:xfrm>
        </p:spPr>
        <p:txBody>
          <a:bodyPr>
            <a:noAutofit/>
          </a:bodyPr>
          <a:lstStyle/>
          <a:p>
            <a:pPr marL="457200" indent="-457200" eaLnBrk="1" hangingPunct="1">
              <a:lnSpc>
                <a:spcPct val="110000"/>
              </a:lnSpc>
              <a:buNone/>
            </a:pPr>
            <a:r>
              <a:rPr lang="en-US" altLang="zh-CN" sz="2000" dirty="0" smtClean="0">
                <a:solidFill>
                  <a:schemeClr val="tx1"/>
                </a:solidFill>
                <a:latin typeface="宋体" panose="02010600030101010101" pitchFamily="2" charset="-122"/>
                <a:ea typeface="宋体" panose="02010600030101010101" pitchFamily="2" charset="-122"/>
              </a:rPr>
              <a:t>Loop</a:t>
            </a:r>
            <a:r>
              <a:rPr lang="zh-CN" altLang="en-US" sz="2000" dirty="0" smtClean="0">
                <a:solidFill>
                  <a:schemeClr val="tx1"/>
                </a:solidFill>
                <a:latin typeface="宋体" panose="02010600030101010101" pitchFamily="2" charset="-122"/>
                <a:ea typeface="宋体" panose="02010600030101010101" pitchFamily="2" charset="-122"/>
              </a:rPr>
              <a:t>：</a:t>
            </a:r>
            <a:r>
              <a:rPr lang="en-US" altLang="zh-CN" sz="2000" dirty="0" smtClean="0">
                <a:solidFill>
                  <a:schemeClr val="tx1"/>
                </a:solidFill>
                <a:latin typeface="宋体" panose="02010600030101010101" pitchFamily="2" charset="-122"/>
                <a:ea typeface="宋体" panose="02010600030101010101" pitchFamily="2" charset="-122"/>
              </a:rPr>
              <a:t>L.D	  </a:t>
            </a:r>
            <a:r>
              <a:rPr lang="en-US" altLang="zh-CN" sz="2000" dirty="0" smtClean="0">
                <a:solidFill>
                  <a:srgbClr val="D60093"/>
                </a:solidFill>
                <a:latin typeface="宋体" panose="02010600030101010101" pitchFamily="2" charset="-122"/>
                <a:ea typeface="宋体" panose="02010600030101010101" pitchFamily="2" charset="-122"/>
              </a:rPr>
              <a:t>F0</a:t>
            </a:r>
            <a:r>
              <a:rPr lang="en-US" altLang="zh-CN" sz="2000" dirty="0" smtClean="0">
                <a:solidFill>
                  <a:schemeClr val="tx1"/>
                </a:solidFill>
                <a:latin typeface="宋体" panose="02010600030101010101" pitchFamily="2" charset="-122"/>
                <a:ea typeface="宋体" panose="02010600030101010101" pitchFamily="2" charset="-122"/>
              </a:rPr>
              <a:t>,0</a:t>
            </a:r>
            <a:r>
              <a:rPr lang="zh-CN" altLang="en-US" sz="2000" dirty="0" smtClean="0">
                <a:solidFill>
                  <a:schemeClr val="tx1"/>
                </a:solidFill>
                <a:latin typeface="宋体" panose="02010600030101010101" pitchFamily="2" charset="-122"/>
                <a:ea typeface="宋体" panose="02010600030101010101" pitchFamily="2" charset="-122"/>
              </a:rPr>
              <a:t>（</a:t>
            </a:r>
            <a:r>
              <a:rPr lang="en-US" altLang="zh-CN" sz="2000" dirty="0" smtClean="0">
                <a:solidFill>
                  <a:schemeClr val="tx1"/>
                </a:solidFill>
                <a:latin typeface="宋体" panose="02010600030101010101" pitchFamily="2" charset="-122"/>
                <a:ea typeface="宋体" panose="02010600030101010101" pitchFamily="2" charset="-122"/>
              </a:rPr>
              <a:t>R1</a:t>
            </a:r>
            <a:r>
              <a:rPr lang="zh-CN" altLang="en-US" sz="2000" dirty="0" smtClean="0">
                <a:solidFill>
                  <a:schemeClr val="tx1"/>
                </a:solidFill>
                <a:latin typeface="宋体" panose="02010600030101010101" pitchFamily="2" charset="-122"/>
                <a:ea typeface="宋体" panose="02010600030101010101" pitchFamily="2" charset="-122"/>
              </a:rPr>
              <a:t>）</a:t>
            </a:r>
            <a:endParaRPr lang="zh-CN" altLang="en-US" sz="2000" dirty="0">
              <a:solidFill>
                <a:srgbClr val="000000"/>
              </a:solidFill>
              <a:latin typeface="宋体" panose="02010600030101010101" pitchFamily="2" charset="-122"/>
              <a:ea typeface="宋体" panose="02010600030101010101" pitchFamily="2" charset="-122"/>
            </a:endParaRPr>
          </a:p>
          <a:p>
            <a:pPr marL="457200" indent="-457200" eaLnBrk="1" hangingPunct="1">
              <a:lnSpc>
                <a:spcPct val="110000"/>
              </a:lnSpc>
              <a:buNone/>
            </a:pPr>
            <a:r>
              <a:rPr lang="zh-CN" altLang="en-US" sz="2000" dirty="0" smtClean="0">
                <a:solidFill>
                  <a:schemeClr val="tx1"/>
                </a:solidFill>
                <a:latin typeface="宋体" panose="02010600030101010101" pitchFamily="2" charset="-122"/>
                <a:ea typeface="宋体" panose="02010600030101010101" pitchFamily="2" charset="-122"/>
              </a:rPr>
              <a:t>	  </a:t>
            </a:r>
            <a:r>
              <a:rPr lang="en-US" altLang="zh-CN" sz="2000" dirty="0" smtClean="0">
                <a:solidFill>
                  <a:schemeClr val="tx1"/>
                </a:solidFill>
                <a:latin typeface="宋体" panose="02010600030101010101" pitchFamily="2" charset="-122"/>
                <a:ea typeface="宋体" panose="02010600030101010101" pitchFamily="2" charset="-122"/>
              </a:rPr>
              <a:t>ADD.D	  </a:t>
            </a:r>
            <a:r>
              <a:rPr lang="en-US" altLang="zh-CN" sz="2000" dirty="0" smtClean="0">
                <a:solidFill>
                  <a:srgbClr val="008000"/>
                </a:solidFill>
                <a:latin typeface="宋体" panose="02010600030101010101" pitchFamily="2" charset="-122"/>
                <a:ea typeface="宋体" panose="02010600030101010101" pitchFamily="2" charset="-122"/>
              </a:rPr>
              <a:t>F4</a:t>
            </a:r>
            <a:r>
              <a:rPr lang="en-US" altLang="zh-CN" sz="2000" dirty="0" smtClean="0">
                <a:solidFill>
                  <a:schemeClr val="tx1"/>
                </a:solidFill>
                <a:latin typeface="宋体" panose="02010600030101010101" pitchFamily="2" charset="-122"/>
                <a:ea typeface="宋体" panose="02010600030101010101" pitchFamily="2" charset="-122"/>
              </a:rPr>
              <a:t>,</a:t>
            </a:r>
            <a:r>
              <a:rPr lang="en-US" altLang="zh-CN" sz="2000" dirty="0" smtClean="0">
                <a:solidFill>
                  <a:srgbClr val="D60093"/>
                </a:solidFill>
                <a:latin typeface="宋体" panose="02010600030101010101" pitchFamily="2" charset="-122"/>
                <a:ea typeface="宋体" panose="02010600030101010101" pitchFamily="2" charset="-122"/>
              </a:rPr>
              <a:t>F0</a:t>
            </a:r>
            <a:r>
              <a:rPr lang="en-US" altLang="zh-CN" sz="2000" dirty="0" smtClean="0">
                <a:solidFill>
                  <a:schemeClr val="tx1"/>
                </a:solidFill>
                <a:latin typeface="宋体" panose="02010600030101010101" pitchFamily="2" charset="-122"/>
                <a:ea typeface="宋体" panose="02010600030101010101" pitchFamily="2" charset="-122"/>
              </a:rPr>
              <a:t>,F2	     	   </a:t>
            </a:r>
          </a:p>
          <a:p>
            <a:pPr marL="457200" indent="-457200" eaLnBrk="1" hangingPunct="1">
              <a:lnSpc>
                <a:spcPct val="110000"/>
              </a:lnSpc>
              <a:buNone/>
            </a:pPr>
            <a:r>
              <a:rPr lang="en-US" altLang="zh-CN" sz="2000" dirty="0" smtClean="0">
                <a:solidFill>
                  <a:schemeClr val="tx1"/>
                </a:solidFill>
                <a:latin typeface="宋体" panose="02010600030101010101" pitchFamily="2" charset="-122"/>
                <a:ea typeface="宋体" panose="02010600030101010101" pitchFamily="2" charset="-122"/>
              </a:rPr>
              <a:t>      S.D	  </a:t>
            </a:r>
            <a:r>
              <a:rPr lang="en-US" altLang="zh-CN" sz="2000" dirty="0" smtClean="0">
                <a:solidFill>
                  <a:srgbClr val="008000"/>
                </a:solidFill>
                <a:latin typeface="宋体" panose="02010600030101010101" pitchFamily="2" charset="-122"/>
                <a:ea typeface="宋体" panose="02010600030101010101" pitchFamily="2" charset="-122"/>
              </a:rPr>
              <a:t>F4</a:t>
            </a:r>
            <a:r>
              <a:rPr lang="en-US" altLang="zh-CN" sz="2000" dirty="0" smtClean="0">
                <a:solidFill>
                  <a:schemeClr val="tx1"/>
                </a:solidFill>
                <a:latin typeface="宋体" panose="02010600030101010101" pitchFamily="2" charset="-122"/>
                <a:ea typeface="宋体" panose="02010600030101010101" pitchFamily="2" charset="-122"/>
              </a:rPr>
              <a:t>, 0</a:t>
            </a:r>
            <a:r>
              <a:rPr lang="zh-CN" altLang="en-US" sz="2000" dirty="0" smtClean="0">
                <a:solidFill>
                  <a:schemeClr val="tx1"/>
                </a:solidFill>
                <a:latin typeface="宋体" panose="02010600030101010101" pitchFamily="2" charset="-122"/>
                <a:ea typeface="宋体" panose="02010600030101010101" pitchFamily="2" charset="-122"/>
              </a:rPr>
              <a:t>（</a:t>
            </a:r>
            <a:r>
              <a:rPr lang="en-US" altLang="zh-CN" sz="2000" dirty="0" smtClean="0">
                <a:solidFill>
                  <a:schemeClr val="tx1"/>
                </a:solidFill>
                <a:latin typeface="宋体" panose="02010600030101010101" pitchFamily="2" charset="-122"/>
                <a:ea typeface="宋体" panose="02010600030101010101" pitchFamily="2" charset="-122"/>
              </a:rPr>
              <a:t>R1</a:t>
            </a:r>
            <a:r>
              <a:rPr lang="zh-CN" altLang="en-US" sz="2000" dirty="0" smtClean="0">
                <a:solidFill>
                  <a:schemeClr val="tx1"/>
                </a:solidFill>
                <a:latin typeface="宋体" panose="02010600030101010101" pitchFamily="2" charset="-122"/>
                <a:ea typeface="宋体" panose="02010600030101010101" pitchFamily="2" charset="-122"/>
              </a:rPr>
              <a:t>）	  </a:t>
            </a:r>
          </a:p>
          <a:p>
            <a:pPr marL="457200" indent="-457200" eaLnBrk="1" hangingPunct="1">
              <a:lnSpc>
                <a:spcPct val="110000"/>
              </a:lnSpc>
              <a:buNone/>
            </a:pPr>
            <a:r>
              <a:rPr lang="zh-CN" altLang="en-US" sz="2000" dirty="0" smtClean="0">
                <a:solidFill>
                  <a:schemeClr val="tx1"/>
                </a:solidFill>
                <a:latin typeface="宋体" panose="02010600030101010101" pitchFamily="2" charset="-122"/>
                <a:ea typeface="宋体" panose="02010600030101010101" pitchFamily="2" charset="-122"/>
              </a:rPr>
              <a:t>      </a:t>
            </a:r>
            <a:r>
              <a:rPr lang="en-US" altLang="zh-CN" sz="2000" dirty="0" smtClean="0">
                <a:solidFill>
                  <a:schemeClr val="tx1"/>
                </a:solidFill>
                <a:latin typeface="宋体" panose="02010600030101010101" pitchFamily="2" charset="-122"/>
                <a:ea typeface="宋体" panose="02010600030101010101" pitchFamily="2" charset="-122"/>
              </a:rPr>
              <a:t>DADDIU    </a:t>
            </a:r>
            <a:r>
              <a:rPr lang="en-US" altLang="zh-CN" sz="2000" dirty="0" smtClean="0">
                <a:latin typeface="宋体" panose="02010600030101010101" pitchFamily="2" charset="-122"/>
                <a:ea typeface="宋体" panose="02010600030101010101" pitchFamily="2" charset="-122"/>
              </a:rPr>
              <a:t>R1</a:t>
            </a:r>
            <a:r>
              <a:rPr lang="en-US" altLang="zh-CN" sz="2000" dirty="0" smtClean="0">
                <a:solidFill>
                  <a:schemeClr val="tx1"/>
                </a:solidFill>
                <a:latin typeface="宋体" panose="02010600030101010101" pitchFamily="2" charset="-122"/>
                <a:ea typeface="宋体" panose="02010600030101010101" pitchFamily="2" charset="-122"/>
              </a:rPr>
              <a:t>,R1</a:t>
            </a:r>
            <a:r>
              <a:rPr lang="zh-CN" altLang="en-US" sz="2000" dirty="0" smtClean="0">
                <a:solidFill>
                  <a:schemeClr val="tx1"/>
                </a:solidFill>
                <a:latin typeface="宋体" panose="02010600030101010101" pitchFamily="2" charset="-122"/>
                <a:ea typeface="宋体" panose="02010600030101010101" pitchFamily="2" charset="-122"/>
              </a:rPr>
              <a:t>，</a:t>
            </a:r>
            <a:r>
              <a:rPr lang="en-US" altLang="zh-CN" sz="2000" dirty="0" smtClean="0">
                <a:solidFill>
                  <a:schemeClr val="tx1"/>
                </a:solidFill>
                <a:latin typeface="宋体" panose="02010600030101010101" pitchFamily="2" charset="-122"/>
                <a:ea typeface="宋体" panose="02010600030101010101" pitchFamily="2" charset="-122"/>
              </a:rPr>
              <a:t>#-8	                    </a:t>
            </a:r>
            <a:endParaRPr lang="en-US" altLang="zh-CN" sz="2000" dirty="0">
              <a:solidFill>
                <a:srgbClr val="000000"/>
              </a:solidFill>
              <a:latin typeface="宋体" panose="02010600030101010101" pitchFamily="2" charset="-122"/>
              <a:ea typeface="宋体" panose="02010600030101010101" pitchFamily="2" charset="-122"/>
            </a:endParaRPr>
          </a:p>
          <a:p>
            <a:pPr marL="457200" indent="-457200" eaLnBrk="1" hangingPunct="1">
              <a:lnSpc>
                <a:spcPct val="110000"/>
              </a:lnSpc>
              <a:buNone/>
            </a:pPr>
            <a:r>
              <a:rPr lang="en-US" altLang="zh-CN" sz="2000" dirty="0" smtClean="0">
                <a:solidFill>
                  <a:schemeClr val="tx1"/>
                </a:solidFill>
                <a:latin typeface="宋体" panose="02010600030101010101" pitchFamily="2" charset="-122"/>
                <a:ea typeface="宋体" panose="02010600030101010101" pitchFamily="2" charset="-122"/>
              </a:rPr>
              <a:t>	  BNE	  </a:t>
            </a:r>
            <a:r>
              <a:rPr lang="en-US" altLang="zh-CN" sz="2000" dirty="0" smtClean="0">
                <a:latin typeface="宋体" panose="02010600030101010101" pitchFamily="2" charset="-122"/>
                <a:ea typeface="宋体" panose="02010600030101010101" pitchFamily="2" charset="-122"/>
              </a:rPr>
              <a:t>R1</a:t>
            </a:r>
            <a:r>
              <a:rPr lang="en-US" altLang="zh-CN" sz="2000" dirty="0" smtClean="0">
                <a:solidFill>
                  <a:schemeClr val="tx1"/>
                </a:solidFill>
                <a:latin typeface="宋体" panose="02010600030101010101" pitchFamily="2" charset="-122"/>
                <a:ea typeface="宋体" panose="02010600030101010101" pitchFamily="2" charset="-122"/>
              </a:rPr>
              <a:t>,R2,Loop</a:t>
            </a:r>
          </a:p>
          <a:p>
            <a:pPr marL="457200" indent="-457200" eaLnBrk="1" hangingPunct="1">
              <a:lnSpc>
                <a:spcPct val="110000"/>
              </a:lnSpc>
              <a:buNone/>
            </a:pPr>
            <a:r>
              <a:rPr lang="zh-CN" altLang="en-US" sz="2000" dirty="0" smtClean="0">
                <a:latin typeface="宋体" panose="02010600030101010101" pitchFamily="2" charset="-122"/>
                <a:ea typeface="宋体" panose="02010600030101010101" pitchFamily="2" charset="-122"/>
              </a:rPr>
              <a:t>其中：</a:t>
            </a:r>
          </a:p>
          <a:p>
            <a:pPr marL="457200" indent="-457200" eaLnBrk="1" hangingPunct="1">
              <a:lnSpc>
                <a:spcPct val="110000"/>
              </a:lnSpc>
              <a:buClr>
                <a:schemeClr val="hlink"/>
              </a:buClr>
              <a:buSzPct val="60000"/>
              <a:buFont typeface="Wingdings" panose="05000000000000000000" pitchFamily="2" charset="2"/>
              <a:buChar char="p"/>
            </a:pPr>
            <a:r>
              <a:rPr lang="zh-CN" altLang="en-US" sz="2000" dirty="0">
                <a:solidFill>
                  <a:srgbClr val="000000"/>
                </a:solidFill>
                <a:latin typeface="宋体" panose="02010600030101010101" pitchFamily="2" charset="-122"/>
                <a:ea typeface="宋体" panose="02010600030101010101" pitchFamily="2" charset="-122"/>
              </a:rPr>
              <a:t>整数寄存器</a:t>
            </a:r>
            <a:r>
              <a:rPr lang="en-US" altLang="zh-CN" sz="2000" dirty="0">
                <a:solidFill>
                  <a:srgbClr val="D60093"/>
                </a:solidFill>
                <a:latin typeface="宋体" panose="02010600030101010101" pitchFamily="2" charset="-122"/>
                <a:ea typeface="宋体" panose="02010600030101010101" pitchFamily="2" charset="-122"/>
              </a:rPr>
              <a:t>R1</a:t>
            </a:r>
            <a:r>
              <a:rPr lang="zh-CN" altLang="en-US" sz="2000" dirty="0">
                <a:solidFill>
                  <a:srgbClr val="D60093"/>
                </a:solidFill>
                <a:latin typeface="宋体" panose="02010600030101010101" pitchFamily="2" charset="-122"/>
                <a:ea typeface="宋体" panose="02010600030101010101" pitchFamily="2" charset="-122"/>
              </a:rPr>
              <a:t>：</a:t>
            </a:r>
            <a:r>
              <a:rPr lang="zh-CN" altLang="en-US" sz="2000" dirty="0">
                <a:solidFill>
                  <a:srgbClr val="000000"/>
                </a:solidFill>
                <a:latin typeface="宋体" panose="02010600030101010101" pitchFamily="2" charset="-122"/>
                <a:ea typeface="宋体" panose="02010600030101010101" pitchFamily="2" charset="-122"/>
              </a:rPr>
              <a:t>指向向量中的当前元素。</a:t>
            </a:r>
          </a:p>
          <a:p>
            <a:pPr marL="457200" indent="-457200" eaLnBrk="1" hangingPunct="1">
              <a:lnSpc>
                <a:spcPct val="110000"/>
              </a:lnSpc>
              <a:buClr>
                <a:schemeClr val="hlink"/>
              </a:buClr>
              <a:buSzPct val="60000"/>
              <a:buNone/>
            </a:pPr>
            <a:r>
              <a:rPr lang="zh-CN" altLang="en-US" sz="2000" dirty="0">
                <a:solidFill>
                  <a:srgbClr val="000000"/>
                </a:solidFill>
                <a:latin typeface="宋体" panose="02010600030101010101" pitchFamily="2" charset="-122"/>
                <a:ea typeface="宋体" panose="02010600030101010101" pitchFamily="2" charset="-122"/>
              </a:rPr>
              <a:t>       （初值为向量中最高端元素的地址）</a:t>
            </a:r>
          </a:p>
          <a:p>
            <a:pPr marL="457200" indent="-457200" eaLnBrk="1" hangingPunct="1">
              <a:lnSpc>
                <a:spcPct val="110000"/>
              </a:lnSpc>
              <a:buClr>
                <a:schemeClr val="hlink"/>
              </a:buClr>
              <a:buSzPct val="60000"/>
              <a:buFont typeface="Wingdings" panose="05000000000000000000" pitchFamily="2" charset="2"/>
              <a:buChar char="p"/>
            </a:pPr>
            <a:r>
              <a:rPr lang="zh-CN" altLang="en-US" sz="2000" dirty="0">
                <a:solidFill>
                  <a:srgbClr val="000000"/>
                </a:solidFill>
                <a:latin typeface="宋体" panose="02010600030101010101" pitchFamily="2" charset="-122"/>
                <a:ea typeface="宋体" panose="02010600030101010101" pitchFamily="2" charset="-122"/>
              </a:rPr>
              <a:t>浮点寄存器</a:t>
            </a:r>
            <a:r>
              <a:rPr lang="en-US" altLang="zh-CN" sz="2000" dirty="0">
                <a:solidFill>
                  <a:srgbClr val="D60093"/>
                </a:solidFill>
                <a:latin typeface="宋体" panose="02010600030101010101" pitchFamily="2" charset="-122"/>
                <a:ea typeface="宋体" panose="02010600030101010101" pitchFamily="2" charset="-122"/>
              </a:rPr>
              <a:t>F2</a:t>
            </a:r>
            <a:r>
              <a:rPr lang="zh-CN" altLang="en-US" sz="2000" dirty="0">
                <a:solidFill>
                  <a:srgbClr val="D60093"/>
                </a:solidFill>
                <a:latin typeface="宋体" panose="02010600030101010101" pitchFamily="2" charset="-122"/>
                <a:ea typeface="宋体" panose="02010600030101010101" pitchFamily="2" charset="-122"/>
              </a:rPr>
              <a:t>：</a:t>
            </a:r>
            <a:r>
              <a:rPr lang="zh-CN" altLang="en-US" sz="2000" dirty="0">
                <a:solidFill>
                  <a:srgbClr val="000000"/>
                </a:solidFill>
                <a:latin typeface="宋体" panose="02010600030101010101" pitchFamily="2" charset="-122"/>
                <a:ea typeface="宋体" panose="02010600030101010101" pitchFamily="2" charset="-122"/>
              </a:rPr>
              <a:t>用于保存常数</a:t>
            </a:r>
            <a:r>
              <a:rPr lang="en-US" altLang="zh-CN" sz="2000" dirty="0">
                <a:solidFill>
                  <a:srgbClr val="D60093"/>
                </a:solidFill>
                <a:latin typeface="宋体" panose="02010600030101010101" pitchFamily="2" charset="-122"/>
                <a:ea typeface="宋体" panose="02010600030101010101" pitchFamily="2" charset="-122"/>
              </a:rPr>
              <a:t>s</a:t>
            </a:r>
            <a:r>
              <a:rPr lang="zh-CN" altLang="en-US" sz="2000" dirty="0">
                <a:solidFill>
                  <a:srgbClr val="000000"/>
                </a:solidFill>
                <a:latin typeface="宋体" panose="02010600030101010101" pitchFamily="2" charset="-122"/>
                <a:ea typeface="宋体" panose="02010600030101010101" pitchFamily="2" charset="-122"/>
              </a:rPr>
              <a:t>。</a:t>
            </a:r>
          </a:p>
          <a:p>
            <a:pPr marL="457200" indent="-457200" eaLnBrk="1" hangingPunct="1">
              <a:lnSpc>
                <a:spcPct val="110000"/>
              </a:lnSpc>
              <a:buClr>
                <a:schemeClr val="hlink"/>
              </a:buClr>
              <a:buSzPct val="60000"/>
              <a:buNone/>
            </a:pPr>
            <a:r>
              <a:rPr lang="zh-CN" altLang="en-US" sz="2000" dirty="0">
                <a:solidFill>
                  <a:srgbClr val="000000"/>
                </a:solidFill>
                <a:latin typeface="宋体" panose="02010600030101010101" pitchFamily="2" charset="-122"/>
                <a:ea typeface="宋体" panose="02010600030101010101" pitchFamily="2" charset="-122"/>
              </a:rPr>
              <a:t>	            </a:t>
            </a:r>
          </a:p>
        </p:txBody>
      </p:sp>
      <p:sp>
        <p:nvSpPr>
          <p:cNvPr id="4" name="矩形 3"/>
          <p:cNvSpPr/>
          <p:nvPr/>
        </p:nvSpPr>
        <p:spPr>
          <a:xfrm>
            <a:off x="978310" y="365270"/>
            <a:ext cx="6601810" cy="943528"/>
          </a:xfrm>
          <a:prstGeom prst="rect">
            <a:avLst/>
          </a:prstGeom>
        </p:spPr>
        <p:txBody>
          <a:bodyPr wrap="square">
            <a:spAutoFit/>
          </a:bodyPr>
          <a:lstStyle/>
          <a:p>
            <a:pPr indent="538163">
              <a:lnSpc>
                <a:spcPct val="150000"/>
              </a:lnSpc>
            </a:pPr>
            <a:r>
              <a:rPr lang="zh-CN" altLang="en-US" sz="2000" dirty="0">
                <a:latin typeface="宋体" panose="02010600030101010101" pitchFamily="2" charset="-122"/>
                <a:ea typeface="宋体" panose="02010600030101010101" pitchFamily="2" charset="-122"/>
              </a:rPr>
              <a:t>把该程序翻译成</a:t>
            </a:r>
            <a:r>
              <a:rPr lang="en-US" altLang="zh-CN" sz="2000" dirty="0">
                <a:latin typeface="宋体" panose="02010600030101010101" pitchFamily="2" charset="-122"/>
                <a:ea typeface="宋体" panose="02010600030101010101" pitchFamily="2" charset="-122"/>
              </a:rPr>
              <a:t>MIPS</a:t>
            </a:r>
            <a:r>
              <a:rPr lang="zh-CN" altLang="en-US" sz="2000" dirty="0">
                <a:latin typeface="宋体" panose="02010600030101010101" pitchFamily="2" charset="-122"/>
                <a:ea typeface="宋体" panose="02010600030101010101" pitchFamily="2" charset="-122"/>
              </a:rPr>
              <a:t>汇编语言代码：</a:t>
            </a:r>
            <a:r>
              <a:rPr lang="zh-CN" altLang="en-US" sz="2000" dirty="0">
                <a:solidFill>
                  <a:srgbClr val="000000"/>
                </a:solidFill>
                <a:latin typeface="宋体" panose="02010600030101010101" pitchFamily="2" charset="-122"/>
                <a:ea typeface="宋体" panose="02010600030101010101" pitchFamily="2" charset="-122"/>
              </a:rPr>
              <a:t>假设</a:t>
            </a:r>
            <a:r>
              <a:rPr lang="en-US" altLang="zh-CN" sz="2000" dirty="0">
                <a:solidFill>
                  <a:srgbClr val="9933FF"/>
                </a:solidFill>
                <a:latin typeface="宋体" panose="02010600030101010101" pitchFamily="2" charset="-122"/>
                <a:ea typeface="宋体" panose="02010600030101010101" pitchFamily="2" charset="-122"/>
              </a:rPr>
              <a:t>R1</a:t>
            </a:r>
            <a:r>
              <a:rPr lang="zh-CN" altLang="en-US" sz="2000" dirty="0">
                <a:solidFill>
                  <a:srgbClr val="000000"/>
                </a:solidFill>
                <a:latin typeface="宋体" panose="02010600030101010101" pitchFamily="2" charset="-122"/>
                <a:ea typeface="宋体" panose="02010600030101010101" pitchFamily="2" charset="-122"/>
              </a:rPr>
              <a:t>的初值是指向第一个元素，</a:t>
            </a:r>
            <a:r>
              <a:rPr lang="en-US" altLang="zh-CN" sz="2000" dirty="0">
                <a:solidFill>
                  <a:srgbClr val="9933FF"/>
                </a:solidFill>
                <a:latin typeface="宋体" panose="02010600030101010101" pitchFamily="2" charset="-122"/>
                <a:ea typeface="宋体" panose="02010600030101010101" pitchFamily="2" charset="-122"/>
              </a:rPr>
              <a:t>8</a:t>
            </a:r>
            <a:r>
              <a:rPr lang="zh-CN" altLang="en-US" sz="2000" dirty="0">
                <a:solidFill>
                  <a:srgbClr val="9933FF"/>
                </a:solidFill>
                <a:latin typeface="宋体" panose="02010600030101010101" pitchFamily="2" charset="-122"/>
                <a:ea typeface="宋体" panose="02010600030101010101" pitchFamily="2" charset="-122"/>
              </a:rPr>
              <a:t>（</a:t>
            </a:r>
            <a:r>
              <a:rPr lang="en-US" altLang="zh-CN" sz="2000" dirty="0">
                <a:solidFill>
                  <a:srgbClr val="9933FF"/>
                </a:solidFill>
                <a:latin typeface="宋体" panose="02010600030101010101" pitchFamily="2" charset="-122"/>
                <a:ea typeface="宋体" panose="02010600030101010101" pitchFamily="2" charset="-122"/>
              </a:rPr>
              <a:t>R2</a:t>
            </a:r>
            <a:r>
              <a:rPr lang="zh-CN" altLang="en-US" sz="2000" dirty="0">
                <a:solidFill>
                  <a:srgbClr val="9933FF"/>
                </a:solidFill>
                <a:latin typeface="宋体" panose="02010600030101010101" pitchFamily="2" charset="-122"/>
                <a:ea typeface="宋体" panose="02010600030101010101" pitchFamily="2" charset="-122"/>
              </a:rPr>
              <a:t>）</a:t>
            </a:r>
            <a:r>
              <a:rPr lang="zh-CN" altLang="en-US" sz="2000" dirty="0">
                <a:solidFill>
                  <a:srgbClr val="000000"/>
                </a:solidFill>
                <a:latin typeface="宋体" panose="02010600030101010101" pitchFamily="2" charset="-122"/>
                <a:ea typeface="宋体" panose="02010600030101010101" pitchFamily="2" charset="-122"/>
              </a:rPr>
              <a:t>指向最后一个元素。</a:t>
            </a:r>
          </a:p>
        </p:txBody>
      </p:sp>
    </p:spTree>
    <p:extLst>
      <p:ext uri="{BB962C8B-B14F-4D97-AF65-F5344CB8AC3E}">
        <p14:creationId xmlns:p14="http://schemas.microsoft.com/office/powerpoint/2010/main" val="32895396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7" name="矩形 6"/>
          <p:cNvSpPr/>
          <p:nvPr/>
        </p:nvSpPr>
        <p:spPr>
          <a:xfrm>
            <a:off x="544082" y="0"/>
            <a:ext cx="9189578" cy="646331"/>
          </a:xfrm>
          <a:prstGeom prst="rect">
            <a:avLst/>
          </a:prstGeom>
        </p:spPr>
        <p:txBody>
          <a:bodyPr wrap="square">
            <a:spAutoFit/>
          </a:bodyPr>
          <a:lstStyle/>
          <a:p>
            <a:pPr marL="457200" indent="-457200">
              <a:lnSpc>
                <a:spcPct val="150000"/>
              </a:lnSpc>
            </a:pPr>
            <a:r>
              <a:rPr lang="zh-CN" altLang="en-US" sz="2400" dirty="0" smtClean="0">
                <a:latin typeface="宋体" panose="02010600030101010101" pitchFamily="2" charset="-122"/>
                <a:ea typeface="宋体" panose="02010600030101010101" pitchFamily="2" charset="-122"/>
              </a:rPr>
              <a:t>情况 </a:t>
            </a:r>
            <a:r>
              <a:rPr lang="en-US" altLang="zh-CN" sz="2400" dirty="0" smtClean="0">
                <a:latin typeface="宋体" panose="02010600030101010101" pitchFamily="2" charset="-122"/>
                <a:ea typeface="宋体" panose="02010600030101010101" pitchFamily="2" charset="-122"/>
              </a:rPr>
              <a:t>I  </a:t>
            </a:r>
            <a:r>
              <a:rPr lang="zh-CN" altLang="en-US" sz="2400" dirty="0" smtClean="0">
                <a:latin typeface="宋体" panose="02010600030101010101" pitchFamily="2" charset="-122"/>
                <a:ea typeface="宋体" panose="02010600030101010101" pitchFamily="2" charset="-122"/>
              </a:rPr>
              <a:t>： 不进行调度</a:t>
            </a:r>
            <a:r>
              <a:rPr lang="zh-CN" altLang="en-US" sz="2400" dirty="0" smtClean="0">
                <a:solidFill>
                  <a:srgbClr val="000000"/>
                </a:solidFill>
                <a:latin typeface="宋体" panose="02010600030101010101" pitchFamily="2" charset="-122"/>
                <a:ea typeface="宋体" panose="02010600030101010101" pitchFamily="2" charset="-122"/>
              </a:rPr>
              <a:t> </a:t>
            </a:r>
            <a:endParaRPr lang="zh-CN" altLang="en-US" sz="2400" dirty="0">
              <a:solidFill>
                <a:srgbClr val="000000"/>
              </a:solidFill>
              <a:latin typeface="宋体" panose="02010600030101010101" pitchFamily="2" charset="-122"/>
              <a:ea typeface="宋体" panose="02010600030101010101" pitchFamily="2"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915725357"/>
              </p:ext>
            </p:extLst>
          </p:nvPr>
        </p:nvGraphicFramePr>
        <p:xfrm>
          <a:off x="1912630" y="884286"/>
          <a:ext cx="6291335" cy="4074160"/>
        </p:xfrm>
        <a:graphic>
          <a:graphicData uri="http://schemas.openxmlformats.org/drawingml/2006/table">
            <a:tbl>
              <a:tblPr firstRow="1" bandRow="1">
                <a:tableStyleId>{2D5ABB26-0587-4C30-8999-92F81FD0307C}</a:tableStyleId>
              </a:tblPr>
              <a:tblGrid>
                <a:gridCol w="859935"/>
                <a:gridCol w="3764968"/>
                <a:gridCol w="1666432"/>
              </a:tblGrid>
              <a:tr h="357440">
                <a:tc>
                  <a:txBody>
                    <a:bodyPr/>
                    <a:lstStyle/>
                    <a:p>
                      <a:endParaRPr lang="zh-CN" altLang="en-US" dirty="0">
                        <a:latin typeface="宋体" panose="02010600030101010101" pitchFamily="2" charset="-122"/>
                        <a:ea typeface="宋体" panose="02010600030101010101" pitchFamily="2" charset="-122"/>
                      </a:endParaRPr>
                    </a:p>
                  </a:txBody>
                  <a:tcPr/>
                </a:tc>
                <a:tc>
                  <a:txBody>
                    <a:bodyPr/>
                    <a:lstStyle/>
                    <a:p>
                      <a:endParaRPr lang="zh-CN" altLang="en-US" dirty="0">
                        <a:latin typeface="宋体" panose="02010600030101010101" pitchFamily="2" charset="-122"/>
                        <a:ea typeface="宋体" panose="02010600030101010101" pitchFamily="2" charset="-122"/>
                      </a:endParaRPr>
                    </a:p>
                  </a:txBody>
                  <a:tcPr/>
                </a:tc>
                <a:tc>
                  <a:txBody>
                    <a:bodyPr/>
                    <a:lstStyle/>
                    <a:p>
                      <a:pPr algn="ctr"/>
                      <a:r>
                        <a:rPr lang="zh-CN" altLang="en-US" dirty="0" smtClean="0"/>
                        <a:t>指令流出时钟</a:t>
                      </a:r>
                      <a:endParaRPr lang="zh-CN" altLang="en-US" dirty="0">
                        <a:latin typeface="宋体" panose="02010600030101010101" pitchFamily="2" charset="-122"/>
                        <a:ea typeface="宋体" panose="02010600030101010101" pitchFamily="2" charset="-122"/>
                      </a:endParaRPr>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smtClean="0"/>
                        <a:t>Loop:</a:t>
                      </a:r>
                      <a:endParaRPr lang="zh-CN" altLang="en-US" dirty="0" smtClean="0">
                        <a:latin typeface="宋体" panose="02010600030101010101" pitchFamily="2" charset="-122"/>
                        <a:ea typeface="宋体" panose="02010600030101010101" pitchFamily="2" charset="-122"/>
                      </a:endParaRPr>
                    </a:p>
                  </a:txBody>
                  <a:tcPr/>
                </a:tc>
                <a:tc>
                  <a:txBody>
                    <a:bodyPr/>
                    <a:lstStyle/>
                    <a:p>
                      <a:r>
                        <a:rPr lang="en-US" altLang="zh-CN" sz="1800" dirty="0" smtClean="0"/>
                        <a:t>L.D.          F0, 0</a:t>
                      </a:r>
                      <a:r>
                        <a:rPr lang="zh-CN" altLang="en-US" sz="1800" dirty="0" smtClean="0"/>
                        <a:t>（</a:t>
                      </a:r>
                      <a:r>
                        <a:rPr lang="en-US" altLang="zh-CN" sz="1800" dirty="0" smtClean="0"/>
                        <a:t>R1</a:t>
                      </a:r>
                      <a:r>
                        <a:rPr lang="zh-CN" altLang="en-US" sz="1800" dirty="0" smtClean="0"/>
                        <a:t>） 	</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smtClean="0"/>
                        <a:t>1</a:t>
                      </a:r>
                      <a:endParaRPr lang="zh-CN" altLang="en-US" dirty="0">
                        <a:latin typeface="宋体" panose="02010600030101010101" pitchFamily="2" charset="-122"/>
                        <a:ea typeface="宋体" panose="02010600030101010101" pitchFamily="2" charset="-122"/>
                      </a:endParaRPr>
                    </a:p>
                  </a:txBody>
                  <a:tcPr/>
                </a:tc>
              </a:tr>
              <a:tr h="370840">
                <a:tc>
                  <a:txBody>
                    <a:bodyPr/>
                    <a:lstStyle/>
                    <a:p>
                      <a:endParaRPr lang="zh-CN" altLang="en-US">
                        <a:latin typeface="宋体" panose="02010600030101010101" pitchFamily="2" charset="-122"/>
                        <a:ea typeface="宋体" panose="02010600030101010101" pitchFamily="2" charset="-122"/>
                      </a:endParaRPr>
                    </a:p>
                  </a:txBody>
                  <a:tcPr/>
                </a:tc>
                <a:tc>
                  <a:txBody>
                    <a:bodyPr/>
                    <a:lstStyle/>
                    <a:p>
                      <a:r>
                        <a:rPr lang="zh-CN" altLang="en-US" sz="1800" dirty="0" smtClean="0"/>
                        <a:t>（空转）	</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smtClean="0"/>
                        <a:t>2</a:t>
                      </a:r>
                      <a:endParaRPr lang="zh-CN" altLang="en-US" dirty="0">
                        <a:latin typeface="宋体" panose="02010600030101010101" pitchFamily="2" charset="-122"/>
                        <a:ea typeface="宋体" panose="02010600030101010101" pitchFamily="2" charset="-122"/>
                      </a:endParaRPr>
                    </a:p>
                  </a:txBody>
                  <a:tcPr/>
                </a:tc>
              </a:tr>
              <a:tr h="370840">
                <a:tc>
                  <a:txBody>
                    <a:bodyPr/>
                    <a:lstStyle/>
                    <a:p>
                      <a:endParaRPr lang="zh-CN" altLang="en-US" dirty="0">
                        <a:latin typeface="宋体" panose="02010600030101010101" pitchFamily="2" charset="-122"/>
                        <a:ea typeface="宋体" panose="02010600030101010101" pitchFamily="2" charset="-122"/>
                      </a:endParaRPr>
                    </a:p>
                  </a:txBody>
                  <a:tcPr/>
                </a:tc>
                <a:tc>
                  <a:txBody>
                    <a:bodyPr/>
                    <a:lstStyle/>
                    <a:p>
                      <a:r>
                        <a:rPr lang="en-US" altLang="zh-CN" sz="1800" dirty="0" smtClean="0"/>
                        <a:t>ADD.D	  F4,F0,F2 	 </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smtClean="0"/>
                        <a:t>3</a:t>
                      </a:r>
                      <a:endParaRPr lang="zh-CN" altLang="en-US" dirty="0">
                        <a:latin typeface="宋体" panose="02010600030101010101" pitchFamily="2" charset="-122"/>
                        <a:ea typeface="宋体" panose="02010600030101010101" pitchFamily="2" charset="-122"/>
                      </a:endParaRPr>
                    </a:p>
                  </a:txBody>
                  <a:tcPr/>
                </a:tc>
              </a:tr>
              <a:tr h="370840">
                <a:tc>
                  <a:txBody>
                    <a:bodyPr/>
                    <a:lstStyle/>
                    <a:p>
                      <a:endParaRPr lang="zh-CN" altLang="en-US">
                        <a:latin typeface="宋体" panose="02010600030101010101" pitchFamily="2" charset="-122"/>
                        <a:ea typeface="宋体" panose="02010600030101010101" pitchFamily="2" charset="-122"/>
                      </a:endParaRPr>
                    </a:p>
                  </a:txBody>
                  <a:tcPr/>
                </a:tc>
                <a:tc>
                  <a:txBody>
                    <a:bodyPr/>
                    <a:lstStyle/>
                    <a:p>
                      <a:r>
                        <a:rPr lang="zh-CN" altLang="en-US" sz="1800" dirty="0" smtClean="0"/>
                        <a:t>（空转）</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smtClean="0"/>
                        <a:t>4</a:t>
                      </a:r>
                      <a:endParaRPr lang="zh-CN" altLang="en-US" dirty="0">
                        <a:latin typeface="宋体" panose="02010600030101010101" pitchFamily="2" charset="-122"/>
                        <a:ea typeface="宋体" panose="02010600030101010101" pitchFamily="2" charset="-122"/>
                      </a:endParaRPr>
                    </a:p>
                  </a:txBody>
                  <a:tcPr/>
                </a:tc>
              </a:tr>
              <a:tr h="370840">
                <a:tc>
                  <a:txBody>
                    <a:bodyPr/>
                    <a:lstStyle/>
                    <a:p>
                      <a:endParaRPr lang="zh-CN" altLang="en-US">
                        <a:latin typeface="宋体" panose="02010600030101010101" pitchFamily="2" charset="-122"/>
                        <a:ea typeface="宋体" panose="02010600030101010101" pitchFamily="2" charset="-122"/>
                      </a:endParaRPr>
                    </a:p>
                  </a:txBody>
                  <a:tcPr/>
                </a:tc>
                <a:tc>
                  <a:txBody>
                    <a:bodyPr/>
                    <a:lstStyle/>
                    <a:p>
                      <a:r>
                        <a:rPr lang="zh-CN" altLang="en-US" sz="1800" dirty="0" smtClean="0"/>
                        <a:t>（空转）</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smtClean="0"/>
                        <a:t>5</a:t>
                      </a:r>
                      <a:endParaRPr lang="zh-CN" altLang="en-US" dirty="0">
                        <a:latin typeface="宋体" panose="02010600030101010101" pitchFamily="2" charset="-122"/>
                        <a:ea typeface="宋体" panose="02010600030101010101" pitchFamily="2" charset="-122"/>
                      </a:endParaRPr>
                    </a:p>
                  </a:txBody>
                  <a:tcPr/>
                </a:tc>
              </a:tr>
              <a:tr h="370840">
                <a:tc>
                  <a:txBody>
                    <a:bodyPr/>
                    <a:lstStyle/>
                    <a:p>
                      <a:endParaRPr lang="zh-CN" altLang="en-US">
                        <a:latin typeface="宋体" panose="02010600030101010101" pitchFamily="2" charset="-122"/>
                        <a:ea typeface="宋体" panose="02010600030101010101" pitchFamily="2" charset="-122"/>
                      </a:endParaRPr>
                    </a:p>
                  </a:txBody>
                  <a:tcPr/>
                </a:tc>
                <a:tc>
                  <a:txBody>
                    <a:bodyPr/>
                    <a:lstStyle/>
                    <a:p>
                      <a:r>
                        <a:rPr lang="en-US" altLang="zh-CN" sz="1800" dirty="0" smtClean="0"/>
                        <a:t>S.D	  F4, 0</a:t>
                      </a:r>
                      <a:r>
                        <a:rPr lang="zh-CN" altLang="en-US" sz="1800" dirty="0" smtClean="0"/>
                        <a:t>（</a:t>
                      </a:r>
                      <a:r>
                        <a:rPr lang="en-US" altLang="zh-CN" sz="1800" dirty="0" smtClean="0"/>
                        <a:t>R1</a:t>
                      </a:r>
                      <a:r>
                        <a:rPr lang="zh-CN" altLang="en-US" sz="1800" dirty="0" smtClean="0"/>
                        <a:t>） </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smtClean="0"/>
                        <a:t>6</a:t>
                      </a:r>
                      <a:endParaRPr lang="zh-CN" altLang="en-US" dirty="0">
                        <a:latin typeface="宋体" panose="02010600030101010101" pitchFamily="2" charset="-122"/>
                        <a:ea typeface="宋体" panose="02010600030101010101" pitchFamily="2" charset="-122"/>
                      </a:endParaRPr>
                    </a:p>
                  </a:txBody>
                  <a:tcPr/>
                </a:tc>
              </a:tr>
              <a:tr h="370840">
                <a:tc>
                  <a:txBody>
                    <a:bodyPr/>
                    <a:lstStyle/>
                    <a:p>
                      <a:endParaRPr lang="zh-CN" altLang="en-US">
                        <a:latin typeface="宋体" panose="02010600030101010101" pitchFamily="2" charset="-122"/>
                        <a:ea typeface="宋体" panose="02010600030101010101" pitchFamily="2" charset="-122"/>
                      </a:endParaRPr>
                    </a:p>
                  </a:txBody>
                  <a:tcPr/>
                </a:tc>
                <a:tc>
                  <a:txBody>
                    <a:bodyPr/>
                    <a:lstStyle/>
                    <a:p>
                      <a:r>
                        <a:rPr lang="en-US" altLang="zh-CN" sz="1800" dirty="0" smtClean="0"/>
                        <a:t>DADDIU    R1,R1</a:t>
                      </a:r>
                      <a:r>
                        <a:rPr lang="zh-CN" altLang="en-US" sz="1800" dirty="0" smtClean="0"/>
                        <a:t>，</a:t>
                      </a:r>
                      <a:r>
                        <a:rPr lang="en-US" altLang="zh-CN" sz="1800" dirty="0" smtClean="0"/>
                        <a:t># -8 </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smtClean="0"/>
                        <a:t>7</a:t>
                      </a:r>
                      <a:endParaRPr lang="zh-CN" altLang="en-US" dirty="0">
                        <a:latin typeface="宋体" panose="02010600030101010101" pitchFamily="2" charset="-122"/>
                        <a:ea typeface="宋体" panose="02010600030101010101" pitchFamily="2" charset="-122"/>
                      </a:endParaRPr>
                    </a:p>
                  </a:txBody>
                  <a:tcPr/>
                </a:tc>
              </a:tr>
              <a:tr h="370840">
                <a:tc>
                  <a:txBody>
                    <a:bodyPr/>
                    <a:lstStyle/>
                    <a:p>
                      <a:endParaRPr lang="zh-CN" altLang="en-US">
                        <a:latin typeface="宋体" panose="02010600030101010101" pitchFamily="2" charset="-122"/>
                        <a:ea typeface="宋体" panose="02010600030101010101" pitchFamily="2" charset="-122"/>
                      </a:endParaRPr>
                    </a:p>
                  </a:txBody>
                  <a:tcPr/>
                </a:tc>
                <a:tc>
                  <a:txBody>
                    <a:bodyPr/>
                    <a:lstStyle/>
                    <a:p>
                      <a:r>
                        <a:rPr lang="en-US" altLang="zh-CN" sz="1800" dirty="0" smtClean="0"/>
                        <a:t> </a:t>
                      </a:r>
                      <a:r>
                        <a:rPr lang="zh-CN" altLang="en-US" sz="1800" dirty="0" smtClean="0"/>
                        <a:t>（空转）	</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smtClean="0"/>
                        <a:t>8</a:t>
                      </a:r>
                      <a:endParaRPr lang="zh-CN" altLang="en-US" dirty="0">
                        <a:latin typeface="宋体" panose="02010600030101010101" pitchFamily="2" charset="-122"/>
                        <a:ea typeface="宋体" panose="02010600030101010101" pitchFamily="2" charset="-122"/>
                      </a:endParaRPr>
                    </a:p>
                  </a:txBody>
                  <a:tcPr/>
                </a:tc>
              </a:tr>
              <a:tr h="370840">
                <a:tc>
                  <a:txBody>
                    <a:bodyPr/>
                    <a:lstStyle/>
                    <a:p>
                      <a:endParaRPr lang="zh-CN" altLang="en-US">
                        <a:latin typeface="宋体" panose="02010600030101010101" pitchFamily="2" charset="-122"/>
                        <a:ea typeface="宋体" panose="02010600030101010101" pitchFamily="2" charset="-122"/>
                      </a:endParaRPr>
                    </a:p>
                  </a:txBody>
                  <a:tcPr/>
                </a:tc>
                <a:tc>
                  <a:txBody>
                    <a:bodyPr/>
                    <a:lstStyle/>
                    <a:p>
                      <a:r>
                        <a:rPr lang="en-US" altLang="zh-CN" sz="1800" dirty="0" smtClean="0"/>
                        <a:t>BNE	  R1,R2,Loop </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smtClean="0"/>
                        <a:t>9</a:t>
                      </a:r>
                      <a:endParaRPr lang="zh-CN" altLang="en-US" dirty="0">
                        <a:latin typeface="宋体" panose="02010600030101010101" pitchFamily="2" charset="-122"/>
                        <a:ea typeface="宋体" panose="02010600030101010101" pitchFamily="2" charset="-122"/>
                      </a:endParaRPr>
                    </a:p>
                  </a:txBody>
                  <a:tcPr/>
                </a:tc>
              </a:tr>
              <a:tr h="370840">
                <a:tc>
                  <a:txBody>
                    <a:bodyPr/>
                    <a:lstStyle/>
                    <a:p>
                      <a:endParaRPr lang="zh-CN" altLang="en-US">
                        <a:latin typeface="宋体" panose="02010600030101010101" pitchFamily="2" charset="-122"/>
                        <a:ea typeface="宋体" panose="02010600030101010101" pitchFamily="2" charset="-122"/>
                      </a:endParaRPr>
                    </a:p>
                  </a:txBody>
                  <a:tcPr/>
                </a:tc>
                <a:tc>
                  <a:txBody>
                    <a:bodyPr/>
                    <a:lstStyle/>
                    <a:p>
                      <a:r>
                        <a:rPr lang="zh-CN" altLang="en-US" sz="1800" dirty="0" smtClean="0"/>
                        <a:t>（空转）		</a:t>
                      </a:r>
                      <a:endParaRPr lang="zh-CN" altLang="en-US" dirty="0">
                        <a:latin typeface="宋体" panose="02010600030101010101" pitchFamily="2" charset="-122"/>
                        <a:ea typeface="宋体" panose="02010600030101010101" pitchFamily="2" charset="-122"/>
                      </a:endParaRPr>
                    </a:p>
                  </a:txBody>
                  <a:tcPr/>
                </a:tc>
                <a:tc>
                  <a:txBody>
                    <a:bodyPr/>
                    <a:lstStyle/>
                    <a:p>
                      <a:pPr algn="ctr"/>
                      <a:r>
                        <a:rPr lang="en-US" altLang="zh-CN" dirty="0" smtClean="0"/>
                        <a:t>10</a:t>
                      </a:r>
                      <a:endParaRPr lang="zh-CN" altLang="en-US" dirty="0">
                        <a:latin typeface="宋体" panose="02010600030101010101" pitchFamily="2" charset="-122"/>
                        <a:ea typeface="宋体" panose="02010600030101010101" pitchFamily="2" charset="-122"/>
                      </a:endParaRPr>
                    </a:p>
                  </a:txBody>
                  <a:tcPr/>
                </a:tc>
              </a:tr>
            </a:tbl>
          </a:graphicData>
        </a:graphic>
      </p:graphicFrame>
      <p:sp>
        <p:nvSpPr>
          <p:cNvPr id="5" name="矩形 4"/>
          <p:cNvSpPr/>
          <p:nvPr/>
        </p:nvSpPr>
        <p:spPr>
          <a:xfrm>
            <a:off x="1787230" y="5282963"/>
            <a:ext cx="6070893" cy="369332"/>
          </a:xfrm>
          <a:prstGeom prst="rect">
            <a:avLst/>
          </a:prstGeom>
        </p:spPr>
        <p:txBody>
          <a:bodyPr wrap="none">
            <a:spAutoFit/>
          </a:bodyPr>
          <a:lstStyle/>
          <a:p>
            <a:pPr>
              <a:buClr>
                <a:srgbClr val="33CC33"/>
              </a:buClr>
              <a:buSzPct val="80000"/>
            </a:pPr>
            <a:r>
              <a:rPr lang="zh-CN" altLang="en-US" dirty="0">
                <a:solidFill>
                  <a:srgbClr val="000000"/>
                </a:solidFill>
                <a:latin typeface="宋体" panose="02010600030101010101" pitchFamily="2" charset="-122"/>
                <a:ea typeface="宋体" panose="02010600030101010101" pitchFamily="2" charset="-122"/>
              </a:rPr>
              <a:t>每个元素的操作需要</a:t>
            </a:r>
            <a:r>
              <a:rPr lang="en-US" altLang="zh-CN" dirty="0">
                <a:solidFill>
                  <a:srgbClr val="D60093"/>
                </a:solidFill>
                <a:latin typeface="宋体" panose="02010600030101010101" pitchFamily="2" charset="-122"/>
                <a:ea typeface="宋体" panose="02010600030101010101" pitchFamily="2" charset="-122"/>
              </a:rPr>
              <a:t>10</a:t>
            </a:r>
            <a:r>
              <a:rPr lang="zh-CN" altLang="en-US" dirty="0">
                <a:latin typeface="宋体" panose="02010600030101010101" pitchFamily="2" charset="-122"/>
                <a:ea typeface="宋体" panose="02010600030101010101" pitchFamily="2" charset="-122"/>
              </a:rPr>
              <a:t>个</a:t>
            </a:r>
            <a:r>
              <a:rPr lang="zh-CN" altLang="en-US" dirty="0">
                <a:solidFill>
                  <a:srgbClr val="000000"/>
                </a:solidFill>
                <a:latin typeface="宋体" panose="02010600030101010101" pitchFamily="2" charset="-122"/>
                <a:ea typeface="宋体" panose="02010600030101010101" pitchFamily="2" charset="-122"/>
              </a:rPr>
              <a:t>时钟周期，其中</a:t>
            </a:r>
            <a:r>
              <a:rPr lang="en-US" altLang="zh-CN" dirty="0">
                <a:solidFill>
                  <a:srgbClr val="D60093"/>
                </a:solidFill>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个</a:t>
            </a:r>
            <a:r>
              <a:rPr lang="zh-CN" altLang="en-US" dirty="0">
                <a:solidFill>
                  <a:srgbClr val="000000"/>
                </a:solidFill>
                <a:latin typeface="宋体" panose="02010600030101010101" pitchFamily="2" charset="-122"/>
                <a:ea typeface="宋体" panose="02010600030101010101" pitchFamily="2" charset="-122"/>
              </a:rPr>
              <a:t>是空转周期。</a:t>
            </a:r>
          </a:p>
        </p:txBody>
      </p:sp>
    </p:spTree>
    <p:extLst>
      <p:ext uri="{BB962C8B-B14F-4D97-AF65-F5344CB8AC3E}">
        <p14:creationId xmlns:p14="http://schemas.microsoft.com/office/powerpoint/2010/main" val="18361379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9027" name="Rectangle 5"/>
          <p:cNvSpPr>
            <a:spLocks noChangeArrowheads="1"/>
          </p:cNvSpPr>
          <p:nvPr/>
        </p:nvSpPr>
        <p:spPr bwMode="auto">
          <a:xfrm>
            <a:off x="0" y="995719"/>
            <a:ext cx="4933950" cy="4248150"/>
          </a:xfrm>
          <a:prstGeom prst="rect">
            <a:avLst/>
          </a:prstGeom>
          <a:solidFill>
            <a:schemeClr val="accent2">
              <a:lumMod val="20000"/>
              <a:lumOff val="80000"/>
            </a:schemeClr>
          </a:solidFill>
          <a:ln>
            <a:noFill/>
          </a:ln>
          <a:extLst/>
        </p:spPr>
        <p:txBody>
          <a:bodyPr/>
          <a:lstStyle>
            <a:lvl1pPr marL="342900" indent="-3429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eaLnBrk="1" hangingPunct="1">
              <a:lnSpc>
                <a:spcPct val="80000"/>
              </a:lnSpc>
              <a:buClr>
                <a:srgbClr val="33CC33"/>
              </a:buClr>
              <a:buSzPct val="80000"/>
              <a:buFont typeface="Wingdings 2" panose="05020102010507070707" pitchFamily="18" charset="2"/>
              <a:buNone/>
            </a:pPr>
            <a:endParaRPr lang="en-US" altLang="zh-CN" b="1" dirty="0">
              <a:solidFill>
                <a:schemeClr val="tx1"/>
              </a:solidFill>
              <a:latin typeface="楷体_GB2312" pitchFamily="49" charset="-122"/>
              <a:ea typeface="楷体_GB2312" pitchFamily="49" charset="-122"/>
            </a:endParaRPr>
          </a:p>
          <a:p>
            <a:pPr lvl="1" eaLnBrk="1" hangingPunct="1">
              <a:lnSpc>
                <a:spcPct val="80000"/>
              </a:lnSpc>
              <a:buClr>
                <a:srgbClr val="33CC33"/>
              </a:buClr>
              <a:buSzPct val="80000"/>
              <a:buFont typeface="Wingdings 2" panose="05020102010507070707" pitchFamily="18" charset="2"/>
              <a:buNone/>
            </a:pPr>
            <a:r>
              <a:rPr lang="en-US" altLang="zh-CN" sz="1800" dirty="0">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Loop: L.D	</a:t>
            </a:r>
            <a:r>
              <a:rPr lang="en-US" altLang="zh-CN" sz="2000" dirty="0" smtClean="0">
                <a:solidFill>
                  <a:srgbClr val="D60093"/>
                </a:solidFill>
                <a:latin typeface="宋体" panose="02010600030101010101" pitchFamily="2" charset="-122"/>
                <a:ea typeface="宋体" panose="02010600030101010101" pitchFamily="2" charset="-122"/>
              </a:rPr>
              <a:t>F0</a:t>
            </a:r>
            <a:r>
              <a:rPr lang="en-US" altLang="zh-CN" sz="2000" dirty="0" smtClean="0">
                <a:latin typeface="宋体" panose="02010600030101010101" pitchFamily="2" charset="-122"/>
                <a:ea typeface="宋体" panose="02010600030101010101" pitchFamily="2" charset="-122"/>
              </a:rPr>
              <a:t>,0</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R1</a:t>
            </a:r>
            <a:r>
              <a:rPr lang="zh-CN" altLang="en-US" sz="2000" dirty="0">
                <a:latin typeface="宋体" panose="02010600030101010101" pitchFamily="2" charset="-122"/>
                <a:ea typeface="宋体" panose="02010600030101010101" pitchFamily="2" charset="-122"/>
              </a:rPr>
              <a:t>） 	  	</a:t>
            </a:r>
            <a:r>
              <a:rPr lang="zh-CN" altLang="en-US" sz="2000" dirty="0" smtClean="0">
                <a:latin typeface="宋体" panose="02010600030101010101" pitchFamily="2" charset="-122"/>
                <a:ea typeface="宋体" panose="02010600030101010101" pitchFamily="2" charset="-122"/>
              </a:rPr>
              <a:t>      </a:t>
            </a:r>
            <a:r>
              <a:rPr lang="zh-CN" altLang="en-US" sz="2000" dirty="0" smtClean="0">
                <a:solidFill>
                  <a:srgbClr val="3333FF"/>
                </a:solidFill>
                <a:latin typeface="宋体" panose="02010600030101010101" pitchFamily="2" charset="-122"/>
                <a:ea typeface="宋体" panose="02010600030101010101" pitchFamily="2" charset="-122"/>
              </a:rPr>
              <a:t>（</a:t>
            </a:r>
            <a:r>
              <a:rPr lang="zh-CN" altLang="en-US" sz="2000" dirty="0">
                <a:solidFill>
                  <a:srgbClr val="3333FF"/>
                </a:solidFill>
                <a:latin typeface="宋体" panose="02010600030101010101" pitchFamily="2" charset="-122"/>
                <a:ea typeface="宋体" panose="02010600030101010101" pitchFamily="2" charset="-122"/>
              </a:rPr>
              <a:t>空转）</a:t>
            </a:r>
            <a:endParaRPr lang="zh-CN" altLang="en-US" sz="2000" dirty="0">
              <a:solidFill>
                <a:schemeClr val="tx2"/>
              </a:solidFill>
              <a:latin typeface="宋体" panose="02010600030101010101" pitchFamily="2" charset="-122"/>
              <a:ea typeface="宋体" panose="02010600030101010101" pitchFamily="2" charset="-122"/>
            </a:endParaRPr>
          </a:p>
          <a:p>
            <a:pPr lvl="1" eaLnBrk="1" hangingPunct="1">
              <a:lnSpc>
                <a:spcPct val="80000"/>
              </a:lnSpc>
              <a:buClr>
                <a:srgbClr val="33CC33"/>
              </a:buClr>
              <a:buSzPct val="80000"/>
              <a:buFont typeface="Wingdings 2" panose="05020102010507070707" pitchFamily="18" charset="2"/>
              <a:buNone/>
            </a:pPr>
            <a:r>
              <a:rPr lang="zh-CN" altLang="en-US" sz="2000" dirty="0">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ADD.D	</a:t>
            </a:r>
            <a:r>
              <a:rPr lang="en-US" altLang="zh-CN" sz="2000" dirty="0" smtClean="0">
                <a:solidFill>
                  <a:srgbClr val="008000"/>
                </a:solidFill>
                <a:latin typeface="宋体" panose="02010600030101010101" pitchFamily="2" charset="-122"/>
                <a:ea typeface="宋体" panose="02010600030101010101" pitchFamily="2" charset="-122"/>
              </a:rPr>
              <a:t>F4</a:t>
            </a:r>
            <a:r>
              <a:rPr lang="en-US" altLang="zh-CN" sz="2000" dirty="0" smtClean="0">
                <a:latin typeface="宋体" panose="02010600030101010101" pitchFamily="2" charset="-122"/>
                <a:ea typeface="宋体" panose="02010600030101010101" pitchFamily="2" charset="-122"/>
              </a:rPr>
              <a:t>,</a:t>
            </a:r>
            <a:r>
              <a:rPr lang="en-US" altLang="zh-CN" sz="2000" dirty="0" smtClean="0">
                <a:solidFill>
                  <a:srgbClr val="D60093"/>
                </a:solidFill>
                <a:latin typeface="宋体" panose="02010600030101010101" pitchFamily="2" charset="-122"/>
                <a:ea typeface="宋体" panose="02010600030101010101" pitchFamily="2" charset="-122"/>
              </a:rPr>
              <a:t>F0</a:t>
            </a:r>
            <a:r>
              <a:rPr lang="en-US" altLang="zh-CN" sz="2000" dirty="0" smtClean="0">
                <a:latin typeface="宋体" panose="02010600030101010101" pitchFamily="2" charset="-122"/>
                <a:ea typeface="宋体" panose="02010600030101010101" pitchFamily="2" charset="-122"/>
              </a:rPr>
              <a:t>,F2 </a:t>
            </a:r>
            <a:r>
              <a:rPr lang="en-US" altLang="zh-CN" sz="2000" dirty="0">
                <a:latin typeface="宋体" panose="02010600030101010101" pitchFamily="2" charset="-122"/>
                <a:ea typeface="宋体" panose="02010600030101010101" pitchFamily="2" charset="-122"/>
              </a:rPr>
              <a:t>	        </a:t>
            </a:r>
            <a:endParaRPr lang="en-US" altLang="zh-CN" sz="2000" dirty="0">
              <a:solidFill>
                <a:schemeClr val="tx2"/>
              </a:solidFill>
              <a:latin typeface="宋体" panose="02010600030101010101" pitchFamily="2" charset="-122"/>
              <a:ea typeface="宋体" panose="02010600030101010101" pitchFamily="2" charset="-122"/>
            </a:endParaRPr>
          </a:p>
          <a:p>
            <a:pPr lvl="1" eaLnBrk="1" hangingPunct="1">
              <a:lnSpc>
                <a:spcPct val="80000"/>
              </a:lnSpc>
              <a:buClr>
                <a:srgbClr val="33CC33"/>
              </a:buClr>
              <a:buSzPct val="80000"/>
              <a:buFont typeface="Wingdings 2" panose="05020102010507070707" pitchFamily="18" charset="2"/>
              <a:buNone/>
            </a:pPr>
            <a:r>
              <a:rPr lang="en-US" altLang="zh-CN" sz="2000" dirty="0">
                <a:latin typeface="宋体" panose="02010600030101010101" pitchFamily="2" charset="-122"/>
                <a:ea typeface="宋体" panose="02010600030101010101" pitchFamily="2" charset="-122"/>
              </a:rPr>
              <a:t>		      </a:t>
            </a:r>
            <a:r>
              <a:rPr lang="zh-CN" altLang="en-US" sz="2000" dirty="0">
                <a:solidFill>
                  <a:schemeClr val="hlink"/>
                </a:solidFill>
                <a:latin typeface="宋体" panose="02010600030101010101" pitchFamily="2" charset="-122"/>
                <a:ea typeface="宋体" panose="02010600030101010101" pitchFamily="2" charset="-122"/>
              </a:rPr>
              <a:t>（</a:t>
            </a:r>
            <a:r>
              <a:rPr lang="zh-CN" altLang="en-US" sz="2000" dirty="0">
                <a:solidFill>
                  <a:srgbClr val="3333FF"/>
                </a:solidFill>
                <a:latin typeface="宋体" panose="02010600030101010101" pitchFamily="2" charset="-122"/>
                <a:ea typeface="宋体" panose="02010600030101010101" pitchFamily="2" charset="-122"/>
              </a:rPr>
              <a:t>空转）</a:t>
            </a:r>
            <a:endParaRPr lang="zh-CN" altLang="en-US" sz="2000" dirty="0">
              <a:solidFill>
                <a:schemeClr val="tx2"/>
              </a:solidFill>
              <a:latin typeface="宋体" panose="02010600030101010101" pitchFamily="2" charset="-122"/>
              <a:ea typeface="宋体" panose="02010600030101010101" pitchFamily="2" charset="-122"/>
            </a:endParaRPr>
          </a:p>
          <a:p>
            <a:pPr lvl="1" eaLnBrk="1" hangingPunct="1">
              <a:lnSpc>
                <a:spcPct val="80000"/>
              </a:lnSpc>
              <a:buClr>
                <a:srgbClr val="33CC33"/>
              </a:buClr>
              <a:buSzPct val="80000"/>
              <a:buFont typeface="Wingdings 2" panose="05020102010507070707" pitchFamily="18" charset="2"/>
              <a:buNone/>
            </a:pPr>
            <a:r>
              <a:rPr lang="zh-CN" altLang="en-US" sz="2000" dirty="0">
                <a:solidFill>
                  <a:srgbClr val="3333FF"/>
                </a:solidFill>
                <a:latin typeface="宋体" panose="02010600030101010101" pitchFamily="2" charset="-122"/>
                <a:ea typeface="宋体" panose="02010600030101010101" pitchFamily="2" charset="-122"/>
              </a:rPr>
              <a:t>		      （空转）</a:t>
            </a:r>
            <a:endParaRPr lang="zh-CN" altLang="en-US" sz="2000" dirty="0">
              <a:solidFill>
                <a:schemeClr val="tx2"/>
              </a:solidFill>
              <a:latin typeface="宋体" panose="02010600030101010101" pitchFamily="2" charset="-122"/>
              <a:ea typeface="宋体" panose="02010600030101010101" pitchFamily="2" charset="-122"/>
            </a:endParaRPr>
          </a:p>
          <a:p>
            <a:pPr lvl="1" eaLnBrk="1" hangingPunct="1">
              <a:lnSpc>
                <a:spcPct val="80000"/>
              </a:lnSpc>
              <a:buClr>
                <a:srgbClr val="33CC33"/>
              </a:buClr>
              <a:buSzPct val="80000"/>
              <a:buFont typeface="Wingdings 2" panose="05020102010507070707" pitchFamily="18" charset="2"/>
              <a:buNone/>
            </a:pPr>
            <a:r>
              <a:rPr lang="zh-CN" altLang="en-US" sz="2000" dirty="0">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S.D	  </a:t>
            </a:r>
            <a:r>
              <a:rPr lang="en-US" altLang="zh-CN" sz="2000" dirty="0" smtClean="0">
                <a:latin typeface="宋体" panose="02010600030101010101" pitchFamily="2" charset="-122"/>
                <a:ea typeface="宋体" panose="02010600030101010101" pitchFamily="2" charset="-122"/>
              </a:rPr>
              <a:t>     </a:t>
            </a:r>
            <a:r>
              <a:rPr lang="en-US" altLang="zh-CN" sz="2000" dirty="0" smtClean="0">
                <a:solidFill>
                  <a:srgbClr val="008000"/>
                </a:solidFill>
                <a:latin typeface="宋体" panose="02010600030101010101" pitchFamily="2" charset="-122"/>
                <a:ea typeface="宋体" panose="02010600030101010101" pitchFamily="2" charset="-122"/>
              </a:rPr>
              <a:t>F4</a:t>
            </a:r>
            <a:r>
              <a:rPr lang="en-US" altLang="zh-CN" sz="2000" dirty="0">
                <a:latin typeface="宋体" panose="02010600030101010101" pitchFamily="2" charset="-122"/>
                <a:ea typeface="宋体" panose="02010600030101010101" pitchFamily="2" charset="-122"/>
              </a:rPr>
              <a:t>, 0</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R1</a:t>
            </a:r>
            <a:r>
              <a:rPr lang="zh-CN" altLang="en-US" sz="2000" dirty="0">
                <a:latin typeface="宋体" panose="02010600030101010101" pitchFamily="2" charset="-122"/>
                <a:ea typeface="宋体" panose="02010600030101010101" pitchFamily="2" charset="-122"/>
              </a:rPr>
              <a:t>） 	  </a:t>
            </a:r>
            <a:endParaRPr lang="zh-CN" altLang="en-US" sz="2000" dirty="0">
              <a:solidFill>
                <a:schemeClr val="tx2"/>
              </a:solidFill>
              <a:latin typeface="宋体" panose="02010600030101010101" pitchFamily="2" charset="-122"/>
              <a:ea typeface="宋体" panose="02010600030101010101" pitchFamily="2" charset="-122"/>
            </a:endParaRPr>
          </a:p>
          <a:p>
            <a:pPr lvl="1" eaLnBrk="1" hangingPunct="1">
              <a:lnSpc>
                <a:spcPct val="80000"/>
              </a:lnSpc>
              <a:buClr>
                <a:srgbClr val="33CC33"/>
              </a:buClr>
              <a:buSzPct val="80000"/>
              <a:buFont typeface="Wingdings 2" panose="05020102010507070707" pitchFamily="18" charset="2"/>
              <a:buNone/>
            </a:pPr>
            <a:r>
              <a:rPr lang="zh-CN" altLang="en-US" sz="2000" dirty="0">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DADDIU    </a:t>
            </a:r>
            <a:r>
              <a:rPr lang="en-US" altLang="zh-CN" sz="2000" dirty="0">
                <a:solidFill>
                  <a:srgbClr val="E24C05"/>
                </a:solidFill>
                <a:latin typeface="宋体" panose="02010600030101010101" pitchFamily="2" charset="-122"/>
                <a:ea typeface="宋体" panose="02010600030101010101" pitchFamily="2" charset="-122"/>
              </a:rPr>
              <a:t>R1</a:t>
            </a:r>
            <a:r>
              <a:rPr lang="en-US" altLang="zh-CN" sz="2000" dirty="0">
                <a:latin typeface="宋体" panose="02010600030101010101" pitchFamily="2" charset="-122"/>
                <a:ea typeface="宋体" panose="02010600030101010101" pitchFamily="2" charset="-122"/>
              </a:rPr>
              <a:t>,R1,#-8 	  </a:t>
            </a:r>
            <a:endParaRPr lang="en-US" altLang="zh-CN" sz="2000" dirty="0">
              <a:solidFill>
                <a:schemeClr val="tx2"/>
              </a:solidFill>
              <a:latin typeface="宋体" panose="02010600030101010101" pitchFamily="2" charset="-122"/>
              <a:ea typeface="宋体" panose="02010600030101010101" pitchFamily="2" charset="-122"/>
            </a:endParaRPr>
          </a:p>
          <a:p>
            <a:pPr lvl="1" eaLnBrk="1" hangingPunct="1">
              <a:lnSpc>
                <a:spcPct val="80000"/>
              </a:lnSpc>
              <a:buClr>
                <a:srgbClr val="33CC33"/>
              </a:buClr>
              <a:buSzPct val="80000"/>
              <a:buFont typeface="Wingdings 2" panose="05020102010507070707" pitchFamily="18" charset="2"/>
              <a:buNone/>
            </a:pPr>
            <a:r>
              <a:rPr lang="en-US" altLang="zh-CN" sz="2000" dirty="0">
                <a:latin typeface="宋体" panose="02010600030101010101" pitchFamily="2" charset="-122"/>
                <a:ea typeface="宋体" panose="02010600030101010101" pitchFamily="2" charset="-122"/>
              </a:rPr>
              <a:t>		      </a:t>
            </a:r>
            <a:r>
              <a:rPr lang="zh-CN" altLang="en-US" sz="2000" dirty="0">
                <a:solidFill>
                  <a:srgbClr val="3333FF"/>
                </a:solidFill>
                <a:latin typeface="宋体" panose="02010600030101010101" pitchFamily="2" charset="-122"/>
                <a:ea typeface="宋体" panose="02010600030101010101" pitchFamily="2" charset="-122"/>
              </a:rPr>
              <a:t>（空转）</a:t>
            </a:r>
            <a:endParaRPr lang="zh-CN" altLang="en-US" sz="2000" dirty="0">
              <a:solidFill>
                <a:schemeClr val="tx2"/>
              </a:solidFill>
              <a:latin typeface="宋体" panose="02010600030101010101" pitchFamily="2" charset="-122"/>
              <a:ea typeface="宋体" panose="02010600030101010101" pitchFamily="2" charset="-122"/>
            </a:endParaRPr>
          </a:p>
          <a:p>
            <a:pPr lvl="1" eaLnBrk="1" hangingPunct="1">
              <a:lnSpc>
                <a:spcPct val="80000"/>
              </a:lnSpc>
              <a:buClr>
                <a:srgbClr val="33CC33"/>
              </a:buClr>
              <a:buSzPct val="80000"/>
              <a:buFont typeface="Wingdings 2" panose="05020102010507070707" pitchFamily="18" charset="2"/>
              <a:buNone/>
            </a:pPr>
            <a:r>
              <a:rPr lang="zh-CN" altLang="en-US" sz="2000" dirty="0">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BNE	  </a:t>
            </a:r>
            <a:r>
              <a:rPr lang="en-US" altLang="zh-CN" sz="2000" dirty="0" smtClean="0">
                <a:latin typeface="宋体" panose="02010600030101010101" pitchFamily="2" charset="-122"/>
                <a:ea typeface="宋体" panose="02010600030101010101" pitchFamily="2" charset="-122"/>
              </a:rPr>
              <a:t>     </a:t>
            </a:r>
            <a:r>
              <a:rPr lang="en-US" altLang="zh-CN" sz="2000" dirty="0" smtClean="0">
                <a:solidFill>
                  <a:srgbClr val="E24C05"/>
                </a:solidFill>
                <a:latin typeface="宋体" panose="02010600030101010101" pitchFamily="2" charset="-122"/>
                <a:ea typeface="宋体" panose="02010600030101010101" pitchFamily="2" charset="-122"/>
              </a:rPr>
              <a:t>R1</a:t>
            </a:r>
            <a:r>
              <a:rPr lang="en-US" altLang="zh-CN" sz="2000" dirty="0" smtClean="0">
                <a:latin typeface="宋体" panose="02010600030101010101" pitchFamily="2" charset="-122"/>
                <a:ea typeface="宋体" panose="02010600030101010101" pitchFamily="2" charset="-122"/>
              </a:rPr>
              <a:t>,R2,Loop        </a:t>
            </a:r>
            <a:endParaRPr lang="en-US" altLang="zh-CN" sz="2000" dirty="0">
              <a:solidFill>
                <a:schemeClr val="tx2"/>
              </a:solidFill>
              <a:latin typeface="宋体" panose="02010600030101010101" pitchFamily="2" charset="-122"/>
              <a:ea typeface="宋体" panose="02010600030101010101" pitchFamily="2" charset="-122"/>
            </a:endParaRPr>
          </a:p>
          <a:p>
            <a:pPr lvl="1" eaLnBrk="1" hangingPunct="1">
              <a:lnSpc>
                <a:spcPct val="80000"/>
              </a:lnSpc>
              <a:buClr>
                <a:srgbClr val="33CC33"/>
              </a:buClr>
              <a:buSzPct val="80000"/>
              <a:buFont typeface="Wingdings 2" panose="05020102010507070707" pitchFamily="18" charset="2"/>
              <a:buNone/>
            </a:pPr>
            <a:r>
              <a:rPr lang="en-US" altLang="zh-CN" sz="2000" dirty="0">
                <a:latin typeface="宋体" panose="02010600030101010101" pitchFamily="2" charset="-122"/>
                <a:ea typeface="宋体" panose="02010600030101010101" pitchFamily="2" charset="-122"/>
              </a:rPr>
              <a:t>		      </a:t>
            </a:r>
            <a:r>
              <a:rPr lang="zh-CN" altLang="en-US" sz="2000" dirty="0">
                <a:solidFill>
                  <a:srgbClr val="3333FF"/>
                </a:solidFill>
                <a:latin typeface="宋体" panose="02010600030101010101" pitchFamily="2" charset="-122"/>
                <a:ea typeface="宋体" panose="02010600030101010101" pitchFamily="2" charset="-122"/>
              </a:rPr>
              <a:t>（空转）</a:t>
            </a:r>
          </a:p>
        </p:txBody>
      </p:sp>
      <p:grpSp>
        <p:nvGrpSpPr>
          <p:cNvPr id="129028" name="Group 6"/>
          <p:cNvGrpSpPr>
            <a:grpSpLocks/>
          </p:cNvGrpSpPr>
          <p:nvPr/>
        </p:nvGrpSpPr>
        <p:grpSpPr bwMode="auto">
          <a:xfrm flipH="1" flipV="1">
            <a:off x="4140748" y="2954176"/>
            <a:ext cx="457200" cy="1246349"/>
            <a:chOff x="576" y="1344"/>
            <a:chExt cx="288" cy="1200"/>
          </a:xfrm>
        </p:grpSpPr>
        <p:sp>
          <p:nvSpPr>
            <p:cNvPr id="129033" name="Arc 7"/>
            <p:cNvSpPr>
              <a:spLocks/>
            </p:cNvSpPr>
            <p:nvPr/>
          </p:nvSpPr>
          <p:spPr bwMode="auto">
            <a:xfrm flipH="1" flipV="1">
              <a:off x="576" y="1920"/>
              <a:ext cx="288" cy="6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2857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4" name="Arc 8"/>
            <p:cNvSpPr>
              <a:spLocks/>
            </p:cNvSpPr>
            <p:nvPr/>
          </p:nvSpPr>
          <p:spPr bwMode="auto">
            <a:xfrm flipH="1">
              <a:off x="576" y="1344"/>
              <a:ext cx="288" cy="6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28575">
              <a:solidFill>
                <a:schemeClr val="folHlink"/>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9029" name="Group 9"/>
          <p:cNvGrpSpPr>
            <a:grpSpLocks/>
          </p:cNvGrpSpPr>
          <p:nvPr/>
        </p:nvGrpSpPr>
        <p:grpSpPr bwMode="auto">
          <a:xfrm>
            <a:off x="1024229" y="1752957"/>
            <a:ext cx="457200" cy="1533168"/>
            <a:chOff x="576" y="1344"/>
            <a:chExt cx="288" cy="1200"/>
          </a:xfrm>
        </p:grpSpPr>
        <p:sp>
          <p:nvSpPr>
            <p:cNvPr id="129031" name="Arc 10"/>
            <p:cNvSpPr>
              <a:spLocks/>
            </p:cNvSpPr>
            <p:nvPr/>
          </p:nvSpPr>
          <p:spPr bwMode="auto">
            <a:xfrm flipH="1" flipV="1">
              <a:off x="576" y="1920"/>
              <a:ext cx="288" cy="6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2857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032" name="Arc 11"/>
            <p:cNvSpPr>
              <a:spLocks/>
            </p:cNvSpPr>
            <p:nvPr/>
          </p:nvSpPr>
          <p:spPr bwMode="auto">
            <a:xfrm flipH="1">
              <a:off x="576" y="1344"/>
              <a:ext cx="288" cy="6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28575">
              <a:solidFill>
                <a:schemeClr val="folHlink"/>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9030" name="Rectangle 12"/>
          <p:cNvSpPr>
            <a:spLocks noChangeArrowheads="1"/>
          </p:cNvSpPr>
          <p:nvPr/>
        </p:nvSpPr>
        <p:spPr bwMode="auto">
          <a:xfrm>
            <a:off x="5871719" y="995719"/>
            <a:ext cx="4876800" cy="3600450"/>
          </a:xfrm>
          <a:prstGeom prst="rect">
            <a:avLst/>
          </a:prstGeom>
          <a:solidFill>
            <a:schemeClr val="accent6">
              <a:lumMod val="40000"/>
              <a:lumOff val="60000"/>
            </a:schemeClr>
          </a:solidFill>
          <a:ln>
            <a:noFill/>
          </a:ln>
          <a:extLst/>
        </p:spPr>
        <p:txBody>
          <a:bodyPr/>
          <a:lstStyle>
            <a:lvl1pPr marL="342900" indent="-3429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lvl="1" eaLnBrk="1" hangingPunct="1">
              <a:lnSpc>
                <a:spcPct val="100000"/>
              </a:lnSpc>
              <a:buClr>
                <a:srgbClr val="33CC33"/>
              </a:buClr>
              <a:buSzPct val="80000"/>
              <a:buFont typeface="Wingdings 2" panose="05020102010507070707" pitchFamily="18" charset="2"/>
              <a:buNone/>
            </a:pPr>
            <a:r>
              <a:rPr lang="en-US" altLang="zh-CN" b="1" dirty="0">
                <a:solidFill>
                  <a:srgbClr val="00FFFF"/>
                </a:solidFill>
                <a:latin typeface="楷体_GB2312" pitchFamily="49" charset="-122"/>
                <a:ea typeface="楷体_GB2312" pitchFamily="49" charset="-122"/>
              </a:rPr>
              <a:t>			</a:t>
            </a:r>
            <a:endParaRPr lang="en-US" altLang="zh-CN" b="1" dirty="0">
              <a:solidFill>
                <a:schemeClr val="bg1"/>
              </a:solidFill>
              <a:latin typeface="楷体_GB2312" pitchFamily="49" charset="-122"/>
              <a:ea typeface="楷体_GB2312" pitchFamily="49" charset="-122"/>
            </a:endParaRPr>
          </a:p>
          <a:p>
            <a:pPr lvl="1" eaLnBrk="1" hangingPunct="1">
              <a:lnSpc>
                <a:spcPts val="3000"/>
              </a:lnSpc>
              <a:spcBef>
                <a:spcPts val="0"/>
              </a:spcBef>
              <a:buClr>
                <a:srgbClr val="33CC33"/>
              </a:buClr>
              <a:buSzPct val="80000"/>
              <a:buFont typeface="Wingdings 2" panose="05020102010507070707" pitchFamily="18" charset="2"/>
              <a:buNone/>
            </a:pPr>
            <a:r>
              <a:rPr lang="en-US" altLang="zh-CN" sz="2000" dirty="0">
                <a:latin typeface="宋体" panose="02010600030101010101" pitchFamily="2" charset="-122"/>
                <a:ea typeface="宋体" panose="02010600030101010101" pitchFamily="2" charset="-122"/>
              </a:rPr>
              <a:t>Loop: L.D    </a:t>
            </a:r>
            <a:r>
              <a:rPr lang="en-US" altLang="zh-CN" sz="2000" dirty="0" smtClean="0">
                <a:latin typeface="宋体" panose="02010600030101010101" pitchFamily="2" charset="-122"/>
                <a:ea typeface="宋体" panose="02010600030101010101" pitchFamily="2" charset="-122"/>
              </a:rPr>
              <a:t>  F0</a:t>
            </a:r>
            <a:r>
              <a:rPr lang="en-US" altLang="zh-CN" sz="2000" dirty="0">
                <a:latin typeface="宋体" panose="02010600030101010101" pitchFamily="2" charset="-122"/>
                <a:ea typeface="宋体" panose="02010600030101010101" pitchFamily="2" charset="-122"/>
              </a:rPr>
              <a:t>, 0(R1)	           </a:t>
            </a:r>
          </a:p>
          <a:p>
            <a:pPr lvl="1" eaLnBrk="1" hangingPunct="1">
              <a:lnSpc>
                <a:spcPts val="3000"/>
              </a:lnSpc>
              <a:spcBef>
                <a:spcPts val="0"/>
              </a:spcBef>
              <a:buClr>
                <a:srgbClr val="33CC33"/>
              </a:buClr>
              <a:buSzPct val="80000"/>
              <a:buFont typeface="Wingdings 2" panose="05020102010507070707" pitchFamily="18" charset="2"/>
              <a:buNone/>
            </a:pPr>
            <a:r>
              <a:rPr lang="en-US" altLang="zh-CN" sz="2000" dirty="0">
                <a:latin typeface="宋体" panose="02010600030101010101" pitchFamily="2" charset="-122"/>
                <a:ea typeface="宋体" panose="02010600030101010101" pitchFamily="2" charset="-122"/>
              </a:rPr>
              <a:t>		  </a:t>
            </a:r>
            <a:r>
              <a:rPr lang="en-US" altLang="zh-CN" sz="2000" dirty="0" smtClean="0">
                <a:latin typeface="宋体" panose="02010600030101010101" pitchFamily="2" charset="-122"/>
                <a:ea typeface="宋体" panose="02010600030101010101" pitchFamily="2" charset="-122"/>
              </a:rPr>
              <a:t> </a:t>
            </a:r>
            <a:r>
              <a:rPr lang="en-US" altLang="zh-CN" sz="2000" dirty="0" smtClean="0">
                <a:solidFill>
                  <a:srgbClr val="CC3399"/>
                </a:solidFill>
                <a:latin typeface="宋体" panose="02010600030101010101" pitchFamily="2" charset="-122"/>
                <a:ea typeface="宋体" panose="02010600030101010101" pitchFamily="2" charset="-122"/>
              </a:rPr>
              <a:t>DADDIU   R1,R1</a:t>
            </a:r>
            <a:r>
              <a:rPr lang="en-US" altLang="zh-CN" sz="2000" dirty="0">
                <a:solidFill>
                  <a:srgbClr val="CC3399"/>
                </a:solidFill>
                <a:latin typeface="宋体" panose="02010600030101010101" pitchFamily="2" charset="-122"/>
                <a:ea typeface="宋体" panose="02010600030101010101" pitchFamily="2" charset="-122"/>
              </a:rPr>
              <a:t>,#-8</a:t>
            </a:r>
            <a:r>
              <a:rPr lang="en-US" altLang="zh-CN" sz="2000" dirty="0">
                <a:latin typeface="宋体" panose="02010600030101010101" pitchFamily="2" charset="-122"/>
                <a:ea typeface="宋体" panose="02010600030101010101" pitchFamily="2" charset="-122"/>
              </a:rPr>
              <a:t> 	 </a:t>
            </a:r>
          </a:p>
          <a:p>
            <a:pPr lvl="1" eaLnBrk="1" hangingPunct="1">
              <a:lnSpc>
                <a:spcPts val="3000"/>
              </a:lnSpc>
              <a:spcBef>
                <a:spcPts val="0"/>
              </a:spcBef>
              <a:buClr>
                <a:srgbClr val="33CC33"/>
              </a:buClr>
              <a:buSzPct val="80000"/>
              <a:buFont typeface="Wingdings 2" panose="05020102010507070707" pitchFamily="18" charset="2"/>
              <a:buNone/>
            </a:pPr>
            <a:r>
              <a:rPr lang="en-US" altLang="zh-CN" sz="2000" dirty="0">
                <a:latin typeface="宋体" panose="02010600030101010101" pitchFamily="2" charset="-122"/>
                <a:ea typeface="宋体" panose="02010600030101010101" pitchFamily="2" charset="-122"/>
              </a:rPr>
              <a:t>		   ADD.D  </a:t>
            </a:r>
            <a:r>
              <a:rPr lang="en-US" altLang="zh-CN" sz="2000" dirty="0" smtClean="0">
                <a:latin typeface="宋体" panose="02010600030101010101" pitchFamily="2" charset="-122"/>
                <a:ea typeface="宋体" panose="02010600030101010101" pitchFamily="2" charset="-122"/>
              </a:rPr>
              <a:t>  F4</a:t>
            </a:r>
            <a:r>
              <a:rPr lang="en-US" altLang="zh-CN" sz="2000" dirty="0">
                <a:latin typeface="宋体" panose="02010600030101010101" pitchFamily="2" charset="-122"/>
                <a:ea typeface="宋体" panose="02010600030101010101" pitchFamily="2" charset="-122"/>
              </a:rPr>
              <a:t>, F0, F2	     </a:t>
            </a:r>
          </a:p>
          <a:p>
            <a:pPr lvl="1" eaLnBrk="1" hangingPunct="1">
              <a:lnSpc>
                <a:spcPts val="3000"/>
              </a:lnSpc>
              <a:spcBef>
                <a:spcPts val="0"/>
              </a:spcBef>
              <a:buClr>
                <a:srgbClr val="33CC33"/>
              </a:buClr>
              <a:buSzPct val="80000"/>
              <a:buFont typeface="Wingdings 2" panose="05020102010507070707" pitchFamily="18" charset="2"/>
              <a:buNone/>
            </a:pPr>
            <a:r>
              <a:rPr lang="en-US" altLang="zh-CN" sz="2000" dirty="0">
                <a:latin typeface="宋体" panose="02010600030101010101" pitchFamily="2" charset="-122"/>
                <a:ea typeface="宋体" panose="02010600030101010101" pitchFamily="2" charset="-122"/>
              </a:rPr>
              <a:t>		    </a:t>
            </a: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latin typeface="宋体" panose="02010600030101010101" pitchFamily="2" charset="-122"/>
                <a:ea typeface="宋体" panose="02010600030101010101" pitchFamily="2" charset="-122"/>
              </a:rPr>
              <a:t>		     </a:t>
            </a:r>
          </a:p>
          <a:p>
            <a:pPr lvl="1" eaLnBrk="1" hangingPunct="1">
              <a:lnSpc>
                <a:spcPts val="3000"/>
              </a:lnSpc>
              <a:spcBef>
                <a:spcPts val="0"/>
              </a:spcBef>
              <a:buClr>
                <a:srgbClr val="33CC33"/>
              </a:buClr>
              <a:buSzPct val="80000"/>
              <a:buFont typeface="Wingdings 2" panose="05020102010507070707" pitchFamily="18" charset="2"/>
              <a:buNone/>
            </a:pPr>
            <a:r>
              <a:rPr lang="zh-CN" altLang="en-US" sz="2000" dirty="0">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BNE    </a:t>
            </a:r>
            <a:r>
              <a:rPr lang="en-US" altLang="zh-CN" sz="2000" dirty="0" smtClean="0">
                <a:latin typeface="宋体" panose="02010600030101010101" pitchFamily="2" charset="-122"/>
                <a:ea typeface="宋体" panose="02010600030101010101" pitchFamily="2" charset="-122"/>
              </a:rPr>
              <a:t>  R1,R2,Loop</a:t>
            </a:r>
            <a:r>
              <a:rPr lang="en-US" altLang="zh-CN" sz="2000" dirty="0">
                <a:latin typeface="宋体" panose="02010600030101010101" pitchFamily="2" charset="-122"/>
                <a:ea typeface="宋体" panose="02010600030101010101" pitchFamily="2" charset="-122"/>
              </a:rPr>
              <a:t>	           </a:t>
            </a:r>
          </a:p>
          <a:p>
            <a:pPr lvl="1" eaLnBrk="1" hangingPunct="1">
              <a:lnSpc>
                <a:spcPts val="3000"/>
              </a:lnSpc>
              <a:spcBef>
                <a:spcPts val="0"/>
              </a:spcBef>
              <a:buClr>
                <a:srgbClr val="33CC33"/>
              </a:buClr>
              <a:buSzPct val="80000"/>
              <a:buFont typeface="Wingdings 2" panose="05020102010507070707" pitchFamily="18" charset="2"/>
              <a:buNone/>
            </a:pPr>
            <a:r>
              <a:rPr lang="en-US" altLang="zh-CN" sz="2000" dirty="0">
                <a:latin typeface="宋体" panose="02010600030101010101" pitchFamily="2" charset="-122"/>
                <a:ea typeface="宋体" panose="02010600030101010101" pitchFamily="2" charset="-122"/>
              </a:rPr>
              <a:t>		   </a:t>
            </a:r>
            <a:r>
              <a:rPr lang="en-US" altLang="zh-CN" sz="2000" dirty="0">
                <a:solidFill>
                  <a:srgbClr val="CC3399"/>
                </a:solidFill>
                <a:latin typeface="宋体" panose="02010600030101010101" pitchFamily="2" charset="-122"/>
                <a:ea typeface="宋体" panose="02010600030101010101" pitchFamily="2" charset="-122"/>
              </a:rPr>
              <a:t>S.D    </a:t>
            </a:r>
            <a:r>
              <a:rPr lang="en-US" altLang="zh-CN" sz="2000" dirty="0" smtClean="0">
                <a:solidFill>
                  <a:srgbClr val="CC3399"/>
                </a:solidFill>
                <a:latin typeface="宋体" panose="02010600030101010101" pitchFamily="2" charset="-122"/>
                <a:ea typeface="宋体" panose="02010600030101010101" pitchFamily="2" charset="-122"/>
              </a:rPr>
              <a:t>  F4</a:t>
            </a:r>
            <a:r>
              <a:rPr lang="zh-CN" altLang="en-US" sz="2000" dirty="0">
                <a:solidFill>
                  <a:srgbClr val="CC3399"/>
                </a:solidFill>
                <a:latin typeface="宋体" panose="02010600030101010101" pitchFamily="2" charset="-122"/>
                <a:ea typeface="宋体" panose="02010600030101010101" pitchFamily="2" charset="-122"/>
              </a:rPr>
              <a:t>，</a:t>
            </a:r>
            <a:r>
              <a:rPr lang="en-US" altLang="zh-CN" sz="2000" dirty="0">
                <a:solidFill>
                  <a:srgbClr val="CC3399"/>
                </a:solidFill>
                <a:latin typeface="宋体" panose="02010600030101010101" pitchFamily="2" charset="-122"/>
                <a:ea typeface="宋体" panose="02010600030101010101" pitchFamily="2" charset="-122"/>
              </a:rPr>
              <a:t>8(R1) </a:t>
            </a:r>
            <a:r>
              <a:rPr lang="en-US" altLang="zh-CN" sz="2000" dirty="0">
                <a:latin typeface="宋体" panose="02010600030101010101" pitchFamily="2" charset="-122"/>
                <a:ea typeface="宋体" panose="02010600030101010101" pitchFamily="2" charset="-122"/>
              </a:rPr>
              <a:t>	</a:t>
            </a:r>
            <a:r>
              <a:rPr lang="en-US" altLang="zh-CN" b="1" dirty="0">
                <a:solidFill>
                  <a:srgbClr val="00FFFF"/>
                </a:solidFill>
                <a:latin typeface="楷体_GB2312" pitchFamily="49" charset="-122"/>
                <a:ea typeface="楷体_GB2312" pitchFamily="49" charset="-122"/>
              </a:rPr>
              <a:t>           </a:t>
            </a:r>
            <a:r>
              <a:rPr lang="zh-CN" altLang="en-US" b="1" dirty="0">
                <a:solidFill>
                  <a:schemeClr val="bg1"/>
                </a:solidFill>
                <a:latin typeface="楷体_GB2312" pitchFamily="49" charset="-122"/>
                <a:ea typeface="楷体_GB2312" pitchFamily="49" charset="-122"/>
              </a:rPr>
              <a:t>　</a:t>
            </a:r>
          </a:p>
        </p:txBody>
      </p:sp>
      <p:sp>
        <p:nvSpPr>
          <p:cNvPr id="13" name="矩形 12"/>
          <p:cNvSpPr/>
          <p:nvPr/>
        </p:nvSpPr>
        <p:spPr>
          <a:xfrm>
            <a:off x="132743" y="-26736"/>
            <a:ext cx="9189578" cy="646331"/>
          </a:xfrm>
          <a:prstGeom prst="rect">
            <a:avLst/>
          </a:prstGeom>
        </p:spPr>
        <p:txBody>
          <a:bodyPr wrap="square">
            <a:spAutoFit/>
          </a:bodyPr>
          <a:lstStyle/>
          <a:p>
            <a:pPr marL="457200" indent="-457200">
              <a:lnSpc>
                <a:spcPct val="150000"/>
              </a:lnSpc>
            </a:pPr>
            <a:r>
              <a:rPr lang="zh-CN" altLang="en-US" sz="2400" dirty="0" smtClean="0">
                <a:latin typeface="宋体" panose="02010600030101010101" pitchFamily="2" charset="-122"/>
                <a:ea typeface="宋体" panose="02010600030101010101" pitchFamily="2" charset="-122"/>
              </a:rPr>
              <a:t>情况 </a:t>
            </a:r>
            <a:r>
              <a:rPr lang="en-US" altLang="zh-CN" sz="2400" dirty="0" smtClean="0">
                <a:latin typeface="宋体" panose="02010600030101010101" pitchFamily="2" charset="-122"/>
                <a:ea typeface="宋体" panose="02010600030101010101" pitchFamily="2" charset="-122"/>
              </a:rPr>
              <a:t>II  </a:t>
            </a:r>
            <a:r>
              <a:rPr lang="zh-CN" altLang="en-US" sz="2400" dirty="0" smtClean="0">
                <a:latin typeface="宋体" panose="02010600030101010101" pitchFamily="2" charset="-122"/>
                <a:ea typeface="宋体" panose="02010600030101010101" pitchFamily="2" charset="-122"/>
              </a:rPr>
              <a:t>： 进行指令调度</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 name="矩形 2"/>
          <p:cNvSpPr/>
          <p:nvPr/>
        </p:nvSpPr>
        <p:spPr>
          <a:xfrm>
            <a:off x="5596123" y="4987455"/>
            <a:ext cx="6096000" cy="1015663"/>
          </a:xfrm>
          <a:prstGeom prst="rect">
            <a:avLst/>
          </a:prstGeom>
        </p:spPr>
        <p:txBody>
          <a:bodyPr>
            <a:spAutoFit/>
          </a:bodyPr>
          <a:lstStyle/>
          <a:p>
            <a:pPr>
              <a:lnSpc>
                <a:spcPct val="150000"/>
              </a:lnSpc>
            </a:pPr>
            <a:r>
              <a:rPr lang="en-US" altLang="zh-CN" b="1" dirty="0" smtClean="0">
                <a:latin typeface="宋体" panose="02010600030101010101" pitchFamily="2" charset="-122"/>
                <a:ea typeface="宋体" panose="02010600030101010101" pitchFamily="2" charset="-122"/>
              </a:rPr>
              <a:t>     </a:t>
            </a:r>
            <a:r>
              <a:rPr lang="zh-CN" altLang="en-US" sz="2000" dirty="0">
                <a:solidFill>
                  <a:srgbClr val="000000"/>
                </a:solidFill>
                <a:latin typeface="宋体" panose="02010600030101010101" pitchFamily="2" charset="-122"/>
                <a:ea typeface="宋体" panose="02010600030101010101" pitchFamily="2" charset="-122"/>
              </a:rPr>
              <a:t>一个元素的操作时间从</a:t>
            </a:r>
            <a:r>
              <a:rPr lang="en-US" altLang="zh-CN" sz="2000" dirty="0">
                <a:solidFill>
                  <a:srgbClr val="D60093"/>
                </a:solidFill>
                <a:latin typeface="宋体" panose="02010600030101010101" pitchFamily="2" charset="-122"/>
                <a:ea typeface="宋体" panose="02010600030101010101" pitchFamily="2" charset="-122"/>
              </a:rPr>
              <a:t>10</a:t>
            </a:r>
            <a:r>
              <a:rPr lang="zh-CN" altLang="en-US" sz="2000" dirty="0">
                <a:latin typeface="宋体" panose="02010600030101010101" pitchFamily="2" charset="-122"/>
                <a:ea typeface="宋体" panose="02010600030101010101" pitchFamily="2" charset="-122"/>
              </a:rPr>
              <a:t>个</a:t>
            </a:r>
            <a:r>
              <a:rPr lang="zh-CN" altLang="en-US" sz="2000" dirty="0">
                <a:solidFill>
                  <a:srgbClr val="000000"/>
                </a:solidFill>
                <a:latin typeface="宋体" panose="02010600030101010101" pitchFamily="2" charset="-122"/>
                <a:ea typeface="宋体" panose="02010600030101010101" pitchFamily="2" charset="-122"/>
              </a:rPr>
              <a:t>时钟周期减少到</a:t>
            </a:r>
            <a:r>
              <a:rPr lang="en-US" altLang="zh-CN" sz="2000" dirty="0">
                <a:solidFill>
                  <a:srgbClr val="D60093"/>
                </a:solidFill>
                <a:latin typeface="宋体" panose="02010600030101010101" pitchFamily="2" charset="-122"/>
                <a:ea typeface="宋体" panose="02010600030101010101" pitchFamily="2" charset="-122"/>
              </a:rPr>
              <a:t>6</a:t>
            </a:r>
            <a:r>
              <a:rPr lang="zh-CN" altLang="en-US" sz="2000" dirty="0">
                <a:latin typeface="宋体" panose="02010600030101010101" pitchFamily="2" charset="-122"/>
                <a:ea typeface="宋体" panose="02010600030101010101" pitchFamily="2" charset="-122"/>
              </a:rPr>
              <a:t>个</a:t>
            </a:r>
            <a:r>
              <a:rPr lang="en-US" altLang="zh-CN" sz="2000" dirty="0">
                <a:solidFill>
                  <a:srgbClr val="000000"/>
                </a:solidFill>
                <a:latin typeface="宋体" panose="02010600030101010101" pitchFamily="2" charset="-122"/>
                <a:ea typeface="宋体" panose="02010600030101010101" pitchFamily="2" charset="-122"/>
              </a:rPr>
              <a:t>,</a:t>
            </a:r>
            <a:r>
              <a:rPr lang="zh-CN" altLang="en-US" sz="2000" dirty="0">
                <a:solidFill>
                  <a:srgbClr val="000000"/>
                </a:solidFill>
                <a:latin typeface="宋体" panose="02010600030101010101" pitchFamily="2" charset="-122"/>
                <a:ea typeface="宋体" panose="02010600030101010101" pitchFamily="2" charset="-122"/>
              </a:rPr>
              <a:t>其中</a:t>
            </a:r>
            <a:r>
              <a:rPr lang="en-US" altLang="zh-CN" sz="2000" dirty="0">
                <a:solidFill>
                  <a:srgbClr val="D60093"/>
                </a:solidFill>
                <a:latin typeface="宋体" panose="02010600030101010101" pitchFamily="2" charset="-122"/>
                <a:ea typeface="宋体" panose="02010600030101010101" pitchFamily="2" charset="-122"/>
              </a:rPr>
              <a:t>5</a:t>
            </a:r>
            <a:r>
              <a:rPr lang="zh-CN" altLang="en-US" sz="2000" dirty="0">
                <a:latin typeface="宋体" panose="02010600030101010101" pitchFamily="2" charset="-122"/>
                <a:ea typeface="宋体" panose="02010600030101010101" pitchFamily="2" charset="-122"/>
              </a:rPr>
              <a:t>个</a:t>
            </a:r>
            <a:r>
              <a:rPr lang="zh-CN" altLang="en-US" sz="2000" dirty="0">
                <a:solidFill>
                  <a:srgbClr val="000000"/>
                </a:solidFill>
                <a:latin typeface="宋体" panose="02010600030101010101" pitchFamily="2" charset="-122"/>
                <a:ea typeface="宋体" panose="02010600030101010101" pitchFamily="2" charset="-122"/>
              </a:rPr>
              <a:t>周期是有指令执行的，</a:t>
            </a:r>
            <a:r>
              <a:rPr lang="en-US" altLang="zh-CN" sz="2000" dirty="0">
                <a:solidFill>
                  <a:srgbClr val="D60093"/>
                </a:solidFill>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个为</a:t>
            </a:r>
            <a:r>
              <a:rPr lang="zh-CN" altLang="en-US" sz="2000" dirty="0">
                <a:solidFill>
                  <a:srgbClr val="000000"/>
                </a:solidFill>
                <a:latin typeface="宋体" panose="02010600030101010101" pitchFamily="2" charset="-122"/>
                <a:ea typeface="宋体" panose="02010600030101010101" pitchFamily="2" charset="-122"/>
              </a:rPr>
              <a:t>空转周期。</a:t>
            </a:r>
            <a:endParaRPr lang="zh-CN" altLang="en-US" sz="2000" dirty="0"/>
          </a:p>
        </p:txBody>
      </p:sp>
      <p:sp>
        <p:nvSpPr>
          <p:cNvPr id="15" name="Rectangle 4"/>
          <p:cNvSpPr>
            <a:spLocks noChangeArrowheads="1"/>
          </p:cNvSpPr>
          <p:nvPr/>
        </p:nvSpPr>
        <p:spPr bwMode="auto">
          <a:xfrm>
            <a:off x="9392691" y="547526"/>
            <a:ext cx="1734797"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marL="0" lvl="1" indent="0" algn="ctr" eaLnBrk="1" hangingPunct="1">
              <a:lnSpc>
                <a:spcPts val="3000"/>
              </a:lnSpc>
              <a:spcBef>
                <a:spcPts val="0"/>
              </a:spcBef>
              <a:buClr>
                <a:srgbClr val="33CC33"/>
              </a:buClr>
              <a:buSzPct val="80000"/>
              <a:buFont typeface="Wingdings 2" panose="05020102010507070707" pitchFamily="18" charset="2"/>
              <a:buNone/>
            </a:pPr>
            <a:r>
              <a:rPr lang="zh-CN" altLang="en-US" sz="2000" dirty="0" smtClean="0">
                <a:solidFill>
                  <a:srgbClr val="E24C05"/>
                </a:solidFill>
                <a:latin typeface="宋体" panose="02010600030101010101" pitchFamily="2" charset="-122"/>
                <a:ea typeface="宋体" panose="02010600030101010101" pitchFamily="2" charset="-122"/>
              </a:rPr>
              <a:t>指令</a:t>
            </a:r>
            <a:r>
              <a:rPr lang="zh-CN" altLang="en-US" sz="2000" dirty="0">
                <a:solidFill>
                  <a:srgbClr val="E24C05"/>
                </a:solidFill>
                <a:latin typeface="宋体" panose="02010600030101010101" pitchFamily="2" charset="-122"/>
                <a:ea typeface="宋体" panose="02010600030101010101" pitchFamily="2" charset="-122"/>
              </a:rPr>
              <a:t>流出</a:t>
            </a:r>
            <a:r>
              <a:rPr lang="zh-CN" altLang="en-US" sz="2000" dirty="0" smtClean="0">
                <a:solidFill>
                  <a:srgbClr val="E24C05"/>
                </a:solidFill>
                <a:latin typeface="宋体" panose="02010600030101010101" pitchFamily="2" charset="-122"/>
                <a:ea typeface="宋体" panose="02010600030101010101" pitchFamily="2" charset="-122"/>
              </a:rPr>
              <a:t>时钟</a:t>
            </a:r>
            <a:endParaRPr lang="en-US" altLang="zh-CN" sz="2000" dirty="0" smtClean="0">
              <a:solidFill>
                <a:srgbClr val="E24C05"/>
              </a:solidFill>
              <a:latin typeface="宋体" panose="02010600030101010101" pitchFamily="2" charset="-122"/>
              <a:ea typeface="宋体" panose="02010600030101010101" pitchFamily="2" charset="-122"/>
            </a:endParaRPr>
          </a:p>
          <a:p>
            <a:pPr marL="0" lvl="1" indent="0" algn="ctr" eaLnBrk="1" hangingPunct="1">
              <a:lnSpc>
                <a:spcPts val="3000"/>
              </a:lnSpc>
              <a:spcBef>
                <a:spcPts val="0"/>
              </a:spcBef>
              <a:buClr>
                <a:srgbClr val="33CC33"/>
              </a:buClr>
              <a:buSzPct val="80000"/>
              <a:buFont typeface="Wingdings 2" panose="05020102010507070707" pitchFamily="18" charset="2"/>
              <a:buNone/>
            </a:pPr>
            <a:endParaRPr lang="zh-CN" altLang="en-US" sz="2000" dirty="0">
              <a:solidFill>
                <a:srgbClr val="E24C05"/>
              </a:solidFill>
              <a:latin typeface="宋体" panose="02010600030101010101" pitchFamily="2" charset="-122"/>
              <a:ea typeface="宋体" panose="02010600030101010101" pitchFamily="2" charset="-122"/>
            </a:endParaRPr>
          </a:p>
          <a:p>
            <a:pPr marL="0" lvl="1" indent="0" algn="ctr" eaLnBrk="1" hangingPunct="1">
              <a:lnSpc>
                <a:spcPts val="3000"/>
              </a:lnSpc>
              <a:spcBef>
                <a:spcPts val="0"/>
              </a:spcBef>
              <a:buClr>
                <a:srgbClr val="33CC33"/>
              </a:buClr>
              <a:buSzPct val="80000"/>
              <a:buFont typeface="Wingdings 2" panose="05020102010507070707" pitchFamily="18" charset="2"/>
              <a:buNone/>
            </a:pPr>
            <a:r>
              <a:rPr lang="en-US" altLang="zh-CN" sz="2000" dirty="0" smtClean="0">
                <a:latin typeface="宋体" panose="02010600030101010101" pitchFamily="2" charset="-122"/>
                <a:ea typeface="宋体" panose="02010600030101010101" pitchFamily="2" charset="-122"/>
              </a:rPr>
              <a:t>1</a:t>
            </a:r>
            <a:endParaRPr lang="en-US" altLang="zh-CN" sz="2000" dirty="0">
              <a:latin typeface="宋体" panose="02010600030101010101" pitchFamily="2" charset="-122"/>
              <a:ea typeface="宋体" panose="02010600030101010101" pitchFamily="2" charset="-122"/>
            </a:endParaRPr>
          </a:p>
          <a:p>
            <a:pPr marL="0" lvl="1" indent="0" algn="ctr" eaLnBrk="1" hangingPunct="1">
              <a:lnSpc>
                <a:spcPts val="3000"/>
              </a:lnSpc>
              <a:spcBef>
                <a:spcPts val="0"/>
              </a:spcBef>
              <a:buClr>
                <a:srgbClr val="33CC33"/>
              </a:buClr>
              <a:buSzPct val="80000"/>
              <a:buFont typeface="Wingdings 2" panose="05020102010507070707" pitchFamily="18" charset="2"/>
              <a:buNone/>
            </a:pPr>
            <a:r>
              <a:rPr lang="en-US" altLang="zh-CN" sz="2000" dirty="0" smtClean="0">
                <a:latin typeface="宋体" panose="02010600030101010101" pitchFamily="2" charset="-122"/>
                <a:ea typeface="宋体" panose="02010600030101010101" pitchFamily="2" charset="-122"/>
              </a:rPr>
              <a:t>2</a:t>
            </a:r>
            <a:endParaRPr lang="en-US" altLang="zh-CN" sz="2000" dirty="0">
              <a:latin typeface="宋体" panose="02010600030101010101" pitchFamily="2" charset="-122"/>
              <a:ea typeface="宋体" panose="02010600030101010101" pitchFamily="2" charset="-122"/>
            </a:endParaRPr>
          </a:p>
          <a:p>
            <a:pPr marL="0" lvl="1" indent="0" algn="ctr" eaLnBrk="1" hangingPunct="1">
              <a:lnSpc>
                <a:spcPts val="3000"/>
              </a:lnSpc>
              <a:spcBef>
                <a:spcPts val="0"/>
              </a:spcBef>
              <a:buClr>
                <a:srgbClr val="33CC33"/>
              </a:buClr>
              <a:buSzPct val="80000"/>
              <a:buFont typeface="Wingdings 2" panose="05020102010507070707" pitchFamily="18" charset="2"/>
              <a:buNone/>
            </a:pPr>
            <a:r>
              <a:rPr lang="en-US" altLang="zh-CN" sz="2000" dirty="0" smtClean="0">
                <a:latin typeface="宋体" panose="02010600030101010101" pitchFamily="2" charset="-122"/>
                <a:ea typeface="宋体" panose="02010600030101010101" pitchFamily="2" charset="-122"/>
              </a:rPr>
              <a:t>3</a:t>
            </a:r>
            <a:endParaRPr lang="en-US" altLang="zh-CN" sz="2000" dirty="0">
              <a:latin typeface="宋体" panose="02010600030101010101" pitchFamily="2" charset="-122"/>
              <a:ea typeface="宋体" panose="02010600030101010101" pitchFamily="2" charset="-122"/>
            </a:endParaRPr>
          </a:p>
          <a:p>
            <a:pPr marL="0" lvl="1" indent="0" algn="ctr" eaLnBrk="1" hangingPunct="1">
              <a:lnSpc>
                <a:spcPts val="3000"/>
              </a:lnSpc>
              <a:spcBef>
                <a:spcPts val="0"/>
              </a:spcBef>
              <a:buClr>
                <a:srgbClr val="33CC33"/>
              </a:buClr>
              <a:buSzPct val="80000"/>
              <a:buFont typeface="Wingdings 2" panose="05020102010507070707" pitchFamily="18" charset="2"/>
              <a:buNone/>
            </a:pPr>
            <a:r>
              <a:rPr lang="en-US" altLang="zh-CN" sz="2000" dirty="0" smtClean="0">
                <a:latin typeface="宋体" panose="02010600030101010101" pitchFamily="2" charset="-122"/>
                <a:ea typeface="宋体" panose="02010600030101010101" pitchFamily="2" charset="-122"/>
              </a:rPr>
              <a:t>4</a:t>
            </a:r>
            <a:endParaRPr lang="en-US" altLang="zh-CN" sz="2000" dirty="0">
              <a:latin typeface="宋体" panose="02010600030101010101" pitchFamily="2" charset="-122"/>
              <a:ea typeface="宋体" panose="02010600030101010101" pitchFamily="2" charset="-122"/>
            </a:endParaRPr>
          </a:p>
          <a:p>
            <a:pPr marL="0" lvl="1" indent="0" algn="ctr" eaLnBrk="1" hangingPunct="1">
              <a:lnSpc>
                <a:spcPts val="3000"/>
              </a:lnSpc>
              <a:spcBef>
                <a:spcPts val="0"/>
              </a:spcBef>
              <a:buClr>
                <a:srgbClr val="33CC33"/>
              </a:buClr>
              <a:buSzPct val="80000"/>
              <a:buFont typeface="Wingdings 2" panose="05020102010507070707" pitchFamily="18" charset="2"/>
              <a:buNone/>
            </a:pPr>
            <a:r>
              <a:rPr lang="en-US" altLang="zh-CN" sz="2000" dirty="0" smtClean="0">
                <a:latin typeface="宋体" panose="02010600030101010101" pitchFamily="2" charset="-122"/>
                <a:ea typeface="宋体" panose="02010600030101010101" pitchFamily="2" charset="-122"/>
              </a:rPr>
              <a:t>5</a:t>
            </a:r>
            <a:endParaRPr lang="en-US" altLang="zh-CN" sz="2000" dirty="0">
              <a:latin typeface="宋体" panose="02010600030101010101" pitchFamily="2" charset="-122"/>
              <a:ea typeface="宋体" panose="02010600030101010101" pitchFamily="2" charset="-122"/>
            </a:endParaRPr>
          </a:p>
          <a:p>
            <a:pPr marL="0" lvl="1" indent="0" algn="ctr" eaLnBrk="1" hangingPunct="1">
              <a:lnSpc>
                <a:spcPts val="3000"/>
              </a:lnSpc>
              <a:spcBef>
                <a:spcPts val="0"/>
              </a:spcBef>
              <a:buClr>
                <a:srgbClr val="33CC33"/>
              </a:buClr>
              <a:buSzPct val="80000"/>
              <a:buFont typeface="Wingdings 2" panose="05020102010507070707" pitchFamily="18" charset="2"/>
              <a:buNone/>
            </a:pPr>
            <a:r>
              <a:rPr lang="en-US" altLang="zh-CN" sz="2000" dirty="0" smtClean="0">
                <a:latin typeface="宋体" panose="02010600030101010101" pitchFamily="2" charset="-122"/>
                <a:ea typeface="宋体" panose="02010600030101010101" pitchFamily="2" charset="-122"/>
              </a:rPr>
              <a:t>6</a:t>
            </a:r>
            <a:endParaRPr lang="en-US" altLang="zh-CN" sz="2000" dirty="0">
              <a:latin typeface="宋体" panose="02010600030101010101" pitchFamily="2" charset="-122"/>
              <a:ea typeface="宋体" panose="02010600030101010101" pitchFamily="2" charset="-122"/>
            </a:endParaRPr>
          </a:p>
          <a:p>
            <a:pPr marL="0" lvl="1" indent="0" algn="ctr" eaLnBrk="1" hangingPunct="1">
              <a:lnSpc>
                <a:spcPts val="3000"/>
              </a:lnSpc>
              <a:spcBef>
                <a:spcPts val="0"/>
              </a:spcBef>
              <a:buClr>
                <a:srgbClr val="33CC33"/>
              </a:buClr>
              <a:buSzPct val="80000"/>
              <a:buFont typeface="Wingdings 2" panose="05020102010507070707" pitchFamily="18" charset="2"/>
              <a:buNone/>
            </a:pPr>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046438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9029"/>
                                        </p:tgtEl>
                                        <p:attrNameLst>
                                          <p:attrName>style.visibility</p:attrName>
                                        </p:attrNameLst>
                                      </p:cBhvr>
                                      <p:to>
                                        <p:strVal val="visible"/>
                                      </p:to>
                                    </p:set>
                                    <p:animEffect transition="in" filter="fade">
                                      <p:cBhvr>
                                        <p:cTn id="7" dur="500"/>
                                        <p:tgtEl>
                                          <p:spTgt spid="1290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9028"/>
                                        </p:tgtEl>
                                        <p:attrNameLst>
                                          <p:attrName>style.visibility</p:attrName>
                                        </p:attrNameLst>
                                      </p:cBhvr>
                                      <p:to>
                                        <p:strVal val="visible"/>
                                      </p:to>
                                    </p:set>
                                    <p:animEffect transition="in" filter="fade">
                                      <p:cBhvr>
                                        <p:cTn id="12" dur="500"/>
                                        <p:tgtEl>
                                          <p:spTgt spid="1290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9030"/>
                                        </p:tgtEl>
                                        <p:attrNameLst>
                                          <p:attrName>style.visibility</p:attrName>
                                        </p:attrNameLst>
                                      </p:cBhvr>
                                      <p:to>
                                        <p:strVal val="visible"/>
                                      </p:to>
                                    </p:set>
                                    <p:animEffect transition="in" filter="fade">
                                      <p:cBhvr>
                                        <p:cTn id="17" dur="500"/>
                                        <p:tgtEl>
                                          <p:spTgt spid="1290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fade">
                                      <p:cBhvr>
                                        <p:cTn id="22" dur="500"/>
                                        <p:tgtEl>
                                          <p:spTgt spid="15">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xEl>
                                              <p:pRg st="2" end="2"/>
                                            </p:txEl>
                                          </p:spTgt>
                                        </p:tgtEl>
                                        <p:attrNameLst>
                                          <p:attrName>style.visibility</p:attrName>
                                        </p:attrNameLst>
                                      </p:cBhvr>
                                      <p:to>
                                        <p:strVal val="visible"/>
                                      </p:to>
                                    </p:set>
                                    <p:animEffect transition="in" filter="fade">
                                      <p:cBhvr>
                                        <p:cTn id="25" dur="500"/>
                                        <p:tgtEl>
                                          <p:spTgt spid="15">
                                            <p:txEl>
                                              <p:pRg st="2" end="2"/>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xEl>
                                              <p:pRg st="3" end="3"/>
                                            </p:txEl>
                                          </p:spTgt>
                                        </p:tgtEl>
                                        <p:attrNameLst>
                                          <p:attrName>style.visibility</p:attrName>
                                        </p:attrNameLst>
                                      </p:cBhvr>
                                      <p:to>
                                        <p:strVal val="visible"/>
                                      </p:to>
                                    </p:set>
                                    <p:animEffect transition="in" filter="fade">
                                      <p:cBhvr>
                                        <p:cTn id="28" dur="500"/>
                                        <p:tgtEl>
                                          <p:spTgt spid="15">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xEl>
                                              <p:pRg st="4" end="4"/>
                                            </p:txEl>
                                          </p:spTgt>
                                        </p:tgtEl>
                                        <p:attrNameLst>
                                          <p:attrName>style.visibility</p:attrName>
                                        </p:attrNameLst>
                                      </p:cBhvr>
                                      <p:to>
                                        <p:strVal val="visible"/>
                                      </p:to>
                                    </p:set>
                                    <p:animEffect transition="in" filter="fade">
                                      <p:cBhvr>
                                        <p:cTn id="31" dur="500"/>
                                        <p:tgtEl>
                                          <p:spTgt spid="15">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xEl>
                                              <p:pRg st="5" end="5"/>
                                            </p:txEl>
                                          </p:spTgt>
                                        </p:tgtEl>
                                        <p:attrNameLst>
                                          <p:attrName>style.visibility</p:attrName>
                                        </p:attrNameLst>
                                      </p:cBhvr>
                                      <p:to>
                                        <p:strVal val="visible"/>
                                      </p:to>
                                    </p:set>
                                    <p:animEffect transition="in" filter="fade">
                                      <p:cBhvr>
                                        <p:cTn id="34" dur="500"/>
                                        <p:tgtEl>
                                          <p:spTgt spid="15">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xEl>
                                              <p:pRg st="6" end="6"/>
                                            </p:txEl>
                                          </p:spTgt>
                                        </p:tgtEl>
                                        <p:attrNameLst>
                                          <p:attrName>style.visibility</p:attrName>
                                        </p:attrNameLst>
                                      </p:cBhvr>
                                      <p:to>
                                        <p:strVal val="visible"/>
                                      </p:to>
                                    </p:set>
                                    <p:animEffect transition="in" filter="fade">
                                      <p:cBhvr>
                                        <p:cTn id="37" dur="500"/>
                                        <p:tgtEl>
                                          <p:spTgt spid="15">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xEl>
                                              <p:pRg st="7" end="7"/>
                                            </p:txEl>
                                          </p:spTgt>
                                        </p:tgtEl>
                                        <p:attrNameLst>
                                          <p:attrName>style.visibility</p:attrName>
                                        </p:attrNameLst>
                                      </p:cBhvr>
                                      <p:to>
                                        <p:strVal val="visible"/>
                                      </p:to>
                                    </p:set>
                                    <p:animEffect transition="in" filter="fade">
                                      <p:cBhvr>
                                        <p:cTn id="40" dur="500"/>
                                        <p:tgtEl>
                                          <p:spTgt spid="15">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0" end="0"/>
                                            </p:txEl>
                                          </p:spTgt>
                                        </p:tgtEl>
                                        <p:attrNameLst>
                                          <p:attrName>style.visibility</p:attrName>
                                        </p:attrNameLst>
                                      </p:cBhvr>
                                      <p:to>
                                        <p:strVal val="visible"/>
                                      </p:to>
                                    </p:set>
                                    <p:animEffect transition="in" filter="fade">
                                      <p:cBhvr>
                                        <p:cTn id="4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3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31075" name="Rectangle 3" descr="Rectangle: Click to edit Master text styles&#10;Second level&#10;Third level&#10;Fourth level&#10;Fifth level"/>
          <p:cNvSpPr>
            <a:spLocks noGrp="1" noChangeArrowheads="1"/>
          </p:cNvSpPr>
          <p:nvPr>
            <p:ph type="body" idx="1"/>
          </p:nvPr>
        </p:nvSpPr>
        <p:spPr>
          <a:xfrm>
            <a:off x="417513" y="754063"/>
            <a:ext cx="7772400" cy="4824412"/>
          </a:xfrm>
        </p:spPr>
        <p:txBody>
          <a:bodyPr/>
          <a:lstStyle/>
          <a:p>
            <a:pPr marL="1085850" lvl="1" indent="-457200" eaLnBrk="1" hangingPunct="1">
              <a:lnSpc>
                <a:spcPts val="3000"/>
              </a:lnSpc>
            </a:pPr>
            <a:r>
              <a:rPr lang="zh-CN" altLang="en-US" dirty="0" smtClean="0">
                <a:latin typeface="宋体" panose="02010600030101010101" pitchFamily="2" charset="-122"/>
                <a:ea typeface="宋体" panose="02010600030101010101" pitchFamily="2" charset="-122"/>
              </a:rPr>
              <a:t>例子中的问题及解决方案</a:t>
            </a:r>
          </a:p>
          <a:p>
            <a:pPr lvl="2">
              <a:lnSpc>
                <a:spcPts val="3000"/>
              </a:lnSpc>
            </a:pPr>
            <a:r>
              <a:rPr lang="zh-CN" altLang="en-US" dirty="0">
                <a:latin typeface="宋体" panose="02010600030101010101" pitchFamily="2" charset="-122"/>
                <a:ea typeface="宋体" panose="02010600030101010101" pitchFamily="2" charset="-122"/>
              </a:rPr>
              <a:t>只有</a:t>
            </a:r>
            <a:r>
              <a:rPr lang="en-US" altLang="zh-CN" dirty="0">
                <a:latin typeface="宋体" panose="02010600030101010101" pitchFamily="2" charset="-122"/>
                <a:ea typeface="宋体" panose="02010600030101010101" pitchFamily="2" charset="-122"/>
              </a:rPr>
              <a:t>L.D</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ADD.D</a:t>
            </a:r>
            <a:r>
              <a:rPr lang="zh-CN" altLang="en-US"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S.D</a:t>
            </a:r>
            <a:r>
              <a:rPr lang="zh-CN" altLang="en-US" dirty="0">
                <a:latin typeface="宋体" panose="02010600030101010101" pitchFamily="2" charset="-122"/>
                <a:ea typeface="宋体" panose="02010600030101010101" pitchFamily="2" charset="-122"/>
              </a:rPr>
              <a:t>这</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条指令是有效操作。      </a:t>
            </a:r>
            <a:endParaRPr lang="en-US" altLang="zh-CN" dirty="0">
              <a:latin typeface="宋体" panose="02010600030101010101" pitchFamily="2" charset="-122"/>
              <a:ea typeface="宋体" panose="02010600030101010101" pitchFamily="2" charset="-122"/>
            </a:endParaRPr>
          </a:p>
          <a:p>
            <a:pPr lvl="2">
              <a:lnSpc>
                <a:spcPts val="3000"/>
              </a:lnSpc>
            </a:pPr>
            <a:r>
              <a:rPr lang="zh-CN" altLang="en-US" dirty="0">
                <a:latin typeface="宋体" panose="02010600030101010101" pitchFamily="2" charset="-122"/>
                <a:ea typeface="宋体" panose="02010600030101010101" pitchFamily="2" charset="-122"/>
              </a:rPr>
              <a:t>占用</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个时钟周期。</a:t>
            </a:r>
          </a:p>
          <a:p>
            <a:pPr lvl="2">
              <a:lnSpc>
                <a:spcPts val="3000"/>
              </a:lnSpc>
            </a:pPr>
            <a:r>
              <a:rPr lang="zh-CN" altLang="en-US" dirty="0">
                <a:latin typeface="宋体" panose="02010600030101010101" pitchFamily="2" charset="-122"/>
                <a:ea typeface="宋体" panose="02010600030101010101" pitchFamily="2" charset="-122"/>
              </a:rPr>
              <a:t>而</a:t>
            </a:r>
            <a:r>
              <a:rPr lang="en-US" altLang="zh-CN" dirty="0">
                <a:latin typeface="宋体" panose="02010600030101010101" pitchFamily="2" charset="-122"/>
                <a:ea typeface="宋体" panose="02010600030101010101" pitchFamily="2" charset="-122"/>
              </a:rPr>
              <a:t>DADDIU</a:t>
            </a:r>
            <a:r>
              <a:rPr lang="zh-CN" altLang="en-US" dirty="0">
                <a:latin typeface="宋体" panose="02010600030101010101" pitchFamily="2" charset="-122"/>
                <a:ea typeface="宋体" panose="02010600030101010101" pitchFamily="2" charset="-122"/>
              </a:rPr>
              <a:t>、空转和</a:t>
            </a:r>
            <a:r>
              <a:rPr lang="en-US" altLang="zh-CN" dirty="0">
                <a:latin typeface="宋体" panose="02010600030101010101" pitchFamily="2" charset="-122"/>
                <a:ea typeface="宋体" panose="02010600030101010101" pitchFamily="2" charset="-122"/>
              </a:rPr>
              <a:t>BEN</a:t>
            </a:r>
            <a:r>
              <a:rPr lang="zh-CN" altLang="en-US" dirty="0">
                <a:latin typeface="宋体" panose="02010600030101010101" pitchFamily="2" charset="-122"/>
                <a:ea typeface="宋体" panose="02010600030101010101" pitchFamily="2" charset="-122"/>
              </a:rPr>
              <a:t>这</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个时钟周期都是附加的循环控制开销。</a:t>
            </a:r>
          </a:p>
          <a:p>
            <a:pPr marL="1085850" lvl="1" indent="-457200">
              <a:lnSpc>
                <a:spcPts val="3000"/>
              </a:lnSpc>
            </a:pPr>
            <a:r>
              <a:rPr lang="zh-CN" altLang="en-US" dirty="0">
                <a:latin typeface="宋体" panose="02010600030101010101" pitchFamily="2" charset="-122"/>
                <a:ea typeface="宋体" panose="02010600030101010101" pitchFamily="2" charset="-122"/>
              </a:rPr>
              <a:t>循环展开技术</a:t>
            </a:r>
          </a:p>
          <a:p>
            <a:pPr lvl="2">
              <a:lnSpc>
                <a:spcPts val="3000"/>
              </a:lnSpc>
            </a:pPr>
            <a:r>
              <a:rPr lang="zh-CN" altLang="en-US" dirty="0" smtClean="0">
                <a:latin typeface="宋体" panose="02010600030101010101" pitchFamily="2" charset="-122"/>
                <a:ea typeface="宋体" panose="02010600030101010101" pitchFamily="2" charset="-122"/>
              </a:rPr>
              <a:t>把循环体的代码复制多次并按顺序排列，然后相应调整循环的结束条件。</a:t>
            </a:r>
          </a:p>
          <a:p>
            <a:pPr lvl="2">
              <a:lnSpc>
                <a:spcPts val="3000"/>
              </a:lnSpc>
            </a:pPr>
            <a:r>
              <a:rPr lang="zh-CN" altLang="en-US" dirty="0" smtClean="0">
                <a:latin typeface="宋体" panose="02010600030101010101" pitchFamily="2" charset="-122"/>
                <a:ea typeface="宋体" panose="02010600030101010101" pitchFamily="2" charset="-122"/>
              </a:rPr>
              <a:t>这给编译器进行指令调度带来了更大的空间。 </a:t>
            </a:r>
          </a:p>
        </p:txBody>
      </p:sp>
    </p:spTree>
    <p:extLst>
      <p:ext uri="{BB962C8B-B14F-4D97-AF65-F5344CB8AC3E}">
        <p14:creationId xmlns:p14="http://schemas.microsoft.com/office/powerpoint/2010/main" val="14101565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srcRect r="41768"/>
          <a:stretch/>
        </p:blipFill>
        <p:spPr>
          <a:xfrm>
            <a:off x="13531" y="1174817"/>
            <a:ext cx="2580830" cy="2956068"/>
          </a:xfrm>
          <a:prstGeom prst="rect">
            <a:avLst/>
          </a:prstGeom>
        </p:spPr>
      </p:pic>
      <p:pic>
        <p:nvPicPr>
          <p:cNvPr id="8" name="图片 7"/>
          <p:cNvPicPr>
            <a:picLocks noChangeAspect="1"/>
          </p:cNvPicPr>
          <p:nvPr/>
        </p:nvPicPr>
        <p:blipFill rotWithShape="1">
          <a:blip r:embed="rId2"/>
          <a:srcRect r="41768"/>
          <a:stretch/>
        </p:blipFill>
        <p:spPr>
          <a:xfrm>
            <a:off x="2893776" y="1174817"/>
            <a:ext cx="2580830" cy="2956068"/>
          </a:xfrm>
          <a:prstGeom prst="rect">
            <a:avLst/>
          </a:prstGeom>
        </p:spPr>
      </p:pic>
      <p:pic>
        <p:nvPicPr>
          <p:cNvPr id="9" name="图片 8"/>
          <p:cNvPicPr>
            <a:picLocks noChangeAspect="1"/>
          </p:cNvPicPr>
          <p:nvPr/>
        </p:nvPicPr>
        <p:blipFill rotWithShape="1">
          <a:blip r:embed="rId2"/>
          <a:srcRect r="41768"/>
          <a:stretch/>
        </p:blipFill>
        <p:spPr>
          <a:xfrm>
            <a:off x="6076061" y="1174817"/>
            <a:ext cx="2580830" cy="2956068"/>
          </a:xfrm>
          <a:prstGeom prst="rect">
            <a:avLst/>
          </a:prstGeom>
        </p:spPr>
      </p:pic>
      <p:pic>
        <p:nvPicPr>
          <p:cNvPr id="10" name="图片 9"/>
          <p:cNvPicPr>
            <a:picLocks noChangeAspect="1"/>
          </p:cNvPicPr>
          <p:nvPr/>
        </p:nvPicPr>
        <p:blipFill rotWithShape="1">
          <a:blip r:embed="rId2"/>
          <a:srcRect r="41768"/>
          <a:stretch/>
        </p:blipFill>
        <p:spPr>
          <a:xfrm>
            <a:off x="9084180" y="1174817"/>
            <a:ext cx="2580830" cy="2956068"/>
          </a:xfrm>
          <a:prstGeom prst="rect">
            <a:avLst/>
          </a:prstGeom>
        </p:spPr>
      </p:pic>
      <p:sp>
        <p:nvSpPr>
          <p:cNvPr id="11" name="矩形 10"/>
          <p:cNvSpPr/>
          <p:nvPr/>
        </p:nvSpPr>
        <p:spPr>
          <a:xfrm>
            <a:off x="0" y="0"/>
            <a:ext cx="9189578" cy="646331"/>
          </a:xfrm>
          <a:prstGeom prst="rect">
            <a:avLst/>
          </a:prstGeom>
        </p:spPr>
        <p:txBody>
          <a:bodyPr wrap="square">
            <a:spAutoFit/>
          </a:bodyPr>
          <a:lstStyle/>
          <a:p>
            <a:pPr marL="457200" indent="-457200">
              <a:lnSpc>
                <a:spcPct val="150000"/>
              </a:lnSpc>
            </a:pPr>
            <a:r>
              <a:rPr lang="zh-CN" altLang="en-US" sz="2400" dirty="0" smtClean="0">
                <a:latin typeface="宋体" panose="02010600030101010101" pitchFamily="2" charset="-122"/>
                <a:ea typeface="宋体" panose="02010600030101010101" pitchFamily="2" charset="-122"/>
              </a:rPr>
              <a:t>情况 </a:t>
            </a:r>
            <a:r>
              <a:rPr lang="en-US" altLang="zh-CN" sz="2400" dirty="0" smtClean="0">
                <a:latin typeface="宋体" panose="02010600030101010101" pitchFamily="2" charset="-122"/>
                <a:ea typeface="宋体" panose="02010600030101010101" pitchFamily="2" charset="-122"/>
              </a:rPr>
              <a:t>III  </a:t>
            </a:r>
            <a:r>
              <a:rPr lang="zh-CN" altLang="en-US" sz="2400" dirty="0" smtClean="0">
                <a:latin typeface="宋体" panose="02010600030101010101" pitchFamily="2" charset="-122"/>
                <a:ea typeface="宋体" panose="02010600030101010101" pitchFamily="2" charset="-122"/>
              </a:rPr>
              <a:t>： 将情况</a:t>
            </a:r>
            <a:r>
              <a:rPr lang="en-US" altLang="zh-CN" sz="2400" dirty="0">
                <a:latin typeface="宋体" panose="02010600030101010101" pitchFamily="2" charset="-122"/>
                <a:ea typeface="宋体" panose="02010600030101010101" pitchFamily="2" charset="-122"/>
              </a:rPr>
              <a:t> </a:t>
            </a:r>
            <a:r>
              <a:rPr lang="en-US" altLang="zh-CN" sz="2400" dirty="0" smtClean="0">
                <a:latin typeface="宋体" panose="02010600030101010101" pitchFamily="2" charset="-122"/>
                <a:ea typeface="宋体" panose="02010600030101010101" pitchFamily="2" charset="-122"/>
              </a:rPr>
              <a:t>I </a:t>
            </a:r>
            <a:r>
              <a:rPr lang="zh-CN" altLang="en-US" sz="2400" dirty="0" smtClean="0">
                <a:latin typeface="宋体" panose="02010600030101010101" pitchFamily="2" charset="-122"/>
                <a:ea typeface="宋体" panose="02010600030101010101" pitchFamily="2" charset="-122"/>
              </a:rPr>
              <a:t>每四个循环展开成一个循环</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12" name="矩形 11"/>
          <p:cNvSpPr/>
          <p:nvPr/>
        </p:nvSpPr>
        <p:spPr>
          <a:xfrm>
            <a:off x="-549311" y="4897252"/>
            <a:ext cx="9984713" cy="477054"/>
          </a:xfrm>
          <a:prstGeom prst="rect">
            <a:avLst/>
          </a:prstGeom>
        </p:spPr>
        <p:txBody>
          <a:bodyPr wrap="square">
            <a:spAutoFit/>
          </a:bodyPr>
          <a:lstStyle/>
          <a:p>
            <a:pPr marL="1200150" lvl="2" indent="-285750">
              <a:lnSpc>
                <a:spcPts val="3000"/>
              </a:lnSpc>
              <a:buFont typeface="Arial" panose="020B0604020202020204" pitchFamily="34" charset="0"/>
              <a:buChar char="•"/>
            </a:pPr>
            <a:r>
              <a:rPr lang="zh-CN" altLang="en-US" dirty="0" smtClean="0">
                <a:latin typeface="宋体" panose="02010600030101010101" pitchFamily="2" charset="-122"/>
                <a:ea typeface="宋体" panose="02010600030101010101" pitchFamily="2" charset="-122"/>
              </a:rPr>
              <a:t>去掉多余的循环控制语句</a:t>
            </a:r>
            <a:endParaRPr lang="zh-CN" altLang="en-US" dirty="0">
              <a:latin typeface="宋体" panose="02010600030101010101" pitchFamily="2" charset="-122"/>
              <a:ea typeface="宋体" panose="02010600030101010101" pitchFamily="2" charset="-122"/>
            </a:endParaRPr>
          </a:p>
        </p:txBody>
      </p:sp>
      <p:sp>
        <p:nvSpPr>
          <p:cNvPr id="13" name="矩形 12"/>
          <p:cNvSpPr/>
          <p:nvPr/>
        </p:nvSpPr>
        <p:spPr>
          <a:xfrm>
            <a:off x="-549311" y="5317047"/>
            <a:ext cx="9984713" cy="419795"/>
          </a:xfrm>
          <a:prstGeom prst="rect">
            <a:avLst/>
          </a:prstGeom>
        </p:spPr>
        <p:txBody>
          <a:bodyPr wrap="square">
            <a:spAutoFit/>
          </a:bodyPr>
          <a:lstStyle/>
          <a:p>
            <a:pPr marL="1200150" lvl="2" indent="-285750">
              <a:lnSpc>
                <a:spcPts val="3000"/>
              </a:lnSpc>
              <a:buFont typeface="Arial" panose="020B0604020202020204" pitchFamily="34" charset="0"/>
              <a:buChar char="•"/>
            </a:pPr>
            <a:r>
              <a:rPr lang="zh-CN" altLang="en-US" dirty="0" smtClean="0">
                <a:latin typeface="宋体" panose="02010600030101010101" pitchFamily="2" charset="-122"/>
                <a:ea typeface="宋体" panose="02010600030101010101" pitchFamily="2" charset="-122"/>
              </a:rPr>
              <a:t>寄存器换名</a:t>
            </a:r>
            <a:endParaRPr lang="zh-CN" altLang="en-US" dirty="0">
              <a:latin typeface="宋体" panose="02010600030101010101" pitchFamily="2" charset="-122"/>
              <a:ea typeface="宋体" panose="02010600030101010101" pitchFamily="2" charset="-122"/>
            </a:endParaRPr>
          </a:p>
        </p:txBody>
      </p:sp>
      <p:sp>
        <p:nvSpPr>
          <p:cNvPr id="14" name="矩形 13"/>
          <p:cNvSpPr/>
          <p:nvPr/>
        </p:nvSpPr>
        <p:spPr>
          <a:xfrm>
            <a:off x="-549312" y="5736842"/>
            <a:ext cx="9984713" cy="419795"/>
          </a:xfrm>
          <a:prstGeom prst="rect">
            <a:avLst/>
          </a:prstGeom>
        </p:spPr>
        <p:txBody>
          <a:bodyPr wrap="square">
            <a:spAutoFit/>
          </a:bodyPr>
          <a:lstStyle/>
          <a:p>
            <a:pPr marL="1200150" lvl="2" indent="-285750">
              <a:lnSpc>
                <a:spcPts val="3000"/>
              </a:lnSpc>
              <a:buFont typeface="Arial" panose="020B0604020202020204" pitchFamily="34" charset="0"/>
              <a:buChar char="•"/>
            </a:pPr>
            <a:r>
              <a:rPr lang="zh-CN" altLang="en-US" dirty="0" smtClean="0">
                <a:latin typeface="宋体" panose="02010600030101010101" pitchFamily="2" charset="-122"/>
                <a:ea typeface="宋体" panose="02010600030101010101" pitchFamily="2" charset="-122"/>
              </a:rPr>
              <a:t>修改下标</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240137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34147" name="Text Box 4"/>
          <p:cNvSpPr txBox="1">
            <a:spLocks noChangeArrowheads="1"/>
          </p:cNvSpPr>
          <p:nvPr/>
        </p:nvSpPr>
        <p:spPr bwMode="auto">
          <a:xfrm>
            <a:off x="981392" y="409420"/>
            <a:ext cx="5148263"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FontTx/>
              <a:buNone/>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指令流出时钟</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Loop:	L.D	F0,0(R1)	</a:t>
            </a:r>
            <a:r>
              <a:rPr lang="en-US" altLang="zh-CN" sz="2000" dirty="0">
                <a:latin typeface="宋体" panose="02010600030101010101" pitchFamily="2" charset="-122"/>
                <a:ea typeface="宋体" panose="02010600030101010101" pitchFamily="2" charset="-122"/>
              </a:rPr>
              <a:t>1</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t>
            </a: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2</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ADD.D	F4,F0,F2	</a:t>
            </a:r>
            <a:r>
              <a:rPr lang="en-US" altLang="zh-CN" sz="2000" dirty="0">
                <a:latin typeface="宋体" panose="02010600030101010101" pitchFamily="2" charset="-122"/>
                <a:ea typeface="宋体" panose="02010600030101010101" pitchFamily="2" charset="-122"/>
              </a:rPr>
              <a:t>3</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t>
            </a: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4</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t>
            </a: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5</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S.D	F4, 0</a:t>
            </a:r>
            <a:r>
              <a:rPr lang="zh-CN" altLang="en-US" sz="2000" dirty="0">
                <a:solidFill>
                  <a:schemeClr val="tx1"/>
                </a:solidFill>
                <a:latin typeface="宋体" panose="02010600030101010101" pitchFamily="2" charset="-122"/>
                <a:ea typeface="宋体" panose="02010600030101010101" pitchFamily="2" charset="-122"/>
              </a:rPr>
              <a:t>（</a:t>
            </a:r>
            <a:r>
              <a:rPr lang="en-US" altLang="zh-CN" sz="2000" dirty="0">
                <a:solidFill>
                  <a:schemeClr val="tx1"/>
                </a:solidFill>
                <a:latin typeface="宋体" panose="02010600030101010101" pitchFamily="2" charset="-122"/>
                <a:ea typeface="宋体" panose="02010600030101010101" pitchFamily="2" charset="-122"/>
              </a:rPr>
              <a:t>R1</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6</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L.D	F6,-8(R1)	</a:t>
            </a:r>
            <a:r>
              <a:rPr lang="en-US" altLang="zh-CN" sz="2000" dirty="0">
                <a:latin typeface="宋体" panose="02010600030101010101" pitchFamily="2" charset="-122"/>
                <a:ea typeface="宋体" panose="02010600030101010101" pitchFamily="2" charset="-122"/>
              </a:rPr>
              <a:t>7</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t>
            </a: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8</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ADD.D	F8,F6,F2	</a:t>
            </a:r>
            <a:r>
              <a:rPr lang="en-US" altLang="zh-CN" sz="2000" dirty="0">
                <a:latin typeface="宋体" panose="02010600030101010101" pitchFamily="2" charset="-122"/>
                <a:ea typeface="宋体" panose="02010600030101010101" pitchFamily="2" charset="-122"/>
              </a:rPr>
              <a:t>9</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t>
            </a: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10</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t>
            </a: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11</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S.D	F8, -8</a:t>
            </a:r>
            <a:r>
              <a:rPr lang="zh-CN" altLang="en-US" sz="2000" dirty="0">
                <a:solidFill>
                  <a:schemeClr val="tx1"/>
                </a:solidFill>
                <a:latin typeface="宋体" panose="02010600030101010101" pitchFamily="2" charset="-122"/>
                <a:ea typeface="宋体" panose="02010600030101010101" pitchFamily="2" charset="-122"/>
              </a:rPr>
              <a:t>（</a:t>
            </a:r>
            <a:r>
              <a:rPr lang="en-US" altLang="zh-CN" sz="2000" dirty="0">
                <a:solidFill>
                  <a:schemeClr val="tx1"/>
                </a:solidFill>
                <a:latin typeface="宋体" panose="02010600030101010101" pitchFamily="2" charset="-122"/>
                <a:ea typeface="宋体" panose="02010600030101010101" pitchFamily="2" charset="-122"/>
              </a:rPr>
              <a:t>R1</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12</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L.D	F10,-16(R1)	</a:t>
            </a:r>
            <a:r>
              <a:rPr lang="en-US" altLang="zh-CN" sz="2000" dirty="0">
                <a:latin typeface="宋体" panose="02010600030101010101" pitchFamily="2" charset="-122"/>
                <a:ea typeface="宋体" panose="02010600030101010101" pitchFamily="2" charset="-122"/>
              </a:rPr>
              <a:t>13</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t>
            </a: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14</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t>
            </a:r>
          </a:p>
        </p:txBody>
      </p:sp>
      <p:sp>
        <p:nvSpPr>
          <p:cNvPr id="134148" name="Text Box 5"/>
          <p:cNvSpPr txBox="1">
            <a:spLocks noChangeArrowheads="1"/>
          </p:cNvSpPr>
          <p:nvPr/>
        </p:nvSpPr>
        <p:spPr bwMode="auto">
          <a:xfrm>
            <a:off x="5985192" y="409420"/>
            <a:ext cx="4321175"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FontTx/>
              <a:buNone/>
            </a:pPr>
            <a:r>
              <a:rPr lang="en-US" altLang="zh-CN" sz="2000" dirty="0">
                <a:ea typeface="宋体" panose="02010600030101010101" pitchFamily="2" charset="-122"/>
              </a:rPr>
              <a:t>                             </a:t>
            </a:r>
            <a:r>
              <a:rPr lang="zh-CN" altLang="en-US" sz="2000" dirty="0">
                <a:ea typeface="宋体" panose="02010600030101010101" pitchFamily="2" charset="-122"/>
              </a:rPr>
              <a:t>指令流出时钟</a:t>
            </a:r>
            <a:endParaRPr lang="zh-CN" altLang="en-US" sz="2000" dirty="0">
              <a:latin typeface="宋体" panose="02010600030101010101" pitchFamily="2" charset="-122"/>
              <a:ea typeface="宋体" panose="02010600030101010101" pitchFamily="2" charset="-122"/>
            </a:endParaRP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ADD.D	F12,F10,F2	</a:t>
            </a:r>
            <a:r>
              <a:rPr lang="en-US" altLang="zh-CN" sz="2000" dirty="0">
                <a:latin typeface="宋体" panose="02010600030101010101" pitchFamily="2" charset="-122"/>
                <a:ea typeface="宋体" panose="02010600030101010101" pitchFamily="2" charset="-122"/>
              </a:rPr>
              <a:t>15</a:t>
            </a:r>
          </a:p>
          <a:p>
            <a:pPr eaLnBrk="1" hangingPunct="1">
              <a:lnSpc>
                <a:spcPct val="110000"/>
              </a:lnSpc>
              <a:spcBef>
                <a:spcPct val="0"/>
              </a:spcBef>
              <a:buClrTx/>
              <a:buFontTx/>
              <a:buNone/>
            </a:pP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16</a:t>
            </a:r>
          </a:p>
          <a:p>
            <a:pPr eaLnBrk="1" hangingPunct="1">
              <a:lnSpc>
                <a:spcPct val="110000"/>
              </a:lnSpc>
              <a:spcBef>
                <a:spcPct val="0"/>
              </a:spcBef>
              <a:buClrTx/>
              <a:buFontTx/>
              <a:buNone/>
            </a:pP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17</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S.D	F12,-16(R1)	</a:t>
            </a:r>
            <a:r>
              <a:rPr lang="en-US" altLang="zh-CN" sz="2000" dirty="0">
                <a:latin typeface="宋体" panose="02010600030101010101" pitchFamily="2" charset="-122"/>
                <a:ea typeface="宋体" panose="02010600030101010101" pitchFamily="2" charset="-122"/>
              </a:rPr>
              <a:t>18</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L.D	F14,-24(R1)	</a:t>
            </a:r>
            <a:r>
              <a:rPr lang="en-US" altLang="zh-CN" sz="2000" dirty="0">
                <a:latin typeface="宋体" panose="02010600030101010101" pitchFamily="2" charset="-122"/>
                <a:ea typeface="宋体" panose="02010600030101010101" pitchFamily="2" charset="-122"/>
              </a:rPr>
              <a:t>19</a:t>
            </a:r>
          </a:p>
          <a:p>
            <a:pPr eaLnBrk="1" hangingPunct="1">
              <a:lnSpc>
                <a:spcPct val="110000"/>
              </a:lnSpc>
              <a:spcBef>
                <a:spcPct val="0"/>
              </a:spcBef>
              <a:buClrTx/>
              <a:buFontTx/>
              <a:buNone/>
            </a:pP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20</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ADD.D	F16,F14,F2	</a:t>
            </a:r>
            <a:r>
              <a:rPr lang="en-US" altLang="zh-CN" sz="2000" dirty="0">
                <a:latin typeface="宋体" panose="02010600030101010101" pitchFamily="2" charset="-122"/>
                <a:ea typeface="宋体" panose="02010600030101010101" pitchFamily="2" charset="-122"/>
              </a:rPr>
              <a:t>21</a:t>
            </a:r>
          </a:p>
          <a:p>
            <a:pPr eaLnBrk="1" hangingPunct="1">
              <a:lnSpc>
                <a:spcPct val="110000"/>
              </a:lnSpc>
              <a:spcBef>
                <a:spcPct val="0"/>
              </a:spcBef>
              <a:buClrTx/>
              <a:buFontTx/>
              <a:buNone/>
            </a:pPr>
            <a:r>
              <a:rPr lang="zh-CN" altLang="en-US" sz="2000" dirty="0">
                <a:solidFill>
                  <a:schemeClr val="hlink"/>
                </a:solidFill>
                <a:latin typeface="宋体" panose="02010600030101010101" pitchFamily="2" charset="-122"/>
                <a:ea typeface="宋体" panose="02010600030101010101" pitchFamily="2" charset="-122"/>
              </a:rPr>
              <a:t>（空转）	</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22</a:t>
            </a:r>
          </a:p>
          <a:p>
            <a:pPr eaLnBrk="1" hangingPunct="1">
              <a:lnSpc>
                <a:spcPct val="110000"/>
              </a:lnSpc>
              <a:spcBef>
                <a:spcPct val="0"/>
              </a:spcBef>
              <a:buClrTx/>
              <a:buFontTx/>
              <a:buNone/>
            </a:pP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23</a:t>
            </a:r>
          </a:p>
          <a:p>
            <a:pPr eaLnBrk="1" hangingPunct="1">
              <a:lnSpc>
                <a:spcPct val="1100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S.D	F16,-24(R1)	</a:t>
            </a:r>
            <a:r>
              <a:rPr lang="en-US" altLang="zh-CN" sz="2000" dirty="0">
                <a:latin typeface="宋体" panose="02010600030101010101" pitchFamily="2" charset="-122"/>
                <a:ea typeface="宋体" panose="02010600030101010101" pitchFamily="2" charset="-122"/>
              </a:rPr>
              <a:t>24</a:t>
            </a:r>
          </a:p>
          <a:p>
            <a:pPr eaLnBrk="1" hangingPunct="1">
              <a:lnSpc>
                <a:spcPct val="110000"/>
              </a:lnSpc>
              <a:spcBef>
                <a:spcPct val="0"/>
              </a:spcBef>
              <a:buClrTx/>
              <a:buFontTx/>
              <a:buNone/>
            </a:pPr>
            <a:r>
              <a:rPr lang="en-US" altLang="zh-CN" sz="2000" dirty="0">
                <a:solidFill>
                  <a:srgbClr val="D60093"/>
                </a:solidFill>
                <a:latin typeface="宋体" panose="02010600030101010101" pitchFamily="2" charset="-122"/>
                <a:ea typeface="宋体" panose="02010600030101010101" pitchFamily="2" charset="-122"/>
              </a:rPr>
              <a:t>DADDIU	R1,R1,#-32</a:t>
            </a:r>
            <a:r>
              <a:rPr lang="en-US" altLang="zh-CN"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25</a:t>
            </a:r>
          </a:p>
          <a:p>
            <a:pPr eaLnBrk="1" hangingPunct="1">
              <a:lnSpc>
                <a:spcPct val="110000"/>
              </a:lnSpc>
              <a:spcBef>
                <a:spcPct val="0"/>
              </a:spcBef>
              <a:buClrTx/>
              <a:buFontTx/>
              <a:buNone/>
            </a:pP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26</a:t>
            </a:r>
          </a:p>
          <a:p>
            <a:pPr eaLnBrk="1" hangingPunct="1">
              <a:lnSpc>
                <a:spcPct val="110000"/>
              </a:lnSpc>
              <a:spcBef>
                <a:spcPct val="0"/>
              </a:spcBef>
              <a:buClrTx/>
              <a:buFontTx/>
              <a:buNone/>
            </a:pPr>
            <a:r>
              <a:rPr lang="en-US" altLang="zh-CN" sz="2000" dirty="0">
                <a:solidFill>
                  <a:srgbClr val="D60093"/>
                </a:solidFill>
                <a:latin typeface="宋体" panose="02010600030101010101" pitchFamily="2" charset="-122"/>
                <a:ea typeface="宋体" panose="02010600030101010101" pitchFamily="2" charset="-122"/>
              </a:rPr>
              <a:t>BNE	R1,R2,Loop</a:t>
            </a:r>
            <a:r>
              <a:rPr lang="en-US" altLang="zh-CN"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27</a:t>
            </a:r>
          </a:p>
          <a:p>
            <a:pPr eaLnBrk="1" hangingPunct="1">
              <a:lnSpc>
                <a:spcPct val="110000"/>
              </a:lnSpc>
              <a:spcBef>
                <a:spcPct val="0"/>
              </a:spcBef>
              <a:buClrTx/>
              <a:buFontTx/>
              <a:buNone/>
            </a:pPr>
            <a:r>
              <a:rPr lang="zh-CN" altLang="en-US" sz="2000" dirty="0">
                <a:solidFill>
                  <a:schemeClr val="hlink"/>
                </a:solidFill>
                <a:latin typeface="宋体" panose="02010600030101010101" pitchFamily="2" charset="-122"/>
                <a:ea typeface="宋体" panose="02010600030101010101" pitchFamily="2" charset="-122"/>
              </a:rPr>
              <a:t>（空转）</a:t>
            </a:r>
            <a:r>
              <a:rPr lang="zh-CN" altLang="en-US" sz="2000" dirty="0">
                <a:solidFill>
                  <a:schemeClr val="tx1"/>
                </a:solidFill>
                <a:latin typeface="宋体" panose="02010600030101010101" pitchFamily="2" charset="-122"/>
                <a:ea typeface="宋体" panose="02010600030101010101" pitchFamily="2" charset="-122"/>
              </a:rPr>
              <a:t>		</a:t>
            </a:r>
            <a:r>
              <a:rPr lang="en-US" altLang="zh-CN" sz="2000" dirty="0">
                <a:latin typeface="宋体" panose="02010600030101010101" pitchFamily="2" charset="-122"/>
                <a:ea typeface="宋体" panose="02010600030101010101" pitchFamily="2" charset="-122"/>
              </a:rPr>
              <a:t>28</a:t>
            </a:r>
          </a:p>
        </p:txBody>
      </p:sp>
      <p:sp>
        <p:nvSpPr>
          <p:cNvPr id="134149" name="Line 6"/>
          <p:cNvSpPr>
            <a:spLocks noChangeShapeType="1"/>
          </p:cNvSpPr>
          <p:nvPr/>
        </p:nvSpPr>
        <p:spPr bwMode="auto">
          <a:xfrm>
            <a:off x="1708466" y="2814482"/>
            <a:ext cx="338455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150" name="Line 7"/>
          <p:cNvSpPr>
            <a:spLocks noChangeShapeType="1"/>
          </p:cNvSpPr>
          <p:nvPr/>
        </p:nvSpPr>
        <p:spPr bwMode="auto">
          <a:xfrm>
            <a:off x="1737041" y="4844895"/>
            <a:ext cx="338455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151" name="Line 8"/>
          <p:cNvSpPr>
            <a:spLocks noChangeShapeType="1"/>
          </p:cNvSpPr>
          <p:nvPr/>
        </p:nvSpPr>
        <p:spPr bwMode="auto">
          <a:xfrm>
            <a:off x="5942329" y="2152495"/>
            <a:ext cx="338455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4152" name="Line 9"/>
          <p:cNvSpPr>
            <a:spLocks noChangeShapeType="1"/>
          </p:cNvSpPr>
          <p:nvPr/>
        </p:nvSpPr>
        <p:spPr bwMode="auto">
          <a:xfrm>
            <a:off x="5913754" y="4181320"/>
            <a:ext cx="338455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extLst>
      <p:ext uri="{BB962C8B-B14F-4D97-AF65-F5344CB8AC3E}">
        <p14:creationId xmlns:p14="http://schemas.microsoft.com/office/powerpoint/2010/main" val="16587711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35171" name="Rectangle 3" descr="Rectangle: Click to edit Master text styles&#10;Second level&#10;Third level&#10;Fourth level&#10;Fifth level"/>
          <p:cNvSpPr>
            <a:spLocks noGrp="1" noChangeArrowheads="1"/>
          </p:cNvSpPr>
          <p:nvPr>
            <p:ph type="body" idx="1"/>
          </p:nvPr>
        </p:nvSpPr>
        <p:spPr>
          <a:xfrm>
            <a:off x="809625" y="606425"/>
            <a:ext cx="10515600" cy="4351338"/>
          </a:xfrm>
        </p:spPr>
        <p:txBody>
          <a:bodyPr/>
          <a:lstStyle/>
          <a:p>
            <a:pPr marL="1085850" lvl="1" indent="-457200" eaLnBrk="1" hangingPunct="1">
              <a:lnSpc>
                <a:spcPct val="130000"/>
              </a:lnSpc>
              <a:buNone/>
            </a:pPr>
            <a:r>
              <a:rPr lang="zh-CN" altLang="en-US" dirty="0" smtClean="0">
                <a:solidFill>
                  <a:srgbClr val="D60093"/>
                </a:solidFill>
                <a:latin typeface="宋体" panose="02010600030101010101" pitchFamily="2" charset="-122"/>
                <a:ea typeface="宋体" panose="02010600030101010101" pitchFamily="2" charset="-122"/>
              </a:rPr>
              <a:t>结果分析</a:t>
            </a:r>
            <a:r>
              <a:rPr lang="en-US" altLang="zh-CN" dirty="0" smtClean="0">
                <a:solidFill>
                  <a:srgbClr val="D60093"/>
                </a:solidFill>
                <a:latin typeface="宋体" panose="02010600030101010101" pitchFamily="2" charset="-122"/>
                <a:ea typeface="宋体" panose="02010600030101010101" pitchFamily="2" charset="-122"/>
              </a:rPr>
              <a:t>:</a:t>
            </a:r>
          </a:p>
          <a:p>
            <a:pPr lvl="2" eaLnBrk="1" hangingPunct="1">
              <a:lnSpc>
                <a:spcPct val="130000"/>
              </a:lnSpc>
            </a:pPr>
            <a:r>
              <a:rPr lang="zh-CN" altLang="en-US" dirty="0" smtClean="0">
                <a:latin typeface="宋体" panose="02010600030101010101" pitchFamily="2" charset="-122"/>
                <a:ea typeface="宋体" panose="02010600030101010101" pitchFamily="2" charset="-122"/>
              </a:rPr>
              <a:t>这个循环每遍共使用了</a:t>
            </a:r>
            <a:r>
              <a:rPr lang="en-US" altLang="zh-CN" dirty="0" smtClean="0">
                <a:solidFill>
                  <a:srgbClr val="9933FF"/>
                </a:solidFill>
                <a:latin typeface="宋体" panose="02010600030101010101" pitchFamily="2" charset="-122"/>
                <a:ea typeface="宋体" panose="02010600030101010101" pitchFamily="2" charset="-122"/>
              </a:rPr>
              <a:t>28</a:t>
            </a:r>
            <a:r>
              <a:rPr lang="zh-CN" altLang="en-US" dirty="0" smtClean="0">
                <a:latin typeface="宋体" panose="02010600030101010101" pitchFamily="2" charset="-122"/>
                <a:ea typeface="宋体" panose="02010600030101010101" pitchFamily="2" charset="-122"/>
              </a:rPr>
              <a:t>个时钟周期。</a:t>
            </a:r>
          </a:p>
          <a:p>
            <a:pPr lvl="2" eaLnBrk="1" hangingPunct="1">
              <a:lnSpc>
                <a:spcPct val="130000"/>
              </a:lnSpc>
            </a:pPr>
            <a:r>
              <a:rPr lang="zh-CN" altLang="en-US" dirty="0" smtClean="0">
                <a:latin typeface="宋体" panose="02010600030101010101" pitchFamily="2" charset="-122"/>
                <a:ea typeface="宋体" panose="02010600030101010101" pitchFamily="2" charset="-122"/>
              </a:rPr>
              <a:t>有</a:t>
            </a:r>
            <a:r>
              <a:rPr lang="en-US" altLang="zh-CN" dirty="0" smtClean="0">
                <a:solidFill>
                  <a:srgbClr val="9933FF"/>
                </a:solidFill>
                <a:latin typeface="宋体" panose="02010600030101010101" pitchFamily="2" charset="-122"/>
                <a:ea typeface="宋体" panose="02010600030101010101" pitchFamily="2" charset="-122"/>
              </a:rPr>
              <a:t>4</a:t>
            </a:r>
            <a:r>
              <a:rPr lang="zh-CN" altLang="en-US" dirty="0" smtClean="0">
                <a:latin typeface="宋体" panose="02010600030101010101" pitchFamily="2" charset="-122"/>
                <a:ea typeface="宋体" panose="02010600030101010101" pitchFamily="2" charset="-122"/>
              </a:rPr>
              <a:t>个循环体，完成</a:t>
            </a:r>
            <a:r>
              <a:rPr lang="en-US" altLang="zh-CN" dirty="0" smtClean="0">
                <a:solidFill>
                  <a:srgbClr val="9933FF"/>
                </a:solidFill>
                <a:latin typeface="宋体" panose="02010600030101010101" pitchFamily="2" charset="-122"/>
                <a:ea typeface="宋体" panose="02010600030101010101" pitchFamily="2" charset="-122"/>
              </a:rPr>
              <a:t>4</a:t>
            </a:r>
            <a:r>
              <a:rPr lang="zh-CN" altLang="en-US" dirty="0" smtClean="0">
                <a:latin typeface="宋体" panose="02010600030101010101" pitchFamily="2" charset="-122"/>
                <a:ea typeface="宋体" panose="02010600030101010101" pitchFamily="2" charset="-122"/>
              </a:rPr>
              <a:t>个元素的操作。</a:t>
            </a:r>
          </a:p>
          <a:p>
            <a:pPr lvl="2" eaLnBrk="1" hangingPunct="1">
              <a:lnSpc>
                <a:spcPct val="130000"/>
              </a:lnSpc>
              <a:buFont typeface="Wingdings" pitchFamily="2" charset="2"/>
              <a:buNone/>
            </a:pPr>
            <a:r>
              <a:rPr lang="zh-CN" altLang="en-US" dirty="0" smtClean="0">
                <a:latin typeface="宋体" panose="02010600030101010101" pitchFamily="2" charset="-122"/>
                <a:ea typeface="宋体" panose="02010600030101010101" pitchFamily="2" charset="-122"/>
              </a:rPr>
              <a:t>    平均每个元素使用</a:t>
            </a:r>
            <a:r>
              <a:rPr lang="en-US" altLang="zh-CN" dirty="0" smtClean="0">
                <a:solidFill>
                  <a:srgbClr val="9933FF"/>
                </a:solidFill>
                <a:latin typeface="宋体" panose="02010600030101010101" pitchFamily="2" charset="-122"/>
                <a:ea typeface="宋体" panose="02010600030101010101" pitchFamily="2" charset="-122"/>
              </a:rPr>
              <a:t>28/4=7</a:t>
            </a:r>
            <a:r>
              <a:rPr lang="zh-CN" altLang="en-US" dirty="0" smtClean="0">
                <a:latin typeface="宋体" panose="02010600030101010101" pitchFamily="2" charset="-122"/>
                <a:ea typeface="宋体" panose="02010600030101010101" pitchFamily="2" charset="-122"/>
              </a:rPr>
              <a:t>个时钟周期</a:t>
            </a:r>
          </a:p>
          <a:p>
            <a:pPr lvl="2" eaLnBrk="1" hangingPunct="1">
              <a:lnSpc>
                <a:spcPct val="130000"/>
              </a:lnSpc>
            </a:pPr>
            <a:r>
              <a:rPr lang="zh-CN" altLang="en-US" dirty="0" smtClean="0">
                <a:latin typeface="宋体" panose="02010600030101010101" pitchFamily="2" charset="-122"/>
                <a:ea typeface="宋体" panose="02010600030101010101" pitchFamily="2" charset="-122"/>
              </a:rPr>
              <a:t>原始循环的每个元素需要</a:t>
            </a:r>
            <a:r>
              <a:rPr lang="en-US" altLang="zh-CN" dirty="0" smtClean="0">
                <a:solidFill>
                  <a:srgbClr val="9933FF"/>
                </a:solidFill>
                <a:latin typeface="宋体" panose="02010600030101010101" pitchFamily="2" charset="-122"/>
                <a:ea typeface="宋体" panose="02010600030101010101" pitchFamily="2" charset="-122"/>
              </a:rPr>
              <a:t>10</a:t>
            </a:r>
            <a:r>
              <a:rPr lang="zh-CN" altLang="en-US" dirty="0" smtClean="0">
                <a:latin typeface="宋体" panose="02010600030101010101" pitchFamily="2" charset="-122"/>
                <a:ea typeface="宋体" panose="02010600030101010101" pitchFamily="2" charset="-122"/>
              </a:rPr>
              <a:t>个时钟周期。</a:t>
            </a:r>
          </a:p>
          <a:p>
            <a:pPr lvl="2" eaLnBrk="1" hangingPunct="1">
              <a:lnSpc>
                <a:spcPct val="130000"/>
              </a:lnSpc>
              <a:buFont typeface="Wingdings" pitchFamily="2" charset="2"/>
              <a:buNone/>
            </a:pPr>
            <a:r>
              <a:rPr lang="zh-CN" altLang="en-US" dirty="0" smtClean="0">
                <a:latin typeface="宋体" panose="02010600030101010101" pitchFamily="2" charset="-122"/>
                <a:ea typeface="宋体" panose="02010600030101010101" pitchFamily="2" charset="-122"/>
              </a:rPr>
              <a:t>   </a:t>
            </a:r>
            <a:r>
              <a:rPr lang="zh-CN" altLang="en-US" dirty="0" smtClean="0">
                <a:solidFill>
                  <a:srgbClr val="D60093"/>
                </a:solidFill>
                <a:latin typeface="宋体" panose="02010600030101010101" pitchFamily="2" charset="-122"/>
                <a:ea typeface="宋体" panose="02010600030101010101" pitchFamily="2" charset="-122"/>
              </a:rPr>
              <a:t>节省的时间：</a:t>
            </a:r>
            <a:r>
              <a:rPr lang="zh-CN" altLang="en-US" dirty="0" smtClean="0">
                <a:latin typeface="宋体" panose="02010600030101010101" pitchFamily="2" charset="-122"/>
                <a:ea typeface="宋体" panose="02010600030101010101" pitchFamily="2" charset="-122"/>
              </a:rPr>
              <a:t>从减少循环控制的开销中获得的。</a:t>
            </a:r>
          </a:p>
          <a:p>
            <a:pPr lvl="2" eaLnBrk="1" hangingPunct="1">
              <a:lnSpc>
                <a:spcPct val="130000"/>
              </a:lnSpc>
            </a:pPr>
            <a:r>
              <a:rPr lang="zh-CN" altLang="en-US" dirty="0" smtClean="0">
                <a:latin typeface="宋体" panose="02010600030101010101" pitchFamily="2" charset="-122"/>
                <a:ea typeface="宋体" panose="02010600030101010101" pitchFamily="2" charset="-122"/>
              </a:rPr>
              <a:t>在整个展开后的循环中，实际指令只有</a:t>
            </a:r>
            <a:r>
              <a:rPr lang="en-US" altLang="zh-CN" dirty="0" smtClean="0">
                <a:solidFill>
                  <a:srgbClr val="9933FF"/>
                </a:solidFill>
                <a:latin typeface="宋体" panose="02010600030101010101" pitchFamily="2" charset="-122"/>
                <a:ea typeface="宋体" panose="02010600030101010101" pitchFamily="2" charset="-122"/>
              </a:rPr>
              <a:t>14</a:t>
            </a:r>
            <a:r>
              <a:rPr lang="zh-CN" altLang="en-US" dirty="0" smtClean="0">
                <a:latin typeface="宋体" panose="02010600030101010101" pitchFamily="2" charset="-122"/>
                <a:ea typeface="宋体" panose="02010600030101010101" pitchFamily="2" charset="-122"/>
              </a:rPr>
              <a:t>条，其他</a:t>
            </a:r>
            <a:r>
              <a:rPr lang="en-US" altLang="zh-CN" dirty="0" smtClean="0">
                <a:solidFill>
                  <a:srgbClr val="9933FF"/>
                </a:solidFill>
                <a:latin typeface="宋体" panose="02010600030101010101" pitchFamily="2" charset="-122"/>
                <a:ea typeface="宋体" panose="02010600030101010101" pitchFamily="2" charset="-122"/>
              </a:rPr>
              <a:t>14</a:t>
            </a:r>
            <a:r>
              <a:rPr lang="zh-CN" altLang="en-US" dirty="0" smtClean="0">
                <a:latin typeface="宋体" panose="02010600030101010101" pitchFamily="2" charset="-122"/>
                <a:ea typeface="宋体" panose="02010600030101010101" pitchFamily="2" charset="-122"/>
              </a:rPr>
              <a:t>个周期都是空转。</a:t>
            </a:r>
          </a:p>
          <a:p>
            <a:pPr lvl="2" eaLnBrk="1" hangingPunct="1">
              <a:lnSpc>
                <a:spcPct val="130000"/>
              </a:lnSpc>
              <a:buFont typeface="Wingdings" pitchFamily="2" charset="2"/>
              <a:buNone/>
            </a:pPr>
            <a:r>
              <a:rPr lang="zh-CN" altLang="en-US" dirty="0" smtClean="0">
                <a:latin typeface="宋体" panose="02010600030101010101" pitchFamily="2" charset="-122"/>
                <a:ea typeface="宋体" panose="02010600030101010101" pitchFamily="2" charset="-122"/>
              </a:rPr>
              <a:t>      </a:t>
            </a:r>
            <a:r>
              <a:rPr lang="zh-CN" altLang="en-US" dirty="0" smtClean="0">
                <a:solidFill>
                  <a:srgbClr val="D60093"/>
                </a:solidFill>
                <a:latin typeface="宋体" panose="02010600030101010101" pitchFamily="2" charset="-122"/>
                <a:ea typeface="宋体" panose="02010600030101010101" pitchFamily="2" charset="-122"/>
              </a:rPr>
              <a:t>效率并不高</a:t>
            </a:r>
          </a:p>
        </p:txBody>
      </p:sp>
    </p:spTree>
    <p:extLst>
      <p:ext uri="{BB962C8B-B14F-4D97-AF65-F5344CB8AC3E}">
        <p14:creationId xmlns:p14="http://schemas.microsoft.com/office/powerpoint/2010/main" val="35485805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36195" name="Text Box 4"/>
          <p:cNvSpPr txBox="1">
            <a:spLocks noChangeArrowheads="1"/>
          </p:cNvSpPr>
          <p:nvPr/>
        </p:nvSpPr>
        <p:spPr bwMode="auto">
          <a:xfrm>
            <a:off x="428626" y="733425"/>
            <a:ext cx="6265863" cy="5411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eaLnBrk="1" hangingPunct="1">
              <a:lnSpc>
                <a:spcPct val="110000"/>
              </a:lnSpc>
              <a:spcBef>
                <a:spcPct val="0"/>
              </a:spcBef>
              <a:buClrTx/>
              <a:buFontTx/>
              <a:buNone/>
            </a:pPr>
            <a:r>
              <a:rPr lang="en-US" altLang="zh-CN" sz="2000" b="1" dirty="0">
                <a:solidFill>
                  <a:schemeClr val="tx1"/>
                </a:solidFill>
                <a:latin typeface="宋体" panose="02010600030101010101" pitchFamily="2" charset="-122"/>
                <a:ea typeface="宋体" panose="02010600030101010101" pitchFamily="2" charset="-122"/>
              </a:rPr>
              <a:t>			            </a:t>
            </a:r>
            <a:r>
              <a:rPr lang="zh-CN" altLang="en-US" sz="2000" b="1" dirty="0">
                <a:solidFill>
                  <a:schemeClr val="tx1"/>
                </a:solidFill>
                <a:latin typeface="宋体" panose="02010600030101010101" pitchFamily="2" charset="-122"/>
                <a:ea typeface="宋体" panose="02010600030101010101" pitchFamily="2" charset="-122"/>
              </a:rPr>
              <a:t>指令流出时钟</a:t>
            </a:r>
          </a:p>
          <a:p>
            <a:pPr eaLnBrk="1" hangingPunct="1">
              <a:lnSpc>
                <a:spcPts val="28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Loop:	</a:t>
            </a:r>
            <a:r>
              <a:rPr lang="en-US" altLang="zh-CN" sz="2000" dirty="0">
                <a:solidFill>
                  <a:srgbClr val="D60093"/>
                </a:solidFill>
                <a:latin typeface="宋体" panose="02010600030101010101" pitchFamily="2" charset="-122"/>
                <a:ea typeface="宋体" panose="02010600030101010101" pitchFamily="2" charset="-122"/>
              </a:rPr>
              <a:t>L.D		F0,0(R1)	    1</a:t>
            </a:r>
          </a:p>
          <a:p>
            <a:pPr eaLnBrk="1" hangingPunct="1">
              <a:lnSpc>
                <a:spcPts val="2800"/>
              </a:lnSpc>
              <a:spcBef>
                <a:spcPct val="0"/>
              </a:spcBef>
              <a:buClrTx/>
              <a:buFontTx/>
              <a:buNone/>
            </a:pPr>
            <a:r>
              <a:rPr lang="en-US" altLang="zh-CN" sz="2000" dirty="0">
                <a:solidFill>
                  <a:srgbClr val="D60093"/>
                </a:solidFill>
                <a:latin typeface="宋体" panose="02010600030101010101" pitchFamily="2" charset="-122"/>
                <a:ea typeface="宋体" panose="02010600030101010101" pitchFamily="2" charset="-122"/>
              </a:rPr>
              <a:t>	L.D		F6,-8(R1)	    2</a:t>
            </a:r>
          </a:p>
          <a:p>
            <a:pPr eaLnBrk="1" hangingPunct="1">
              <a:lnSpc>
                <a:spcPts val="2800"/>
              </a:lnSpc>
              <a:spcBef>
                <a:spcPct val="0"/>
              </a:spcBef>
              <a:buClrTx/>
              <a:buFontTx/>
              <a:buNone/>
            </a:pPr>
            <a:r>
              <a:rPr lang="en-US" altLang="zh-CN" sz="2000" dirty="0">
                <a:solidFill>
                  <a:srgbClr val="D60093"/>
                </a:solidFill>
                <a:latin typeface="宋体" panose="02010600030101010101" pitchFamily="2" charset="-122"/>
                <a:ea typeface="宋体" panose="02010600030101010101" pitchFamily="2" charset="-122"/>
              </a:rPr>
              <a:t>	L.D		F10,-16(R1)	    3</a:t>
            </a:r>
          </a:p>
          <a:p>
            <a:pPr eaLnBrk="1" hangingPunct="1">
              <a:lnSpc>
                <a:spcPts val="2800"/>
              </a:lnSpc>
              <a:spcBef>
                <a:spcPct val="0"/>
              </a:spcBef>
              <a:buClrTx/>
              <a:buFontTx/>
              <a:buNone/>
            </a:pPr>
            <a:r>
              <a:rPr lang="en-US" altLang="zh-CN" sz="2000" dirty="0">
                <a:solidFill>
                  <a:srgbClr val="D60093"/>
                </a:solidFill>
                <a:latin typeface="宋体" panose="02010600030101010101" pitchFamily="2" charset="-122"/>
                <a:ea typeface="宋体" panose="02010600030101010101" pitchFamily="2" charset="-122"/>
              </a:rPr>
              <a:t>	L.D		F14,-24(R1)	    4</a:t>
            </a:r>
          </a:p>
          <a:p>
            <a:pPr eaLnBrk="1" hangingPunct="1">
              <a:lnSpc>
                <a:spcPts val="28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t>
            </a:r>
            <a:r>
              <a:rPr lang="en-US" altLang="zh-CN" sz="2000" dirty="0">
                <a:solidFill>
                  <a:srgbClr val="9933FF"/>
                </a:solidFill>
                <a:latin typeface="宋体" panose="02010600030101010101" pitchFamily="2" charset="-122"/>
                <a:ea typeface="宋体" panose="02010600030101010101" pitchFamily="2" charset="-122"/>
              </a:rPr>
              <a:t>ADD.D		F4,F0,F2	    5</a:t>
            </a:r>
          </a:p>
          <a:p>
            <a:pPr eaLnBrk="1" hangingPunct="1">
              <a:lnSpc>
                <a:spcPts val="2800"/>
              </a:lnSpc>
              <a:spcBef>
                <a:spcPct val="0"/>
              </a:spcBef>
              <a:buClrTx/>
              <a:buFontTx/>
              <a:buNone/>
            </a:pPr>
            <a:r>
              <a:rPr lang="en-US" altLang="zh-CN" sz="2000" dirty="0">
                <a:solidFill>
                  <a:srgbClr val="9933FF"/>
                </a:solidFill>
                <a:latin typeface="宋体" panose="02010600030101010101" pitchFamily="2" charset="-122"/>
                <a:ea typeface="宋体" panose="02010600030101010101" pitchFamily="2" charset="-122"/>
              </a:rPr>
              <a:t>	ADD.D		F8,F6,F2	    6</a:t>
            </a:r>
          </a:p>
          <a:p>
            <a:pPr eaLnBrk="1" hangingPunct="1">
              <a:lnSpc>
                <a:spcPts val="2800"/>
              </a:lnSpc>
              <a:spcBef>
                <a:spcPct val="0"/>
              </a:spcBef>
              <a:buClrTx/>
              <a:buFontTx/>
              <a:buNone/>
            </a:pPr>
            <a:r>
              <a:rPr lang="en-US" altLang="zh-CN" sz="2000" dirty="0">
                <a:solidFill>
                  <a:srgbClr val="9933FF"/>
                </a:solidFill>
                <a:latin typeface="宋体" panose="02010600030101010101" pitchFamily="2" charset="-122"/>
                <a:ea typeface="宋体" panose="02010600030101010101" pitchFamily="2" charset="-122"/>
              </a:rPr>
              <a:t>	ADD.D		F12,F10,F2	    7</a:t>
            </a:r>
          </a:p>
          <a:p>
            <a:pPr eaLnBrk="1" hangingPunct="1">
              <a:lnSpc>
                <a:spcPts val="2800"/>
              </a:lnSpc>
              <a:spcBef>
                <a:spcPct val="0"/>
              </a:spcBef>
              <a:buClrTx/>
              <a:buFontTx/>
              <a:buNone/>
            </a:pPr>
            <a:r>
              <a:rPr lang="en-US" altLang="zh-CN" sz="2000" dirty="0">
                <a:solidFill>
                  <a:srgbClr val="9933FF"/>
                </a:solidFill>
                <a:latin typeface="宋体" panose="02010600030101010101" pitchFamily="2" charset="-122"/>
                <a:ea typeface="宋体" panose="02010600030101010101" pitchFamily="2" charset="-122"/>
              </a:rPr>
              <a:t>	ADD.D		F16,F14,F2	    8</a:t>
            </a:r>
          </a:p>
          <a:p>
            <a:pPr eaLnBrk="1" hangingPunct="1">
              <a:lnSpc>
                <a:spcPts val="2800"/>
              </a:lnSpc>
              <a:spcBef>
                <a:spcPct val="0"/>
              </a:spcBef>
              <a:buClrTx/>
              <a:buFontTx/>
              <a:buNone/>
            </a:pPr>
            <a:r>
              <a:rPr lang="en-US" altLang="zh-CN" sz="2000" dirty="0">
                <a:solidFill>
                  <a:schemeClr val="tx1"/>
                </a:solidFill>
                <a:latin typeface="宋体" panose="02010600030101010101" pitchFamily="2" charset="-122"/>
                <a:ea typeface="宋体" panose="02010600030101010101" pitchFamily="2" charset="-122"/>
              </a:rPr>
              <a:t>	</a:t>
            </a:r>
            <a:r>
              <a:rPr lang="pt-BR" altLang="zh-CN" sz="2000" dirty="0">
                <a:solidFill>
                  <a:srgbClr val="339933"/>
                </a:solidFill>
                <a:latin typeface="宋体" panose="02010600030101010101" pitchFamily="2" charset="-122"/>
                <a:ea typeface="宋体" panose="02010600030101010101" pitchFamily="2" charset="-122"/>
              </a:rPr>
              <a:t>S.D		F4,0(R1)	    9</a:t>
            </a:r>
          </a:p>
          <a:p>
            <a:pPr eaLnBrk="1" hangingPunct="1">
              <a:lnSpc>
                <a:spcPts val="2800"/>
              </a:lnSpc>
              <a:spcBef>
                <a:spcPct val="0"/>
              </a:spcBef>
              <a:buClrTx/>
              <a:buFontTx/>
              <a:buNone/>
            </a:pPr>
            <a:r>
              <a:rPr lang="pt-BR" altLang="zh-CN" sz="2000" dirty="0">
                <a:solidFill>
                  <a:srgbClr val="339933"/>
                </a:solidFill>
                <a:latin typeface="宋体" panose="02010600030101010101" pitchFamily="2" charset="-122"/>
                <a:ea typeface="宋体" panose="02010600030101010101" pitchFamily="2" charset="-122"/>
              </a:rPr>
              <a:t>	S.D		F8,-8(R1)	   10</a:t>
            </a:r>
          </a:p>
          <a:p>
            <a:pPr eaLnBrk="1" hangingPunct="1">
              <a:lnSpc>
                <a:spcPts val="2800"/>
              </a:lnSpc>
              <a:spcBef>
                <a:spcPct val="0"/>
              </a:spcBef>
              <a:buClrTx/>
              <a:buFontTx/>
              <a:buNone/>
            </a:pPr>
            <a:r>
              <a:rPr lang="pt-BR" altLang="zh-CN" sz="2000" dirty="0">
                <a:solidFill>
                  <a:srgbClr val="339933"/>
                </a:solidFill>
                <a:latin typeface="宋体" panose="02010600030101010101" pitchFamily="2" charset="-122"/>
                <a:ea typeface="宋体" panose="02010600030101010101" pitchFamily="2" charset="-122"/>
              </a:rPr>
              <a:t>	DADDIU		R1,R1,#-32	   12</a:t>
            </a:r>
          </a:p>
          <a:p>
            <a:pPr eaLnBrk="1" hangingPunct="1">
              <a:lnSpc>
                <a:spcPts val="2800"/>
              </a:lnSpc>
              <a:spcBef>
                <a:spcPct val="0"/>
              </a:spcBef>
              <a:buClrTx/>
              <a:buFontTx/>
              <a:buNone/>
            </a:pPr>
            <a:r>
              <a:rPr lang="pt-BR" altLang="zh-CN" sz="2000" dirty="0">
                <a:solidFill>
                  <a:srgbClr val="339933"/>
                </a:solidFill>
                <a:latin typeface="宋体" panose="02010600030101010101" pitchFamily="2" charset="-122"/>
                <a:ea typeface="宋体" panose="02010600030101010101" pitchFamily="2" charset="-122"/>
              </a:rPr>
              <a:t>	S.D		F12,16(R1)	   11</a:t>
            </a:r>
          </a:p>
          <a:p>
            <a:pPr eaLnBrk="1" hangingPunct="1">
              <a:lnSpc>
                <a:spcPts val="2800"/>
              </a:lnSpc>
              <a:spcBef>
                <a:spcPct val="0"/>
              </a:spcBef>
              <a:buClrTx/>
              <a:buFontTx/>
              <a:buNone/>
            </a:pPr>
            <a:r>
              <a:rPr lang="pt-BR" altLang="zh-CN" sz="2000" dirty="0">
                <a:solidFill>
                  <a:srgbClr val="339933"/>
                </a:solidFill>
                <a:latin typeface="宋体" panose="02010600030101010101" pitchFamily="2" charset="-122"/>
                <a:ea typeface="宋体" panose="02010600030101010101" pitchFamily="2" charset="-122"/>
              </a:rPr>
              <a:t>	BNE		R1,R2,Loop	   13</a:t>
            </a:r>
          </a:p>
          <a:p>
            <a:pPr eaLnBrk="1" hangingPunct="1">
              <a:lnSpc>
                <a:spcPts val="2800"/>
              </a:lnSpc>
              <a:spcBef>
                <a:spcPct val="0"/>
              </a:spcBef>
              <a:buClrTx/>
              <a:buFontTx/>
              <a:buNone/>
            </a:pPr>
            <a:r>
              <a:rPr lang="pt-BR" altLang="zh-CN" sz="2000" dirty="0">
                <a:solidFill>
                  <a:srgbClr val="339933"/>
                </a:solidFill>
                <a:latin typeface="宋体" panose="02010600030101010101" pitchFamily="2" charset="-122"/>
                <a:ea typeface="宋体" panose="02010600030101010101" pitchFamily="2" charset="-122"/>
              </a:rPr>
              <a:t>	</a:t>
            </a:r>
            <a:r>
              <a:rPr lang="en-US" altLang="zh-CN" sz="2000" dirty="0">
                <a:solidFill>
                  <a:srgbClr val="339933"/>
                </a:solidFill>
                <a:latin typeface="宋体" panose="02010600030101010101" pitchFamily="2" charset="-122"/>
                <a:ea typeface="宋体" panose="02010600030101010101" pitchFamily="2" charset="-122"/>
              </a:rPr>
              <a:t>S.D		F16,8(R1)	   14</a:t>
            </a:r>
          </a:p>
        </p:txBody>
      </p:sp>
      <p:sp>
        <p:nvSpPr>
          <p:cNvPr id="5" name="矩形 4"/>
          <p:cNvSpPr/>
          <p:nvPr/>
        </p:nvSpPr>
        <p:spPr>
          <a:xfrm>
            <a:off x="544082" y="0"/>
            <a:ext cx="9189578" cy="646331"/>
          </a:xfrm>
          <a:prstGeom prst="rect">
            <a:avLst/>
          </a:prstGeom>
        </p:spPr>
        <p:txBody>
          <a:bodyPr wrap="square">
            <a:spAutoFit/>
          </a:bodyPr>
          <a:lstStyle/>
          <a:p>
            <a:pPr marL="457200" indent="-457200">
              <a:lnSpc>
                <a:spcPct val="150000"/>
              </a:lnSpc>
            </a:pPr>
            <a:r>
              <a:rPr lang="zh-CN" altLang="en-US" sz="2400" dirty="0" smtClean="0">
                <a:latin typeface="宋体" panose="02010600030101010101" pitchFamily="2" charset="-122"/>
                <a:ea typeface="宋体" panose="02010600030101010101" pitchFamily="2" charset="-122"/>
              </a:rPr>
              <a:t>情况 </a:t>
            </a:r>
            <a:r>
              <a:rPr lang="en-US" altLang="zh-CN" sz="2400" dirty="0" smtClean="0">
                <a:latin typeface="宋体" panose="02010600030101010101" pitchFamily="2" charset="-122"/>
                <a:ea typeface="宋体" panose="02010600030101010101" pitchFamily="2" charset="-122"/>
              </a:rPr>
              <a:t>IV  </a:t>
            </a:r>
            <a:r>
              <a:rPr lang="zh-CN" altLang="en-US" sz="2400" dirty="0" smtClean="0">
                <a:latin typeface="宋体" panose="02010600030101010101" pitchFamily="2" charset="-122"/>
                <a:ea typeface="宋体" panose="02010600030101010101" pitchFamily="2" charset="-122"/>
              </a:rPr>
              <a:t>： 将情况</a:t>
            </a:r>
            <a:r>
              <a:rPr lang="en-US" altLang="zh-CN" sz="2400" dirty="0">
                <a:latin typeface="宋体" panose="02010600030101010101" pitchFamily="2" charset="-122"/>
                <a:ea typeface="宋体" panose="02010600030101010101" pitchFamily="2" charset="-122"/>
              </a:rPr>
              <a:t> </a:t>
            </a:r>
            <a:r>
              <a:rPr lang="en-US" altLang="zh-CN" sz="2400" dirty="0" smtClean="0">
                <a:latin typeface="宋体" panose="02010600030101010101" pitchFamily="2" charset="-122"/>
                <a:ea typeface="宋体" panose="02010600030101010101" pitchFamily="2" charset="-122"/>
              </a:rPr>
              <a:t>III </a:t>
            </a:r>
            <a:r>
              <a:rPr lang="zh-CN" altLang="en-US" sz="2400" dirty="0" smtClean="0">
                <a:latin typeface="宋体" panose="02010600030101010101" pitchFamily="2" charset="-122"/>
                <a:ea typeface="宋体" panose="02010600030101010101" pitchFamily="2" charset="-122"/>
              </a:rPr>
              <a:t>进行指令调度</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6" name="Rectangle 3" descr="Rectangle: Click to edit Master text styles&#10;Second level&#10;Third level&#10;Fourth level&#10;Fifth level"/>
          <p:cNvSpPr txBox="1">
            <a:spLocks noChangeArrowheads="1"/>
          </p:cNvSpPr>
          <p:nvPr/>
        </p:nvSpPr>
        <p:spPr>
          <a:xfrm>
            <a:off x="7294564" y="1885950"/>
            <a:ext cx="4697411" cy="36004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85850" lvl="1" indent="-1085850">
              <a:lnSpc>
                <a:spcPct val="130000"/>
              </a:lnSpc>
              <a:buFont typeface="Arial" panose="020B0604020202020204" pitchFamily="34" charset="0"/>
              <a:buNone/>
            </a:pPr>
            <a:r>
              <a:rPr lang="zh-CN" altLang="en-US" sz="2000" dirty="0" smtClean="0">
                <a:solidFill>
                  <a:srgbClr val="D60093"/>
                </a:solidFill>
                <a:latin typeface="宋体" panose="02010600030101010101" pitchFamily="2" charset="-122"/>
                <a:ea typeface="宋体" panose="02010600030101010101" pitchFamily="2" charset="-122"/>
              </a:rPr>
              <a:t>结果分析：</a:t>
            </a:r>
          </a:p>
          <a:p>
            <a:pPr marL="361950" lvl="2" indent="-276225">
              <a:lnSpc>
                <a:spcPct val="130000"/>
              </a:lnSpc>
              <a:tabLst>
                <a:tab pos="361950" algn="l"/>
              </a:tabLst>
            </a:pPr>
            <a:r>
              <a:rPr lang="zh-CN" altLang="en-US" dirty="0" smtClean="0">
                <a:latin typeface="宋体" panose="02010600030101010101" pitchFamily="2" charset="-122"/>
                <a:ea typeface="宋体" panose="02010600030101010101" pitchFamily="2" charset="-122"/>
              </a:rPr>
              <a:t>没有数据相关引起的空转等待。整个循环仅仅使用了</a:t>
            </a:r>
            <a:r>
              <a:rPr lang="en-US" altLang="zh-CN" dirty="0" smtClean="0">
                <a:solidFill>
                  <a:srgbClr val="9933FF"/>
                </a:solidFill>
                <a:latin typeface="宋体" panose="02010600030101010101" pitchFamily="2" charset="-122"/>
                <a:ea typeface="宋体" panose="02010600030101010101" pitchFamily="2" charset="-122"/>
              </a:rPr>
              <a:t>14</a:t>
            </a:r>
            <a:r>
              <a:rPr lang="zh-CN" altLang="en-US" dirty="0" smtClean="0">
                <a:latin typeface="宋体" panose="02010600030101010101" pitchFamily="2" charset="-122"/>
                <a:ea typeface="宋体" panose="02010600030101010101" pitchFamily="2" charset="-122"/>
              </a:rPr>
              <a:t>个时钟周期。平均每个元素的操作使用</a:t>
            </a:r>
            <a:r>
              <a:rPr lang="en-US" altLang="zh-CN" dirty="0" smtClean="0">
                <a:solidFill>
                  <a:srgbClr val="9933FF"/>
                </a:solidFill>
                <a:latin typeface="宋体" panose="02010600030101010101" pitchFamily="2" charset="-122"/>
                <a:ea typeface="宋体" panose="02010600030101010101" pitchFamily="2" charset="-122"/>
              </a:rPr>
              <a:t>14/4=3.5</a:t>
            </a:r>
            <a:r>
              <a:rPr lang="zh-CN" altLang="en-US" dirty="0" smtClean="0">
                <a:latin typeface="宋体" panose="02010600030101010101" pitchFamily="2" charset="-122"/>
                <a:ea typeface="宋体" panose="02010600030101010101" pitchFamily="2" charset="-122"/>
              </a:rPr>
              <a:t>个时钟周期。</a:t>
            </a:r>
          </a:p>
          <a:p>
            <a:pPr marL="361950" lvl="2" indent="-276225">
              <a:lnSpc>
                <a:spcPct val="130000"/>
              </a:lnSpc>
              <a:tabLst>
                <a:tab pos="361950" algn="l"/>
              </a:tabLst>
            </a:pPr>
            <a:r>
              <a:rPr lang="zh-CN" altLang="en-US" dirty="0" smtClean="0">
                <a:latin typeface="宋体" panose="02010600030101010101" pitchFamily="2" charset="-122"/>
                <a:ea typeface="宋体" panose="02010600030101010101" pitchFamily="2" charset="-122"/>
              </a:rPr>
              <a:t>通过循环展开、寄存器重命名和指令调度，可以有效地开发出指令级并行。 </a:t>
            </a:r>
          </a:p>
        </p:txBody>
      </p:sp>
    </p:spTree>
    <p:extLst>
      <p:ext uri="{BB962C8B-B14F-4D97-AF65-F5344CB8AC3E}">
        <p14:creationId xmlns:p14="http://schemas.microsoft.com/office/powerpoint/2010/main" val="1630575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38243" name="Rectangle 3" descr="Rectangle: Click to edit Master text styles&#10;Second level&#10;Third level&#10;Fourth level&#10;Fifth level"/>
          <p:cNvSpPr>
            <a:spLocks noGrp="1" noChangeArrowheads="1"/>
          </p:cNvSpPr>
          <p:nvPr>
            <p:ph type="body" idx="1"/>
          </p:nvPr>
        </p:nvSpPr>
        <p:spPr>
          <a:xfrm>
            <a:off x="257174" y="228599"/>
            <a:ext cx="10454369" cy="6238875"/>
          </a:xfrm>
        </p:spPr>
        <p:txBody>
          <a:bodyPr>
            <a:normAutofit/>
          </a:bodyPr>
          <a:lstStyle/>
          <a:p>
            <a:pPr>
              <a:lnSpc>
                <a:spcPts val="3000"/>
              </a:lnSpc>
              <a:spcBef>
                <a:spcPts val="1200"/>
              </a:spcBef>
            </a:pPr>
            <a:r>
              <a:rPr lang="zh-CN" altLang="en-US" sz="2200" dirty="0" smtClean="0">
                <a:latin typeface="宋体" panose="02010600030101010101" pitchFamily="2" charset="-122"/>
                <a:ea typeface="宋体" panose="02010600030101010101" pitchFamily="2" charset="-122"/>
              </a:rPr>
              <a:t>循环展开和指令调度时要注意以下几个方面：</a:t>
            </a:r>
          </a:p>
          <a:p>
            <a:pPr marL="714375" lvl="1" indent="-171450" eaLnBrk="1" hangingPunct="1">
              <a:lnSpc>
                <a:spcPts val="3000"/>
              </a:lnSpc>
              <a:spcBef>
                <a:spcPts val="1200"/>
              </a:spcBef>
            </a:pPr>
            <a:r>
              <a:rPr lang="zh-CN" altLang="en-US" sz="2000" dirty="0" smtClean="0">
                <a:latin typeface="宋体" panose="02010600030101010101" pitchFamily="2" charset="-122"/>
                <a:ea typeface="宋体" panose="02010600030101010101" pitchFamily="2" charset="-122"/>
              </a:rPr>
              <a:t>保证正确性。在</a:t>
            </a:r>
            <a:r>
              <a:rPr lang="zh-CN" altLang="en-US" sz="2000" dirty="0">
                <a:latin typeface="宋体" panose="02010600030101010101" pitchFamily="2" charset="-122"/>
                <a:ea typeface="宋体" panose="02010600030101010101" pitchFamily="2" charset="-122"/>
              </a:rPr>
              <a:t>循环展开和调度过程中尤其要注意两个地方的正确性：循环控制，操作数偏移量的修改。</a:t>
            </a:r>
          </a:p>
          <a:p>
            <a:pPr marL="714375" lvl="1" indent="-171450" eaLnBrk="1" hangingPunct="1">
              <a:lnSpc>
                <a:spcPts val="3000"/>
              </a:lnSpc>
              <a:spcBef>
                <a:spcPts val="1200"/>
              </a:spcBef>
            </a:pPr>
            <a:r>
              <a:rPr lang="zh-CN" altLang="en-US" sz="2000" dirty="0" smtClean="0">
                <a:latin typeface="宋体" panose="02010600030101010101" pitchFamily="2" charset="-122"/>
                <a:ea typeface="宋体" panose="02010600030101010101" pitchFamily="2" charset="-122"/>
              </a:rPr>
              <a:t>注意有效性</a:t>
            </a:r>
            <a:r>
              <a:rPr lang="zh-CN" altLang="en-US" sz="2000" dirty="0">
                <a:latin typeface="宋体" panose="02010600030101010101" pitchFamily="2" charset="-122"/>
                <a:ea typeface="宋体" panose="02010600030101010101" pitchFamily="2" charset="-122"/>
              </a:rPr>
              <a:t>。</a:t>
            </a:r>
            <a:r>
              <a:rPr lang="zh-CN" altLang="en-US" sz="2000" dirty="0" smtClean="0">
                <a:latin typeface="宋体" panose="02010600030101010101" pitchFamily="2" charset="-122"/>
                <a:ea typeface="宋体" panose="02010600030101010101" pitchFamily="2" charset="-122"/>
              </a:rPr>
              <a:t>只有</a:t>
            </a:r>
            <a:r>
              <a:rPr lang="zh-CN" altLang="en-US" sz="2000" dirty="0">
                <a:latin typeface="宋体" panose="02010600030101010101" pitchFamily="2" charset="-122"/>
                <a:ea typeface="宋体" panose="02010600030101010101" pitchFamily="2" charset="-122"/>
              </a:rPr>
              <a:t>能够找到不同循环体之间的无关性，才能有效地使用循环展开。</a:t>
            </a:r>
          </a:p>
          <a:p>
            <a:pPr marL="714375" lvl="1" indent="-171450" eaLnBrk="1" hangingPunct="1">
              <a:lnSpc>
                <a:spcPts val="3000"/>
              </a:lnSpc>
              <a:spcBef>
                <a:spcPts val="1200"/>
              </a:spcBef>
            </a:pPr>
            <a:r>
              <a:rPr lang="zh-CN" altLang="en-US" sz="2000" dirty="0" smtClean="0">
                <a:latin typeface="宋体" panose="02010600030101010101" pitchFamily="2" charset="-122"/>
                <a:ea typeface="宋体" panose="02010600030101010101" pitchFamily="2" charset="-122"/>
              </a:rPr>
              <a:t>使用不同的寄存器。（</a:t>
            </a:r>
            <a:r>
              <a:rPr lang="zh-CN" altLang="en-US" sz="2000" dirty="0">
                <a:latin typeface="宋体" panose="02010600030101010101" pitchFamily="2" charset="-122"/>
                <a:ea typeface="宋体" panose="02010600030101010101" pitchFamily="2" charset="-122"/>
              </a:rPr>
              <a:t>否则可能导致新的冲突）</a:t>
            </a:r>
          </a:p>
          <a:p>
            <a:pPr marL="714375" lvl="1" indent="-171450" eaLnBrk="1" hangingPunct="1">
              <a:lnSpc>
                <a:spcPts val="3000"/>
              </a:lnSpc>
              <a:spcBef>
                <a:spcPts val="1200"/>
              </a:spcBef>
            </a:pPr>
            <a:r>
              <a:rPr lang="zh-CN" altLang="en-US" sz="2000" dirty="0" smtClean="0">
                <a:latin typeface="宋体" panose="02010600030101010101" pitchFamily="2" charset="-122"/>
                <a:ea typeface="宋体" panose="02010600030101010101" pitchFamily="2" charset="-122"/>
              </a:rPr>
              <a:t>删除多余的测试指令和分支指令，并对循环结束代码和新的循环体代码进行相应的修正。</a:t>
            </a:r>
            <a:endParaRPr lang="en-US" altLang="zh-CN" sz="2000" dirty="0" smtClean="0">
              <a:latin typeface="宋体" panose="02010600030101010101" pitchFamily="2" charset="-122"/>
              <a:ea typeface="宋体" panose="02010600030101010101" pitchFamily="2" charset="-122"/>
            </a:endParaRPr>
          </a:p>
          <a:p>
            <a:pPr marL="714375" lvl="1" indent="-171450">
              <a:lnSpc>
                <a:spcPts val="3000"/>
              </a:lnSpc>
              <a:spcBef>
                <a:spcPts val="1200"/>
              </a:spcBef>
            </a:pPr>
            <a:r>
              <a:rPr lang="zh-CN" altLang="en-US" sz="2000" dirty="0">
                <a:latin typeface="宋体" panose="02010600030101010101" pitchFamily="2" charset="-122"/>
                <a:ea typeface="宋体" panose="02010600030101010101" pitchFamily="2" charset="-122"/>
              </a:rPr>
              <a:t>注意对存储器数据的相关性</a:t>
            </a:r>
            <a:r>
              <a:rPr lang="zh-CN" altLang="en-US" sz="2000" dirty="0" smtClean="0">
                <a:latin typeface="宋体" panose="02010600030101010101" pitchFamily="2" charset="-122"/>
                <a:ea typeface="宋体" panose="02010600030101010101" pitchFamily="2" charset="-122"/>
              </a:rPr>
              <a:t>分析例如</a:t>
            </a:r>
            <a:r>
              <a:rPr lang="zh-CN" altLang="en-US" sz="2000" dirty="0">
                <a:latin typeface="宋体" panose="02010600030101010101" pitchFamily="2" charset="-122"/>
                <a:ea typeface="宋体" panose="02010600030101010101" pitchFamily="2" charset="-122"/>
              </a:rPr>
              <a:t>：对于</a:t>
            </a:r>
            <a:r>
              <a:rPr lang="en-US" altLang="zh-CN" sz="2000" dirty="0">
                <a:latin typeface="宋体" panose="02010600030101010101" pitchFamily="2" charset="-122"/>
                <a:ea typeface="宋体" panose="02010600030101010101" pitchFamily="2" charset="-122"/>
              </a:rPr>
              <a:t>load</a:t>
            </a:r>
            <a:r>
              <a:rPr lang="zh-CN" altLang="en-US" sz="2000" dirty="0">
                <a:latin typeface="宋体" panose="02010600030101010101" pitchFamily="2" charset="-122"/>
                <a:ea typeface="宋体" panose="02010600030101010101" pitchFamily="2" charset="-122"/>
              </a:rPr>
              <a:t>指令和</a:t>
            </a:r>
            <a:r>
              <a:rPr lang="en-US" altLang="zh-CN" sz="2000" dirty="0">
                <a:latin typeface="宋体" panose="02010600030101010101" pitchFamily="2" charset="-122"/>
                <a:ea typeface="宋体" panose="02010600030101010101" pitchFamily="2" charset="-122"/>
              </a:rPr>
              <a:t>store</a:t>
            </a:r>
            <a:r>
              <a:rPr lang="zh-CN" altLang="en-US" sz="2000" dirty="0">
                <a:latin typeface="宋体" panose="02010600030101010101" pitchFamily="2" charset="-122"/>
                <a:ea typeface="宋体" panose="02010600030101010101" pitchFamily="2" charset="-122"/>
              </a:rPr>
              <a:t>指令，如果它们在不同的循环迭代中访问的存储器地址是不同的，它们就是相互独立的，可以相互对调。</a:t>
            </a:r>
          </a:p>
          <a:p>
            <a:pPr marL="714375" lvl="1" indent="-171450">
              <a:lnSpc>
                <a:spcPts val="3000"/>
              </a:lnSpc>
              <a:spcBef>
                <a:spcPts val="1200"/>
              </a:spcBef>
            </a:pPr>
            <a:r>
              <a:rPr lang="zh-CN" altLang="en-US" sz="2000" dirty="0">
                <a:latin typeface="宋体" panose="02010600030101010101" pitchFamily="2" charset="-122"/>
                <a:ea typeface="宋体" panose="02010600030101010101" pitchFamily="2" charset="-122"/>
              </a:rPr>
              <a:t>注意新的</a:t>
            </a:r>
            <a:r>
              <a:rPr lang="zh-CN" altLang="en-US" sz="2000" dirty="0" smtClean="0">
                <a:latin typeface="宋体" panose="02010600030101010101" pitchFamily="2" charset="-122"/>
                <a:ea typeface="宋体" panose="02010600030101010101" pitchFamily="2" charset="-122"/>
              </a:rPr>
              <a:t>相关性。由于</a:t>
            </a:r>
            <a:r>
              <a:rPr lang="zh-CN" altLang="en-US" sz="2000" dirty="0">
                <a:latin typeface="宋体" panose="02010600030101010101" pitchFamily="2" charset="-122"/>
                <a:ea typeface="宋体" panose="02010600030101010101" pitchFamily="2" charset="-122"/>
              </a:rPr>
              <a:t>原循环不同次的迭代在展开后都到了同一次循环体中，因此可能带来新的相关性。 </a:t>
            </a:r>
          </a:p>
          <a:p>
            <a:pPr>
              <a:lnSpc>
                <a:spcPts val="2800"/>
              </a:lnSpc>
            </a:pPr>
            <a:endParaRPr lang="en-US" altLang="zh-CN" dirty="0"/>
          </a:p>
          <a:p>
            <a:pPr marL="1085850" lvl="1" indent="-457200" eaLnBrk="1" hangingPunct="1"/>
            <a:endParaRPr lang="zh-CN" altLang="en-US" dirty="0" smtClean="0"/>
          </a:p>
        </p:txBody>
      </p:sp>
    </p:spTree>
    <p:extLst>
      <p:ext uri="{BB962C8B-B14F-4D97-AF65-F5344CB8AC3E}">
        <p14:creationId xmlns:p14="http://schemas.microsoft.com/office/powerpoint/2010/main" val="28876480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 name="矩形 4"/>
          <p:cNvSpPr/>
          <p:nvPr/>
        </p:nvSpPr>
        <p:spPr>
          <a:xfrm>
            <a:off x="241852" y="1289006"/>
            <a:ext cx="5767321" cy="754053"/>
          </a:xfrm>
          <a:prstGeom prst="rect">
            <a:avLst/>
          </a:prstGeom>
        </p:spPr>
        <p:txBody>
          <a:bodyPr wrap="square">
            <a:spAutoFit/>
          </a:bodyPr>
          <a:lstStyle/>
          <a:p>
            <a:pPr>
              <a:lnSpc>
                <a:spcPts val="3000"/>
              </a:lnSpc>
            </a:pPr>
            <a:r>
              <a:rPr lang="en-US" altLang="zh-CN" sz="2200" dirty="0" smtClean="0">
                <a:latin typeface="宋体" panose="02010600030101010101" pitchFamily="2" charset="-122"/>
                <a:ea typeface="宋体" panose="02010600030101010101" pitchFamily="2" charset="-122"/>
              </a:rPr>
              <a:t>1. </a:t>
            </a:r>
            <a:r>
              <a:rPr lang="zh-CN" altLang="en-US" sz="2200" dirty="0" smtClean="0">
                <a:latin typeface="宋体" panose="02010600030101010101" pitchFamily="2" charset="-122"/>
                <a:ea typeface="宋体" panose="02010600030101010101" pitchFamily="2" charset="-122"/>
              </a:rPr>
              <a:t>相关与流水线冲突</a:t>
            </a:r>
            <a:endParaRPr lang="en-US" altLang="zh-CN" sz="2200" dirty="0" smtClean="0">
              <a:latin typeface="宋体" panose="02010600030101010101" pitchFamily="2" charset="-122"/>
              <a:ea typeface="宋体" panose="02010600030101010101" pitchFamily="2" charset="-122"/>
            </a:endParaRPr>
          </a:p>
          <a:p>
            <a:endParaRPr lang="zh-CN" altLang="en-US" dirty="0">
              <a:latin typeface="宋体" panose="02010600030101010101" pitchFamily="2" charset="-122"/>
              <a:ea typeface="宋体" panose="02010600030101010101" pitchFamily="2" charset="-122"/>
            </a:endParaRPr>
          </a:p>
        </p:txBody>
      </p:sp>
      <p:sp>
        <p:nvSpPr>
          <p:cNvPr id="7" name="标题 1"/>
          <p:cNvSpPr txBox="1">
            <a:spLocks/>
          </p:cNvSpPr>
          <p:nvPr/>
        </p:nvSpPr>
        <p:spPr>
          <a:xfrm>
            <a:off x="-1" y="482309"/>
            <a:ext cx="7699762" cy="6858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smtClean="0">
                <a:latin typeface="宋体" panose="02010600030101010101" pitchFamily="2" charset="-122"/>
                <a:ea typeface="宋体" panose="02010600030101010101" pitchFamily="2" charset="-122"/>
              </a:rPr>
              <a:t>3.1  </a:t>
            </a:r>
            <a:r>
              <a:rPr lang="zh-CN" altLang="en-US" sz="2800" dirty="0" smtClean="0">
                <a:latin typeface="宋体" panose="02010600030101010101" pitchFamily="2" charset="-122"/>
                <a:ea typeface="宋体" panose="02010600030101010101" pitchFamily="2" charset="-122"/>
              </a:rPr>
              <a:t>基本思想</a:t>
            </a:r>
            <a:endParaRPr lang="zh-CN" altLang="en-US" sz="2800" dirty="0">
              <a:latin typeface="宋体" panose="02010600030101010101" pitchFamily="2" charset="-122"/>
              <a:ea typeface="宋体" panose="02010600030101010101" pitchFamily="2" charset="-122"/>
            </a:endParaRPr>
          </a:p>
        </p:txBody>
      </p:sp>
      <p:sp>
        <p:nvSpPr>
          <p:cNvPr id="9" name="右大括号 8"/>
          <p:cNvSpPr/>
          <p:nvPr/>
        </p:nvSpPr>
        <p:spPr>
          <a:xfrm>
            <a:off x="10675276" y="4133778"/>
            <a:ext cx="485775" cy="2618262"/>
          </a:xfrm>
          <a:prstGeom prst="rightBrace">
            <a:avLst>
              <a:gd name="adj1" fmla="val 8333"/>
              <a:gd name="adj2" fmla="val 49533"/>
            </a:avLst>
          </a:prstGeom>
          <a:ln w="3810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矩形 9"/>
          <p:cNvSpPr/>
          <p:nvPr/>
        </p:nvSpPr>
        <p:spPr>
          <a:xfrm>
            <a:off x="11365924" y="4627301"/>
            <a:ext cx="508544" cy="1631216"/>
          </a:xfrm>
          <a:prstGeom prst="rect">
            <a:avLst/>
          </a:prstGeom>
        </p:spPr>
        <p:txBody>
          <a:bodyPr wrap="square">
            <a:spAutoFit/>
          </a:bodyPr>
          <a:lstStyle/>
          <a:p>
            <a:pPr marL="0" lvl="2">
              <a:lnSpc>
                <a:spcPts val="3000"/>
              </a:lnSpc>
            </a:pPr>
            <a:r>
              <a:rPr lang="zh-CN" altLang="en-US" sz="2200" dirty="0" smtClean="0">
                <a:latin typeface="宋体" panose="02010600030101010101" pitchFamily="2" charset="-122"/>
                <a:ea typeface="宋体" panose="02010600030101010101" pitchFamily="2" charset="-122"/>
              </a:rPr>
              <a:t>静态调度</a:t>
            </a:r>
            <a:endParaRPr lang="zh-CN" altLang="en-US" sz="2200" dirty="0">
              <a:latin typeface="宋体" panose="02010600030101010101" pitchFamily="2" charset="-122"/>
              <a:ea typeface="宋体" panose="02010600030101010101" pitchFamily="2" charset="-122"/>
            </a:endParaRPr>
          </a:p>
        </p:txBody>
      </p:sp>
      <p:sp>
        <p:nvSpPr>
          <p:cNvPr id="2" name="矩形 1"/>
          <p:cNvSpPr/>
          <p:nvPr/>
        </p:nvSpPr>
        <p:spPr>
          <a:xfrm>
            <a:off x="7118432" y="1868070"/>
            <a:ext cx="3556844" cy="1246495"/>
          </a:xfrm>
          <a:prstGeom prst="rect">
            <a:avLst/>
          </a:prstGeom>
          <a:solidFill>
            <a:schemeClr val="accent1">
              <a:lumMod val="20000"/>
              <a:lumOff val="80000"/>
            </a:schemeClr>
          </a:solidFill>
        </p:spPr>
        <p:txBody>
          <a:bodyPr wrap="square">
            <a:spAutoFit/>
          </a:bodyPr>
          <a:lstStyle/>
          <a:p>
            <a:pPr marL="179388" lvl="1"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控制冲突（冒险）</a:t>
            </a:r>
            <a:endParaRPr lang="en-US" altLang="zh-CN" dirty="0">
              <a:latin typeface="宋体" panose="02010600030101010101" pitchFamily="2" charset="-122"/>
              <a:ea typeface="宋体" panose="02010600030101010101" pitchFamily="2" charset="-122"/>
            </a:endParaRPr>
          </a:p>
          <a:p>
            <a:pPr marL="636588" lvl="3"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停顿</a:t>
            </a:r>
            <a:endParaRPr lang="en-US" altLang="zh-CN" dirty="0">
              <a:latin typeface="宋体" panose="02010600030101010101" pitchFamily="2" charset="-122"/>
              <a:ea typeface="宋体" panose="02010600030101010101" pitchFamily="2" charset="-122"/>
            </a:endParaRPr>
          </a:p>
          <a:p>
            <a:pPr marL="636588" lvl="3"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重复设置</a:t>
            </a:r>
            <a:r>
              <a:rPr lang="zh-CN" altLang="en-US" dirty="0" smtClean="0">
                <a:latin typeface="宋体" panose="02010600030101010101" pitchFamily="2" charset="-122"/>
                <a:ea typeface="宋体" panose="02010600030101010101" pitchFamily="2" charset="-122"/>
              </a:rPr>
              <a:t>资源</a:t>
            </a:r>
            <a:endParaRPr lang="en-US" altLang="zh-CN" dirty="0">
              <a:latin typeface="宋体" panose="02010600030101010101" pitchFamily="2" charset="-122"/>
              <a:ea typeface="宋体" panose="02010600030101010101" pitchFamily="2" charset="-122"/>
            </a:endParaRPr>
          </a:p>
        </p:txBody>
      </p:sp>
      <p:sp>
        <p:nvSpPr>
          <p:cNvPr id="8" name="矩形 7"/>
          <p:cNvSpPr/>
          <p:nvPr/>
        </p:nvSpPr>
        <p:spPr>
          <a:xfrm>
            <a:off x="77512" y="2043059"/>
            <a:ext cx="6096000" cy="4708981"/>
          </a:xfrm>
          <a:prstGeom prst="rect">
            <a:avLst/>
          </a:prstGeom>
        </p:spPr>
        <p:txBody>
          <a:bodyPr>
            <a:spAutoFit/>
          </a:bodyPr>
          <a:lstStyle/>
          <a:p>
            <a:pPr marL="800100" lvl="1" indent="-342900">
              <a:lnSpc>
                <a:spcPts val="3000"/>
              </a:lnSpc>
              <a:buFont typeface="Arial" panose="020B0604020202020204" pitchFamily="34" charset="0"/>
              <a:buChar char="•"/>
            </a:pPr>
            <a:r>
              <a:rPr lang="zh-CN" altLang="en-US" sz="2200" dirty="0" smtClean="0">
                <a:latin typeface="宋体" panose="02010600030101010101" pitchFamily="2" charset="-122"/>
                <a:ea typeface="宋体" panose="02010600030101010101" pitchFamily="2" charset="-122"/>
              </a:rPr>
              <a:t>相关：两条指令之间存在的某种依赖关系</a:t>
            </a:r>
            <a:endParaRPr lang="en-US" altLang="zh-CN" sz="2200" dirty="0" smtClean="0">
              <a:latin typeface="宋体" panose="02010600030101010101" pitchFamily="2" charset="-122"/>
              <a:ea typeface="宋体" panose="02010600030101010101" pitchFamily="2" charset="-122"/>
            </a:endParaRPr>
          </a:p>
          <a:p>
            <a:pPr marL="800100" lvl="1" indent="-342900">
              <a:lnSpc>
                <a:spcPts val="3000"/>
              </a:lnSpc>
              <a:buFont typeface="Arial" panose="020B0604020202020204" pitchFamily="34" charset="0"/>
              <a:buChar char="•"/>
            </a:pPr>
            <a:r>
              <a:rPr lang="zh-CN" altLang="en-US" sz="2200" dirty="0" smtClean="0">
                <a:latin typeface="宋体" panose="02010600030101010101" pitchFamily="2" charset="-122"/>
                <a:ea typeface="宋体" panose="02010600030101010101" pitchFamily="2" charset="-122"/>
              </a:rPr>
              <a:t>相关有</a:t>
            </a:r>
            <a:r>
              <a:rPr lang="en-US" altLang="zh-CN" sz="2200" dirty="0" smtClean="0">
                <a:latin typeface="宋体" panose="02010600030101010101" pitchFamily="2" charset="-122"/>
                <a:ea typeface="宋体" panose="02010600030101010101" pitchFamily="2" charset="-122"/>
              </a:rPr>
              <a:t>3</a:t>
            </a:r>
            <a:r>
              <a:rPr lang="zh-CN" altLang="en-US" sz="2200" dirty="0" smtClean="0">
                <a:latin typeface="宋体" panose="02010600030101010101" pitchFamily="2" charset="-122"/>
                <a:ea typeface="宋体" panose="02010600030101010101" pitchFamily="2" charset="-122"/>
              </a:rPr>
              <a:t>种类型</a:t>
            </a:r>
            <a:endParaRPr lang="en-US" altLang="zh-CN" sz="2200" dirty="0" smtClean="0">
              <a:latin typeface="宋体" panose="02010600030101010101" pitchFamily="2" charset="-122"/>
              <a:ea typeface="宋体" panose="02010600030101010101" pitchFamily="2" charset="-122"/>
            </a:endParaRPr>
          </a:p>
          <a:p>
            <a:pPr marL="800100" lvl="1" indent="-342900">
              <a:lnSpc>
                <a:spcPts val="3000"/>
              </a:lnSpc>
              <a:buFont typeface="Arial" panose="020B0604020202020204" pitchFamily="34" charset="0"/>
              <a:buChar char="•"/>
            </a:pPr>
            <a:endParaRPr lang="en-US" altLang="zh-CN" sz="2200" dirty="0" smtClean="0">
              <a:latin typeface="宋体" panose="02010600030101010101" pitchFamily="2" charset="-122"/>
              <a:ea typeface="宋体" panose="02010600030101010101" pitchFamily="2" charset="-122"/>
            </a:endParaRPr>
          </a:p>
          <a:p>
            <a:pPr marL="1257300" lvl="2" indent="-342900">
              <a:lnSpc>
                <a:spcPts val="3000"/>
              </a:lnSpc>
              <a:buFont typeface="Arial" panose="020B0604020202020204" pitchFamily="34" charset="0"/>
              <a:buChar char="•"/>
            </a:pPr>
            <a:r>
              <a:rPr lang="zh-CN" altLang="en-US" sz="2200" dirty="0" smtClean="0">
                <a:latin typeface="宋体" panose="02010600030101010101" pitchFamily="2" charset="-122"/>
                <a:ea typeface="宋体" panose="02010600030101010101" pitchFamily="2" charset="-122"/>
              </a:rPr>
              <a:t>数据相关 </a:t>
            </a:r>
            <a:endParaRPr lang="en-US" altLang="zh-CN" sz="2200" dirty="0" smtClean="0">
              <a:latin typeface="宋体" panose="02010600030101010101" pitchFamily="2" charset="-122"/>
              <a:ea typeface="宋体" panose="02010600030101010101" pitchFamily="2" charset="-122"/>
            </a:endParaRPr>
          </a:p>
          <a:p>
            <a:pPr lvl="2">
              <a:lnSpc>
                <a:spcPts val="3000"/>
              </a:lnSpc>
            </a:pPr>
            <a:endParaRPr lang="en-US" altLang="zh-CN" sz="2200" dirty="0" smtClean="0">
              <a:latin typeface="宋体" panose="02010600030101010101" pitchFamily="2" charset="-122"/>
              <a:ea typeface="宋体" panose="02010600030101010101" pitchFamily="2" charset="-122"/>
            </a:endParaRPr>
          </a:p>
          <a:p>
            <a:pPr marL="1257300" lvl="2" indent="-342900">
              <a:lnSpc>
                <a:spcPts val="3000"/>
              </a:lnSpc>
              <a:buFont typeface="Arial" panose="020B0604020202020204" pitchFamily="34" charset="0"/>
              <a:buChar char="•"/>
            </a:pPr>
            <a:r>
              <a:rPr lang="zh-CN" altLang="en-US" sz="2200" dirty="0" smtClean="0">
                <a:latin typeface="宋体" panose="02010600030101010101" pitchFamily="2" charset="-122"/>
                <a:ea typeface="宋体" panose="02010600030101010101" pitchFamily="2" charset="-122"/>
              </a:rPr>
              <a:t>名相关</a:t>
            </a:r>
            <a:endParaRPr lang="en-US" altLang="zh-CN" sz="2200" dirty="0" smtClean="0">
              <a:latin typeface="宋体" panose="02010600030101010101" pitchFamily="2" charset="-122"/>
              <a:ea typeface="宋体" panose="02010600030101010101" pitchFamily="2" charset="-122"/>
            </a:endParaRPr>
          </a:p>
          <a:p>
            <a:pPr marL="1714500" lvl="3" indent="-342900">
              <a:lnSpc>
                <a:spcPts val="3000"/>
              </a:lnSpc>
              <a:buFont typeface="Arial" panose="020B0604020202020204" pitchFamily="34" charset="0"/>
              <a:buChar char="•"/>
            </a:pPr>
            <a:r>
              <a:rPr lang="zh-CN" altLang="en-US" sz="2200" dirty="0" smtClean="0">
                <a:latin typeface="宋体" panose="02010600030101010101" pitchFamily="2" charset="-122"/>
                <a:ea typeface="宋体" panose="02010600030101010101" pitchFamily="2" charset="-122"/>
              </a:rPr>
              <a:t>反相关</a:t>
            </a:r>
            <a:endParaRPr lang="en-US" altLang="zh-CN" sz="2200" dirty="0" smtClean="0">
              <a:latin typeface="宋体" panose="02010600030101010101" pitchFamily="2" charset="-122"/>
              <a:ea typeface="宋体" panose="02010600030101010101" pitchFamily="2" charset="-122"/>
            </a:endParaRPr>
          </a:p>
          <a:p>
            <a:pPr marL="1714500" lvl="3" indent="-342900">
              <a:lnSpc>
                <a:spcPts val="3000"/>
              </a:lnSpc>
              <a:buFont typeface="Arial" panose="020B0604020202020204" pitchFamily="34" charset="0"/>
              <a:buChar char="•"/>
            </a:pPr>
            <a:r>
              <a:rPr lang="zh-CN" altLang="en-US" sz="2200" dirty="0" smtClean="0">
                <a:latin typeface="宋体" panose="02010600030101010101" pitchFamily="2" charset="-122"/>
                <a:ea typeface="宋体" panose="02010600030101010101" pitchFamily="2" charset="-122"/>
              </a:rPr>
              <a:t>输出相关</a:t>
            </a:r>
            <a:endParaRPr lang="en-US" altLang="zh-CN" sz="2200" dirty="0" smtClean="0">
              <a:latin typeface="宋体" panose="02010600030101010101" pitchFamily="2" charset="-122"/>
              <a:ea typeface="宋体" panose="02010600030101010101" pitchFamily="2" charset="-122"/>
            </a:endParaRPr>
          </a:p>
          <a:p>
            <a:pPr marL="1257300" lvl="2" indent="-342900">
              <a:lnSpc>
                <a:spcPts val="3000"/>
              </a:lnSpc>
              <a:buFont typeface="Arial" panose="020B0604020202020204" pitchFamily="34" charset="0"/>
              <a:buChar char="•"/>
            </a:pPr>
            <a:endParaRPr lang="en-US" altLang="zh-CN" sz="2200" dirty="0" smtClean="0">
              <a:latin typeface="宋体" panose="02010600030101010101" pitchFamily="2" charset="-122"/>
              <a:ea typeface="宋体" panose="02010600030101010101" pitchFamily="2" charset="-122"/>
            </a:endParaRPr>
          </a:p>
          <a:p>
            <a:pPr marL="1257300" lvl="2" indent="-342900">
              <a:lnSpc>
                <a:spcPts val="3000"/>
              </a:lnSpc>
              <a:buFont typeface="Arial" panose="020B0604020202020204" pitchFamily="34" charset="0"/>
              <a:buChar char="•"/>
            </a:pPr>
            <a:r>
              <a:rPr lang="zh-CN" altLang="en-US" sz="2200" dirty="0" smtClean="0">
                <a:latin typeface="宋体" panose="02010600030101010101" pitchFamily="2" charset="-122"/>
                <a:ea typeface="宋体" panose="02010600030101010101" pitchFamily="2" charset="-122"/>
              </a:rPr>
              <a:t>控制相关</a:t>
            </a:r>
            <a:endParaRPr lang="en-US" altLang="zh-CN" sz="2200" dirty="0" smtClean="0">
              <a:latin typeface="宋体" panose="02010600030101010101" pitchFamily="2" charset="-122"/>
              <a:ea typeface="宋体" panose="02010600030101010101" pitchFamily="2" charset="-122"/>
            </a:endParaRPr>
          </a:p>
          <a:p>
            <a:pPr marL="1257300" lvl="2" indent="-342900">
              <a:lnSpc>
                <a:spcPts val="3000"/>
              </a:lnSpc>
              <a:buFont typeface="Arial" panose="020B0604020202020204" pitchFamily="34" charset="0"/>
              <a:buChar char="•"/>
            </a:pPr>
            <a:endParaRPr lang="en-US" altLang="zh-CN" sz="2200" dirty="0">
              <a:latin typeface="宋体" panose="02010600030101010101" pitchFamily="2" charset="-122"/>
              <a:ea typeface="宋体" panose="02010600030101010101" pitchFamily="2" charset="-122"/>
            </a:endParaRPr>
          </a:p>
          <a:p>
            <a:pPr marL="800100" lvl="1" indent="-342900">
              <a:lnSpc>
                <a:spcPts val="3000"/>
              </a:lnSpc>
              <a:buFont typeface="Arial" panose="020B0604020202020204" pitchFamily="34" charset="0"/>
              <a:buChar char="•"/>
            </a:pPr>
            <a:endParaRPr lang="en-US" altLang="zh-CN" sz="2200" dirty="0" smtClean="0">
              <a:latin typeface="宋体" panose="02010600030101010101" pitchFamily="2" charset="-122"/>
              <a:ea typeface="宋体" panose="02010600030101010101" pitchFamily="2" charset="-122"/>
            </a:endParaRPr>
          </a:p>
        </p:txBody>
      </p:sp>
      <p:sp>
        <p:nvSpPr>
          <p:cNvPr id="3" name="矩形 2"/>
          <p:cNvSpPr/>
          <p:nvPr/>
        </p:nvSpPr>
        <p:spPr>
          <a:xfrm>
            <a:off x="7118432" y="3091772"/>
            <a:ext cx="3556844" cy="1246495"/>
          </a:xfrm>
          <a:prstGeom prst="rect">
            <a:avLst/>
          </a:prstGeom>
          <a:solidFill>
            <a:schemeClr val="accent2">
              <a:lumMod val="20000"/>
              <a:lumOff val="80000"/>
            </a:schemeClr>
          </a:solidFill>
        </p:spPr>
        <p:txBody>
          <a:bodyPr wrap="square">
            <a:spAutoFit/>
          </a:bodyPr>
          <a:lstStyle/>
          <a:p>
            <a:pPr marL="179388" lvl="1"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数据冲突（冒险</a:t>
            </a:r>
            <a:r>
              <a:rPr lang="zh-CN" altLang="en-US" dirty="0" smtClean="0">
                <a:latin typeface="宋体" panose="02010600030101010101" pitchFamily="2" charset="-122"/>
                <a:ea typeface="宋体" panose="02010600030101010101" pitchFamily="2" charset="-122"/>
              </a:rPr>
              <a:t>）之写后读</a:t>
            </a:r>
            <a:endParaRPr lang="en-US" altLang="zh-CN" dirty="0">
              <a:latin typeface="宋体" panose="02010600030101010101" pitchFamily="2" charset="-122"/>
              <a:ea typeface="宋体" panose="02010600030101010101" pitchFamily="2" charset="-122"/>
            </a:endParaRPr>
          </a:p>
          <a:p>
            <a:pPr marL="636588" lvl="3"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定向</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旁路 （</a:t>
            </a:r>
            <a:r>
              <a:rPr lang="en-US" altLang="zh-CN" dirty="0">
                <a:latin typeface="宋体" panose="02010600030101010101" pitchFamily="2" charset="-122"/>
                <a:ea typeface="宋体" panose="02010600030101010101" pitchFamily="2" charset="-122"/>
              </a:rPr>
              <a:t>forwarding</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636588" lvl="3"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编译器指令调度</a:t>
            </a:r>
            <a:endParaRPr lang="en-US" altLang="zh-CN" dirty="0">
              <a:latin typeface="宋体" panose="02010600030101010101" pitchFamily="2" charset="-122"/>
              <a:ea typeface="宋体" panose="02010600030101010101" pitchFamily="2" charset="-122"/>
            </a:endParaRPr>
          </a:p>
        </p:txBody>
      </p:sp>
      <p:sp>
        <p:nvSpPr>
          <p:cNvPr id="4" name="矩形 3"/>
          <p:cNvSpPr/>
          <p:nvPr/>
        </p:nvSpPr>
        <p:spPr>
          <a:xfrm>
            <a:off x="7118432" y="5222835"/>
            <a:ext cx="3556844" cy="1631216"/>
          </a:xfrm>
          <a:prstGeom prst="rect">
            <a:avLst/>
          </a:prstGeom>
          <a:solidFill>
            <a:schemeClr val="accent3">
              <a:lumMod val="40000"/>
              <a:lumOff val="60000"/>
            </a:schemeClr>
          </a:solidFill>
        </p:spPr>
        <p:txBody>
          <a:bodyPr wrap="square">
            <a:spAutoFit/>
          </a:bodyPr>
          <a:lstStyle/>
          <a:p>
            <a:pPr marL="179388" lvl="1"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控制冲突（冒险）</a:t>
            </a:r>
            <a:endParaRPr lang="en-US" altLang="zh-CN" dirty="0">
              <a:latin typeface="宋体" panose="02010600030101010101" pitchFamily="2" charset="-122"/>
              <a:ea typeface="宋体" panose="02010600030101010101" pitchFamily="2" charset="-122"/>
            </a:endParaRPr>
          </a:p>
          <a:p>
            <a:pPr marL="636588" lvl="3"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预测分支失败</a:t>
            </a:r>
            <a:endParaRPr lang="en-US" altLang="zh-CN" dirty="0">
              <a:latin typeface="宋体" panose="02010600030101010101" pitchFamily="2" charset="-122"/>
              <a:ea typeface="宋体" panose="02010600030101010101" pitchFamily="2" charset="-122"/>
            </a:endParaRPr>
          </a:p>
          <a:p>
            <a:pPr marL="636588" lvl="3"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预测分支成功</a:t>
            </a:r>
            <a:endParaRPr lang="en-US" altLang="zh-CN" dirty="0">
              <a:latin typeface="宋体" panose="02010600030101010101" pitchFamily="2" charset="-122"/>
              <a:ea typeface="宋体" panose="02010600030101010101" pitchFamily="2" charset="-122"/>
            </a:endParaRPr>
          </a:p>
          <a:p>
            <a:pPr marL="636588" lvl="3"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延迟分支</a:t>
            </a:r>
          </a:p>
        </p:txBody>
      </p:sp>
      <p:sp>
        <p:nvSpPr>
          <p:cNvPr id="11" name="矩形 10"/>
          <p:cNvSpPr/>
          <p:nvPr/>
        </p:nvSpPr>
        <p:spPr>
          <a:xfrm>
            <a:off x="7118432" y="4325986"/>
            <a:ext cx="3556844" cy="419795"/>
          </a:xfrm>
          <a:prstGeom prst="rect">
            <a:avLst/>
          </a:prstGeom>
          <a:solidFill>
            <a:schemeClr val="accent6">
              <a:lumMod val="40000"/>
              <a:lumOff val="60000"/>
            </a:schemeClr>
          </a:solidFill>
        </p:spPr>
        <p:txBody>
          <a:bodyPr wrap="square">
            <a:spAutoFit/>
          </a:bodyPr>
          <a:lstStyle/>
          <a:p>
            <a:pPr marL="179388" lvl="1"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数据冲突（冒险</a:t>
            </a:r>
            <a:r>
              <a:rPr lang="zh-CN" altLang="en-US" dirty="0" smtClean="0">
                <a:latin typeface="宋体" panose="02010600030101010101" pitchFamily="2" charset="-122"/>
                <a:ea typeface="宋体" panose="02010600030101010101" pitchFamily="2" charset="-122"/>
              </a:rPr>
              <a:t>）之读后写</a:t>
            </a:r>
            <a:endParaRPr lang="en-US" altLang="zh-CN" dirty="0" smtClean="0">
              <a:latin typeface="宋体" panose="02010600030101010101" pitchFamily="2" charset="-122"/>
              <a:ea typeface="宋体" panose="02010600030101010101" pitchFamily="2" charset="-122"/>
            </a:endParaRPr>
          </a:p>
        </p:txBody>
      </p:sp>
      <p:sp>
        <p:nvSpPr>
          <p:cNvPr id="6" name="矩形 5"/>
          <p:cNvSpPr/>
          <p:nvPr/>
        </p:nvSpPr>
        <p:spPr>
          <a:xfrm>
            <a:off x="7118432" y="4745781"/>
            <a:ext cx="3556844" cy="477054"/>
          </a:xfrm>
          <a:prstGeom prst="rect">
            <a:avLst/>
          </a:prstGeom>
          <a:solidFill>
            <a:schemeClr val="accent4">
              <a:lumMod val="40000"/>
              <a:lumOff val="60000"/>
            </a:schemeClr>
          </a:solidFill>
        </p:spPr>
        <p:txBody>
          <a:bodyPr wrap="square">
            <a:spAutoFit/>
          </a:bodyPr>
          <a:lstStyle/>
          <a:p>
            <a:pPr marL="179388" lvl="1" indent="-179388">
              <a:lnSpc>
                <a:spcPts val="3000"/>
              </a:lnSpc>
              <a:buFont typeface="Arial" panose="020B0604020202020204" pitchFamily="34" charset="0"/>
              <a:buChar char="•"/>
            </a:pPr>
            <a:r>
              <a:rPr lang="zh-CN" altLang="en-US" dirty="0">
                <a:latin typeface="宋体" panose="02010600030101010101" pitchFamily="2" charset="-122"/>
                <a:ea typeface="宋体" panose="02010600030101010101" pitchFamily="2" charset="-122"/>
              </a:rPr>
              <a:t>数据冲突（冒险）之写后写</a:t>
            </a:r>
            <a:endParaRPr lang="en-US" altLang="zh-CN" dirty="0">
              <a:latin typeface="宋体" panose="02010600030101010101" pitchFamily="2" charset="-122"/>
              <a:ea typeface="宋体" panose="02010600030101010101" pitchFamily="2" charset="-122"/>
            </a:endParaRPr>
          </a:p>
        </p:txBody>
      </p:sp>
      <p:cxnSp>
        <p:nvCxnSpPr>
          <p:cNvPr id="14" name="直接箭头连接符 13"/>
          <p:cNvCxnSpPr/>
          <p:nvPr/>
        </p:nvCxnSpPr>
        <p:spPr>
          <a:xfrm flipV="1">
            <a:off x="3122741" y="4933878"/>
            <a:ext cx="3737360" cy="2064"/>
          </a:xfrm>
          <a:prstGeom prst="straightConnector1">
            <a:avLst/>
          </a:prstGeom>
          <a:ln w="762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3122741" y="5688261"/>
            <a:ext cx="3737360" cy="2064"/>
          </a:xfrm>
          <a:prstGeom prst="straightConnector1">
            <a:avLst/>
          </a:prstGeom>
          <a:ln w="762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3122741" y="4540600"/>
            <a:ext cx="3737360" cy="2064"/>
          </a:xfrm>
          <a:prstGeom prst="straightConnector1">
            <a:avLst/>
          </a:prstGeom>
          <a:ln w="762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V="1">
            <a:off x="3122741" y="3432626"/>
            <a:ext cx="3737360" cy="2064"/>
          </a:xfrm>
          <a:prstGeom prst="straightConnector1">
            <a:avLst/>
          </a:prstGeom>
          <a:ln w="762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标题 1"/>
          <p:cNvSpPr txBox="1">
            <a:spLocks/>
          </p:cNvSpPr>
          <p:nvPr/>
        </p:nvSpPr>
        <p:spPr>
          <a:xfrm>
            <a:off x="-1" y="-83526"/>
            <a:ext cx="7699762" cy="6858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smtClean="0">
                <a:latin typeface="宋体" panose="02010600030101010101" pitchFamily="2" charset="-122"/>
                <a:ea typeface="宋体" panose="02010600030101010101" pitchFamily="2" charset="-122"/>
              </a:rPr>
              <a:t>三 动态调度解决数据冒险</a:t>
            </a:r>
            <a:endParaRPr lang="zh-CN" altLang="en-US" sz="28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1015660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 name="矩形 4"/>
          <p:cNvSpPr/>
          <p:nvPr/>
        </p:nvSpPr>
        <p:spPr>
          <a:xfrm>
            <a:off x="376393" y="509831"/>
            <a:ext cx="10419617" cy="5673348"/>
          </a:xfrm>
          <a:prstGeom prst="rect">
            <a:avLst/>
          </a:prstGeom>
        </p:spPr>
        <p:txBody>
          <a:bodyPr wrap="square">
            <a:spAutoFit/>
          </a:bodyPr>
          <a:lstStyle/>
          <a:p>
            <a:pPr>
              <a:lnSpc>
                <a:spcPts val="2800"/>
              </a:lnSpc>
              <a:spcBef>
                <a:spcPts val="1200"/>
              </a:spcBef>
            </a:pPr>
            <a:r>
              <a:rPr lang="en-US" altLang="zh-CN" sz="2000" dirty="0" smtClean="0">
                <a:latin typeface="宋体" panose="02010600030101010101" pitchFamily="2" charset="-122"/>
                <a:ea typeface="宋体" panose="02010600030101010101" pitchFamily="2" charset="-122"/>
              </a:rPr>
              <a:t>2. </a:t>
            </a:r>
            <a:r>
              <a:rPr lang="zh-CN" altLang="en-US" sz="2000" dirty="0" smtClean="0">
                <a:latin typeface="宋体" panose="02010600030101010101" pitchFamily="2" charset="-122"/>
                <a:ea typeface="宋体" panose="02010600030101010101" pitchFamily="2" charset="-122"/>
              </a:rPr>
              <a:t>几个基本概念</a:t>
            </a:r>
            <a:endParaRPr lang="en-US" altLang="zh-CN" sz="2000" dirty="0" smtClean="0">
              <a:latin typeface="宋体" panose="02010600030101010101" pitchFamily="2" charset="-122"/>
              <a:ea typeface="宋体" panose="02010600030101010101" pitchFamily="2" charset="-122"/>
            </a:endParaRPr>
          </a:p>
          <a:p>
            <a:pPr marL="800100" lvl="1" indent="-342900">
              <a:lnSpc>
                <a:spcPts val="2800"/>
              </a:lnSpc>
              <a:spcBef>
                <a:spcPts val="1200"/>
              </a:spcBef>
              <a:buFont typeface="Arial" panose="020B0604020202020204" pitchFamily="34" charset="0"/>
              <a:buChar char="•"/>
            </a:pPr>
            <a:r>
              <a:rPr lang="zh-CN" altLang="en-US" sz="2000" dirty="0" smtClean="0">
                <a:latin typeface="宋体" panose="02010600030101010101" pitchFamily="2" charset="-122"/>
                <a:ea typeface="宋体" panose="02010600030101010101" pitchFamily="2" charset="-122"/>
              </a:rPr>
              <a:t>静态调度 </a:t>
            </a:r>
            <a:r>
              <a:rPr lang="en-US" altLang="zh-CN" sz="2000" dirty="0" smtClean="0">
                <a:latin typeface="宋体" panose="02010600030101010101" pitchFamily="2" charset="-122"/>
                <a:ea typeface="宋体" panose="02010600030101010101" pitchFamily="2" charset="-122"/>
              </a:rPr>
              <a:t>V.S. </a:t>
            </a:r>
            <a:r>
              <a:rPr lang="zh-CN" altLang="en-US" sz="2000" dirty="0" smtClean="0">
                <a:latin typeface="宋体" panose="02010600030101010101" pitchFamily="2" charset="-122"/>
                <a:ea typeface="宋体" panose="02010600030101010101" pitchFamily="2" charset="-122"/>
              </a:rPr>
              <a:t>动态调度</a:t>
            </a:r>
            <a:endParaRPr lang="en-US" altLang="zh-CN" sz="2000" dirty="0" smtClean="0">
              <a:latin typeface="宋体" panose="02010600030101010101" pitchFamily="2" charset="-122"/>
              <a:ea typeface="宋体" panose="02010600030101010101" pitchFamily="2" charset="-122"/>
            </a:endParaRPr>
          </a:p>
          <a:p>
            <a:pPr marL="1257300" lvl="2" indent="-342900">
              <a:lnSpc>
                <a:spcPts val="2800"/>
              </a:lnSpc>
              <a:spcBef>
                <a:spcPts val="1200"/>
              </a:spcBef>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静态调度：是依靠编译器对代码进行调度，也就是在代码被执行之前进行调度；通过把相关的指令拉开距离来减少可能产生的停顿。</a:t>
            </a:r>
          </a:p>
          <a:p>
            <a:pPr marL="1257300" lvl="2" indent="-342900">
              <a:lnSpc>
                <a:spcPts val="2800"/>
              </a:lnSpc>
              <a:spcBef>
                <a:spcPts val="1200"/>
              </a:spcBef>
              <a:buFont typeface="Arial" panose="020B0604020202020204" pitchFamily="34" charset="0"/>
              <a:buChar char="•"/>
              <a:defRPr/>
            </a:pPr>
            <a:r>
              <a:rPr lang="zh-CN" altLang="en-US" sz="2000" dirty="0">
                <a:latin typeface="宋体" panose="02010600030101010101" pitchFamily="2" charset="-122"/>
                <a:ea typeface="宋体" panose="02010600030101010101" pitchFamily="2" charset="-122"/>
              </a:rPr>
              <a:t>动态调度：在程序的执行过程中，依靠专门硬件对代码进行调度，减少数据相关导致的停顿。</a:t>
            </a:r>
          </a:p>
          <a:p>
            <a:pPr>
              <a:lnSpc>
                <a:spcPts val="2800"/>
              </a:lnSpc>
              <a:spcBef>
                <a:spcPts val="1200"/>
              </a:spcBef>
            </a:pPr>
            <a:endParaRPr lang="en-US" altLang="zh-CN" sz="2000" dirty="0" smtClean="0">
              <a:latin typeface="宋体" panose="02010600030101010101" pitchFamily="2" charset="-122"/>
              <a:ea typeface="宋体" panose="02010600030101010101" pitchFamily="2" charset="-122"/>
            </a:endParaRPr>
          </a:p>
          <a:p>
            <a:pPr marL="800100" lvl="1" indent="-342900">
              <a:lnSpc>
                <a:spcPts val="2800"/>
              </a:lnSpc>
              <a:spcBef>
                <a:spcPts val="1200"/>
              </a:spcBef>
              <a:buFont typeface="Arial" panose="020B0604020202020204" pitchFamily="34" charset="0"/>
              <a:buChar char="•"/>
            </a:pPr>
            <a:r>
              <a:rPr lang="zh-CN" altLang="en-US" sz="2000" dirty="0" smtClean="0">
                <a:latin typeface="宋体" panose="02010600030101010101" pitchFamily="2" charset="-122"/>
                <a:ea typeface="宋体" panose="02010600030101010101" pitchFamily="2" charset="-122"/>
              </a:rPr>
              <a:t>指令顺序执行 </a:t>
            </a:r>
            <a:r>
              <a:rPr lang="en-US" altLang="zh-CN" sz="2000" dirty="0" smtClean="0">
                <a:latin typeface="宋体" panose="02010600030101010101" pitchFamily="2" charset="-122"/>
                <a:ea typeface="宋体" panose="02010600030101010101" pitchFamily="2" charset="-122"/>
              </a:rPr>
              <a:t>V.S. </a:t>
            </a:r>
            <a:r>
              <a:rPr lang="zh-CN" altLang="en-US" sz="2000" dirty="0" smtClean="0">
                <a:latin typeface="宋体" panose="02010600030101010101" pitchFamily="2" charset="-122"/>
                <a:ea typeface="宋体" panose="02010600030101010101" pitchFamily="2" charset="-122"/>
              </a:rPr>
              <a:t>指令乱序执行</a:t>
            </a:r>
            <a:endParaRPr lang="en-US" altLang="zh-CN" sz="2000" dirty="0" smtClean="0">
              <a:latin typeface="宋体" panose="02010600030101010101" pitchFamily="2" charset="-122"/>
              <a:ea typeface="宋体" panose="02010600030101010101" pitchFamily="2" charset="-122"/>
            </a:endParaRPr>
          </a:p>
          <a:p>
            <a:pPr marL="1257300" lvl="2" indent="-342900">
              <a:lnSpc>
                <a:spcPts val="2800"/>
              </a:lnSpc>
              <a:spcBef>
                <a:spcPts val="1200"/>
              </a:spcBef>
              <a:buFont typeface="Arial" panose="020B0604020202020204" pitchFamily="34" charset="0"/>
              <a:buChar char="•"/>
            </a:pPr>
            <a:r>
              <a:rPr lang="zh-CN" altLang="en-US" sz="2000" dirty="0" smtClean="0">
                <a:latin typeface="宋体" panose="02010600030101010101" pitchFamily="2" charset="-122"/>
                <a:ea typeface="宋体" panose="02010600030101010101" pitchFamily="2" charset="-122"/>
              </a:rPr>
              <a:t>指令</a:t>
            </a:r>
            <a:r>
              <a:rPr lang="zh-CN" altLang="en-US" sz="2000" dirty="0">
                <a:latin typeface="宋体" panose="02010600030101010101" pitchFamily="2" charset="-122"/>
                <a:ea typeface="宋体" panose="02010600030101010101" pitchFamily="2" charset="-122"/>
              </a:rPr>
              <a:t>顺序执行：指令放入流水线的顺序和指令完成的顺序一致；</a:t>
            </a:r>
          </a:p>
          <a:p>
            <a:pPr marL="1257300" lvl="2" indent="-342900">
              <a:lnSpc>
                <a:spcPts val="2800"/>
              </a:lnSpc>
              <a:spcBef>
                <a:spcPts val="1200"/>
              </a:spcBef>
              <a:buFont typeface="Arial" panose="020B0604020202020204" pitchFamily="34" charset="0"/>
              <a:buChar char="•"/>
            </a:pPr>
            <a:r>
              <a:rPr lang="zh-CN" altLang="en-US" sz="2000" dirty="0" smtClean="0">
                <a:latin typeface="宋体" panose="02010600030101010101" pitchFamily="2" charset="-122"/>
                <a:ea typeface="宋体" panose="02010600030101010101" pitchFamily="2" charset="-122"/>
              </a:rPr>
              <a:t>指令</a:t>
            </a:r>
            <a:r>
              <a:rPr lang="zh-CN" altLang="en-US" sz="2000" dirty="0">
                <a:latin typeface="宋体" panose="02010600030101010101" pitchFamily="2" charset="-122"/>
                <a:ea typeface="宋体" panose="02010600030101010101" pitchFamily="2" charset="-122"/>
              </a:rPr>
              <a:t>乱序执行：指令放入流水线的顺序和指令完成的顺序不一致，也就是说有些指令进入流水线后被阻塞的，而在其后进入流水线的指令先完成了。</a:t>
            </a:r>
          </a:p>
          <a:p>
            <a:endParaRPr lang="zh-CN" altLang="en-US" dirty="0" smtClean="0"/>
          </a:p>
          <a:p>
            <a:endParaRPr lang="zh-CN" altLang="en-US" dirty="0"/>
          </a:p>
        </p:txBody>
      </p:sp>
    </p:spTree>
    <p:extLst>
      <p:ext uri="{BB962C8B-B14F-4D97-AF65-F5344CB8AC3E}">
        <p14:creationId xmlns:p14="http://schemas.microsoft.com/office/powerpoint/2010/main" val="21840372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555476" y="971659"/>
            <a:ext cx="10363200" cy="4585244"/>
          </a:xfrm>
        </p:spPr>
        <p:txBody>
          <a:bodyPr>
            <a:normAutofit/>
          </a:bodyPr>
          <a:lstStyle/>
          <a:p>
            <a:pPr marL="0" lvl="0" indent="317500">
              <a:lnSpc>
                <a:spcPts val="3000"/>
              </a:lnSpc>
              <a:spcBef>
                <a:spcPct val="0"/>
              </a:spcBef>
              <a:buClrTx/>
              <a:buNone/>
            </a:pPr>
            <a:r>
              <a:rPr kumimoji="0" lang="zh-CN" altLang="zh-CN" sz="200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首先，思考下面一段代码：</a:t>
            </a:r>
            <a:endParaRPr kumimoji="0" lang="zh-CN" altLang="zh-CN" sz="2000" kern="1200" dirty="0">
              <a:solidFill>
                <a:srgbClr val="40458C"/>
              </a:solidFill>
              <a:latin typeface="宋体" panose="02010600030101010101" pitchFamily="2" charset="-122"/>
              <a:ea typeface="宋体" panose="02010600030101010101" pitchFamily="2" charset="-122"/>
            </a:endParaRPr>
          </a:p>
          <a:p>
            <a:pPr marL="0" lvl="0" indent="982663">
              <a:lnSpc>
                <a:spcPts val="3000"/>
              </a:lnSpc>
              <a:spcBef>
                <a:spcPct val="0"/>
              </a:spcBef>
              <a:buClrTx/>
              <a:buNone/>
            </a:pPr>
            <a:r>
              <a:rPr kumimoji="0" lang="zh-CN" altLang="zh-CN" sz="2000"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rPr>
              <a:t>指令1   DIV.D  F4，F0，F2</a:t>
            </a:r>
            <a:endParaRPr kumimoji="0" lang="zh-CN" altLang="zh-CN" sz="2000" kern="1200" dirty="0">
              <a:solidFill>
                <a:srgbClr val="40458C"/>
              </a:solidFill>
              <a:latin typeface="宋体" panose="02010600030101010101" pitchFamily="2" charset="-122"/>
              <a:ea typeface="宋体" panose="02010600030101010101" pitchFamily="2" charset="-122"/>
            </a:endParaRPr>
          </a:p>
          <a:p>
            <a:pPr marL="0" lvl="0" indent="982663">
              <a:lnSpc>
                <a:spcPts val="3000"/>
              </a:lnSpc>
              <a:spcBef>
                <a:spcPct val="0"/>
              </a:spcBef>
              <a:buClrTx/>
              <a:buNone/>
            </a:pPr>
            <a:r>
              <a:rPr kumimoji="0" lang="zh-CN" altLang="zh-CN" sz="2000"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rPr>
              <a:t>指令2   SUB.D  F10，F4，F6</a:t>
            </a:r>
            <a:endParaRPr kumimoji="0" lang="zh-CN" altLang="zh-CN" sz="2000" kern="1200" dirty="0">
              <a:solidFill>
                <a:srgbClr val="40458C"/>
              </a:solidFill>
              <a:latin typeface="宋体" panose="02010600030101010101" pitchFamily="2" charset="-122"/>
              <a:ea typeface="宋体" panose="02010600030101010101" pitchFamily="2" charset="-122"/>
            </a:endParaRPr>
          </a:p>
          <a:p>
            <a:pPr marL="0" lvl="0" indent="982663">
              <a:lnSpc>
                <a:spcPts val="3000"/>
              </a:lnSpc>
              <a:spcBef>
                <a:spcPct val="0"/>
              </a:spcBef>
              <a:buClrTx/>
              <a:buNone/>
            </a:pPr>
            <a:r>
              <a:rPr kumimoji="0" lang="zh-CN" altLang="zh-CN" sz="2000"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rPr>
              <a:t>指令3   ADD.D  F12，F6，F14</a:t>
            </a:r>
            <a:endParaRPr kumimoji="0" lang="zh-CN" altLang="zh-CN" sz="2000" kern="1200" dirty="0">
              <a:solidFill>
                <a:srgbClr val="40458C"/>
              </a:solidFill>
              <a:latin typeface="宋体" panose="02010600030101010101" pitchFamily="2" charset="-122"/>
              <a:ea typeface="宋体" panose="02010600030101010101" pitchFamily="2" charset="-122"/>
            </a:endParaRPr>
          </a:p>
          <a:p>
            <a:pPr marL="0" lvl="0" indent="358775">
              <a:lnSpc>
                <a:spcPts val="3000"/>
              </a:lnSpc>
              <a:spcBef>
                <a:spcPct val="0"/>
              </a:spcBef>
              <a:buClrTx/>
              <a:buNone/>
            </a:pPr>
            <a:r>
              <a:rPr kumimoji="0" lang="zh-CN" altLang="zh-CN" sz="200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这段代码放到</a:t>
            </a:r>
            <a:r>
              <a:rPr kumimoji="0" lang="en-US" altLang="zh-CN" sz="200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 </a:t>
            </a:r>
            <a:r>
              <a:rPr kumimoji="0" lang="en-US" altLang="zh-CN" sz="2000"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MIPS </a:t>
            </a:r>
            <a:r>
              <a:rPr kumimoji="0" lang="zh-CN" altLang="zh-CN" sz="200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的五段流水线上，假如没有用任何定向等技术，会怎样执行？</a:t>
            </a:r>
            <a:endParaRPr kumimoji="0" lang="zh-CN" altLang="zh-CN" sz="2000" kern="1200" dirty="0">
              <a:solidFill>
                <a:srgbClr val="40458C"/>
              </a:solidFill>
              <a:latin typeface="宋体" panose="02010600030101010101" pitchFamily="2" charset="-122"/>
              <a:ea typeface="宋体" panose="02010600030101010101" pitchFamily="2" charset="-122"/>
            </a:endParaRPr>
          </a:p>
          <a:p>
            <a:pPr marL="0" lvl="0" indent="358775">
              <a:lnSpc>
                <a:spcPts val="3000"/>
              </a:lnSpc>
              <a:spcBef>
                <a:spcPct val="0"/>
              </a:spcBef>
              <a:buClrTx/>
              <a:buNone/>
            </a:pPr>
            <a:r>
              <a:rPr kumimoji="0" lang="zh-CN" altLang="zh-CN" sz="200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大概会是这样的：</a:t>
            </a:r>
            <a:endParaRPr kumimoji="0" lang="en-US" altLang="zh-CN" sz="200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endParaRPr>
          </a:p>
        </p:txBody>
      </p:sp>
      <p:pic>
        <p:nvPicPr>
          <p:cNvPr id="1026" name="Picture 2" descr="https://p.ananas.chaoxing.com/star3/origin/6183e3f7e8fb4aa15cdbf0fc1a5ed9f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931" y="3549019"/>
            <a:ext cx="6736495" cy="797849"/>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420864" y="234952"/>
            <a:ext cx="6186309" cy="451406"/>
          </a:xfrm>
          <a:prstGeom prst="rect">
            <a:avLst/>
          </a:prstGeom>
        </p:spPr>
        <p:txBody>
          <a:bodyPr wrap="none">
            <a:spAutoFit/>
          </a:bodyPr>
          <a:lstStyle/>
          <a:p>
            <a:pPr>
              <a:lnSpc>
                <a:spcPts val="2800"/>
              </a:lnSpc>
              <a:spcBef>
                <a:spcPts val="1200"/>
              </a:spcBef>
            </a:pPr>
            <a:r>
              <a:rPr lang="en-US" altLang="zh-CN" sz="2400" dirty="0" smtClean="0">
                <a:latin typeface="宋体" panose="02010600030101010101" pitchFamily="2" charset="-122"/>
                <a:ea typeface="宋体" panose="02010600030101010101" pitchFamily="2" charset="-122"/>
              </a:rPr>
              <a:t>3. </a:t>
            </a:r>
            <a:r>
              <a:rPr lang="zh-CN" altLang="en-US" sz="2400" dirty="0" smtClean="0">
                <a:latin typeface="宋体" panose="02010600030101010101" pitchFamily="2" charset="-122"/>
                <a:ea typeface="宋体" panose="02010600030101010101" pitchFamily="2" charset="-122"/>
              </a:rPr>
              <a:t>为什么要进行动态调度？ </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第一个问题</a:t>
            </a:r>
            <a:endParaRPr lang="en-US" altLang="zh-CN" sz="2400" dirty="0">
              <a:latin typeface="宋体" panose="02010600030101010101" pitchFamily="2" charset="-122"/>
              <a:ea typeface="宋体" panose="02010600030101010101" pitchFamily="2" charset="-122"/>
            </a:endParaRPr>
          </a:p>
        </p:txBody>
      </p:sp>
      <p:sp>
        <p:nvSpPr>
          <p:cNvPr id="8" name="矩形 7"/>
          <p:cNvSpPr/>
          <p:nvPr/>
        </p:nvSpPr>
        <p:spPr>
          <a:xfrm>
            <a:off x="868822" y="4585736"/>
            <a:ext cx="9181032" cy="1631216"/>
          </a:xfrm>
          <a:prstGeom prst="rect">
            <a:avLst/>
          </a:prstGeom>
        </p:spPr>
        <p:txBody>
          <a:bodyPr wrap="square">
            <a:spAutoFit/>
          </a:bodyPr>
          <a:lstStyle/>
          <a:p>
            <a:pPr lvl="0" indent="317500">
              <a:lnSpc>
                <a:spcPts val="3000"/>
              </a:lnSpc>
              <a:spcBef>
                <a:spcPct val="0"/>
              </a:spcBef>
            </a:pPr>
            <a:r>
              <a:rPr lang="zh-CN" altLang="zh-CN" dirty="0">
                <a:solidFill>
                  <a:srgbClr val="181E33"/>
                </a:solidFill>
                <a:latin typeface="宋体" panose="02010600030101010101" pitchFamily="2" charset="-122"/>
                <a:ea typeface="宋体" panose="02010600030101010101" pitchFamily="2" charset="-122"/>
              </a:rPr>
              <a:t>指令2和指令1是关于F4数据相关，因此进入流水线之后会产生数据冲突，导致指令2被阻塞，指令3也同时被阻塞了。指令3是很冤枉的，明明和前面指令什么关系都没有。</a:t>
            </a:r>
            <a:endParaRPr lang="zh-CN" altLang="zh-CN" dirty="0">
              <a:solidFill>
                <a:srgbClr val="40458C"/>
              </a:solidFill>
              <a:latin typeface="宋体" panose="02010600030101010101" pitchFamily="2" charset="-122"/>
              <a:ea typeface="宋体" panose="02010600030101010101" pitchFamily="2" charset="-122"/>
            </a:endParaRPr>
          </a:p>
          <a:p>
            <a:pPr lvl="0" indent="317500">
              <a:lnSpc>
                <a:spcPts val="3000"/>
              </a:lnSpc>
              <a:spcBef>
                <a:spcPct val="0"/>
              </a:spcBef>
            </a:pPr>
            <a:endParaRPr lang="zh-CN" altLang="zh-CN" dirty="0">
              <a:solidFill>
                <a:srgbClr val="40458C"/>
              </a:solidFill>
              <a:latin typeface="宋体" panose="02010600030101010101" pitchFamily="2" charset="-122"/>
              <a:ea typeface="宋体" panose="02010600030101010101" pitchFamily="2" charset="-122"/>
            </a:endParaRPr>
          </a:p>
          <a:p>
            <a:pPr lvl="0" indent="317500">
              <a:lnSpc>
                <a:spcPts val="3000"/>
              </a:lnSpc>
              <a:spcBef>
                <a:spcPct val="0"/>
              </a:spcBef>
            </a:pPr>
            <a:r>
              <a:rPr lang="zh-CN" altLang="zh-CN" dirty="0">
                <a:solidFill>
                  <a:srgbClr val="181E33"/>
                </a:solidFill>
                <a:latin typeface="宋体" panose="02010600030101010101" pitchFamily="2" charset="-122"/>
                <a:ea typeface="宋体" panose="02010600030101010101" pitchFamily="2" charset="-122"/>
              </a:rPr>
              <a:t>思考：怎么办？</a:t>
            </a:r>
          </a:p>
        </p:txBody>
      </p:sp>
    </p:spTree>
    <p:extLst>
      <p:ext uri="{BB962C8B-B14F-4D97-AF65-F5344CB8AC3E}">
        <p14:creationId xmlns:p14="http://schemas.microsoft.com/office/powerpoint/2010/main" val="33450539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21378" y="3196671"/>
            <a:ext cx="10363200" cy="2947755"/>
          </a:xfrm>
        </p:spPr>
        <p:txBody>
          <a:bodyPr>
            <a:normAutofit fontScale="92500" lnSpcReduction="10000"/>
          </a:bodyPr>
          <a:lstStyle/>
          <a:p>
            <a:pPr marL="0" lvl="0" indent="317500">
              <a:lnSpc>
                <a:spcPts val="3000"/>
              </a:lnSpc>
              <a:spcBef>
                <a:spcPct val="0"/>
              </a:spcBef>
              <a:buClrTx/>
              <a:buNone/>
            </a:pPr>
            <a:r>
              <a:rPr kumimoji="0" lang="zh-CN" altLang="zh-CN" sz="19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将ID段又分成了两个阶段：</a:t>
            </a:r>
            <a:endParaRPr kumimoji="0" lang="zh-CN" altLang="zh-CN" sz="1900" kern="1200" dirty="0">
              <a:solidFill>
                <a:srgbClr val="40458C"/>
              </a:solidFill>
              <a:latin typeface="宋体" panose="02010600030101010101" pitchFamily="2" charset="-122"/>
              <a:ea typeface="宋体" panose="02010600030101010101" pitchFamily="2" charset="-122"/>
            </a:endParaRPr>
          </a:p>
          <a:p>
            <a:pPr marL="896938" lvl="0" indent="-273050">
              <a:lnSpc>
                <a:spcPts val="3000"/>
              </a:lnSpc>
              <a:spcBef>
                <a:spcPct val="0"/>
              </a:spcBef>
              <a:buClrTx/>
              <a:buFontTx/>
              <a:buChar char="•"/>
            </a:pPr>
            <a:r>
              <a:rPr kumimoji="0" lang="zh-CN" altLang="zh-CN" sz="19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流出（Issue，IS）阶段：指令译码，检查是否存在结构冲突。 </a:t>
            </a:r>
            <a:endParaRPr kumimoji="0" lang="zh-CN" altLang="zh-CN" sz="1900" kern="1200" dirty="0">
              <a:solidFill>
                <a:srgbClr val="181E33"/>
              </a:solidFill>
              <a:latin typeface="宋体" panose="02010600030101010101" pitchFamily="2" charset="-122"/>
              <a:ea typeface="宋体" panose="02010600030101010101" pitchFamily="2" charset="-122"/>
            </a:endParaRPr>
          </a:p>
          <a:p>
            <a:pPr marL="896938" lvl="0" indent="-273050">
              <a:lnSpc>
                <a:spcPts val="3000"/>
              </a:lnSpc>
              <a:spcBef>
                <a:spcPct val="0"/>
              </a:spcBef>
              <a:buClrTx/>
              <a:buFontTx/>
              <a:buChar char="•"/>
            </a:pPr>
            <a:r>
              <a:rPr kumimoji="0" lang="zh-CN" altLang="zh-CN" sz="19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读操作数（Read Operands，RO）阶段：检测数据冲突，如果没有，继续执行；如果有，等待数据冲突消失，然后读操作数。</a:t>
            </a:r>
            <a:endParaRPr kumimoji="0" lang="en-US" altLang="zh-CN" sz="19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endParaRPr>
          </a:p>
          <a:p>
            <a:pPr marL="0" lvl="0" indent="317500">
              <a:lnSpc>
                <a:spcPct val="100000"/>
              </a:lnSpc>
              <a:spcBef>
                <a:spcPct val="0"/>
              </a:spcBef>
              <a:buClrTx/>
              <a:buFontTx/>
              <a:buChar char="•"/>
            </a:pPr>
            <a:endParaRPr kumimoji="0" lang="en-US" altLang="zh-CN" sz="2000" kern="1200" dirty="0">
              <a:solidFill>
                <a:srgbClr val="181E33"/>
              </a:solidFill>
              <a:latin typeface="宋体" panose="02010600030101010101" pitchFamily="2" charset="-122"/>
              <a:ea typeface="宋体" panose="02010600030101010101" pitchFamily="2" charset="-122"/>
            </a:endParaRPr>
          </a:p>
          <a:p>
            <a:pPr marL="0" lvl="0" indent="317500">
              <a:lnSpc>
                <a:spcPct val="100000"/>
              </a:lnSpc>
              <a:spcBef>
                <a:spcPct val="0"/>
              </a:spcBef>
              <a:buClrTx/>
              <a:buFontTx/>
              <a:buChar char="•"/>
            </a:pPr>
            <a:endParaRPr kumimoji="0" lang="en-US" altLang="zh-CN" sz="2000" kern="1200" dirty="0" smtClean="0">
              <a:solidFill>
                <a:srgbClr val="181E33"/>
              </a:solidFill>
              <a:latin typeface="宋体" panose="02010600030101010101" pitchFamily="2" charset="-122"/>
              <a:ea typeface="宋体" panose="02010600030101010101" pitchFamily="2" charset="-122"/>
            </a:endParaRPr>
          </a:p>
          <a:p>
            <a:pPr marL="0" lvl="0" indent="317500">
              <a:lnSpc>
                <a:spcPct val="100000"/>
              </a:lnSpc>
              <a:spcBef>
                <a:spcPct val="0"/>
              </a:spcBef>
              <a:buClrTx/>
              <a:buFontTx/>
              <a:buChar char="•"/>
            </a:pPr>
            <a:endParaRPr kumimoji="0" lang="en-US" altLang="zh-CN" sz="2000" kern="1200" dirty="0">
              <a:solidFill>
                <a:srgbClr val="181E33"/>
              </a:solidFill>
              <a:latin typeface="宋体" panose="02010600030101010101" pitchFamily="2" charset="-122"/>
              <a:ea typeface="宋体" panose="02010600030101010101" pitchFamily="2" charset="-122"/>
            </a:endParaRPr>
          </a:p>
          <a:p>
            <a:pPr marL="0" lvl="0" indent="317500">
              <a:lnSpc>
                <a:spcPct val="100000"/>
              </a:lnSpc>
              <a:spcBef>
                <a:spcPct val="0"/>
              </a:spcBef>
              <a:buClrTx/>
              <a:buNone/>
            </a:pPr>
            <a: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
            </a:r>
            <a:b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br>
            <a:endParaRPr kumimoji="0" lang="en-US"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endParaRPr>
          </a:p>
          <a:p>
            <a:pPr marL="0" indent="0">
              <a:buNone/>
            </a:pPr>
            <a:endParaRPr lang="zh-CN" altLang="en-US" dirty="0"/>
          </a:p>
        </p:txBody>
      </p:sp>
      <p:pic>
        <p:nvPicPr>
          <p:cNvPr id="32770" name="Picture 2" descr="https://p.ananas.chaoxing.com/star3/origin/8f6dfc2b471a20c806a07718c3d0623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4703" y="4957105"/>
            <a:ext cx="2876550" cy="1066800"/>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0" y="45004"/>
            <a:ext cx="2698175" cy="523220"/>
          </a:xfrm>
          <a:prstGeom prst="rect">
            <a:avLst/>
          </a:prstGeom>
        </p:spPr>
        <p:txBody>
          <a:bodyPr wrap="none">
            <a:spAutoFit/>
          </a:bodyPr>
          <a:lstStyle/>
          <a:p>
            <a:pPr lvl="0" algn="ctr"/>
            <a:r>
              <a:rPr lang="zh-CN" altLang="en-US" sz="2800" dirty="0" smtClean="0">
                <a:solidFill>
                  <a:srgbClr val="333333"/>
                </a:solidFill>
                <a:latin typeface="宋体" panose="02010600030101010101" pitchFamily="2" charset="-122"/>
                <a:ea typeface="宋体" panose="02010600030101010101" pitchFamily="2" charset="-122"/>
              </a:rPr>
              <a:t>解决第一</a:t>
            </a:r>
            <a:r>
              <a:rPr lang="zh-CN" altLang="en-US" sz="2800" dirty="0">
                <a:solidFill>
                  <a:srgbClr val="333333"/>
                </a:solidFill>
                <a:latin typeface="宋体" panose="02010600030101010101" pitchFamily="2" charset="-122"/>
                <a:ea typeface="宋体" panose="02010600030101010101" pitchFamily="2" charset="-122"/>
              </a:rPr>
              <a:t>个问题</a:t>
            </a:r>
          </a:p>
        </p:txBody>
      </p:sp>
      <p:sp>
        <p:nvSpPr>
          <p:cNvPr id="7" name="矩形 6"/>
          <p:cNvSpPr/>
          <p:nvPr/>
        </p:nvSpPr>
        <p:spPr>
          <a:xfrm>
            <a:off x="561557" y="797295"/>
            <a:ext cx="7651335" cy="1631216"/>
          </a:xfrm>
          <a:prstGeom prst="rect">
            <a:avLst/>
          </a:prstGeom>
        </p:spPr>
        <p:txBody>
          <a:bodyPr wrap="square">
            <a:spAutoFit/>
          </a:bodyPr>
          <a:lstStyle/>
          <a:p>
            <a:pPr lvl="0" indent="803275">
              <a:lnSpc>
                <a:spcPts val="3000"/>
              </a:lnSpc>
              <a:spcBef>
                <a:spcPct val="0"/>
              </a:spcBef>
            </a:pPr>
            <a:r>
              <a:rPr lang="zh-CN" altLang="zh-CN" dirty="0">
                <a:solidFill>
                  <a:srgbClr val="181E33"/>
                </a:solidFill>
                <a:latin typeface="宋体" panose="02010600030101010101" pitchFamily="2" charset="-122"/>
                <a:ea typeface="宋体" panose="02010600030101010101" pitchFamily="2" charset="-122"/>
              </a:rPr>
              <a:t>指令1   DIV.D  </a:t>
            </a:r>
            <a:r>
              <a:rPr lang="zh-CN" altLang="zh-CN" dirty="0">
                <a:solidFill>
                  <a:srgbClr val="FF0000"/>
                </a:solidFill>
                <a:latin typeface="宋体" panose="02010600030101010101" pitchFamily="2" charset="-122"/>
                <a:ea typeface="宋体" panose="02010600030101010101" pitchFamily="2" charset="-122"/>
              </a:rPr>
              <a:t>F4</a:t>
            </a:r>
            <a:r>
              <a:rPr lang="zh-CN" altLang="zh-CN" dirty="0">
                <a:solidFill>
                  <a:srgbClr val="181E33"/>
                </a:solidFill>
                <a:latin typeface="宋体" panose="02010600030101010101" pitchFamily="2" charset="-122"/>
                <a:ea typeface="宋体" panose="02010600030101010101" pitchFamily="2" charset="-122"/>
              </a:rPr>
              <a:t>，F0，F2</a:t>
            </a:r>
            <a:endParaRPr lang="zh-CN" altLang="zh-CN" dirty="0">
              <a:solidFill>
                <a:srgbClr val="40458C"/>
              </a:solidFill>
              <a:latin typeface="宋体" panose="02010600030101010101" pitchFamily="2" charset="-122"/>
              <a:ea typeface="宋体" panose="02010600030101010101" pitchFamily="2" charset="-122"/>
            </a:endParaRPr>
          </a:p>
          <a:p>
            <a:pPr lvl="0" indent="803275">
              <a:lnSpc>
                <a:spcPts val="3000"/>
              </a:lnSpc>
              <a:spcBef>
                <a:spcPct val="0"/>
              </a:spcBef>
            </a:pPr>
            <a:r>
              <a:rPr lang="zh-CN" altLang="zh-CN" dirty="0">
                <a:solidFill>
                  <a:srgbClr val="181E33"/>
                </a:solidFill>
                <a:latin typeface="宋体" panose="02010600030101010101" pitchFamily="2" charset="-122"/>
                <a:ea typeface="宋体" panose="02010600030101010101" pitchFamily="2" charset="-122"/>
              </a:rPr>
              <a:t>指令2   SUB.D  F10，</a:t>
            </a:r>
            <a:r>
              <a:rPr lang="zh-CN" altLang="zh-CN" dirty="0">
                <a:solidFill>
                  <a:srgbClr val="FF0000"/>
                </a:solidFill>
                <a:latin typeface="宋体" panose="02010600030101010101" pitchFamily="2" charset="-122"/>
                <a:ea typeface="宋体" panose="02010600030101010101" pitchFamily="2" charset="-122"/>
              </a:rPr>
              <a:t>F4</a:t>
            </a:r>
            <a:r>
              <a:rPr lang="zh-CN" altLang="zh-CN" dirty="0">
                <a:solidFill>
                  <a:srgbClr val="181E33"/>
                </a:solidFill>
                <a:latin typeface="宋体" panose="02010600030101010101" pitchFamily="2" charset="-122"/>
                <a:ea typeface="宋体" panose="02010600030101010101" pitchFamily="2" charset="-122"/>
              </a:rPr>
              <a:t>，F6</a:t>
            </a:r>
            <a:endParaRPr lang="zh-CN" altLang="zh-CN" dirty="0">
              <a:solidFill>
                <a:srgbClr val="40458C"/>
              </a:solidFill>
              <a:latin typeface="宋体" panose="02010600030101010101" pitchFamily="2" charset="-122"/>
              <a:ea typeface="宋体" panose="02010600030101010101" pitchFamily="2" charset="-122"/>
            </a:endParaRPr>
          </a:p>
          <a:p>
            <a:pPr lvl="0" indent="803275">
              <a:lnSpc>
                <a:spcPts val="3000"/>
              </a:lnSpc>
              <a:spcBef>
                <a:spcPct val="0"/>
              </a:spcBef>
            </a:pPr>
            <a:r>
              <a:rPr lang="zh-CN" altLang="zh-CN" dirty="0">
                <a:solidFill>
                  <a:srgbClr val="181E33"/>
                </a:solidFill>
                <a:latin typeface="宋体" panose="02010600030101010101" pitchFamily="2" charset="-122"/>
                <a:ea typeface="宋体" panose="02010600030101010101" pitchFamily="2" charset="-122"/>
              </a:rPr>
              <a:t>指令3   ADD.D  F12，F6，F14</a:t>
            </a:r>
            <a:endParaRPr lang="zh-CN" altLang="zh-CN" dirty="0">
              <a:solidFill>
                <a:srgbClr val="40458C"/>
              </a:solidFill>
              <a:latin typeface="宋体" panose="02010600030101010101" pitchFamily="2" charset="-122"/>
              <a:ea typeface="宋体" panose="02010600030101010101" pitchFamily="2" charset="-122"/>
            </a:endParaRPr>
          </a:p>
          <a:p>
            <a:pPr lvl="0" indent="317500">
              <a:lnSpc>
                <a:spcPts val="3000"/>
              </a:lnSpc>
              <a:spcBef>
                <a:spcPct val="0"/>
              </a:spcBef>
            </a:pPr>
            <a:r>
              <a:rPr lang="zh-CN" altLang="zh-CN" dirty="0">
                <a:solidFill>
                  <a:srgbClr val="181E33"/>
                </a:solidFill>
                <a:latin typeface="宋体" panose="02010600030101010101" pitchFamily="2" charset="-122"/>
                <a:ea typeface="宋体" panose="02010600030101010101" pitchFamily="2" charset="-122"/>
              </a:rPr>
              <a:t>指令2被阻塞了，停下来等待指令1。能否让无辜的指令3先执行呢？</a:t>
            </a:r>
            <a:endParaRPr lang="zh-CN" altLang="zh-CN" dirty="0">
              <a:solidFill>
                <a:srgbClr val="40458C"/>
              </a:solidFill>
              <a:latin typeface="宋体" panose="02010600030101010101" pitchFamily="2" charset="-122"/>
              <a:ea typeface="宋体" panose="02010600030101010101" pitchFamily="2" charset="-122"/>
            </a:endParaRPr>
          </a:p>
        </p:txBody>
      </p:sp>
      <p:sp>
        <p:nvSpPr>
          <p:cNvPr id="8" name="矩形 7"/>
          <p:cNvSpPr/>
          <p:nvPr/>
        </p:nvSpPr>
        <p:spPr>
          <a:xfrm>
            <a:off x="911552" y="2627925"/>
            <a:ext cx="7420598" cy="369332"/>
          </a:xfrm>
          <a:prstGeom prst="rect">
            <a:avLst/>
          </a:prstGeom>
        </p:spPr>
        <p:txBody>
          <a:bodyPr wrap="square">
            <a:spAutoFit/>
          </a:bodyPr>
          <a:lstStyle/>
          <a:p>
            <a:r>
              <a:rPr lang="zh-CN" altLang="zh-CN" b="1" dirty="0" smtClean="0">
                <a:solidFill>
                  <a:srgbClr val="181E33"/>
                </a:solidFill>
                <a:latin typeface="宋体" panose="02010600030101010101" pitchFamily="2" charset="-122"/>
                <a:ea typeface="宋体" panose="02010600030101010101" pitchFamily="2" charset="-122"/>
              </a:rPr>
              <a:t>指令</a:t>
            </a:r>
            <a:r>
              <a:rPr lang="zh-CN" altLang="zh-CN" b="1" dirty="0">
                <a:solidFill>
                  <a:srgbClr val="181E33"/>
                </a:solidFill>
                <a:latin typeface="宋体" panose="02010600030101010101" pitchFamily="2" charset="-122"/>
                <a:ea typeface="宋体" panose="02010600030101010101" pitchFamily="2" charset="-122"/>
              </a:rPr>
              <a:t>的动态调度</a:t>
            </a:r>
            <a:r>
              <a:rPr lang="zh-CN" altLang="zh-CN" dirty="0">
                <a:solidFill>
                  <a:srgbClr val="181E33"/>
                </a:solidFill>
                <a:latin typeface="宋体" panose="02010600030101010101" pitchFamily="2" charset="-122"/>
                <a:ea typeface="宋体" panose="02010600030101010101" pitchFamily="2" charset="-122"/>
              </a:rPr>
              <a:t>，也就是在指令的执行过程中进行调度。</a:t>
            </a:r>
            <a:endParaRPr lang="zh-CN" altLang="en-US" dirty="0"/>
          </a:p>
        </p:txBody>
      </p:sp>
    </p:spTree>
    <p:extLst>
      <p:ext uri="{BB962C8B-B14F-4D97-AF65-F5344CB8AC3E}">
        <p14:creationId xmlns:p14="http://schemas.microsoft.com/office/powerpoint/2010/main" val="3999341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523649" y="976677"/>
            <a:ext cx="10972800" cy="4525963"/>
          </a:xfrm>
        </p:spPr>
        <p:txBody>
          <a:bodyPr/>
          <a:lstStyle/>
          <a:p>
            <a:pPr marL="0" lvl="0" indent="317500">
              <a:lnSpc>
                <a:spcPts val="3000"/>
              </a:lnSpc>
              <a:spcBef>
                <a:spcPct val="0"/>
              </a:spcBef>
              <a:buClrTx/>
              <a:buNone/>
            </a:pPr>
            <a:r>
              <a:rPr kumimoji="0" lang="en-US"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 </a:t>
            </a:r>
            <a: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假如代码是这样的，第1条指令是个除法指令，执行阶段可能会比较长（假设执行需要3个周期时间）；第2和第3条有反相关。</a:t>
            </a:r>
            <a:endParaRPr kumimoji="0" lang="zh-CN" altLang="zh-CN" sz="2000" kern="1200" dirty="0">
              <a:solidFill>
                <a:srgbClr val="40458C"/>
              </a:solidFill>
              <a:latin typeface="宋体" panose="02010600030101010101" pitchFamily="2" charset="-122"/>
              <a:ea typeface="宋体" panose="02010600030101010101" pitchFamily="2" charset="-122"/>
            </a:endParaRPr>
          </a:p>
          <a:p>
            <a:pPr marL="0" lvl="0" indent="538163">
              <a:lnSpc>
                <a:spcPts val="3000"/>
              </a:lnSpc>
              <a:spcBef>
                <a:spcPct val="0"/>
              </a:spcBef>
              <a:buClrTx/>
              <a:buNone/>
            </a:pPr>
            <a: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指令1   DIV.D  </a:t>
            </a:r>
            <a:r>
              <a:rPr kumimoji="0" lang="zh-CN" altLang="zh-CN" sz="2000" b="0"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F4</a:t>
            </a:r>
            <a: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，F0，F2</a:t>
            </a:r>
            <a:endParaRPr kumimoji="0" lang="zh-CN" altLang="zh-CN" sz="2000" kern="1200" dirty="0">
              <a:solidFill>
                <a:srgbClr val="40458C"/>
              </a:solidFill>
              <a:latin typeface="宋体" panose="02010600030101010101" pitchFamily="2" charset="-122"/>
              <a:ea typeface="宋体" panose="02010600030101010101" pitchFamily="2" charset="-122"/>
            </a:endParaRPr>
          </a:p>
          <a:p>
            <a:pPr marL="0" lvl="0" indent="538163">
              <a:lnSpc>
                <a:spcPts val="3000"/>
              </a:lnSpc>
              <a:spcBef>
                <a:spcPct val="0"/>
              </a:spcBef>
              <a:buClrTx/>
              <a:buNone/>
            </a:pPr>
            <a: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指令2   SUB.D  F10，</a:t>
            </a:r>
            <a:r>
              <a:rPr kumimoji="0" lang="zh-CN" altLang="zh-CN" sz="2000" b="0"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rPr>
              <a:t>F4</a:t>
            </a:r>
            <a: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a:t>
            </a:r>
            <a:r>
              <a:rPr kumimoji="0" lang="zh-CN" altLang="zh-CN" sz="2000" b="0" i="0" u="none" strike="noStrike" kern="1200" cap="none" spc="0" normalizeH="0" baseline="0" noProof="0" dirty="0" smtClean="0">
                <a:ln>
                  <a:noFill/>
                </a:ln>
                <a:solidFill>
                  <a:srgbClr val="00B050"/>
                </a:solidFill>
                <a:effectLst/>
                <a:uLnTx/>
                <a:uFillTx/>
                <a:latin typeface="宋体" panose="02010600030101010101" pitchFamily="2" charset="-122"/>
                <a:ea typeface="宋体" panose="02010600030101010101" pitchFamily="2" charset="-122"/>
              </a:rPr>
              <a:t>F6</a:t>
            </a:r>
            <a:endParaRPr kumimoji="0" lang="zh-CN" altLang="zh-CN" sz="2000" kern="1200" dirty="0">
              <a:solidFill>
                <a:srgbClr val="40458C"/>
              </a:solidFill>
              <a:latin typeface="宋体" panose="02010600030101010101" pitchFamily="2" charset="-122"/>
              <a:ea typeface="宋体" panose="02010600030101010101" pitchFamily="2" charset="-122"/>
            </a:endParaRPr>
          </a:p>
          <a:p>
            <a:pPr marL="0" lvl="0" indent="538163">
              <a:lnSpc>
                <a:spcPts val="3000"/>
              </a:lnSpc>
              <a:spcBef>
                <a:spcPct val="0"/>
              </a:spcBef>
              <a:buClrTx/>
              <a:buNone/>
            </a:pPr>
            <a: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指令3   ADD.D  </a:t>
            </a:r>
            <a:r>
              <a:rPr kumimoji="0" lang="zh-CN" altLang="zh-CN" sz="2000" b="0" i="0" u="none" strike="noStrike" kern="1200" cap="none" spc="0" normalizeH="0" baseline="0" noProof="0" dirty="0" smtClean="0">
                <a:ln>
                  <a:noFill/>
                </a:ln>
                <a:solidFill>
                  <a:srgbClr val="00B050"/>
                </a:solidFill>
                <a:effectLst/>
                <a:uLnTx/>
                <a:uFillTx/>
                <a:latin typeface="宋体" panose="02010600030101010101" pitchFamily="2" charset="-122"/>
                <a:ea typeface="宋体" panose="02010600030101010101" pitchFamily="2" charset="-122"/>
              </a:rPr>
              <a:t>F6</a:t>
            </a:r>
            <a: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，F12，F14</a:t>
            </a:r>
            <a:endParaRPr kumimoji="0" lang="zh-CN" altLang="zh-CN" sz="2000" kern="1200" dirty="0">
              <a:solidFill>
                <a:srgbClr val="40458C"/>
              </a:solidFill>
              <a:latin typeface="宋体" panose="02010600030101010101" pitchFamily="2" charset="-122"/>
              <a:ea typeface="宋体" panose="02010600030101010101" pitchFamily="2" charset="-122"/>
            </a:endParaRPr>
          </a:p>
          <a:p>
            <a:pPr marL="0" indent="317500">
              <a:lnSpc>
                <a:spcPts val="3000"/>
              </a:lnSpc>
              <a:spcBef>
                <a:spcPct val="0"/>
              </a:spcBef>
              <a:buNone/>
            </a:pPr>
            <a:r>
              <a:rPr lang="zh-CN" altLang="zh-CN" sz="2000" dirty="0">
                <a:solidFill>
                  <a:srgbClr val="181E33"/>
                </a:solidFill>
                <a:latin typeface="宋体" panose="02010600030101010101" pitchFamily="2" charset="-122"/>
                <a:ea typeface="宋体" panose="02010600030101010101" pitchFamily="2" charset="-122"/>
              </a:rPr>
              <a:t>那么把这段代码放入无动态调度的流水线中，恐怕是这样的：</a:t>
            </a:r>
          </a:p>
          <a:p>
            <a:pPr marL="0" lvl="0" indent="0">
              <a:lnSpc>
                <a:spcPts val="3000"/>
              </a:lnSpc>
              <a:spcBef>
                <a:spcPct val="0"/>
              </a:spcBef>
              <a:buClrTx/>
              <a:buNone/>
            </a:pPr>
            <a: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
            </a:r>
            <a:b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br>
            <a:endParaRPr kumimoji="0" lang="zh-CN" altLang="zh-CN" sz="2000" kern="1200" dirty="0">
              <a:solidFill>
                <a:srgbClr val="40458C"/>
              </a:solidFill>
              <a:latin typeface="宋体" panose="02010600030101010101" pitchFamily="2" charset="-122"/>
              <a:ea typeface="宋体" panose="02010600030101010101" pitchFamily="2" charset="-122"/>
            </a:endParaRPr>
          </a:p>
          <a:p>
            <a:pPr marL="0" lvl="0" indent="0">
              <a:lnSpc>
                <a:spcPct val="100000"/>
              </a:lnSpc>
              <a:spcBef>
                <a:spcPct val="0"/>
              </a:spcBef>
              <a:buClrTx/>
              <a:buNone/>
            </a:pPr>
            <a:endParaRPr kumimoji="0" lang="en-US"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endParaRPr>
          </a:p>
          <a:p>
            <a:pPr marL="0" lvl="0" indent="0">
              <a:lnSpc>
                <a:spcPct val="100000"/>
              </a:lnSpc>
              <a:spcBef>
                <a:spcPct val="0"/>
              </a:spcBef>
              <a:buClrTx/>
              <a:buNone/>
            </a:pPr>
            <a:endParaRPr kumimoji="0" lang="en-US" altLang="zh-CN" sz="2000" kern="1200" dirty="0" smtClean="0">
              <a:solidFill>
                <a:srgbClr val="181E33"/>
              </a:solidFill>
              <a:latin typeface="宋体" panose="02010600030101010101" pitchFamily="2" charset="-122"/>
              <a:ea typeface="宋体" panose="02010600030101010101" pitchFamily="2" charset="-122"/>
            </a:endParaRPr>
          </a:p>
          <a:p>
            <a:pPr marL="0" lvl="0" indent="0">
              <a:lnSpc>
                <a:spcPct val="100000"/>
              </a:lnSpc>
              <a:spcBef>
                <a:spcPct val="0"/>
              </a:spcBef>
              <a:buClrTx/>
              <a:buNone/>
            </a:pPr>
            <a:endParaRPr kumimoji="0" lang="en-US" altLang="zh-CN" sz="2000" kern="1200" dirty="0">
              <a:solidFill>
                <a:srgbClr val="181E33"/>
              </a:solidFill>
              <a:latin typeface="宋体" panose="02010600030101010101" pitchFamily="2" charset="-122"/>
              <a:ea typeface="宋体" panose="02010600030101010101" pitchFamily="2" charset="-122"/>
            </a:endParaRPr>
          </a:p>
          <a:p>
            <a:pPr marL="0" lvl="0" indent="0">
              <a:lnSpc>
                <a:spcPct val="100000"/>
              </a:lnSpc>
              <a:spcBef>
                <a:spcPct val="0"/>
              </a:spcBef>
              <a:buClrTx/>
              <a:buNone/>
            </a:pPr>
            <a:r>
              <a:rPr kumimoji="0" lang="en-US"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   </a:t>
            </a:r>
            <a:r>
              <a:rPr kumimoji="0" lang="zh-CN"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除了时间长点，没啥错误。</a:t>
            </a:r>
            <a:endParaRPr kumimoji="0" lang="zh-CN" altLang="zh-CN" sz="2000" kern="1200" dirty="0">
              <a:solidFill>
                <a:srgbClr val="40458C"/>
              </a:solidFill>
            </a:endParaRPr>
          </a:p>
          <a:p>
            <a:pPr marL="0" indent="0">
              <a:buNone/>
            </a:pPr>
            <a:endParaRPr lang="zh-CN" altLang="en-US" dirty="0"/>
          </a:p>
        </p:txBody>
      </p:sp>
      <p:sp>
        <p:nvSpPr>
          <p:cNvPr id="5" name="Rectangle 1"/>
          <p:cNvSpPr>
            <a:spLocks noChangeArrowheads="1"/>
          </p:cNvSpPr>
          <p:nvPr/>
        </p:nvSpPr>
        <p:spPr bwMode="auto">
          <a:xfrm>
            <a:off x="1019908" y="2197367"/>
            <a:ext cx="193430" cy="155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300" b="0" i="0" u="none" strike="noStrike" cap="none" normalizeH="0" baseline="0" dirty="0" smtClean="0">
                <a:ln>
                  <a:noFill/>
                </a:ln>
                <a:solidFill>
                  <a:srgbClr val="181E33"/>
                </a:solidFill>
                <a:effectLst/>
                <a:latin typeface="Arial" panose="020B0604020202020204" pitchFamily="34" charset="0"/>
                <a:ea typeface="PingFangSC"/>
              </a:rPr>
              <a:t>  </a:t>
            </a:r>
            <a:endParaRPr kumimoji="0" lang="zh-CN" altLang="zh-CN" sz="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4100" b="0" i="0" u="none" strike="noStrike" cap="none" normalizeH="0" baseline="0" dirty="0" smtClean="0">
                <a:ln>
                  <a:noFill/>
                </a:ln>
                <a:solidFill>
                  <a:srgbClr val="181E33"/>
                </a:solidFill>
                <a:effectLst/>
                <a:latin typeface="Arial" panose="020B0604020202020204" pitchFamily="34" charset="0"/>
                <a:ea typeface="PingFangSC"/>
              </a:rPr>
              <a:t/>
            </a:r>
            <a:br>
              <a:rPr kumimoji="0" lang="zh-CN" altLang="zh-CN" sz="4100" b="0" i="0" u="none" strike="noStrike" cap="none" normalizeH="0" baseline="0" dirty="0" smtClean="0">
                <a:ln>
                  <a:noFill/>
                </a:ln>
                <a:solidFill>
                  <a:srgbClr val="181E33"/>
                </a:solidFill>
                <a:effectLst/>
                <a:latin typeface="Arial" panose="020B0604020202020204" pitchFamily="34" charset="0"/>
                <a:ea typeface="PingFangSC"/>
              </a:rPr>
            </a:br>
            <a:endParaRPr kumimoji="0" lang="zh-CN" altLang="zh-CN" sz="4100" b="0" i="0" u="none" strike="noStrike" cap="none" normalizeH="0" baseline="0" dirty="0" smtClean="0">
              <a:ln>
                <a:noFill/>
              </a:ln>
              <a:solidFill>
                <a:srgbClr val="181E33"/>
              </a:solidFill>
              <a:effectLst/>
              <a:latin typeface="Arial" panose="020B0604020202020204" pitchFamily="34" charset="0"/>
              <a:ea typeface="PingFangSC"/>
            </a:endParaRPr>
          </a:p>
        </p:txBody>
      </p:sp>
      <p:pic>
        <p:nvPicPr>
          <p:cNvPr id="33794" name="Picture 2" descr="https://p.ananas.chaoxing.com/star3/origin/d03107225e2fdd53f8d57d53b67f497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908" y="3475347"/>
            <a:ext cx="6550269" cy="115179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p:cNvSpPr/>
          <p:nvPr/>
        </p:nvSpPr>
        <p:spPr>
          <a:xfrm>
            <a:off x="155945" y="107776"/>
            <a:ext cx="6186309" cy="451406"/>
          </a:xfrm>
          <a:prstGeom prst="rect">
            <a:avLst/>
          </a:prstGeom>
        </p:spPr>
        <p:txBody>
          <a:bodyPr wrap="none">
            <a:spAutoFit/>
          </a:bodyPr>
          <a:lstStyle/>
          <a:p>
            <a:pPr>
              <a:lnSpc>
                <a:spcPts val="2800"/>
              </a:lnSpc>
              <a:spcBef>
                <a:spcPts val="1200"/>
              </a:spcBef>
            </a:pPr>
            <a:r>
              <a:rPr lang="en-US" altLang="zh-CN" sz="2400" dirty="0" smtClean="0">
                <a:latin typeface="宋体" panose="02010600030101010101" pitchFamily="2" charset="-122"/>
                <a:ea typeface="宋体" panose="02010600030101010101" pitchFamily="2" charset="-122"/>
              </a:rPr>
              <a:t>4. </a:t>
            </a:r>
            <a:r>
              <a:rPr lang="zh-CN" altLang="en-US" sz="2400" dirty="0" smtClean="0">
                <a:latin typeface="宋体" panose="02010600030101010101" pitchFamily="2" charset="-122"/>
                <a:ea typeface="宋体" panose="02010600030101010101" pitchFamily="2" charset="-122"/>
              </a:rPr>
              <a:t>为什么要进行动态调度？ </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第二个问题</a:t>
            </a:r>
            <a:endParaRPr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2255611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28660" y="548494"/>
            <a:ext cx="10972800" cy="1904150"/>
          </a:xfrm>
        </p:spPr>
        <p:txBody>
          <a:bodyPr>
            <a:normAutofit/>
          </a:bodyPr>
          <a:lstStyle/>
          <a:p>
            <a:pPr marL="0" lvl="0" indent="317500">
              <a:lnSpc>
                <a:spcPct val="100000"/>
              </a:lnSpc>
              <a:spcBef>
                <a:spcPct val="0"/>
              </a:spcBef>
              <a:buClrTx/>
              <a:buNone/>
            </a:pPr>
            <a:r>
              <a:rPr kumimoji="0" lang="zh-CN" altLang="zh-CN" sz="18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rPr>
              <a:t>但是如果进行指令动态调度呢？恐怕是这样的：</a:t>
            </a:r>
            <a:endParaRPr kumimoji="0" lang="en-US" altLang="zh-CN" sz="18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endParaRPr>
          </a:p>
          <a:p>
            <a:pPr marL="0" lvl="0" indent="317500">
              <a:lnSpc>
                <a:spcPct val="100000"/>
              </a:lnSpc>
              <a:spcBef>
                <a:spcPct val="0"/>
              </a:spcBef>
              <a:buClrTx/>
              <a:buNone/>
            </a:pPr>
            <a:endParaRPr kumimoji="0" lang="en-US" altLang="zh-CN" sz="2000" kern="1200" dirty="0">
              <a:solidFill>
                <a:srgbClr val="181E33"/>
              </a:solidFill>
              <a:latin typeface="宋体" panose="02010600030101010101" pitchFamily="2" charset="-122"/>
              <a:ea typeface="宋体" panose="02010600030101010101" pitchFamily="2" charset="-122"/>
            </a:endParaRPr>
          </a:p>
          <a:p>
            <a:pPr marL="0" lvl="0" indent="317500">
              <a:lnSpc>
                <a:spcPct val="100000"/>
              </a:lnSpc>
              <a:spcBef>
                <a:spcPct val="0"/>
              </a:spcBef>
              <a:buClrTx/>
              <a:buNone/>
            </a:pPr>
            <a:endParaRPr kumimoji="0" lang="en-US" altLang="zh-CN" sz="2000" kern="1200" dirty="0" smtClean="0">
              <a:solidFill>
                <a:srgbClr val="181E33"/>
              </a:solidFill>
              <a:latin typeface="宋体" panose="02010600030101010101" pitchFamily="2" charset="-122"/>
              <a:ea typeface="宋体" panose="02010600030101010101" pitchFamily="2" charset="-122"/>
            </a:endParaRPr>
          </a:p>
          <a:p>
            <a:pPr marL="0" lvl="0" indent="317500">
              <a:lnSpc>
                <a:spcPct val="100000"/>
              </a:lnSpc>
              <a:spcBef>
                <a:spcPct val="0"/>
              </a:spcBef>
              <a:buClrTx/>
              <a:buNone/>
            </a:pPr>
            <a:endParaRPr kumimoji="0" lang="en-US" altLang="zh-CN" sz="2000" kern="1200" noProof="0" dirty="0" smtClean="0">
              <a:solidFill>
                <a:srgbClr val="181E33"/>
              </a:solidFill>
              <a:latin typeface="宋体" panose="02010600030101010101" pitchFamily="2" charset="-122"/>
              <a:ea typeface="宋体" panose="02010600030101010101" pitchFamily="2" charset="-122"/>
            </a:endParaRPr>
          </a:p>
          <a:p>
            <a:pPr marL="0" lvl="0" indent="317500">
              <a:lnSpc>
                <a:spcPct val="100000"/>
              </a:lnSpc>
              <a:spcBef>
                <a:spcPct val="0"/>
              </a:spcBef>
              <a:buClrTx/>
              <a:buNone/>
            </a:pPr>
            <a:r>
              <a:rPr kumimoji="0" lang="zh-CN" altLang="zh-CN" sz="2000" b="0" i="0" u="none" strike="noStrike" kern="1200" cap="none" spc="0" normalizeH="0" baseline="0" noProof="0" dirty="0" smtClean="0">
                <a:ln>
                  <a:noFill/>
                </a:ln>
                <a:solidFill>
                  <a:srgbClr val="181E33"/>
                </a:solidFill>
                <a:effectLst/>
                <a:uLnTx/>
                <a:uFillTx/>
                <a:latin typeface="Arial" panose="020B0604020202020204" pitchFamily="34" charset="0"/>
                <a:ea typeface="PingFangSC"/>
              </a:rPr>
              <a:t> </a:t>
            </a:r>
            <a:endParaRPr kumimoji="0" lang="zh-CN" altLang="zh-CN" sz="2000" kern="1200" dirty="0">
              <a:solidFill>
                <a:srgbClr val="40458C"/>
              </a:solidFill>
              <a:latin typeface="Arial" panose="020B0604020202020204" pitchFamily="34" charset="0"/>
            </a:endParaRPr>
          </a:p>
          <a:p>
            <a:pPr marL="0" lvl="0" indent="317500">
              <a:lnSpc>
                <a:spcPct val="100000"/>
              </a:lnSpc>
              <a:spcBef>
                <a:spcPct val="0"/>
              </a:spcBef>
              <a:buClrTx/>
              <a:buNone/>
            </a:pPr>
            <a:endParaRPr kumimoji="0" lang="en-US"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endParaRPr>
          </a:p>
          <a:p>
            <a:pPr marL="0" lvl="0" indent="317500">
              <a:lnSpc>
                <a:spcPct val="100000"/>
              </a:lnSpc>
              <a:spcBef>
                <a:spcPct val="0"/>
              </a:spcBef>
              <a:buClrTx/>
              <a:buNone/>
            </a:pPr>
            <a:endParaRPr lang="en-US" altLang="zh-CN" sz="2000" dirty="0">
              <a:solidFill>
                <a:srgbClr val="181E33"/>
              </a:solidFill>
              <a:latin typeface="宋体" panose="02010600030101010101" pitchFamily="2" charset="-122"/>
              <a:ea typeface="宋体" panose="02010600030101010101" pitchFamily="2" charset="-122"/>
            </a:endParaRPr>
          </a:p>
          <a:p>
            <a:pPr marL="0" lvl="0" indent="317500">
              <a:lnSpc>
                <a:spcPct val="100000"/>
              </a:lnSpc>
              <a:spcBef>
                <a:spcPct val="0"/>
              </a:spcBef>
              <a:buClrTx/>
              <a:buNone/>
            </a:pPr>
            <a:endParaRPr kumimoji="0" lang="en-US" altLang="zh-CN" sz="2000" b="0" i="0" u="none" strike="noStrike" kern="1200" cap="none" spc="0" normalizeH="0" baseline="0" noProof="0" dirty="0" smtClean="0">
              <a:ln>
                <a:noFill/>
              </a:ln>
              <a:solidFill>
                <a:srgbClr val="181E33"/>
              </a:solidFill>
              <a:effectLst/>
              <a:uLnTx/>
              <a:uFillTx/>
              <a:latin typeface="宋体" panose="02010600030101010101" pitchFamily="2" charset="-122"/>
              <a:ea typeface="宋体" panose="02010600030101010101" pitchFamily="2" charset="-122"/>
            </a:endParaRPr>
          </a:p>
          <a:p>
            <a:pPr marL="0" lvl="0" indent="317500">
              <a:lnSpc>
                <a:spcPct val="100000"/>
              </a:lnSpc>
              <a:spcBef>
                <a:spcPct val="0"/>
              </a:spcBef>
              <a:buClrTx/>
              <a:buNone/>
            </a:pPr>
            <a:endParaRPr lang="en-US" altLang="zh-CN" sz="2000" dirty="0">
              <a:solidFill>
                <a:srgbClr val="181E33"/>
              </a:solidFill>
              <a:latin typeface="宋体" panose="02010600030101010101" pitchFamily="2" charset="-122"/>
              <a:ea typeface="宋体" panose="02010600030101010101" pitchFamily="2" charset="-122"/>
            </a:endParaRPr>
          </a:p>
          <a:p>
            <a:pPr marL="0" indent="0">
              <a:buNone/>
            </a:pPr>
            <a:endParaRPr lang="zh-CN" altLang="en-US" dirty="0"/>
          </a:p>
        </p:txBody>
      </p:sp>
      <p:pic>
        <p:nvPicPr>
          <p:cNvPr id="34818" name="Picture 2" descr="https://p.ananas.chaoxing.com/star3/origin/652ad0574c92edf12ebe87b7338809f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526" y="1125827"/>
            <a:ext cx="6305672" cy="975946"/>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535877" y="2756936"/>
            <a:ext cx="9881446" cy="1585114"/>
          </a:xfrm>
          <a:prstGeom prst="rect">
            <a:avLst/>
          </a:prstGeom>
        </p:spPr>
        <p:txBody>
          <a:bodyPr wrap="square">
            <a:spAutoFit/>
          </a:bodyPr>
          <a:lstStyle/>
          <a:p>
            <a:pPr lvl="0" indent="317500">
              <a:lnSpc>
                <a:spcPts val="3000"/>
              </a:lnSpc>
              <a:spcBef>
                <a:spcPct val="0"/>
              </a:spcBef>
            </a:pPr>
            <a:r>
              <a:rPr lang="zh-CN" altLang="zh-CN" dirty="0">
                <a:solidFill>
                  <a:srgbClr val="181E33"/>
                </a:solidFill>
                <a:latin typeface="宋体" panose="02010600030101010101" pitchFamily="2" charset="-122"/>
                <a:ea typeface="宋体" panose="02010600030101010101" pitchFamily="2" charset="-122"/>
              </a:rPr>
              <a:t>指令3先写入F6， 指令2后读出F6，就产生了错误的执行结果。</a:t>
            </a:r>
            <a:endParaRPr lang="zh-CN" altLang="zh-CN" dirty="0">
              <a:solidFill>
                <a:srgbClr val="40458C"/>
              </a:solidFill>
            </a:endParaRPr>
          </a:p>
          <a:p>
            <a:pPr lvl="0" indent="317500">
              <a:lnSpc>
                <a:spcPts val="3000"/>
              </a:lnSpc>
              <a:spcBef>
                <a:spcPct val="0"/>
              </a:spcBef>
            </a:pPr>
            <a:endParaRPr lang="en-US" altLang="zh-CN" dirty="0">
              <a:solidFill>
                <a:srgbClr val="181E33"/>
              </a:solidFill>
              <a:latin typeface="宋体" panose="02010600030101010101" pitchFamily="2" charset="-122"/>
              <a:ea typeface="宋体" panose="02010600030101010101" pitchFamily="2" charset="-122"/>
            </a:endParaRPr>
          </a:p>
          <a:p>
            <a:pPr lvl="0" indent="317500">
              <a:lnSpc>
                <a:spcPts val="3000"/>
              </a:lnSpc>
              <a:spcBef>
                <a:spcPct val="0"/>
              </a:spcBef>
            </a:pPr>
            <a:r>
              <a:rPr lang="zh-CN" altLang="zh-CN" dirty="0">
                <a:solidFill>
                  <a:srgbClr val="181E33"/>
                </a:solidFill>
                <a:latin typeface="宋体" panose="02010600030101010101" pitchFamily="2" charset="-122"/>
                <a:ea typeface="宋体" panose="02010600030101010101" pitchFamily="2" charset="-122"/>
              </a:rPr>
              <a:t>也就是说，指令的动态调度导致了指令的乱序执行，指令的乱序执行导致了有反相关和输出相关的指令进入流水线之后产生</a:t>
            </a:r>
            <a:r>
              <a:rPr lang="zh-CN" altLang="zh-CN" dirty="0">
                <a:solidFill>
                  <a:srgbClr val="FF0000"/>
                </a:solidFill>
                <a:latin typeface="宋体" panose="02010600030101010101" pitchFamily="2" charset="-122"/>
                <a:ea typeface="宋体" panose="02010600030101010101" pitchFamily="2" charset="-122"/>
              </a:rPr>
              <a:t>读后写</a:t>
            </a:r>
            <a:r>
              <a:rPr lang="zh-CN" altLang="zh-CN" dirty="0">
                <a:solidFill>
                  <a:srgbClr val="181E33"/>
                </a:solidFill>
                <a:latin typeface="宋体" panose="02010600030101010101" pitchFamily="2" charset="-122"/>
                <a:ea typeface="宋体" panose="02010600030101010101" pitchFamily="2" charset="-122"/>
              </a:rPr>
              <a:t>冲突和</a:t>
            </a:r>
            <a:r>
              <a:rPr lang="zh-CN" altLang="zh-CN" dirty="0">
                <a:solidFill>
                  <a:srgbClr val="FF0000"/>
                </a:solidFill>
                <a:latin typeface="宋体" panose="02010600030101010101" pitchFamily="2" charset="-122"/>
                <a:ea typeface="宋体" panose="02010600030101010101" pitchFamily="2" charset="-122"/>
              </a:rPr>
              <a:t>写后写</a:t>
            </a:r>
            <a:r>
              <a:rPr lang="zh-CN" altLang="zh-CN" dirty="0">
                <a:solidFill>
                  <a:srgbClr val="181E33"/>
                </a:solidFill>
                <a:latin typeface="宋体" panose="02010600030101010101" pitchFamily="2" charset="-122"/>
                <a:ea typeface="宋体" panose="02010600030101010101" pitchFamily="2" charset="-122"/>
              </a:rPr>
              <a:t>冲突。</a:t>
            </a:r>
            <a:endParaRPr lang="zh-CN" altLang="zh-CN" dirty="0">
              <a:solidFill>
                <a:srgbClr val="181E33"/>
              </a:solidFill>
              <a:latin typeface="Arial" panose="020B0604020202020204" pitchFamily="34" charset="0"/>
              <a:ea typeface="PingFangSC"/>
            </a:endParaRPr>
          </a:p>
        </p:txBody>
      </p:sp>
      <p:sp>
        <p:nvSpPr>
          <p:cNvPr id="7" name="矩形 6"/>
          <p:cNvSpPr/>
          <p:nvPr/>
        </p:nvSpPr>
        <p:spPr>
          <a:xfrm>
            <a:off x="7149198" y="1281630"/>
            <a:ext cx="2572284" cy="437877"/>
          </a:xfrm>
          <a:prstGeom prst="rect">
            <a:avLst/>
          </a:prstGeom>
        </p:spPr>
        <p:txBody>
          <a:bodyPr wrap="square">
            <a:spAutoFit/>
          </a:bodyPr>
          <a:lstStyle/>
          <a:p>
            <a:pPr lvl="0" indent="317500">
              <a:lnSpc>
                <a:spcPts val="3000"/>
              </a:lnSpc>
              <a:spcBef>
                <a:spcPct val="0"/>
              </a:spcBef>
            </a:pPr>
            <a:r>
              <a:rPr lang="zh-CN" altLang="en-US" dirty="0" smtClean="0">
                <a:solidFill>
                  <a:srgbClr val="181E33"/>
                </a:solidFill>
                <a:latin typeface="宋体" panose="02010600030101010101" pitchFamily="2" charset="-122"/>
                <a:ea typeface="宋体" panose="02010600030101010101" pitchFamily="2" charset="-122"/>
              </a:rPr>
              <a:t>请思考：有没有问题？</a:t>
            </a:r>
            <a:endParaRPr lang="zh-CN" altLang="zh-CN" dirty="0">
              <a:solidFill>
                <a:srgbClr val="40458C"/>
              </a:solidFill>
            </a:endParaRPr>
          </a:p>
        </p:txBody>
      </p:sp>
    </p:spTree>
    <p:extLst>
      <p:ext uri="{BB962C8B-B14F-4D97-AF65-F5344CB8AC3E}">
        <p14:creationId xmlns:p14="http://schemas.microsoft.com/office/powerpoint/2010/main" val="38259677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1349088" y="1116444"/>
            <a:ext cx="10966939" cy="4664302"/>
          </a:xfrm>
        </p:spPr>
        <p:txBody>
          <a:bodyPr/>
          <a:lstStyle/>
          <a:p>
            <a:pPr marL="0" indent="0">
              <a:buNone/>
            </a:pPr>
            <a:r>
              <a:rPr lang="zh-CN" altLang="en-US" sz="2000" b="0" i="0" dirty="0" smtClean="0">
                <a:solidFill>
                  <a:srgbClr val="181E33"/>
                </a:solidFill>
                <a:effectLst/>
                <a:latin typeface="宋体" panose="02010600030101010101" pitchFamily="2" charset="-122"/>
                <a:ea typeface="宋体" panose="02010600030101010101" pitchFamily="2" charset="-122"/>
              </a:rPr>
              <a:t>采用寄存器换名技术，消除名相关。</a:t>
            </a:r>
            <a:endParaRPr lang="en-US" altLang="zh-CN" sz="2000" b="0" i="0" dirty="0" smtClean="0">
              <a:solidFill>
                <a:srgbClr val="181E33"/>
              </a:solidFill>
              <a:effectLst/>
              <a:latin typeface="宋体" panose="02010600030101010101" pitchFamily="2" charset="-122"/>
              <a:ea typeface="宋体" panose="02010600030101010101" pitchFamily="2" charset="-122"/>
            </a:endParaRPr>
          </a:p>
          <a:p>
            <a:pPr marL="0" indent="627063">
              <a:lnSpc>
                <a:spcPts val="3000"/>
              </a:lnSpc>
              <a:spcBef>
                <a:spcPts val="0"/>
              </a:spcBef>
              <a:buNone/>
            </a:pPr>
            <a:r>
              <a:rPr lang="zh-CN" altLang="en-US" sz="2000" b="0" i="0" dirty="0" smtClean="0">
                <a:solidFill>
                  <a:srgbClr val="181E33"/>
                </a:solidFill>
                <a:effectLst/>
                <a:latin typeface="PingFangSC"/>
              </a:rPr>
              <a:t/>
            </a:r>
            <a:br>
              <a:rPr lang="zh-CN" altLang="en-US" sz="2000" b="0" i="0" dirty="0" smtClean="0">
                <a:solidFill>
                  <a:srgbClr val="181E33"/>
                </a:solidFill>
                <a:effectLst/>
                <a:latin typeface="PingFangSC"/>
              </a:rPr>
            </a:br>
            <a:r>
              <a:rPr lang="zh-CN" altLang="en-US" sz="2000" dirty="0">
                <a:solidFill>
                  <a:srgbClr val="181E33"/>
                </a:solidFill>
                <a:latin typeface="宋体" panose="02010600030101010101" pitchFamily="2" charset="-122"/>
                <a:ea typeface="宋体" panose="02010600030101010101" pitchFamily="2" charset="-122"/>
              </a:rPr>
              <a:t>于是下面这段代码：</a:t>
            </a:r>
            <a:r>
              <a:rPr lang="zh-CN" altLang="en-US" sz="2000" b="0" i="0" dirty="0" smtClean="0">
                <a:solidFill>
                  <a:srgbClr val="181E33"/>
                </a:solidFill>
                <a:effectLst/>
                <a:latin typeface="宋体" panose="02010600030101010101" pitchFamily="2" charset="-122"/>
                <a:ea typeface="宋体" panose="02010600030101010101" pitchFamily="2" charset="-122"/>
              </a:rPr>
              <a:t/>
            </a:r>
            <a:br>
              <a:rPr lang="zh-CN" altLang="en-US" sz="2000" b="0" i="0" dirty="0" smtClean="0">
                <a:solidFill>
                  <a:srgbClr val="181E33"/>
                </a:solidFill>
                <a:effectLst/>
                <a:latin typeface="宋体" panose="02010600030101010101" pitchFamily="2" charset="-122"/>
                <a:ea typeface="宋体" panose="02010600030101010101" pitchFamily="2" charset="-122"/>
              </a:rPr>
            </a:br>
            <a:r>
              <a:rPr lang="zh-CN" altLang="en-US" sz="2000" b="0" i="0" dirty="0" smtClean="0">
                <a:solidFill>
                  <a:srgbClr val="181E33"/>
                </a:solidFill>
                <a:effectLst/>
                <a:latin typeface="宋体" panose="02010600030101010101" pitchFamily="2" charset="-122"/>
                <a:ea typeface="宋体" panose="02010600030101010101" pitchFamily="2" charset="-122"/>
              </a:rPr>
              <a:t>     指令</a:t>
            </a:r>
            <a:r>
              <a:rPr lang="en-US" altLang="zh-CN" sz="2000" b="0" i="0" dirty="0" smtClean="0">
                <a:solidFill>
                  <a:srgbClr val="181E33"/>
                </a:solidFill>
                <a:effectLst/>
                <a:latin typeface="宋体" panose="02010600030101010101" pitchFamily="2" charset="-122"/>
                <a:ea typeface="宋体" panose="02010600030101010101" pitchFamily="2" charset="-122"/>
              </a:rPr>
              <a:t>1   </a:t>
            </a:r>
            <a:r>
              <a:rPr lang="en-US" altLang="zh-CN" sz="2000" dirty="0">
                <a:solidFill>
                  <a:srgbClr val="181E33"/>
                </a:solidFill>
                <a:latin typeface="宋体" panose="02010600030101010101" pitchFamily="2" charset="-122"/>
                <a:ea typeface="宋体" panose="02010600030101010101" pitchFamily="2" charset="-122"/>
              </a:rPr>
              <a:t>DIV.D</a:t>
            </a:r>
            <a:r>
              <a:rPr lang="en-US" altLang="zh-CN" sz="2000" b="0" i="0" dirty="0" smtClean="0">
                <a:solidFill>
                  <a:srgbClr val="181E33"/>
                </a:solidFill>
                <a:effectLst/>
                <a:latin typeface="宋体" panose="02010600030101010101" pitchFamily="2" charset="-122"/>
                <a:ea typeface="宋体" panose="02010600030101010101" pitchFamily="2" charset="-122"/>
              </a:rPr>
              <a:t>  </a:t>
            </a:r>
            <a:r>
              <a:rPr lang="en-US" altLang="zh-CN" sz="2000" b="0" i="0" dirty="0" smtClean="0">
                <a:solidFill>
                  <a:srgbClr val="FF0000"/>
                </a:solidFill>
                <a:effectLst/>
                <a:latin typeface="宋体" panose="02010600030101010101" pitchFamily="2" charset="-122"/>
                <a:ea typeface="宋体" panose="02010600030101010101" pitchFamily="2" charset="-122"/>
              </a:rPr>
              <a:t>F4</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181E33"/>
                </a:solidFill>
                <a:effectLst/>
                <a:latin typeface="宋体" panose="02010600030101010101" pitchFamily="2" charset="-122"/>
                <a:ea typeface="宋体" panose="02010600030101010101" pitchFamily="2" charset="-122"/>
              </a:rPr>
              <a:t>F0</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181E33"/>
                </a:solidFill>
                <a:effectLst/>
                <a:latin typeface="宋体" panose="02010600030101010101" pitchFamily="2" charset="-122"/>
                <a:ea typeface="宋体" panose="02010600030101010101" pitchFamily="2" charset="-122"/>
              </a:rPr>
              <a:t>F2</a:t>
            </a:r>
            <a:endParaRPr lang="en-US" altLang="zh-CN" sz="2000" b="0" i="0" dirty="0" smtClean="0">
              <a:solidFill>
                <a:srgbClr val="181E33"/>
              </a:solidFill>
              <a:effectLst/>
              <a:latin typeface="PingFangSC"/>
            </a:endParaRPr>
          </a:p>
          <a:p>
            <a:pPr marL="0" indent="627063">
              <a:lnSpc>
                <a:spcPts val="3000"/>
              </a:lnSpc>
              <a:spcBef>
                <a:spcPts val="0"/>
              </a:spcBef>
              <a:buNone/>
            </a:pPr>
            <a:r>
              <a:rPr lang="zh-CN" altLang="en-US" sz="2000" b="0" i="0" dirty="0" smtClean="0">
                <a:solidFill>
                  <a:srgbClr val="181E33"/>
                </a:solidFill>
                <a:effectLst/>
                <a:latin typeface="宋体" panose="02010600030101010101" pitchFamily="2" charset="-122"/>
                <a:ea typeface="宋体" panose="02010600030101010101" pitchFamily="2" charset="-122"/>
              </a:rPr>
              <a:t>指令</a:t>
            </a:r>
            <a:r>
              <a:rPr lang="en-US" altLang="zh-CN" sz="2000" b="0" i="0" dirty="0" smtClean="0">
                <a:solidFill>
                  <a:srgbClr val="181E33"/>
                </a:solidFill>
                <a:effectLst/>
                <a:latin typeface="宋体" panose="02010600030101010101" pitchFamily="2" charset="-122"/>
                <a:ea typeface="宋体" panose="02010600030101010101" pitchFamily="2" charset="-122"/>
              </a:rPr>
              <a:t>2   SUB.D  F10</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FF0000"/>
                </a:solidFill>
                <a:effectLst/>
                <a:latin typeface="宋体" panose="02010600030101010101" pitchFamily="2" charset="-122"/>
                <a:ea typeface="宋体" panose="02010600030101010101" pitchFamily="2" charset="-122"/>
              </a:rPr>
              <a:t>F4</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00B050"/>
                </a:solidFill>
                <a:effectLst/>
                <a:latin typeface="宋体" panose="02010600030101010101" pitchFamily="2" charset="-122"/>
                <a:ea typeface="宋体" panose="02010600030101010101" pitchFamily="2" charset="-122"/>
              </a:rPr>
              <a:t>F6</a:t>
            </a:r>
            <a:endParaRPr lang="en-US" altLang="zh-CN" sz="2000" b="0" i="0" dirty="0" smtClean="0">
              <a:solidFill>
                <a:srgbClr val="181E33"/>
              </a:solidFill>
              <a:effectLst/>
              <a:latin typeface="PingFangSC"/>
            </a:endParaRPr>
          </a:p>
          <a:p>
            <a:pPr marL="0" indent="627063">
              <a:lnSpc>
                <a:spcPts val="3000"/>
              </a:lnSpc>
              <a:spcBef>
                <a:spcPts val="0"/>
              </a:spcBef>
              <a:buNone/>
            </a:pPr>
            <a:r>
              <a:rPr lang="zh-CN" altLang="en-US" sz="2000" b="0" i="0" dirty="0" smtClean="0">
                <a:solidFill>
                  <a:srgbClr val="181E33"/>
                </a:solidFill>
                <a:effectLst/>
                <a:latin typeface="宋体" panose="02010600030101010101" pitchFamily="2" charset="-122"/>
                <a:ea typeface="宋体" panose="02010600030101010101" pitchFamily="2" charset="-122"/>
              </a:rPr>
              <a:t>指令</a:t>
            </a:r>
            <a:r>
              <a:rPr lang="en-US" altLang="zh-CN" sz="2000" b="0" i="0" dirty="0" smtClean="0">
                <a:solidFill>
                  <a:srgbClr val="181E33"/>
                </a:solidFill>
                <a:effectLst/>
                <a:latin typeface="宋体" panose="02010600030101010101" pitchFamily="2" charset="-122"/>
                <a:ea typeface="宋体" panose="02010600030101010101" pitchFamily="2" charset="-122"/>
              </a:rPr>
              <a:t>3   ADD.D  </a:t>
            </a:r>
            <a:r>
              <a:rPr lang="en-US" altLang="zh-CN" sz="2000" b="0" i="0" dirty="0" smtClean="0">
                <a:solidFill>
                  <a:srgbClr val="00B050"/>
                </a:solidFill>
                <a:effectLst/>
                <a:latin typeface="宋体" panose="02010600030101010101" pitchFamily="2" charset="-122"/>
                <a:ea typeface="宋体" panose="02010600030101010101" pitchFamily="2" charset="-122"/>
              </a:rPr>
              <a:t>F6</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181E33"/>
                </a:solidFill>
                <a:effectLst/>
                <a:latin typeface="宋体" panose="02010600030101010101" pitchFamily="2" charset="-122"/>
                <a:ea typeface="宋体" panose="02010600030101010101" pitchFamily="2" charset="-122"/>
              </a:rPr>
              <a:t>F12</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181E33"/>
                </a:solidFill>
                <a:effectLst/>
                <a:latin typeface="宋体" panose="02010600030101010101" pitchFamily="2" charset="-122"/>
                <a:ea typeface="宋体" panose="02010600030101010101" pitchFamily="2" charset="-122"/>
              </a:rPr>
              <a:t>F14</a:t>
            </a:r>
          </a:p>
          <a:p>
            <a:pPr marL="0" indent="0">
              <a:lnSpc>
                <a:spcPts val="3000"/>
              </a:lnSpc>
              <a:spcBef>
                <a:spcPts val="0"/>
              </a:spcBef>
              <a:buNone/>
            </a:pPr>
            <a:endParaRPr lang="en-US" altLang="zh-CN" sz="2000" b="0" i="0" dirty="0" smtClean="0">
              <a:solidFill>
                <a:srgbClr val="181E33"/>
              </a:solidFill>
              <a:effectLst/>
              <a:latin typeface="PingFangSC"/>
            </a:endParaRPr>
          </a:p>
          <a:p>
            <a:pPr marL="0" indent="0">
              <a:lnSpc>
                <a:spcPts val="3000"/>
              </a:lnSpc>
              <a:spcBef>
                <a:spcPts val="0"/>
              </a:spcBef>
              <a:buNone/>
            </a:pPr>
            <a:r>
              <a:rPr lang="zh-CN" altLang="en-US" sz="2000" b="0" i="0" dirty="0" smtClean="0">
                <a:solidFill>
                  <a:srgbClr val="181E33"/>
                </a:solidFill>
                <a:effectLst/>
                <a:latin typeface="宋体" panose="02010600030101010101" pitchFamily="2" charset="-122"/>
                <a:ea typeface="宋体" panose="02010600030101010101" pitchFamily="2" charset="-122"/>
              </a:rPr>
              <a:t>可以变成：</a:t>
            </a:r>
            <a:endParaRPr lang="zh-CN" altLang="en-US" sz="2000" b="0" i="0" dirty="0" smtClean="0">
              <a:solidFill>
                <a:srgbClr val="181E33"/>
              </a:solidFill>
              <a:effectLst/>
              <a:latin typeface="PingFangSC"/>
            </a:endParaRPr>
          </a:p>
          <a:p>
            <a:pPr marL="0" indent="627063">
              <a:lnSpc>
                <a:spcPts val="3000"/>
              </a:lnSpc>
              <a:spcBef>
                <a:spcPts val="0"/>
              </a:spcBef>
              <a:buNone/>
            </a:pPr>
            <a:r>
              <a:rPr lang="zh-CN" altLang="en-US" sz="2000" b="0" i="0" dirty="0" smtClean="0">
                <a:solidFill>
                  <a:srgbClr val="181E33"/>
                </a:solidFill>
                <a:effectLst/>
                <a:latin typeface="宋体" panose="02010600030101010101" pitchFamily="2" charset="-122"/>
                <a:ea typeface="宋体" panose="02010600030101010101" pitchFamily="2" charset="-122"/>
              </a:rPr>
              <a:t>指令</a:t>
            </a:r>
            <a:r>
              <a:rPr lang="en-US" altLang="zh-CN" sz="2000" b="0" i="0" dirty="0" smtClean="0">
                <a:solidFill>
                  <a:srgbClr val="181E33"/>
                </a:solidFill>
                <a:effectLst/>
                <a:latin typeface="宋体" panose="02010600030101010101" pitchFamily="2" charset="-122"/>
                <a:ea typeface="宋体" panose="02010600030101010101" pitchFamily="2" charset="-122"/>
              </a:rPr>
              <a:t>1   DIV.D  </a:t>
            </a:r>
            <a:r>
              <a:rPr lang="en-US" altLang="zh-CN" sz="2000" b="0" i="0" dirty="0" smtClean="0">
                <a:solidFill>
                  <a:srgbClr val="FF0000"/>
                </a:solidFill>
                <a:effectLst/>
                <a:latin typeface="宋体" panose="02010600030101010101" pitchFamily="2" charset="-122"/>
                <a:ea typeface="宋体" panose="02010600030101010101" pitchFamily="2" charset="-122"/>
              </a:rPr>
              <a:t>F4</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181E33"/>
                </a:solidFill>
                <a:effectLst/>
                <a:latin typeface="宋体" panose="02010600030101010101" pitchFamily="2" charset="-122"/>
                <a:ea typeface="宋体" panose="02010600030101010101" pitchFamily="2" charset="-122"/>
              </a:rPr>
              <a:t>F0</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181E33"/>
                </a:solidFill>
                <a:effectLst/>
                <a:latin typeface="宋体" panose="02010600030101010101" pitchFamily="2" charset="-122"/>
                <a:ea typeface="宋体" panose="02010600030101010101" pitchFamily="2" charset="-122"/>
              </a:rPr>
              <a:t>F2</a:t>
            </a:r>
            <a:endParaRPr lang="en-US" altLang="zh-CN" sz="2000" b="0" i="0" dirty="0" smtClean="0">
              <a:solidFill>
                <a:srgbClr val="181E33"/>
              </a:solidFill>
              <a:effectLst/>
              <a:latin typeface="PingFangSC"/>
            </a:endParaRPr>
          </a:p>
          <a:p>
            <a:pPr marL="0" indent="627063">
              <a:lnSpc>
                <a:spcPts val="3000"/>
              </a:lnSpc>
              <a:spcBef>
                <a:spcPts val="0"/>
              </a:spcBef>
              <a:buNone/>
            </a:pPr>
            <a:r>
              <a:rPr lang="zh-CN" altLang="en-US" sz="2000" b="0" i="0" dirty="0" smtClean="0">
                <a:solidFill>
                  <a:srgbClr val="181E33"/>
                </a:solidFill>
                <a:effectLst/>
                <a:latin typeface="宋体" panose="02010600030101010101" pitchFamily="2" charset="-122"/>
                <a:ea typeface="宋体" panose="02010600030101010101" pitchFamily="2" charset="-122"/>
              </a:rPr>
              <a:t>指令</a:t>
            </a:r>
            <a:r>
              <a:rPr lang="en-US" altLang="zh-CN" sz="2000" b="0" i="0" dirty="0" smtClean="0">
                <a:solidFill>
                  <a:srgbClr val="181E33"/>
                </a:solidFill>
                <a:effectLst/>
                <a:latin typeface="宋体" panose="02010600030101010101" pitchFamily="2" charset="-122"/>
                <a:ea typeface="宋体" panose="02010600030101010101" pitchFamily="2" charset="-122"/>
              </a:rPr>
              <a:t>2   SUB.D  F10</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FF0000"/>
                </a:solidFill>
                <a:effectLst/>
                <a:latin typeface="宋体" panose="02010600030101010101" pitchFamily="2" charset="-122"/>
                <a:ea typeface="宋体" panose="02010600030101010101" pitchFamily="2" charset="-122"/>
              </a:rPr>
              <a:t>F4</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181E33"/>
                </a:solidFill>
                <a:effectLst/>
                <a:latin typeface="宋体" panose="02010600030101010101" pitchFamily="2" charset="-122"/>
                <a:ea typeface="宋体" panose="02010600030101010101" pitchFamily="2" charset="-122"/>
              </a:rPr>
              <a:t>S</a:t>
            </a:r>
            <a:endParaRPr lang="en-US" altLang="zh-CN" sz="2000" b="0" i="0" dirty="0" smtClean="0">
              <a:solidFill>
                <a:srgbClr val="181E33"/>
              </a:solidFill>
              <a:effectLst/>
              <a:latin typeface="PingFangSC"/>
            </a:endParaRPr>
          </a:p>
          <a:p>
            <a:pPr marL="0" indent="627063">
              <a:lnSpc>
                <a:spcPts val="3000"/>
              </a:lnSpc>
              <a:spcBef>
                <a:spcPts val="0"/>
              </a:spcBef>
              <a:buNone/>
            </a:pPr>
            <a:r>
              <a:rPr lang="zh-CN" altLang="en-US" sz="2000" b="0" i="0" dirty="0" smtClean="0">
                <a:solidFill>
                  <a:srgbClr val="181E33"/>
                </a:solidFill>
                <a:effectLst/>
                <a:latin typeface="宋体" panose="02010600030101010101" pitchFamily="2" charset="-122"/>
                <a:ea typeface="宋体" panose="02010600030101010101" pitchFamily="2" charset="-122"/>
              </a:rPr>
              <a:t>指令</a:t>
            </a:r>
            <a:r>
              <a:rPr lang="en-US" altLang="zh-CN" sz="2000" b="0" i="0" dirty="0" smtClean="0">
                <a:solidFill>
                  <a:srgbClr val="181E33"/>
                </a:solidFill>
                <a:effectLst/>
                <a:latin typeface="宋体" panose="02010600030101010101" pitchFamily="2" charset="-122"/>
                <a:ea typeface="宋体" panose="02010600030101010101" pitchFamily="2" charset="-122"/>
              </a:rPr>
              <a:t>3   ADD.D  </a:t>
            </a:r>
            <a:r>
              <a:rPr lang="en-US" altLang="zh-CN" sz="2000" b="0" i="0" dirty="0" smtClean="0">
                <a:solidFill>
                  <a:srgbClr val="00B050"/>
                </a:solidFill>
                <a:effectLst/>
                <a:latin typeface="宋体" panose="02010600030101010101" pitchFamily="2" charset="-122"/>
                <a:ea typeface="宋体" panose="02010600030101010101" pitchFamily="2" charset="-122"/>
              </a:rPr>
              <a:t>F6</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181E33"/>
                </a:solidFill>
                <a:effectLst/>
                <a:latin typeface="宋体" panose="02010600030101010101" pitchFamily="2" charset="-122"/>
                <a:ea typeface="宋体" panose="02010600030101010101" pitchFamily="2" charset="-122"/>
              </a:rPr>
              <a:t>F12</a:t>
            </a:r>
            <a:r>
              <a:rPr lang="zh-CN" altLang="en-US" sz="2000" b="0" i="0" dirty="0" smtClean="0">
                <a:solidFill>
                  <a:srgbClr val="181E33"/>
                </a:solidFill>
                <a:effectLst/>
                <a:latin typeface="宋体" panose="02010600030101010101" pitchFamily="2" charset="-122"/>
                <a:ea typeface="宋体" panose="02010600030101010101" pitchFamily="2" charset="-122"/>
              </a:rPr>
              <a:t>，</a:t>
            </a:r>
            <a:r>
              <a:rPr lang="en-US" altLang="zh-CN" sz="2000" b="0" i="0" dirty="0" smtClean="0">
                <a:solidFill>
                  <a:srgbClr val="181E33"/>
                </a:solidFill>
                <a:effectLst/>
                <a:latin typeface="宋体" panose="02010600030101010101" pitchFamily="2" charset="-122"/>
                <a:ea typeface="宋体" panose="02010600030101010101" pitchFamily="2" charset="-122"/>
              </a:rPr>
              <a:t>F14</a:t>
            </a:r>
            <a:endParaRPr lang="en-US" altLang="zh-CN" sz="2000" b="0" i="0" dirty="0" smtClean="0">
              <a:solidFill>
                <a:srgbClr val="181E33"/>
              </a:solidFill>
              <a:effectLst/>
              <a:latin typeface="PingFangSC"/>
            </a:endParaRPr>
          </a:p>
          <a:p>
            <a:pPr marL="0" indent="0">
              <a:lnSpc>
                <a:spcPts val="3000"/>
              </a:lnSpc>
              <a:spcBef>
                <a:spcPts val="0"/>
              </a:spcBef>
              <a:buNone/>
            </a:pPr>
            <a:endParaRPr lang="zh-CN" altLang="en-US" dirty="0"/>
          </a:p>
        </p:txBody>
      </p:sp>
      <p:sp>
        <p:nvSpPr>
          <p:cNvPr id="7" name="矩形 6"/>
          <p:cNvSpPr/>
          <p:nvPr/>
        </p:nvSpPr>
        <p:spPr>
          <a:xfrm>
            <a:off x="0" y="45004"/>
            <a:ext cx="2698176" cy="523220"/>
          </a:xfrm>
          <a:prstGeom prst="rect">
            <a:avLst/>
          </a:prstGeom>
        </p:spPr>
        <p:txBody>
          <a:bodyPr wrap="none">
            <a:spAutoFit/>
          </a:bodyPr>
          <a:lstStyle/>
          <a:p>
            <a:pPr lvl="0" algn="ctr"/>
            <a:r>
              <a:rPr lang="zh-CN" altLang="en-US" sz="2800" dirty="0" smtClean="0">
                <a:solidFill>
                  <a:srgbClr val="333333"/>
                </a:solidFill>
                <a:latin typeface="宋体" panose="02010600030101010101" pitchFamily="2" charset="-122"/>
                <a:ea typeface="宋体" panose="02010600030101010101" pitchFamily="2" charset="-122"/>
              </a:rPr>
              <a:t>解决第二个问题</a:t>
            </a:r>
            <a:endParaRPr lang="zh-CN" altLang="en-US" sz="2800" dirty="0">
              <a:solidFill>
                <a:srgbClr val="333333"/>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8075241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1027604" y="1033140"/>
            <a:ext cx="10133204" cy="5111286"/>
          </a:xfrm>
        </p:spPr>
        <p:txBody>
          <a:bodyPr>
            <a:normAutofit/>
          </a:bodyPr>
          <a:lstStyle/>
          <a:p>
            <a:pPr>
              <a:lnSpc>
                <a:spcPts val="3000"/>
              </a:lnSpc>
            </a:pPr>
            <a:r>
              <a:rPr lang="zh-CN" altLang="en-US" sz="2300" b="0" i="0" dirty="0" smtClean="0">
                <a:solidFill>
                  <a:srgbClr val="181E33"/>
                </a:solidFill>
                <a:effectLst/>
                <a:latin typeface="宋体" panose="02010600030101010101" pitchFamily="2" charset="-122"/>
                <a:ea typeface="宋体" panose="02010600030101010101" pitchFamily="2" charset="-122"/>
              </a:rPr>
              <a:t>相对于静态指令调度 ，动态指令调度是在指令的执行过程中进行调度，使得无关的指令得以先执行，减少阻塞；</a:t>
            </a:r>
            <a:endParaRPr lang="en-US" altLang="zh-CN" sz="2300" b="0" i="0" dirty="0" smtClean="0">
              <a:solidFill>
                <a:srgbClr val="181E33"/>
              </a:solidFill>
              <a:effectLst/>
              <a:latin typeface="宋体" panose="02010600030101010101" pitchFamily="2" charset="-122"/>
              <a:ea typeface="宋体" panose="02010600030101010101" pitchFamily="2" charset="-122"/>
            </a:endParaRPr>
          </a:p>
          <a:p>
            <a:pPr>
              <a:lnSpc>
                <a:spcPts val="3000"/>
              </a:lnSpc>
            </a:pPr>
            <a:r>
              <a:rPr lang="zh-CN" altLang="en-US" sz="2300" b="0" i="0" dirty="0" smtClean="0">
                <a:solidFill>
                  <a:srgbClr val="181E33"/>
                </a:solidFill>
                <a:effectLst/>
                <a:latin typeface="宋体" panose="02010600030101010101" pitchFamily="2" charset="-122"/>
                <a:ea typeface="宋体" panose="02010600030101010101" pitchFamily="2" charset="-122"/>
              </a:rPr>
              <a:t>能够处理一些在编译时情况不明的相关（如存储器访问的相关）；</a:t>
            </a:r>
            <a:endParaRPr lang="en-US" altLang="zh-CN" sz="2300" b="0" i="0" dirty="0" smtClean="0">
              <a:solidFill>
                <a:srgbClr val="181E33"/>
              </a:solidFill>
              <a:effectLst/>
              <a:latin typeface="宋体" panose="02010600030101010101" pitchFamily="2" charset="-122"/>
              <a:ea typeface="宋体" panose="02010600030101010101" pitchFamily="2" charset="-122"/>
            </a:endParaRPr>
          </a:p>
          <a:p>
            <a:pPr>
              <a:lnSpc>
                <a:spcPts val="3000"/>
              </a:lnSpc>
            </a:pPr>
            <a:r>
              <a:rPr lang="zh-CN" altLang="en-US" sz="2300" dirty="0" smtClean="0">
                <a:latin typeface="宋体" panose="02010600030101010101" pitchFamily="2" charset="-122"/>
                <a:ea typeface="宋体" panose="02010600030101010101" pitchFamily="2" charset="-122"/>
              </a:rPr>
              <a:t>能够</a:t>
            </a:r>
            <a:r>
              <a:rPr lang="zh-CN" altLang="en-US" sz="2300" dirty="0">
                <a:latin typeface="宋体" panose="02010600030101010101" pitchFamily="2" charset="-122"/>
                <a:ea typeface="宋体" panose="02010600030101010101" pitchFamily="2" charset="-122"/>
              </a:rPr>
              <a:t>使本来是面向某一流水线优化编译的代码在其他的流水线（动态调度）上也能高效地</a:t>
            </a:r>
            <a:r>
              <a:rPr lang="zh-CN" altLang="en-US" sz="2300" dirty="0" smtClean="0">
                <a:latin typeface="宋体" panose="02010600030101010101" pitchFamily="2" charset="-122"/>
                <a:ea typeface="宋体" panose="02010600030101010101" pitchFamily="2" charset="-122"/>
              </a:rPr>
              <a:t>执行</a:t>
            </a:r>
            <a:r>
              <a:rPr lang="zh-CN" altLang="en-US" sz="2300" dirty="0">
                <a:latin typeface="宋体" panose="02010600030101010101" pitchFamily="2" charset="-122"/>
                <a:ea typeface="宋体" panose="02010600030101010101" pitchFamily="2" charset="-122"/>
              </a:rPr>
              <a:t>；</a:t>
            </a:r>
            <a:endParaRPr lang="zh-CN" altLang="en-US" sz="2300" b="0" i="0" dirty="0" smtClean="0">
              <a:solidFill>
                <a:srgbClr val="181E33"/>
              </a:solidFill>
              <a:effectLst/>
              <a:latin typeface="宋体" panose="02010600030101010101" pitchFamily="2" charset="-122"/>
              <a:ea typeface="宋体" panose="02010600030101010101" pitchFamily="2" charset="-122"/>
            </a:endParaRPr>
          </a:p>
          <a:p>
            <a:pPr>
              <a:lnSpc>
                <a:spcPts val="3000"/>
              </a:lnSpc>
            </a:pPr>
            <a:r>
              <a:rPr lang="zh-CN" altLang="en-US" sz="2300" b="0" i="0" dirty="0" smtClean="0">
                <a:solidFill>
                  <a:srgbClr val="181E33"/>
                </a:solidFill>
                <a:effectLst/>
                <a:latin typeface="宋体" panose="02010600030101010101" pitchFamily="2" charset="-122"/>
                <a:ea typeface="宋体" panose="02010600030101010101" pitchFamily="2" charset="-122"/>
              </a:rPr>
              <a:t>动态指令调度将会引起指令乱序执行，因此，使用换名技术消除名相关（包括反相关和输出相关）；</a:t>
            </a:r>
          </a:p>
          <a:p>
            <a:pPr>
              <a:lnSpc>
                <a:spcPts val="3000"/>
              </a:lnSpc>
            </a:pPr>
            <a:r>
              <a:rPr lang="zh-CN" altLang="en-US" sz="2300" b="0" i="0" dirty="0" smtClean="0">
                <a:solidFill>
                  <a:srgbClr val="181E33"/>
                </a:solidFill>
                <a:effectLst/>
                <a:latin typeface="宋体" panose="02010600030101010101" pitchFamily="2" charset="-122"/>
                <a:ea typeface="宋体" panose="02010600030101010101" pitchFamily="2" charset="-122"/>
              </a:rPr>
              <a:t>指令乱序完成使得异常处理困难；</a:t>
            </a:r>
            <a:endParaRPr lang="en-US" altLang="zh-CN" sz="2300" b="0" i="0" dirty="0" smtClean="0">
              <a:solidFill>
                <a:srgbClr val="181E33"/>
              </a:solidFill>
              <a:effectLst/>
              <a:latin typeface="宋体" panose="02010600030101010101" pitchFamily="2" charset="-122"/>
              <a:ea typeface="宋体" panose="02010600030101010101" pitchFamily="2" charset="-122"/>
            </a:endParaRPr>
          </a:p>
          <a:p>
            <a:pPr>
              <a:lnSpc>
                <a:spcPts val="3000"/>
              </a:lnSpc>
            </a:pPr>
            <a:r>
              <a:rPr lang="zh-CN" altLang="en-US" sz="2300" dirty="0">
                <a:latin typeface="宋体" panose="02010600030101010101" pitchFamily="2" charset="-122"/>
                <a:ea typeface="宋体" panose="02010600030101010101" pitchFamily="2" charset="-122"/>
              </a:rPr>
              <a:t>以硬件复杂性的显著增加为</a:t>
            </a:r>
            <a:r>
              <a:rPr lang="zh-CN" altLang="en-US" sz="2300" dirty="0" smtClean="0">
                <a:latin typeface="宋体" panose="02010600030101010101" pitchFamily="2" charset="-122"/>
                <a:ea typeface="宋体" panose="02010600030101010101" pitchFamily="2" charset="-122"/>
              </a:rPr>
              <a:t>代价。</a:t>
            </a:r>
            <a:endParaRPr lang="zh-CN" altLang="en-US" sz="2300" dirty="0">
              <a:latin typeface="宋体" panose="02010600030101010101" pitchFamily="2" charset="-122"/>
              <a:ea typeface="宋体" panose="02010600030101010101" pitchFamily="2" charset="-122"/>
            </a:endParaRPr>
          </a:p>
          <a:p>
            <a:pPr>
              <a:buFont typeface="+mj-lt"/>
              <a:buAutoNum type="arabicPeriod"/>
            </a:pPr>
            <a:endParaRPr lang="zh-CN" altLang="en-US" sz="2000" b="0" i="0" dirty="0" smtClean="0">
              <a:solidFill>
                <a:srgbClr val="181E33"/>
              </a:solidFill>
              <a:effectLst/>
              <a:latin typeface="PingFangSC"/>
            </a:endParaRPr>
          </a:p>
          <a:p>
            <a:endParaRPr lang="zh-CN" altLang="en-US" sz="2000" dirty="0"/>
          </a:p>
        </p:txBody>
      </p:sp>
      <p:sp>
        <p:nvSpPr>
          <p:cNvPr id="8" name="矩形 7"/>
          <p:cNvSpPr/>
          <p:nvPr/>
        </p:nvSpPr>
        <p:spPr>
          <a:xfrm>
            <a:off x="215754" y="183678"/>
            <a:ext cx="3724096" cy="451406"/>
          </a:xfrm>
          <a:prstGeom prst="rect">
            <a:avLst/>
          </a:prstGeom>
        </p:spPr>
        <p:txBody>
          <a:bodyPr wrap="none">
            <a:spAutoFit/>
          </a:bodyPr>
          <a:lstStyle/>
          <a:p>
            <a:pPr>
              <a:lnSpc>
                <a:spcPts val="2800"/>
              </a:lnSpc>
              <a:spcBef>
                <a:spcPts val="1200"/>
              </a:spcBef>
            </a:pPr>
            <a:r>
              <a:rPr lang="en-US" altLang="zh-CN" sz="2400" dirty="0">
                <a:latin typeface="宋体" panose="02010600030101010101" pitchFamily="2" charset="-122"/>
                <a:ea typeface="宋体" panose="02010600030101010101" pitchFamily="2" charset="-122"/>
              </a:rPr>
              <a:t>4</a:t>
            </a:r>
            <a:r>
              <a:rPr lang="en-US" altLang="zh-CN" sz="2400" dirty="0" smtClean="0">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动态调度基本思想小结</a:t>
            </a:r>
            <a:endParaRPr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553565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049" y="0"/>
            <a:ext cx="6198577" cy="555477"/>
          </a:xfrm>
        </p:spPr>
        <p:txBody>
          <a:bodyPr>
            <a:normAutofit fontScale="90000"/>
          </a:bodyPr>
          <a:lstStyle/>
          <a:p>
            <a:r>
              <a:rPr lang="en-US" altLang="zh-CN" dirty="0" smtClean="0">
                <a:latin typeface="宋体" panose="02010600030101010101" pitchFamily="2" charset="-122"/>
                <a:ea typeface="宋体" panose="02010600030101010101" pitchFamily="2" charset="-122"/>
              </a:rPr>
              <a:t/>
            </a:r>
            <a:br>
              <a:rPr lang="en-US" altLang="zh-CN" dirty="0" smtClean="0">
                <a:latin typeface="宋体" panose="02010600030101010101" pitchFamily="2" charset="-122"/>
                <a:ea typeface="宋体" panose="02010600030101010101" pitchFamily="2" charset="-122"/>
              </a:rPr>
            </a:br>
            <a:r>
              <a:rPr lang="en-US" altLang="zh-CN" sz="3100" dirty="0" smtClean="0">
                <a:latin typeface="宋体" panose="02010600030101010101" pitchFamily="2" charset="-122"/>
                <a:ea typeface="宋体" panose="02010600030101010101" pitchFamily="2" charset="-122"/>
              </a:rPr>
              <a:t>3.3 Tomasulo</a:t>
            </a:r>
            <a:r>
              <a:rPr lang="zh-CN" altLang="en-US" sz="3100" dirty="0" smtClean="0">
                <a:latin typeface="宋体" panose="02010600030101010101" pitchFamily="2" charset="-122"/>
                <a:ea typeface="宋体" panose="02010600030101010101" pitchFamily="2" charset="-122"/>
              </a:rPr>
              <a:t>算法</a:t>
            </a:r>
            <a:br>
              <a:rPr lang="zh-CN" altLang="en-US" sz="3100" dirty="0" smtClean="0">
                <a:latin typeface="宋体" panose="02010600030101010101" pitchFamily="2" charset="-122"/>
                <a:ea typeface="宋体" panose="02010600030101010101" pitchFamily="2" charset="-122"/>
              </a:rPr>
            </a:br>
            <a:endParaRPr lang="zh-CN" altLang="en-US" sz="3100"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984052" y="1074635"/>
            <a:ext cx="6903715" cy="4525963"/>
          </a:xfrm>
        </p:spPr>
        <p:txBody>
          <a:bodyPr>
            <a:normAutofit/>
          </a:bodyPr>
          <a:lstStyle/>
          <a:p>
            <a:pPr marL="0" indent="0">
              <a:lnSpc>
                <a:spcPts val="3000"/>
              </a:lnSpc>
              <a:spcBef>
                <a:spcPts val="0"/>
              </a:spcBef>
              <a:buNone/>
            </a:pPr>
            <a:r>
              <a:rPr lang="zh-CN" altLang="en-US" sz="2400" dirty="0" smtClean="0"/>
              <a:t>知识要点：</a:t>
            </a:r>
            <a:endParaRPr lang="en-US" altLang="zh-CN" sz="2400" dirty="0" smtClean="0"/>
          </a:p>
          <a:p>
            <a:pPr marL="0" indent="623888">
              <a:lnSpc>
                <a:spcPts val="3000"/>
              </a:lnSpc>
              <a:spcBef>
                <a:spcPts val="0"/>
              </a:spcBef>
              <a:buNone/>
            </a:pPr>
            <a:r>
              <a:rPr lang="en-US" altLang="zh-CN" sz="2400" dirty="0" smtClean="0">
                <a:solidFill>
                  <a:srgbClr val="181E33"/>
                </a:solidFill>
                <a:latin typeface="宋体" panose="02010600030101010101" pitchFamily="2" charset="-122"/>
                <a:ea typeface="宋体" panose="02010600030101010101" pitchFamily="2" charset="-122"/>
              </a:rPr>
              <a:t>1.</a:t>
            </a:r>
            <a:r>
              <a:rPr lang="zh-CN" altLang="en-US" sz="2400" dirty="0" smtClean="0">
                <a:solidFill>
                  <a:srgbClr val="181E33"/>
                </a:solidFill>
                <a:latin typeface="宋体" panose="02010600030101010101" pitchFamily="2" charset="-122"/>
                <a:ea typeface="宋体" panose="02010600030101010101" pitchFamily="2" charset="-122"/>
              </a:rPr>
              <a:t>核心</a:t>
            </a:r>
            <a:r>
              <a:rPr lang="zh-CN" altLang="en-US" sz="2400" dirty="0">
                <a:solidFill>
                  <a:srgbClr val="181E33"/>
                </a:solidFill>
                <a:latin typeface="宋体" panose="02010600030101010101" pitchFamily="2" charset="-122"/>
                <a:ea typeface="宋体" panose="02010600030101010101" pitchFamily="2" charset="-122"/>
              </a:rPr>
              <a:t>思想</a:t>
            </a:r>
            <a:endParaRPr lang="zh-CN" altLang="en-US" sz="2400" dirty="0">
              <a:solidFill>
                <a:srgbClr val="181E33"/>
              </a:solidFill>
              <a:latin typeface="PingFangSC"/>
            </a:endParaRPr>
          </a:p>
          <a:p>
            <a:pPr marL="0" indent="623888">
              <a:lnSpc>
                <a:spcPts val="3000"/>
              </a:lnSpc>
              <a:spcBef>
                <a:spcPts val="0"/>
              </a:spcBef>
              <a:buNone/>
            </a:pPr>
            <a:r>
              <a:rPr lang="en-US" altLang="zh-CN" sz="2400" dirty="0" smtClean="0">
                <a:solidFill>
                  <a:srgbClr val="181E33"/>
                </a:solidFill>
                <a:latin typeface="宋体" panose="02010600030101010101" pitchFamily="2" charset="-122"/>
                <a:ea typeface="宋体" panose="02010600030101010101" pitchFamily="2" charset="-122"/>
              </a:rPr>
              <a:t>2.</a:t>
            </a:r>
            <a:r>
              <a:rPr lang="zh-CN" altLang="en-US" sz="2400" dirty="0" smtClean="0">
                <a:solidFill>
                  <a:srgbClr val="181E33"/>
                </a:solidFill>
                <a:latin typeface="宋体" panose="02010600030101010101" pitchFamily="2" charset="-122"/>
                <a:ea typeface="宋体" panose="02010600030101010101" pitchFamily="2" charset="-122"/>
              </a:rPr>
              <a:t>基本</a:t>
            </a:r>
            <a:r>
              <a:rPr lang="zh-CN" altLang="en-US" sz="2400" dirty="0">
                <a:solidFill>
                  <a:srgbClr val="181E33"/>
                </a:solidFill>
                <a:latin typeface="宋体" panose="02010600030101010101" pitchFamily="2" charset="-122"/>
                <a:ea typeface="宋体" panose="02010600030101010101" pitchFamily="2" charset="-122"/>
              </a:rPr>
              <a:t>结构</a:t>
            </a:r>
            <a:endParaRPr lang="zh-CN" altLang="en-US" sz="2400" dirty="0">
              <a:solidFill>
                <a:srgbClr val="181E33"/>
              </a:solidFill>
              <a:latin typeface="PingFangSC"/>
            </a:endParaRPr>
          </a:p>
          <a:p>
            <a:pPr marL="0" indent="623888">
              <a:lnSpc>
                <a:spcPts val="3000"/>
              </a:lnSpc>
              <a:spcBef>
                <a:spcPts val="0"/>
              </a:spcBef>
              <a:buNone/>
            </a:pPr>
            <a:r>
              <a:rPr lang="en-US" altLang="zh-CN" sz="2400" dirty="0" smtClean="0">
                <a:solidFill>
                  <a:srgbClr val="181E33"/>
                </a:solidFill>
                <a:latin typeface="宋体" panose="02010600030101010101" pitchFamily="2" charset="-122"/>
                <a:ea typeface="宋体" panose="02010600030101010101" pitchFamily="2" charset="-122"/>
              </a:rPr>
              <a:t>3.Tomasulo</a:t>
            </a:r>
            <a:r>
              <a:rPr lang="zh-CN" altLang="en-US" sz="2400" dirty="0">
                <a:solidFill>
                  <a:srgbClr val="181E33"/>
                </a:solidFill>
                <a:latin typeface="宋体" panose="02010600030101010101" pitchFamily="2" charset="-122"/>
                <a:ea typeface="宋体" panose="02010600030101010101" pitchFamily="2" charset="-122"/>
              </a:rPr>
              <a:t>算法的执行步骤</a:t>
            </a:r>
            <a:endParaRPr lang="en-US" altLang="zh-CN" sz="2400" dirty="0" smtClean="0">
              <a:solidFill>
                <a:srgbClr val="181E33"/>
              </a:solidFill>
              <a:latin typeface="宋体" panose="02010600030101010101" pitchFamily="2" charset="-122"/>
              <a:ea typeface="宋体" panose="02010600030101010101" pitchFamily="2" charset="-122"/>
            </a:endParaRPr>
          </a:p>
          <a:p>
            <a:pPr marL="0" indent="623888">
              <a:lnSpc>
                <a:spcPts val="3000"/>
              </a:lnSpc>
              <a:spcBef>
                <a:spcPts val="0"/>
              </a:spcBef>
              <a:buNone/>
            </a:pPr>
            <a:r>
              <a:rPr lang="en-US" altLang="zh-CN" sz="2400" dirty="0" smtClean="0">
                <a:solidFill>
                  <a:srgbClr val="181E33"/>
                </a:solidFill>
                <a:latin typeface="宋体" panose="02010600030101010101" pitchFamily="2" charset="-122"/>
                <a:ea typeface="宋体" panose="02010600030101010101" pitchFamily="2" charset="-122"/>
              </a:rPr>
              <a:t>4.</a:t>
            </a:r>
            <a:r>
              <a:rPr lang="zh-CN" altLang="en-US" sz="2400" dirty="0">
                <a:solidFill>
                  <a:srgbClr val="181E33"/>
                </a:solidFill>
                <a:latin typeface="宋体" panose="02010600030101010101" pitchFamily="2" charset="-122"/>
                <a:ea typeface="宋体" panose="02010600030101010101" pitchFamily="2" charset="-122"/>
              </a:rPr>
              <a:t>一个简单的例子</a:t>
            </a:r>
            <a:endParaRPr lang="zh-CN" altLang="en-US" sz="2400" dirty="0">
              <a:solidFill>
                <a:srgbClr val="181E33"/>
              </a:solidFill>
              <a:latin typeface="PingFangSC"/>
            </a:endParaRPr>
          </a:p>
          <a:p>
            <a:pPr marL="0" indent="623888">
              <a:lnSpc>
                <a:spcPts val="3000"/>
              </a:lnSpc>
              <a:spcBef>
                <a:spcPts val="0"/>
              </a:spcBef>
              <a:buNone/>
            </a:pPr>
            <a:r>
              <a:rPr lang="en-US" altLang="zh-CN" sz="2400" dirty="0">
                <a:solidFill>
                  <a:srgbClr val="181E33"/>
                </a:solidFill>
                <a:latin typeface="宋体" panose="02010600030101010101" pitchFamily="2" charset="-122"/>
                <a:ea typeface="宋体" panose="02010600030101010101" pitchFamily="2" charset="-122"/>
              </a:rPr>
              <a:t>5</a:t>
            </a:r>
            <a:r>
              <a:rPr lang="en-US" altLang="zh-CN" sz="2400" dirty="0" smtClean="0">
                <a:solidFill>
                  <a:srgbClr val="181E33"/>
                </a:solidFill>
                <a:latin typeface="宋体" panose="02010600030101010101" pitchFamily="2" charset="-122"/>
                <a:ea typeface="宋体" panose="02010600030101010101" pitchFamily="2" charset="-122"/>
              </a:rPr>
              <a:t>.Tomasulo</a:t>
            </a:r>
            <a:r>
              <a:rPr lang="zh-CN" altLang="en-US" sz="2400" dirty="0">
                <a:solidFill>
                  <a:srgbClr val="181E33"/>
                </a:solidFill>
                <a:latin typeface="宋体" panose="02010600030101010101" pitchFamily="2" charset="-122"/>
                <a:ea typeface="宋体" panose="02010600030101010101" pitchFamily="2" charset="-122"/>
              </a:rPr>
              <a:t>算法特点</a:t>
            </a:r>
            <a:endParaRPr lang="zh-CN" altLang="en-US" sz="2400" dirty="0">
              <a:solidFill>
                <a:srgbClr val="181E33"/>
              </a:solidFill>
              <a:latin typeface="PingFangSC"/>
            </a:endParaRPr>
          </a:p>
          <a:p>
            <a:pPr marL="0" indent="623888">
              <a:lnSpc>
                <a:spcPts val="3000"/>
              </a:lnSpc>
              <a:spcBef>
                <a:spcPts val="0"/>
              </a:spcBef>
              <a:buNone/>
            </a:pPr>
            <a:r>
              <a:rPr lang="en-US" altLang="zh-CN" sz="2400" dirty="0" smtClean="0">
                <a:solidFill>
                  <a:srgbClr val="181E33"/>
                </a:solidFill>
                <a:latin typeface="宋体" panose="02010600030101010101" pitchFamily="2" charset="-122"/>
                <a:ea typeface="宋体" panose="02010600030101010101" pitchFamily="2" charset="-122"/>
              </a:rPr>
              <a:t>6.Tomasulo</a:t>
            </a:r>
            <a:r>
              <a:rPr lang="zh-CN" altLang="en-US" sz="2400" dirty="0" smtClean="0">
                <a:solidFill>
                  <a:srgbClr val="181E33"/>
                </a:solidFill>
                <a:latin typeface="宋体" panose="02010600030101010101" pitchFamily="2" charset="-122"/>
                <a:ea typeface="宋体" panose="02010600030101010101" pitchFamily="2" charset="-122"/>
              </a:rPr>
              <a:t>详细解读</a:t>
            </a:r>
            <a:endParaRPr lang="en-US" altLang="zh-CN" sz="2400" dirty="0" smtClean="0">
              <a:solidFill>
                <a:srgbClr val="181E33"/>
              </a:solidFill>
              <a:latin typeface="宋体" panose="02010600030101010101" pitchFamily="2" charset="-122"/>
              <a:ea typeface="宋体" panose="02010600030101010101" pitchFamily="2" charset="-122"/>
            </a:endParaRPr>
          </a:p>
          <a:p>
            <a:pPr marL="0" indent="623888">
              <a:lnSpc>
                <a:spcPts val="3000"/>
              </a:lnSpc>
              <a:spcBef>
                <a:spcPts val="0"/>
              </a:spcBef>
              <a:buNone/>
            </a:pPr>
            <a:r>
              <a:rPr lang="en-US" altLang="zh-CN" sz="2400" dirty="0" smtClean="0">
                <a:solidFill>
                  <a:srgbClr val="181E33"/>
                </a:solidFill>
                <a:latin typeface="宋体" panose="02010600030101010101" pitchFamily="2" charset="-122"/>
                <a:ea typeface="宋体" panose="02010600030101010101" pitchFamily="2" charset="-122"/>
              </a:rPr>
              <a:t>7.Tomasulo</a:t>
            </a:r>
            <a:r>
              <a:rPr lang="zh-CN" altLang="en-US" sz="2400" dirty="0">
                <a:solidFill>
                  <a:srgbClr val="181E33"/>
                </a:solidFill>
                <a:latin typeface="宋体" panose="02010600030101010101" pitchFamily="2" charset="-122"/>
                <a:ea typeface="宋体" panose="02010600030101010101" pitchFamily="2" charset="-122"/>
              </a:rPr>
              <a:t>算法</a:t>
            </a:r>
            <a:r>
              <a:rPr lang="zh-CN" altLang="en-US" sz="2400" dirty="0" smtClean="0">
                <a:solidFill>
                  <a:srgbClr val="181E33"/>
                </a:solidFill>
                <a:latin typeface="宋体" panose="02010600030101010101" pitchFamily="2" charset="-122"/>
                <a:ea typeface="宋体" panose="02010600030101010101" pitchFamily="2" charset="-122"/>
              </a:rPr>
              <a:t>举例</a:t>
            </a:r>
            <a:endParaRPr lang="en-US" altLang="zh-CN" sz="2400" dirty="0" smtClean="0">
              <a:solidFill>
                <a:srgbClr val="181E33"/>
              </a:solidFill>
              <a:latin typeface="宋体" panose="02010600030101010101" pitchFamily="2" charset="-122"/>
              <a:ea typeface="宋体" panose="02010600030101010101" pitchFamily="2" charset="-122"/>
            </a:endParaRPr>
          </a:p>
          <a:p>
            <a:pPr marL="0" indent="623888">
              <a:lnSpc>
                <a:spcPts val="3000"/>
              </a:lnSpc>
              <a:spcBef>
                <a:spcPts val="0"/>
              </a:spcBef>
              <a:buNone/>
            </a:pPr>
            <a:r>
              <a:rPr lang="en-US" altLang="zh-CN" sz="2400" dirty="0" smtClean="0">
                <a:solidFill>
                  <a:srgbClr val="181E33"/>
                </a:solidFill>
                <a:latin typeface="宋体" panose="02010600030101010101" pitchFamily="2" charset="-122"/>
                <a:ea typeface="宋体" panose="02010600030101010101" pitchFamily="2" charset="-122"/>
              </a:rPr>
              <a:t>8.Tomasulo</a:t>
            </a:r>
            <a:r>
              <a:rPr lang="zh-CN" altLang="en-US" sz="2400" dirty="0" smtClean="0">
                <a:solidFill>
                  <a:srgbClr val="181E33"/>
                </a:solidFill>
                <a:latin typeface="宋体" panose="02010600030101010101" pitchFamily="2" charset="-122"/>
                <a:ea typeface="宋体" panose="02010600030101010101" pitchFamily="2" charset="-122"/>
              </a:rPr>
              <a:t>要点</a:t>
            </a:r>
            <a:r>
              <a:rPr lang="zh-CN" altLang="en-US" sz="2400" dirty="0">
                <a:solidFill>
                  <a:srgbClr val="181E33"/>
                </a:solidFill>
                <a:latin typeface="宋体" panose="02010600030101010101" pitchFamily="2" charset="-122"/>
                <a:ea typeface="宋体" panose="02010600030101010101" pitchFamily="2" charset="-122"/>
              </a:rPr>
              <a:t>总结</a:t>
            </a:r>
          </a:p>
          <a:p>
            <a:pPr marL="0" indent="0">
              <a:buNone/>
            </a:pPr>
            <a:endParaRPr lang="zh-CN" altLang="en-US" sz="2800" dirty="0">
              <a:solidFill>
                <a:srgbClr val="181E33"/>
              </a:solidFill>
              <a:latin typeface="PingFangSC"/>
            </a:endParaRPr>
          </a:p>
          <a:p>
            <a:pPr marL="0" indent="0">
              <a:buNone/>
            </a:pPr>
            <a:endParaRPr lang="zh-CN" altLang="en-US" dirty="0"/>
          </a:p>
        </p:txBody>
      </p:sp>
    </p:spTree>
    <p:extLst>
      <p:ext uri="{BB962C8B-B14F-4D97-AF65-F5344CB8AC3E}">
        <p14:creationId xmlns:p14="http://schemas.microsoft.com/office/powerpoint/2010/main" val="7978503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705602" y="68038"/>
            <a:ext cx="9745905" cy="4525963"/>
          </a:xfrm>
        </p:spPr>
        <p:txBody>
          <a:bodyPr/>
          <a:lstStyle/>
          <a:p>
            <a:pPr marL="0" indent="0">
              <a:buNone/>
            </a:pPr>
            <a:r>
              <a:rPr lang="en-US" altLang="zh-CN" sz="2400" dirty="0" smtClean="0">
                <a:solidFill>
                  <a:srgbClr val="181E33"/>
                </a:solidFill>
                <a:latin typeface="宋体" panose="02010600030101010101" pitchFamily="2" charset="-122"/>
                <a:ea typeface="宋体" panose="02010600030101010101" pitchFamily="2" charset="-122"/>
              </a:rPr>
              <a:t> </a:t>
            </a:r>
            <a:endParaRPr lang="zh-CN" altLang="en-US" sz="2400" dirty="0">
              <a:solidFill>
                <a:srgbClr val="181E33"/>
              </a:solidFill>
              <a:latin typeface="PingFangSC"/>
            </a:endParaRPr>
          </a:p>
          <a:p>
            <a:pPr marL="457200" lvl="0" indent="-457200" eaLnBrk="1" hangingPunct="1">
              <a:lnSpc>
                <a:spcPct val="110000"/>
              </a:lnSpc>
              <a:buClr>
                <a:srgbClr val="40458C"/>
              </a:buClr>
              <a:buFont typeface="Wingdings" panose="05000000000000000000" pitchFamily="2" charset="2"/>
              <a:buAutoNum type="arabicPeriod"/>
            </a:pPr>
            <a:r>
              <a:rPr kumimoji="1" lang="zh-CN" altLang="en-US" sz="2400" b="1" kern="0" dirty="0">
                <a:latin typeface="宋体" panose="02010600030101010101" pitchFamily="2" charset="-122"/>
                <a:ea typeface="宋体" panose="02010600030101010101" pitchFamily="2" charset="-122"/>
              </a:rPr>
              <a:t>核心思想</a:t>
            </a:r>
          </a:p>
          <a:p>
            <a:pPr marL="971550" lvl="1" indent="-342900">
              <a:lnSpc>
                <a:spcPct val="110000"/>
              </a:lnSpc>
              <a:buClr>
                <a:srgbClr val="40458C"/>
              </a:buClr>
              <a:buSzPct val="90000"/>
            </a:pPr>
            <a:r>
              <a:rPr kumimoji="1" lang="zh-CN" altLang="en-US" sz="2400" kern="0" dirty="0">
                <a:latin typeface="宋体" panose="02010600030101010101" pitchFamily="2" charset="-122"/>
                <a:ea typeface="宋体" panose="02010600030101010101" pitchFamily="2" charset="-122"/>
              </a:rPr>
              <a:t>记录和检测指令相关，操作数一旦就绪就立即执行，把发生</a:t>
            </a:r>
            <a:r>
              <a:rPr kumimoji="1" lang="en-US" altLang="zh-CN" sz="2400" kern="0" dirty="0">
                <a:latin typeface="宋体" panose="02010600030101010101" pitchFamily="2" charset="-122"/>
                <a:ea typeface="宋体" panose="02010600030101010101" pitchFamily="2" charset="-122"/>
              </a:rPr>
              <a:t>RAW</a:t>
            </a:r>
            <a:r>
              <a:rPr kumimoji="1" lang="zh-CN" altLang="en-US" sz="2400" kern="0" dirty="0">
                <a:latin typeface="宋体" panose="02010600030101010101" pitchFamily="2" charset="-122"/>
                <a:ea typeface="宋体" panose="02010600030101010101" pitchFamily="2" charset="-122"/>
              </a:rPr>
              <a:t>冲突的可能性减少到最小；</a:t>
            </a:r>
          </a:p>
          <a:p>
            <a:pPr marL="971550" lvl="1" indent="-342900">
              <a:lnSpc>
                <a:spcPct val="110000"/>
              </a:lnSpc>
              <a:buClr>
                <a:srgbClr val="40458C"/>
              </a:buClr>
              <a:buSzPct val="90000"/>
            </a:pPr>
            <a:r>
              <a:rPr kumimoji="1" lang="zh-CN" altLang="en-US" sz="2400" kern="0" dirty="0">
                <a:latin typeface="宋体" panose="02010600030101010101" pitchFamily="2" charset="-122"/>
                <a:ea typeface="宋体" panose="02010600030101010101" pitchFamily="2" charset="-122"/>
              </a:rPr>
              <a:t>通过寄存器换名来消除</a:t>
            </a:r>
            <a:r>
              <a:rPr kumimoji="1" lang="en-US" altLang="zh-CN" sz="2400" kern="0" dirty="0">
                <a:latin typeface="宋体" panose="02010600030101010101" pitchFamily="2" charset="-122"/>
                <a:ea typeface="宋体" panose="02010600030101010101" pitchFamily="2" charset="-122"/>
              </a:rPr>
              <a:t>WAR</a:t>
            </a:r>
            <a:r>
              <a:rPr kumimoji="1" lang="zh-CN" altLang="en-US" sz="2400" kern="0" dirty="0">
                <a:latin typeface="宋体" panose="02010600030101010101" pitchFamily="2" charset="-122"/>
                <a:ea typeface="宋体" panose="02010600030101010101" pitchFamily="2" charset="-122"/>
              </a:rPr>
              <a:t>冲突和</a:t>
            </a:r>
            <a:r>
              <a:rPr kumimoji="1" lang="en-US" altLang="zh-CN" sz="2400" kern="0" dirty="0">
                <a:latin typeface="宋体" panose="02010600030101010101" pitchFamily="2" charset="-122"/>
                <a:ea typeface="宋体" panose="02010600030101010101" pitchFamily="2" charset="-122"/>
              </a:rPr>
              <a:t>WAW</a:t>
            </a:r>
            <a:r>
              <a:rPr kumimoji="1" lang="zh-CN" altLang="en-US" sz="2400" kern="0" dirty="0">
                <a:latin typeface="宋体" panose="02010600030101010101" pitchFamily="2" charset="-122"/>
                <a:ea typeface="宋体" panose="02010600030101010101" pitchFamily="2" charset="-122"/>
              </a:rPr>
              <a:t>冲突。</a:t>
            </a:r>
          </a:p>
          <a:p>
            <a:endParaRPr lang="zh-CN" altLang="en-US" dirty="0"/>
          </a:p>
        </p:txBody>
      </p:sp>
    </p:spTree>
    <p:extLst>
      <p:ext uri="{BB962C8B-B14F-4D97-AF65-F5344CB8AC3E}">
        <p14:creationId xmlns:p14="http://schemas.microsoft.com/office/powerpoint/2010/main" val="1290000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4078881" y="5074627"/>
            <a:ext cx="6807200" cy="381000"/>
          </a:xfrm>
        </p:spPr>
        <p:txBody>
          <a:bodyPr>
            <a:normAutofit fontScale="90000"/>
          </a:bodyPr>
          <a:lstStyle/>
          <a:p>
            <a:pPr eaLnBrk="1" hangingPunct="1"/>
            <a:r>
              <a:rPr lang="en-US" altLang="zh-CN" dirty="0" smtClean="0">
                <a:latin typeface="黑体" panose="02010609060101010101" pitchFamily="49" charset="-122"/>
              </a:rPr>
              <a:t> </a:t>
            </a:r>
            <a:endParaRPr lang="zh-CN" altLang="en-US" dirty="0" smtClean="0">
              <a:latin typeface="黑体" panose="02010609060101010101" pitchFamily="49" charset="-122"/>
            </a:endParaRPr>
          </a:p>
        </p:txBody>
      </p:sp>
      <p:sp>
        <p:nvSpPr>
          <p:cNvPr id="172035" name="Rectangle 3" descr="Rectangle: Click to edit Master text styles&#10;Second level&#10;Third level&#10;Fourth level&#10;Fifth level"/>
          <p:cNvSpPr>
            <a:spLocks noGrp="1" noChangeArrowheads="1"/>
          </p:cNvSpPr>
          <p:nvPr>
            <p:ph idx="1"/>
          </p:nvPr>
        </p:nvSpPr>
        <p:spPr>
          <a:xfrm>
            <a:off x="1675465" y="533400"/>
            <a:ext cx="7772400" cy="5638800"/>
          </a:xfrm>
        </p:spPr>
        <p:txBody>
          <a:bodyPr/>
          <a:lstStyle/>
          <a:p>
            <a:pPr lvl="2" eaLnBrk="1" hangingPunct="1">
              <a:buFont typeface="Wingdings" panose="05000000000000000000" pitchFamily="2" charset="2"/>
              <a:buNone/>
            </a:pPr>
            <a:endParaRPr lang="zh-CN" altLang="en-US" dirty="0" smtClean="0">
              <a:latin typeface="黑体" panose="02010609060101010101" pitchFamily="49" charset="-122"/>
              <a:ea typeface="黑体" panose="02010609060101010101" pitchFamily="49" charset="-122"/>
            </a:endParaRPr>
          </a:p>
          <a:p>
            <a:r>
              <a:rPr lang="zh-CN" altLang="en-US" sz="2400" dirty="0" smtClean="0">
                <a:latin typeface="宋体" panose="02010600030101010101" pitchFamily="2" charset="-122"/>
                <a:ea typeface="宋体" panose="02010600030101010101" pitchFamily="2" charset="-122"/>
              </a:rPr>
              <a:t>寄存器换名可以消除</a:t>
            </a:r>
            <a:r>
              <a:rPr lang="en-US" altLang="zh-CN" sz="2400" dirty="0" smtClean="0">
                <a:latin typeface="宋体" panose="02010600030101010101" pitchFamily="2" charset="-122"/>
                <a:ea typeface="宋体" panose="02010600030101010101" pitchFamily="2" charset="-122"/>
              </a:rPr>
              <a:t>WAR</a:t>
            </a:r>
            <a:r>
              <a:rPr lang="zh-CN" altLang="en-US" sz="2400" dirty="0" smtClean="0">
                <a:latin typeface="宋体" panose="02010600030101010101" pitchFamily="2" charset="-122"/>
                <a:ea typeface="宋体" panose="02010600030101010101" pitchFamily="2" charset="-122"/>
              </a:rPr>
              <a:t>冲突和</a:t>
            </a:r>
            <a:r>
              <a:rPr lang="en-US" altLang="zh-CN" sz="2400" dirty="0" smtClean="0">
                <a:latin typeface="宋体" panose="02010600030101010101" pitchFamily="2" charset="-122"/>
                <a:ea typeface="宋体" panose="02010600030101010101" pitchFamily="2" charset="-122"/>
              </a:rPr>
              <a:t>WAW</a:t>
            </a:r>
            <a:r>
              <a:rPr lang="zh-CN" altLang="en-US" sz="2400" dirty="0" smtClean="0">
                <a:latin typeface="宋体" panose="02010600030101010101" pitchFamily="2" charset="-122"/>
                <a:ea typeface="宋体" panose="02010600030101010101" pitchFamily="2" charset="-122"/>
              </a:rPr>
              <a:t>冲突。</a:t>
            </a:r>
          </a:p>
          <a:p>
            <a:pPr marL="627063" lvl="1" indent="0" eaLnBrk="1" hangingPunct="1">
              <a:buNone/>
            </a:pPr>
            <a:r>
              <a:rPr lang="zh-CN" altLang="en-US" dirty="0" smtClean="0">
                <a:latin typeface="宋体" panose="02010600030101010101" pitchFamily="2" charset="-122"/>
                <a:ea typeface="宋体" panose="02010600030101010101" pitchFamily="2" charset="-122"/>
              </a:rPr>
              <a:t> 考虑以下代码：</a:t>
            </a:r>
          </a:p>
          <a:p>
            <a:pPr lvl="2" eaLnBrk="1" hangingPunct="1">
              <a:lnSpc>
                <a:spcPct val="100000"/>
              </a:lnSpc>
              <a:buFont typeface="Wingdings" panose="05000000000000000000" pitchFamily="2" charset="2"/>
              <a:buNone/>
            </a:pPr>
            <a:r>
              <a:rPr lang="zh-CN" altLang="en-US" sz="2400" dirty="0" smtClean="0">
                <a:latin typeface="宋体" panose="02010600030101010101" pitchFamily="2" charset="-122"/>
                <a:ea typeface="宋体" panose="02010600030101010101" pitchFamily="2" charset="-122"/>
              </a:rPr>
              <a:t>       </a:t>
            </a:r>
            <a:r>
              <a:rPr lang="en-US" altLang="zh-CN" sz="2400" dirty="0" smtClean="0">
                <a:latin typeface="宋体" panose="02010600030101010101" pitchFamily="2" charset="-122"/>
                <a:ea typeface="宋体" panose="02010600030101010101" pitchFamily="2" charset="-122"/>
              </a:rPr>
              <a:t>DIV.D	F0</a:t>
            </a:r>
            <a:r>
              <a:rPr lang="zh-CN" altLang="en-US" sz="2400" dirty="0" smtClean="0">
                <a:latin typeface="宋体" panose="02010600030101010101" pitchFamily="2" charset="-122"/>
                <a:ea typeface="宋体" panose="02010600030101010101" pitchFamily="2" charset="-122"/>
              </a:rPr>
              <a:t>，</a:t>
            </a:r>
            <a:r>
              <a:rPr lang="en-US" altLang="zh-CN" sz="2400" dirty="0" smtClean="0">
                <a:latin typeface="宋体" panose="02010600030101010101" pitchFamily="2" charset="-122"/>
                <a:ea typeface="宋体" panose="02010600030101010101" pitchFamily="2" charset="-122"/>
              </a:rPr>
              <a:t>F2</a:t>
            </a:r>
            <a:r>
              <a:rPr lang="zh-CN" altLang="en-US" sz="2400" dirty="0" smtClean="0">
                <a:latin typeface="宋体" panose="02010600030101010101" pitchFamily="2" charset="-122"/>
                <a:ea typeface="宋体" panose="02010600030101010101" pitchFamily="2" charset="-122"/>
              </a:rPr>
              <a:t>，</a:t>
            </a:r>
            <a:r>
              <a:rPr lang="en-US" altLang="zh-CN" sz="2400" dirty="0" smtClean="0">
                <a:latin typeface="宋体" panose="02010600030101010101" pitchFamily="2" charset="-122"/>
                <a:ea typeface="宋体" panose="02010600030101010101" pitchFamily="2" charset="-122"/>
              </a:rPr>
              <a:t>F4</a:t>
            </a:r>
          </a:p>
          <a:p>
            <a:pPr lvl="2" eaLnBrk="1" hangingPunct="1">
              <a:lnSpc>
                <a:spcPct val="100000"/>
              </a:lnSpc>
              <a:buFont typeface="Wingdings" panose="05000000000000000000" pitchFamily="2" charset="2"/>
              <a:buNone/>
            </a:pPr>
            <a:r>
              <a:rPr lang="en-US" altLang="zh-CN" sz="2400" dirty="0" smtClean="0">
                <a:latin typeface="宋体" panose="02010600030101010101" pitchFamily="2" charset="-122"/>
                <a:ea typeface="宋体" panose="02010600030101010101" pitchFamily="2" charset="-122"/>
              </a:rPr>
              <a:t>       ADD.D	F6</a:t>
            </a:r>
            <a:r>
              <a:rPr lang="zh-CN" altLang="en-US" sz="2400" dirty="0" smtClean="0">
                <a:latin typeface="宋体" panose="02010600030101010101" pitchFamily="2" charset="-122"/>
                <a:ea typeface="宋体" panose="02010600030101010101" pitchFamily="2" charset="-122"/>
              </a:rPr>
              <a:t>，</a:t>
            </a:r>
            <a:r>
              <a:rPr lang="en-US" altLang="zh-CN" sz="2400" dirty="0" smtClean="0">
                <a:latin typeface="宋体" panose="02010600030101010101" pitchFamily="2" charset="-122"/>
                <a:ea typeface="宋体" panose="02010600030101010101" pitchFamily="2" charset="-122"/>
              </a:rPr>
              <a:t>F0</a:t>
            </a:r>
            <a:r>
              <a:rPr lang="zh-CN" altLang="en-US" sz="2400" dirty="0" smtClean="0">
                <a:latin typeface="宋体" panose="02010600030101010101" pitchFamily="2" charset="-122"/>
                <a:ea typeface="宋体" panose="02010600030101010101" pitchFamily="2" charset="-122"/>
              </a:rPr>
              <a:t>，</a:t>
            </a:r>
            <a:r>
              <a:rPr lang="en-US" altLang="zh-CN" sz="2400" dirty="0" smtClean="0">
                <a:latin typeface="宋体" panose="02010600030101010101" pitchFamily="2" charset="-122"/>
                <a:ea typeface="宋体" panose="02010600030101010101" pitchFamily="2" charset="-122"/>
              </a:rPr>
              <a:t>F8</a:t>
            </a:r>
          </a:p>
          <a:p>
            <a:pPr lvl="2" eaLnBrk="1" hangingPunct="1">
              <a:lnSpc>
                <a:spcPct val="100000"/>
              </a:lnSpc>
              <a:buFont typeface="Wingdings" panose="05000000000000000000" pitchFamily="2" charset="2"/>
              <a:buNone/>
            </a:pPr>
            <a:r>
              <a:rPr lang="en-US" altLang="zh-CN" sz="2400" dirty="0" smtClean="0">
                <a:latin typeface="宋体" panose="02010600030101010101" pitchFamily="2" charset="-122"/>
                <a:ea typeface="宋体" panose="02010600030101010101" pitchFamily="2" charset="-122"/>
              </a:rPr>
              <a:t>       S.D		F6</a:t>
            </a:r>
            <a:r>
              <a:rPr lang="zh-CN" altLang="en-US" sz="2400" dirty="0" smtClean="0">
                <a:latin typeface="宋体" panose="02010600030101010101" pitchFamily="2" charset="-122"/>
                <a:ea typeface="宋体" panose="02010600030101010101" pitchFamily="2" charset="-122"/>
              </a:rPr>
              <a:t>，</a:t>
            </a:r>
            <a:r>
              <a:rPr lang="en-US" altLang="zh-CN" sz="2400" dirty="0" smtClean="0">
                <a:latin typeface="宋体" panose="02010600030101010101" pitchFamily="2" charset="-122"/>
                <a:ea typeface="宋体" panose="02010600030101010101" pitchFamily="2" charset="-122"/>
              </a:rPr>
              <a:t>0</a:t>
            </a:r>
            <a:r>
              <a:rPr lang="zh-CN" altLang="en-US" sz="2400" dirty="0" smtClean="0">
                <a:latin typeface="宋体" panose="02010600030101010101" pitchFamily="2" charset="-122"/>
                <a:ea typeface="宋体" panose="02010600030101010101" pitchFamily="2" charset="-122"/>
              </a:rPr>
              <a:t>（</a:t>
            </a:r>
            <a:r>
              <a:rPr lang="en-US" altLang="zh-CN" sz="2400" dirty="0" smtClean="0">
                <a:latin typeface="宋体" panose="02010600030101010101" pitchFamily="2" charset="-122"/>
                <a:ea typeface="宋体" panose="02010600030101010101" pitchFamily="2" charset="-122"/>
              </a:rPr>
              <a:t>R1</a:t>
            </a:r>
            <a:r>
              <a:rPr lang="zh-CN" altLang="en-US" sz="2400" dirty="0" smtClean="0">
                <a:latin typeface="宋体" panose="02010600030101010101" pitchFamily="2" charset="-122"/>
                <a:ea typeface="宋体" panose="02010600030101010101" pitchFamily="2" charset="-122"/>
              </a:rPr>
              <a:t>）</a:t>
            </a:r>
          </a:p>
          <a:p>
            <a:pPr lvl="2" eaLnBrk="1" hangingPunct="1">
              <a:lnSpc>
                <a:spcPct val="100000"/>
              </a:lnSpc>
              <a:buFont typeface="Wingdings" panose="05000000000000000000" pitchFamily="2" charset="2"/>
              <a:buNone/>
            </a:pPr>
            <a:r>
              <a:rPr lang="zh-CN" altLang="en-US" sz="2400" dirty="0" smtClean="0">
                <a:latin typeface="宋体" panose="02010600030101010101" pitchFamily="2" charset="-122"/>
                <a:ea typeface="宋体" panose="02010600030101010101" pitchFamily="2" charset="-122"/>
              </a:rPr>
              <a:t>       </a:t>
            </a:r>
            <a:r>
              <a:rPr lang="en-US" altLang="zh-CN" sz="2400" dirty="0" smtClean="0">
                <a:latin typeface="宋体" panose="02010600030101010101" pitchFamily="2" charset="-122"/>
                <a:ea typeface="宋体" panose="02010600030101010101" pitchFamily="2" charset="-122"/>
              </a:rPr>
              <a:t>SUB.D	F8</a:t>
            </a:r>
            <a:r>
              <a:rPr lang="zh-CN" altLang="en-US" sz="2400" dirty="0" smtClean="0">
                <a:latin typeface="宋体" panose="02010600030101010101" pitchFamily="2" charset="-122"/>
                <a:ea typeface="宋体" panose="02010600030101010101" pitchFamily="2" charset="-122"/>
              </a:rPr>
              <a:t>，</a:t>
            </a:r>
            <a:r>
              <a:rPr lang="en-US" altLang="zh-CN" sz="2400" dirty="0" smtClean="0">
                <a:latin typeface="宋体" panose="02010600030101010101" pitchFamily="2" charset="-122"/>
                <a:ea typeface="宋体" panose="02010600030101010101" pitchFamily="2" charset="-122"/>
              </a:rPr>
              <a:t>F10</a:t>
            </a:r>
            <a:r>
              <a:rPr lang="zh-CN" altLang="en-US" sz="2400" dirty="0" smtClean="0">
                <a:latin typeface="宋体" panose="02010600030101010101" pitchFamily="2" charset="-122"/>
                <a:ea typeface="宋体" panose="02010600030101010101" pitchFamily="2" charset="-122"/>
              </a:rPr>
              <a:t>，</a:t>
            </a:r>
            <a:r>
              <a:rPr lang="en-US" altLang="zh-CN" sz="2400" dirty="0" smtClean="0">
                <a:latin typeface="宋体" panose="02010600030101010101" pitchFamily="2" charset="-122"/>
                <a:ea typeface="宋体" panose="02010600030101010101" pitchFamily="2" charset="-122"/>
              </a:rPr>
              <a:t>F14</a:t>
            </a:r>
          </a:p>
          <a:p>
            <a:pPr lvl="2" eaLnBrk="1" hangingPunct="1">
              <a:lnSpc>
                <a:spcPct val="100000"/>
              </a:lnSpc>
              <a:buFont typeface="Wingdings" panose="05000000000000000000" pitchFamily="2" charset="2"/>
              <a:buNone/>
            </a:pPr>
            <a:r>
              <a:rPr lang="en-US" altLang="zh-CN" sz="2400" dirty="0" smtClean="0">
                <a:latin typeface="宋体" panose="02010600030101010101" pitchFamily="2" charset="-122"/>
                <a:ea typeface="宋体" panose="02010600030101010101" pitchFamily="2" charset="-122"/>
              </a:rPr>
              <a:t>       MUL.D	F6</a:t>
            </a:r>
            <a:r>
              <a:rPr lang="zh-CN" altLang="en-US" sz="2400" dirty="0" smtClean="0">
                <a:latin typeface="宋体" panose="02010600030101010101" pitchFamily="2" charset="-122"/>
                <a:ea typeface="宋体" panose="02010600030101010101" pitchFamily="2" charset="-122"/>
              </a:rPr>
              <a:t>， </a:t>
            </a:r>
            <a:r>
              <a:rPr lang="en-US" altLang="zh-CN" sz="2400" dirty="0" smtClean="0">
                <a:latin typeface="宋体" panose="02010600030101010101" pitchFamily="2" charset="-122"/>
                <a:ea typeface="宋体" panose="02010600030101010101" pitchFamily="2" charset="-122"/>
              </a:rPr>
              <a:t>F10</a:t>
            </a:r>
            <a:r>
              <a:rPr lang="zh-CN" altLang="en-US" sz="2400" dirty="0" smtClean="0">
                <a:latin typeface="宋体" panose="02010600030101010101" pitchFamily="2" charset="-122"/>
                <a:ea typeface="宋体" panose="02010600030101010101" pitchFamily="2" charset="-122"/>
              </a:rPr>
              <a:t>，</a:t>
            </a:r>
            <a:r>
              <a:rPr lang="en-US" altLang="zh-CN" sz="2400" dirty="0" smtClean="0">
                <a:latin typeface="宋体" panose="02010600030101010101" pitchFamily="2" charset="-122"/>
                <a:ea typeface="宋体" panose="02010600030101010101" pitchFamily="2" charset="-122"/>
              </a:rPr>
              <a:t>F8</a:t>
            </a:r>
          </a:p>
          <a:p>
            <a:pPr lvl="2" eaLnBrk="1" hangingPunct="1">
              <a:lnSpc>
                <a:spcPct val="100000"/>
              </a:lnSpc>
              <a:buFont typeface="Wingdings" panose="05000000000000000000" pitchFamily="2" charset="2"/>
              <a:buNone/>
            </a:pPr>
            <a:r>
              <a:rPr lang="zh-CN" altLang="en-US" sz="2400" dirty="0" smtClean="0">
                <a:latin typeface="宋体" panose="02010600030101010101" pitchFamily="2" charset="-122"/>
                <a:ea typeface="宋体" panose="02010600030101010101" pitchFamily="2" charset="-122"/>
              </a:rPr>
              <a:t>为了消除反相关和输出相关请进行换名</a:t>
            </a:r>
            <a:r>
              <a:rPr lang="en-US" altLang="zh-CN" sz="2400" dirty="0" smtClean="0">
                <a:latin typeface="宋体" panose="02010600030101010101" pitchFamily="2" charset="-122"/>
                <a:ea typeface="宋体" panose="02010600030101010101" pitchFamily="2" charset="-122"/>
              </a:rPr>
              <a:t> </a:t>
            </a:r>
          </a:p>
        </p:txBody>
      </p:sp>
      <p:sp>
        <p:nvSpPr>
          <p:cNvPr id="172036" name="Text Box 7"/>
          <p:cNvSpPr txBox="1">
            <a:spLocks noChangeArrowheads="1"/>
          </p:cNvSpPr>
          <p:nvPr/>
        </p:nvSpPr>
        <p:spPr bwMode="auto">
          <a:xfrm>
            <a:off x="7694829" y="2785653"/>
            <a:ext cx="2133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60000"/>
              </a:lnSpc>
              <a:spcBef>
                <a:spcPct val="50000"/>
              </a:spcBef>
              <a:spcAft>
                <a:spcPct val="0"/>
              </a:spcAft>
              <a:buClrTx/>
              <a:buNone/>
            </a:pPr>
            <a:r>
              <a:rPr lang="zh-CN" altLang="en-US" sz="2000" b="1" dirty="0">
                <a:solidFill>
                  <a:srgbClr val="4768F5"/>
                </a:solidFill>
                <a:latin typeface="宋体" panose="02010600030101010101" pitchFamily="2" charset="-122"/>
                <a:ea typeface="宋体" panose="02010600030101010101" pitchFamily="2" charset="-122"/>
              </a:rPr>
              <a:t>输出相关（</a:t>
            </a:r>
            <a:r>
              <a:rPr lang="en-US" altLang="zh-CN" sz="2000" b="1" dirty="0">
                <a:solidFill>
                  <a:srgbClr val="4768F5"/>
                </a:solidFill>
                <a:latin typeface="宋体" panose="02010600030101010101" pitchFamily="2" charset="-122"/>
                <a:ea typeface="宋体" panose="02010600030101010101" pitchFamily="2" charset="-122"/>
              </a:rPr>
              <a:t>F6</a:t>
            </a:r>
            <a:r>
              <a:rPr lang="zh-CN" altLang="en-US" sz="2000" b="1" dirty="0">
                <a:solidFill>
                  <a:srgbClr val="4768F5"/>
                </a:solidFill>
                <a:latin typeface="宋体" panose="02010600030101010101" pitchFamily="2" charset="-122"/>
                <a:ea typeface="宋体" panose="02010600030101010101" pitchFamily="2" charset="-122"/>
              </a:rPr>
              <a:t>）</a:t>
            </a:r>
          </a:p>
          <a:p>
            <a:pPr fontAlgn="base">
              <a:lnSpc>
                <a:spcPct val="60000"/>
              </a:lnSpc>
              <a:spcBef>
                <a:spcPct val="50000"/>
              </a:spcBef>
              <a:spcAft>
                <a:spcPct val="0"/>
              </a:spcAft>
              <a:buClrTx/>
              <a:buNone/>
            </a:pPr>
            <a:r>
              <a:rPr lang="zh-CN" altLang="en-US" sz="2000" b="1" dirty="0">
                <a:solidFill>
                  <a:srgbClr val="4768F5"/>
                </a:solidFill>
                <a:latin typeface="宋体" panose="02010600030101010101" pitchFamily="2" charset="-122"/>
                <a:ea typeface="宋体" panose="02010600030101010101" pitchFamily="2" charset="-122"/>
              </a:rPr>
              <a:t>导致</a:t>
            </a:r>
            <a:r>
              <a:rPr lang="en-US" altLang="zh-CN" sz="2000" b="1" dirty="0">
                <a:solidFill>
                  <a:srgbClr val="4768F5"/>
                </a:solidFill>
                <a:latin typeface="宋体" panose="02010600030101010101" pitchFamily="2" charset="-122"/>
                <a:ea typeface="宋体" panose="02010600030101010101" pitchFamily="2" charset="-122"/>
              </a:rPr>
              <a:t>WAW</a:t>
            </a:r>
            <a:r>
              <a:rPr lang="zh-CN" altLang="en-US" sz="2000" b="1" dirty="0">
                <a:solidFill>
                  <a:srgbClr val="4768F5"/>
                </a:solidFill>
                <a:latin typeface="宋体" panose="02010600030101010101" pitchFamily="2" charset="-122"/>
                <a:ea typeface="宋体" panose="02010600030101010101" pitchFamily="2" charset="-122"/>
              </a:rPr>
              <a:t>冲突</a:t>
            </a:r>
          </a:p>
        </p:txBody>
      </p:sp>
      <p:sp>
        <p:nvSpPr>
          <p:cNvPr id="172037" name="Text Box 8"/>
          <p:cNvSpPr txBox="1">
            <a:spLocks noChangeArrowheads="1"/>
          </p:cNvSpPr>
          <p:nvPr/>
        </p:nvSpPr>
        <p:spPr bwMode="auto">
          <a:xfrm>
            <a:off x="1611770" y="2666110"/>
            <a:ext cx="1871662"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60000"/>
              </a:lnSpc>
              <a:spcBef>
                <a:spcPct val="50000"/>
              </a:spcBef>
              <a:spcAft>
                <a:spcPct val="0"/>
              </a:spcAft>
              <a:buClrTx/>
              <a:buNone/>
            </a:pPr>
            <a:r>
              <a:rPr lang="zh-CN" altLang="en-US" sz="2000" b="1" dirty="0">
                <a:solidFill>
                  <a:srgbClr val="D60093"/>
                </a:solidFill>
                <a:latin typeface="宋体" panose="02010600030101010101" pitchFamily="2" charset="-122"/>
                <a:ea typeface="宋体" panose="02010600030101010101" pitchFamily="2" charset="-122"/>
              </a:rPr>
              <a:t>反相关（</a:t>
            </a:r>
            <a:r>
              <a:rPr lang="en-US" altLang="zh-CN" sz="2000" b="1" dirty="0">
                <a:solidFill>
                  <a:srgbClr val="D60093"/>
                </a:solidFill>
                <a:latin typeface="宋体" panose="02010600030101010101" pitchFamily="2" charset="-122"/>
                <a:ea typeface="宋体" panose="02010600030101010101" pitchFamily="2" charset="-122"/>
              </a:rPr>
              <a:t>F8</a:t>
            </a:r>
            <a:r>
              <a:rPr lang="zh-CN" altLang="en-US" sz="2000" b="1" dirty="0">
                <a:solidFill>
                  <a:srgbClr val="D60093"/>
                </a:solidFill>
                <a:latin typeface="宋体" panose="02010600030101010101" pitchFamily="2" charset="-122"/>
                <a:ea typeface="宋体" panose="02010600030101010101" pitchFamily="2" charset="-122"/>
              </a:rPr>
              <a:t>）</a:t>
            </a:r>
          </a:p>
          <a:p>
            <a:pPr fontAlgn="base">
              <a:lnSpc>
                <a:spcPct val="60000"/>
              </a:lnSpc>
              <a:spcBef>
                <a:spcPct val="50000"/>
              </a:spcBef>
              <a:spcAft>
                <a:spcPct val="0"/>
              </a:spcAft>
              <a:buClrTx/>
              <a:buNone/>
            </a:pPr>
            <a:r>
              <a:rPr lang="zh-CN" altLang="en-US" sz="2000" b="1" dirty="0">
                <a:solidFill>
                  <a:srgbClr val="D60093"/>
                </a:solidFill>
                <a:latin typeface="宋体" panose="02010600030101010101" pitchFamily="2" charset="-122"/>
                <a:ea typeface="宋体" panose="02010600030101010101" pitchFamily="2" charset="-122"/>
              </a:rPr>
              <a:t>导致</a:t>
            </a:r>
            <a:r>
              <a:rPr lang="en-US" altLang="zh-CN" sz="2000" b="1" dirty="0">
                <a:solidFill>
                  <a:srgbClr val="D60093"/>
                </a:solidFill>
                <a:latin typeface="宋体" panose="02010600030101010101" pitchFamily="2" charset="-122"/>
                <a:ea typeface="宋体" panose="02010600030101010101" pitchFamily="2" charset="-122"/>
              </a:rPr>
              <a:t>WAR</a:t>
            </a:r>
            <a:r>
              <a:rPr lang="zh-CN" altLang="en-US" sz="2000" b="1" dirty="0">
                <a:solidFill>
                  <a:srgbClr val="D60093"/>
                </a:solidFill>
                <a:latin typeface="宋体" panose="02010600030101010101" pitchFamily="2" charset="-122"/>
                <a:ea typeface="宋体" panose="02010600030101010101" pitchFamily="2" charset="-122"/>
              </a:rPr>
              <a:t>冲突</a:t>
            </a:r>
            <a:r>
              <a:rPr lang="zh-CN" altLang="en-US" sz="2000" b="1" dirty="0">
                <a:solidFill>
                  <a:srgbClr val="008000"/>
                </a:solidFill>
                <a:latin typeface="宋体" panose="02010600030101010101" pitchFamily="2" charset="-122"/>
                <a:ea typeface="宋体" panose="02010600030101010101" pitchFamily="2" charset="-122"/>
              </a:rPr>
              <a:t> </a:t>
            </a:r>
          </a:p>
        </p:txBody>
      </p:sp>
      <p:sp>
        <p:nvSpPr>
          <p:cNvPr id="172038" name="AutoShape 11"/>
          <p:cNvSpPr>
            <a:spLocks/>
          </p:cNvSpPr>
          <p:nvPr/>
        </p:nvSpPr>
        <p:spPr bwMode="auto">
          <a:xfrm>
            <a:off x="7368181" y="2340426"/>
            <a:ext cx="228600" cy="1412967"/>
          </a:xfrm>
          <a:prstGeom prst="rightBrace">
            <a:avLst>
              <a:gd name="adj1" fmla="val 44444"/>
              <a:gd name="adj2" fmla="val 50000"/>
            </a:avLst>
          </a:prstGeom>
          <a:noFill/>
          <a:ln w="1905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algn="ctr" fontAlgn="base">
              <a:lnSpc>
                <a:spcPct val="100000"/>
              </a:lnSpc>
              <a:spcBef>
                <a:spcPct val="0"/>
              </a:spcBef>
              <a:spcAft>
                <a:spcPct val="0"/>
              </a:spcAft>
              <a:buClrTx/>
              <a:buNone/>
            </a:pPr>
            <a:endParaRPr lang="zh-CN" altLang="zh-CN">
              <a:solidFill>
                <a:srgbClr val="4768F5"/>
              </a:solidFill>
            </a:endParaRPr>
          </a:p>
        </p:txBody>
      </p:sp>
      <p:sp>
        <p:nvSpPr>
          <p:cNvPr id="172039" name="AutoShape 12"/>
          <p:cNvSpPr>
            <a:spLocks/>
          </p:cNvSpPr>
          <p:nvPr/>
        </p:nvSpPr>
        <p:spPr bwMode="auto">
          <a:xfrm>
            <a:off x="3347164" y="2410095"/>
            <a:ext cx="136268" cy="942705"/>
          </a:xfrm>
          <a:prstGeom prst="leftBrace">
            <a:avLst>
              <a:gd name="adj1" fmla="val 41667"/>
              <a:gd name="adj2" fmla="val 50000"/>
            </a:avLst>
          </a:prstGeom>
          <a:noFill/>
          <a:ln w="19050">
            <a:solidFill>
              <a:srgbClr val="D6009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endParaRPr lang="zh-CN" altLang="en-US">
              <a:solidFill>
                <a:srgbClr val="40458C"/>
              </a:solidFill>
            </a:endParaRPr>
          </a:p>
        </p:txBody>
      </p:sp>
    </p:spTree>
    <p:extLst>
      <p:ext uri="{BB962C8B-B14F-4D97-AF65-F5344CB8AC3E}">
        <p14:creationId xmlns:p14="http://schemas.microsoft.com/office/powerpoint/2010/main" val="10159619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6323" name="Rectangle 3" descr="Rectangle: Click to edit Master text styles&#10;Second level&#10;Third level&#10;Fourth level&#10;Fifth level"/>
          <p:cNvSpPr>
            <a:spLocks noGrp="1" noChangeArrowheads="1"/>
          </p:cNvSpPr>
          <p:nvPr>
            <p:ph idx="1"/>
          </p:nvPr>
        </p:nvSpPr>
        <p:spPr>
          <a:xfrm>
            <a:off x="1804081" y="762000"/>
            <a:ext cx="8315460" cy="4648200"/>
          </a:xfrm>
          <a:extLst>
            <a:ext uri="{91240B29-F687-4F45-9708-019B960494DF}">
              <a14:hiddenLine xmlns:a14="http://schemas.microsoft.com/office/drawing/2010/main" w="9525">
                <a:solidFill>
                  <a:schemeClr val="hlink"/>
                </a:solidFill>
                <a:miter lim="800000"/>
                <a:headEnd/>
                <a:tailEnd/>
              </a14:hiddenLine>
            </a:ext>
          </a:extLst>
        </p:spPr>
        <p:txBody>
          <a:bodyPr/>
          <a:lstStyle/>
          <a:p>
            <a:pPr marL="627063" lvl="1" indent="-269875" eaLnBrk="1" hangingPunct="1">
              <a:lnSpc>
                <a:spcPts val="3000"/>
              </a:lnSpc>
              <a:spcBef>
                <a:spcPts val="0"/>
              </a:spcBef>
              <a:defRPr/>
            </a:pPr>
            <a:r>
              <a:rPr lang="zh-CN" altLang="en-US" dirty="0" smtClean="0">
                <a:latin typeface="宋体" panose="02010600030101010101" pitchFamily="2" charset="-122"/>
                <a:ea typeface="宋体" panose="02010600030101010101" pitchFamily="2" charset="-122"/>
              </a:rPr>
              <a:t>消除名相关</a:t>
            </a:r>
          </a:p>
          <a:p>
            <a:pPr lvl="2" eaLnBrk="1" hangingPunct="1">
              <a:lnSpc>
                <a:spcPts val="3000"/>
              </a:lnSpc>
              <a:spcBef>
                <a:spcPts val="0"/>
              </a:spcBef>
              <a:defRPr/>
            </a:pPr>
            <a:r>
              <a:rPr lang="zh-CN" altLang="en-US" dirty="0" smtClean="0">
                <a:latin typeface="宋体" panose="02010600030101010101" pitchFamily="2" charset="-122"/>
                <a:ea typeface="宋体" panose="02010600030101010101" pitchFamily="2" charset="-122"/>
              </a:rPr>
              <a:t>引入两个临时寄存器</a:t>
            </a:r>
            <a:r>
              <a:rPr lang="en-US" altLang="zh-CN" dirty="0" smtClean="0">
                <a:solidFill>
                  <a:schemeClr val="hlink"/>
                </a:solidFill>
                <a:latin typeface="宋体" panose="02010600030101010101" pitchFamily="2" charset="-122"/>
                <a:ea typeface="宋体" panose="02010600030101010101" pitchFamily="2" charset="-122"/>
              </a:rPr>
              <a:t>S</a:t>
            </a:r>
            <a:r>
              <a:rPr lang="zh-CN" altLang="en-US" dirty="0" smtClean="0">
                <a:latin typeface="宋体" panose="02010600030101010101" pitchFamily="2" charset="-122"/>
                <a:ea typeface="宋体" panose="02010600030101010101" pitchFamily="2" charset="-122"/>
              </a:rPr>
              <a:t>和</a:t>
            </a:r>
            <a:r>
              <a:rPr lang="en-US" altLang="zh-CN" dirty="0" smtClean="0">
                <a:solidFill>
                  <a:srgbClr val="D60093"/>
                </a:solidFill>
                <a:latin typeface="宋体" panose="02010600030101010101" pitchFamily="2" charset="-122"/>
                <a:ea typeface="宋体" panose="02010600030101010101" pitchFamily="2" charset="-122"/>
              </a:rPr>
              <a:t>T</a:t>
            </a:r>
          </a:p>
          <a:p>
            <a:pPr lvl="2" eaLnBrk="1" hangingPunct="1">
              <a:lnSpc>
                <a:spcPts val="3000"/>
              </a:lnSpc>
              <a:spcBef>
                <a:spcPts val="0"/>
              </a:spcBef>
              <a:defRPr/>
            </a:pPr>
            <a:r>
              <a:rPr lang="zh-CN" altLang="en-US" dirty="0" smtClean="0">
                <a:latin typeface="宋体" panose="02010600030101010101" pitchFamily="2" charset="-122"/>
                <a:ea typeface="宋体" panose="02010600030101010101" pitchFamily="2" charset="-122"/>
              </a:rPr>
              <a:t>把这段代码改写为：</a:t>
            </a:r>
          </a:p>
          <a:p>
            <a:pPr lvl="2" eaLnBrk="1" hangingPunct="1">
              <a:lnSpc>
                <a:spcPts val="3000"/>
              </a:lnSpc>
              <a:spcBef>
                <a:spcPts val="0"/>
              </a:spcBef>
              <a:buFont typeface="Wingdings" panose="05000000000000000000" pitchFamily="2" charset="2"/>
              <a:buNone/>
              <a:defRPr/>
            </a:pPr>
            <a:r>
              <a:rPr lang="zh-CN" altLang="en-US" dirty="0" smtClean="0">
                <a:latin typeface="宋体" panose="02010600030101010101" pitchFamily="2" charset="-122"/>
                <a:ea typeface="宋体" panose="02010600030101010101" pitchFamily="2" charset="-122"/>
              </a:rPr>
              <a:t>       </a:t>
            </a:r>
            <a:r>
              <a:rPr lang="en-US" altLang="zh-CN" dirty="0" smtClean="0">
                <a:latin typeface="宋体" panose="02010600030101010101" pitchFamily="2" charset="-122"/>
                <a:ea typeface="宋体" panose="02010600030101010101" pitchFamily="2" charset="-122"/>
              </a:rPr>
              <a:t>DIV.D	F0</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F2</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F4</a:t>
            </a:r>
          </a:p>
          <a:p>
            <a:pPr lvl="2" eaLnBrk="1" hangingPunct="1">
              <a:lnSpc>
                <a:spcPts val="3000"/>
              </a:lnSpc>
              <a:spcBef>
                <a:spcPts val="0"/>
              </a:spcBef>
              <a:buFont typeface="Wingdings" panose="05000000000000000000" pitchFamily="2" charset="2"/>
              <a:buNone/>
              <a:defRPr/>
            </a:pPr>
            <a:r>
              <a:rPr lang="en-US" altLang="zh-CN" dirty="0" smtClean="0">
                <a:latin typeface="宋体" panose="02010600030101010101" pitchFamily="2" charset="-122"/>
                <a:ea typeface="宋体" panose="02010600030101010101" pitchFamily="2" charset="-122"/>
              </a:rPr>
              <a:t>       </a:t>
            </a:r>
            <a:r>
              <a:rPr lang="en-US" altLang="zh-CN" dirty="0" smtClean="0">
                <a:solidFill>
                  <a:srgbClr val="FF0000"/>
                </a:solidFill>
                <a:latin typeface="宋体" panose="02010600030101010101" pitchFamily="2" charset="-122"/>
                <a:ea typeface="宋体" panose="02010600030101010101" pitchFamily="2" charset="-122"/>
              </a:rPr>
              <a:t>ADD.D</a:t>
            </a:r>
            <a:r>
              <a:rPr lang="en-US" altLang="zh-CN" dirty="0" smtClean="0">
                <a:latin typeface="宋体" panose="02010600030101010101" pitchFamily="2" charset="-122"/>
                <a:ea typeface="宋体" panose="02010600030101010101" pitchFamily="2" charset="-122"/>
              </a:rPr>
              <a:t>	</a:t>
            </a:r>
            <a:r>
              <a:rPr lang="en-US" altLang="zh-CN" dirty="0" smtClean="0">
                <a:solidFill>
                  <a:schemeClr val="hlink"/>
                </a:solidFill>
                <a:latin typeface="宋体" panose="02010600030101010101" pitchFamily="2" charset="-122"/>
                <a:ea typeface="宋体" panose="02010600030101010101" pitchFamily="2" charset="-122"/>
              </a:rPr>
              <a:t>S</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F0</a:t>
            </a:r>
            <a:r>
              <a:rPr lang="zh-CN" altLang="en-US" dirty="0" smtClean="0">
                <a:latin typeface="宋体" panose="02010600030101010101" pitchFamily="2" charset="-122"/>
                <a:ea typeface="宋体" panose="02010600030101010101" pitchFamily="2" charset="-122"/>
              </a:rPr>
              <a:t>，</a:t>
            </a:r>
            <a:r>
              <a:rPr lang="en-US" altLang="zh-CN" dirty="0" smtClean="0">
                <a:solidFill>
                  <a:srgbClr val="C705CC"/>
                </a:solidFill>
                <a:latin typeface="宋体" panose="02010600030101010101" pitchFamily="2" charset="-122"/>
                <a:ea typeface="宋体" panose="02010600030101010101" pitchFamily="2" charset="-122"/>
              </a:rPr>
              <a:t>F8</a:t>
            </a:r>
          </a:p>
          <a:p>
            <a:pPr lvl="2" eaLnBrk="1" hangingPunct="1">
              <a:lnSpc>
                <a:spcPts val="3000"/>
              </a:lnSpc>
              <a:spcBef>
                <a:spcPts val="0"/>
              </a:spcBef>
              <a:buFont typeface="Wingdings" panose="05000000000000000000" pitchFamily="2" charset="2"/>
              <a:buNone/>
              <a:defRPr/>
            </a:pPr>
            <a:r>
              <a:rPr lang="en-US" altLang="zh-CN" dirty="0" smtClean="0">
                <a:latin typeface="宋体" panose="02010600030101010101" pitchFamily="2" charset="-122"/>
                <a:ea typeface="宋体" panose="02010600030101010101" pitchFamily="2" charset="-122"/>
              </a:rPr>
              <a:t>       S.D	</a:t>
            </a:r>
            <a:r>
              <a:rPr lang="en-US" altLang="zh-CN" dirty="0" smtClean="0">
                <a:solidFill>
                  <a:schemeClr val="hlink"/>
                </a:solidFill>
                <a:latin typeface="宋体" panose="02010600030101010101" pitchFamily="2" charset="-122"/>
                <a:ea typeface="宋体" panose="02010600030101010101" pitchFamily="2" charset="-122"/>
              </a:rPr>
              <a:t>S</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0</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R1</a:t>
            </a:r>
            <a:r>
              <a:rPr lang="zh-CN" altLang="en-US" dirty="0" smtClean="0">
                <a:latin typeface="宋体" panose="02010600030101010101" pitchFamily="2" charset="-122"/>
                <a:ea typeface="宋体" panose="02010600030101010101" pitchFamily="2" charset="-122"/>
              </a:rPr>
              <a:t>）</a:t>
            </a:r>
          </a:p>
          <a:p>
            <a:pPr lvl="2" eaLnBrk="1" hangingPunct="1">
              <a:lnSpc>
                <a:spcPts val="3000"/>
              </a:lnSpc>
              <a:spcBef>
                <a:spcPts val="0"/>
              </a:spcBef>
              <a:buFont typeface="Wingdings" panose="05000000000000000000" pitchFamily="2" charset="2"/>
              <a:buNone/>
              <a:defRPr/>
            </a:pPr>
            <a:r>
              <a:rPr lang="zh-CN" altLang="en-US" dirty="0" smtClean="0">
                <a:latin typeface="宋体" panose="02010600030101010101" pitchFamily="2" charset="-122"/>
                <a:ea typeface="宋体" panose="02010600030101010101" pitchFamily="2" charset="-122"/>
              </a:rPr>
              <a:t>       </a:t>
            </a:r>
            <a:r>
              <a:rPr lang="en-US" altLang="zh-CN" dirty="0" smtClean="0">
                <a:solidFill>
                  <a:srgbClr val="FF0000"/>
                </a:solidFill>
                <a:latin typeface="宋体" panose="02010600030101010101" pitchFamily="2" charset="-122"/>
                <a:ea typeface="宋体" panose="02010600030101010101" pitchFamily="2" charset="-122"/>
              </a:rPr>
              <a:t>SUB.D</a:t>
            </a:r>
            <a:r>
              <a:rPr lang="en-US" altLang="zh-CN" dirty="0" smtClean="0">
                <a:latin typeface="宋体" panose="02010600030101010101" pitchFamily="2" charset="-122"/>
                <a:ea typeface="宋体" panose="02010600030101010101" pitchFamily="2" charset="-122"/>
              </a:rPr>
              <a:t>	</a:t>
            </a:r>
            <a:r>
              <a:rPr lang="en-US" altLang="zh-CN" dirty="0" smtClean="0">
                <a:solidFill>
                  <a:srgbClr val="C705CC"/>
                </a:solidFill>
                <a:latin typeface="宋体" panose="02010600030101010101" pitchFamily="2" charset="-122"/>
                <a:ea typeface="宋体" panose="02010600030101010101" pitchFamily="2" charset="-122"/>
              </a:rPr>
              <a:t>T</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F10</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F14</a:t>
            </a:r>
          </a:p>
          <a:p>
            <a:pPr lvl="2" eaLnBrk="1" hangingPunct="1">
              <a:lnSpc>
                <a:spcPts val="3000"/>
              </a:lnSpc>
              <a:spcBef>
                <a:spcPts val="0"/>
              </a:spcBef>
              <a:buFont typeface="Wingdings" panose="05000000000000000000" pitchFamily="2" charset="2"/>
              <a:buNone/>
              <a:defRPr/>
            </a:pPr>
            <a:r>
              <a:rPr lang="en-US" altLang="zh-CN" dirty="0" smtClean="0">
                <a:latin typeface="宋体" panose="02010600030101010101" pitchFamily="2" charset="-122"/>
                <a:ea typeface="宋体" panose="02010600030101010101" pitchFamily="2" charset="-122"/>
              </a:rPr>
              <a:t>       </a:t>
            </a:r>
            <a:r>
              <a:rPr lang="en-US" altLang="zh-CN" dirty="0" smtClean="0">
                <a:solidFill>
                  <a:srgbClr val="FF0000"/>
                </a:solidFill>
                <a:latin typeface="宋体" panose="02010600030101010101" pitchFamily="2" charset="-122"/>
                <a:ea typeface="宋体" panose="02010600030101010101" pitchFamily="2" charset="-122"/>
              </a:rPr>
              <a:t>MUL.D</a:t>
            </a:r>
            <a:r>
              <a:rPr lang="en-US" altLang="zh-CN" dirty="0" smtClean="0">
                <a:latin typeface="宋体" panose="02010600030101010101" pitchFamily="2" charset="-122"/>
                <a:ea typeface="宋体" panose="02010600030101010101" pitchFamily="2" charset="-122"/>
              </a:rPr>
              <a:t>	</a:t>
            </a:r>
            <a:r>
              <a:rPr lang="en-US" altLang="zh-CN" dirty="0" smtClean="0">
                <a:solidFill>
                  <a:schemeClr val="hlink"/>
                </a:solidFill>
                <a:latin typeface="宋体" panose="02010600030101010101" pitchFamily="2" charset="-122"/>
                <a:ea typeface="宋体" panose="02010600030101010101" pitchFamily="2" charset="-122"/>
              </a:rPr>
              <a:t>F6</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F10</a:t>
            </a:r>
            <a:r>
              <a:rPr lang="zh-CN" altLang="en-US" dirty="0" smtClean="0">
                <a:latin typeface="宋体" panose="02010600030101010101" pitchFamily="2" charset="-122"/>
                <a:ea typeface="宋体" panose="02010600030101010101" pitchFamily="2" charset="-122"/>
              </a:rPr>
              <a:t>，</a:t>
            </a:r>
            <a:r>
              <a:rPr lang="en-US" altLang="zh-CN" dirty="0" smtClean="0">
                <a:solidFill>
                  <a:srgbClr val="C705CC"/>
                </a:solidFill>
                <a:latin typeface="宋体" panose="02010600030101010101" pitchFamily="2" charset="-122"/>
                <a:ea typeface="宋体" panose="02010600030101010101" pitchFamily="2" charset="-122"/>
              </a:rPr>
              <a:t>T</a:t>
            </a:r>
          </a:p>
          <a:p>
            <a:pPr lvl="2" eaLnBrk="1" hangingPunct="1">
              <a:lnSpc>
                <a:spcPts val="3000"/>
              </a:lnSpc>
              <a:spcBef>
                <a:spcPts val="0"/>
              </a:spcBef>
              <a:buFont typeface="Wingdings" panose="05000000000000000000" pitchFamily="2" charset="2"/>
              <a:buNone/>
              <a:defRPr/>
            </a:pPr>
            <a:endParaRPr lang="en-US" altLang="zh-CN" dirty="0" smtClean="0">
              <a:solidFill>
                <a:schemeClr val="bg2">
                  <a:lumMod val="75000"/>
                </a:schemeClr>
              </a:solidFill>
              <a:latin typeface="宋体" panose="02010600030101010101" pitchFamily="2" charset="-122"/>
              <a:ea typeface="宋体" panose="02010600030101010101" pitchFamily="2" charset="-122"/>
            </a:endParaRPr>
          </a:p>
          <a:p>
            <a:pPr marL="0" lvl="2" indent="0" fontAlgn="base">
              <a:lnSpc>
                <a:spcPct val="100000"/>
              </a:lnSpc>
              <a:spcBef>
                <a:spcPct val="50000"/>
              </a:spcBef>
              <a:spcAft>
                <a:spcPct val="0"/>
              </a:spcAft>
              <a:buNone/>
              <a:defRPr/>
            </a:pPr>
            <a:r>
              <a:rPr kumimoji="1" lang="en-US" altLang="zh-CN" b="1" dirty="0" smtClean="0">
                <a:solidFill>
                  <a:srgbClr val="4768F5"/>
                </a:solidFill>
                <a:latin typeface="宋体" panose="02010600030101010101" pitchFamily="2" charset="-122"/>
                <a:ea typeface="宋体" panose="02010600030101010101" pitchFamily="2" charset="-122"/>
              </a:rPr>
              <a:t>       </a:t>
            </a:r>
            <a:r>
              <a:rPr kumimoji="1" lang="en-US" altLang="zh-CN" dirty="0" smtClean="0">
                <a:solidFill>
                  <a:srgbClr val="4768F5"/>
                </a:solidFill>
                <a:latin typeface="宋体" panose="02010600030101010101" pitchFamily="2" charset="-122"/>
                <a:ea typeface="宋体" panose="02010600030101010101" pitchFamily="2" charset="-122"/>
              </a:rPr>
              <a:t>S</a:t>
            </a:r>
            <a:r>
              <a:rPr kumimoji="1" lang="zh-CN" altLang="en-US" dirty="0">
                <a:solidFill>
                  <a:srgbClr val="4768F5"/>
                </a:solidFill>
                <a:latin typeface="宋体" panose="02010600030101010101" pitchFamily="2" charset="-122"/>
                <a:ea typeface="宋体" panose="02010600030101010101" pitchFamily="2" charset="-122"/>
              </a:rPr>
              <a:t>消除</a:t>
            </a:r>
            <a:r>
              <a:rPr kumimoji="1" lang="en-US" altLang="zh-CN" dirty="0">
                <a:solidFill>
                  <a:srgbClr val="4768F5"/>
                </a:solidFill>
                <a:latin typeface="宋体" panose="02010600030101010101" pitchFamily="2" charset="-122"/>
                <a:ea typeface="宋体" panose="02010600030101010101" pitchFamily="2" charset="-122"/>
              </a:rPr>
              <a:t>ADD</a:t>
            </a:r>
            <a:r>
              <a:rPr kumimoji="1" lang="zh-CN" altLang="en-US" dirty="0">
                <a:solidFill>
                  <a:srgbClr val="4768F5"/>
                </a:solidFill>
                <a:latin typeface="宋体" panose="02010600030101010101" pitchFamily="2" charset="-122"/>
                <a:ea typeface="宋体" panose="02010600030101010101" pitchFamily="2" charset="-122"/>
              </a:rPr>
              <a:t>与</a:t>
            </a:r>
            <a:r>
              <a:rPr kumimoji="1" lang="en-US" altLang="zh-CN" dirty="0">
                <a:solidFill>
                  <a:srgbClr val="4768F5"/>
                </a:solidFill>
                <a:latin typeface="宋体" panose="02010600030101010101" pitchFamily="2" charset="-122"/>
                <a:ea typeface="宋体" panose="02010600030101010101" pitchFamily="2" charset="-122"/>
              </a:rPr>
              <a:t>MUL</a:t>
            </a:r>
            <a:r>
              <a:rPr kumimoji="1" lang="zh-CN" altLang="en-US" dirty="0">
                <a:solidFill>
                  <a:srgbClr val="4768F5"/>
                </a:solidFill>
                <a:latin typeface="宋体" panose="02010600030101010101" pitchFamily="2" charset="-122"/>
                <a:ea typeface="宋体" panose="02010600030101010101" pitchFamily="2" charset="-122"/>
              </a:rPr>
              <a:t>的</a:t>
            </a:r>
            <a:r>
              <a:rPr kumimoji="1" lang="en-US" altLang="zh-CN" dirty="0">
                <a:solidFill>
                  <a:srgbClr val="4768F5"/>
                </a:solidFill>
                <a:latin typeface="宋体" panose="02010600030101010101" pitchFamily="2" charset="-122"/>
                <a:ea typeface="宋体" panose="02010600030101010101" pitchFamily="2" charset="-122"/>
              </a:rPr>
              <a:t>WAW</a:t>
            </a:r>
            <a:r>
              <a:rPr kumimoji="1" lang="zh-CN" altLang="en-US" dirty="0">
                <a:solidFill>
                  <a:srgbClr val="4768F5"/>
                </a:solidFill>
                <a:latin typeface="宋体" panose="02010600030101010101" pitchFamily="2" charset="-122"/>
                <a:ea typeface="宋体" panose="02010600030101010101" pitchFamily="2" charset="-122"/>
              </a:rPr>
              <a:t>冲突</a:t>
            </a:r>
            <a:endParaRPr kumimoji="1" lang="en-US" altLang="zh-CN" dirty="0">
              <a:solidFill>
                <a:srgbClr val="4768F5"/>
              </a:solidFill>
              <a:latin typeface="宋体" panose="02010600030101010101" pitchFamily="2" charset="-122"/>
              <a:ea typeface="宋体" panose="02010600030101010101" pitchFamily="2" charset="-122"/>
            </a:endParaRPr>
          </a:p>
          <a:p>
            <a:pPr lvl="2" eaLnBrk="1" hangingPunct="1">
              <a:lnSpc>
                <a:spcPts val="3000"/>
              </a:lnSpc>
              <a:spcBef>
                <a:spcPts val="0"/>
              </a:spcBef>
              <a:buFont typeface="Wingdings" panose="05000000000000000000" pitchFamily="2" charset="2"/>
              <a:buNone/>
              <a:defRPr/>
            </a:pPr>
            <a:r>
              <a:rPr lang="en-US" altLang="zh-CN" dirty="0" smtClean="0">
                <a:solidFill>
                  <a:srgbClr val="C705CC"/>
                </a:solidFill>
                <a:latin typeface="宋体" panose="02010600030101010101" pitchFamily="2" charset="-122"/>
                <a:ea typeface="宋体" panose="02010600030101010101" pitchFamily="2" charset="-122"/>
              </a:rPr>
              <a:t>T</a:t>
            </a:r>
            <a:r>
              <a:rPr lang="zh-CN" altLang="en-US" dirty="0" smtClean="0">
                <a:solidFill>
                  <a:srgbClr val="C705CC"/>
                </a:solidFill>
                <a:latin typeface="宋体" panose="02010600030101010101" pitchFamily="2" charset="-122"/>
                <a:ea typeface="宋体" panose="02010600030101010101" pitchFamily="2" charset="-122"/>
              </a:rPr>
              <a:t>消除</a:t>
            </a:r>
            <a:r>
              <a:rPr lang="en-US" altLang="zh-CN" dirty="0" smtClean="0">
                <a:solidFill>
                  <a:srgbClr val="C705CC"/>
                </a:solidFill>
                <a:latin typeface="宋体" panose="02010600030101010101" pitchFamily="2" charset="-122"/>
                <a:ea typeface="宋体" panose="02010600030101010101" pitchFamily="2" charset="-122"/>
              </a:rPr>
              <a:t>ADD</a:t>
            </a:r>
            <a:r>
              <a:rPr lang="zh-CN" altLang="en-US" dirty="0" smtClean="0">
                <a:solidFill>
                  <a:srgbClr val="C705CC"/>
                </a:solidFill>
                <a:latin typeface="宋体" panose="02010600030101010101" pitchFamily="2" charset="-122"/>
                <a:ea typeface="宋体" panose="02010600030101010101" pitchFamily="2" charset="-122"/>
              </a:rPr>
              <a:t>与</a:t>
            </a:r>
            <a:r>
              <a:rPr lang="en-US" altLang="zh-CN" dirty="0" smtClean="0">
                <a:solidFill>
                  <a:srgbClr val="C705CC"/>
                </a:solidFill>
                <a:latin typeface="宋体" panose="02010600030101010101" pitchFamily="2" charset="-122"/>
                <a:ea typeface="宋体" panose="02010600030101010101" pitchFamily="2" charset="-122"/>
              </a:rPr>
              <a:t>SUB</a:t>
            </a:r>
            <a:r>
              <a:rPr lang="zh-CN" altLang="en-US" dirty="0" smtClean="0">
                <a:solidFill>
                  <a:srgbClr val="C705CC"/>
                </a:solidFill>
                <a:latin typeface="宋体" panose="02010600030101010101" pitchFamily="2" charset="-122"/>
                <a:ea typeface="宋体" panose="02010600030101010101" pitchFamily="2" charset="-122"/>
              </a:rPr>
              <a:t>的</a:t>
            </a:r>
            <a:r>
              <a:rPr lang="en-US" altLang="zh-CN" dirty="0" smtClean="0">
                <a:solidFill>
                  <a:srgbClr val="C705CC"/>
                </a:solidFill>
                <a:latin typeface="宋体" panose="02010600030101010101" pitchFamily="2" charset="-122"/>
                <a:ea typeface="宋体" panose="02010600030101010101" pitchFamily="2" charset="-122"/>
              </a:rPr>
              <a:t>WAR</a:t>
            </a:r>
            <a:r>
              <a:rPr lang="zh-CN" altLang="en-US" dirty="0">
                <a:solidFill>
                  <a:srgbClr val="C705CC"/>
                </a:solidFill>
                <a:latin typeface="宋体" panose="02010600030101010101" pitchFamily="2" charset="-122"/>
                <a:ea typeface="宋体" panose="02010600030101010101" pitchFamily="2" charset="-122"/>
              </a:rPr>
              <a:t>冲突</a:t>
            </a:r>
            <a:endParaRPr lang="en-US" altLang="zh-CN" dirty="0" smtClean="0">
              <a:solidFill>
                <a:srgbClr val="C705CC"/>
              </a:solidFill>
              <a:latin typeface="宋体" panose="02010600030101010101" pitchFamily="2" charset="-122"/>
              <a:ea typeface="宋体" panose="02010600030101010101" pitchFamily="2" charset="-122"/>
            </a:endParaRPr>
          </a:p>
          <a:p>
            <a:pPr lvl="2" eaLnBrk="1" hangingPunct="1">
              <a:buFont typeface="Wingdings" panose="05000000000000000000" pitchFamily="2" charset="2"/>
              <a:buNone/>
              <a:defRPr/>
            </a:pPr>
            <a:endParaRPr lang="en-US" altLang="zh-CN" dirty="0" smtClean="0">
              <a:solidFill>
                <a:srgbClr val="C705CC"/>
              </a:solidFill>
              <a:latin typeface="黑体" pitchFamily="49" charset="-122"/>
              <a:ea typeface="黑体" pitchFamily="49" charset="-122"/>
            </a:endParaRPr>
          </a:p>
        </p:txBody>
      </p:sp>
      <p:sp>
        <p:nvSpPr>
          <p:cNvPr id="173060" name="Text Box 4"/>
          <p:cNvSpPr txBox="1">
            <a:spLocks noChangeArrowheads="1"/>
          </p:cNvSpPr>
          <p:nvPr/>
        </p:nvSpPr>
        <p:spPr bwMode="auto">
          <a:xfrm>
            <a:off x="6285774" y="2508251"/>
            <a:ext cx="2376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50000"/>
              </a:spcBef>
              <a:spcAft>
                <a:spcPct val="0"/>
              </a:spcAft>
              <a:buClrTx/>
              <a:buNone/>
            </a:pPr>
            <a:r>
              <a:rPr lang="zh-CN" altLang="en-US" sz="2000" dirty="0">
                <a:solidFill>
                  <a:srgbClr val="4768F5"/>
                </a:solidFill>
                <a:latin typeface="宋体" panose="02010600030101010101" pitchFamily="2" charset="-122"/>
                <a:ea typeface="宋体" panose="02010600030101010101" pitchFamily="2" charset="-122"/>
              </a:rPr>
              <a:t>两个</a:t>
            </a:r>
            <a:r>
              <a:rPr lang="en-US" altLang="zh-CN" sz="2000" dirty="0">
                <a:solidFill>
                  <a:srgbClr val="4768F5"/>
                </a:solidFill>
                <a:latin typeface="宋体" panose="02010600030101010101" pitchFamily="2" charset="-122"/>
                <a:ea typeface="宋体" panose="02010600030101010101" pitchFamily="2" charset="-122"/>
              </a:rPr>
              <a:t>F6</a:t>
            </a:r>
            <a:r>
              <a:rPr lang="zh-CN" altLang="en-US" sz="2000" dirty="0">
                <a:solidFill>
                  <a:srgbClr val="4768F5"/>
                </a:solidFill>
                <a:latin typeface="宋体" panose="02010600030101010101" pitchFamily="2" charset="-122"/>
                <a:ea typeface="宋体" panose="02010600030101010101" pitchFamily="2" charset="-122"/>
              </a:rPr>
              <a:t>都换名为</a:t>
            </a:r>
            <a:r>
              <a:rPr lang="en-US" altLang="zh-CN" sz="2000" dirty="0">
                <a:solidFill>
                  <a:srgbClr val="4768F5"/>
                </a:solidFill>
                <a:latin typeface="宋体" panose="02010600030101010101" pitchFamily="2" charset="-122"/>
                <a:ea typeface="宋体" panose="02010600030101010101" pitchFamily="2" charset="-122"/>
              </a:rPr>
              <a:t>S</a:t>
            </a:r>
            <a:r>
              <a:rPr lang="en-US" altLang="zh-CN" sz="2000" dirty="0">
                <a:solidFill>
                  <a:srgbClr val="40458C"/>
                </a:solidFill>
              </a:rPr>
              <a:t> </a:t>
            </a:r>
          </a:p>
        </p:txBody>
      </p:sp>
      <p:sp>
        <p:nvSpPr>
          <p:cNvPr id="173061" name="AutoShape 5"/>
          <p:cNvSpPr>
            <a:spLocks/>
          </p:cNvSpPr>
          <p:nvPr/>
        </p:nvSpPr>
        <p:spPr bwMode="auto">
          <a:xfrm>
            <a:off x="5986417" y="2508251"/>
            <a:ext cx="153126" cy="379411"/>
          </a:xfrm>
          <a:prstGeom prst="rightBrace">
            <a:avLst>
              <a:gd name="adj1" fmla="val 29121"/>
              <a:gd name="adj2" fmla="val 50000"/>
            </a:avLst>
          </a:prstGeom>
          <a:noFill/>
          <a:ln w="1905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endParaRPr lang="zh-CN" altLang="en-US">
              <a:solidFill>
                <a:srgbClr val="40458C"/>
              </a:solidFill>
            </a:endParaRPr>
          </a:p>
        </p:txBody>
      </p:sp>
      <p:sp>
        <p:nvSpPr>
          <p:cNvPr id="173062" name="AutoShape 6"/>
          <p:cNvSpPr>
            <a:spLocks/>
          </p:cNvSpPr>
          <p:nvPr/>
        </p:nvSpPr>
        <p:spPr bwMode="auto">
          <a:xfrm>
            <a:off x="3415166" y="3272631"/>
            <a:ext cx="142875" cy="431800"/>
          </a:xfrm>
          <a:prstGeom prst="leftBrace">
            <a:avLst>
              <a:gd name="adj1" fmla="val 25185"/>
              <a:gd name="adj2" fmla="val 50000"/>
            </a:avLst>
          </a:prstGeom>
          <a:noFill/>
          <a:ln w="19050">
            <a:solidFill>
              <a:srgbClr val="D6009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algn="ctr" fontAlgn="base">
              <a:lnSpc>
                <a:spcPct val="100000"/>
              </a:lnSpc>
              <a:spcBef>
                <a:spcPct val="0"/>
              </a:spcBef>
              <a:spcAft>
                <a:spcPct val="0"/>
              </a:spcAft>
              <a:buClrTx/>
              <a:buNone/>
            </a:pPr>
            <a:endParaRPr lang="zh-CN" altLang="zh-CN">
              <a:solidFill>
                <a:srgbClr val="D60093"/>
              </a:solidFill>
            </a:endParaRPr>
          </a:p>
        </p:txBody>
      </p:sp>
      <p:sp>
        <p:nvSpPr>
          <p:cNvPr id="173063" name="Text Box 7"/>
          <p:cNvSpPr txBox="1">
            <a:spLocks noChangeArrowheads="1"/>
          </p:cNvSpPr>
          <p:nvPr/>
        </p:nvSpPr>
        <p:spPr bwMode="auto">
          <a:xfrm>
            <a:off x="1326016" y="3272631"/>
            <a:ext cx="2232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50000"/>
              </a:spcBef>
              <a:spcAft>
                <a:spcPct val="0"/>
              </a:spcAft>
              <a:buClrTx/>
              <a:buNone/>
            </a:pPr>
            <a:r>
              <a:rPr lang="zh-CN" altLang="en-US" sz="2000" dirty="0">
                <a:solidFill>
                  <a:srgbClr val="D60093"/>
                </a:solidFill>
                <a:latin typeface="宋体" panose="02010600030101010101" pitchFamily="2" charset="-122"/>
                <a:ea typeface="宋体" panose="02010600030101010101" pitchFamily="2" charset="-122"/>
              </a:rPr>
              <a:t>两个</a:t>
            </a:r>
            <a:r>
              <a:rPr lang="en-US" altLang="zh-CN" sz="2000" dirty="0">
                <a:solidFill>
                  <a:srgbClr val="D60093"/>
                </a:solidFill>
                <a:latin typeface="宋体" panose="02010600030101010101" pitchFamily="2" charset="-122"/>
                <a:ea typeface="宋体" panose="02010600030101010101" pitchFamily="2" charset="-122"/>
              </a:rPr>
              <a:t>F8</a:t>
            </a:r>
            <a:r>
              <a:rPr lang="zh-CN" altLang="en-US" sz="2000" dirty="0">
                <a:solidFill>
                  <a:srgbClr val="D60093"/>
                </a:solidFill>
                <a:latin typeface="宋体" panose="02010600030101010101" pitchFamily="2" charset="-122"/>
                <a:ea typeface="宋体" panose="02010600030101010101" pitchFamily="2" charset="-122"/>
              </a:rPr>
              <a:t>都换名为</a:t>
            </a:r>
            <a:r>
              <a:rPr lang="en-US" altLang="zh-CN" sz="2000" dirty="0">
                <a:solidFill>
                  <a:srgbClr val="D60093"/>
                </a:solidFill>
                <a:latin typeface="宋体" panose="02010600030101010101" pitchFamily="2" charset="-122"/>
                <a:ea typeface="宋体" panose="02010600030101010101" pitchFamily="2" charset="-122"/>
              </a:rPr>
              <a:t>T </a:t>
            </a:r>
          </a:p>
        </p:txBody>
      </p:sp>
      <p:sp>
        <p:nvSpPr>
          <p:cNvPr id="173064" name="Rectangle 8" descr="Rectangle: Click to edit Master text styles&#10;Second level&#10;Third level&#10;Fourth level&#10;Fifth level"/>
          <p:cNvSpPr>
            <a:spLocks noChangeArrowheads="1"/>
          </p:cNvSpPr>
          <p:nvPr/>
        </p:nvSpPr>
        <p:spPr bwMode="auto">
          <a:xfrm>
            <a:off x="2208213" y="4953000"/>
            <a:ext cx="77025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spcAft>
                <a:spcPct val="0"/>
              </a:spcAft>
              <a:buClr>
                <a:srgbClr val="40458C"/>
              </a:buClr>
              <a:buFont typeface="Wingdings" panose="05000000000000000000" pitchFamily="2" charset="2"/>
              <a:buAutoNum type="arabicPeriod" startAt="4"/>
            </a:pPr>
            <a:endParaRPr lang="zh-CN" altLang="en-US">
              <a:latin typeface="黑体" panose="02010609060101010101" pitchFamily="49" charset="-122"/>
            </a:endParaRPr>
          </a:p>
        </p:txBody>
      </p:sp>
    </p:spTree>
    <p:extLst>
      <p:ext uri="{BB962C8B-B14F-4D97-AF65-F5344CB8AC3E}">
        <p14:creationId xmlns:p14="http://schemas.microsoft.com/office/powerpoint/2010/main" val="29543857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171319" y="205758"/>
            <a:ext cx="8029388" cy="5317272"/>
          </a:xfrm>
        </p:spPr>
        <p:txBody>
          <a:bodyPr/>
          <a:lstStyle/>
          <a:p>
            <a:pPr marL="0" indent="0">
              <a:buNone/>
            </a:pPr>
            <a:r>
              <a:rPr lang="en-US" altLang="zh-CN" sz="2400" dirty="0" smtClean="0">
                <a:solidFill>
                  <a:srgbClr val="181E33"/>
                </a:solidFill>
                <a:latin typeface="宋体" panose="02010600030101010101" pitchFamily="2" charset="-122"/>
                <a:ea typeface="宋体" panose="02010600030101010101" pitchFamily="2" charset="-122"/>
              </a:rPr>
              <a:t>2.Tomasulo</a:t>
            </a:r>
            <a:r>
              <a:rPr lang="zh-CN" altLang="en-US" sz="2400" dirty="0">
                <a:solidFill>
                  <a:srgbClr val="181E33"/>
                </a:solidFill>
                <a:latin typeface="宋体" panose="02010600030101010101" pitchFamily="2" charset="-122"/>
                <a:ea typeface="宋体" panose="02010600030101010101" pitchFamily="2" charset="-122"/>
              </a:rPr>
              <a:t>的基本结构</a:t>
            </a:r>
          </a:p>
          <a:p>
            <a:pPr marL="0" indent="0">
              <a:buNone/>
            </a:pPr>
            <a:r>
              <a:rPr lang="zh-CN" altLang="en-US" sz="2400" dirty="0" smtClean="0">
                <a:solidFill>
                  <a:srgbClr val="181E33"/>
                </a:solidFill>
                <a:latin typeface="宋体" panose="02010600030101010101" pitchFamily="2" charset="-122"/>
                <a:ea typeface="宋体" panose="02010600030101010101" pitchFamily="2" charset="-122"/>
              </a:rPr>
              <a:t>主要部件：</a:t>
            </a:r>
            <a:endParaRPr lang="zh-CN" altLang="en-US" sz="2400" dirty="0">
              <a:solidFill>
                <a:srgbClr val="181E33"/>
              </a:solidFill>
              <a:latin typeface="宋体" panose="02010600030101010101" pitchFamily="2" charset="-122"/>
              <a:ea typeface="宋体" panose="02010600030101010101" pitchFamily="2" charset="-122"/>
            </a:endParaRPr>
          </a:p>
          <a:p>
            <a:pPr indent="311150">
              <a:buFont typeface="Arial" panose="020B0604020202020204" pitchFamily="34" charset="0"/>
              <a:buChar char="•"/>
            </a:pPr>
            <a:r>
              <a:rPr lang="zh-CN" altLang="en-US" sz="2400" dirty="0">
                <a:solidFill>
                  <a:srgbClr val="181E33"/>
                </a:solidFill>
                <a:latin typeface="宋体" panose="02010600030101010101" pitchFamily="2" charset="-122"/>
                <a:ea typeface="宋体" panose="02010600030101010101" pitchFamily="2" charset="-122"/>
              </a:rPr>
              <a:t>指令队列</a:t>
            </a:r>
          </a:p>
          <a:p>
            <a:pPr indent="311150">
              <a:buFont typeface="Arial" panose="020B0604020202020204" pitchFamily="34" charset="0"/>
              <a:buChar char="•"/>
            </a:pPr>
            <a:r>
              <a:rPr lang="zh-CN" altLang="en-US" sz="2400" dirty="0">
                <a:solidFill>
                  <a:srgbClr val="181E33"/>
                </a:solidFill>
                <a:latin typeface="宋体" panose="02010600030101010101" pitchFamily="2" charset="-122"/>
                <a:ea typeface="宋体" panose="02010600030101010101" pitchFamily="2" charset="-122"/>
              </a:rPr>
              <a:t>保留站</a:t>
            </a:r>
          </a:p>
          <a:p>
            <a:pPr indent="311150">
              <a:buFont typeface="Arial" panose="020B0604020202020204" pitchFamily="34" charset="0"/>
              <a:buChar char="•"/>
            </a:pPr>
            <a:r>
              <a:rPr lang="en-US" altLang="zh-CN" sz="2400" dirty="0">
                <a:solidFill>
                  <a:srgbClr val="181E33"/>
                </a:solidFill>
                <a:latin typeface="宋体" panose="02010600030101010101" pitchFamily="2" charset="-122"/>
                <a:ea typeface="宋体" panose="02010600030101010101" pitchFamily="2" charset="-122"/>
              </a:rPr>
              <a:t>Store/load</a:t>
            </a:r>
            <a:r>
              <a:rPr lang="zh-CN" altLang="en-US" sz="2400" dirty="0">
                <a:solidFill>
                  <a:srgbClr val="181E33"/>
                </a:solidFill>
                <a:latin typeface="宋体" panose="02010600030101010101" pitchFamily="2" charset="-122"/>
                <a:ea typeface="宋体" panose="02010600030101010101" pitchFamily="2" charset="-122"/>
              </a:rPr>
              <a:t>缓冲器</a:t>
            </a:r>
          </a:p>
          <a:p>
            <a:pPr indent="311150">
              <a:buFont typeface="Arial" panose="020B0604020202020204" pitchFamily="34" charset="0"/>
              <a:buChar char="•"/>
            </a:pPr>
            <a:r>
              <a:rPr lang="zh-CN" altLang="en-US" sz="2400" dirty="0">
                <a:solidFill>
                  <a:srgbClr val="181E33"/>
                </a:solidFill>
                <a:latin typeface="宋体" panose="02010600030101010101" pitchFamily="2" charset="-122"/>
                <a:ea typeface="宋体" panose="02010600030101010101" pitchFamily="2" charset="-122"/>
              </a:rPr>
              <a:t>公共数据总线</a:t>
            </a:r>
            <a:r>
              <a:rPr lang="en-US" altLang="zh-CN" sz="2400" dirty="0" smtClean="0">
                <a:solidFill>
                  <a:srgbClr val="181E33"/>
                </a:solidFill>
                <a:latin typeface="宋体" panose="02010600030101010101" pitchFamily="2" charset="-122"/>
                <a:ea typeface="宋体" panose="02010600030101010101" pitchFamily="2" charset="-122"/>
              </a:rPr>
              <a:t>CDB</a:t>
            </a:r>
          </a:p>
          <a:p>
            <a:pPr indent="311150">
              <a:buFont typeface="Arial" panose="020B0604020202020204" pitchFamily="34" charset="0"/>
              <a:buChar char="•"/>
            </a:pPr>
            <a:r>
              <a:rPr lang="zh-CN" altLang="en-US" sz="2400" dirty="0" smtClean="0">
                <a:solidFill>
                  <a:srgbClr val="181E33"/>
                </a:solidFill>
                <a:latin typeface="宋体" panose="02010600030101010101" pitchFamily="2" charset="-122"/>
                <a:ea typeface="宋体" panose="02010600030101010101" pitchFamily="2" charset="-122"/>
              </a:rPr>
              <a:t>运算部件</a:t>
            </a:r>
            <a:endParaRPr lang="en-US" altLang="zh-CN" sz="2400" dirty="0" smtClean="0">
              <a:solidFill>
                <a:srgbClr val="181E33"/>
              </a:solidFill>
              <a:latin typeface="宋体" panose="02010600030101010101" pitchFamily="2" charset="-122"/>
              <a:ea typeface="宋体" panose="02010600030101010101" pitchFamily="2" charset="-122"/>
            </a:endParaRPr>
          </a:p>
          <a:p>
            <a:pPr indent="311150">
              <a:buFont typeface="Arial" panose="020B0604020202020204" pitchFamily="34" charset="0"/>
              <a:buChar char="•"/>
            </a:pPr>
            <a:r>
              <a:rPr lang="zh-CN" altLang="en-US" sz="2400" dirty="0">
                <a:solidFill>
                  <a:srgbClr val="181E33"/>
                </a:solidFill>
                <a:latin typeface="宋体" panose="02010600030101010101" pitchFamily="2" charset="-122"/>
                <a:ea typeface="宋体" panose="02010600030101010101" pitchFamily="2" charset="-122"/>
              </a:rPr>
              <a:t>存储</a:t>
            </a:r>
            <a:r>
              <a:rPr lang="zh-CN" altLang="en-US" sz="2400" dirty="0" smtClean="0">
                <a:solidFill>
                  <a:srgbClr val="181E33"/>
                </a:solidFill>
                <a:latin typeface="宋体" panose="02010600030101010101" pitchFamily="2" charset="-122"/>
                <a:ea typeface="宋体" panose="02010600030101010101" pitchFamily="2" charset="-122"/>
              </a:rPr>
              <a:t>部件</a:t>
            </a:r>
            <a:endParaRPr lang="en-US" altLang="zh-CN" sz="2400" dirty="0" smtClean="0">
              <a:solidFill>
                <a:srgbClr val="181E33"/>
              </a:solidFill>
              <a:latin typeface="宋体" panose="02010600030101010101" pitchFamily="2" charset="-122"/>
              <a:ea typeface="宋体" panose="02010600030101010101" pitchFamily="2" charset="-122"/>
            </a:endParaRPr>
          </a:p>
          <a:p>
            <a:pPr indent="311150">
              <a:buFont typeface="Arial" panose="020B0604020202020204" pitchFamily="34" charset="0"/>
              <a:buChar char="•"/>
            </a:pPr>
            <a:r>
              <a:rPr lang="zh-CN" altLang="en-US" sz="2400" dirty="0" smtClean="0">
                <a:solidFill>
                  <a:srgbClr val="181E33"/>
                </a:solidFill>
                <a:latin typeface="宋体" panose="02010600030101010101" pitchFamily="2" charset="-122"/>
                <a:ea typeface="宋体" panose="02010600030101010101" pitchFamily="2" charset="-122"/>
              </a:rPr>
              <a:t>浮点寄存器</a:t>
            </a:r>
            <a:endParaRPr lang="en-US" altLang="zh-CN" sz="2400" dirty="0" smtClean="0">
              <a:solidFill>
                <a:srgbClr val="181E33"/>
              </a:solidFill>
              <a:latin typeface="宋体" panose="02010600030101010101" pitchFamily="2" charset="-122"/>
              <a:ea typeface="宋体" panose="02010600030101010101" pitchFamily="2" charset="-122"/>
            </a:endParaRPr>
          </a:p>
          <a:p>
            <a:pPr>
              <a:buFont typeface="Arial" panose="020B0604020202020204" pitchFamily="34" charset="0"/>
              <a:buChar char="•"/>
            </a:pPr>
            <a:endParaRPr lang="en-US" altLang="zh-CN" sz="2800" dirty="0">
              <a:solidFill>
                <a:srgbClr val="181E33"/>
              </a:solidFill>
              <a:latin typeface="宋体" panose="02010600030101010101" pitchFamily="2" charset="-122"/>
              <a:ea typeface="宋体" panose="02010600030101010101" pitchFamily="2" charset="-122"/>
            </a:endParaRPr>
          </a:p>
          <a:p>
            <a:pPr marL="0" lvl="0" indent="0">
              <a:buNone/>
            </a:pPr>
            <a:r>
              <a:rPr lang="en-US" altLang="zh-CN" sz="2800" b="1" dirty="0" smtClean="0">
                <a:solidFill>
                  <a:srgbClr val="181E33"/>
                </a:solidFill>
                <a:latin typeface="黑体" panose="02010609060101010101" pitchFamily="49" charset="-122"/>
                <a:ea typeface="黑体" panose="02010609060101010101" pitchFamily="49" charset="-122"/>
              </a:rPr>
              <a:t> </a:t>
            </a:r>
            <a:endParaRPr lang="zh-CN" altLang="en-US" sz="2800" dirty="0">
              <a:solidFill>
                <a:srgbClr val="181E33"/>
              </a:solidFill>
              <a:latin typeface="PingFangSC"/>
            </a:endParaRPr>
          </a:p>
          <a:p>
            <a:pPr>
              <a:buFont typeface="Arial" panose="020B0604020202020204" pitchFamily="34" charset="0"/>
              <a:buChar char="•"/>
            </a:pPr>
            <a:endParaRPr lang="zh-CN" altLang="en-US" sz="2400" dirty="0">
              <a:solidFill>
                <a:srgbClr val="181E33"/>
              </a:solidFill>
              <a:latin typeface="PingFangSC"/>
            </a:endParaRPr>
          </a:p>
          <a:p>
            <a:pPr marL="0" indent="0" algn="ctr">
              <a:buNone/>
            </a:pPr>
            <a:endParaRPr lang="en-US" altLang="zh-CN" b="1" dirty="0">
              <a:solidFill>
                <a:srgbClr val="333333"/>
              </a:solidFill>
              <a:latin typeface="MicroSoft YaHei" panose="020B0503020204020204" pitchFamily="34" charset="-122"/>
              <a:ea typeface="MicroSoft YaHei" panose="020B0503020204020204" pitchFamily="34" charset="-122"/>
            </a:endParaRPr>
          </a:p>
          <a:p>
            <a:pPr marL="0" indent="0">
              <a:buNone/>
            </a:pPr>
            <a:endParaRPr lang="zh-CN" altLang="en-US" dirty="0"/>
          </a:p>
        </p:txBody>
      </p:sp>
      <p:graphicFrame>
        <p:nvGraphicFramePr>
          <p:cNvPr id="5" name="Object 4"/>
          <p:cNvGraphicFramePr>
            <a:graphicFrameLocks noChangeAspect="1"/>
          </p:cNvGraphicFramePr>
          <p:nvPr>
            <p:extLst/>
          </p:nvPr>
        </p:nvGraphicFramePr>
        <p:xfrm>
          <a:off x="3852131" y="554423"/>
          <a:ext cx="8020050" cy="5184775"/>
        </p:xfrm>
        <a:graphic>
          <a:graphicData uri="http://schemas.openxmlformats.org/presentationml/2006/ole">
            <mc:AlternateContent xmlns:mc="http://schemas.openxmlformats.org/markup-compatibility/2006">
              <mc:Choice xmlns:v="urn:schemas-microsoft-com:vml" Requires="v">
                <p:oleObj spid="_x0000_s69749" name="图片" r:id="rId3" imgW="5127662" imgH="3314128" progId="Word.Picture.8">
                  <p:embed/>
                </p:oleObj>
              </mc:Choice>
              <mc:Fallback>
                <p:oleObj name="图片" r:id="rId3" imgW="5127662" imgH="3314128" progId="Word.Picture.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2131" y="554423"/>
                        <a:ext cx="8020050" cy="5184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2152221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75107" name="Rectangle 3" descr="Rectangle: Click to edit Master text styles&#10;Second level&#10;Third level&#10;Fourth level&#10;Fifth level"/>
          <p:cNvSpPr>
            <a:spLocks noGrp="1" noChangeArrowheads="1"/>
          </p:cNvSpPr>
          <p:nvPr>
            <p:ph idx="1"/>
          </p:nvPr>
        </p:nvSpPr>
        <p:spPr>
          <a:xfrm>
            <a:off x="5429355" y="719656"/>
            <a:ext cx="6762645" cy="5645150"/>
          </a:xfrm>
        </p:spPr>
        <p:txBody>
          <a:bodyPr>
            <a:normAutofit/>
          </a:bodyPr>
          <a:lstStyle/>
          <a:p>
            <a:pPr marL="1085850" lvl="1" indent="-457200" eaLnBrk="1" hangingPunct="1"/>
            <a:r>
              <a:rPr lang="zh-CN" altLang="en-US" sz="2000" dirty="0" smtClean="0">
                <a:latin typeface="宋体" panose="02010600030101010101" pitchFamily="2" charset="-122"/>
                <a:ea typeface="宋体" panose="02010600030101010101" pitchFamily="2" charset="-122"/>
              </a:rPr>
              <a:t>保留站（</a:t>
            </a:r>
            <a:r>
              <a:rPr lang="en-US" altLang="zh-CN" sz="2000" dirty="0" smtClean="0">
                <a:solidFill>
                  <a:srgbClr val="9933FF"/>
                </a:solidFill>
                <a:latin typeface="宋体" panose="02010600030101010101" pitchFamily="2" charset="-122"/>
                <a:ea typeface="宋体" panose="02010600030101010101" pitchFamily="2" charset="-122"/>
              </a:rPr>
              <a:t>reservation station</a:t>
            </a:r>
            <a:r>
              <a:rPr lang="zh-CN" altLang="en-US" sz="2000" dirty="0" smtClean="0">
                <a:latin typeface="宋体" panose="02010600030101010101" pitchFamily="2" charset="-122"/>
                <a:ea typeface="宋体" panose="02010600030101010101" pitchFamily="2" charset="-122"/>
              </a:rPr>
              <a:t>）</a:t>
            </a:r>
          </a:p>
          <a:p>
            <a:pPr lvl="2"/>
            <a:r>
              <a:rPr lang="zh-CN" altLang="en-US" dirty="0" smtClean="0">
                <a:latin typeface="宋体" panose="02010600030101010101" pitchFamily="2" charset="-122"/>
                <a:ea typeface="宋体" panose="02010600030101010101" pitchFamily="2" charset="-122"/>
              </a:rPr>
              <a:t>每个保留站中</a:t>
            </a:r>
            <a:r>
              <a:rPr lang="zh-CN" altLang="en-US" dirty="0" smtClean="0">
                <a:solidFill>
                  <a:srgbClr val="CC3399"/>
                </a:solidFill>
                <a:latin typeface="宋体" panose="02010600030101010101" pitchFamily="2" charset="-122"/>
                <a:ea typeface="宋体" panose="02010600030101010101" pitchFamily="2" charset="-122"/>
              </a:rPr>
              <a:t>保存</a:t>
            </a:r>
            <a:r>
              <a:rPr lang="zh-CN" altLang="en-US" dirty="0" smtClean="0">
                <a:latin typeface="宋体" panose="02010600030101010101" pitchFamily="2" charset="-122"/>
                <a:ea typeface="宋体" panose="02010600030101010101" pitchFamily="2" charset="-122"/>
              </a:rPr>
              <a:t>一条已经流出并等待到本功能部件执行的指令（相关信息）。</a:t>
            </a:r>
            <a:endParaRPr lang="en-US" altLang="zh-CN" dirty="0" smtClean="0">
              <a:latin typeface="宋体" panose="02010600030101010101" pitchFamily="2" charset="-122"/>
              <a:ea typeface="宋体" panose="02010600030101010101" pitchFamily="2" charset="-122"/>
            </a:endParaRPr>
          </a:p>
          <a:p>
            <a:pPr lvl="2"/>
            <a:r>
              <a:rPr lang="zh-CN" altLang="en-US" dirty="0" smtClean="0">
                <a:latin typeface="宋体" panose="02010600030101010101" pitchFamily="2" charset="-122"/>
                <a:ea typeface="宋体" panose="02010600030101010101" pitchFamily="2" charset="-122"/>
              </a:rPr>
              <a:t>每个保留站包括操作码、操作数以及用于检测和解决冲突的信息。</a:t>
            </a:r>
          </a:p>
          <a:p>
            <a:pPr lvl="3" eaLnBrk="1" hangingPunct="1"/>
            <a:r>
              <a:rPr lang="zh-CN" altLang="en-US" sz="2000" dirty="0" smtClean="0">
                <a:latin typeface="宋体" panose="02010600030101010101" pitchFamily="2" charset="-122"/>
                <a:ea typeface="宋体" panose="02010600030101010101" pitchFamily="2" charset="-122"/>
              </a:rPr>
              <a:t>在一条</a:t>
            </a:r>
            <a:r>
              <a:rPr lang="zh-CN" altLang="en-US" sz="2000" dirty="0" smtClean="0">
                <a:solidFill>
                  <a:srgbClr val="FF0000"/>
                </a:solidFill>
                <a:latin typeface="宋体" panose="02010600030101010101" pitchFamily="2" charset="-122"/>
                <a:ea typeface="宋体" panose="02010600030101010101" pitchFamily="2" charset="-122"/>
              </a:rPr>
              <a:t>指令</a:t>
            </a:r>
            <a:r>
              <a:rPr lang="zh-CN" altLang="en-US" sz="2000" dirty="0" smtClean="0">
                <a:latin typeface="宋体" panose="02010600030101010101" pitchFamily="2" charset="-122"/>
                <a:ea typeface="宋体" panose="02010600030101010101" pitchFamily="2" charset="-122"/>
              </a:rPr>
              <a:t>流出送到保留站的时候，如果该</a:t>
            </a:r>
            <a:r>
              <a:rPr lang="zh-CN" altLang="en-US" sz="2000" dirty="0" smtClean="0">
                <a:solidFill>
                  <a:srgbClr val="FF0000"/>
                </a:solidFill>
                <a:latin typeface="宋体" panose="02010600030101010101" pitchFamily="2" charset="-122"/>
                <a:ea typeface="宋体" panose="02010600030101010101" pitchFamily="2" charset="-122"/>
              </a:rPr>
              <a:t>指令</a:t>
            </a:r>
            <a:r>
              <a:rPr lang="zh-CN" altLang="en-US" sz="2000" dirty="0" smtClean="0">
                <a:latin typeface="宋体" panose="02010600030101010101" pitchFamily="2" charset="-122"/>
                <a:ea typeface="宋体" panose="02010600030101010101" pitchFamily="2" charset="-122"/>
              </a:rPr>
              <a:t>的源</a:t>
            </a:r>
            <a:r>
              <a:rPr lang="zh-CN" altLang="en-US" sz="2000" dirty="0" smtClean="0">
                <a:solidFill>
                  <a:srgbClr val="FF0000"/>
                </a:solidFill>
                <a:latin typeface="宋体" panose="02010600030101010101" pitchFamily="2" charset="-122"/>
                <a:ea typeface="宋体" panose="02010600030101010101" pitchFamily="2" charset="-122"/>
              </a:rPr>
              <a:t>操作数</a:t>
            </a:r>
            <a:r>
              <a:rPr lang="zh-CN" altLang="en-US" sz="2000" dirty="0" smtClean="0">
                <a:latin typeface="宋体" panose="02010600030101010101" pitchFamily="2" charset="-122"/>
                <a:ea typeface="宋体" panose="02010600030101010101" pitchFamily="2" charset="-122"/>
              </a:rPr>
              <a:t>已经在寄存器中</a:t>
            </a:r>
            <a:r>
              <a:rPr lang="zh-CN" altLang="en-US" sz="2000" dirty="0" smtClean="0">
                <a:solidFill>
                  <a:srgbClr val="FF0000"/>
                </a:solidFill>
                <a:latin typeface="宋体" panose="02010600030101010101" pitchFamily="2" charset="-122"/>
                <a:ea typeface="宋体" panose="02010600030101010101" pitchFamily="2" charset="-122"/>
              </a:rPr>
              <a:t>就绪</a:t>
            </a:r>
            <a:r>
              <a:rPr lang="zh-CN" altLang="en-US" sz="2000" dirty="0" smtClean="0">
                <a:latin typeface="宋体" panose="02010600030101010101" pitchFamily="2" charset="-122"/>
                <a:ea typeface="宋体" panose="02010600030101010101" pitchFamily="2" charset="-122"/>
              </a:rPr>
              <a:t>，则将操作数取到该保留站中。</a:t>
            </a:r>
          </a:p>
          <a:p>
            <a:pPr lvl="3" eaLnBrk="1" hangingPunct="1"/>
            <a:r>
              <a:rPr lang="zh-CN" altLang="en-US" sz="2000" dirty="0" smtClean="0">
                <a:latin typeface="宋体" panose="02010600030101010101" pitchFamily="2" charset="-122"/>
                <a:ea typeface="宋体" panose="02010600030101010101" pitchFamily="2" charset="-122"/>
              </a:rPr>
              <a:t>如果</a:t>
            </a:r>
            <a:r>
              <a:rPr lang="zh-CN" altLang="en-US" sz="2000" dirty="0" smtClean="0">
                <a:solidFill>
                  <a:srgbClr val="FF0000"/>
                </a:solidFill>
                <a:latin typeface="宋体" panose="02010600030101010101" pitchFamily="2" charset="-122"/>
                <a:ea typeface="宋体" panose="02010600030101010101" pitchFamily="2" charset="-122"/>
              </a:rPr>
              <a:t>操作数</a:t>
            </a:r>
            <a:r>
              <a:rPr lang="zh-CN" altLang="en-US" sz="2000" dirty="0" smtClean="0">
                <a:latin typeface="宋体" panose="02010600030101010101" pitchFamily="2" charset="-122"/>
                <a:ea typeface="宋体" panose="02010600030101010101" pitchFamily="2" charset="-122"/>
              </a:rPr>
              <a:t>还没有</a:t>
            </a:r>
            <a:r>
              <a:rPr lang="zh-CN" altLang="en-US" sz="2000" dirty="0" smtClean="0">
                <a:solidFill>
                  <a:srgbClr val="FF0000"/>
                </a:solidFill>
                <a:latin typeface="宋体" panose="02010600030101010101" pitchFamily="2" charset="-122"/>
                <a:ea typeface="宋体" panose="02010600030101010101" pitchFamily="2" charset="-122"/>
              </a:rPr>
              <a:t>计算出来</a:t>
            </a:r>
            <a:r>
              <a:rPr lang="zh-CN" altLang="en-US" sz="2000" dirty="0" smtClean="0">
                <a:latin typeface="宋体" panose="02010600030101010101" pitchFamily="2" charset="-122"/>
                <a:ea typeface="宋体" panose="02010600030101010101" pitchFamily="2" charset="-122"/>
              </a:rPr>
              <a:t>，则在该保留站中记录即将产生这个操作数的保留站的标识。</a:t>
            </a:r>
          </a:p>
          <a:p>
            <a:pPr lvl="2" eaLnBrk="1" hangingPunct="1"/>
            <a:r>
              <a:rPr lang="zh-CN" altLang="en-US" dirty="0" smtClean="0">
                <a:latin typeface="宋体" panose="02010600030101010101" pitchFamily="2" charset="-122"/>
                <a:ea typeface="宋体" panose="02010600030101010101" pitchFamily="2" charset="-122"/>
              </a:rPr>
              <a:t>浮点加法器有</a:t>
            </a:r>
            <a:r>
              <a:rPr lang="en-US" altLang="zh-CN" dirty="0" smtClean="0">
                <a:solidFill>
                  <a:srgbClr val="9933FF"/>
                </a:solidFill>
                <a:latin typeface="宋体" panose="02010600030101010101" pitchFamily="2" charset="-122"/>
                <a:ea typeface="宋体" panose="02010600030101010101" pitchFamily="2" charset="-122"/>
              </a:rPr>
              <a:t>3</a:t>
            </a:r>
            <a:r>
              <a:rPr lang="zh-CN" altLang="en-US" dirty="0" smtClean="0">
                <a:latin typeface="宋体" panose="02010600030101010101" pitchFamily="2" charset="-122"/>
                <a:ea typeface="宋体" panose="02010600030101010101" pitchFamily="2" charset="-122"/>
              </a:rPr>
              <a:t>个保留站：</a:t>
            </a:r>
            <a:r>
              <a:rPr lang="en-US" altLang="zh-CN" dirty="0" smtClean="0">
                <a:solidFill>
                  <a:srgbClr val="D60093"/>
                </a:solidFill>
                <a:latin typeface="宋体" panose="02010600030101010101" pitchFamily="2" charset="-122"/>
                <a:ea typeface="宋体" panose="02010600030101010101" pitchFamily="2" charset="-122"/>
              </a:rPr>
              <a:t>ADD1</a:t>
            </a:r>
            <a:r>
              <a:rPr lang="zh-CN" altLang="en-US" dirty="0" smtClean="0">
                <a:solidFill>
                  <a:srgbClr val="D60093"/>
                </a:solidFill>
                <a:latin typeface="宋体" panose="02010600030101010101" pitchFamily="2" charset="-122"/>
                <a:ea typeface="宋体" panose="02010600030101010101" pitchFamily="2" charset="-122"/>
              </a:rPr>
              <a:t>，</a:t>
            </a:r>
            <a:r>
              <a:rPr lang="en-US" altLang="zh-CN" dirty="0" smtClean="0">
                <a:solidFill>
                  <a:srgbClr val="D60093"/>
                </a:solidFill>
                <a:latin typeface="宋体" panose="02010600030101010101" pitchFamily="2" charset="-122"/>
                <a:ea typeface="宋体" panose="02010600030101010101" pitchFamily="2" charset="-122"/>
              </a:rPr>
              <a:t>ADD2</a:t>
            </a:r>
            <a:r>
              <a:rPr lang="zh-CN" altLang="en-US" dirty="0" smtClean="0">
                <a:solidFill>
                  <a:srgbClr val="D60093"/>
                </a:solidFill>
                <a:latin typeface="宋体" panose="02010600030101010101" pitchFamily="2" charset="-122"/>
                <a:ea typeface="宋体" panose="02010600030101010101" pitchFamily="2" charset="-122"/>
              </a:rPr>
              <a:t>，</a:t>
            </a:r>
            <a:r>
              <a:rPr lang="en-US" altLang="zh-CN" dirty="0" smtClean="0">
                <a:solidFill>
                  <a:srgbClr val="D60093"/>
                </a:solidFill>
                <a:latin typeface="宋体" panose="02010600030101010101" pitchFamily="2" charset="-122"/>
                <a:ea typeface="宋体" panose="02010600030101010101" pitchFamily="2" charset="-122"/>
              </a:rPr>
              <a:t>ADD3</a:t>
            </a:r>
          </a:p>
          <a:p>
            <a:pPr lvl="2" eaLnBrk="1" hangingPunct="1"/>
            <a:r>
              <a:rPr lang="zh-CN" altLang="en-US" dirty="0" smtClean="0">
                <a:latin typeface="宋体" panose="02010600030101010101" pitchFamily="2" charset="-122"/>
                <a:ea typeface="宋体" panose="02010600030101010101" pitchFamily="2" charset="-122"/>
              </a:rPr>
              <a:t>浮点乘法器有</a:t>
            </a:r>
            <a:r>
              <a:rPr lang="en-US" altLang="zh-CN" dirty="0" smtClean="0">
                <a:solidFill>
                  <a:srgbClr val="9933FF"/>
                </a:solidFill>
                <a:latin typeface="宋体" panose="02010600030101010101" pitchFamily="2" charset="-122"/>
                <a:ea typeface="宋体" panose="02010600030101010101" pitchFamily="2" charset="-122"/>
              </a:rPr>
              <a:t>2</a:t>
            </a:r>
            <a:r>
              <a:rPr lang="zh-CN" altLang="en-US" dirty="0" smtClean="0">
                <a:latin typeface="宋体" panose="02010600030101010101" pitchFamily="2" charset="-122"/>
                <a:ea typeface="宋体" panose="02010600030101010101" pitchFamily="2" charset="-122"/>
              </a:rPr>
              <a:t>个保留站：</a:t>
            </a:r>
            <a:r>
              <a:rPr lang="en-US" altLang="zh-CN" dirty="0" smtClean="0">
                <a:solidFill>
                  <a:srgbClr val="D60093"/>
                </a:solidFill>
                <a:latin typeface="宋体" panose="02010600030101010101" pitchFamily="2" charset="-122"/>
                <a:ea typeface="宋体" panose="02010600030101010101" pitchFamily="2" charset="-122"/>
              </a:rPr>
              <a:t>MULT1</a:t>
            </a:r>
            <a:r>
              <a:rPr lang="zh-CN" altLang="en-US" dirty="0" smtClean="0">
                <a:solidFill>
                  <a:srgbClr val="D60093"/>
                </a:solidFill>
                <a:latin typeface="宋体" panose="02010600030101010101" pitchFamily="2" charset="-122"/>
                <a:ea typeface="宋体" panose="02010600030101010101" pitchFamily="2" charset="-122"/>
              </a:rPr>
              <a:t>，</a:t>
            </a:r>
            <a:r>
              <a:rPr lang="en-US" altLang="zh-CN" dirty="0" smtClean="0">
                <a:solidFill>
                  <a:srgbClr val="D60093"/>
                </a:solidFill>
                <a:latin typeface="宋体" panose="02010600030101010101" pitchFamily="2" charset="-122"/>
                <a:ea typeface="宋体" panose="02010600030101010101" pitchFamily="2" charset="-122"/>
              </a:rPr>
              <a:t>MULT2</a:t>
            </a:r>
            <a:r>
              <a:rPr lang="en-US" altLang="zh-CN" dirty="0" smtClean="0">
                <a:latin typeface="宋体" panose="02010600030101010101" pitchFamily="2" charset="-122"/>
                <a:ea typeface="宋体" panose="02010600030101010101" pitchFamily="2" charset="-122"/>
              </a:rPr>
              <a:t> </a:t>
            </a:r>
          </a:p>
          <a:p>
            <a:pPr lvl="2" eaLnBrk="1" hangingPunct="1"/>
            <a:r>
              <a:rPr lang="zh-CN" altLang="en-US" dirty="0" smtClean="0">
                <a:latin typeface="宋体" panose="02010600030101010101" pitchFamily="2" charset="-122"/>
                <a:ea typeface="宋体" panose="02010600030101010101" pitchFamily="2" charset="-122"/>
              </a:rPr>
              <a:t>每个保留站都有一个标识字段，唯一地标识了该保留站。 </a:t>
            </a:r>
          </a:p>
        </p:txBody>
      </p:sp>
      <p:graphicFrame>
        <p:nvGraphicFramePr>
          <p:cNvPr id="3" name="Object 4"/>
          <p:cNvGraphicFramePr>
            <a:graphicFrameLocks noChangeAspect="1"/>
          </p:cNvGraphicFramePr>
          <p:nvPr>
            <p:extLst/>
          </p:nvPr>
        </p:nvGraphicFramePr>
        <p:xfrm>
          <a:off x="185985" y="836434"/>
          <a:ext cx="5778346" cy="3735566"/>
        </p:xfrm>
        <a:graphic>
          <a:graphicData uri="http://schemas.openxmlformats.org/presentationml/2006/ole">
            <mc:AlternateContent xmlns:mc="http://schemas.openxmlformats.org/markup-compatibility/2006">
              <mc:Choice xmlns:v="urn:schemas-microsoft-com:vml" Requires="v">
                <p:oleObj spid="_x0000_s70773" name="图片" r:id="rId3" imgW="5127662" imgH="3314128" progId="Word.Picture.8">
                  <p:embed/>
                </p:oleObj>
              </mc:Choice>
              <mc:Fallback>
                <p:oleObj name="图片" r:id="rId3" imgW="5127662" imgH="3314128" progId="Word.Picture.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985" y="836434"/>
                        <a:ext cx="5778346" cy="3735566"/>
                      </a:xfrm>
                      <a:prstGeom prst="rect">
                        <a:avLst/>
                      </a:prstGeom>
                      <a:noFill/>
                      <a:ln>
                        <a:noFill/>
                      </a:ln>
                      <a:extLst/>
                    </p:spPr>
                  </p:pic>
                </p:oleObj>
              </mc:Fallback>
            </mc:AlternateContent>
          </a:graphicData>
        </a:graphic>
      </p:graphicFrame>
      <p:sp>
        <p:nvSpPr>
          <p:cNvPr id="2" name="椭圆 1"/>
          <p:cNvSpPr/>
          <p:nvPr/>
        </p:nvSpPr>
        <p:spPr>
          <a:xfrm>
            <a:off x="2230452" y="2973936"/>
            <a:ext cx="3733879" cy="113659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430558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76131" name="Rectangle 3" descr="Rectangle: Click to edit Master text styles&#10;Second level&#10;Third level&#10;Fourth level&#10;Fifth level"/>
          <p:cNvSpPr>
            <a:spLocks noGrp="1" noChangeArrowheads="1"/>
          </p:cNvSpPr>
          <p:nvPr>
            <p:ph idx="1"/>
          </p:nvPr>
        </p:nvSpPr>
        <p:spPr>
          <a:xfrm>
            <a:off x="5878873" y="707610"/>
            <a:ext cx="6086769" cy="5661025"/>
          </a:xfrm>
        </p:spPr>
        <p:txBody>
          <a:bodyPr>
            <a:normAutofit/>
          </a:bodyPr>
          <a:lstStyle/>
          <a:p>
            <a:pPr marL="538163" lvl="1" indent="-273050" eaLnBrk="1" hangingPunct="1">
              <a:lnSpc>
                <a:spcPct val="100000"/>
              </a:lnSpc>
            </a:pPr>
            <a:r>
              <a:rPr lang="zh-CN" altLang="en-US" sz="2000" dirty="0" smtClean="0">
                <a:latin typeface="宋体" panose="02010600030101010101" pitchFamily="2" charset="-122"/>
                <a:ea typeface="宋体" panose="02010600030101010101" pitchFamily="2" charset="-122"/>
              </a:rPr>
              <a:t>公共数据总线</a:t>
            </a:r>
            <a:r>
              <a:rPr lang="en-US" altLang="zh-CN" sz="2000" dirty="0" smtClean="0">
                <a:solidFill>
                  <a:srgbClr val="9933FF"/>
                </a:solidFill>
                <a:latin typeface="宋体" panose="02010600030101010101" pitchFamily="2" charset="-122"/>
                <a:ea typeface="宋体" panose="02010600030101010101" pitchFamily="2" charset="-122"/>
              </a:rPr>
              <a:t>CDB</a:t>
            </a:r>
            <a:r>
              <a:rPr lang="en-US" altLang="zh-CN" sz="2000" dirty="0" smtClean="0">
                <a:latin typeface="宋体" panose="02010600030101010101" pitchFamily="2" charset="-122"/>
                <a:ea typeface="宋体" panose="02010600030101010101" pitchFamily="2" charset="-122"/>
              </a:rPr>
              <a:t> </a:t>
            </a:r>
            <a:r>
              <a:rPr lang="zh-CN" altLang="en-US" dirty="0" smtClean="0">
                <a:solidFill>
                  <a:srgbClr val="D60093"/>
                </a:solidFill>
                <a:latin typeface="宋体" panose="02010600030101010101" pitchFamily="2" charset="-122"/>
                <a:ea typeface="宋体" panose="02010600030101010101" pitchFamily="2" charset="-122"/>
              </a:rPr>
              <a:t>（一条重要的数据通路）</a:t>
            </a:r>
          </a:p>
          <a:p>
            <a:pPr lvl="2" eaLnBrk="1" hangingPunct="1">
              <a:lnSpc>
                <a:spcPct val="100000"/>
              </a:lnSpc>
            </a:pPr>
            <a:r>
              <a:rPr lang="zh-CN" altLang="en-US" dirty="0" smtClean="0">
                <a:latin typeface="宋体" panose="02010600030101010101" pitchFamily="2" charset="-122"/>
                <a:ea typeface="宋体" panose="02010600030101010101" pitchFamily="2" charset="-122"/>
              </a:rPr>
              <a:t>所有功能部件的计算结果都是送到</a:t>
            </a:r>
            <a:r>
              <a:rPr lang="en-US" altLang="zh-CN" dirty="0" smtClean="0">
                <a:solidFill>
                  <a:srgbClr val="9933FF"/>
                </a:solidFill>
                <a:latin typeface="宋体" panose="02010600030101010101" pitchFamily="2" charset="-122"/>
                <a:ea typeface="宋体" panose="02010600030101010101" pitchFamily="2" charset="-122"/>
              </a:rPr>
              <a:t>CDB</a:t>
            </a:r>
            <a:r>
              <a:rPr lang="zh-CN" altLang="en-US" dirty="0" smtClean="0">
                <a:latin typeface="宋体" panose="02010600030101010101" pitchFamily="2" charset="-122"/>
                <a:ea typeface="宋体" panose="02010600030101010101" pitchFamily="2" charset="-122"/>
              </a:rPr>
              <a:t>上，由它把这些结果直接送到（播送到）各个需要该结果的地方。</a:t>
            </a:r>
          </a:p>
          <a:p>
            <a:pPr lvl="2" eaLnBrk="1" hangingPunct="1">
              <a:lnSpc>
                <a:spcPct val="100000"/>
              </a:lnSpc>
            </a:pPr>
            <a:r>
              <a:rPr lang="zh-CN" altLang="en-US" dirty="0" smtClean="0">
                <a:latin typeface="宋体" panose="02010600030101010101" pitchFamily="2" charset="-122"/>
                <a:ea typeface="宋体" panose="02010600030101010101" pitchFamily="2" charset="-122"/>
              </a:rPr>
              <a:t>在具有多个执行部件且采用多流出（即每个时钟周期流出多条指令）的流水线中，需要采用多条</a:t>
            </a:r>
            <a:r>
              <a:rPr lang="en-US" altLang="zh-CN" dirty="0" smtClean="0">
                <a:solidFill>
                  <a:srgbClr val="9933FF"/>
                </a:solidFill>
                <a:latin typeface="宋体" panose="02010600030101010101" pitchFamily="2" charset="-122"/>
                <a:ea typeface="宋体" panose="02010600030101010101" pitchFamily="2" charset="-122"/>
              </a:rPr>
              <a:t>CDB</a:t>
            </a:r>
            <a:r>
              <a:rPr lang="zh-CN" altLang="en-US" dirty="0" smtClean="0">
                <a:latin typeface="宋体" panose="02010600030101010101" pitchFamily="2" charset="-122"/>
                <a:ea typeface="宋体" panose="02010600030101010101" pitchFamily="2" charset="-122"/>
              </a:rPr>
              <a:t>。</a:t>
            </a:r>
            <a:endParaRPr lang="en-US" altLang="zh-CN" dirty="0" smtClean="0">
              <a:latin typeface="宋体" panose="02010600030101010101" pitchFamily="2" charset="-122"/>
              <a:ea typeface="宋体" panose="02010600030101010101" pitchFamily="2" charset="-122"/>
            </a:endParaRPr>
          </a:p>
          <a:p>
            <a:pPr lvl="2" eaLnBrk="1" hangingPunct="1">
              <a:lnSpc>
                <a:spcPct val="100000"/>
              </a:lnSpc>
            </a:pPr>
            <a:r>
              <a:rPr lang="zh-CN" altLang="en-US" dirty="0" smtClean="0">
                <a:latin typeface="宋体" panose="02010600030101010101" pitchFamily="2" charset="-122"/>
                <a:ea typeface="宋体" panose="02010600030101010101" pitchFamily="2" charset="-122"/>
              </a:rPr>
              <a:t>从存储器读取的数据也送到</a:t>
            </a:r>
            <a:r>
              <a:rPr lang="en-US" altLang="zh-CN" dirty="0" smtClean="0">
                <a:latin typeface="宋体" panose="02010600030101010101" pitchFamily="2" charset="-122"/>
                <a:ea typeface="宋体" panose="02010600030101010101" pitchFamily="2" charset="-122"/>
              </a:rPr>
              <a:t>CDB</a:t>
            </a:r>
            <a:r>
              <a:rPr lang="zh-CN" altLang="en-US" dirty="0" smtClean="0">
                <a:latin typeface="宋体" panose="02010600030101010101" pitchFamily="2" charset="-122"/>
                <a:ea typeface="宋体" panose="02010600030101010101" pitchFamily="2" charset="-122"/>
              </a:rPr>
              <a:t>。</a:t>
            </a:r>
            <a:endParaRPr lang="en-US" altLang="zh-CN" dirty="0" smtClean="0">
              <a:latin typeface="宋体" panose="02010600030101010101" pitchFamily="2" charset="-122"/>
              <a:ea typeface="宋体" panose="02010600030101010101" pitchFamily="2" charset="-122"/>
            </a:endParaRPr>
          </a:p>
          <a:p>
            <a:pPr lvl="2" eaLnBrk="1" hangingPunct="1">
              <a:lnSpc>
                <a:spcPct val="100000"/>
              </a:lnSpc>
            </a:pPr>
            <a:r>
              <a:rPr lang="en-US" altLang="zh-CN" dirty="0" smtClean="0">
                <a:latin typeface="宋体" panose="02010600030101010101" pitchFamily="2" charset="-122"/>
                <a:ea typeface="宋体" panose="02010600030101010101" pitchFamily="2" charset="-122"/>
              </a:rPr>
              <a:t>CDB</a:t>
            </a:r>
            <a:r>
              <a:rPr lang="zh-CN" altLang="en-US" dirty="0" smtClean="0">
                <a:latin typeface="宋体" panose="02010600030101010101" pitchFamily="2" charset="-122"/>
                <a:ea typeface="宋体" panose="02010600030101010101" pitchFamily="2" charset="-122"/>
              </a:rPr>
              <a:t>连接到除了</a:t>
            </a:r>
            <a:r>
              <a:rPr lang="en-US" altLang="zh-CN" dirty="0" smtClean="0">
                <a:latin typeface="宋体" panose="02010600030101010101" pitchFamily="2" charset="-122"/>
                <a:ea typeface="宋体" panose="02010600030101010101" pitchFamily="2" charset="-122"/>
              </a:rPr>
              <a:t>load</a:t>
            </a:r>
            <a:r>
              <a:rPr lang="zh-CN" altLang="en-US" dirty="0" smtClean="0">
                <a:latin typeface="宋体" panose="02010600030101010101" pitchFamily="2" charset="-122"/>
                <a:ea typeface="宋体" panose="02010600030101010101" pitchFamily="2" charset="-122"/>
              </a:rPr>
              <a:t>缓冲器以外的所有部件的人口。</a:t>
            </a:r>
            <a:endParaRPr lang="en-US" altLang="zh-CN" dirty="0" smtClean="0">
              <a:latin typeface="宋体" panose="02010600030101010101" pitchFamily="2" charset="-122"/>
              <a:ea typeface="宋体" panose="02010600030101010101" pitchFamily="2" charset="-122"/>
            </a:endParaRPr>
          </a:p>
          <a:p>
            <a:pPr lvl="2" eaLnBrk="1" hangingPunct="1">
              <a:lnSpc>
                <a:spcPct val="100000"/>
              </a:lnSpc>
            </a:pPr>
            <a:r>
              <a:rPr lang="zh-CN" altLang="en-US" dirty="0" smtClean="0">
                <a:latin typeface="宋体" panose="02010600030101010101" pitchFamily="2" charset="-122"/>
                <a:ea typeface="宋体" panose="02010600030101010101" pitchFamily="2" charset="-122"/>
              </a:rPr>
              <a:t>浮点寄存器通过一对总线连接到功能部件，并通过</a:t>
            </a:r>
            <a:r>
              <a:rPr lang="en-US" altLang="zh-CN" dirty="0" smtClean="0">
                <a:latin typeface="宋体" panose="02010600030101010101" pitchFamily="2" charset="-122"/>
                <a:ea typeface="宋体" panose="02010600030101010101" pitchFamily="2" charset="-122"/>
              </a:rPr>
              <a:t>CDB</a:t>
            </a:r>
            <a:r>
              <a:rPr lang="zh-CN" altLang="en-US" dirty="0" smtClean="0">
                <a:latin typeface="宋体" panose="02010600030101010101" pitchFamily="2" charset="-122"/>
                <a:ea typeface="宋体" panose="02010600030101010101" pitchFamily="2" charset="-122"/>
              </a:rPr>
              <a:t>连接到</a:t>
            </a:r>
            <a:r>
              <a:rPr lang="en-US" altLang="zh-CN" dirty="0" smtClean="0">
                <a:latin typeface="宋体" panose="02010600030101010101" pitchFamily="2" charset="-122"/>
                <a:ea typeface="宋体" panose="02010600030101010101" pitchFamily="2" charset="-122"/>
              </a:rPr>
              <a:t>store</a:t>
            </a:r>
            <a:r>
              <a:rPr lang="zh-CN" altLang="en-US" dirty="0" smtClean="0">
                <a:latin typeface="宋体" panose="02010600030101010101" pitchFamily="2" charset="-122"/>
                <a:ea typeface="宋体" panose="02010600030101010101" pitchFamily="2" charset="-122"/>
              </a:rPr>
              <a:t>缓冲器的人口</a:t>
            </a:r>
          </a:p>
        </p:txBody>
      </p:sp>
      <p:graphicFrame>
        <p:nvGraphicFramePr>
          <p:cNvPr id="3" name="Object 4"/>
          <p:cNvGraphicFramePr>
            <a:graphicFrameLocks noChangeAspect="1"/>
          </p:cNvGraphicFramePr>
          <p:nvPr>
            <p:extLst/>
          </p:nvPr>
        </p:nvGraphicFramePr>
        <p:xfrm>
          <a:off x="185985" y="836434"/>
          <a:ext cx="5778346" cy="3735566"/>
        </p:xfrm>
        <a:graphic>
          <a:graphicData uri="http://schemas.openxmlformats.org/presentationml/2006/ole">
            <mc:AlternateContent xmlns:mc="http://schemas.openxmlformats.org/markup-compatibility/2006">
              <mc:Choice xmlns:v="urn:schemas-microsoft-com:vml" Requires="v">
                <p:oleObj spid="_x0000_s71797" name="图片" r:id="rId3" imgW="5127662" imgH="3314128" progId="Word.Picture.8">
                  <p:embed/>
                </p:oleObj>
              </mc:Choice>
              <mc:Fallback>
                <p:oleObj name="图片" r:id="rId3" imgW="5127662" imgH="3314128" progId="Word.Picture.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985" y="836434"/>
                        <a:ext cx="5778346" cy="3735566"/>
                      </a:xfrm>
                      <a:prstGeom prst="rect">
                        <a:avLst/>
                      </a:prstGeom>
                      <a:noFill/>
                      <a:ln>
                        <a:noFill/>
                      </a:ln>
                      <a:extLst/>
                    </p:spPr>
                  </p:pic>
                </p:oleObj>
              </mc:Fallback>
            </mc:AlternateContent>
          </a:graphicData>
        </a:graphic>
      </p:graphicFrame>
      <p:sp>
        <p:nvSpPr>
          <p:cNvPr id="4" name="椭圆 3"/>
          <p:cNvSpPr/>
          <p:nvPr/>
        </p:nvSpPr>
        <p:spPr>
          <a:xfrm>
            <a:off x="3067941" y="4204531"/>
            <a:ext cx="2187724" cy="45292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44512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77155" name="内容占位符 2" descr="Rectangle: Click to edit Master text styles&#10;Second level&#10;Third level&#10;Fourth level&#10;Fifth level"/>
          <p:cNvSpPr>
            <a:spLocks noGrp="1"/>
          </p:cNvSpPr>
          <p:nvPr>
            <p:ph idx="1"/>
          </p:nvPr>
        </p:nvSpPr>
        <p:spPr>
          <a:xfrm>
            <a:off x="6535741" y="472539"/>
            <a:ext cx="5560464" cy="3318704"/>
          </a:xfrm>
        </p:spPr>
        <p:txBody>
          <a:bodyPr>
            <a:normAutofit/>
          </a:bodyPr>
          <a:lstStyle/>
          <a:p>
            <a:pPr marL="265113" lvl="1" indent="-179388">
              <a:lnSpc>
                <a:spcPct val="100000"/>
              </a:lnSpc>
              <a:buClr>
                <a:srgbClr val="40458C"/>
              </a:buClr>
            </a:pPr>
            <a:r>
              <a:rPr lang="en-US" altLang="zh-CN" sz="2000" dirty="0" smtClean="0">
                <a:latin typeface="宋体" panose="02010600030101010101" pitchFamily="2" charset="-122"/>
                <a:ea typeface="宋体" panose="02010600030101010101" pitchFamily="2" charset="-122"/>
              </a:rPr>
              <a:t>load</a:t>
            </a:r>
            <a:r>
              <a:rPr lang="zh-CN" altLang="en-US" sz="2000" dirty="0">
                <a:latin typeface="宋体" panose="02010600030101010101" pitchFamily="2" charset="-122"/>
                <a:ea typeface="宋体" panose="02010600030101010101" pitchFamily="2" charset="-122"/>
              </a:rPr>
              <a:t>缓冲器的作用有</a:t>
            </a:r>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个</a:t>
            </a:r>
            <a:endParaRPr lang="en-US" altLang="zh-CN" sz="2000" dirty="0" smtClean="0">
              <a:latin typeface="宋体" panose="02010600030101010101" pitchFamily="2" charset="-122"/>
              <a:ea typeface="宋体" panose="02010600030101010101" pitchFamily="2" charset="-122"/>
            </a:endParaRPr>
          </a:p>
          <a:p>
            <a:pPr marL="722313" lvl="4" indent="-179388">
              <a:lnSpc>
                <a:spcPct val="100000"/>
              </a:lnSpc>
            </a:pPr>
            <a:r>
              <a:rPr lang="zh-CN" altLang="en-US" sz="2000" dirty="0" smtClean="0">
                <a:latin typeface="宋体" panose="02010600030101010101" pitchFamily="2" charset="-122"/>
                <a:ea typeface="宋体" panose="02010600030101010101" pitchFamily="2" charset="-122"/>
              </a:rPr>
              <a:t>存放</a:t>
            </a:r>
            <a:r>
              <a:rPr lang="zh-CN" altLang="en-US" sz="2000" dirty="0">
                <a:latin typeface="宋体" panose="02010600030101010101" pitchFamily="2" charset="-122"/>
                <a:ea typeface="宋体" panose="02010600030101010101" pitchFamily="2" charset="-122"/>
              </a:rPr>
              <a:t>用于计算有效地址的分量；</a:t>
            </a:r>
          </a:p>
          <a:p>
            <a:pPr marL="722313" lvl="4" indent="-179388">
              <a:lnSpc>
                <a:spcPct val="100000"/>
              </a:lnSpc>
            </a:pPr>
            <a:r>
              <a:rPr lang="zh-CN" altLang="en-US" sz="2000" dirty="0">
                <a:latin typeface="宋体" panose="02010600030101010101" pitchFamily="2" charset="-122"/>
                <a:ea typeface="宋体" panose="02010600030101010101" pitchFamily="2" charset="-122"/>
              </a:rPr>
              <a:t>记录正在进行的</a:t>
            </a:r>
            <a:r>
              <a:rPr lang="en-US" altLang="zh-CN" sz="2000" dirty="0">
                <a:latin typeface="宋体" panose="02010600030101010101" pitchFamily="2" charset="-122"/>
                <a:ea typeface="宋体" panose="02010600030101010101" pitchFamily="2" charset="-122"/>
              </a:rPr>
              <a:t>load</a:t>
            </a:r>
            <a:r>
              <a:rPr lang="zh-CN" altLang="en-US" sz="2000" dirty="0">
                <a:latin typeface="宋体" panose="02010600030101010101" pitchFamily="2" charset="-122"/>
                <a:ea typeface="宋体" panose="02010600030101010101" pitchFamily="2" charset="-122"/>
              </a:rPr>
              <a:t>访存，等待存储器的响应；</a:t>
            </a:r>
          </a:p>
          <a:p>
            <a:pPr marL="722313" lvl="4" indent="-179388">
              <a:lnSpc>
                <a:spcPct val="100000"/>
              </a:lnSpc>
            </a:pPr>
            <a:r>
              <a:rPr lang="zh-CN" altLang="en-US" sz="2000" dirty="0">
                <a:latin typeface="宋体" panose="02010600030101010101" pitchFamily="2" charset="-122"/>
                <a:ea typeface="宋体" panose="02010600030101010101" pitchFamily="2" charset="-122"/>
              </a:rPr>
              <a:t>保存已经完成了的</a:t>
            </a:r>
            <a:r>
              <a:rPr lang="en-US" altLang="zh-CN" sz="2000" dirty="0">
                <a:latin typeface="宋体" panose="02010600030101010101" pitchFamily="2" charset="-122"/>
                <a:ea typeface="宋体" panose="02010600030101010101" pitchFamily="2" charset="-122"/>
              </a:rPr>
              <a:t>load</a:t>
            </a:r>
            <a:r>
              <a:rPr lang="zh-CN" altLang="en-US" sz="2000" dirty="0">
                <a:latin typeface="宋体" panose="02010600030101010101" pitchFamily="2" charset="-122"/>
                <a:ea typeface="宋体" panose="02010600030101010101" pitchFamily="2" charset="-122"/>
              </a:rPr>
              <a:t>的结果（即从存储器取来的数据），等待</a:t>
            </a:r>
            <a:r>
              <a:rPr lang="en-US" altLang="zh-CN" sz="2000" dirty="0">
                <a:latin typeface="宋体" panose="02010600030101010101" pitchFamily="2" charset="-122"/>
                <a:ea typeface="宋体" panose="02010600030101010101" pitchFamily="2" charset="-122"/>
              </a:rPr>
              <a:t>CDB</a:t>
            </a:r>
            <a:r>
              <a:rPr lang="zh-CN" altLang="en-US" sz="2000" dirty="0">
                <a:latin typeface="宋体" panose="02010600030101010101" pitchFamily="2" charset="-122"/>
                <a:ea typeface="宋体" panose="02010600030101010101" pitchFamily="2" charset="-122"/>
              </a:rPr>
              <a:t>传输。</a:t>
            </a:r>
          </a:p>
          <a:p>
            <a:pPr marL="265113" indent="-179388"/>
            <a:endParaRPr lang="zh-CN" altLang="en-US" sz="2000" dirty="0">
              <a:latin typeface="宋体" panose="02010600030101010101" pitchFamily="2" charset="-122"/>
              <a:ea typeface="宋体" panose="02010600030101010101" pitchFamily="2" charset="-122"/>
            </a:endParaRPr>
          </a:p>
        </p:txBody>
      </p:sp>
      <p:graphicFrame>
        <p:nvGraphicFramePr>
          <p:cNvPr id="4" name="Object 4"/>
          <p:cNvGraphicFramePr>
            <a:graphicFrameLocks noChangeAspect="1"/>
          </p:cNvGraphicFramePr>
          <p:nvPr>
            <p:extLst>
              <p:ext uri="{D42A27DB-BD31-4B8C-83A1-F6EECF244321}">
                <p14:modId xmlns:p14="http://schemas.microsoft.com/office/powerpoint/2010/main" val="1323152937"/>
              </p:ext>
            </p:extLst>
          </p:nvPr>
        </p:nvGraphicFramePr>
        <p:xfrm>
          <a:off x="661600" y="55677"/>
          <a:ext cx="5226811" cy="3379011"/>
        </p:xfrm>
        <a:graphic>
          <a:graphicData uri="http://schemas.openxmlformats.org/presentationml/2006/ole">
            <mc:AlternateContent xmlns:mc="http://schemas.openxmlformats.org/markup-compatibility/2006">
              <mc:Choice xmlns:v="urn:schemas-microsoft-com:vml" Requires="v">
                <p:oleObj spid="_x0000_s72821" name="图片" r:id="rId3" imgW="5127662" imgH="3314128" progId="Word.Picture.8">
                  <p:embed/>
                </p:oleObj>
              </mc:Choice>
              <mc:Fallback>
                <p:oleObj name="图片" r:id="rId3" imgW="5127662" imgH="3314128" progId="Word.Picture.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600" y="55677"/>
                        <a:ext cx="5226811" cy="3379011"/>
                      </a:xfrm>
                      <a:prstGeom prst="rect">
                        <a:avLst/>
                      </a:prstGeom>
                      <a:noFill/>
                      <a:ln>
                        <a:noFill/>
                      </a:ln>
                      <a:extLst/>
                    </p:spPr>
                  </p:pic>
                </p:oleObj>
              </mc:Fallback>
            </mc:AlternateContent>
          </a:graphicData>
        </a:graphic>
      </p:graphicFrame>
      <p:sp>
        <p:nvSpPr>
          <p:cNvPr id="5" name="椭圆 4"/>
          <p:cNvSpPr/>
          <p:nvPr/>
        </p:nvSpPr>
        <p:spPr>
          <a:xfrm>
            <a:off x="361089" y="1572332"/>
            <a:ext cx="2531671" cy="103802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631536" y="3169920"/>
            <a:ext cx="5560464" cy="2131353"/>
          </a:xfrm>
          <a:prstGeom prst="rect">
            <a:avLst/>
          </a:prstGeom>
        </p:spPr>
        <p:txBody>
          <a:bodyPr wrap="square">
            <a:spAutoFit/>
          </a:bodyPr>
          <a:lstStyle/>
          <a:p>
            <a:pPr marL="265113" lvl="1" indent="-179388">
              <a:spcBef>
                <a:spcPts val="500"/>
              </a:spcBef>
              <a:buClr>
                <a:srgbClr val="40458C"/>
              </a:buClr>
              <a:buFont typeface="Arial" panose="020B0604020202020204" pitchFamily="34" charset="0"/>
              <a:buChar char="•"/>
            </a:pPr>
            <a:r>
              <a:rPr lang="en-US" altLang="zh-CN" sz="2000" dirty="0">
                <a:latin typeface="宋体" panose="02010600030101010101" pitchFamily="2" charset="-122"/>
                <a:ea typeface="宋体" panose="02010600030101010101" pitchFamily="2" charset="-122"/>
              </a:rPr>
              <a:t>store</a:t>
            </a:r>
            <a:r>
              <a:rPr lang="zh-CN" altLang="en-US" sz="2000" dirty="0">
                <a:latin typeface="宋体" panose="02010600030101010101" pitchFamily="2" charset="-122"/>
                <a:ea typeface="宋体" panose="02010600030101010101" pitchFamily="2" charset="-122"/>
              </a:rPr>
              <a:t>缓冲器的作用有</a:t>
            </a:r>
            <a:r>
              <a:rPr lang="en-US" altLang="zh-CN" sz="2000" dirty="0">
                <a:latin typeface="宋体" panose="02010600030101010101" pitchFamily="2" charset="-122"/>
                <a:ea typeface="宋体" panose="02010600030101010101" pitchFamily="2" charset="-122"/>
              </a:rPr>
              <a:t>3</a:t>
            </a:r>
            <a:r>
              <a:rPr lang="zh-CN" altLang="en-US" sz="2000" dirty="0">
                <a:latin typeface="宋体" panose="02010600030101010101" pitchFamily="2" charset="-122"/>
                <a:ea typeface="宋体" panose="02010600030101010101" pitchFamily="2" charset="-122"/>
              </a:rPr>
              <a:t>个：</a:t>
            </a:r>
          </a:p>
          <a:p>
            <a:pPr marL="722313" lvl="4" indent="-179388">
              <a:spcBef>
                <a:spcPts val="500"/>
              </a:spcBef>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存放用于计算有效地址的分量；</a:t>
            </a:r>
          </a:p>
          <a:p>
            <a:pPr marL="722313" lvl="4" indent="-179388">
              <a:spcBef>
                <a:spcPts val="500"/>
              </a:spcBef>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保存正在进行的</a:t>
            </a:r>
            <a:r>
              <a:rPr lang="en-US" altLang="zh-CN" sz="2000" dirty="0">
                <a:latin typeface="宋体" panose="02010600030101010101" pitchFamily="2" charset="-122"/>
                <a:ea typeface="宋体" panose="02010600030101010101" pitchFamily="2" charset="-122"/>
              </a:rPr>
              <a:t>store</a:t>
            </a:r>
            <a:r>
              <a:rPr lang="zh-CN" altLang="en-US" sz="2000" dirty="0">
                <a:latin typeface="宋体" panose="02010600030101010101" pitchFamily="2" charset="-122"/>
                <a:ea typeface="宋体" panose="02010600030101010101" pitchFamily="2" charset="-122"/>
              </a:rPr>
              <a:t>访存的目标地址，该</a:t>
            </a:r>
            <a:r>
              <a:rPr lang="en-US" altLang="zh-CN" sz="2000" dirty="0">
                <a:latin typeface="宋体" panose="02010600030101010101" pitchFamily="2" charset="-122"/>
                <a:ea typeface="宋体" panose="02010600030101010101" pitchFamily="2" charset="-122"/>
              </a:rPr>
              <a:t>store</a:t>
            </a:r>
            <a:r>
              <a:rPr lang="zh-CN" altLang="en-US" sz="2000" dirty="0">
                <a:latin typeface="宋体" panose="02010600030101010101" pitchFamily="2" charset="-122"/>
                <a:ea typeface="宋体" panose="02010600030101010101" pitchFamily="2" charset="-122"/>
              </a:rPr>
              <a:t>正在等待存储数据的到达；</a:t>
            </a:r>
          </a:p>
          <a:p>
            <a:pPr marL="722313" lvl="4" indent="-179388">
              <a:spcBef>
                <a:spcPts val="500"/>
              </a:spcBef>
              <a:buFont typeface="Arial" panose="020B0604020202020204" pitchFamily="34" charset="0"/>
              <a:buChar char="•"/>
            </a:pPr>
            <a:r>
              <a:rPr lang="zh-CN" altLang="en-US" sz="2000" dirty="0">
                <a:latin typeface="宋体" panose="02010600030101010101" pitchFamily="2" charset="-122"/>
                <a:ea typeface="宋体" panose="02010600030101010101" pitchFamily="2" charset="-122"/>
              </a:rPr>
              <a:t>保存该</a:t>
            </a:r>
            <a:r>
              <a:rPr lang="en-US" altLang="zh-CN" sz="2000" dirty="0">
                <a:latin typeface="宋体" panose="02010600030101010101" pitchFamily="2" charset="-122"/>
                <a:ea typeface="宋体" panose="02010600030101010101" pitchFamily="2" charset="-122"/>
              </a:rPr>
              <a:t>store</a:t>
            </a:r>
            <a:r>
              <a:rPr lang="zh-CN" altLang="en-US" sz="2000" dirty="0">
                <a:latin typeface="宋体" panose="02010600030101010101" pitchFamily="2" charset="-122"/>
                <a:ea typeface="宋体" panose="02010600030101010101" pitchFamily="2" charset="-122"/>
              </a:rPr>
              <a:t>的地址和数据，直到存储部件接收。</a:t>
            </a:r>
          </a:p>
        </p:txBody>
      </p:sp>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73975" y="3572625"/>
            <a:ext cx="3158734" cy="3088410"/>
          </a:xfrm>
          <a:prstGeom prst="rect">
            <a:avLst/>
          </a:prstGeom>
        </p:spPr>
      </p:pic>
    </p:spTree>
    <p:extLst>
      <p:ext uri="{BB962C8B-B14F-4D97-AF65-F5344CB8AC3E}">
        <p14:creationId xmlns:p14="http://schemas.microsoft.com/office/powerpoint/2010/main" val="32456838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78179" name="Rectangle 3" descr="Rectangle: Click to edit Master text styles&#10;Second level&#10;Third level&#10;Fourth level&#10;Fifth level"/>
          <p:cNvSpPr>
            <a:spLocks noGrp="1" noChangeArrowheads="1"/>
          </p:cNvSpPr>
          <p:nvPr>
            <p:ph idx="1"/>
          </p:nvPr>
        </p:nvSpPr>
        <p:spPr>
          <a:xfrm>
            <a:off x="6597354" y="648014"/>
            <a:ext cx="5336566" cy="5334000"/>
          </a:xfrm>
        </p:spPr>
        <p:txBody>
          <a:bodyPr/>
          <a:lstStyle/>
          <a:p>
            <a:pPr lvl="2" eaLnBrk="1" hangingPunct="1">
              <a:lnSpc>
                <a:spcPct val="110000"/>
              </a:lnSpc>
            </a:pPr>
            <a:endParaRPr lang="zh-CN" altLang="en-US" dirty="0" smtClean="0">
              <a:latin typeface="黑体" panose="02010609060101010101" pitchFamily="49" charset="-122"/>
              <a:ea typeface="黑体" panose="02010609060101010101" pitchFamily="49" charset="-122"/>
            </a:endParaRPr>
          </a:p>
          <a:p>
            <a:pPr marL="444500" lvl="1" indent="-265113" eaLnBrk="1" hangingPunct="1">
              <a:lnSpc>
                <a:spcPct val="110000"/>
              </a:lnSpc>
            </a:pPr>
            <a:r>
              <a:rPr lang="zh-CN" altLang="en-US" sz="2000" dirty="0" smtClean="0">
                <a:latin typeface="宋体" panose="02010600030101010101" pitchFamily="2" charset="-122"/>
                <a:ea typeface="宋体" panose="02010600030101010101" pitchFamily="2" charset="-122"/>
              </a:rPr>
              <a:t>浮点寄存器</a:t>
            </a:r>
            <a:r>
              <a:rPr lang="en-US" altLang="zh-CN" sz="2000" dirty="0" smtClean="0">
                <a:latin typeface="宋体" panose="02010600030101010101" pitchFamily="2" charset="-122"/>
                <a:ea typeface="宋体" panose="02010600030101010101" pitchFamily="2" charset="-122"/>
              </a:rPr>
              <a:t>FP</a:t>
            </a:r>
          </a:p>
          <a:p>
            <a:pPr marL="717550" lvl="2" indent="-179388" eaLnBrk="1" hangingPunct="1">
              <a:lnSpc>
                <a:spcPct val="110000"/>
              </a:lnSpc>
            </a:pPr>
            <a:r>
              <a:rPr lang="zh-CN" altLang="en-US" dirty="0" smtClean="0">
                <a:latin typeface="宋体" panose="02010600030101010101" pitchFamily="2" charset="-122"/>
                <a:ea typeface="宋体" panose="02010600030101010101" pitchFamily="2" charset="-122"/>
              </a:rPr>
              <a:t>共有</a:t>
            </a:r>
            <a:r>
              <a:rPr lang="en-US" altLang="zh-CN" dirty="0" smtClean="0">
                <a:latin typeface="宋体" panose="02010600030101010101" pitchFamily="2" charset="-122"/>
                <a:ea typeface="宋体" panose="02010600030101010101" pitchFamily="2" charset="-122"/>
              </a:rPr>
              <a:t>16</a:t>
            </a:r>
            <a:r>
              <a:rPr lang="zh-CN" altLang="en-US" dirty="0" smtClean="0">
                <a:latin typeface="宋体" panose="02010600030101010101" pitchFamily="2" charset="-122"/>
                <a:ea typeface="宋体" panose="02010600030101010101" pitchFamily="2" charset="-122"/>
              </a:rPr>
              <a:t>个浮点寄存器：</a:t>
            </a:r>
            <a:r>
              <a:rPr lang="en-US" altLang="zh-CN" dirty="0" smtClean="0">
                <a:latin typeface="宋体" panose="02010600030101010101" pitchFamily="2" charset="-122"/>
                <a:ea typeface="宋体" panose="02010600030101010101" pitchFamily="2" charset="-122"/>
              </a:rPr>
              <a:t>F0</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F2</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F4</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a:t>
            </a:r>
            <a:r>
              <a:rPr lang="zh-CN" altLang="en-US" dirty="0" smtClean="0">
                <a:latin typeface="宋体" panose="02010600030101010101" pitchFamily="2" charset="-122"/>
                <a:ea typeface="宋体" panose="02010600030101010101" pitchFamily="2" charset="-122"/>
              </a:rPr>
              <a:t>，</a:t>
            </a:r>
            <a:r>
              <a:rPr lang="en-US" altLang="zh-CN" dirty="0" smtClean="0">
                <a:latin typeface="宋体" panose="02010600030101010101" pitchFamily="2" charset="-122"/>
                <a:ea typeface="宋体" panose="02010600030101010101" pitchFamily="2" charset="-122"/>
              </a:rPr>
              <a:t>F30</a:t>
            </a:r>
            <a:r>
              <a:rPr lang="zh-CN" altLang="en-US" dirty="0" smtClean="0">
                <a:latin typeface="宋体" panose="02010600030101010101" pitchFamily="2" charset="-122"/>
                <a:ea typeface="宋体" panose="02010600030101010101" pitchFamily="2" charset="-122"/>
              </a:rPr>
              <a:t>。</a:t>
            </a:r>
          </a:p>
          <a:p>
            <a:pPr marL="717550" lvl="2" indent="-179388" eaLnBrk="1" hangingPunct="1">
              <a:lnSpc>
                <a:spcPct val="110000"/>
              </a:lnSpc>
            </a:pPr>
            <a:r>
              <a:rPr lang="zh-CN" altLang="en-US" dirty="0" smtClean="0">
                <a:latin typeface="宋体" panose="02010600030101010101" pitchFamily="2" charset="-122"/>
                <a:ea typeface="宋体" panose="02010600030101010101" pitchFamily="2" charset="-122"/>
              </a:rPr>
              <a:t>它们通过一对总线连接到功能部件，并通过</a:t>
            </a:r>
            <a:r>
              <a:rPr lang="en-US" altLang="zh-CN" dirty="0" smtClean="0">
                <a:latin typeface="宋体" panose="02010600030101010101" pitchFamily="2" charset="-122"/>
                <a:ea typeface="宋体" panose="02010600030101010101" pitchFamily="2" charset="-122"/>
              </a:rPr>
              <a:t>CDB</a:t>
            </a:r>
            <a:r>
              <a:rPr lang="zh-CN" altLang="en-US" dirty="0" smtClean="0">
                <a:latin typeface="宋体" panose="02010600030101010101" pitchFamily="2" charset="-122"/>
                <a:ea typeface="宋体" panose="02010600030101010101" pitchFamily="2" charset="-122"/>
              </a:rPr>
              <a:t>连接到</a:t>
            </a:r>
            <a:r>
              <a:rPr lang="en-US" altLang="zh-CN" dirty="0" smtClean="0">
                <a:latin typeface="宋体" panose="02010600030101010101" pitchFamily="2" charset="-122"/>
                <a:ea typeface="宋体" panose="02010600030101010101" pitchFamily="2" charset="-122"/>
              </a:rPr>
              <a:t>store</a:t>
            </a:r>
            <a:r>
              <a:rPr lang="zh-CN" altLang="en-US" dirty="0" smtClean="0">
                <a:latin typeface="宋体" panose="02010600030101010101" pitchFamily="2" charset="-122"/>
                <a:ea typeface="宋体" panose="02010600030101010101" pitchFamily="2" charset="-122"/>
              </a:rPr>
              <a:t>缓冲器。</a:t>
            </a:r>
          </a:p>
          <a:p>
            <a:pPr marL="444500" lvl="1" indent="-265113">
              <a:lnSpc>
                <a:spcPct val="110000"/>
              </a:lnSpc>
            </a:pPr>
            <a:r>
              <a:rPr lang="zh-CN" altLang="en-US" sz="2000" dirty="0">
                <a:latin typeface="宋体" panose="02010600030101010101" pitchFamily="2" charset="-122"/>
                <a:ea typeface="宋体" panose="02010600030101010101" pitchFamily="2" charset="-122"/>
              </a:rPr>
              <a:t>指令队列</a:t>
            </a:r>
          </a:p>
          <a:p>
            <a:pPr marL="717550" lvl="2" indent="-179388">
              <a:lnSpc>
                <a:spcPct val="110000"/>
              </a:lnSpc>
            </a:pPr>
            <a:r>
              <a:rPr lang="zh-CN" altLang="en-US" dirty="0">
                <a:latin typeface="宋体" panose="02010600030101010101" pitchFamily="2" charset="-122"/>
                <a:ea typeface="宋体" panose="02010600030101010101" pitchFamily="2" charset="-122"/>
              </a:rPr>
              <a:t>指令部件送来的指令放入指令队列</a:t>
            </a:r>
          </a:p>
          <a:p>
            <a:pPr marL="717550" lvl="2" indent="-179388">
              <a:lnSpc>
                <a:spcPct val="110000"/>
              </a:lnSpc>
            </a:pPr>
            <a:r>
              <a:rPr lang="zh-CN" altLang="en-US" dirty="0">
                <a:latin typeface="宋体" panose="02010600030101010101" pitchFamily="2" charset="-122"/>
                <a:ea typeface="宋体" panose="02010600030101010101" pitchFamily="2" charset="-122"/>
              </a:rPr>
              <a:t>指令队列中的指令按先进先出的顺序流出</a:t>
            </a:r>
            <a:endParaRPr lang="en-US" altLang="zh-CN" dirty="0">
              <a:latin typeface="宋体" panose="02010600030101010101" pitchFamily="2" charset="-122"/>
              <a:ea typeface="宋体" panose="02010600030101010101" pitchFamily="2" charset="-122"/>
            </a:endParaRPr>
          </a:p>
          <a:p>
            <a:pPr marL="444500" lvl="1" indent="-265113">
              <a:lnSpc>
                <a:spcPct val="110000"/>
              </a:lnSpc>
            </a:pPr>
            <a:r>
              <a:rPr lang="zh-CN" altLang="en-US" sz="2000" dirty="0">
                <a:latin typeface="宋体" panose="02010600030101010101" pitchFamily="2" charset="-122"/>
                <a:ea typeface="宋体" panose="02010600030101010101" pitchFamily="2" charset="-122"/>
              </a:rPr>
              <a:t>运算部件</a:t>
            </a:r>
          </a:p>
          <a:p>
            <a:pPr marL="717550" lvl="2" indent="-179388">
              <a:lnSpc>
                <a:spcPct val="110000"/>
              </a:lnSpc>
            </a:pPr>
            <a:r>
              <a:rPr lang="zh-CN" altLang="en-US" dirty="0">
                <a:latin typeface="宋体" panose="02010600030101010101" pitchFamily="2" charset="-122"/>
                <a:ea typeface="宋体" panose="02010600030101010101" pitchFamily="2" charset="-122"/>
              </a:rPr>
              <a:t>浮点加法器完成加法和减法操作</a:t>
            </a:r>
          </a:p>
          <a:p>
            <a:pPr marL="717550" lvl="2" indent="-179388">
              <a:lnSpc>
                <a:spcPct val="110000"/>
              </a:lnSpc>
            </a:pPr>
            <a:r>
              <a:rPr lang="zh-CN" altLang="en-US" dirty="0">
                <a:latin typeface="宋体" panose="02010600030101010101" pitchFamily="2" charset="-122"/>
                <a:ea typeface="宋体" panose="02010600030101010101" pitchFamily="2" charset="-122"/>
              </a:rPr>
              <a:t>浮点乘法器完成乘法和除法操作 </a:t>
            </a:r>
          </a:p>
          <a:p>
            <a:pPr lvl="2" eaLnBrk="1" hangingPunct="1">
              <a:lnSpc>
                <a:spcPct val="110000"/>
              </a:lnSpc>
            </a:pPr>
            <a:endParaRPr lang="zh-CN" altLang="en-US" dirty="0" smtClean="0">
              <a:latin typeface="黑体" panose="02010609060101010101" pitchFamily="49" charset="-122"/>
              <a:ea typeface="黑体" panose="02010609060101010101" pitchFamily="49" charset="-122"/>
            </a:endParaRPr>
          </a:p>
        </p:txBody>
      </p:sp>
      <p:graphicFrame>
        <p:nvGraphicFramePr>
          <p:cNvPr id="3" name="Object 4"/>
          <p:cNvGraphicFramePr>
            <a:graphicFrameLocks noChangeAspect="1"/>
          </p:cNvGraphicFramePr>
          <p:nvPr>
            <p:extLst/>
          </p:nvPr>
        </p:nvGraphicFramePr>
        <p:xfrm>
          <a:off x="447311" y="1095085"/>
          <a:ext cx="5778346" cy="3735566"/>
        </p:xfrm>
        <a:graphic>
          <a:graphicData uri="http://schemas.openxmlformats.org/presentationml/2006/ole">
            <mc:AlternateContent xmlns:mc="http://schemas.openxmlformats.org/markup-compatibility/2006">
              <mc:Choice xmlns:v="urn:schemas-microsoft-com:vml" Requires="v">
                <p:oleObj spid="_x0000_s73845" name="图片" r:id="rId3" imgW="5127662" imgH="3314128" progId="Word.Picture.8">
                  <p:embed/>
                </p:oleObj>
              </mc:Choice>
              <mc:Fallback>
                <p:oleObj name="图片" r:id="rId3" imgW="5127662" imgH="3314128" progId="Word.Picture.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311" y="1095085"/>
                        <a:ext cx="5778346" cy="3735566"/>
                      </a:xfrm>
                      <a:prstGeom prst="rect">
                        <a:avLst/>
                      </a:prstGeom>
                      <a:noFill/>
                      <a:ln>
                        <a:noFill/>
                      </a:ln>
                      <a:extLst/>
                    </p:spPr>
                  </p:pic>
                </p:oleObj>
              </mc:Fallback>
            </mc:AlternateContent>
          </a:graphicData>
        </a:graphic>
      </p:graphicFrame>
      <p:sp>
        <p:nvSpPr>
          <p:cNvPr id="4" name="椭圆 3"/>
          <p:cNvSpPr/>
          <p:nvPr/>
        </p:nvSpPr>
        <p:spPr>
          <a:xfrm>
            <a:off x="2070648" y="978209"/>
            <a:ext cx="2531671" cy="145734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2478280" y="4000368"/>
            <a:ext cx="1943153" cy="94715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4537817" y="4000368"/>
            <a:ext cx="1943153" cy="94715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348352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79203" name="Rectangle 3" descr="Rectangle: Click to edit Master text styles&#10;Second level&#10;Third level&#10;Fourth level&#10;Fifth level"/>
          <p:cNvSpPr>
            <a:spLocks noGrp="1" noChangeArrowheads="1"/>
          </p:cNvSpPr>
          <p:nvPr>
            <p:ph idx="1"/>
          </p:nvPr>
        </p:nvSpPr>
        <p:spPr>
          <a:xfrm>
            <a:off x="969073" y="619900"/>
            <a:ext cx="8832953" cy="5616575"/>
          </a:xfrm>
        </p:spPr>
        <p:txBody>
          <a:bodyPr>
            <a:normAutofit/>
          </a:bodyPr>
          <a:lstStyle/>
          <a:p>
            <a:pPr marL="0" indent="0" eaLnBrk="1" hangingPunct="1">
              <a:lnSpc>
                <a:spcPct val="110000"/>
              </a:lnSpc>
              <a:buNone/>
            </a:pPr>
            <a:r>
              <a:rPr lang="zh-CN" altLang="en-US" sz="2400" dirty="0" smtClean="0">
                <a:latin typeface="宋体" panose="02010600030101010101" pitchFamily="2" charset="-122"/>
                <a:ea typeface="宋体" panose="02010600030101010101" pitchFamily="2" charset="-122"/>
              </a:rPr>
              <a:t>在</a:t>
            </a:r>
            <a:r>
              <a:rPr lang="en-US" altLang="zh-CN" sz="2400" dirty="0" err="1" smtClean="0">
                <a:latin typeface="宋体" panose="02010600030101010101" pitchFamily="2" charset="-122"/>
                <a:ea typeface="宋体" panose="02010600030101010101" pitchFamily="2" charset="-122"/>
              </a:rPr>
              <a:t>Tomasulo</a:t>
            </a:r>
            <a:r>
              <a:rPr lang="zh-CN" altLang="en-US" sz="2400" dirty="0" smtClean="0">
                <a:latin typeface="宋体" panose="02010600030101010101" pitchFamily="2" charset="-122"/>
                <a:ea typeface="宋体" panose="02010600030101010101" pitchFamily="2" charset="-122"/>
              </a:rPr>
              <a:t>算法中，</a:t>
            </a:r>
            <a:r>
              <a:rPr lang="zh-CN" altLang="en-US" sz="2400" dirty="0" smtClean="0">
                <a:solidFill>
                  <a:srgbClr val="02A215"/>
                </a:solidFill>
                <a:latin typeface="宋体" panose="02010600030101010101" pitchFamily="2" charset="-122"/>
                <a:ea typeface="宋体" panose="02010600030101010101" pitchFamily="2" charset="-122"/>
              </a:rPr>
              <a:t>寄存器换名</a:t>
            </a:r>
            <a:r>
              <a:rPr lang="zh-CN" altLang="en-US" sz="2400" dirty="0" smtClean="0">
                <a:latin typeface="宋体" panose="02010600030101010101" pitchFamily="2" charset="-122"/>
                <a:ea typeface="宋体" panose="02010600030101010101" pitchFamily="2" charset="-122"/>
              </a:rPr>
              <a:t>是通过保留站和流出逻辑来共同完成的。</a:t>
            </a:r>
          </a:p>
          <a:p>
            <a:pPr marL="803275" lvl="1" indent="-265113" eaLnBrk="1" hangingPunct="1">
              <a:lnSpc>
                <a:spcPct val="110000"/>
              </a:lnSpc>
            </a:pPr>
            <a:r>
              <a:rPr lang="zh-CN" altLang="en-US" dirty="0" smtClean="0">
                <a:latin typeface="宋体" panose="02010600030101010101" pitchFamily="2" charset="-122"/>
                <a:ea typeface="宋体" panose="02010600030101010101" pitchFamily="2" charset="-122"/>
              </a:rPr>
              <a:t>当指令流出时，如果其操作数还没有计算出来，则将该指令中相应的</a:t>
            </a:r>
            <a:r>
              <a:rPr lang="zh-CN" altLang="en-US" dirty="0" smtClean="0">
                <a:solidFill>
                  <a:srgbClr val="C20A73"/>
                </a:solidFill>
                <a:latin typeface="宋体" panose="02010600030101010101" pitchFamily="2" charset="-122"/>
                <a:ea typeface="宋体" panose="02010600030101010101" pitchFamily="2" charset="-122"/>
              </a:rPr>
              <a:t>寄存器号 </a:t>
            </a:r>
            <a:r>
              <a:rPr lang="zh-CN" altLang="en-US" dirty="0" smtClean="0">
                <a:solidFill>
                  <a:srgbClr val="02A215"/>
                </a:solidFill>
                <a:latin typeface="宋体" panose="02010600030101010101" pitchFamily="2" charset="-122"/>
                <a:ea typeface="宋体" panose="02010600030101010101" pitchFamily="2" charset="-122"/>
              </a:rPr>
              <a:t>换名 </a:t>
            </a:r>
            <a:r>
              <a:rPr lang="zh-CN" altLang="en-US" dirty="0" smtClean="0">
                <a:solidFill>
                  <a:srgbClr val="D60093"/>
                </a:solidFill>
                <a:latin typeface="宋体" panose="02010600030101010101" pitchFamily="2" charset="-122"/>
                <a:ea typeface="宋体" panose="02010600030101010101" pitchFamily="2" charset="-122"/>
              </a:rPr>
              <a:t>为将产生这个操作数的保留站的标识。</a:t>
            </a:r>
            <a:endParaRPr lang="en-US" altLang="zh-CN" dirty="0" smtClean="0">
              <a:solidFill>
                <a:srgbClr val="D60093"/>
              </a:solidFill>
              <a:latin typeface="宋体" panose="02010600030101010101" pitchFamily="2" charset="-122"/>
              <a:ea typeface="宋体" panose="02010600030101010101" pitchFamily="2" charset="-122"/>
            </a:endParaRPr>
          </a:p>
          <a:p>
            <a:pPr marL="803275" lvl="1" indent="-265113" eaLnBrk="1" hangingPunct="1">
              <a:lnSpc>
                <a:spcPct val="110000"/>
              </a:lnSpc>
            </a:pPr>
            <a:r>
              <a:rPr lang="zh-CN" altLang="en-US" dirty="0" smtClean="0">
                <a:latin typeface="宋体" panose="02010600030101010101" pitchFamily="2" charset="-122"/>
                <a:ea typeface="宋体" panose="02010600030101010101" pitchFamily="2" charset="-122"/>
              </a:rPr>
              <a:t>指令流出到保留站后，其操作数寄存器号或者换成了数据本身（如果该数据已经就绪），或者换成了保留站的标识，</a:t>
            </a:r>
            <a:r>
              <a:rPr lang="zh-CN" altLang="en-US" dirty="0" smtClean="0">
                <a:solidFill>
                  <a:srgbClr val="D60093"/>
                </a:solidFill>
                <a:latin typeface="宋体" panose="02010600030101010101" pitchFamily="2" charset="-122"/>
                <a:ea typeface="宋体" panose="02010600030101010101" pitchFamily="2" charset="-122"/>
              </a:rPr>
              <a:t>不再与寄存器有关系</a:t>
            </a:r>
            <a:r>
              <a:rPr lang="zh-CN" altLang="en-US" dirty="0" smtClean="0">
                <a:latin typeface="宋体" panose="02010600030101010101" pitchFamily="2" charset="-122"/>
                <a:ea typeface="宋体" panose="02010600030101010101" pitchFamily="2" charset="-122"/>
              </a:rPr>
              <a:t>。这样 后面指令对寄存器的写入操作就不可能产生</a:t>
            </a:r>
            <a:r>
              <a:rPr lang="en-US" altLang="zh-CN" dirty="0" smtClean="0">
                <a:solidFill>
                  <a:srgbClr val="9900CC"/>
                </a:solidFill>
                <a:latin typeface="宋体" panose="02010600030101010101" pitchFamily="2" charset="-122"/>
                <a:ea typeface="宋体" panose="02010600030101010101" pitchFamily="2" charset="-122"/>
              </a:rPr>
              <a:t>WAR</a:t>
            </a:r>
            <a:r>
              <a:rPr lang="zh-CN" altLang="en-US" dirty="0" smtClean="0">
                <a:latin typeface="宋体" panose="02010600030101010101" pitchFamily="2" charset="-122"/>
                <a:ea typeface="宋体" panose="02010600030101010101" pitchFamily="2" charset="-122"/>
              </a:rPr>
              <a:t>冲突了 </a:t>
            </a:r>
          </a:p>
        </p:txBody>
      </p:sp>
    </p:spTree>
    <p:extLst>
      <p:ext uri="{BB962C8B-B14F-4D97-AF65-F5344CB8AC3E}">
        <p14:creationId xmlns:p14="http://schemas.microsoft.com/office/powerpoint/2010/main" val="14714703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1089562" y="665608"/>
            <a:ext cx="5685692" cy="4525963"/>
          </a:xfrm>
        </p:spPr>
        <p:txBody>
          <a:bodyPr/>
          <a:lstStyle/>
          <a:p>
            <a:pPr marL="0" indent="0">
              <a:buNone/>
            </a:pPr>
            <a:r>
              <a:rPr lang="en-US" altLang="zh-CN" sz="2400" b="1" dirty="0" smtClean="0">
                <a:solidFill>
                  <a:srgbClr val="181E33"/>
                </a:solidFill>
                <a:latin typeface="宋体" panose="02010600030101010101" pitchFamily="2" charset="-122"/>
                <a:ea typeface="宋体" panose="02010600030101010101" pitchFamily="2" charset="-122"/>
              </a:rPr>
              <a:t>3.Tomasulo</a:t>
            </a:r>
            <a:r>
              <a:rPr lang="zh-CN" altLang="en-US" sz="2400" b="1" dirty="0" smtClean="0">
                <a:solidFill>
                  <a:srgbClr val="181E33"/>
                </a:solidFill>
                <a:latin typeface="宋体" panose="02010600030101010101" pitchFamily="2" charset="-122"/>
                <a:ea typeface="宋体" panose="02010600030101010101" pitchFamily="2" charset="-122"/>
              </a:rPr>
              <a:t>算法</a:t>
            </a:r>
            <a:r>
              <a:rPr lang="zh-CN" altLang="en-US" sz="2400" b="1" dirty="0">
                <a:solidFill>
                  <a:srgbClr val="181E33"/>
                </a:solidFill>
                <a:latin typeface="宋体" panose="02010600030101010101" pitchFamily="2" charset="-122"/>
                <a:ea typeface="宋体" panose="02010600030101010101" pitchFamily="2" charset="-122"/>
              </a:rPr>
              <a:t>的</a:t>
            </a:r>
            <a:r>
              <a:rPr lang="zh-CN" altLang="en-US" sz="2400" b="1" dirty="0" smtClean="0">
                <a:solidFill>
                  <a:srgbClr val="181E33"/>
                </a:solidFill>
                <a:latin typeface="宋体" panose="02010600030101010101" pitchFamily="2" charset="-122"/>
                <a:ea typeface="宋体" panose="02010600030101010101" pitchFamily="2" charset="-122"/>
              </a:rPr>
              <a:t>执行</a:t>
            </a:r>
            <a:r>
              <a:rPr lang="zh-CN" altLang="en-US" sz="2400" b="1" dirty="0">
                <a:solidFill>
                  <a:srgbClr val="181E33"/>
                </a:solidFill>
                <a:latin typeface="宋体" panose="02010600030101010101" pitchFamily="2" charset="-122"/>
                <a:ea typeface="宋体" panose="02010600030101010101" pitchFamily="2" charset="-122"/>
              </a:rPr>
              <a:t>步骤</a:t>
            </a:r>
          </a:p>
          <a:p>
            <a:pPr indent="309563">
              <a:buNone/>
            </a:pPr>
            <a:r>
              <a:rPr lang="zh-CN" altLang="en-US" sz="2400" dirty="0" smtClean="0">
                <a:solidFill>
                  <a:srgbClr val="181E33"/>
                </a:solidFill>
                <a:latin typeface="宋体" panose="02010600030101010101" pitchFamily="2" charset="-122"/>
                <a:ea typeface="宋体" panose="02010600030101010101" pitchFamily="2" charset="-122"/>
              </a:rPr>
              <a:t>要点三步：</a:t>
            </a:r>
            <a:endParaRPr lang="zh-CN" altLang="en-US" sz="2400" dirty="0">
              <a:solidFill>
                <a:srgbClr val="181E33"/>
              </a:solidFill>
              <a:latin typeface="宋体" panose="02010600030101010101" pitchFamily="2" charset="-122"/>
              <a:ea typeface="宋体" panose="02010600030101010101" pitchFamily="2" charset="-122"/>
            </a:endParaRPr>
          </a:p>
          <a:p>
            <a:pPr marL="803275" indent="179388">
              <a:buFont typeface="Arial" panose="020B0604020202020204" pitchFamily="34" charset="0"/>
              <a:buChar char="•"/>
            </a:pPr>
            <a:r>
              <a:rPr lang="zh-CN" altLang="en-US" sz="2400" dirty="0">
                <a:solidFill>
                  <a:srgbClr val="181E33"/>
                </a:solidFill>
                <a:latin typeface="宋体" panose="02010600030101010101" pitchFamily="2" charset="-122"/>
                <a:ea typeface="宋体" panose="02010600030101010101" pitchFamily="2" charset="-122"/>
              </a:rPr>
              <a:t>流出</a:t>
            </a:r>
          </a:p>
          <a:p>
            <a:pPr marL="803275" indent="179388">
              <a:buFont typeface="Arial" panose="020B0604020202020204" pitchFamily="34" charset="0"/>
              <a:buChar char="•"/>
            </a:pPr>
            <a:r>
              <a:rPr lang="zh-CN" altLang="en-US" sz="2400" dirty="0">
                <a:solidFill>
                  <a:srgbClr val="181E33"/>
                </a:solidFill>
                <a:latin typeface="宋体" panose="02010600030101010101" pitchFamily="2" charset="-122"/>
                <a:ea typeface="宋体" panose="02010600030101010101" pitchFamily="2" charset="-122"/>
              </a:rPr>
              <a:t>执行</a:t>
            </a:r>
          </a:p>
          <a:p>
            <a:pPr marL="803275" indent="179388">
              <a:buFont typeface="Arial" panose="020B0604020202020204" pitchFamily="34" charset="0"/>
              <a:buChar char="•"/>
            </a:pPr>
            <a:r>
              <a:rPr lang="zh-CN" altLang="en-US" sz="2400" dirty="0">
                <a:solidFill>
                  <a:srgbClr val="181E33"/>
                </a:solidFill>
                <a:latin typeface="宋体" panose="02010600030101010101" pitchFamily="2" charset="-122"/>
                <a:ea typeface="宋体" panose="02010600030101010101" pitchFamily="2" charset="-122"/>
              </a:rPr>
              <a:t>写结果</a:t>
            </a:r>
          </a:p>
          <a:p>
            <a:endParaRPr lang="zh-CN" altLang="en-US" dirty="0"/>
          </a:p>
        </p:txBody>
      </p:sp>
    </p:spTree>
    <p:extLst>
      <p:ext uri="{BB962C8B-B14F-4D97-AF65-F5344CB8AC3E}">
        <p14:creationId xmlns:p14="http://schemas.microsoft.com/office/powerpoint/2010/main" val="363775152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181252"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8909"/>
          <a:stretch/>
        </p:blipFill>
        <p:spPr bwMode="auto">
          <a:xfrm>
            <a:off x="922275" y="821537"/>
            <a:ext cx="6696075" cy="5024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7822732" y="2368878"/>
            <a:ext cx="3816640" cy="1528624"/>
          </a:xfrm>
          <a:prstGeom prst="rect">
            <a:avLst/>
          </a:prstGeom>
        </p:spPr>
        <p:txBody>
          <a:bodyPr wrap="square">
            <a:spAutoFit/>
          </a:bodyPr>
          <a:lstStyle/>
          <a:p>
            <a:pPr fontAlgn="base">
              <a:lnSpc>
                <a:spcPts val="2800"/>
              </a:lnSpc>
              <a:spcBef>
                <a:spcPct val="0"/>
              </a:spcBef>
              <a:spcAft>
                <a:spcPct val="0"/>
              </a:spcAft>
              <a:defRPr/>
            </a:pPr>
            <a:r>
              <a:rPr kumimoji="1" lang="zh-CN" altLang="zh-CN" kern="100" dirty="0">
                <a:solidFill>
                  <a:srgbClr val="40458C"/>
                </a:solidFill>
                <a:latin typeface="宋体" panose="02010600030101010101" pitchFamily="2" charset="-122"/>
                <a:ea typeface="宋体" panose="02010600030101010101" pitchFamily="2" charset="-122"/>
                <a:cs typeface="Times New Roman"/>
              </a:rPr>
              <a:t>把</a:t>
            </a:r>
            <a:r>
              <a:rPr kumimoji="1" lang="zh-CN" altLang="zh-CN" kern="100" dirty="0" smtClean="0">
                <a:solidFill>
                  <a:srgbClr val="40458C"/>
                </a:solidFill>
                <a:latin typeface="宋体" panose="02010600030101010101" pitchFamily="2" charset="-122"/>
                <a:ea typeface="宋体" panose="02010600030101010101" pitchFamily="2" charset="-122"/>
                <a:cs typeface="Times New Roman"/>
              </a:rPr>
              <a:t>图</a:t>
            </a:r>
            <a:r>
              <a:rPr kumimoji="1" lang="en-US" altLang="zh-CN" kern="100" dirty="0">
                <a:solidFill>
                  <a:srgbClr val="40458C"/>
                </a:solidFill>
                <a:latin typeface="宋体" panose="02010600030101010101" pitchFamily="2" charset="-122"/>
                <a:ea typeface="宋体" panose="02010600030101010101" pitchFamily="2" charset="-122"/>
                <a:cs typeface="Times New Roman"/>
              </a:rPr>
              <a:t>3</a:t>
            </a:r>
            <a:r>
              <a:rPr kumimoji="1" lang="en-US" altLang="zh-CN" kern="100" dirty="0" smtClean="0">
                <a:solidFill>
                  <a:srgbClr val="40458C"/>
                </a:solidFill>
                <a:latin typeface="宋体" panose="02010600030101010101" pitchFamily="2" charset="-122"/>
                <a:ea typeface="宋体" panose="02010600030101010101" pitchFamily="2" charset="-122"/>
                <a:cs typeface="Times New Roman"/>
              </a:rPr>
              <a:t>.1</a:t>
            </a:r>
            <a:r>
              <a:rPr kumimoji="1" lang="zh-CN" altLang="zh-CN" kern="100" dirty="0">
                <a:solidFill>
                  <a:srgbClr val="40458C"/>
                </a:solidFill>
                <a:latin typeface="宋体" panose="02010600030101010101" pitchFamily="2" charset="-122"/>
                <a:ea typeface="宋体" panose="02010600030101010101" pitchFamily="2" charset="-122"/>
                <a:cs typeface="Times New Roman"/>
              </a:rPr>
              <a:t>简化为</a:t>
            </a:r>
            <a:r>
              <a:rPr kumimoji="1" lang="zh-CN" altLang="zh-CN" kern="100" dirty="0" smtClean="0">
                <a:solidFill>
                  <a:srgbClr val="40458C"/>
                </a:solidFill>
                <a:latin typeface="宋体" panose="02010600030101010101" pitchFamily="2" charset="-122"/>
                <a:ea typeface="宋体" panose="02010600030101010101" pitchFamily="2" charset="-122"/>
                <a:cs typeface="Times New Roman"/>
              </a:rPr>
              <a:t>图</a:t>
            </a:r>
            <a:r>
              <a:rPr kumimoji="1" lang="en-US" altLang="zh-CN" kern="100" dirty="0">
                <a:solidFill>
                  <a:srgbClr val="40458C"/>
                </a:solidFill>
                <a:latin typeface="宋体" panose="02010600030101010101" pitchFamily="2" charset="-122"/>
                <a:ea typeface="宋体" panose="02010600030101010101" pitchFamily="2" charset="-122"/>
                <a:cs typeface="Times New Roman"/>
              </a:rPr>
              <a:t>3</a:t>
            </a:r>
            <a:r>
              <a:rPr kumimoji="1" lang="en-US" altLang="zh-CN" kern="100" dirty="0" smtClean="0">
                <a:solidFill>
                  <a:srgbClr val="40458C"/>
                </a:solidFill>
                <a:latin typeface="宋体" panose="02010600030101010101" pitchFamily="2" charset="-122"/>
                <a:ea typeface="宋体" panose="02010600030101010101" pitchFamily="2" charset="-122"/>
                <a:cs typeface="Times New Roman"/>
              </a:rPr>
              <a:t>.2(a</a:t>
            </a:r>
            <a:r>
              <a:rPr kumimoji="1" lang="en-US" altLang="zh-CN"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kern="100" dirty="0">
                <a:solidFill>
                  <a:srgbClr val="40458C"/>
                </a:solidFill>
                <a:latin typeface="宋体" panose="02010600030101010101" pitchFamily="2" charset="-122"/>
                <a:ea typeface="宋体" panose="02010600030101010101" pitchFamily="2" charset="-122"/>
                <a:cs typeface="Times New Roman"/>
              </a:rPr>
              <a:t>并且增加了一个寄存器状态表</a:t>
            </a:r>
            <a:r>
              <a:rPr kumimoji="1" lang="en-US" altLang="zh-CN" kern="100" dirty="0">
                <a:solidFill>
                  <a:srgbClr val="40458C"/>
                </a:solidFill>
                <a:latin typeface="宋体" panose="02010600030101010101" pitchFamily="2" charset="-122"/>
                <a:ea typeface="宋体" panose="02010600030101010101" pitchFamily="2" charset="-122"/>
                <a:cs typeface="Times New Roman"/>
              </a:rPr>
              <a:t>Q</a:t>
            </a:r>
            <a:r>
              <a:rPr kumimoji="1" lang="en-US" altLang="zh-CN" kern="100" baseline="-25000" dirty="0">
                <a:solidFill>
                  <a:srgbClr val="40458C"/>
                </a:solidFill>
                <a:latin typeface="宋体" panose="02010600030101010101" pitchFamily="2" charset="-122"/>
                <a:ea typeface="宋体" panose="02010600030101010101" pitchFamily="2" charset="-122"/>
                <a:cs typeface="Times New Roman"/>
              </a:rPr>
              <a:t>i</a:t>
            </a:r>
            <a:r>
              <a:rPr kumimoji="1" lang="zh-CN" altLang="zh-CN" kern="100" dirty="0">
                <a:solidFill>
                  <a:srgbClr val="40458C"/>
                </a:solidFill>
                <a:latin typeface="宋体" panose="02010600030101010101" pitchFamily="2" charset="-122"/>
                <a:ea typeface="宋体" panose="02010600030101010101" pitchFamily="2" charset="-122"/>
                <a:cs typeface="Times New Roman"/>
              </a:rPr>
              <a:t>。每个寄存器在</a:t>
            </a:r>
            <a:r>
              <a:rPr kumimoji="1" lang="en-US" altLang="zh-CN" kern="100" dirty="0">
                <a:solidFill>
                  <a:srgbClr val="40458C"/>
                </a:solidFill>
                <a:latin typeface="宋体" panose="02010600030101010101" pitchFamily="2" charset="-122"/>
                <a:ea typeface="宋体" panose="02010600030101010101" pitchFamily="2" charset="-122"/>
                <a:cs typeface="Times New Roman"/>
              </a:rPr>
              <a:t>Q</a:t>
            </a:r>
            <a:r>
              <a:rPr kumimoji="1" lang="en-US" altLang="zh-CN" kern="100" baseline="-25000" dirty="0">
                <a:solidFill>
                  <a:srgbClr val="40458C"/>
                </a:solidFill>
                <a:latin typeface="宋体" panose="02010600030101010101" pitchFamily="2" charset="-122"/>
                <a:ea typeface="宋体" panose="02010600030101010101" pitchFamily="2" charset="-122"/>
                <a:cs typeface="Times New Roman"/>
              </a:rPr>
              <a:t>i</a:t>
            </a:r>
            <a:r>
              <a:rPr kumimoji="1" lang="zh-CN" altLang="zh-CN" kern="100" dirty="0">
                <a:solidFill>
                  <a:srgbClr val="40458C"/>
                </a:solidFill>
                <a:latin typeface="宋体" panose="02010600030101010101" pitchFamily="2" charset="-122"/>
                <a:ea typeface="宋体" panose="02010600030101010101" pitchFamily="2" charset="-122"/>
                <a:cs typeface="Times New Roman"/>
              </a:rPr>
              <a:t>中有一项</a:t>
            </a:r>
            <a:r>
              <a:rPr kumimoji="1" lang="en-US" altLang="zh-CN"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kern="100" dirty="0">
                <a:solidFill>
                  <a:srgbClr val="40458C"/>
                </a:solidFill>
                <a:latin typeface="宋体" panose="02010600030101010101" pitchFamily="2" charset="-122"/>
                <a:ea typeface="宋体" panose="02010600030101010101" pitchFamily="2" charset="-122"/>
                <a:cs typeface="Times New Roman"/>
              </a:rPr>
              <a:t>用于指出哪个保留站将产生该寄存器的值。</a:t>
            </a:r>
            <a:endParaRPr kumimoji="1" lang="en-US" altLang="zh-CN" kern="100" dirty="0">
              <a:solidFill>
                <a:srgbClr val="40458C"/>
              </a:solidFill>
              <a:latin typeface="宋体" panose="02010600030101010101" pitchFamily="2" charset="-122"/>
              <a:ea typeface="宋体" panose="02010600030101010101" pitchFamily="2" charset="-122"/>
              <a:cs typeface="Times New Roman"/>
            </a:endParaRPr>
          </a:p>
        </p:txBody>
      </p:sp>
      <p:sp>
        <p:nvSpPr>
          <p:cNvPr id="181254" name="矩形 2"/>
          <p:cNvSpPr>
            <a:spLocks noChangeArrowheads="1"/>
          </p:cNvSpPr>
          <p:nvPr/>
        </p:nvSpPr>
        <p:spPr bwMode="auto">
          <a:xfrm>
            <a:off x="3431534" y="6011264"/>
            <a:ext cx="1264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zh-CN" altLang="en-US" sz="2000" dirty="0" smtClean="0">
                <a:solidFill>
                  <a:schemeClr val="tx1"/>
                </a:solidFill>
                <a:latin typeface="宋体" panose="02010600030101010101" pitchFamily="2" charset="-122"/>
                <a:ea typeface="宋体" panose="02010600030101010101" pitchFamily="2" charset="-122"/>
              </a:rPr>
              <a:t>图</a:t>
            </a:r>
            <a:r>
              <a:rPr lang="en-US" altLang="zh-CN" sz="2000" dirty="0">
                <a:solidFill>
                  <a:schemeClr val="tx1"/>
                </a:solidFill>
                <a:latin typeface="宋体" panose="02010600030101010101" pitchFamily="2" charset="-122"/>
                <a:ea typeface="宋体" panose="02010600030101010101" pitchFamily="2" charset="-122"/>
              </a:rPr>
              <a:t>3</a:t>
            </a:r>
            <a:r>
              <a:rPr lang="en-US" altLang="zh-CN" sz="2000" dirty="0" smtClean="0">
                <a:solidFill>
                  <a:schemeClr val="tx1"/>
                </a:solidFill>
                <a:latin typeface="宋体" panose="02010600030101010101" pitchFamily="2" charset="-122"/>
                <a:ea typeface="宋体" panose="02010600030101010101" pitchFamily="2" charset="-122"/>
              </a:rPr>
              <a:t>.2(a</a:t>
            </a:r>
            <a:r>
              <a:rPr lang="en-US" altLang="zh-CN" sz="2000" dirty="0">
                <a:solidFill>
                  <a:schemeClr val="tx1"/>
                </a:solidFill>
                <a:latin typeface="宋体" panose="02010600030101010101" pitchFamily="2" charset="-122"/>
                <a:ea typeface="宋体" panose="02010600030101010101" pitchFamily="2" charset="-122"/>
              </a:rPr>
              <a:t>)</a:t>
            </a:r>
            <a:endParaRPr lang="zh-CN" altLang="en-US" sz="2000" dirty="0">
              <a:solidFill>
                <a:schemeClr val="tx1"/>
              </a:solidFill>
              <a:latin typeface="宋体" panose="02010600030101010101" pitchFamily="2" charset="-122"/>
              <a:ea typeface="宋体" panose="02010600030101010101" pitchFamily="2" charset="-122"/>
            </a:endParaRPr>
          </a:p>
        </p:txBody>
      </p:sp>
      <p:sp>
        <p:nvSpPr>
          <p:cNvPr id="2" name="矩形 1"/>
          <p:cNvSpPr/>
          <p:nvPr/>
        </p:nvSpPr>
        <p:spPr>
          <a:xfrm>
            <a:off x="8196045" y="1322803"/>
            <a:ext cx="2357438" cy="646112"/>
          </a:xfrm>
          <a:prstGeom prst="rect">
            <a:avLst/>
          </a:prstGeom>
        </p:spPr>
        <p:txBody>
          <a:bodyPr>
            <a:spAutoFit/>
          </a:bodyPr>
          <a:lstStyle/>
          <a:p>
            <a:pPr fontAlgn="base">
              <a:spcBef>
                <a:spcPct val="0"/>
              </a:spcBef>
              <a:spcAft>
                <a:spcPct val="0"/>
              </a:spcAft>
              <a:defRPr/>
            </a:pPr>
            <a:r>
              <a:rPr kumimoji="1" lang="en-US" altLang="zh-CN" b="1" kern="100" dirty="0">
                <a:solidFill>
                  <a:srgbClr val="FF0000"/>
                </a:solidFill>
                <a:latin typeface="Calibri"/>
                <a:ea typeface="宋体"/>
                <a:cs typeface="Times New Roman"/>
              </a:rPr>
              <a:t>MUL F0,F2,F4</a:t>
            </a:r>
          </a:p>
          <a:p>
            <a:pPr fontAlgn="base">
              <a:spcBef>
                <a:spcPct val="0"/>
              </a:spcBef>
              <a:spcAft>
                <a:spcPct val="0"/>
              </a:spcAft>
              <a:defRPr/>
            </a:pPr>
            <a:r>
              <a:rPr kumimoji="1" lang="en-US" altLang="zh-CN" b="1" kern="100" dirty="0">
                <a:solidFill>
                  <a:srgbClr val="FF0000"/>
                </a:solidFill>
                <a:latin typeface="Calibri"/>
                <a:ea typeface="宋体"/>
                <a:cs typeface="Times New Roman"/>
              </a:rPr>
              <a:t>ADD F2,F0,F6</a:t>
            </a:r>
            <a:r>
              <a:rPr kumimoji="1" lang="zh-CN" altLang="zh-CN" b="1" kern="100" dirty="0">
                <a:solidFill>
                  <a:srgbClr val="FF0000"/>
                </a:solidFill>
                <a:latin typeface="Calibri"/>
                <a:ea typeface="宋体"/>
                <a:cs typeface="Times New Roman"/>
              </a:rPr>
              <a:t> </a:t>
            </a:r>
            <a:endParaRPr kumimoji="1" lang="zh-CN" altLang="en-US" sz="2400" dirty="0">
              <a:solidFill>
                <a:srgbClr val="FF0000"/>
              </a:solidFill>
              <a:latin typeface="Tahoma" panose="020B0604030504040204" pitchFamily="34" charset="0"/>
              <a:ea typeface="黑体" panose="02010609060101010101" pitchFamily="49" charset="-122"/>
            </a:endParaRPr>
          </a:p>
        </p:txBody>
      </p:sp>
      <p:sp>
        <p:nvSpPr>
          <p:cNvPr id="8" name="内容占位符 2"/>
          <p:cNvSpPr txBox="1">
            <a:spLocks/>
          </p:cNvSpPr>
          <p:nvPr/>
        </p:nvSpPr>
        <p:spPr>
          <a:xfrm>
            <a:off x="0" y="78476"/>
            <a:ext cx="9374764" cy="5774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dirty="0" smtClean="0">
                <a:latin typeface="宋体" panose="02010600030101010101" pitchFamily="2" charset="-122"/>
                <a:ea typeface="宋体" panose="02010600030101010101" pitchFamily="2" charset="-122"/>
              </a:rPr>
              <a:t>4.</a:t>
            </a:r>
            <a:r>
              <a:rPr lang="zh-CN" altLang="en-US" dirty="0" smtClean="0">
                <a:latin typeface="宋体" panose="02010600030101010101" pitchFamily="2" charset="-122"/>
                <a:ea typeface="宋体" panose="02010600030101010101" pitchFamily="2" charset="-122"/>
              </a:rPr>
              <a:t>一个简单的例子说明 </a:t>
            </a:r>
            <a:r>
              <a:rPr lang="en-US" altLang="zh-CN" dirty="0" err="1" smtClean="0">
                <a:latin typeface="宋体" panose="02010600030101010101" pitchFamily="2" charset="-122"/>
                <a:ea typeface="宋体" panose="02010600030101010101" pitchFamily="2" charset="-122"/>
              </a:rPr>
              <a:t>Tomasulo</a:t>
            </a:r>
            <a:r>
              <a:rPr lang="zh-CN" altLang="en-US" dirty="0" smtClean="0">
                <a:latin typeface="宋体" panose="02010600030101010101" pitchFamily="2" charset="-122"/>
                <a:ea typeface="宋体" panose="02010600030101010101" pitchFamily="2" charset="-122"/>
              </a:rPr>
              <a:t>算法的基本思想。</a:t>
            </a:r>
          </a:p>
          <a:p>
            <a:endParaRPr lang="zh-CN" altLang="en-US" dirty="0"/>
          </a:p>
        </p:txBody>
      </p:sp>
    </p:spTree>
    <p:extLst>
      <p:ext uri="{BB962C8B-B14F-4D97-AF65-F5344CB8AC3E}">
        <p14:creationId xmlns:p14="http://schemas.microsoft.com/office/powerpoint/2010/main" val="1645342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65538" name="标题 1"/>
          <p:cNvSpPr>
            <a:spLocks noGrp="1"/>
          </p:cNvSpPr>
          <p:nvPr>
            <p:ph type="title"/>
          </p:nvPr>
        </p:nvSpPr>
        <p:spPr>
          <a:xfrm>
            <a:off x="3337147" y="5947735"/>
            <a:ext cx="2292476" cy="381000"/>
          </a:xfrm>
        </p:spPr>
        <p:txBody>
          <a:bodyPr>
            <a:noAutofit/>
          </a:bodyPr>
          <a:lstStyle/>
          <a:p>
            <a:pPr>
              <a:defRPr/>
            </a:pPr>
            <a:r>
              <a:rPr lang="zh-CN" altLang="zh-CN" sz="2000" kern="100" dirty="0" smtClean="0">
                <a:latin typeface="宋体" panose="02010600030101010101" pitchFamily="2" charset="-122"/>
                <a:ea typeface="宋体" panose="02010600030101010101" pitchFamily="2" charset="-122"/>
                <a:cs typeface="Times New Roman"/>
              </a:rPr>
              <a:t>图</a:t>
            </a:r>
            <a:r>
              <a:rPr lang="en-US" altLang="zh-CN" sz="2000" kern="100" dirty="0">
                <a:latin typeface="宋体" panose="02010600030101010101" pitchFamily="2" charset="-122"/>
                <a:ea typeface="宋体" panose="02010600030101010101" pitchFamily="2" charset="-122"/>
                <a:cs typeface="Times New Roman"/>
              </a:rPr>
              <a:t>3</a:t>
            </a:r>
            <a:r>
              <a:rPr lang="en-US" altLang="zh-CN" sz="2000" kern="100" dirty="0" smtClean="0">
                <a:latin typeface="宋体" panose="02010600030101010101" pitchFamily="2" charset="-122"/>
                <a:ea typeface="宋体" panose="02010600030101010101" pitchFamily="2" charset="-122"/>
                <a:cs typeface="Times New Roman"/>
              </a:rPr>
              <a:t>.2(b)</a:t>
            </a:r>
            <a:endParaRPr lang="zh-CN" altLang="en-US" sz="2000" dirty="0" smtClean="0">
              <a:latin typeface="宋体" panose="02010600030101010101" pitchFamily="2" charset="-122"/>
              <a:ea typeface="宋体" panose="02010600030101010101" pitchFamily="2" charset="-122"/>
            </a:endParaRPr>
          </a:p>
        </p:txBody>
      </p:sp>
      <p:pic>
        <p:nvPicPr>
          <p:cNvPr id="182276"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4381"/>
          <a:stretch/>
        </p:blipFill>
        <p:spPr bwMode="auto">
          <a:xfrm>
            <a:off x="785217" y="1144212"/>
            <a:ext cx="6084888" cy="4717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7535223" y="2416964"/>
            <a:ext cx="4155588" cy="3323987"/>
          </a:xfrm>
          <a:prstGeom prst="rect">
            <a:avLst/>
          </a:prstGeom>
        </p:spPr>
        <p:txBody>
          <a:bodyPr wrap="square">
            <a:spAutoFit/>
          </a:bodyPr>
          <a:lstStyle/>
          <a:p>
            <a:pPr fontAlgn="base">
              <a:lnSpc>
                <a:spcPts val="2800"/>
              </a:lnSpc>
              <a:spcBef>
                <a:spcPct val="0"/>
              </a:spcBef>
              <a:spcAft>
                <a:spcPct val="0"/>
              </a:spcAft>
              <a:defRPr/>
            </a:pPr>
            <a:r>
              <a:rPr kumimoji="1" lang="en-US" altLang="zh-CN" b="1" kern="100" dirty="0">
                <a:solidFill>
                  <a:srgbClr val="40458C"/>
                </a:solidFill>
                <a:latin typeface="Calibri"/>
                <a:ea typeface="宋体"/>
                <a:cs typeface="Times New Roman"/>
              </a:rPr>
              <a:t> </a:t>
            </a:r>
            <a:r>
              <a:rPr kumimoji="1" lang="zh-CN" altLang="zh-CN" sz="2000" kern="100" dirty="0" smtClean="0">
                <a:solidFill>
                  <a:srgbClr val="40458C"/>
                </a:solidFill>
                <a:latin typeface="宋体" panose="02010600030101010101" pitchFamily="2" charset="-122"/>
                <a:ea typeface="宋体" panose="02010600030101010101" pitchFamily="2" charset="-122"/>
                <a:cs typeface="Times New Roman"/>
              </a:rPr>
              <a:t>图</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3</a:t>
            </a:r>
            <a:r>
              <a:rPr kumimoji="1" lang="en-US" altLang="zh-CN" sz="2000" kern="100" dirty="0" smtClean="0">
                <a:solidFill>
                  <a:srgbClr val="40458C"/>
                </a:solidFill>
                <a:latin typeface="宋体" panose="02010600030101010101" pitchFamily="2" charset="-122"/>
                <a:ea typeface="宋体" panose="02010600030101010101" pitchFamily="2" charset="-122"/>
                <a:cs typeface="Times New Roman"/>
              </a:rPr>
              <a:t>.2(b</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当指令</a:t>
            </a:r>
            <a:r>
              <a:rPr kumimoji="1" lang="en-US" altLang="zh-CN" sz="2000" kern="100" dirty="0">
                <a:solidFill>
                  <a:srgbClr val="C705CC"/>
                </a:solidFill>
                <a:latin typeface="宋体" panose="02010600030101010101" pitchFamily="2" charset="-122"/>
                <a:ea typeface="宋体" panose="02010600030101010101" pitchFamily="2" charset="-122"/>
                <a:cs typeface="Times New Roman"/>
              </a:rPr>
              <a:t>MULF0,F2,F4</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流出到保留站</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 Mult1</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时</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由于其操作数</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和</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b</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就绪</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在</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F2</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和</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F4</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中</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就将它们从寄存器取到保留站</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这样该指令以后就跟</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F2</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和</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F4</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没有关系了</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执行时直接从保留站中取数据。同时将目的寄存器</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F0</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对应的</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Q</a:t>
            </a:r>
            <a:r>
              <a:rPr kumimoji="1" lang="en-US" altLang="zh-CN" sz="2000" kern="100" baseline="-25000" dirty="0">
                <a:solidFill>
                  <a:srgbClr val="40458C"/>
                </a:solidFill>
                <a:latin typeface="宋体" panose="02010600030101010101" pitchFamily="2" charset="-122"/>
                <a:ea typeface="宋体" panose="02010600030101010101" pitchFamily="2" charset="-122"/>
                <a:cs typeface="Times New Roman"/>
              </a:rPr>
              <a:t>i</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标志置为</a:t>
            </a:r>
            <a:r>
              <a:rPr kumimoji="1" lang="en-US" altLang="zh-CN" sz="2000" kern="100" dirty="0" err="1">
                <a:solidFill>
                  <a:srgbClr val="40458C"/>
                </a:solidFill>
                <a:latin typeface="宋体" panose="02010600030101010101" pitchFamily="2" charset="-122"/>
                <a:ea typeface="宋体" panose="02010600030101010101" pitchFamily="2" charset="-122"/>
                <a:cs typeface="Times New Roman"/>
              </a:rPr>
              <a:t>Mutl</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表示该寄存器的内容将由保留站</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 Mult1</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提供</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smtClean="0">
                <a:solidFill>
                  <a:srgbClr val="40458C"/>
                </a:solidFill>
                <a:latin typeface="宋体" panose="02010600030101010101" pitchFamily="2" charset="-122"/>
                <a:ea typeface="宋体" panose="02010600030101010101" pitchFamily="2" charset="-122"/>
                <a:cs typeface="Times New Roman"/>
              </a:rPr>
              <a:t>图</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3</a:t>
            </a:r>
            <a:r>
              <a:rPr kumimoji="1" lang="en-US" altLang="zh-CN" sz="2000" kern="100" dirty="0" smtClean="0">
                <a:solidFill>
                  <a:srgbClr val="40458C"/>
                </a:solidFill>
                <a:latin typeface="宋体" panose="02010600030101010101" pitchFamily="2" charset="-122"/>
                <a:ea typeface="宋体" panose="02010600030101010101" pitchFamily="2" charset="-122"/>
                <a:cs typeface="Times New Roman"/>
              </a:rPr>
              <a:t>.2(b</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中的虚线所示</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a:t>
            </a:r>
            <a:endParaRPr kumimoji="1" lang="zh-CN" altLang="en-US" sz="2800" dirty="0">
              <a:solidFill>
                <a:srgbClr val="40458C"/>
              </a:solidFill>
              <a:latin typeface="宋体" panose="02010600030101010101" pitchFamily="2" charset="-122"/>
              <a:ea typeface="宋体" panose="02010600030101010101" pitchFamily="2" charset="-122"/>
            </a:endParaRPr>
          </a:p>
        </p:txBody>
      </p:sp>
      <p:sp>
        <p:nvSpPr>
          <p:cNvPr id="2" name="椭圆形标注 1"/>
          <p:cNvSpPr/>
          <p:nvPr/>
        </p:nvSpPr>
        <p:spPr bwMode="auto">
          <a:xfrm>
            <a:off x="5629623" y="1875365"/>
            <a:ext cx="1182118" cy="644148"/>
          </a:xfrm>
          <a:prstGeom prst="wedgeEllipseCallout">
            <a:avLst>
              <a:gd name="adj1" fmla="val -53221"/>
              <a:gd name="adj2" fmla="val 54176"/>
            </a:avLst>
          </a:prstGeom>
          <a:solidFill>
            <a:srgbClr val="00B0F0"/>
          </a:solidFill>
          <a:ln w="9525" cap="flat" cmpd="sng" algn="ctr">
            <a:solidFill>
              <a:schemeClr val="tx1"/>
            </a:solidFill>
            <a:prstDash val="solid"/>
            <a:round/>
            <a:headEnd type="none" w="med" len="med"/>
            <a:tailEnd type="none" w="med" len="med"/>
          </a:ln>
          <a:effectLst/>
          <a:extLst/>
        </p:spPr>
        <p:txBody>
          <a:bodyPr wrap="none"/>
          <a:lstStyle/>
          <a:p>
            <a:pPr fontAlgn="base">
              <a:spcBef>
                <a:spcPct val="0"/>
              </a:spcBef>
              <a:spcAft>
                <a:spcPct val="0"/>
              </a:spcAft>
              <a:defRPr/>
            </a:pPr>
            <a:r>
              <a:rPr kumimoji="1" lang="zh-CN" altLang="en-US" sz="1400" dirty="0">
                <a:ln>
                  <a:solidFill>
                    <a:srgbClr val="C705CC"/>
                  </a:solidFill>
                </a:ln>
                <a:solidFill>
                  <a:srgbClr val="40458C"/>
                </a:solidFill>
                <a:latin typeface="Tahoma" panose="020B0604030504040204" pitchFamily="34" charset="0"/>
                <a:ea typeface="黑体" pitchFamily="2" charset="-122"/>
              </a:rPr>
              <a:t>换名预约</a:t>
            </a:r>
            <a:endParaRPr kumimoji="1" lang="en-US" altLang="zh-CN" sz="1400" dirty="0">
              <a:ln>
                <a:solidFill>
                  <a:srgbClr val="C705CC"/>
                </a:solidFill>
              </a:ln>
              <a:solidFill>
                <a:srgbClr val="40458C"/>
              </a:solidFill>
              <a:latin typeface="Tahoma" panose="020B0604030504040204" pitchFamily="34" charset="0"/>
              <a:ea typeface="黑体" pitchFamily="2" charset="-122"/>
            </a:endParaRPr>
          </a:p>
          <a:p>
            <a:pPr fontAlgn="base">
              <a:spcBef>
                <a:spcPct val="0"/>
              </a:spcBef>
              <a:spcAft>
                <a:spcPct val="0"/>
              </a:spcAft>
              <a:defRPr/>
            </a:pPr>
            <a:r>
              <a:rPr kumimoji="1" lang="zh-CN" altLang="en-US" sz="1400" dirty="0">
                <a:ln>
                  <a:solidFill>
                    <a:srgbClr val="C705CC"/>
                  </a:solidFill>
                </a:ln>
                <a:solidFill>
                  <a:srgbClr val="40458C"/>
                </a:solidFill>
                <a:latin typeface="Tahoma" panose="020B0604030504040204" pitchFamily="34" charset="0"/>
                <a:ea typeface="黑体" pitchFamily="2" charset="-122"/>
              </a:rPr>
              <a:t>消除</a:t>
            </a:r>
            <a:r>
              <a:rPr kumimoji="1" lang="en-US" altLang="zh-CN" sz="1400" dirty="0">
                <a:ln>
                  <a:solidFill>
                    <a:srgbClr val="C705CC"/>
                  </a:solidFill>
                </a:ln>
                <a:solidFill>
                  <a:srgbClr val="40458C"/>
                </a:solidFill>
                <a:latin typeface="Tahoma" panose="020B0604030504040204" pitchFamily="34" charset="0"/>
                <a:ea typeface="黑体" pitchFamily="2" charset="-122"/>
              </a:rPr>
              <a:t>WAW</a:t>
            </a:r>
            <a:endParaRPr kumimoji="1" lang="zh-CN" altLang="en-US" sz="1400" dirty="0">
              <a:ln>
                <a:solidFill>
                  <a:srgbClr val="C705CC"/>
                </a:solidFill>
              </a:ln>
              <a:solidFill>
                <a:srgbClr val="40458C"/>
              </a:solidFill>
              <a:latin typeface="Tahoma" panose="020B0604030504040204" pitchFamily="34" charset="0"/>
              <a:ea typeface="黑体" pitchFamily="2" charset="-122"/>
            </a:endParaRPr>
          </a:p>
        </p:txBody>
      </p:sp>
      <p:sp>
        <p:nvSpPr>
          <p:cNvPr id="3" name="矩形 2"/>
          <p:cNvSpPr/>
          <p:nvPr/>
        </p:nvSpPr>
        <p:spPr>
          <a:xfrm>
            <a:off x="8650199" y="1125538"/>
            <a:ext cx="1925637" cy="646112"/>
          </a:xfrm>
          <a:prstGeom prst="rect">
            <a:avLst/>
          </a:prstGeom>
        </p:spPr>
        <p:txBody>
          <a:bodyPr>
            <a:spAutoFit/>
          </a:bodyPr>
          <a:lstStyle/>
          <a:p>
            <a:pPr fontAlgn="base">
              <a:spcBef>
                <a:spcPct val="0"/>
              </a:spcBef>
              <a:spcAft>
                <a:spcPct val="0"/>
              </a:spcAft>
              <a:defRPr/>
            </a:pPr>
            <a:r>
              <a:rPr kumimoji="1" lang="en-US" altLang="zh-CN" b="1" kern="100" dirty="0">
                <a:solidFill>
                  <a:srgbClr val="FF0000"/>
                </a:solidFill>
                <a:latin typeface="Calibri"/>
                <a:ea typeface="宋体"/>
                <a:cs typeface="Times New Roman"/>
              </a:rPr>
              <a:t>MUL F0,F2,F4</a:t>
            </a:r>
          </a:p>
          <a:p>
            <a:pPr fontAlgn="base">
              <a:spcBef>
                <a:spcPct val="0"/>
              </a:spcBef>
              <a:spcAft>
                <a:spcPct val="0"/>
              </a:spcAft>
              <a:defRPr/>
            </a:pPr>
            <a:r>
              <a:rPr kumimoji="1" lang="en-US" altLang="zh-CN" b="1" kern="100" dirty="0">
                <a:solidFill>
                  <a:srgbClr val="FF0000"/>
                </a:solidFill>
                <a:latin typeface="Calibri"/>
                <a:ea typeface="宋体"/>
                <a:cs typeface="Times New Roman"/>
              </a:rPr>
              <a:t>ADD F2,F0,F6</a:t>
            </a:r>
            <a:r>
              <a:rPr kumimoji="1" lang="zh-CN" altLang="zh-CN" b="1" kern="100" dirty="0">
                <a:solidFill>
                  <a:srgbClr val="FF0000"/>
                </a:solidFill>
                <a:latin typeface="Calibri"/>
                <a:ea typeface="宋体"/>
                <a:cs typeface="Times New Roman"/>
              </a:rPr>
              <a:t> </a:t>
            </a:r>
            <a:endParaRPr kumimoji="1" lang="zh-CN" altLang="en-US" sz="2400" dirty="0">
              <a:solidFill>
                <a:srgbClr val="FF0000"/>
              </a:solidFill>
              <a:latin typeface="Tahoma" panose="020B0604030504040204" pitchFamily="34" charset="0"/>
              <a:ea typeface="黑体" panose="02010609060101010101" pitchFamily="49" charset="-122"/>
            </a:endParaRPr>
          </a:p>
        </p:txBody>
      </p:sp>
    </p:spTree>
    <p:extLst>
      <p:ext uri="{BB962C8B-B14F-4D97-AF65-F5344CB8AC3E}">
        <p14:creationId xmlns:p14="http://schemas.microsoft.com/office/powerpoint/2010/main" val="2028347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83298" name="标题 1"/>
          <p:cNvSpPr>
            <a:spLocks noGrp="1"/>
          </p:cNvSpPr>
          <p:nvPr>
            <p:ph type="title"/>
          </p:nvPr>
        </p:nvSpPr>
        <p:spPr>
          <a:xfrm>
            <a:off x="2628182" y="5650794"/>
            <a:ext cx="2131825" cy="381000"/>
          </a:xfrm>
        </p:spPr>
        <p:txBody>
          <a:bodyPr>
            <a:noAutofit/>
          </a:bodyPr>
          <a:lstStyle/>
          <a:p>
            <a:r>
              <a:rPr lang="zh-CN" altLang="en-US" sz="2000" dirty="0" smtClean="0">
                <a:latin typeface="宋体" panose="02010600030101010101" pitchFamily="2" charset="-122"/>
                <a:ea typeface="宋体" panose="02010600030101010101" pitchFamily="2" charset="-122"/>
              </a:rPr>
              <a:t>图</a:t>
            </a:r>
            <a:r>
              <a:rPr lang="en-US" altLang="zh-CN" sz="2000" dirty="0">
                <a:latin typeface="宋体" panose="02010600030101010101" pitchFamily="2" charset="-122"/>
                <a:ea typeface="宋体" panose="02010600030101010101" pitchFamily="2" charset="-122"/>
              </a:rPr>
              <a:t>3</a:t>
            </a:r>
            <a:r>
              <a:rPr lang="en-US" altLang="zh-CN" sz="2000" dirty="0" smtClean="0">
                <a:latin typeface="宋体" panose="02010600030101010101" pitchFamily="2" charset="-122"/>
                <a:ea typeface="宋体" panose="02010600030101010101" pitchFamily="2" charset="-122"/>
              </a:rPr>
              <a:t>.2(c)</a:t>
            </a:r>
            <a:endParaRPr lang="zh-CN" altLang="en-US" sz="2000" dirty="0" smtClean="0">
              <a:latin typeface="宋体" panose="02010600030101010101" pitchFamily="2" charset="-122"/>
              <a:ea typeface="宋体" panose="02010600030101010101" pitchFamily="2" charset="-122"/>
            </a:endParaRPr>
          </a:p>
        </p:txBody>
      </p:sp>
      <p:pic>
        <p:nvPicPr>
          <p:cNvPr id="183300"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5073"/>
          <a:stretch/>
        </p:blipFill>
        <p:spPr bwMode="auto">
          <a:xfrm>
            <a:off x="671404" y="840106"/>
            <a:ext cx="5832475" cy="4421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6916345" y="1750728"/>
            <a:ext cx="4201734" cy="3277500"/>
          </a:xfrm>
          <a:prstGeom prst="rect">
            <a:avLst/>
          </a:prstGeom>
        </p:spPr>
        <p:txBody>
          <a:bodyPr wrap="square">
            <a:spAutoFit/>
          </a:bodyPr>
          <a:lstStyle/>
          <a:p>
            <a:pPr algn="just" eaLnBrk="0" fontAlgn="base" hangingPunct="0">
              <a:lnSpc>
                <a:spcPts val="2800"/>
              </a:lnSpc>
              <a:spcBef>
                <a:spcPct val="20000"/>
              </a:spcBef>
              <a:buClr>
                <a:srgbClr val="40458C"/>
              </a:buClr>
              <a:defRPr/>
            </a:pPr>
            <a:r>
              <a:rPr kumimoji="1" lang="zh-CN" altLang="zh-CN" sz="2000" kern="100" dirty="0" smtClean="0">
                <a:solidFill>
                  <a:srgbClr val="40458C"/>
                </a:solidFill>
                <a:latin typeface="宋体" panose="02010600030101010101" pitchFamily="2" charset="-122"/>
                <a:ea typeface="宋体" panose="02010600030101010101" pitchFamily="2" charset="-122"/>
                <a:cs typeface="Times New Roman"/>
              </a:rPr>
              <a:t>图</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3</a:t>
            </a:r>
            <a:r>
              <a:rPr kumimoji="1" lang="en-US" altLang="zh-CN" sz="2000" kern="100" dirty="0" smtClean="0">
                <a:solidFill>
                  <a:srgbClr val="40458C"/>
                </a:solidFill>
                <a:latin typeface="宋体" panose="02010600030101010101" pitchFamily="2" charset="-122"/>
                <a:ea typeface="宋体" panose="02010600030101010101" pitchFamily="2" charset="-122"/>
                <a:cs typeface="Times New Roman"/>
              </a:rPr>
              <a:t>.2(c</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当指令</a:t>
            </a:r>
            <a:r>
              <a:rPr kumimoji="1" lang="en-US" altLang="zh-CN" sz="2000" kern="100" dirty="0">
                <a:solidFill>
                  <a:srgbClr val="C705CC"/>
                </a:solidFill>
                <a:latin typeface="宋体" panose="02010600030101010101" pitchFamily="2" charset="-122"/>
                <a:ea typeface="宋体" panose="02010600030101010101" pitchFamily="2" charset="-122"/>
                <a:cs typeface="Times New Roman"/>
              </a:rPr>
              <a:t>ADDF2,F0,F6</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流出到保留站</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Add1</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时</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也将操作数</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c</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取到保留站</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但发现</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F0</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中的操作数还没有就绪</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于是就把其提供者</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 Mult1</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的标识取到保留站中。这样就有两个地方在等</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 Mult1</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的结果。同时</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它将目的寄存器</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F2</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对应的</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Q</a:t>
            </a:r>
            <a:r>
              <a:rPr kumimoji="1" lang="en-US" altLang="zh-CN" sz="2000" kern="100" baseline="-25000" dirty="0">
                <a:solidFill>
                  <a:srgbClr val="40458C"/>
                </a:solidFill>
                <a:latin typeface="宋体" panose="02010600030101010101" pitchFamily="2" charset="-122"/>
                <a:ea typeface="宋体" panose="02010600030101010101" pitchFamily="2" charset="-122"/>
                <a:cs typeface="Times New Roman"/>
              </a:rPr>
              <a:t>i</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标志置为</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Add1</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表示该寄存器的内容将由保留站</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Add1</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提供。 </a:t>
            </a:r>
          </a:p>
        </p:txBody>
      </p:sp>
      <p:sp>
        <p:nvSpPr>
          <p:cNvPr id="2" name="椭圆形标注 1"/>
          <p:cNvSpPr/>
          <p:nvPr/>
        </p:nvSpPr>
        <p:spPr bwMode="auto">
          <a:xfrm>
            <a:off x="387410" y="4452329"/>
            <a:ext cx="1403648" cy="870438"/>
          </a:xfrm>
          <a:prstGeom prst="wedgeEllipseCallout">
            <a:avLst>
              <a:gd name="adj1" fmla="val 66287"/>
              <a:gd name="adj2" fmla="val -98343"/>
            </a:avLst>
          </a:prstGeom>
          <a:solidFill>
            <a:srgbClr val="00B0F0"/>
          </a:solidFill>
          <a:ln w="9525" cap="flat" cmpd="sng" algn="ctr">
            <a:solidFill>
              <a:schemeClr val="tx1"/>
            </a:solidFill>
            <a:prstDash val="solid"/>
            <a:round/>
            <a:headEnd type="none" w="med" len="med"/>
            <a:tailEnd type="none" w="med" len="med"/>
          </a:ln>
          <a:effectLst/>
          <a:extLst/>
        </p:spPr>
        <p:txBody>
          <a:bodyPr wrap="none"/>
          <a:lstStyle/>
          <a:p>
            <a:pPr fontAlgn="base">
              <a:spcBef>
                <a:spcPct val="0"/>
              </a:spcBef>
              <a:spcAft>
                <a:spcPct val="0"/>
              </a:spcAft>
              <a:defRPr/>
            </a:pPr>
            <a:r>
              <a:rPr kumimoji="1" lang="zh-CN" altLang="en-US" sz="1600" dirty="0">
                <a:ln>
                  <a:solidFill>
                    <a:srgbClr val="C705CC"/>
                  </a:solidFill>
                </a:ln>
                <a:solidFill>
                  <a:srgbClr val="40458C"/>
                </a:solidFill>
                <a:latin typeface="Tahoma" panose="020B0604030504040204" pitchFamily="34" charset="0"/>
                <a:ea typeface="黑体" pitchFamily="2" charset="-122"/>
              </a:rPr>
              <a:t>换名消除</a:t>
            </a:r>
            <a:endParaRPr kumimoji="1" lang="en-US" altLang="zh-CN" sz="1600" dirty="0">
              <a:ln>
                <a:solidFill>
                  <a:srgbClr val="C705CC"/>
                </a:solidFill>
              </a:ln>
              <a:solidFill>
                <a:srgbClr val="40458C"/>
              </a:solidFill>
              <a:latin typeface="Tahoma" panose="020B0604030504040204" pitchFamily="34" charset="0"/>
              <a:ea typeface="黑体" pitchFamily="2" charset="-122"/>
            </a:endParaRPr>
          </a:p>
          <a:p>
            <a:pPr fontAlgn="base">
              <a:spcBef>
                <a:spcPct val="0"/>
              </a:spcBef>
              <a:spcAft>
                <a:spcPct val="0"/>
              </a:spcAft>
              <a:defRPr/>
            </a:pPr>
            <a:r>
              <a:rPr kumimoji="1" lang="en-US" altLang="zh-CN" sz="1600" dirty="0">
                <a:ln>
                  <a:solidFill>
                    <a:srgbClr val="C705CC"/>
                  </a:solidFill>
                </a:ln>
                <a:solidFill>
                  <a:srgbClr val="40458C"/>
                </a:solidFill>
                <a:latin typeface="Tahoma" panose="020B0604030504040204" pitchFamily="34" charset="0"/>
                <a:ea typeface="黑体" pitchFamily="2" charset="-122"/>
              </a:rPr>
              <a:t>F2</a:t>
            </a:r>
            <a:r>
              <a:rPr kumimoji="1" lang="zh-CN" altLang="en-US" sz="1600" dirty="0">
                <a:ln>
                  <a:solidFill>
                    <a:srgbClr val="C705CC"/>
                  </a:solidFill>
                </a:ln>
                <a:solidFill>
                  <a:srgbClr val="40458C"/>
                </a:solidFill>
                <a:latin typeface="Tahoma" panose="020B0604030504040204" pitchFamily="34" charset="0"/>
                <a:ea typeface="黑体" pitchFamily="2" charset="-122"/>
              </a:rPr>
              <a:t>的</a:t>
            </a:r>
            <a:r>
              <a:rPr kumimoji="1" lang="en-US" altLang="zh-CN" sz="1600" dirty="0">
                <a:ln>
                  <a:solidFill>
                    <a:srgbClr val="C705CC"/>
                  </a:solidFill>
                </a:ln>
                <a:solidFill>
                  <a:srgbClr val="40458C"/>
                </a:solidFill>
                <a:latin typeface="Tahoma" panose="020B0604030504040204" pitchFamily="34" charset="0"/>
                <a:ea typeface="黑体" pitchFamily="2" charset="-122"/>
              </a:rPr>
              <a:t>WAR</a:t>
            </a:r>
            <a:endParaRPr kumimoji="1" lang="zh-CN" altLang="en-US" sz="1600" dirty="0">
              <a:ln>
                <a:solidFill>
                  <a:srgbClr val="C705CC"/>
                </a:solidFill>
              </a:ln>
              <a:solidFill>
                <a:srgbClr val="40458C"/>
              </a:solidFill>
              <a:latin typeface="Tahoma" panose="020B0604030504040204" pitchFamily="34" charset="0"/>
              <a:ea typeface="黑体" pitchFamily="2" charset="-122"/>
            </a:endParaRPr>
          </a:p>
        </p:txBody>
      </p:sp>
      <p:sp>
        <p:nvSpPr>
          <p:cNvPr id="3" name="矩形 2"/>
          <p:cNvSpPr/>
          <p:nvPr/>
        </p:nvSpPr>
        <p:spPr>
          <a:xfrm>
            <a:off x="7858556" y="636366"/>
            <a:ext cx="1638300" cy="646113"/>
          </a:xfrm>
          <a:prstGeom prst="rect">
            <a:avLst/>
          </a:prstGeom>
        </p:spPr>
        <p:txBody>
          <a:bodyPr>
            <a:spAutoFit/>
          </a:bodyPr>
          <a:lstStyle/>
          <a:p>
            <a:pPr fontAlgn="base">
              <a:spcBef>
                <a:spcPct val="0"/>
              </a:spcBef>
              <a:spcAft>
                <a:spcPct val="0"/>
              </a:spcAft>
              <a:defRPr/>
            </a:pPr>
            <a:r>
              <a:rPr kumimoji="1" lang="en-US" altLang="zh-CN" b="1" kern="100" dirty="0">
                <a:solidFill>
                  <a:srgbClr val="FF0000"/>
                </a:solidFill>
                <a:latin typeface="Calibri"/>
                <a:ea typeface="宋体"/>
                <a:cs typeface="Times New Roman"/>
              </a:rPr>
              <a:t>MUL F0,F2,F4</a:t>
            </a:r>
          </a:p>
          <a:p>
            <a:pPr fontAlgn="base">
              <a:spcBef>
                <a:spcPct val="0"/>
              </a:spcBef>
              <a:spcAft>
                <a:spcPct val="0"/>
              </a:spcAft>
              <a:defRPr/>
            </a:pPr>
            <a:r>
              <a:rPr kumimoji="1" lang="en-US" altLang="zh-CN" b="1" kern="100" dirty="0">
                <a:solidFill>
                  <a:srgbClr val="FF0000"/>
                </a:solidFill>
                <a:latin typeface="Calibri"/>
                <a:ea typeface="宋体"/>
                <a:cs typeface="Times New Roman"/>
              </a:rPr>
              <a:t>ADD F2,F0,F6</a:t>
            </a:r>
            <a:r>
              <a:rPr kumimoji="1" lang="zh-CN" altLang="zh-CN" b="1" kern="100" dirty="0">
                <a:solidFill>
                  <a:srgbClr val="FF0000"/>
                </a:solidFill>
                <a:latin typeface="Calibri"/>
                <a:ea typeface="宋体"/>
                <a:cs typeface="Times New Roman"/>
              </a:rPr>
              <a:t> </a:t>
            </a:r>
            <a:endParaRPr kumimoji="1" lang="zh-CN" altLang="en-US" sz="2400" dirty="0">
              <a:solidFill>
                <a:srgbClr val="FF0000"/>
              </a:solidFill>
              <a:latin typeface="Tahoma" panose="020B0604030504040204" pitchFamily="34" charset="0"/>
              <a:ea typeface="黑体" panose="02010609060101010101" pitchFamily="49" charset="-122"/>
            </a:endParaRPr>
          </a:p>
        </p:txBody>
      </p:sp>
    </p:spTree>
    <p:extLst>
      <p:ext uri="{BB962C8B-B14F-4D97-AF65-F5344CB8AC3E}">
        <p14:creationId xmlns:p14="http://schemas.microsoft.com/office/powerpoint/2010/main" val="27638964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84322" name="标题 1"/>
          <p:cNvSpPr>
            <a:spLocks noGrp="1"/>
          </p:cNvSpPr>
          <p:nvPr>
            <p:ph type="title"/>
          </p:nvPr>
        </p:nvSpPr>
        <p:spPr>
          <a:xfrm>
            <a:off x="3427548" y="5555910"/>
            <a:ext cx="1333500" cy="381000"/>
          </a:xfrm>
        </p:spPr>
        <p:txBody>
          <a:bodyPr>
            <a:noAutofit/>
          </a:bodyPr>
          <a:lstStyle/>
          <a:p>
            <a:r>
              <a:rPr lang="zh-CN" altLang="en-US" sz="2000" dirty="0" smtClean="0">
                <a:latin typeface="宋体" panose="02010600030101010101" pitchFamily="2" charset="-122"/>
                <a:ea typeface="宋体" panose="02010600030101010101" pitchFamily="2" charset="-122"/>
              </a:rPr>
              <a:t>图</a:t>
            </a:r>
            <a:r>
              <a:rPr lang="en-US" altLang="zh-CN" sz="2000" dirty="0">
                <a:latin typeface="宋体" panose="02010600030101010101" pitchFamily="2" charset="-122"/>
                <a:ea typeface="宋体" panose="02010600030101010101" pitchFamily="2" charset="-122"/>
              </a:rPr>
              <a:t>3</a:t>
            </a:r>
            <a:r>
              <a:rPr lang="en-US" altLang="zh-CN" sz="2000" dirty="0" smtClean="0">
                <a:latin typeface="宋体" panose="02010600030101010101" pitchFamily="2" charset="-122"/>
                <a:ea typeface="宋体" panose="02010600030101010101" pitchFamily="2" charset="-122"/>
              </a:rPr>
              <a:t>.2(d)</a:t>
            </a:r>
            <a:endParaRPr lang="zh-CN" altLang="en-US" sz="2000" dirty="0" smtClean="0">
              <a:latin typeface="宋体" panose="02010600030101010101" pitchFamily="2" charset="-122"/>
              <a:ea typeface="宋体" panose="02010600030101010101" pitchFamily="2" charset="-122"/>
            </a:endParaRPr>
          </a:p>
        </p:txBody>
      </p:sp>
      <p:pic>
        <p:nvPicPr>
          <p:cNvPr id="184324" name="Picture 2"/>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6168"/>
          <a:stretch/>
        </p:blipFill>
        <p:spPr bwMode="auto">
          <a:xfrm>
            <a:off x="666275" y="1012949"/>
            <a:ext cx="6192838" cy="444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7235128" y="2110538"/>
            <a:ext cx="3720580" cy="2195922"/>
          </a:xfrm>
          <a:prstGeom prst="rect">
            <a:avLst/>
          </a:prstGeom>
        </p:spPr>
        <p:txBody>
          <a:bodyPr wrap="square">
            <a:spAutoFit/>
          </a:bodyPr>
          <a:lstStyle/>
          <a:p>
            <a:pPr algn="just" eaLnBrk="0" fontAlgn="base" hangingPunct="0">
              <a:lnSpc>
                <a:spcPts val="2800"/>
              </a:lnSpc>
              <a:spcBef>
                <a:spcPct val="20000"/>
              </a:spcBef>
              <a:buClr>
                <a:srgbClr val="40458C"/>
              </a:buClr>
              <a:defRPr/>
            </a:pPr>
            <a:r>
              <a:rPr kumimoji="1" lang="zh-CN" altLang="zh-CN" sz="2000" kern="100" dirty="0" smtClean="0">
                <a:solidFill>
                  <a:srgbClr val="40458C"/>
                </a:solidFill>
                <a:latin typeface="宋体" panose="02010600030101010101" pitchFamily="2" charset="-122"/>
                <a:ea typeface="宋体" panose="02010600030101010101" pitchFamily="2" charset="-122"/>
                <a:cs typeface="Times New Roman"/>
              </a:rPr>
              <a:t>图</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3</a:t>
            </a:r>
            <a:r>
              <a:rPr kumimoji="1" lang="en-US" altLang="zh-CN" sz="2000" kern="100" dirty="0" smtClean="0">
                <a:solidFill>
                  <a:srgbClr val="40458C"/>
                </a:solidFill>
                <a:latin typeface="宋体" panose="02010600030101010101" pitchFamily="2" charset="-122"/>
                <a:ea typeface="宋体" panose="02010600030101010101" pitchFamily="2" charset="-122"/>
                <a:cs typeface="Times New Roman"/>
              </a:rPr>
              <a:t>.2(d</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当</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 Mult1</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的运算结果产生后</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设为</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e),</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就把数据放到总线上</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广播</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所有等待该数据的地方都会自动把数据取走。</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Add1</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中的</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ADD</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指令得到该数据后</a:t>
            </a:r>
            <a:r>
              <a:rPr kumimoji="1" lang="en-US" altLang="zh-CN" sz="2000" kern="100" dirty="0">
                <a:solidFill>
                  <a:srgbClr val="40458C"/>
                </a:solidFill>
                <a:latin typeface="宋体" panose="02010600030101010101" pitchFamily="2" charset="-122"/>
                <a:ea typeface="宋体" panose="02010600030101010101" pitchFamily="2" charset="-122"/>
                <a:cs typeface="Times New Roman"/>
              </a:rPr>
              <a:t>,</a:t>
            </a:r>
            <a:r>
              <a:rPr kumimoji="1" lang="zh-CN" altLang="zh-CN" sz="2000" kern="100" dirty="0">
                <a:solidFill>
                  <a:srgbClr val="40458C"/>
                </a:solidFill>
                <a:latin typeface="宋体" panose="02010600030101010101" pitchFamily="2" charset="-122"/>
                <a:ea typeface="宋体" panose="02010600030101010101" pitchFamily="2" charset="-122"/>
                <a:cs typeface="Times New Roman"/>
              </a:rPr>
              <a:t>马上就可以开始执行。 </a:t>
            </a:r>
          </a:p>
        </p:txBody>
      </p:sp>
      <p:sp>
        <p:nvSpPr>
          <p:cNvPr id="2" name="矩形 1"/>
          <p:cNvSpPr/>
          <p:nvPr/>
        </p:nvSpPr>
        <p:spPr>
          <a:xfrm>
            <a:off x="7847756" y="872576"/>
            <a:ext cx="1709737" cy="646112"/>
          </a:xfrm>
          <a:prstGeom prst="rect">
            <a:avLst/>
          </a:prstGeom>
        </p:spPr>
        <p:txBody>
          <a:bodyPr>
            <a:spAutoFit/>
          </a:bodyPr>
          <a:lstStyle/>
          <a:p>
            <a:pPr fontAlgn="base">
              <a:spcBef>
                <a:spcPct val="0"/>
              </a:spcBef>
              <a:spcAft>
                <a:spcPct val="0"/>
              </a:spcAft>
              <a:defRPr/>
            </a:pPr>
            <a:r>
              <a:rPr kumimoji="1" lang="en-US" altLang="zh-CN" b="1" kern="100" dirty="0">
                <a:solidFill>
                  <a:srgbClr val="FF0000"/>
                </a:solidFill>
                <a:latin typeface="Calibri"/>
                <a:ea typeface="宋体"/>
                <a:cs typeface="Times New Roman"/>
              </a:rPr>
              <a:t>MUL F0,F2,F4</a:t>
            </a:r>
          </a:p>
          <a:p>
            <a:pPr fontAlgn="base">
              <a:spcBef>
                <a:spcPct val="0"/>
              </a:spcBef>
              <a:spcAft>
                <a:spcPct val="0"/>
              </a:spcAft>
              <a:defRPr/>
            </a:pPr>
            <a:r>
              <a:rPr kumimoji="1" lang="en-US" altLang="zh-CN" b="1" kern="100" dirty="0">
                <a:solidFill>
                  <a:srgbClr val="FF0000"/>
                </a:solidFill>
                <a:latin typeface="Calibri"/>
                <a:ea typeface="宋体"/>
                <a:cs typeface="Times New Roman"/>
              </a:rPr>
              <a:t>ADD F2,F0,F6</a:t>
            </a:r>
            <a:r>
              <a:rPr kumimoji="1" lang="zh-CN" altLang="zh-CN" b="1" kern="100" dirty="0">
                <a:solidFill>
                  <a:srgbClr val="FF0000"/>
                </a:solidFill>
                <a:latin typeface="Calibri"/>
                <a:ea typeface="宋体"/>
                <a:cs typeface="Times New Roman"/>
              </a:rPr>
              <a:t> </a:t>
            </a:r>
            <a:endParaRPr kumimoji="1" lang="zh-CN" altLang="en-US" sz="2400" dirty="0">
              <a:solidFill>
                <a:srgbClr val="FF0000"/>
              </a:solidFill>
              <a:latin typeface="Tahoma" panose="020B0604030504040204" pitchFamily="34" charset="0"/>
              <a:ea typeface="黑体" panose="02010609060101010101" pitchFamily="49" charset="-122"/>
            </a:endParaRPr>
          </a:p>
        </p:txBody>
      </p:sp>
    </p:spTree>
    <p:extLst>
      <p:ext uri="{BB962C8B-B14F-4D97-AF65-F5344CB8AC3E}">
        <p14:creationId xmlns:p14="http://schemas.microsoft.com/office/powerpoint/2010/main" val="17483658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85347" name="Rectangle 3" descr="Rectangle: Click to edit Master text styles&#10;Second level&#10;Third level&#10;Fourth level&#10;Fifth level"/>
          <p:cNvSpPr>
            <a:spLocks noGrp="1" noChangeArrowheads="1"/>
          </p:cNvSpPr>
          <p:nvPr>
            <p:ph idx="1"/>
          </p:nvPr>
        </p:nvSpPr>
        <p:spPr>
          <a:xfrm>
            <a:off x="900157" y="788409"/>
            <a:ext cx="9144000" cy="5473700"/>
          </a:xfrm>
        </p:spPr>
        <p:txBody>
          <a:bodyPr>
            <a:normAutofit/>
          </a:bodyPr>
          <a:lstStyle/>
          <a:p>
            <a:pPr marL="0" indent="0" eaLnBrk="1" hangingPunct="1">
              <a:lnSpc>
                <a:spcPts val="3000"/>
              </a:lnSpc>
              <a:spcBef>
                <a:spcPts val="0"/>
              </a:spcBef>
              <a:buNone/>
            </a:pPr>
            <a:r>
              <a:rPr lang="en-US" altLang="zh-CN" sz="2200" b="1" dirty="0" smtClean="0">
                <a:latin typeface="宋体" panose="02010600030101010101" pitchFamily="2" charset="-122"/>
                <a:ea typeface="宋体" panose="02010600030101010101" pitchFamily="2" charset="-122"/>
              </a:rPr>
              <a:t>5.Tomasulo</a:t>
            </a:r>
            <a:r>
              <a:rPr lang="zh-CN" altLang="en-US" sz="2200" b="1" dirty="0" smtClean="0">
                <a:latin typeface="宋体" panose="02010600030101010101" pitchFamily="2" charset="-122"/>
                <a:ea typeface="宋体" panose="02010600030101010101" pitchFamily="2" charset="-122"/>
              </a:rPr>
              <a:t>算法具有两个主要的优点：</a:t>
            </a:r>
          </a:p>
          <a:p>
            <a:pPr marL="628650" lvl="1" indent="0" eaLnBrk="1" hangingPunct="1">
              <a:lnSpc>
                <a:spcPts val="3000"/>
              </a:lnSpc>
              <a:spcBef>
                <a:spcPts val="0"/>
              </a:spcBef>
              <a:buNone/>
            </a:pPr>
            <a:r>
              <a:rPr lang="zh-CN" altLang="en-US" sz="2200" b="1" dirty="0" smtClean="0">
                <a:latin typeface="宋体" panose="02010600030101010101" pitchFamily="2" charset="-122"/>
                <a:ea typeface="宋体" panose="02010600030101010101" pitchFamily="2" charset="-122"/>
              </a:rPr>
              <a:t>①冲突检测和指令执行控制是分布的。</a:t>
            </a:r>
          </a:p>
          <a:p>
            <a:pPr lvl="2" eaLnBrk="1" hangingPunct="1">
              <a:lnSpc>
                <a:spcPts val="3000"/>
              </a:lnSpc>
              <a:spcBef>
                <a:spcPts val="0"/>
              </a:spcBef>
            </a:pPr>
            <a:r>
              <a:rPr lang="zh-CN" altLang="en-US" sz="2200" dirty="0" smtClean="0">
                <a:latin typeface="宋体" panose="02010600030101010101" pitchFamily="2" charset="-122"/>
                <a:ea typeface="宋体" panose="02010600030101010101" pitchFamily="2" charset="-122"/>
              </a:rPr>
              <a:t>每个功能部件的保留站中的信息决定了什么时候指令可以在该功能部件开始执行。</a:t>
            </a:r>
            <a:endParaRPr lang="en-US" altLang="zh-CN" sz="2200" dirty="0" smtClean="0">
              <a:latin typeface="宋体" panose="02010600030101010101" pitchFamily="2" charset="-122"/>
              <a:ea typeface="宋体" panose="02010600030101010101" pitchFamily="2" charset="-122"/>
            </a:endParaRPr>
          </a:p>
          <a:p>
            <a:pPr lvl="2" eaLnBrk="1" hangingPunct="1">
              <a:lnSpc>
                <a:spcPts val="3000"/>
              </a:lnSpc>
              <a:spcBef>
                <a:spcPts val="0"/>
              </a:spcBef>
            </a:pPr>
            <a:r>
              <a:rPr lang="zh-CN" altLang="en-US" sz="2200" dirty="0" smtClean="0">
                <a:latin typeface="宋体" panose="02010600030101010101" pitchFamily="2" charset="-122"/>
                <a:ea typeface="宋体" panose="02010600030101010101" pitchFamily="2" charset="-122"/>
              </a:rPr>
              <a:t>计算结果通过</a:t>
            </a:r>
            <a:r>
              <a:rPr lang="en-US" altLang="zh-CN" sz="2200" dirty="0" smtClean="0">
                <a:solidFill>
                  <a:srgbClr val="9933FF"/>
                </a:solidFill>
                <a:latin typeface="宋体" panose="02010600030101010101" pitchFamily="2" charset="-122"/>
                <a:ea typeface="宋体" panose="02010600030101010101" pitchFamily="2" charset="-122"/>
              </a:rPr>
              <a:t>CDB</a:t>
            </a:r>
            <a:r>
              <a:rPr lang="zh-CN" altLang="en-US" sz="2200" dirty="0" smtClean="0">
                <a:latin typeface="宋体" panose="02010600030101010101" pitchFamily="2" charset="-122"/>
                <a:ea typeface="宋体" panose="02010600030101010101" pitchFamily="2" charset="-122"/>
              </a:rPr>
              <a:t>直接从产生它的保留站传送到所有需要它的功能部件，而不用经过寄存器。</a:t>
            </a:r>
          </a:p>
          <a:p>
            <a:pPr marL="628650" lvl="1" indent="0" eaLnBrk="1" hangingPunct="1">
              <a:lnSpc>
                <a:spcPts val="3000"/>
              </a:lnSpc>
              <a:spcBef>
                <a:spcPts val="0"/>
              </a:spcBef>
              <a:buNone/>
            </a:pPr>
            <a:r>
              <a:rPr lang="zh-CN" altLang="en-US" sz="2200" b="1" dirty="0" smtClean="0">
                <a:latin typeface="宋体" panose="02010600030101010101" pitchFamily="2" charset="-122"/>
                <a:ea typeface="宋体" panose="02010600030101010101" pitchFamily="2" charset="-122"/>
              </a:rPr>
              <a:t>②消除了</a:t>
            </a:r>
            <a:r>
              <a:rPr lang="en-US" altLang="zh-CN" sz="2200" b="1" dirty="0" smtClean="0">
                <a:solidFill>
                  <a:srgbClr val="9933FF"/>
                </a:solidFill>
                <a:latin typeface="宋体" panose="02010600030101010101" pitchFamily="2" charset="-122"/>
                <a:ea typeface="宋体" panose="02010600030101010101" pitchFamily="2" charset="-122"/>
              </a:rPr>
              <a:t>WAW</a:t>
            </a:r>
            <a:r>
              <a:rPr lang="zh-CN" altLang="en-US" sz="2200" b="1" dirty="0" smtClean="0">
                <a:latin typeface="宋体" panose="02010600030101010101" pitchFamily="2" charset="-122"/>
                <a:ea typeface="宋体" panose="02010600030101010101" pitchFamily="2" charset="-122"/>
              </a:rPr>
              <a:t>冲突和</a:t>
            </a:r>
            <a:r>
              <a:rPr lang="en-US" altLang="zh-CN" sz="2200" b="1" dirty="0" smtClean="0">
                <a:solidFill>
                  <a:srgbClr val="9933FF"/>
                </a:solidFill>
                <a:latin typeface="宋体" panose="02010600030101010101" pitchFamily="2" charset="-122"/>
                <a:ea typeface="宋体" panose="02010600030101010101" pitchFamily="2" charset="-122"/>
              </a:rPr>
              <a:t>WAR</a:t>
            </a:r>
            <a:r>
              <a:rPr lang="zh-CN" altLang="en-US" sz="2200" b="1" dirty="0" smtClean="0">
                <a:latin typeface="宋体" panose="02010600030101010101" pitchFamily="2" charset="-122"/>
                <a:ea typeface="宋体" panose="02010600030101010101" pitchFamily="2" charset="-122"/>
              </a:rPr>
              <a:t>冲突导致的停顿</a:t>
            </a:r>
            <a:r>
              <a:rPr lang="en-US" altLang="zh-CN" sz="2200" b="1" dirty="0" smtClean="0">
                <a:latin typeface="宋体" panose="02010600030101010101" pitchFamily="2" charset="-122"/>
                <a:ea typeface="宋体" panose="02010600030101010101" pitchFamily="2" charset="-122"/>
              </a:rPr>
              <a:t>(</a:t>
            </a:r>
            <a:r>
              <a:rPr lang="zh-CN" altLang="en-US" sz="2200" b="1" dirty="0" smtClean="0">
                <a:latin typeface="宋体" panose="02010600030101010101" pitchFamily="2" charset="-122"/>
                <a:ea typeface="宋体" panose="02010600030101010101" pitchFamily="2" charset="-122"/>
              </a:rPr>
              <a:t>详情见后面例题</a:t>
            </a:r>
            <a:r>
              <a:rPr lang="en-US" altLang="zh-CN" sz="2200" b="1" dirty="0" smtClean="0">
                <a:latin typeface="宋体" panose="02010600030101010101" pitchFamily="2" charset="-122"/>
                <a:ea typeface="宋体" panose="02010600030101010101" pitchFamily="2" charset="-122"/>
              </a:rPr>
              <a:t>4.1)</a:t>
            </a:r>
          </a:p>
          <a:p>
            <a:pPr lvl="2" eaLnBrk="1" hangingPunct="1">
              <a:lnSpc>
                <a:spcPts val="3000"/>
              </a:lnSpc>
              <a:spcBef>
                <a:spcPts val="0"/>
              </a:spcBef>
              <a:buFont typeface="Wingdings" panose="05000000000000000000" pitchFamily="2" charset="2"/>
              <a:buNone/>
            </a:pPr>
            <a:r>
              <a:rPr lang="en-US" altLang="zh-CN" sz="2200" dirty="0" smtClean="0">
                <a:latin typeface="宋体" panose="02010600030101010101" pitchFamily="2" charset="-122"/>
                <a:ea typeface="宋体" panose="02010600030101010101" pitchFamily="2" charset="-122"/>
              </a:rPr>
              <a:t>    </a:t>
            </a:r>
            <a:r>
              <a:rPr lang="zh-CN" altLang="en-US" sz="2200" dirty="0" smtClean="0">
                <a:latin typeface="宋体" panose="02010600030101010101" pitchFamily="2" charset="-122"/>
                <a:ea typeface="宋体" panose="02010600030101010101" pitchFamily="2" charset="-122"/>
              </a:rPr>
              <a:t>使用</a:t>
            </a:r>
            <a:r>
              <a:rPr lang="zh-CN" altLang="en-US" sz="2200" dirty="0" smtClean="0">
                <a:solidFill>
                  <a:srgbClr val="D60093"/>
                </a:solidFill>
                <a:latin typeface="宋体" panose="02010600030101010101" pitchFamily="2" charset="-122"/>
                <a:ea typeface="宋体" panose="02010600030101010101" pitchFamily="2" charset="-122"/>
              </a:rPr>
              <a:t>保留站</a:t>
            </a:r>
            <a:r>
              <a:rPr lang="zh-CN" altLang="en-US" sz="2200" dirty="0" smtClean="0">
                <a:latin typeface="宋体" panose="02010600030101010101" pitchFamily="2" charset="-122"/>
                <a:ea typeface="宋体" panose="02010600030101010101" pitchFamily="2" charset="-122"/>
              </a:rPr>
              <a:t>进行</a:t>
            </a:r>
            <a:r>
              <a:rPr lang="zh-CN" altLang="en-US" sz="2200" dirty="0" smtClean="0">
                <a:solidFill>
                  <a:srgbClr val="D60093"/>
                </a:solidFill>
                <a:latin typeface="宋体" panose="02010600030101010101" pitchFamily="2" charset="-122"/>
                <a:ea typeface="宋体" panose="02010600030101010101" pitchFamily="2" charset="-122"/>
              </a:rPr>
              <a:t>寄存器换名</a:t>
            </a:r>
            <a:r>
              <a:rPr lang="zh-CN" altLang="en-US" sz="2200" dirty="0" smtClean="0">
                <a:latin typeface="宋体" panose="02010600030101010101" pitchFamily="2" charset="-122"/>
                <a:ea typeface="宋体" panose="02010600030101010101" pitchFamily="2" charset="-122"/>
              </a:rPr>
              <a:t>，并且操作数一旦就绪就将之放入保留站。     </a:t>
            </a:r>
          </a:p>
        </p:txBody>
      </p:sp>
    </p:spTree>
    <p:extLst>
      <p:ext uri="{BB962C8B-B14F-4D97-AF65-F5344CB8AC3E}">
        <p14:creationId xmlns:p14="http://schemas.microsoft.com/office/powerpoint/2010/main" val="18303325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1325803" y="792869"/>
            <a:ext cx="8200293" cy="4525963"/>
          </a:xfrm>
        </p:spPr>
        <p:txBody>
          <a:bodyPr>
            <a:normAutofit/>
          </a:bodyPr>
          <a:lstStyle/>
          <a:p>
            <a:pPr marL="0" lvl="0" indent="0" eaLnBrk="1" hangingPunct="1">
              <a:lnSpc>
                <a:spcPct val="120000"/>
              </a:lnSpc>
              <a:buClr>
                <a:srgbClr val="40458C"/>
              </a:buClr>
              <a:buNone/>
            </a:pPr>
            <a:r>
              <a:rPr kumimoji="1" lang="en-US" altLang="zh-CN" sz="2200" b="1" kern="0" dirty="0">
                <a:solidFill>
                  <a:srgbClr val="000000"/>
                </a:solidFill>
                <a:latin typeface="宋体" panose="02010600030101010101" pitchFamily="2" charset="-122"/>
                <a:ea typeface="宋体" panose="02010600030101010101" pitchFamily="2" charset="-122"/>
              </a:rPr>
              <a:t>6.</a:t>
            </a:r>
            <a:r>
              <a:rPr kumimoji="1" lang="zh-CN" altLang="en-US" sz="2200" b="1" kern="0" dirty="0">
                <a:solidFill>
                  <a:srgbClr val="000000"/>
                </a:solidFill>
                <a:latin typeface="宋体" panose="02010600030101010101" pitchFamily="2" charset="-122"/>
                <a:ea typeface="宋体" panose="02010600030101010101" pitchFamily="2" charset="-122"/>
              </a:rPr>
              <a:t>详细算法</a:t>
            </a:r>
            <a:r>
              <a:rPr kumimoji="1" lang="zh-CN" altLang="en-US" sz="2200" b="1" kern="0" dirty="0" smtClean="0">
                <a:solidFill>
                  <a:srgbClr val="000000"/>
                </a:solidFill>
                <a:latin typeface="宋体" panose="02010600030101010101" pitchFamily="2" charset="-122"/>
                <a:ea typeface="宋体" panose="02010600030101010101" pitchFamily="2" charset="-122"/>
              </a:rPr>
              <a:t>解读</a:t>
            </a:r>
            <a:endParaRPr lang="zh-CN" altLang="en-US" sz="2200" dirty="0">
              <a:solidFill>
                <a:srgbClr val="000000"/>
              </a:solidFill>
              <a:latin typeface="宋体" panose="02010600030101010101" pitchFamily="2" charset="-122"/>
              <a:ea typeface="宋体" panose="02010600030101010101" pitchFamily="2" charset="-122"/>
            </a:endParaRPr>
          </a:p>
          <a:p>
            <a:pPr marL="0" indent="538163">
              <a:buNone/>
            </a:pPr>
            <a:r>
              <a:rPr lang="zh-CN" altLang="en-US" sz="2200" dirty="0" smtClean="0">
                <a:solidFill>
                  <a:srgbClr val="000000"/>
                </a:solidFill>
                <a:latin typeface="宋体" panose="02010600030101010101" pitchFamily="2" charset="-122"/>
                <a:ea typeface="宋体" panose="02010600030101010101" pitchFamily="2" charset="-122"/>
              </a:rPr>
              <a:t>① 首先，搞</a:t>
            </a:r>
            <a:r>
              <a:rPr lang="zh-CN" altLang="en-US" sz="2200" dirty="0">
                <a:solidFill>
                  <a:srgbClr val="000000"/>
                </a:solidFill>
                <a:latin typeface="宋体" panose="02010600030101010101" pitchFamily="2" charset="-122"/>
                <a:ea typeface="宋体" panose="02010600030101010101" pitchFamily="2" charset="-122"/>
              </a:rPr>
              <a:t>清楚所有的字段是什么含义；</a:t>
            </a:r>
            <a:endParaRPr lang="zh-CN" altLang="en-US" sz="2200" dirty="0">
              <a:solidFill>
                <a:srgbClr val="181E33"/>
              </a:solidFill>
              <a:latin typeface="宋体" panose="02010600030101010101" pitchFamily="2" charset="-122"/>
              <a:ea typeface="宋体" panose="02010600030101010101" pitchFamily="2" charset="-122"/>
            </a:endParaRPr>
          </a:p>
          <a:p>
            <a:pPr marL="0" indent="538163">
              <a:buNone/>
            </a:pPr>
            <a:r>
              <a:rPr lang="zh-CN" altLang="en-US" sz="2200" dirty="0" smtClean="0">
                <a:solidFill>
                  <a:srgbClr val="000000"/>
                </a:solidFill>
                <a:latin typeface="宋体" panose="02010600030101010101" pitchFamily="2" charset="-122"/>
                <a:ea typeface="宋体" panose="02010600030101010101" pitchFamily="2" charset="-122"/>
              </a:rPr>
              <a:t>② 其次</a:t>
            </a:r>
            <a:r>
              <a:rPr lang="zh-CN" altLang="en-US" sz="2200" dirty="0">
                <a:solidFill>
                  <a:srgbClr val="000000"/>
                </a:solidFill>
                <a:latin typeface="宋体" panose="02010600030101010101" pitchFamily="2" charset="-122"/>
                <a:ea typeface="宋体" panose="02010600030101010101" pitchFamily="2" charset="-122"/>
              </a:rPr>
              <a:t>，搞清楚 </a:t>
            </a:r>
            <a:r>
              <a:rPr lang="en-US" altLang="zh-CN" sz="2200" dirty="0">
                <a:solidFill>
                  <a:srgbClr val="000000"/>
                </a:solidFill>
                <a:latin typeface="宋体" panose="02010600030101010101" pitchFamily="2" charset="-122"/>
                <a:ea typeface="宋体" panose="02010600030101010101" pitchFamily="2" charset="-122"/>
              </a:rPr>
              <a:t>ALU</a:t>
            </a:r>
            <a:r>
              <a:rPr lang="zh-CN" altLang="en-US" sz="2200" dirty="0">
                <a:solidFill>
                  <a:srgbClr val="000000"/>
                </a:solidFill>
                <a:latin typeface="宋体" panose="02010600030101010101" pitchFamily="2" charset="-122"/>
                <a:ea typeface="宋体" panose="02010600030101010101" pitchFamily="2" charset="-122"/>
              </a:rPr>
              <a:t>指令、 </a:t>
            </a:r>
            <a:r>
              <a:rPr lang="en-US" altLang="zh-CN" sz="2200" dirty="0">
                <a:solidFill>
                  <a:srgbClr val="000000"/>
                </a:solidFill>
                <a:latin typeface="宋体" panose="02010600030101010101" pitchFamily="2" charset="-122"/>
                <a:ea typeface="宋体" panose="02010600030101010101" pitchFamily="2" charset="-122"/>
              </a:rPr>
              <a:t>Load</a:t>
            </a:r>
            <a:r>
              <a:rPr lang="zh-CN" altLang="en-US" sz="2200" dirty="0">
                <a:solidFill>
                  <a:srgbClr val="000000"/>
                </a:solidFill>
                <a:latin typeface="宋体" panose="02010600030101010101" pitchFamily="2" charset="-122"/>
                <a:ea typeface="宋体" panose="02010600030101010101" pitchFamily="2" charset="-122"/>
              </a:rPr>
              <a:t>指令 和 </a:t>
            </a:r>
            <a:r>
              <a:rPr lang="en-US" altLang="zh-CN" sz="2200" dirty="0">
                <a:solidFill>
                  <a:srgbClr val="000000"/>
                </a:solidFill>
                <a:latin typeface="宋体" panose="02010600030101010101" pitchFamily="2" charset="-122"/>
                <a:ea typeface="宋体" panose="02010600030101010101" pitchFamily="2" charset="-122"/>
              </a:rPr>
              <a:t>Store</a:t>
            </a:r>
            <a:r>
              <a:rPr lang="zh-CN" altLang="en-US" sz="2200" dirty="0">
                <a:solidFill>
                  <a:srgbClr val="000000"/>
                </a:solidFill>
                <a:latin typeface="宋体" panose="02010600030101010101" pitchFamily="2" charset="-122"/>
                <a:ea typeface="宋体" panose="02010600030101010101" pitchFamily="2" charset="-122"/>
              </a:rPr>
              <a:t>指令</a:t>
            </a:r>
            <a:r>
              <a:rPr lang="zh-CN" altLang="en-US" sz="2200" dirty="0" smtClean="0">
                <a:solidFill>
                  <a:srgbClr val="000000"/>
                </a:solidFill>
                <a:latin typeface="宋体" panose="02010600030101010101" pitchFamily="2" charset="-122"/>
                <a:ea typeface="宋体" panose="02010600030101010101" pitchFamily="2" charset="-122"/>
              </a:rPr>
              <a:t>进入</a:t>
            </a:r>
            <a:endParaRPr lang="en-US" altLang="zh-CN" sz="2200" dirty="0" smtClean="0">
              <a:solidFill>
                <a:srgbClr val="000000"/>
              </a:solidFill>
              <a:latin typeface="宋体" panose="02010600030101010101" pitchFamily="2" charset="-122"/>
              <a:ea typeface="宋体" panose="02010600030101010101" pitchFamily="2" charset="-122"/>
            </a:endParaRPr>
          </a:p>
          <a:p>
            <a:pPr marL="0" indent="538163">
              <a:buNone/>
            </a:pPr>
            <a:r>
              <a:rPr lang="en-US" altLang="zh-CN" sz="2200" dirty="0">
                <a:solidFill>
                  <a:srgbClr val="000000"/>
                </a:solidFill>
                <a:latin typeface="宋体" panose="02010600030101010101" pitchFamily="2" charset="-122"/>
                <a:ea typeface="宋体" panose="02010600030101010101" pitchFamily="2" charset="-122"/>
              </a:rPr>
              <a:t> </a:t>
            </a:r>
            <a:r>
              <a:rPr lang="en-US" altLang="zh-CN" sz="2200" dirty="0" smtClean="0">
                <a:solidFill>
                  <a:srgbClr val="000000"/>
                </a:solidFill>
                <a:latin typeface="宋体" panose="02010600030101010101" pitchFamily="2" charset="-122"/>
                <a:ea typeface="宋体" panose="02010600030101010101" pitchFamily="2" charset="-122"/>
              </a:rPr>
              <a:t>  </a:t>
            </a:r>
            <a:r>
              <a:rPr lang="zh-CN" altLang="en-US" sz="2200" dirty="0" smtClean="0">
                <a:solidFill>
                  <a:srgbClr val="000000"/>
                </a:solidFill>
                <a:latin typeface="宋体" panose="02010600030101010101" pitchFamily="2" charset="-122"/>
                <a:ea typeface="宋体" panose="02010600030101010101" pitchFamily="2" charset="-122"/>
              </a:rPr>
              <a:t>每个</a:t>
            </a:r>
            <a:r>
              <a:rPr lang="zh-CN" altLang="en-US" sz="2200" dirty="0">
                <a:solidFill>
                  <a:srgbClr val="000000"/>
                </a:solidFill>
                <a:latin typeface="宋体" panose="02010600030101010101" pitchFamily="2" charset="-122"/>
                <a:ea typeface="宋体" panose="02010600030101010101" pitchFamily="2" charset="-122"/>
              </a:rPr>
              <a:t>阶段的条件，</a:t>
            </a:r>
            <a:r>
              <a:rPr lang="zh-CN" altLang="en-US" sz="2200" dirty="0" smtClean="0">
                <a:solidFill>
                  <a:srgbClr val="000000"/>
                </a:solidFill>
                <a:latin typeface="宋体" panose="02010600030101010101" pitchFamily="2" charset="-122"/>
                <a:ea typeface="宋体" panose="02010600030101010101" pitchFamily="2" charset="-122"/>
              </a:rPr>
              <a:t>以及</a:t>
            </a:r>
            <a:r>
              <a:rPr lang="zh-CN" altLang="en-US" sz="2200" dirty="0">
                <a:solidFill>
                  <a:srgbClr val="000000"/>
                </a:solidFill>
                <a:latin typeface="宋体" panose="02010600030101010101" pitchFamily="2" charset="-122"/>
                <a:ea typeface="宋体" panose="02010600030101010101" pitchFamily="2" charset="-122"/>
              </a:rPr>
              <a:t>每个阶段结束时，保留站和</a:t>
            </a:r>
            <a:r>
              <a:rPr lang="zh-CN" altLang="en-US" sz="2200" dirty="0" smtClean="0">
                <a:solidFill>
                  <a:srgbClr val="000000"/>
                </a:solidFill>
                <a:latin typeface="宋体" panose="02010600030101010101" pitchFamily="2" charset="-122"/>
                <a:ea typeface="宋体" panose="02010600030101010101" pitchFamily="2" charset="-122"/>
              </a:rPr>
              <a:t>浮点</a:t>
            </a:r>
            <a:endParaRPr lang="en-US" altLang="zh-CN" sz="2200" dirty="0" smtClean="0">
              <a:solidFill>
                <a:srgbClr val="000000"/>
              </a:solidFill>
              <a:latin typeface="宋体" panose="02010600030101010101" pitchFamily="2" charset="-122"/>
              <a:ea typeface="宋体" panose="02010600030101010101" pitchFamily="2" charset="-122"/>
            </a:endParaRPr>
          </a:p>
          <a:p>
            <a:pPr marL="0" indent="538163">
              <a:buNone/>
            </a:pPr>
            <a:r>
              <a:rPr lang="en-US" altLang="zh-CN" sz="2200" dirty="0">
                <a:solidFill>
                  <a:srgbClr val="000000"/>
                </a:solidFill>
                <a:latin typeface="宋体" panose="02010600030101010101" pitchFamily="2" charset="-122"/>
                <a:ea typeface="宋体" panose="02010600030101010101" pitchFamily="2" charset="-122"/>
              </a:rPr>
              <a:t> </a:t>
            </a:r>
            <a:r>
              <a:rPr lang="en-US" altLang="zh-CN" sz="2200" dirty="0" smtClean="0">
                <a:solidFill>
                  <a:srgbClr val="000000"/>
                </a:solidFill>
                <a:latin typeface="宋体" panose="02010600030101010101" pitchFamily="2" charset="-122"/>
                <a:ea typeface="宋体" panose="02010600030101010101" pitchFamily="2" charset="-122"/>
              </a:rPr>
              <a:t>  </a:t>
            </a:r>
            <a:r>
              <a:rPr lang="zh-CN" altLang="en-US" sz="2200" dirty="0" smtClean="0">
                <a:solidFill>
                  <a:srgbClr val="000000"/>
                </a:solidFill>
                <a:latin typeface="宋体" panose="02010600030101010101" pitchFamily="2" charset="-122"/>
                <a:ea typeface="宋体" panose="02010600030101010101" pitchFamily="2" charset="-122"/>
              </a:rPr>
              <a:t>寄存器</a:t>
            </a:r>
            <a:r>
              <a:rPr lang="zh-CN" altLang="en-US" sz="2200" dirty="0">
                <a:solidFill>
                  <a:srgbClr val="000000"/>
                </a:solidFill>
                <a:latin typeface="宋体" panose="02010600030101010101" pitchFamily="2" charset="-122"/>
                <a:ea typeface="宋体" panose="02010600030101010101" pitchFamily="2" charset="-122"/>
              </a:rPr>
              <a:t>状态表的状态；</a:t>
            </a:r>
            <a:endParaRPr lang="zh-CN" altLang="en-US" sz="2200" dirty="0">
              <a:solidFill>
                <a:srgbClr val="181E33"/>
              </a:solidFill>
              <a:latin typeface="宋体" panose="02010600030101010101" pitchFamily="2" charset="-122"/>
              <a:ea typeface="宋体" panose="02010600030101010101" pitchFamily="2" charset="-122"/>
            </a:endParaRPr>
          </a:p>
          <a:p>
            <a:pPr marL="0" indent="538163">
              <a:buNone/>
            </a:pPr>
            <a:r>
              <a:rPr lang="zh-CN" altLang="en-US" sz="2200" dirty="0" smtClean="0">
                <a:solidFill>
                  <a:srgbClr val="000000"/>
                </a:solidFill>
                <a:latin typeface="宋体" panose="02010600030101010101" pitchFamily="2" charset="-122"/>
                <a:ea typeface="宋体" panose="02010600030101010101" pitchFamily="2" charset="-122"/>
              </a:rPr>
              <a:t>③ 没有</a:t>
            </a:r>
            <a:r>
              <a:rPr lang="zh-CN" altLang="en-US" sz="2200" dirty="0">
                <a:solidFill>
                  <a:srgbClr val="000000"/>
                </a:solidFill>
                <a:latin typeface="宋体" panose="02010600030101010101" pitchFamily="2" charset="-122"/>
                <a:ea typeface="宋体" panose="02010600030101010101" pitchFamily="2" charset="-122"/>
              </a:rPr>
              <a:t>捷径，耐着性子往下看，注意细节。</a:t>
            </a:r>
            <a:endParaRPr lang="zh-CN" altLang="en-US" sz="2200" dirty="0">
              <a:solidFill>
                <a:srgbClr val="181E33"/>
              </a:solidFill>
              <a:latin typeface="宋体" panose="02010600030101010101" pitchFamily="2" charset="-122"/>
              <a:ea typeface="宋体" panose="02010600030101010101" pitchFamily="2" charset="-122"/>
            </a:endParaRPr>
          </a:p>
          <a:p>
            <a:pPr marL="0" indent="0">
              <a:buNone/>
            </a:pPr>
            <a:endParaRPr lang="zh-CN" altLang="en-US" sz="2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61072055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30403" name="Rectangle 3" descr="Rectangle: Click to edit Master text styles&#10;Second level&#10;Third level&#10;Fourth level&#10;Fifth level"/>
          <p:cNvSpPr>
            <a:spLocks noGrp="1" noChangeArrowheads="1"/>
          </p:cNvSpPr>
          <p:nvPr>
            <p:ph idx="1"/>
          </p:nvPr>
        </p:nvSpPr>
        <p:spPr>
          <a:xfrm>
            <a:off x="1447638" y="1030244"/>
            <a:ext cx="8134350" cy="4398963"/>
          </a:xfrm>
        </p:spPr>
        <p:txBody>
          <a:bodyPr>
            <a:normAutofit/>
          </a:bodyPr>
          <a:lstStyle/>
          <a:p>
            <a:pPr marL="457200" indent="-457200" eaLnBrk="1" hangingPunct="1">
              <a:lnSpc>
                <a:spcPct val="100000"/>
              </a:lnSpc>
              <a:buNone/>
            </a:pPr>
            <a:r>
              <a:rPr lang="zh-CN" altLang="en-US" sz="2200" dirty="0" smtClean="0">
                <a:latin typeface="宋体" panose="02010600030101010101" pitchFamily="2" charset="-122"/>
                <a:ea typeface="宋体" panose="02010600030101010101" pitchFamily="2" charset="-122"/>
              </a:rPr>
              <a:t>各符号的意义 </a:t>
            </a:r>
          </a:p>
          <a:p>
            <a:pPr marL="1085850" lvl="1" indent="-457200" eaLnBrk="1" hangingPunct="1">
              <a:lnSpc>
                <a:spcPct val="100000"/>
              </a:lnSpc>
            </a:pPr>
            <a:r>
              <a:rPr lang="en-US" altLang="zh-CN" sz="2200" dirty="0" smtClean="0">
                <a:solidFill>
                  <a:srgbClr val="D60093"/>
                </a:solidFill>
                <a:latin typeface="宋体" panose="02010600030101010101" pitchFamily="2" charset="-122"/>
                <a:ea typeface="宋体" panose="02010600030101010101" pitchFamily="2" charset="-122"/>
              </a:rPr>
              <a:t>r</a:t>
            </a:r>
            <a:r>
              <a:rPr lang="zh-CN" altLang="en-US" sz="2200" dirty="0" smtClean="0">
                <a:solidFill>
                  <a:srgbClr val="D60093"/>
                </a:solidFill>
                <a:latin typeface="宋体" panose="02010600030101010101" pitchFamily="2" charset="-122"/>
                <a:ea typeface="宋体" panose="02010600030101010101" pitchFamily="2" charset="-122"/>
              </a:rPr>
              <a:t>：</a:t>
            </a:r>
            <a:r>
              <a:rPr lang="zh-CN" altLang="en-US" sz="2200" dirty="0" smtClean="0">
                <a:latin typeface="宋体" panose="02010600030101010101" pitchFamily="2" charset="-122"/>
                <a:ea typeface="宋体" panose="02010600030101010101" pitchFamily="2" charset="-122"/>
              </a:rPr>
              <a:t>分配给</a:t>
            </a:r>
            <a:r>
              <a:rPr lang="zh-CN" altLang="en-US" sz="2200" dirty="0" smtClean="0">
                <a:solidFill>
                  <a:srgbClr val="C705CC"/>
                </a:solidFill>
                <a:latin typeface="宋体" panose="02010600030101010101" pitchFamily="2" charset="-122"/>
                <a:ea typeface="宋体" panose="02010600030101010101" pitchFamily="2" charset="-122"/>
              </a:rPr>
              <a:t>当前指令</a:t>
            </a:r>
            <a:r>
              <a:rPr lang="zh-CN" altLang="en-US" sz="2200" dirty="0" smtClean="0">
                <a:latin typeface="宋体" panose="02010600030101010101" pitchFamily="2" charset="-122"/>
                <a:ea typeface="宋体" panose="02010600030101010101" pitchFamily="2" charset="-122"/>
              </a:rPr>
              <a:t>的保留站或者缓冲器单元编号；</a:t>
            </a:r>
            <a:endParaRPr lang="en-US" altLang="zh-CN" sz="2200" dirty="0">
              <a:latin typeface="宋体" panose="02010600030101010101" pitchFamily="2" charset="-122"/>
              <a:ea typeface="宋体" panose="02010600030101010101" pitchFamily="2" charset="-122"/>
            </a:endParaRPr>
          </a:p>
          <a:p>
            <a:pPr marL="1085850" lvl="1" indent="-457200" eaLnBrk="1" hangingPunct="1">
              <a:lnSpc>
                <a:spcPct val="100000"/>
              </a:lnSpc>
            </a:pPr>
            <a:r>
              <a:rPr lang="en-US" altLang="zh-CN" sz="2200" dirty="0" err="1" smtClean="0">
                <a:solidFill>
                  <a:srgbClr val="D60093"/>
                </a:solidFill>
                <a:latin typeface="宋体" panose="02010600030101010101" pitchFamily="2" charset="-122"/>
                <a:ea typeface="宋体" panose="02010600030101010101" pitchFamily="2" charset="-122"/>
              </a:rPr>
              <a:t>rs</a:t>
            </a:r>
            <a:r>
              <a:rPr lang="zh-CN" altLang="en-US" sz="2200" dirty="0" smtClean="0">
                <a:solidFill>
                  <a:srgbClr val="D60093"/>
                </a:solidFill>
                <a:latin typeface="宋体" panose="02010600030101010101" pitchFamily="2" charset="-122"/>
                <a:ea typeface="宋体" panose="02010600030101010101" pitchFamily="2" charset="-122"/>
              </a:rPr>
              <a:t>、</a:t>
            </a:r>
            <a:r>
              <a:rPr lang="en-US" altLang="zh-CN" sz="2200" dirty="0" err="1" smtClean="0">
                <a:solidFill>
                  <a:srgbClr val="D60093"/>
                </a:solidFill>
                <a:latin typeface="宋体" panose="02010600030101010101" pitchFamily="2" charset="-122"/>
                <a:ea typeface="宋体" panose="02010600030101010101" pitchFamily="2" charset="-122"/>
              </a:rPr>
              <a:t>rt</a:t>
            </a:r>
            <a:r>
              <a:rPr lang="zh-CN" altLang="en-US" sz="2200" dirty="0" smtClean="0">
                <a:solidFill>
                  <a:srgbClr val="D60093"/>
                </a:solidFill>
                <a:latin typeface="宋体" panose="02010600030101010101" pitchFamily="2" charset="-122"/>
                <a:ea typeface="宋体" panose="02010600030101010101" pitchFamily="2" charset="-122"/>
              </a:rPr>
              <a:t>、</a:t>
            </a:r>
            <a:r>
              <a:rPr lang="en-US" altLang="zh-CN" sz="2200" dirty="0" err="1" smtClean="0">
                <a:solidFill>
                  <a:srgbClr val="D60093"/>
                </a:solidFill>
                <a:latin typeface="宋体" panose="02010600030101010101" pitchFamily="2" charset="-122"/>
                <a:ea typeface="宋体" panose="02010600030101010101" pitchFamily="2" charset="-122"/>
              </a:rPr>
              <a:t>rd</a:t>
            </a:r>
            <a:r>
              <a:rPr lang="zh-CN" altLang="en-US" sz="2200" dirty="0" smtClean="0">
                <a:solidFill>
                  <a:srgbClr val="D60093"/>
                </a:solidFill>
                <a:latin typeface="宋体" panose="02010600030101010101" pitchFamily="2" charset="-122"/>
                <a:ea typeface="宋体" panose="02010600030101010101" pitchFamily="2" charset="-122"/>
              </a:rPr>
              <a:t>：</a:t>
            </a:r>
            <a:r>
              <a:rPr lang="zh-CN" altLang="en-US" sz="2200" dirty="0" smtClean="0">
                <a:latin typeface="宋体" panose="02010600030101010101" pitchFamily="2" charset="-122"/>
                <a:ea typeface="宋体" panose="02010600030101010101" pitchFamily="2" charset="-122"/>
              </a:rPr>
              <a:t>参考</a:t>
            </a:r>
            <a:r>
              <a:rPr lang="en-US" altLang="zh-CN" sz="2200" dirty="0" smtClean="0">
                <a:latin typeface="宋体" panose="02010600030101010101" pitchFamily="2" charset="-122"/>
                <a:ea typeface="宋体" panose="02010600030101010101" pitchFamily="2" charset="-122"/>
              </a:rPr>
              <a:t>MIPS</a:t>
            </a:r>
            <a:r>
              <a:rPr lang="zh-CN" altLang="en-US" sz="2200" dirty="0" smtClean="0">
                <a:latin typeface="宋体" panose="02010600030101010101" pitchFamily="2" charset="-122"/>
                <a:ea typeface="宋体" panose="02010600030101010101" pitchFamily="2" charset="-122"/>
              </a:rPr>
              <a:t>指令系统字段含义；</a:t>
            </a:r>
          </a:p>
          <a:p>
            <a:pPr marL="1085850" lvl="1" indent="-457200" eaLnBrk="1" hangingPunct="1">
              <a:lnSpc>
                <a:spcPct val="100000"/>
              </a:lnSpc>
            </a:pPr>
            <a:r>
              <a:rPr lang="en-US" altLang="zh-CN" sz="2200" dirty="0" err="1" smtClean="0">
                <a:solidFill>
                  <a:srgbClr val="D60093"/>
                </a:solidFill>
                <a:latin typeface="宋体" panose="02010600030101010101" pitchFamily="2" charset="-122"/>
                <a:ea typeface="宋体" panose="02010600030101010101" pitchFamily="2" charset="-122"/>
              </a:rPr>
              <a:t>imm</a:t>
            </a:r>
            <a:r>
              <a:rPr lang="zh-CN" altLang="en-US" sz="2200" dirty="0" smtClean="0">
                <a:solidFill>
                  <a:srgbClr val="D60093"/>
                </a:solidFill>
                <a:latin typeface="宋体" panose="02010600030101010101" pitchFamily="2" charset="-122"/>
                <a:ea typeface="宋体" panose="02010600030101010101" pitchFamily="2" charset="-122"/>
              </a:rPr>
              <a:t>：</a:t>
            </a:r>
            <a:r>
              <a:rPr lang="zh-CN" altLang="en-US" sz="2200" dirty="0" smtClean="0">
                <a:latin typeface="宋体" panose="02010600030101010101" pitchFamily="2" charset="-122"/>
                <a:ea typeface="宋体" panose="02010600030101010101" pitchFamily="2" charset="-122"/>
              </a:rPr>
              <a:t>符号扩展后的立即数；			</a:t>
            </a:r>
          </a:p>
          <a:p>
            <a:pPr marL="1085850" lvl="1" indent="-457200" eaLnBrk="1" hangingPunct="1">
              <a:lnSpc>
                <a:spcPct val="100000"/>
              </a:lnSpc>
            </a:pPr>
            <a:r>
              <a:rPr lang="en-US" altLang="zh-CN" sz="2200" dirty="0" smtClean="0">
                <a:solidFill>
                  <a:srgbClr val="D60093"/>
                </a:solidFill>
                <a:latin typeface="宋体" panose="02010600030101010101" pitchFamily="2" charset="-122"/>
                <a:ea typeface="宋体" panose="02010600030101010101" pitchFamily="2" charset="-122"/>
              </a:rPr>
              <a:t>RS</a:t>
            </a:r>
            <a:r>
              <a:rPr lang="zh-CN" altLang="en-US" sz="2200" dirty="0" smtClean="0">
                <a:solidFill>
                  <a:srgbClr val="D60093"/>
                </a:solidFill>
                <a:latin typeface="宋体" panose="02010600030101010101" pitchFamily="2" charset="-122"/>
                <a:ea typeface="宋体" panose="02010600030101010101" pitchFamily="2" charset="-122"/>
              </a:rPr>
              <a:t>：</a:t>
            </a:r>
            <a:r>
              <a:rPr lang="zh-CN" altLang="en-US" sz="2200" dirty="0" smtClean="0">
                <a:latin typeface="宋体" panose="02010600030101010101" pitchFamily="2" charset="-122"/>
                <a:ea typeface="宋体" panose="02010600030101010101" pitchFamily="2" charset="-122"/>
              </a:rPr>
              <a:t>保留站；</a:t>
            </a:r>
          </a:p>
          <a:p>
            <a:pPr marL="1085850" lvl="1" indent="-457200" eaLnBrk="1" hangingPunct="1">
              <a:lnSpc>
                <a:spcPct val="100000"/>
              </a:lnSpc>
            </a:pPr>
            <a:r>
              <a:rPr lang="en-US" altLang="zh-CN" sz="2200" dirty="0" smtClean="0">
                <a:solidFill>
                  <a:srgbClr val="D60093"/>
                </a:solidFill>
                <a:latin typeface="宋体" panose="02010600030101010101" pitchFamily="2" charset="-122"/>
                <a:ea typeface="宋体" panose="02010600030101010101" pitchFamily="2" charset="-122"/>
              </a:rPr>
              <a:t>result</a:t>
            </a:r>
            <a:r>
              <a:rPr lang="zh-CN" altLang="en-US" sz="2200" dirty="0" smtClean="0">
                <a:solidFill>
                  <a:srgbClr val="D60093"/>
                </a:solidFill>
                <a:latin typeface="宋体" panose="02010600030101010101" pitchFamily="2" charset="-122"/>
                <a:ea typeface="宋体" panose="02010600030101010101" pitchFamily="2" charset="-122"/>
              </a:rPr>
              <a:t>：</a:t>
            </a:r>
            <a:r>
              <a:rPr lang="zh-CN" altLang="en-US" sz="2200" dirty="0" smtClean="0">
                <a:latin typeface="宋体" panose="02010600030101010101" pitchFamily="2" charset="-122"/>
                <a:ea typeface="宋体" panose="02010600030101010101" pitchFamily="2" charset="-122"/>
              </a:rPr>
              <a:t>浮点部件或</a:t>
            </a:r>
            <a:r>
              <a:rPr lang="en-US" altLang="zh-CN" sz="2200" dirty="0" smtClean="0">
                <a:latin typeface="宋体" panose="02010600030101010101" pitchFamily="2" charset="-122"/>
                <a:ea typeface="宋体" panose="02010600030101010101" pitchFamily="2" charset="-122"/>
              </a:rPr>
              <a:t>load</a:t>
            </a:r>
            <a:r>
              <a:rPr lang="zh-CN" altLang="en-US" sz="2200" dirty="0" smtClean="0">
                <a:latin typeface="宋体" panose="02010600030101010101" pitchFamily="2" charset="-122"/>
                <a:ea typeface="宋体" panose="02010600030101010101" pitchFamily="2" charset="-122"/>
              </a:rPr>
              <a:t>缓冲器返回的结果； </a:t>
            </a:r>
          </a:p>
          <a:p>
            <a:pPr marL="1085850" lvl="1" indent="-457200" eaLnBrk="1" hangingPunct="1">
              <a:lnSpc>
                <a:spcPct val="100000"/>
              </a:lnSpc>
            </a:pPr>
            <a:r>
              <a:rPr lang="en-US" altLang="zh-CN" sz="2200" dirty="0" smtClean="0">
                <a:solidFill>
                  <a:srgbClr val="D60093"/>
                </a:solidFill>
                <a:latin typeface="宋体" panose="02010600030101010101" pitchFamily="2" charset="-122"/>
                <a:ea typeface="宋体" panose="02010600030101010101" pitchFamily="2" charset="-122"/>
              </a:rPr>
              <a:t>Qi</a:t>
            </a:r>
            <a:r>
              <a:rPr lang="zh-CN" altLang="en-US" sz="2200" dirty="0" smtClean="0">
                <a:solidFill>
                  <a:srgbClr val="D60093"/>
                </a:solidFill>
                <a:latin typeface="宋体" panose="02010600030101010101" pitchFamily="2" charset="-122"/>
                <a:ea typeface="宋体" panose="02010600030101010101" pitchFamily="2" charset="-122"/>
              </a:rPr>
              <a:t>：</a:t>
            </a:r>
            <a:r>
              <a:rPr lang="zh-CN" altLang="en-US" sz="2200" dirty="0" smtClean="0">
                <a:latin typeface="宋体" panose="02010600030101010101" pitchFamily="2" charset="-122"/>
                <a:ea typeface="宋体" panose="02010600030101010101" pitchFamily="2" charset="-122"/>
              </a:rPr>
              <a:t>寄存器状态表；</a:t>
            </a:r>
          </a:p>
          <a:p>
            <a:pPr marL="1085850" lvl="1" indent="-457200" eaLnBrk="1" hangingPunct="1">
              <a:lnSpc>
                <a:spcPct val="100000"/>
              </a:lnSpc>
            </a:pPr>
            <a:r>
              <a:rPr lang="en-US" altLang="zh-CN" sz="2200" dirty="0" err="1" smtClean="0">
                <a:solidFill>
                  <a:srgbClr val="D60093"/>
                </a:solidFill>
                <a:latin typeface="宋体" panose="02010600030101010101" pitchFamily="2" charset="-122"/>
                <a:ea typeface="宋体" panose="02010600030101010101" pitchFamily="2" charset="-122"/>
              </a:rPr>
              <a:t>Regs</a:t>
            </a:r>
            <a:r>
              <a:rPr lang="en-US" altLang="zh-CN" sz="2200" dirty="0" smtClean="0">
                <a:solidFill>
                  <a:srgbClr val="D60093"/>
                </a:solidFill>
                <a:latin typeface="宋体" panose="02010600030101010101" pitchFamily="2" charset="-122"/>
                <a:ea typeface="宋体" panose="02010600030101010101" pitchFamily="2" charset="-122"/>
              </a:rPr>
              <a:t>[ ]</a:t>
            </a:r>
            <a:r>
              <a:rPr lang="zh-CN" altLang="en-US" sz="2200" dirty="0" smtClean="0">
                <a:solidFill>
                  <a:srgbClr val="D60093"/>
                </a:solidFill>
                <a:latin typeface="宋体" panose="02010600030101010101" pitchFamily="2" charset="-122"/>
                <a:ea typeface="宋体" panose="02010600030101010101" pitchFamily="2" charset="-122"/>
              </a:rPr>
              <a:t>：</a:t>
            </a:r>
            <a:r>
              <a:rPr lang="zh-CN" altLang="en-US" sz="2200" dirty="0" smtClean="0">
                <a:latin typeface="宋体" panose="02010600030101010101" pitchFamily="2" charset="-122"/>
                <a:ea typeface="宋体" panose="02010600030101010101" pitchFamily="2" charset="-122"/>
              </a:rPr>
              <a:t>寄存器组；</a:t>
            </a:r>
            <a:endParaRPr lang="en-US" altLang="zh-CN" sz="2200" dirty="0" smtClean="0">
              <a:latin typeface="宋体" panose="02010600030101010101" pitchFamily="2" charset="-122"/>
              <a:ea typeface="宋体" panose="02010600030101010101" pitchFamily="2" charset="-122"/>
            </a:endParaRPr>
          </a:p>
          <a:p>
            <a:pPr marL="1085850" lvl="1" indent="-457200" eaLnBrk="1" hangingPunct="1">
              <a:lnSpc>
                <a:spcPct val="100000"/>
              </a:lnSpc>
            </a:pPr>
            <a:r>
              <a:rPr lang="en-US" altLang="zh-CN" sz="2200" dirty="0" smtClean="0">
                <a:solidFill>
                  <a:srgbClr val="C705CC"/>
                </a:solidFill>
                <a:latin typeface="宋体" panose="02010600030101010101" pitchFamily="2" charset="-122"/>
                <a:ea typeface="宋体" panose="02010600030101010101" pitchFamily="2" charset="-122"/>
              </a:rPr>
              <a:t>Op:</a:t>
            </a:r>
            <a:r>
              <a:rPr lang="zh-CN" altLang="en-US" sz="2200" dirty="0" smtClean="0">
                <a:latin typeface="宋体" panose="02010600030101010101" pitchFamily="2" charset="-122"/>
                <a:ea typeface="宋体" panose="02010600030101010101" pitchFamily="2" charset="-122"/>
              </a:rPr>
              <a:t>当前指令的操作码</a:t>
            </a:r>
          </a:p>
        </p:txBody>
      </p:sp>
      <p:sp>
        <p:nvSpPr>
          <p:cNvPr id="230404" name="Text Box 4"/>
          <p:cNvSpPr txBox="1">
            <a:spLocks noChangeArrowheads="1"/>
          </p:cNvSpPr>
          <p:nvPr/>
        </p:nvSpPr>
        <p:spPr bwMode="auto">
          <a:xfrm>
            <a:off x="1063078" y="273940"/>
            <a:ext cx="6840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50000"/>
              </a:spcBef>
              <a:spcAft>
                <a:spcPct val="0"/>
              </a:spcAft>
              <a:buClrTx/>
              <a:buNone/>
            </a:pPr>
            <a:r>
              <a:rPr lang="en-US" altLang="zh-CN" b="1" dirty="0" err="1">
                <a:solidFill>
                  <a:srgbClr val="006600"/>
                </a:solidFill>
                <a:latin typeface="黑体" panose="02010609060101010101" pitchFamily="49" charset="-122"/>
              </a:rPr>
              <a:t>Tomasulo</a:t>
            </a:r>
            <a:r>
              <a:rPr lang="zh-CN" altLang="en-US" b="1" dirty="0">
                <a:solidFill>
                  <a:srgbClr val="006600"/>
                </a:solidFill>
              </a:rPr>
              <a:t>具体</a:t>
            </a:r>
            <a:r>
              <a:rPr lang="zh-CN" altLang="en-US" b="1" dirty="0" smtClean="0">
                <a:solidFill>
                  <a:srgbClr val="006600"/>
                </a:solidFill>
              </a:rPr>
              <a:t>算法详细解读：</a:t>
            </a:r>
            <a:endParaRPr lang="zh-CN" altLang="en-US" b="1" dirty="0">
              <a:solidFill>
                <a:srgbClr val="40458C"/>
              </a:solidFill>
            </a:endParaRPr>
          </a:p>
        </p:txBody>
      </p:sp>
    </p:spTree>
    <p:extLst>
      <p:ext uri="{BB962C8B-B14F-4D97-AF65-F5344CB8AC3E}">
        <p14:creationId xmlns:p14="http://schemas.microsoft.com/office/powerpoint/2010/main" val="13708746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19811" name="Rectangle 3" descr="Rectangle: Click to edit Master text styles&#10;Second level&#10;Third level&#10;Fourth level&#10;Fifth level"/>
          <p:cNvSpPr>
            <a:spLocks noGrp="1" noChangeArrowheads="1"/>
          </p:cNvSpPr>
          <p:nvPr>
            <p:ph idx="1"/>
          </p:nvPr>
        </p:nvSpPr>
        <p:spPr>
          <a:xfrm>
            <a:off x="958271" y="784521"/>
            <a:ext cx="7905750" cy="5157788"/>
          </a:xfrm>
        </p:spPr>
        <p:txBody>
          <a:bodyPr>
            <a:normAutofit/>
          </a:bodyPr>
          <a:lstStyle/>
          <a:p>
            <a:pPr marL="1085850" lvl="1" indent="-457200" eaLnBrk="1" hangingPunct="1">
              <a:lnSpc>
                <a:spcPts val="3000"/>
              </a:lnSpc>
              <a:defRPr/>
            </a:pPr>
            <a:r>
              <a:rPr lang="zh-CN" altLang="en-US" sz="2200" b="1" dirty="0" smtClean="0">
                <a:latin typeface="宋体" panose="02010600030101010101" pitchFamily="2" charset="-122"/>
                <a:ea typeface="宋体" panose="02010600030101010101" pitchFamily="2" charset="-122"/>
              </a:rPr>
              <a:t>与</a:t>
            </a:r>
            <a:r>
              <a:rPr lang="en-US" altLang="zh-CN" sz="2200" b="1" dirty="0" err="1" smtClean="0">
                <a:latin typeface="宋体" panose="02010600030101010101" pitchFamily="2" charset="-122"/>
                <a:ea typeface="宋体" panose="02010600030101010101" pitchFamily="2" charset="-122"/>
              </a:rPr>
              <a:t>rs</a:t>
            </a:r>
            <a:r>
              <a:rPr lang="zh-CN" altLang="en-US" sz="2200" b="1" dirty="0" smtClean="0">
                <a:latin typeface="宋体" panose="02010600030101010101" pitchFamily="2" charset="-122"/>
                <a:ea typeface="宋体" panose="02010600030101010101" pitchFamily="2" charset="-122"/>
              </a:rPr>
              <a:t>对应的保留站字段：</a:t>
            </a:r>
            <a:r>
              <a:rPr lang="en-US" altLang="zh-CN" sz="2200" b="1" dirty="0" err="1" smtClean="0">
                <a:solidFill>
                  <a:srgbClr val="D60093"/>
                </a:solidFill>
                <a:latin typeface="宋体" panose="02010600030101010101" pitchFamily="2" charset="-122"/>
                <a:ea typeface="宋体" panose="02010600030101010101" pitchFamily="2" charset="-122"/>
              </a:rPr>
              <a:t>Vj</a:t>
            </a:r>
            <a:r>
              <a:rPr lang="zh-CN" altLang="en-US" sz="2200" b="1" dirty="0" smtClean="0">
                <a:solidFill>
                  <a:srgbClr val="D60093"/>
                </a:solidFill>
                <a:latin typeface="宋体" panose="02010600030101010101" pitchFamily="2" charset="-122"/>
                <a:ea typeface="宋体" panose="02010600030101010101" pitchFamily="2" charset="-122"/>
              </a:rPr>
              <a:t>，</a:t>
            </a:r>
            <a:r>
              <a:rPr lang="en-US" altLang="zh-CN" sz="2200" b="1" dirty="0" err="1" smtClean="0">
                <a:solidFill>
                  <a:srgbClr val="D60093"/>
                </a:solidFill>
                <a:latin typeface="宋体" panose="02010600030101010101" pitchFamily="2" charset="-122"/>
                <a:ea typeface="宋体" panose="02010600030101010101" pitchFamily="2" charset="-122"/>
              </a:rPr>
              <a:t>Qj</a:t>
            </a:r>
            <a:endParaRPr lang="en-US" altLang="zh-CN" sz="2200" b="1" dirty="0" smtClean="0">
              <a:solidFill>
                <a:srgbClr val="D60093"/>
              </a:solidFill>
              <a:latin typeface="宋体" panose="02010600030101010101" pitchFamily="2" charset="-122"/>
              <a:ea typeface="宋体" panose="02010600030101010101" pitchFamily="2" charset="-122"/>
            </a:endParaRPr>
          </a:p>
          <a:p>
            <a:pPr marL="1085850" lvl="1" indent="-457200" eaLnBrk="1" hangingPunct="1">
              <a:lnSpc>
                <a:spcPts val="3000"/>
              </a:lnSpc>
              <a:defRPr/>
            </a:pPr>
            <a:r>
              <a:rPr lang="zh-CN" altLang="en-US" sz="2200" b="1" dirty="0" smtClean="0">
                <a:latin typeface="宋体" panose="02010600030101010101" pitchFamily="2" charset="-122"/>
                <a:ea typeface="宋体" panose="02010600030101010101" pitchFamily="2" charset="-122"/>
              </a:rPr>
              <a:t>与</a:t>
            </a:r>
            <a:r>
              <a:rPr lang="en-US" altLang="zh-CN" sz="2200" b="1" dirty="0" err="1" smtClean="0">
                <a:latin typeface="宋体" panose="02010600030101010101" pitchFamily="2" charset="-122"/>
                <a:ea typeface="宋体" panose="02010600030101010101" pitchFamily="2" charset="-122"/>
              </a:rPr>
              <a:t>rt</a:t>
            </a:r>
            <a:r>
              <a:rPr lang="zh-CN" altLang="en-US" sz="2200" b="1" dirty="0" smtClean="0">
                <a:latin typeface="宋体" panose="02010600030101010101" pitchFamily="2" charset="-122"/>
                <a:ea typeface="宋体" panose="02010600030101010101" pitchFamily="2" charset="-122"/>
              </a:rPr>
              <a:t>对应的保留站字段：</a:t>
            </a:r>
            <a:r>
              <a:rPr lang="en-US" altLang="zh-CN" sz="2200" b="1" dirty="0" err="1" smtClean="0">
                <a:solidFill>
                  <a:srgbClr val="D60093"/>
                </a:solidFill>
                <a:latin typeface="宋体" panose="02010600030101010101" pitchFamily="2" charset="-122"/>
                <a:ea typeface="宋体" panose="02010600030101010101" pitchFamily="2" charset="-122"/>
              </a:rPr>
              <a:t>Vk</a:t>
            </a:r>
            <a:r>
              <a:rPr lang="zh-CN" altLang="en-US" sz="2200" b="1" dirty="0" smtClean="0">
                <a:solidFill>
                  <a:srgbClr val="D60093"/>
                </a:solidFill>
                <a:latin typeface="宋体" panose="02010600030101010101" pitchFamily="2" charset="-122"/>
                <a:ea typeface="宋体" panose="02010600030101010101" pitchFamily="2" charset="-122"/>
              </a:rPr>
              <a:t>，</a:t>
            </a:r>
            <a:r>
              <a:rPr lang="en-US" altLang="zh-CN" sz="2200" b="1" dirty="0" err="1" smtClean="0">
                <a:solidFill>
                  <a:srgbClr val="D60093"/>
                </a:solidFill>
                <a:latin typeface="宋体" panose="02010600030101010101" pitchFamily="2" charset="-122"/>
                <a:ea typeface="宋体" panose="02010600030101010101" pitchFamily="2" charset="-122"/>
              </a:rPr>
              <a:t>Qk</a:t>
            </a:r>
            <a:endParaRPr lang="en-US" altLang="zh-CN" sz="2200" b="1" dirty="0" smtClean="0">
              <a:solidFill>
                <a:srgbClr val="D60093"/>
              </a:solidFill>
              <a:latin typeface="宋体" panose="02010600030101010101" pitchFamily="2" charset="-122"/>
              <a:ea typeface="宋体" panose="02010600030101010101" pitchFamily="2" charset="-122"/>
            </a:endParaRPr>
          </a:p>
          <a:p>
            <a:pPr marL="1085850" lvl="1" indent="-457200" eaLnBrk="1" hangingPunct="1">
              <a:lnSpc>
                <a:spcPts val="3000"/>
              </a:lnSpc>
              <a:defRPr/>
            </a:pPr>
            <a:r>
              <a:rPr lang="en-US" altLang="zh-CN" sz="2200" b="1" dirty="0" smtClean="0">
                <a:solidFill>
                  <a:schemeClr val="bg2">
                    <a:lumMod val="50000"/>
                  </a:schemeClr>
                </a:solidFill>
                <a:latin typeface="宋体" panose="02010600030101010101" pitchFamily="2" charset="-122"/>
                <a:ea typeface="宋体" panose="02010600030101010101" pitchFamily="2" charset="-122"/>
              </a:rPr>
              <a:t>Load</a:t>
            </a:r>
            <a:r>
              <a:rPr lang="zh-CN" altLang="en-US" sz="2200" b="1" dirty="0" smtClean="0">
                <a:solidFill>
                  <a:schemeClr val="bg2">
                    <a:lumMod val="50000"/>
                  </a:schemeClr>
                </a:solidFill>
                <a:latin typeface="宋体" panose="02010600030101010101" pitchFamily="2" charset="-122"/>
                <a:ea typeface="宋体" panose="02010600030101010101" pitchFamily="2" charset="-122"/>
              </a:rPr>
              <a:t>指令：</a:t>
            </a:r>
            <a:r>
              <a:rPr lang="en-US" altLang="zh-CN" sz="2200" b="1" dirty="0" err="1" smtClean="0">
                <a:solidFill>
                  <a:schemeClr val="bg2">
                    <a:lumMod val="50000"/>
                  </a:schemeClr>
                </a:solidFill>
                <a:latin typeface="宋体" panose="02010600030101010101" pitchFamily="2" charset="-122"/>
                <a:ea typeface="宋体" panose="02010600030101010101" pitchFamily="2" charset="-122"/>
              </a:rPr>
              <a:t>rt</a:t>
            </a:r>
            <a:r>
              <a:rPr lang="zh-CN" altLang="en-US" sz="2200" b="1" dirty="0" smtClean="0">
                <a:solidFill>
                  <a:schemeClr val="bg2">
                    <a:lumMod val="50000"/>
                  </a:schemeClr>
                </a:solidFill>
                <a:latin typeface="宋体" panose="02010600030101010101" pitchFamily="2" charset="-122"/>
                <a:ea typeface="宋体" panose="02010600030101010101" pitchFamily="2" charset="-122"/>
              </a:rPr>
              <a:t>是保存所取数据的寄存器号</a:t>
            </a:r>
            <a:endParaRPr lang="en-US" altLang="zh-CN" sz="2200" b="1" dirty="0" smtClean="0">
              <a:solidFill>
                <a:schemeClr val="bg2">
                  <a:lumMod val="50000"/>
                </a:schemeClr>
              </a:solidFill>
              <a:latin typeface="宋体" panose="02010600030101010101" pitchFamily="2" charset="-122"/>
              <a:ea typeface="宋体" panose="02010600030101010101" pitchFamily="2" charset="-122"/>
            </a:endParaRPr>
          </a:p>
          <a:p>
            <a:pPr marL="1085850" lvl="1" indent="-457200" eaLnBrk="1" hangingPunct="1">
              <a:lnSpc>
                <a:spcPts val="3000"/>
              </a:lnSpc>
              <a:defRPr/>
            </a:pPr>
            <a:r>
              <a:rPr lang="en-US" altLang="zh-CN" sz="2200" b="1" dirty="0" smtClean="0">
                <a:solidFill>
                  <a:schemeClr val="bg2">
                    <a:lumMod val="50000"/>
                  </a:schemeClr>
                </a:solidFill>
                <a:latin typeface="宋体" panose="02010600030101010101" pitchFamily="2" charset="-122"/>
                <a:ea typeface="宋体" panose="02010600030101010101" pitchFamily="2" charset="-122"/>
              </a:rPr>
              <a:t>Store</a:t>
            </a:r>
            <a:r>
              <a:rPr lang="zh-CN" altLang="en-US" sz="2200" b="1" dirty="0" smtClean="0">
                <a:solidFill>
                  <a:schemeClr val="bg2">
                    <a:lumMod val="50000"/>
                  </a:schemeClr>
                </a:solidFill>
                <a:latin typeface="宋体" panose="02010600030101010101" pitchFamily="2" charset="-122"/>
                <a:ea typeface="宋体" panose="02010600030101010101" pitchFamily="2" charset="-122"/>
              </a:rPr>
              <a:t>指令：</a:t>
            </a:r>
            <a:r>
              <a:rPr lang="en-US" altLang="zh-CN" sz="2200" b="1" dirty="0" err="1" smtClean="0">
                <a:solidFill>
                  <a:schemeClr val="bg2">
                    <a:lumMod val="50000"/>
                  </a:schemeClr>
                </a:solidFill>
                <a:latin typeface="宋体" panose="02010600030101010101" pitchFamily="2" charset="-122"/>
                <a:ea typeface="宋体" panose="02010600030101010101" pitchFamily="2" charset="-122"/>
              </a:rPr>
              <a:t>rt</a:t>
            </a:r>
            <a:r>
              <a:rPr lang="zh-CN" altLang="en-US" sz="2200" b="1" dirty="0" smtClean="0">
                <a:solidFill>
                  <a:schemeClr val="bg2">
                    <a:lumMod val="50000"/>
                  </a:schemeClr>
                </a:solidFill>
                <a:latin typeface="宋体" panose="02010600030101010101" pitchFamily="2" charset="-122"/>
                <a:ea typeface="宋体" panose="02010600030101010101" pitchFamily="2" charset="-122"/>
              </a:rPr>
              <a:t>是保存所要存储的数据的寄存器号</a:t>
            </a:r>
            <a:endParaRPr lang="en-US" altLang="zh-CN" sz="2200" b="1" dirty="0" smtClean="0">
              <a:solidFill>
                <a:schemeClr val="bg2">
                  <a:lumMod val="50000"/>
                </a:schemeClr>
              </a:solidFill>
              <a:latin typeface="宋体" panose="02010600030101010101" pitchFamily="2" charset="-122"/>
              <a:ea typeface="宋体" panose="02010600030101010101" pitchFamily="2" charset="-122"/>
            </a:endParaRPr>
          </a:p>
          <a:p>
            <a:pPr marL="1085850" lvl="1" indent="-457200" eaLnBrk="1" hangingPunct="1">
              <a:lnSpc>
                <a:spcPts val="3000"/>
              </a:lnSpc>
              <a:defRPr/>
            </a:pPr>
            <a:r>
              <a:rPr lang="en-US" altLang="zh-CN" sz="2200" b="1" dirty="0" smtClean="0">
                <a:solidFill>
                  <a:srgbClr val="9933FF"/>
                </a:solidFill>
                <a:latin typeface="宋体" panose="02010600030101010101" pitchFamily="2" charset="-122"/>
                <a:ea typeface="宋体" panose="02010600030101010101" pitchFamily="2" charset="-122"/>
              </a:rPr>
              <a:t>Qi</a:t>
            </a:r>
            <a:r>
              <a:rPr lang="zh-CN" altLang="en-US" sz="2200" b="1" dirty="0" smtClean="0">
                <a:solidFill>
                  <a:srgbClr val="9933FF"/>
                </a:solidFill>
                <a:latin typeface="宋体" panose="02010600030101010101" pitchFamily="2" charset="-122"/>
                <a:ea typeface="宋体" panose="02010600030101010101" pitchFamily="2" charset="-122"/>
              </a:rPr>
              <a:t>、</a:t>
            </a:r>
            <a:r>
              <a:rPr lang="en-US" altLang="zh-CN" sz="2200" b="1" dirty="0" err="1" smtClean="0">
                <a:solidFill>
                  <a:srgbClr val="9933FF"/>
                </a:solidFill>
                <a:latin typeface="宋体" panose="02010600030101010101" pitchFamily="2" charset="-122"/>
                <a:ea typeface="宋体" panose="02010600030101010101" pitchFamily="2" charset="-122"/>
              </a:rPr>
              <a:t>Qj</a:t>
            </a:r>
            <a:r>
              <a:rPr lang="zh-CN" altLang="en-US" sz="2200" b="1" dirty="0" smtClean="0">
                <a:solidFill>
                  <a:srgbClr val="9933FF"/>
                </a:solidFill>
                <a:latin typeface="宋体" panose="02010600030101010101" pitchFamily="2" charset="-122"/>
                <a:ea typeface="宋体" panose="02010600030101010101" pitchFamily="2" charset="-122"/>
              </a:rPr>
              <a:t>、</a:t>
            </a:r>
            <a:r>
              <a:rPr lang="en-US" altLang="zh-CN" sz="2200" b="1" dirty="0" err="1" smtClean="0">
                <a:solidFill>
                  <a:srgbClr val="9933FF"/>
                </a:solidFill>
                <a:latin typeface="宋体" panose="02010600030101010101" pitchFamily="2" charset="-122"/>
                <a:ea typeface="宋体" panose="02010600030101010101" pitchFamily="2" charset="-122"/>
              </a:rPr>
              <a:t>Qk</a:t>
            </a:r>
            <a:r>
              <a:rPr lang="zh-CN" altLang="en-US" sz="2200" b="1" dirty="0" smtClean="0">
                <a:latin typeface="宋体" panose="02010600030101010101" pitchFamily="2" charset="-122"/>
                <a:ea typeface="宋体" panose="02010600030101010101" pitchFamily="2" charset="-122"/>
              </a:rPr>
              <a:t>的内容或者为</a:t>
            </a:r>
            <a:r>
              <a:rPr lang="en-US" altLang="zh-CN" sz="2200" b="1" dirty="0" smtClean="0">
                <a:solidFill>
                  <a:srgbClr val="D60093"/>
                </a:solidFill>
                <a:latin typeface="宋体" panose="02010600030101010101" pitchFamily="2" charset="-122"/>
                <a:ea typeface="宋体" panose="02010600030101010101" pitchFamily="2" charset="-122"/>
              </a:rPr>
              <a:t>0</a:t>
            </a:r>
            <a:r>
              <a:rPr lang="zh-CN" altLang="en-US" sz="2200" b="1" dirty="0" smtClean="0">
                <a:latin typeface="宋体" panose="02010600030101010101" pitchFamily="2" charset="-122"/>
                <a:ea typeface="宋体" panose="02010600030101010101" pitchFamily="2" charset="-122"/>
              </a:rPr>
              <a:t>，或者是一个大于</a:t>
            </a:r>
            <a:r>
              <a:rPr lang="en-US" altLang="zh-CN" sz="2200" b="1" dirty="0" smtClean="0">
                <a:solidFill>
                  <a:srgbClr val="D60093"/>
                </a:solidFill>
                <a:latin typeface="宋体" panose="02010600030101010101" pitchFamily="2" charset="-122"/>
                <a:ea typeface="宋体" panose="02010600030101010101" pitchFamily="2" charset="-122"/>
              </a:rPr>
              <a:t>0</a:t>
            </a:r>
            <a:r>
              <a:rPr lang="zh-CN" altLang="en-US" sz="2200" b="1" dirty="0" smtClean="0">
                <a:latin typeface="宋体" panose="02010600030101010101" pitchFamily="2" charset="-122"/>
                <a:ea typeface="宋体" panose="02010600030101010101" pitchFamily="2" charset="-122"/>
              </a:rPr>
              <a:t>的整数。</a:t>
            </a:r>
          </a:p>
          <a:p>
            <a:pPr lvl="2" eaLnBrk="1" hangingPunct="1">
              <a:lnSpc>
                <a:spcPts val="3000"/>
              </a:lnSpc>
              <a:defRPr/>
            </a:pPr>
            <a:r>
              <a:rPr lang="en-US" altLang="zh-CN" sz="2200" dirty="0" smtClean="0">
                <a:solidFill>
                  <a:srgbClr val="9933FF"/>
                </a:solidFill>
                <a:latin typeface="宋体" panose="02010600030101010101" pitchFamily="2" charset="-122"/>
                <a:ea typeface="宋体" panose="02010600030101010101" pitchFamily="2" charset="-122"/>
              </a:rPr>
              <a:t>Qi</a:t>
            </a:r>
            <a:r>
              <a:rPr lang="zh-CN" altLang="en-US" sz="2200" dirty="0" smtClean="0">
                <a:latin typeface="宋体" panose="02010600030101010101" pitchFamily="2" charset="-122"/>
                <a:ea typeface="宋体" panose="02010600030101010101" pitchFamily="2" charset="-122"/>
              </a:rPr>
              <a:t>为</a:t>
            </a:r>
            <a:r>
              <a:rPr lang="en-US" altLang="zh-CN" sz="2200" dirty="0" smtClean="0">
                <a:solidFill>
                  <a:srgbClr val="D60093"/>
                </a:solidFill>
                <a:latin typeface="宋体" panose="02010600030101010101" pitchFamily="2" charset="-122"/>
                <a:ea typeface="宋体" panose="02010600030101010101" pitchFamily="2" charset="-122"/>
              </a:rPr>
              <a:t>0</a:t>
            </a:r>
            <a:r>
              <a:rPr lang="zh-CN" altLang="en-US" sz="2200" dirty="0" smtClean="0">
                <a:latin typeface="宋体" panose="02010600030101010101" pitchFamily="2" charset="-122"/>
                <a:ea typeface="宋体" panose="02010600030101010101" pitchFamily="2" charset="-122"/>
              </a:rPr>
              <a:t>表示相应寄存器中的数据就绪。</a:t>
            </a:r>
          </a:p>
          <a:p>
            <a:pPr lvl="2" eaLnBrk="1" hangingPunct="1">
              <a:lnSpc>
                <a:spcPts val="3000"/>
              </a:lnSpc>
              <a:defRPr/>
            </a:pPr>
            <a:r>
              <a:rPr lang="en-US" altLang="zh-CN" sz="2200" dirty="0" err="1" smtClean="0">
                <a:solidFill>
                  <a:srgbClr val="9933FF"/>
                </a:solidFill>
                <a:latin typeface="宋体" panose="02010600030101010101" pitchFamily="2" charset="-122"/>
                <a:ea typeface="宋体" panose="02010600030101010101" pitchFamily="2" charset="-122"/>
              </a:rPr>
              <a:t>Qj</a:t>
            </a:r>
            <a:r>
              <a:rPr lang="zh-CN" altLang="en-US" sz="2200" dirty="0" smtClean="0">
                <a:solidFill>
                  <a:srgbClr val="9933FF"/>
                </a:solidFill>
                <a:latin typeface="宋体" panose="02010600030101010101" pitchFamily="2" charset="-122"/>
                <a:ea typeface="宋体" panose="02010600030101010101" pitchFamily="2" charset="-122"/>
              </a:rPr>
              <a:t>、</a:t>
            </a:r>
            <a:r>
              <a:rPr lang="en-US" altLang="zh-CN" sz="2200" dirty="0" err="1" smtClean="0">
                <a:solidFill>
                  <a:srgbClr val="9933FF"/>
                </a:solidFill>
                <a:latin typeface="宋体" panose="02010600030101010101" pitchFamily="2" charset="-122"/>
                <a:ea typeface="宋体" panose="02010600030101010101" pitchFamily="2" charset="-122"/>
              </a:rPr>
              <a:t>Qk</a:t>
            </a:r>
            <a:r>
              <a:rPr lang="zh-CN" altLang="en-US" sz="2200" dirty="0" smtClean="0">
                <a:latin typeface="宋体" panose="02010600030101010101" pitchFamily="2" charset="-122"/>
                <a:ea typeface="宋体" panose="02010600030101010101" pitchFamily="2" charset="-122"/>
              </a:rPr>
              <a:t>为</a:t>
            </a:r>
            <a:r>
              <a:rPr lang="en-US" altLang="zh-CN" sz="2200" dirty="0" smtClean="0">
                <a:solidFill>
                  <a:srgbClr val="D60093"/>
                </a:solidFill>
                <a:latin typeface="宋体" panose="02010600030101010101" pitchFamily="2" charset="-122"/>
                <a:ea typeface="宋体" panose="02010600030101010101" pitchFamily="2" charset="-122"/>
              </a:rPr>
              <a:t>0</a:t>
            </a:r>
            <a:r>
              <a:rPr lang="zh-CN" altLang="en-US" sz="2200" dirty="0" smtClean="0">
                <a:latin typeface="宋体" panose="02010600030101010101" pitchFamily="2" charset="-122"/>
                <a:ea typeface="宋体" panose="02010600030101010101" pitchFamily="2" charset="-122"/>
              </a:rPr>
              <a:t>表示保留站或缓冲器单元中的</a:t>
            </a:r>
            <a:r>
              <a:rPr lang="en-US" altLang="zh-CN" sz="2200" dirty="0" err="1" smtClean="0">
                <a:solidFill>
                  <a:srgbClr val="9933FF"/>
                </a:solidFill>
                <a:latin typeface="宋体" panose="02010600030101010101" pitchFamily="2" charset="-122"/>
                <a:ea typeface="宋体" panose="02010600030101010101" pitchFamily="2" charset="-122"/>
              </a:rPr>
              <a:t>Vj</a:t>
            </a:r>
            <a:r>
              <a:rPr lang="zh-CN" altLang="en-US" sz="2200" dirty="0" smtClean="0">
                <a:latin typeface="宋体" panose="02010600030101010101" pitchFamily="2" charset="-122"/>
                <a:ea typeface="宋体" panose="02010600030101010101" pitchFamily="2" charset="-122"/>
              </a:rPr>
              <a:t>或</a:t>
            </a:r>
            <a:r>
              <a:rPr lang="en-US" altLang="zh-CN" sz="2200" dirty="0" err="1" smtClean="0">
                <a:solidFill>
                  <a:srgbClr val="9933FF"/>
                </a:solidFill>
                <a:latin typeface="宋体" panose="02010600030101010101" pitchFamily="2" charset="-122"/>
                <a:ea typeface="宋体" panose="02010600030101010101" pitchFamily="2" charset="-122"/>
              </a:rPr>
              <a:t>Vk</a:t>
            </a:r>
            <a:r>
              <a:rPr lang="zh-CN" altLang="en-US" sz="2200" dirty="0" smtClean="0">
                <a:latin typeface="宋体" panose="02010600030101010101" pitchFamily="2" charset="-122"/>
                <a:ea typeface="宋体" panose="02010600030101010101" pitchFamily="2" charset="-122"/>
              </a:rPr>
              <a:t>字</a:t>
            </a:r>
          </a:p>
          <a:p>
            <a:pPr lvl="2" eaLnBrk="1" hangingPunct="1">
              <a:lnSpc>
                <a:spcPts val="3000"/>
              </a:lnSpc>
              <a:buFont typeface="Wingdings" panose="05000000000000000000" pitchFamily="2" charset="2"/>
              <a:buNone/>
              <a:defRPr/>
            </a:pPr>
            <a:r>
              <a:rPr lang="zh-CN" altLang="en-US" sz="2200" dirty="0" smtClean="0">
                <a:latin typeface="宋体" panose="02010600030101010101" pitchFamily="2" charset="-122"/>
                <a:ea typeface="宋体" panose="02010600030101010101" pitchFamily="2" charset="-122"/>
              </a:rPr>
              <a:t>   段中的数据就绪。</a:t>
            </a:r>
          </a:p>
          <a:p>
            <a:pPr lvl="2" eaLnBrk="1" hangingPunct="1">
              <a:lnSpc>
                <a:spcPts val="3000"/>
              </a:lnSpc>
              <a:defRPr/>
            </a:pPr>
            <a:r>
              <a:rPr lang="zh-CN" altLang="en-US" sz="2200" dirty="0" smtClean="0">
                <a:latin typeface="宋体" panose="02010600030101010101" pitchFamily="2" charset="-122"/>
                <a:ea typeface="宋体" panose="02010600030101010101" pitchFamily="2" charset="-122"/>
              </a:rPr>
              <a:t>当它们为</a:t>
            </a:r>
            <a:r>
              <a:rPr lang="zh-CN" altLang="en-US" sz="2200" dirty="0" smtClean="0">
                <a:solidFill>
                  <a:srgbClr val="D60093"/>
                </a:solidFill>
                <a:latin typeface="宋体" panose="02010600030101010101" pitchFamily="2" charset="-122"/>
                <a:ea typeface="宋体" panose="02010600030101010101" pitchFamily="2" charset="-122"/>
              </a:rPr>
              <a:t>正整数</a:t>
            </a:r>
            <a:r>
              <a:rPr lang="zh-CN" altLang="en-US" sz="2200" dirty="0" smtClean="0">
                <a:latin typeface="宋体" panose="02010600030101010101" pitchFamily="2" charset="-122"/>
                <a:ea typeface="宋体" panose="02010600030101010101" pitchFamily="2" charset="-122"/>
              </a:rPr>
              <a:t>时，表示相应的寄存器、保留站或</a:t>
            </a:r>
          </a:p>
          <a:p>
            <a:pPr lvl="2" eaLnBrk="1" hangingPunct="1">
              <a:lnSpc>
                <a:spcPts val="3000"/>
              </a:lnSpc>
              <a:buFont typeface="Wingdings" panose="05000000000000000000" pitchFamily="2" charset="2"/>
              <a:buNone/>
              <a:defRPr/>
            </a:pPr>
            <a:r>
              <a:rPr lang="zh-CN" altLang="en-US" sz="2200" dirty="0" smtClean="0">
                <a:latin typeface="宋体" panose="02010600030101010101" pitchFamily="2" charset="-122"/>
                <a:ea typeface="宋体" panose="02010600030101010101" pitchFamily="2" charset="-122"/>
              </a:rPr>
              <a:t>   缓冲器单元正在等待结果。</a:t>
            </a:r>
          </a:p>
        </p:txBody>
      </p:sp>
    </p:spTree>
    <p:extLst>
      <p:ext uri="{BB962C8B-B14F-4D97-AF65-F5344CB8AC3E}">
        <p14:creationId xmlns:p14="http://schemas.microsoft.com/office/powerpoint/2010/main" val="12828447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32451" name="Rectangle 5"/>
          <p:cNvSpPr>
            <a:spLocks noChangeArrowheads="1"/>
          </p:cNvSpPr>
          <p:nvPr/>
        </p:nvSpPr>
        <p:spPr bwMode="auto">
          <a:xfrm>
            <a:off x="5380098" y="3861529"/>
            <a:ext cx="26693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b="1">
                <a:solidFill>
                  <a:srgbClr val="40458C"/>
                </a:solidFill>
                <a:latin typeface="宋体" panose="02010600030101010101" pitchFamily="2" charset="-122"/>
                <a:ea typeface="宋体" panose="02010600030101010101" pitchFamily="2" charset="-122"/>
              </a:rPr>
              <a:t>S.D F3, 40</a:t>
            </a:r>
            <a:r>
              <a:rPr lang="zh-CN" altLang="en-US" b="1">
                <a:solidFill>
                  <a:srgbClr val="40458C"/>
                </a:solidFill>
                <a:latin typeface="宋体" panose="02010600030101010101" pitchFamily="2" charset="-122"/>
                <a:ea typeface="宋体" panose="02010600030101010101" pitchFamily="2" charset="-122"/>
              </a:rPr>
              <a:t>（</a:t>
            </a:r>
            <a:r>
              <a:rPr lang="en-US" altLang="zh-CN" b="1">
                <a:solidFill>
                  <a:srgbClr val="40458C"/>
                </a:solidFill>
                <a:latin typeface="宋体" panose="02010600030101010101" pitchFamily="2" charset="-122"/>
                <a:ea typeface="宋体" panose="02010600030101010101" pitchFamily="2" charset="-122"/>
              </a:rPr>
              <a:t>R4</a:t>
            </a:r>
            <a:r>
              <a:rPr lang="zh-CN" altLang="en-US" b="1">
                <a:solidFill>
                  <a:srgbClr val="40458C"/>
                </a:solidFill>
                <a:latin typeface="宋体" panose="02010600030101010101" pitchFamily="2" charset="-122"/>
                <a:ea typeface="宋体" panose="02010600030101010101" pitchFamily="2" charset="-122"/>
              </a:rPr>
              <a:t>）</a:t>
            </a:r>
          </a:p>
        </p:txBody>
      </p:sp>
      <p:sp>
        <p:nvSpPr>
          <p:cNvPr id="232452" name="Rectangle 15"/>
          <p:cNvSpPr>
            <a:spLocks noChangeArrowheads="1"/>
          </p:cNvSpPr>
          <p:nvPr/>
        </p:nvSpPr>
        <p:spPr bwMode="auto">
          <a:xfrm>
            <a:off x="5380098" y="1408841"/>
            <a:ext cx="26677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b="1">
                <a:solidFill>
                  <a:srgbClr val="40458C"/>
                </a:solidFill>
                <a:latin typeface="宋体" panose="02010600030101010101" pitchFamily="2" charset="-122"/>
                <a:ea typeface="宋体" panose="02010600030101010101" pitchFamily="2" charset="-122"/>
              </a:rPr>
              <a:t>L.D F2</a:t>
            </a:r>
            <a:r>
              <a:rPr lang="zh-CN" altLang="en-US" b="1">
                <a:solidFill>
                  <a:srgbClr val="40458C"/>
                </a:solidFill>
                <a:latin typeface="宋体" panose="02010600030101010101" pitchFamily="2" charset="-122"/>
                <a:ea typeface="宋体" panose="02010600030101010101" pitchFamily="2" charset="-122"/>
              </a:rPr>
              <a:t>，</a:t>
            </a:r>
            <a:r>
              <a:rPr lang="en-US" altLang="zh-CN" b="1">
                <a:solidFill>
                  <a:srgbClr val="40458C"/>
                </a:solidFill>
                <a:latin typeface="宋体" panose="02010600030101010101" pitchFamily="2" charset="-122"/>
                <a:ea typeface="宋体" panose="02010600030101010101" pitchFamily="2" charset="-122"/>
              </a:rPr>
              <a:t>45</a:t>
            </a:r>
            <a:r>
              <a:rPr lang="zh-CN" altLang="en-US" b="1">
                <a:solidFill>
                  <a:srgbClr val="40458C"/>
                </a:solidFill>
                <a:latin typeface="宋体" panose="02010600030101010101" pitchFamily="2" charset="-122"/>
                <a:ea typeface="宋体" panose="02010600030101010101" pitchFamily="2" charset="-122"/>
              </a:rPr>
              <a:t>（</a:t>
            </a:r>
            <a:r>
              <a:rPr lang="en-US" altLang="zh-CN" b="1">
                <a:solidFill>
                  <a:srgbClr val="40458C"/>
                </a:solidFill>
                <a:latin typeface="宋体" panose="02010600030101010101" pitchFamily="2" charset="-122"/>
                <a:ea typeface="宋体" panose="02010600030101010101" pitchFamily="2" charset="-122"/>
              </a:rPr>
              <a:t>R3</a:t>
            </a:r>
            <a:r>
              <a:rPr lang="zh-CN" altLang="en-US" b="1">
                <a:solidFill>
                  <a:srgbClr val="40458C"/>
                </a:solidFill>
                <a:latin typeface="宋体" panose="02010600030101010101" pitchFamily="2" charset="-122"/>
                <a:ea typeface="宋体" panose="02010600030101010101" pitchFamily="2" charset="-122"/>
              </a:rPr>
              <a:t>）</a:t>
            </a:r>
          </a:p>
        </p:txBody>
      </p:sp>
      <p:grpSp>
        <p:nvGrpSpPr>
          <p:cNvPr id="232453" name="Group 39"/>
          <p:cNvGrpSpPr>
            <a:grpSpLocks/>
          </p:cNvGrpSpPr>
          <p:nvPr/>
        </p:nvGrpSpPr>
        <p:grpSpPr bwMode="auto">
          <a:xfrm>
            <a:off x="6065898" y="1942240"/>
            <a:ext cx="2133600" cy="1524000"/>
            <a:chOff x="3577" y="1498"/>
            <a:chExt cx="1344" cy="960"/>
          </a:xfrm>
        </p:grpSpPr>
        <p:sp>
          <p:nvSpPr>
            <p:cNvPr id="232474" name="Rectangle 16"/>
            <p:cNvSpPr>
              <a:spLocks noChangeArrowheads="1"/>
            </p:cNvSpPr>
            <p:nvPr/>
          </p:nvSpPr>
          <p:spPr bwMode="auto">
            <a:xfrm>
              <a:off x="4345" y="1786"/>
              <a:ext cx="5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宋体" panose="02010600030101010101" pitchFamily="2" charset="-122"/>
                  <a:ea typeface="宋体" panose="02010600030101010101" pitchFamily="2" charset="-122"/>
                </a:rPr>
                <a:t>rs</a:t>
              </a:r>
            </a:p>
          </p:txBody>
        </p:sp>
        <p:sp>
          <p:nvSpPr>
            <p:cNvPr id="232475" name="Line 17"/>
            <p:cNvSpPr>
              <a:spLocks noChangeShapeType="1"/>
            </p:cNvSpPr>
            <p:nvPr/>
          </p:nvSpPr>
          <p:spPr bwMode="auto">
            <a:xfrm flipV="1">
              <a:off x="4489"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宋体" panose="02010600030101010101" pitchFamily="2" charset="-122"/>
                <a:ea typeface="宋体" panose="02010600030101010101" pitchFamily="2" charset="-122"/>
              </a:endParaRPr>
            </a:p>
          </p:txBody>
        </p:sp>
        <p:sp>
          <p:nvSpPr>
            <p:cNvPr id="232476" name="Rectangle 18"/>
            <p:cNvSpPr>
              <a:spLocks noChangeArrowheads="1"/>
            </p:cNvSpPr>
            <p:nvPr/>
          </p:nvSpPr>
          <p:spPr bwMode="auto">
            <a:xfrm>
              <a:off x="3577" y="1786"/>
              <a:ext cx="4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宋体" panose="02010600030101010101" pitchFamily="2" charset="-122"/>
                  <a:ea typeface="宋体" panose="02010600030101010101" pitchFamily="2" charset="-122"/>
                </a:rPr>
                <a:t>rt</a:t>
              </a:r>
            </a:p>
          </p:txBody>
        </p:sp>
        <p:sp>
          <p:nvSpPr>
            <p:cNvPr id="232477" name="Line 19"/>
            <p:cNvSpPr>
              <a:spLocks noChangeShapeType="1"/>
            </p:cNvSpPr>
            <p:nvPr/>
          </p:nvSpPr>
          <p:spPr bwMode="auto">
            <a:xfrm flipV="1">
              <a:off x="3721"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宋体" panose="02010600030101010101" pitchFamily="2" charset="-122"/>
                <a:ea typeface="宋体" panose="02010600030101010101" pitchFamily="2" charset="-122"/>
              </a:endParaRPr>
            </a:p>
          </p:txBody>
        </p:sp>
        <p:sp>
          <p:nvSpPr>
            <p:cNvPr id="232478" name="Rectangle 20"/>
            <p:cNvSpPr>
              <a:spLocks noChangeArrowheads="1"/>
            </p:cNvSpPr>
            <p:nvPr/>
          </p:nvSpPr>
          <p:spPr bwMode="auto">
            <a:xfrm>
              <a:off x="3913" y="1825"/>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b="1">
                  <a:solidFill>
                    <a:srgbClr val="D60093"/>
                  </a:solidFill>
                  <a:latin typeface="宋体" panose="02010600030101010101" pitchFamily="2" charset="-122"/>
                  <a:ea typeface="宋体" panose="02010600030101010101" pitchFamily="2" charset="-122"/>
                </a:rPr>
                <a:t>imm</a:t>
              </a:r>
            </a:p>
          </p:txBody>
        </p:sp>
        <p:sp>
          <p:nvSpPr>
            <p:cNvPr id="232479" name="Line 21"/>
            <p:cNvSpPr>
              <a:spLocks noChangeShapeType="1"/>
            </p:cNvSpPr>
            <p:nvPr/>
          </p:nvSpPr>
          <p:spPr bwMode="auto">
            <a:xfrm flipV="1">
              <a:off x="4105"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宋体" panose="02010600030101010101" pitchFamily="2" charset="-122"/>
                <a:ea typeface="宋体" panose="02010600030101010101" pitchFamily="2" charset="-122"/>
              </a:endParaRPr>
            </a:p>
          </p:txBody>
        </p:sp>
        <p:sp>
          <p:nvSpPr>
            <p:cNvPr id="232480" name="Rectangle 22"/>
            <p:cNvSpPr>
              <a:spLocks noChangeArrowheads="1"/>
            </p:cNvSpPr>
            <p:nvPr/>
          </p:nvSpPr>
          <p:spPr bwMode="auto">
            <a:xfrm>
              <a:off x="4393" y="2122"/>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宋体" panose="02010600030101010101" pitchFamily="2" charset="-122"/>
                  <a:ea typeface="宋体" panose="02010600030101010101" pitchFamily="2" charset="-122"/>
                </a:rPr>
                <a:t>j</a:t>
              </a:r>
            </a:p>
          </p:txBody>
        </p:sp>
        <p:sp>
          <p:nvSpPr>
            <p:cNvPr id="232481" name="Rectangle 23"/>
            <p:cNvSpPr>
              <a:spLocks noChangeArrowheads="1"/>
            </p:cNvSpPr>
            <p:nvPr/>
          </p:nvSpPr>
          <p:spPr bwMode="auto">
            <a:xfrm>
              <a:off x="3625" y="2131"/>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宋体" panose="02010600030101010101" pitchFamily="2" charset="-122"/>
                  <a:ea typeface="宋体" panose="02010600030101010101" pitchFamily="2" charset="-122"/>
                </a:rPr>
                <a:t>k</a:t>
              </a:r>
            </a:p>
          </p:txBody>
        </p:sp>
      </p:grpSp>
      <p:grpSp>
        <p:nvGrpSpPr>
          <p:cNvPr id="232454" name="Group 24"/>
          <p:cNvGrpSpPr>
            <a:grpSpLocks/>
          </p:cNvGrpSpPr>
          <p:nvPr/>
        </p:nvGrpSpPr>
        <p:grpSpPr bwMode="auto">
          <a:xfrm>
            <a:off x="1646298" y="1408840"/>
            <a:ext cx="2971800" cy="2071688"/>
            <a:chOff x="960" y="1248"/>
            <a:chExt cx="1872" cy="1305"/>
          </a:xfrm>
        </p:grpSpPr>
        <p:sp>
          <p:nvSpPr>
            <p:cNvPr id="232465" name="Rectangle 25"/>
            <p:cNvSpPr>
              <a:spLocks noChangeArrowheads="1"/>
            </p:cNvSpPr>
            <p:nvPr/>
          </p:nvSpPr>
          <p:spPr bwMode="auto">
            <a:xfrm>
              <a:off x="960" y="1248"/>
              <a:ext cx="177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b="1">
                  <a:solidFill>
                    <a:srgbClr val="40458C"/>
                  </a:solidFill>
                  <a:latin typeface="宋体" panose="02010600030101010101" pitchFamily="2" charset="-122"/>
                  <a:ea typeface="宋体" panose="02010600030101010101" pitchFamily="2" charset="-122"/>
                </a:rPr>
                <a:t>MUL.D	 F4</a:t>
              </a:r>
              <a:r>
                <a:rPr lang="zh-CN" altLang="en-US" b="1">
                  <a:solidFill>
                    <a:srgbClr val="40458C"/>
                  </a:solidFill>
                  <a:latin typeface="宋体" panose="02010600030101010101" pitchFamily="2" charset="-122"/>
                  <a:ea typeface="宋体" panose="02010600030101010101" pitchFamily="2" charset="-122"/>
                </a:rPr>
                <a:t>，</a:t>
              </a:r>
              <a:r>
                <a:rPr lang="en-US" altLang="zh-CN" b="1">
                  <a:solidFill>
                    <a:srgbClr val="40458C"/>
                  </a:solidFill>
                  <a:latin typeface="宋体" panose="02010600030101010101" pitchFamily="2" charset="-122"/>
                  <a:ea typeface="宋体" panose="02010600030101010101" pitchFamily="2" charset="-122"/>
                </a:rPr>
                <a:t>F0</a:t>
              </a:r>
              <a:r>
                <a:rPr lang="zh-CN" altLang="en-US" b="1">
                  <a:solidFill>
                    <a:srgbClr val="40458C"/>
                  </a:solidFill>
                  <a:latin typeface="宋体" panose="02010600030101010101" pitchFamily="2" charset="-122"/>
                  <a:ea typeface="宋体" panose="02010600030101010101" pitchFamily="2" charset="-122"/>
                </a:rPr>
                <a:t>，</a:t>
              </a:r>
              <a:r>
                <a:rPr lang="en-US" altLang="zh-CN" b="1">
                  <a:solidFill>
                    <a:srgbClr val="40458C"/>
                  </a:solidFill>
                  <a:latin typeface="宋体" panose="02010600030101010101" pitchFamily="2" charset="-122"/>
                  <a:ea typeface="宋体" panose="02010600030101010101" pitchFamily="2" charset="-122"/>
                </a:rPr>
                <a:t>F2</a:t>
              </a:r>
            </a:p>
          </p:txBody>
        </p:sp>
        <p:sp>
          <p:nvSpPr>
            <p:cNvPr id="232466" name="Rectangle 26"/>
            <p:cNvSpPr>
              <a:spLocks noChangeArrowheads="1"/>
            </p:cNvSpPr>
            <p:nvPr/>
          </p:nvSpPr>
          <p:spPr bwMode="auto">
            <a:xfrm>
              <a:off x="2016" y="1881"/>
              <a:ext cx="5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宋体" panose="02010600030101010101" pitchFamily="2" charset="-122"/>
                  <a:ea typeface="宋体" panose="02010600030101010101" pitchFamily="2" charset="-122"/>
                </a:rPr>
                <a:t>rs</a:t>
              </a:r>
            </a:p>
          </p:txBody>
        </p:sp>
        <p:sp>
          <p:nvSpPr>
            <p:cNvPr id="232467" name="Rectangle 27"/>
            <p:cNvSpPr>
              <a:spLocks noChangeArrowheads="1"/>
            </p:cNvSpPr>
            <p:nvPr/>
          </p:nvSpPr>
          <p:spPr bwMode="auto">
            <a:xfrm>
              <a:off x="1584" y="1881"/>
              <a:ext cx="34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宋体" panose="02010600030101010101" pitchFamily="2" charset="-122"/>
                  <a:ea typeface="宋体" panose="02010600030101010101" pitchFamily="2" charset="-122"/>
                </a:rPr>
                <a:t>rd</a:t>
              </a:r>
            </a:p>
          </p:txBody>
        </p:sp>
        <p:sp>
          <p:nvSpPr>
            <p:cNvPr id="232468" name="Rectangle 28"/>
            <p:cNvSpPr>
              <a:spLocks noChangeArrowheads="1"/>
            </p:cNvSpPr>
            <p:nvPr/>
          </p:nvSpPr>
          <p:spPr bwMode="auto">
            <a:xfrm>
              <a:off x="2400" y="1872"/>
              <a:ext cx="4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宋体" panose="02010600030101010101" pitchFamily="2" charset="-122"/>
                  <a:ea typeface="宋体" panose="02010600030101010101" pitchFamily="2" charset="-122"/>
                </a:rPr>
                <a:t>rt</a:t>
              </a:r>
            </a:p>
          </p:txBody>
        </p:sp>
        <p:sp>
          <p:nvSpPr>
            <p:cNvPr id="232469" name="Line 29"/>
            <p:cNvSpPr>
              <a:spLocks noChangeShapeType="1"/>
            </p:cNvSpPr>
            <p:nvPr/>
          </p:nvSpPr>
          <p:spPr bwMode="auto">
            <a:xfrm flipV="1">
              <a:off x="1776" y="1584"/>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宋体" panose="02010600030101010101" pitchFamily="2" charset="-122"/>
                <a:ea typeface="宋体" panose="02010600030101010101" pitchFamily="2" charset="-122"/>
              </a:endParaRPr>
            </a:p>
          </p:txBody>
        </p:sp>
        <p:sp>
          <p:nvSpPr>
            <p:cNvPr id="232470" name="Line 30"/>
            <p:cNvSpPr>
              <a:spLocks noChangeShapeType="1"/>
            </p:cNvSpPr>
            <p:nvPr/>
          </p:nvSpPr>
          <p:spPr bwMode="auto">
            <a:xfrm flipV="1">
              <a:off x="2160" y="1584"/>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宋体" panose="02010600030101010101" pitchFamily="2" charset="-122"/>
                <a:ea typeface="宋体" panose="02010600030101010101" pitchFamily="2" charset="-122"/>
              </a:endParaRPr>
            </a:p>
          </p:txBody>
        </p:sp>
        <p:sp>
          <p:nvSpPr>
            <p:cNvPr id="232471" name="Line 31"/>
            <p:cNvSpPr>
              <a:spLocks noChangeShapeType="1"/>
            </p:cNvSpPr>
            <p:nvPr/>
          </p:nvSpPr>
          <p:spPr bwMode="auto">
            <a:xfrm flipV="1">
              <a:off x="2544" y="1584"/>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宋体" panose="02010600030101010101" pitchFamily="2" charset="-122"/>
                <a:ea typeface="宋体" panose="02010600030101010101" pitchFamily="2" charset="-122"/>
              </a:endParaRPr>
            </a:p>
          </p:txBody>
        </p:sp>
        <p:sp>
          <p:nvSpPr>
            <p:cNvPr id="232472" name="Rectangle 32"/>
            <p:cNvSpPr>
              <a:spLocks noChangeArrowheads="1"/>
            </p:cNvSpPr>
            <p:nvPr/>
          </p:nvSpPr>
          <p:spPr bwMode="auto">
            <a:xfrm>
              <a:off x="2016" y="2208"/>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宋体" panose="02010600030101010101" pitchFamily="2" charset="-122"/>
                  <a:ea typeface="宋体" panose="02010600030101010101" pitchFamily="2" charset="-122"/>
                </a:rPr>
                <a:t>j   k</a:t>
              </a:r>
            </a:p>
          </p:txBody>
        </p:sp>
        <p:sp>
          <p:nvSpPr>
            <p:cNvPr id="232473" name="Rectangle 33"/>
            <p:cNvSpPr>
              <a:spLocks noChangeArrowheads="1"/>
            </p:cNvSpPr>
            <p:nvPr/>
          </p:nvSpPr>
          <p:spPr bwMode="auto">
            <a:xfrm>
              <a:off x="1632" y="2226"/>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宋体" panose="02010600030101010101" pitchFamily="2" charset="-122"/>
                  <a:ea typeface="宋体" panose="02010600030101010101" pitchFamily="2" charset="-122"/>
                </a:rPr>
                <a:t>i</a:t>
              </a:r>
            </a:p>
          </p:txBody>
        </p:sp>
      </p:grpSp>
      <p:sp>
        <p:nvSpPr>
          <p:cNvPr id="232455" name="Text Box 34"/>
          <p:cNvSpPr txBox="1">
            <a:spLocks noChangeArrowheads="1"/>
          </p:cNvSpPr>
          <p:nvPr/>
        </p:nvSpPr>
        <p:spPr bwMode="auto">
          <a:xfrm>
            <a:off x="1287523" y="832578"/>
            <a:ext cx="3816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50000"/>
              </a:spcBef>
              <a:spcAft>
                <a:spcPct val="0"/>
              </a:spcAft>
              <a:buClrTx/>
              <a:buNone/>
            </a:pPr>
            <a:r>
              <a:rPr lang="zh-CN" altLang="en-US" b="1" dirty="0">
                <a:solidFill>
                  <a:srgbClr val="000000"/>
                </a:solidFill>
                <a:latin typeface="宋体" panose="02010600030101010101" pitchFamily="2" charset="-122"/>
                <a:ea typeface="宋体" panose="02010600030101010101" pitchFamily="2" charset="-122"/>
              </a:rPr>
              <a:t>符号说明： （举例）</a:t>
            </a:r>
          </a:p>
        </p:txBody>
      </p:sp>
      <p:grpSp>
        <p:nvGrpSpPr>
          <p:cNvPr id="232456" name="Group 40"/>
          <p:cNvGrpSpPr>
            <a:grpSpLocks/>
          </p:cNvGrpSpPr>
          <p:nvPr/>
        </p:nvGrpSpPr>
        <p:grpSpPr bwMode="auto">
          <a:xfrm>
            <a:off x="6026210" y="4364765"/>
            <a:ext cx="2133600" cy="1524000"/>
            <a:chOff x="3577" y="1498"/>
            <a:chExt cx="1344" cy="960"/>
          </a:xfrm>
        </p:grpSpPr>
        <p:sp>
          <p:nvSpPr>
            <p:cNvPr id="232457" name="Rectangle 41"/>
            <p:cNvSpPr>
              <a:spLocks noChangeArrowheads="1"/>
            </p:cNvSpPr>
            <p:nvPr/>
          </p:nvSpPr>
          <p:spPr bwMode="auto">
            <a:xfrm>
              <a:off x="4345" y="1786"/>
              <a:ext cx="5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宋体" panose="02010600030101010101" pitchFamily="2" charset="-122"/>
                  <a:ea typeface="宋体" panose="02010600030101010101" pitchFamily="2" charset="-122"/>
                </a:rPr>
                <a:t>rs</a:t>
              </a:r>
            </a:p>
          </p:txBody>
        </p:sp>
        <p:sp>
          <p:nvSpPr>
            <p:cNvPr id="232458" name="Line 42"/>
            <p:cNvSpPr>
              <a:spLocks noChangeShapeType="1"/>
            </p:cNvSpPr>
            <p:nvPr/>
          </p:nvSpPr>
          <p:spPr bwMode="auto">
            <a:xfrm flipV="1">
              <a:off x="4489"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宋体" panose="02010600030101010101" pitchFamily="2" charset="-122"/>
                <a:ea typeface="宋体" panose="02010600030101010101" pitchFamily="2" charset="-122"/>
              </a:endParaRPr>
            </a:p>
          </p:txBody>
        </p:sp>
        <p:sp>
          <p:nvSpPr>
            <p:cNvPr id="232459" name="Rectangle 43"/>
            <p:cNvSpPr>
              <a:spLocks noChangeArrowheads="1"/>
            </p:cNvSpPr>
            <p:nvPr/>
          </p:nvSpPr>
          <p:spPr bwMode="auto">
            <a:xfrm>
              <a:off x="3577" y="1786"/>
              <a:ext cx="4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宋体" panose="02010600030101010101" pitchFamily="2" charset="-122"/>
                  <a:ea typeface="宋体" panose="02010600030101010101" pitchFamily="2" charset="-122"/>
                </a:rPr>
                <a:t>rt</a:t>
              </a:r>
            </a:p>
          </p:txBody>
        </p:sp>
        <p:sp>
          <p:nvSpPr>
            <p:cNvPr id="232460" name="Line 44"/>
            <p:cNvSpPr>
              <a:spLocks noChangeShapeType="1"/>
            </p:cNvSpPr>
            <p:nvPr/>
          </p:nvSpPr>
          <p:spPr bwMode="auto">
            <a:xfrm flipV="1">
              <a:off x="3721"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宋体" panose="02010600030101010101" pitchFamily="2" charset="-122"/>
                <a:ea typeface="宋体" panose="02010600030101010101" pitchFamily="2" charset="-122"/>
              </a:endParaRPr>
            </a:p>
          </p:txBody>
        </p:sp>
        <p:sp>
          <p:nvSpPr>
            <p:cNvPr id="232461" name="Rectangle 45"/>
            <p:cNvSpPr>
              <a:spLocks noChangeArrowheads="1"/>
            </p:cNvSpPr>
            <p:nvPr/>
          </p:nvSpPr>
          <p:spPr bwMode="auto">
            <a:xfrm>
              <a:off x="3913" y="1825"/>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b="1">
                  <a:solidFill>
                    <a:srgbClr val="D60093"/>
                  </a:solidFill>
                  <a:latin typeface="宋体" panose="02010600030101010101" pitchFamily="2" charset="-122"/>
                  <a:ea typeface="宋体" panose="02010600030101010101" pitchFamily="2" charset="-122"/>
                </a:rPr>
                <a:t>imm</a:t>
              </a:r>
            </a:p>
          </p:txBody>
        </p:sp>
        <p:sp>
          <p:nvSpPr>
            <p:cNvPr id="232462" name="Line 46"/>
            <p:cNvSpPr>
              <a:spLocks noChangeShapeType="1"/>
            </p:cNvSpPr>
            <p:nvPr/>
          </p:nvSpPr>
          <p:spPr bwMode="auto">
            <a:xfrm flipV="1">
              <a:off x="4105"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宋体" panose="02010600030101010101" pitchFamily="2" charset="-122"/>
                <a:ea typeface="宋体" panose="02010600030101010101" pitchFamily="2" charset="-122"/>
              </a:endParaRPr>
            </a:p>
          </p:txBody>
        </p:sp>
        <p:sp>
          <p:nvSpPr>
            <p:cNvPr id="232463" name="Rectangle 47"/>
            <p:cNvSpPr>
              <a:spLocks noChangeArrowheads="1"/>
            </p:cNvSpPr>
            <p:nvPr/>
          </p:nvSpPr>
          <p:spPr bwMode="auto">
            <a:xfrm>
              <a:off x="4393" y="2122"/>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宋体" panose="02010600030101010101" pitchFamily="2" charset="-122"/>
                  <a:ea typeface="宋体" panose="02010600030101010101" pitchFamily="2" charset="-122"/>
                </a:rPr>
                <a:t>j</a:t>
              </a:r>
            </a:p>
          </p:txBody>
        </p:sp>
        <p:sp>
          <p:nvSpPr>
            <p:cNvPr id="232464" name="Rectangle 48"/>
            <p:cNvSpPr>
              <a:spLocks noChangeArrowheads="1"/>
            </p:cNvSpPr>
            <p:nvPr/>
          </p:nvSpPr>
          <p:spPr bwMode="auto">
            <a:xfrm>
              <a:off x="3625" y="2131"/>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宋体" panose="02010600030101010101" pitchFamily="2" charset="-122"/>
                  <a:ea typeface="宋体" panose="02010600030101010101" pitchFamily="2" charset="-122"/>
                </a:rPr>
                <a:t>k</a:t>
              </a:r>
            </a:p>
          </p:txBody>
        </p:sp>
      </p:grpSp>
    </p:spTree>
    <p:extLst>
      <p:ext uri="{BB962C8B-B14F-4D97-AF65-F5344CB8AC3E}">
        <p14:creationId xmlns:p14="http://schemas.microsoft.com/office/powerpoint/2010/main" val="34882611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33474" name="Rectangle 3" descr="Rectangle: Click to edit Master text styles&#10;Second level&#10;Third level&#10;Fourth level&#10;Fifth level"/>
          <p:cNvSpPr>
            <a:spLocks noGrp="1" noChangeArrowheads="1"/>
          </p:cNvSpPr>
          <p:nvPr>
            <p:ph idx="1"/>
          </p:nvPr>
        </p:nvSpPr>
        <p:spPr>
          <a:xfrm>
            <a:off x="626692" y="256463"/>
            <a:ext cx="8893175" cy="6119812"/>
          </a:xfrm>
        </p:spPr>
        <p:txBody>
          <a:bodyPr>
            <a:normAutofit/>
          </a:bodyPr>
          <a:lstStyle/>
          <a:p>
            <a:pPr marL="457200" indent="-457200" eaLnBrk="1" hangingPunct="1">
              <a:lnSpc>
                <a:spcPct val="110000"/>
              </a:lnSpc>
            </a:pPr>
            <a:r>
              <a:rPr lang="zh-CN" altLang="en-US" sz="2800" dirty="0">
                <a:latin typeface="华文琥珀" panose="02010800040101010101" pitchFamily="2" charset="-122"/>
                <a:ea typeface="华文琥珀" panose="02010800040101010101" pitchFamily="2" charset="-122"/>
              </a:rPr>
              <a:t>指令流出</a:t>
            </a:r>
          </a:p>
          <a:p>
            <a:pPr marL="628650" lvl="1" indent="0" eaLnBrk="1" hangingPunct="1">
              <a:lnSpc>
                <a:spcPct val="110000"/>
              </a:lnSpc>
              <a:buNone/>
            </a:pPr>
            <a:r>
              <a:rPr lang="zh-CN" altLang="en-US" b="1" dirty="0" smtClean="0">
                <a:solidFill>
                  <a:srgbClr val="E24C05"/>
                </a:solidFill>
                <a:latin typeface="+mn-ea"/>
              </a:rPr>
              <a:t>①浮点运算指令</a:t>
            </a:r>
            <a:r>
              <a:rPr lang="zh-CN" altLang="en-US" b="1" dirty="0" smtClean="0">
                <a:latin typeface="+mn-ea"/>
              </a:rPr>
              <a:t> </a:t>
            </a:r>
          </a:p>
          <a:p>
            <a:pPr marL="1085850" lvl="1" indent="-457200" eaLnBrk="1" hangingPunct="1">
              <a:lnSpc>
                <a:spcPct val="110000"/>
              </a:lnSpc>
              <a:buNone/>
            </a:pPr>
            <a:r>
              <a:rPr lang="zh-CN" altLang="en-US" dirty="0" smtClean="0">
                <a:solidFill>
                  <a:srgbClr val="D60093"/>
                </a:solidFill>
                <a:latin typeface="+mn-ea"/>
              </a:rPr>
              <a:t>进入条件：</a:t>
            </a:r>
            <a:r>
              <a:rPr lang="zh-CN" altLang="en-US" dirty="0" smtClean="0">
                <a:latin typeface="+mn-ea"/>
              </a:rPr>
              <a:t>有空闲保留站（设为</a:t>
            </a:r>
            <a:r>
              <a:rPr lang="en-US" altLang="zh-CN" b="1" dirty="0" smtClean="0">
                <a:solidFill>
                  <a:srgbClr val="E24C05"/>
                </a:solidFill>
                <a:latin typeface="+mn-ea"/>
              </a:rPr>
              <a:t>r</a:t>
            </a:r>
            <a:r>
              <a:rPr lang="zh-CN" altLang="en-US" dirty="0" smtClean="0">
                <a:latin typeface="+mn-ea"/>
              </a:rPr>
              <a:t>）</a:t>
            </a:r>
          </a:p>
          <a:p>
            <a:pPr marL="1085850" lvl="1" indent="-457200" eaLnBrk="1" hangingPunct="1">
              <a:lnSpc>
                <a:spcPct val="110000"/>
              </a:lnSpc>
              <a:buNone/>
            </a:pPr>
            <a:r>
              <a:rPr lang="zh-CN" altLang="en-US" dirty="0" smtClean="0">
                <a:latin typeface="+mn-ea"/>
              </a:rPr>
              <a:t>操作和状态表内容修改：</a:t>
            </a:r>
          </a:p>
          <a:p>
            <a:pPr marL="1085850" lvl="1" indent="-457200" eaLnBrk="1" hangingPunct="1">
              <a:lnSpc>
                <a:spcPct val="110000"/>
              </a:lnSpc>
              <a:buNone/>
            </a:pPr>
            <a:r>
              <a:rPr lang="en-US" altLang="zh-CN" dirty="0" smtClean="0">
                <a:latin typeface="+mn-ea"/>
              </a:rPr>
              <a:t>if </a:t>
            </a:r>
            <a:r>
              <a:rPr lang="zh-CN" altLang="en-US" dirty="0" smtClean="0">
                <a:latin typeface="+mn-ea"/>
              </a:rPr>
              <a:t>（</a:t>
            </a:r>
            <a:r>
              <a:rPr lang="en-US" altLang="zh-CN" dirty="0" smtClean="0">
                <a:latin typeface="+mn-ea"/>
              </a:rPr>
              <a:t>Qi[</a:t>
            </a:r>
            <a:r>
              <a:rPr lang="en-US" altLang="zh-CN" dirty="0" err="1" smtClean="0">
                <a:solidFill>
                  <a:srgbClr val="D60093"/>
                </a:solidFill>
                <a:latin typeface="+mn-ea"/>
              </a:rPr>
              <a:t>rs</a:t>
            </a:r>
            <a:r>
              <a:rPr lang="en-US" altLang="zh-CN" dirty="0" smtClean="0">
                <a:latin typeface="+mn-ea"/>
              </a:rPr>
              <a:t>] = 0</a:t>
            </a:r>
            <a:r>
              <a:rPr lang="zh-CN" altLang="en-US" dirty="0" smtClean="0">
                <a:latin typeface="+mn-ea"/>
              </a:rPr>
              <a:t>）	</a:t>
            </a:r>
            <a:r>
              <a:rPr lang="en-US" altLang="zh-CN" sz="2000" b="1" dirty="0">
                <a:solidFill>
                  <a:srgbClr val="000000"/>
                </a:solidFill>
                <a:latin typeface="+mn-ea"/>
              </a:rPr>
              <a:t>// </a:t>
            </a:r>
            <a:r>
              <a:rPr lang="zh-CN" altLang="en-US" sz="2000" b="1" dirty="0">
                <a:solidFill>
                  <a:srgbClr val="000000"/>
                </a:solidFill>
                <a:latin typeface="+mn-ea"/>
              </a:rPr>
              <a:t>检测第一操作数是否就绪</a:t>
            </a:r>
            <a:endParaRPr lang="zh-CN" altLang="en-US" sz="2000" b="1" dirty="0">
              <a:solidFill>
                <a:srgbClr val="000000"/>
              </a:solidFill>
              <a:latin typeface="+mn-ea"/>
              <a:sym typeface="Symbol" panose="05050102010706020507" pitchFamily="18" charset="2"/>
            </a:endParaRPr>
          </a:p>
          <a:p>
            <a:pPr marL="1085850" lvl="1" indent="-457200" eaLnBrk="1" hangingPunct="1">
              <a:lnSpc>
                <a:spcPct val="110000"/>
              </a:lnSpc>
              <a:buNone/>
            </a:pPr>
            <a:r>
              <a:rPr lang="zh-CN" altLang="en-US" dirty="0" smtClean="0">
                <a:latin typeface="+mn-ea"/>
                <a:sym typeface="Symbol" panose="05050102010706020507" pitchFamily="18" charset="2"/>
              </a:rPr>
              <a:t>    </a:t>
            </a:r>
            <a:r>
              <a:rPr lang="en-US" altLang="zh-CN" dirty="0" smtClean="0">
                <a:latin typeface="+mn-ea"/>
              </a:rPr>
              <a:t>RS[</a:t>
            </a:r>
            <a:r>
              <a:rPr lang="en-US" altLang="zh-CN" dirty="0" smtClean="0">
                <a:solidFill>
                  <a:srgbClr val="E24C05"/>
                </a:solidFill>
                <a:latin typeface="+mn-ea"/>
              </a:rPr>
              <a:t>r</a:t>
            </a:r>
            <a:r>
              <a:rPr lang="en-US" altLang="zh-CN" dirty="0" smtClean="0">
                <a:latin typeface="+mn-ea"/>
              </a:rPr>
              <a:t>].</a:t>
            </a:r>
            <a:r>
              <a:rPr lang="en-US" altLang="zh-CN" dirty="0" err="1" smtClean="0">
                <a:solidFill>
                  <a:srgbClr val="9933FF"/>
                </a:solidFill>
                <a:latin typeface="+mn-ea"/>
              </a:rPr>
              <a:t>Vj</a:t>
            </a:r>
            <a:r>
              <a:rPr lang="en-US" altLang="zh-CN" dirty="0" smtClean="0">
                <a:latin typeface="+mn-ea"/>
              </a:rPr>
              <a:t> </a:t>
            </a:r>
            <a:r>
              <a:rPr lang="en-US" altLang="zh-CN" dirty="0" smtClean="0">
                <a:latin typeface="+mn-ea"/>
                <a:sym typeface="Symbol" panose="05050102010706020507" pitchFamily="18" charset="2"/>
              </a:rPr>
              <a:t></a:t>
            </a:r>
            <a:r>
              <a:rPr lang="en-US" altLang="zh-CN" dirty="0" smtClean="0">
                <a:latin typeface="+mn-ea"/>
              </a:rPr>
              <a:t> </a:t>
            </a:r>
            <a:r>
              <a:rPr lang="en-US" altLang="zh-CN" dirty="0" err="1" smtClean="0">
                <a:latin typeface="+mn-ea"/>
              </a:rPr>
              <a:t>Regs</a:t>
            </a:r>
            <a:r>
              <a:rPr lang="en-US" altLang="zh-CN" dirty="0" smtClean="0">
                <a:latin typeface="+mn-ea"/>
              </a:rPr>
              <a:t>[</a:t>
            </a:r>
            <a:r>
              <a:rPr lang="en-US" altLang="zh-CN" dirty="0" err="1" smtClean="0">
                <a:solidFill>
                  <a:srgbClr val="D60093"/>
                </a:solidFill>
                <a:latin typeface="+mn-ea"/>
              </a:rPr>
              <a:t>rs</a:t>
            </a:r>
            <a:r>
              <a:rPr lang="en-US" altLang="zh-CN" dirty="0" smtClean="0">
                <a:latin typeface="+mn-ea"/>
              </a:rPr>
              <a:t>]</a:t>
            </a:r>
            <a:r>
              <a:rPr lang="zh-CN" altLang="en-US" dirty="0" smtClean="0">
                <a:latin typeface="+mn-ea"/>
              </a:rPr>
              <a:t>； </a:t>
            </a:r>
            <a:r>
              <a:rPr lang="en-US" altLang="zh-CN" sz="2000" b="1" dirty="0">
                <a:solidFill>
                  <a:srgbClr val="000000"/>
                </a:solidFill>
                <a:latin typeface="+mn-ea"/>
              </a:rPr>
              <a:t>// </a:t>
            </a:r>
            <a:r>
              <a:rPr lang="zh-CN" altLang="en-US" sz="2000" b="1" dirty="0">
                <a:solidFill>
                  <a:srgbClr val="000000"/>
                </a:solidFill>
                <a:latin typeface="+mn-ea"/>
              </a:rPr>
              <a:t>第一操作数就绪。把寄存器</a:t>
            </a:r>
            <a:r>
              <a:rPr lang="en-US" altLang="zh-CN" sz="2000" b="1" dirty="0" err="1">
                <a:solidFill>
                  <a:srgbClr val="D60093"/>
                </a:solidFill>
                <a:latin typeface="+mn-ea"/>
              </a:rPr>
              <a:t>rs</a:t>
            </a:r>
            <a:r>
              <a:rPr lang="en-US" altLang="zh-CN" sz="2000" b="1" dirty="0">
                <a:solidFill>
                  <a:srgbClr val="000000"/>
                </a:solidFill>
                <a:latin typeface="+mn-ea"/>
              </a:rPr>
              <a:t> </a:t>
            </a:r>
            <a:r>
              <a:rPr lang="en-US" altLang="zh-CN" dirty="0" smtClean="0">
                <a:latin typeface="+mn-ea"/>
              </a:rPr>
              <a:t>	</a:t>
            </a:r>
          </a:p>
          <a:p>
            <a:pPr marL="1085850" lvl="1" indent="-457200" eaLnBrk="1" hangingPunct="1">
              <a:lnSpc>
                <a:spcPct val="110000"/>
              </a:lnSpc>
              <a:buNone/>
            </a:pPr>
            <a:r>
              <a:rPr lang="en-US" altLang="zh-CN" sz="2000" b="1" dirty="0">
                <a:solidFill>
                  <a:srgbClr val="000000"/>
                </a:solidFill>
                <a:latin typeface="+mn-ea"/>
              </a:rPr>
              <a:t>                            // </a:t>
            </a:r>
            <a:r>
              <a:rPr lang="zh-CN" altLang="en-US" sz="2000" b="1" dirty="0">
                <a:solidFill>
                  <a:srgbClr val="000000"/>
                </a:solidFill>
                <a:latin typeface="+mn-ea"/>
              </a:rPr>
              <a:t>中的操作数取到当前保留站的</a:t>
            </a:r>
            <a:r>
              <a:rPr lang="en-US" altLang="zh-CN" sz="2000" b="1" dirty="0" err="1">
                <a:solidFill>
                  <a:srgbClr val="9933FF"/>
                </a:solidFill>
                <a:latin typeface="+mn-ea"/>
              </a:rPr>
              <a:t>Vj</a:t>
            </a:r>
            <a:r>
              <a:rPr lang="zh-CN" altLang="en-US" sz="2000" b="1" dirty="0">
                <a:solidFill>
                  <a:srgbClr val="000000"/>
                </a:solidFill>
                <a:latin typeface="+mn-ea"/>
              </a:rPr>
              <a:t>。</a:t>
            </a:r>
          </a:p>
          <a:p>
            <a:pPr marL="1085850" lvl="1" indent="-457200" eaLnBrk="1" hangingPunct="1">
              <a:lnSpc>
                <a:spcPct val="110000"/>
              </a:lnSpc>
              <a:buNone/>
            </a:pPr>
            <a:r>
              <a:rPr lang="zh-CN" altLang="en-US" dirty="0" smtClean="0">
                <a:latin typeface="+mn-ea"/>
              </a:rPr>
              <a:t>    </a:t>
            </a:r>
            <a:r>
              <a:rPr lang="en-US" altLang="zh-CN" dirty="0" smtClean="0">
                <a:latin typeface="+mn-ea"/>
              </a:rPr>
              <a:t>RS[</a:t>
            </a:r>
            <a:r>
              <a:rPr lang="en-US" altLang="zh-CN" dirty="0" smtClean="0">
                <a:solidFill>
                  <a:srgbClr val="E24C05"/>
                </a:solidFill>
                <a:latin typeface="+mn-ea"/>
              </a:rPr>
              <a:t>r</a:t>
            </a:r>
            <a:r>
              <a:rPr lang="en-US" altLang="zh-CN" dirty="0" smtClean="0">
                <a:latin typeface="+mn-ea"/>
              </a:rPr>
              <a:t>].</a:t>
            </a:r>
            <a:r>
              <a:rPr lang="en-US" altLang="zh-CN" dirty="0" err="1" smtClean="0">
                <a:latin typeface="+mn-ea"/>
              </a:rPr>
              <a:t>Qj</a:t>
            </a:r>
            <a:r>
              <a:rPr lang="en-US" altLang="zh-CN" dirty="0" smtClean="0">
                <a:latin typeface="+mn-ea"/>
              </a:rPr>
              <a:t> </a:t>
            </a:r>
            <a:r>
              <a:rPr lang="en-US" altLang="zh-CN" dirty="0" smtClean="0">
                <a:latin typeface="+mn-ea"/>
                <a:sym typeface="Symbol" panose="05050102010706020507" pitchFamily="18" charset="2"/>
              </a:rPr>
              <a:t></a:t>
            </a:r>
            <a:r>
              <a:rPr lang="en-US" altLang="zh-CN" dirty="0" smtClean="0">
                <a:latin typeface="+mn-ea"/>
              </a:rPr>
              <a:t> 0 </a:t>
            </a:r>
            <a:r>
              <a:rPr lang="en-US" altLang="zh-CN" dirty="0" smtClean="0">
                <a:latin typeface="+mn-ea"/>
                <a:sym typeface="Symbol" panose="05050102010706020507" pitchFamily="18" charset="2"/>
              </a:rPr>
              <a:t></a:t>
            </a:r>
            <a:r>
              <a:rPr lang="zh-CN" altLang="en-US" dirty="0" smtClean="0">
                <a:latin typeface="+mn-ea"/>
              </a:rPr>
              <a:t>；          </a:t>
            </a:r>
            <a:r>
              <a:rPr lang="en-US" altLang="zh-CN" sz="2000" b="1" dirty="0">
                <a:solidFill>
                  <a:srgbClr val="000000"/>
                </a:solidFill>
                <a:latin typeface="+mn-ea"/>
              </a:rPr>
              <a:t>// </a:t>
            </a:r>
            <a:r>
              <a:rPr lang="zh-CN" altLang="en-US" sz="2000" b="1" dirty="0">
                <a:solidFill>
                  <a:srgbClr val="000000"/>
                </a:solidFill>
                <a:latin typeface="+mn-ea"/>
              </a:rPr>
              <a:t>置</a:t>
            </a:r>
            <a:r>
              <a:rPr lang="en-US" altLang="zh-CN" sz="2000" b="1" dirty="0" err="1">
                <a:solidFill>
                  <a:srgbClr val="000000"/>
                </a:solidFill>
                <a:latin typeface="+mn-ea"/>
              </a:rPr>
              <a:t>Qj</a:t>
            </a:r>
            <a:r>
              <a:rPr lang="zh-CN" altLang="en-US" sz="2000" b="1" dirty="0">
                <a:solidFill>
                  <a:srgbClr val="000000"/>
                </a:solidFill>
                <a:latin typeface="+mn-ea"/>
              </a:rPr>
              <a:t>为</a:t>
            </a:r>
            <a:r>
              <a:rPr lang="en-US" altLang="zh-CN" sz="2000" b="1" dirty="0">
                <a:solidFill>
                  <a:srgbClr val="000000"/>
                </a:solidFill>
                <a:latin typeface="+mn-ea"/>
              </a:rPr>
              <a:t>0</a:t>
            </a:r>
            <a:r>
              <a:rPr lang="zh-CN" altLang="en-US" sz="2000" b="1" dirty="0">
                <a:solidFill>
                  <a:srgbClr val="000000"/>
                </a:solidFill>
                <a:latin typeface="+mn-ea"/>
              </a:rPr>
              <a:t>，表示当前保留站的</a:t>
            </a:r>
            <a:r>
              <a:rPr lang="en-US" altLang="zh-CN" sz="2000" b="1" dirty="0" err="1">
                <a:solidFill>
                  <a:srgbClr val="9933FF"/>
                </a:solidFill>
                <a:latin typeface="+mn-ea"/>
              </a:rPr>
              <a:t>Vj</a:t>
            </a:r>
            <a:r>
              <a:rPr lang="en-US" altLang="zh-CN" sz="2000" b="1" dirty="0">
                <a:solidFill>
                  <a:srgbClr val="9933FF"/>
                </a:solidFill>
                <a:latin typeface="+mn-ea"/>
              </a:rPr>
              <a:t>       </a:t>
            </a:r>
          </a:p>
          <a:p>
            <a:pPr marL="1085850" lvl="1" indent="-457200" eaLnBrk="1" hangingPunct="1">
              <a:lnSpc>
                <a:spcPct val="110000"/>
              </a:lnSpc>
              <a:buNone/>
            </a:pPr>
            <a:r>
              <a:rPr lang="en-US" altLang="zh-CN" sz="2000" b="1" dirty="0">
                <a:solidFill>
                  <a:srgbClr val="000000"/>
                </a:solidFill>
                <a:latin typeface="+mn-ea"/>
              </a:rPr>
              <a:t>                            // </a:t>
            </a:r>
            <a:r>
              <a:rPr lang="zh-CN" altLang="en-US" sz="2000" b="1" dirty="0">
                <a:solidFill>
                  <a:srgbClr val="000000"/>
                </a:solidFill>
                <a:latin typeface="+mn-ea"/>
              </a:rPr>
              <a:t>中的操作数就绪。</a:t>
            </a:r>
          </a:p>
          <a:p>
            <a:pPr marL="1085850" lvl="1" indent="-457200" eaLnBrk="1" hangingPunct="1">
              <a:lnSpc>
                <a:spcPct val="110000"/>
              </a:lnSpc>
              <a:buNone/>
            </a:pPr>
            <a:r>
              <a:rPr lang="en-US" altLang="zh-CN" dirty="0" smtClean="0">
                <a:latin typeface="+mn-ea"/>
              </a:rPr>
              <a:t>else	     </a:t>
            </a:r>
            <a:r>
              <a:rPr lang="en-US" altLang="zh-CN" sz="2000" b="1" dirty="0">
                <a:solidFill>
                  <a:srgbClr val="000000"/>
                </a:solidFill>
                <a:latin typeface="+mn-ea"/>
              </a:rPr>
              <a:t>// </a:t>
            </a:r>
            <a:r>
              <a:rPr lang="zh-CN" altLang="en-US" sz="2000" b="1" dirty="0">
                <a:solidFill>
                  <a:srgbClr val="000000"/>
                </a:solidFill>
                <a:latin typeface="+mn-ea"/>
              </a:rPr>
              <a:t>第一操作数没有就绪</a:t>
            </a:r>
            <a:endParaRPr lang="zh-CN" altLang="en-US" sz="2000" b="1" dirty="0">
              <a:solidFill>
                <a:srgbClr val="000000"/>
              </a:solidFill>
              <a:latin typeface="+mn-ea"/>
              <a:sym typeface="Symbol" panose="05050102010706020507" pitchFamily="18" charset="2"/>
            </a:endParaRPr>
          </a:p>
          <a:p>
            <a:pPr marL="1085850" lvl="1" indent="-457200" eaLnBrk="1" hangingPunct="1">
              <a:lnSpc>
                <a:spcPct val="110000"/>
              </a:lnSpc>
              <a:buNone/>
            </a:pPr>
            <a:r>
              <a:rPr lang="zh-CN" altLang="en-US" dirty="0" smtClean="0">
                <a:latin typeface="+mn-ea"/>
                <a:sym typeface="Symbol" panose="05050102010706020507" pitchFamily="18" charset="2"/>
              </a:rPr>
              <a:t>   </a:t>
            </a:r>
            <a:r>
              <a:rPr lang="en-US" altLang="zh-CN" dirty="0" smtClean="0">
                <a:latin typeface="+mn-ea"/>
              </a:rPr>
              <a:t>RS[</a:t>
            </a:r>
            <a:r>
              <a:rPr lang="en-US" altLang="zh-CN" dirty="0" smtClean="0">
                <a:solidFill>
                  <a:srgbClr val="E24C05"/>
                </a:solidFill>
                <a:latin typeface="+mn-ea"/>
              </a:rPr>
              <a:t>r</a:t>
            </a:r>
            <a:r>
              <a:rPr lang="en-US" altLang="zh-CN" dirty="0" smtClean="0">
                <a:latin typeface="+mn-ea"/>
              </a:rPr>
              <a:t>].</a:t>
            </a:r>
            <a:r>
              <a:rPr lang="en-US" altLang="zh-CN" dirty="0" err="1" smtClean="0">
                <a:latin typeface="+mn-ea"/>
              </a:rPr>
              <a:t>Qj</a:t>
            </a:r>
            <a:r>
              <a:rPr lang="en-US" altLang="zh-CN" dirty="0" smtClean="0">
                <a:latin typeface="+mn-ea"/>
              </a:rPr>
              <a:t> </a:t>
            </a:r>
            <a:r>
              <a:rPr lang="en-US" altLang="zh-CN" dirty="0" smtClean="0">
                <a:latin typeface="+mn-ea"/>
                <a:sym typeface="Symbol" panose="05050102010706020507" pitchFamily="18" charset="2"/>
              </a:rPr>
              <a:t></a:t>
            </a:r>
            <a:r>
              <a:rPr lang="en-US" altLang="zh-CN" dirty="0" smtClean="0">
                <a:latin typeface="+mn-ea"/>
              </a:rPr>
              <a:t> Qi[</a:t>
            </a:r>
            <a:r>
              <a:rPr lang="en-US" altLang="zh-CN" dirty="0" err="1" smtClean="0">
                <a:solidFill>
                  <a:srgbClr val="D60093"/>
                </a:solidFill>
                <a:latin typeface="+mn-ea"/>
              </a:rPr>
              <a:t>rs</a:t>
            </a:r>
            <a:r>
              <a:rPr lang="en-US" altLang="zh-CN" dirty="0" smtClean="0">
                <a:latin typeface="+mn-ea"/>
              </a:rPr>
              <a:t>] </a:t>
            </a:r>
            <a:r>
              <a:rPr lang="en-US" altLang="zh-CN" dirty="0" smtClean="0">
                <a:latin typeface="+mn-ea"/>
                <a:sym typeface="Symbol" panose="05050102010706020507" pitchFamily="18" charset="2"/>
              </a:rPr>
              <a:t></a:t>
            </a:r>
            <a:r>
              <a:rPr lang="en-US" altLang="zh-CN" dirty="0" smtClean="0">
                <a:latin typeface="+mn-ea"/>
              </a:rPr>
              <a:t>	      </a:t>
            </a:r>
            <a:r>
              <a:rPr lang="en-US" altLang="zh-CN" sz="2000" b="1" dirty="0">
                <a:solidFill>
                  <a:srgbClr val="000000"/>
                </a:solidFill>
                <a:latin typeface="+mn-ea"/>
              </a:rPr>
              <a:t>// </a:t>
            </a:r>
            <a:r>
              <a:rPr lang="zh-CN" altLang="en-US" sz="2000" b="1" dirty="0">
                <a:solidFill>
                  <a:srgbClr val="C20A73"/>
                </a:solidFill>
                <a:latin typeface="+mn-ea"/>
              </a:rPr>
              <a:t>进行寄存器换名</a:t>
            </a:r>
            <a:r>
              <a:rPr lang="zh-CN" altLang="en-US" sz="2000" b="1" dirty="0">
                <a:solidFill>
                  <a:srgbClr val="000000"/>
                </a:solidFill>
                <a:latin typeface="+mn-ea"/>
              </a:rPr>
              <a:t>，即把将产生该  </a:t>
            </a:r>
          </a:p>
          <a:p>
            <a:pPr marL="1085850" lvl="1" indent="-457200" eaLnBrk="1" hangingPunct="1">
              <a:lnSpc>
                <a:spcPct val="110000"/>
              </a:lnSpc>
              <a:buNone/>
            </a:pPr>
            <a:r>
              <a:rPr lang="zh-CN" altLang="en-US" sz="2000" b="1" dirty="0">
                <a:solidFill>
                  <a:srgbClr val="000000"/>
                </a:solidFill>
                <a:latin typeface="+mn-ea"/>
              </a:rPr>
              <a:t>             </a:t>
            </a:r>
            <a:r>
              <a:rPr lang="en-US" altLang="zh-CN" sz="2000" b="1" dirty="0">
                <a:solidFill>
                  <a:srgbClr val="000000"/>
                </a:solidFill>
                <a:latin typeface="+mn-ea"/>
              </a:rPr>
              <a:t>// </a:t>
            </a:r>
            <a:r>
              <a:rPr lang="zh-CN" altLang="en-US" sz="2000" b="1" dirty="0">
                <a:solidFill>
                  <a:srgbClr val="000000"/>
                </a:solidFill>
                <a:latin typeface="+mn-ea"/>
              </a:rPr>
              <a:t>操作数的保留站的编号放入当前保留站的</a:t>
            </a:r>
            <a:r>
              <a:rPr lang="en-US" altLang="zh-CN" sz="2000" b="1" dirty="0" err="1">
                <a:solidFill>
                  <a:srgbClr val="000000"/>
                </a:solidFill>
                <a:latin typeface="+mn-ea"/>
              </a:rPr>
              <a:t>Qj</a:t>
            </a:r>
            <a:r>
              <a:rPr lang="zh-CN" altLang="en-US" sz="2000" b="1" dirty="0">
                <a:solidFill>
                  <a:srgbClr val="000000"/>
                </a:solidFill>
                <a:latin typeface="+mn-ea"/>
              </a:rPr>
              <a:t>。</a:t>
            </a:r>
          </a:p>
          <a:p>
            <a:pPr marL="1085850" lvl="1" indent="-457200" eaLnBrk="1" hangingPunct="1">
              <a:lnSpc>
                <a:spcPct val="110000"/>
              </a:lnSpc>
              <a:buNone/>
            </a:pPr>
            <a:r>
              <a:rPr lang="zh-CN" altLang="en-US" sz="2000" b="1" dirty="0">
                <a:solidFill>
                  <a:srgbClr val="000000"/>
                </a:solidFill>
                <a:latin typeface="宋体" panose="02010600030101010101" pitchFamily="2" charset="-122"/>
                <a:ea typeface="宋体" panose="02010600030101010101" pitchFamily="2" charset="-122"/>
              </a:rPr>
              <a:t>             </a:t>
            </a:r>
          </a:p>
        </p:txBody>
      </p:sp>
      <p:pic>
        <p:nvPicPr>
          <p:cNvPr id="2334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0630" y="111184"/>
            <a:ext cx="2657475"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93823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34498" name="Rectangle 3" descr="Rectangle: Click to edit Master text styles&#10;Second level&#10;Third level&#10;Fourth level&#10;Fifth level"/>
          <p:cNvSpPr>
            <a:spLocks noGrp="1" noChangeArrowheads="1"/>
          </p:cNvSpPr>
          <p:nvPr>
            <p:ph idx="1"/>
          </p:nvPr>
        </p:nvSpPr>
        <p:spPr>
          <a:xfrm>
            <a:off x="631128" y="292902"/>
            <a:ext cx="8208962" cy="5832475"/>
          </a:xfrm>
        </p:spPr>
        <p:txBody>
          <a:bodyPr>
            <a:normAutofit fontScale="92500"/>
          </a:bodyPr>
          <a:lstStyle/>
          <a:p>
            <a:pPr marL="457200" indent="-457200" eaLnBrk="1" hangingPunct="1">
              <a:buNone/>
              <a:tabLst>
                <a:tab pos="3521075" algn="l"/>
              </a:tabLst>
            </a:pPr>
            <a:r>
              <a:rPr lang="en-US" altLang="zh-CN" dirty="0" smtClean="0">
                <a:solidFill>
                  <a:schemeClr val="tx1"/>
                </a:solidFill>
              </a:rPr>
              <a:t>if </a:t>
            </a:r>
            <a:r>
              <a:rPr lang="zh-CN" altLang="en-US" dirty="0" smtClean="0">
                <a:solidFill>
                  <a:schemeClr val="tx1"/>
                </a:solidFill>
              </a:rPr>
              <a:t>（</a:t>
            </a:r>
            <a:r>
              <a:rPr lang="en-US" altLang="zh-CN" dirty="0" smtClean="0">
                <a:solidFill>
                  <a:schemeClr val="tx1"/>
                </a:solidFill>
              </a:rPr>
              <a:t>Qi[</a:t>
            </a:r>
            <a:r>
              <a:rPr lang="en-US" altLang="zh-CN" dirty="0" err="1" smtClean="0">
                <a:solidFill>
                  <a:srgbClr val="D60093"/>
                </a:solidFill>
              </a:rPr>
              <a:t>rt</a:t>
            </a:r>
            <a:r>
              <a:rPr lang="en-US" altLang="zh-CN" dirty="0" smtClean="0">
                <a:solidFill>
                  <a:schemeClr val="tx1"/>
                </a:solidFill>
              </a:rPr>
              <a:t>] = 0</a:t>
            </a:r>
            <a:r>
              <a:rPr lang="zh-CN" altLang="en-US"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检测第二操作数是否就绪</a:t>
            </a:r>
            <a:endParaRPr lang="zh-CN" altLang="en-US" sz="2000" b="1" dirty="0">
              <a:solidFill>
                <a:srgbClr val="000000"/>
              </a:solidFill>
              <a:latin typeface="宋体" panose="02010600030101010101" pitchFamily="2" charset="-122"/>
              <a:ea typeface="宋体" panose="02010600030101010101" pitchFamily="2" charset="-122"/>
              <a:sym typeface="Symbol" panose="05050102010706020507" pitchFamily="18" charset="2"/>
            </a:endParaRPr>
          </a:p>
          <a:p>
            <a:pPr marL="457200" indent="-457200" eaLnBrk="1" hangingPunct="1">
              <a:buNone/>
              <a:tabLst>
                <a:tab pos="3521075" algn="l"/>
              </a:tabLst>
            </a:pPr>
            <a:r>
              <a:rPr lang="zh-CN" altLang="en-US" dirty="0" smtClean="0">
                <a:solidFill>
                  <a:schemeClr val="tx1"/>
                </a:solidFill>
                <a:sym typeface="Symbol" panose="05050102010706020507" pitchFamily="18" charset="2"/>
              </a:rPr>
              <a:t>   </a:t>
            </a:r>
            <a:r>
              <a:rPr lang="en-US" altLang="zh-CN" dirty="0" smtClean="0">
                <a:solidFill>
                  <a:schemeClr val="tx1"/>
                </a:solidFill>
              </a:rPr>
              <a:t>RS[</a:t>
            </a:r>
            <a:r>
              <a:rPr lang="en-US" altLang="zh-CN" dirty="0" smtClean="0"/>
              <a:t>r</a:t>
            </a:r>
            <a:r>
              <a:rPr lang="en-US" altLang="zh-CN" dirty="0" smtClean="0">
                <a:solidFill>
                  <a:schemeClr val="tx1"/>
                </a:solidFill>
              </a:rPr>
              <a:t>].</a:t>
            </a:r>
            <a:r>
              <a:rPr lang="en-US" altLang="zh-CN" dirty="0" err="1" smtClean="0">
                <a:solidFill>
                  <a:srgbClr val="9933FF"/>
                </a:solidFill>
              </a:rPr>
              <a:t>Vk</a:t>
            </a:r>
            <a:r>
              <a:rPr lang="en-US" altLang="zh-CN" dirty="0" smtClean="0">
                <a:solidFill>
                  <a:schemeClr val="tx1"/>
                </a:solidFill>
              </a:rPr>
              <a:t> </a:t>
            </a:r>
            <a:r>
              <a:rPr lang="en-US" altLang="zh-CN" dirty="0" smtClean="0">
                <a:solidFill>
                  <a:schemeClr val="tx1"/>
                </a:solidFill>
                <a:sym typeface="Symbol" panose="05050102010706020507" pitchFamily="18" charset="2"/>
              </a:rPr>
              <a:t></a:t>
            </a:r>
            <a:r>
              <a:rPr lang="en-US" altLang="zh-CN" dirty="0" smtClean="0">
                <a:solidFill>
                  <a:schemeClr val="tx1"/>
                </a:solidFill>
              </a:rPr>
              <a:t> </a:t>
            </a:r>
            <a:r>
              <a:rPr lang="en-US" altLang="zh-CN" dirty="0" err="1" smtClean="0">
                <a:solidFill>
                  <a:schemeClr val="tx1"/>
                </a:solidFill>
              </a:rPr>
              <a:t>Regs</a:t>
            </a:r>
            <a:r>
              <a:rPr lang="en-US" altLang="zh-CN" dirty="0" smtClean="0">
                <a:solidFill>
                  <a:schemeClr val="tx1"/>
                </a:solidFill>
              </a:rPr>
              <a:t>[</a:t>
            </a:r>
            <a:r>
              <a:rPr lang="en-US" altLang="zh-CN" dirty="0" err="1" smtClean="0">
                <a:solidFill>
                  <a:srgbClr val="D60093"/>
                </a:solidFill>
              </a:rPr>
              <a:t>rt</a:t>
            </a:r>
            <a:r>
              <a:rPr lang="en-US" altLang="zh-CN" dirty="0" smtClean="0">
                <a:solidFill>
                  <a:schemeClr val="tx1"/>
                </a:solidFill>
              </a:rPr>
              <a:t>]</a:t>
            </a:r>
            <a:r>
              <a:rPr lang="zh-CN" altLang="en-US"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第二操作数就绪。把寄存器</a:t>
            </a:r>
            <a:r>
              <a:rPr lang="en-US" altLang="zh-CN" sz="2000" b="1" dirty="0" err="1">
                <a:solidFill>
                  <a:srgbClr val="D60093"/>
                </a:solidFill>
                <a:latin typeface="宋体" panose="02010600030101010101" pitchFamily="2" charset="-122"/>
                <a:ea typeface="宋体" panose="02010600030101010101" pitchFamily="2" charset="-122"/>
              </a:rPr>
              <a:t>rt</a:t>
            </a:r>
            <a:r>
              <a:rPr lang="zh-CN" altLang="en-US" sz="2000" b="1" dirty="0">
                <a:solidFill>
                  <a:srgbClr val="000000"/>
                </a:solidFill>
                <a:latin typeface="宋体" panose="02010600030101010101" pitchFamily="2" charset="-122"/>
                <a:ea typeface="宋体" panose="02010600030101010101" pitchFamily="2" charset="-122"/>
              </a:rPr>
              <a:t>中的</a:t>
            </a:r>
            <a:endParaRPr lang="zh-CN" altLang="en-US" dirty="0" smtClean="0">
              <a:solidFill>
                <a:schemeClr val="tx1"/>
              </a:solidFill>
            </a:endParaRPr>
          </a:p>
          <a:p>
            <a:pPr marL="457200" indent="-457200" eaLnBrk="1" hangingPunct="1">
              <a:buNone/>
              <a:tabLst>
                <a:tab pos="3521075"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操作数取到当前保留站的</a:t>
            </a:r>
            <a:r>
              <a:rPr lang="en-US" altLang="zh-CN" sz="2000" b="1" dirty="0" err="1">
                <a:solidFill>
                  <a:srgbClr val="9933FF"/>
                </a:solidFill>
                <a:latin typeface="宋体" panose="02010600030101010101" pitchFamily="2" charset="-122"/>
                <a:ea typeface="宋体" panose="02010600030101010101" pitchFamily="2" charset="-122"/>
              </a:rPr>
              <a:t>Vk</a:t>
            </a:r>
            <a:r>
              <a:rPr lang="zh-CN" altLang="en-US" sz="2000" b="1" dirty="0">
                <a:solidFill>
                  <a:srgbClr val="000000"/>
                </a:solidFill>
                <a:latin typeface="宋体" panose="02010600030101010101" pitchFamily="2" charset="-122"/>
                <a:ea typeface="宋体" panose="02010600030101010101" pitchFamily="2" charset="-122"/>
              </a:rPr>
              <a:t>。</a:t>
            </a:r>
          </a:p>
          <a:p>
            <a:pPr marL="457200" indent="-457200" eaLnBrk="1" hangingPunct="1">
              <a:buNone/>
              <a:tabLst>
                <a:tab pos="3521075" algn="l"/>
              </a:tabLst>
            </a:pPr>
            <a:r>
              <a:rPr lang="zh-CN" altLang="en-US" dirty="0" smtClean="0">
                <a:solidFill>
                  <a:schemeClr val="tx1"/>
                </a:solidFill>
              </a:rPr>
              <a:t>    </a:t>
            </a:r>
            <a:r>
              <a:rPr lang="en-US" altLang="zh-CN" dirty="0" smtClean="0">
                <a:solidFill>
                  <a:schemeClr val="tx1"/>
                </a:solidFill>
              </a:rPr>
              <a:t>RS[</a:t>
            </a:r>
            <a:r>
              <a:rPr lang="en-US" altLang="zh-CN" dirty="0" smtClean="0"/>
              <a:t>r</a:t>
            </a:r>
            <a:r>
              <a:rPr lang="en-US" altLang="zh-CN" dirty="0" smtClean="0">
                <a:solidFill>
                  <a:schemeClr val="tx1"/>
                </a:solidFill>
              </a:rPr>
              <a:t>].</a:t>
            </a:r>
            <a:r>
              <a:rPr lang="en-US" altLang="zh-CN" dirty="0" err="1" smtClean="0">
                <a:solidFill>
                  <a:schemeClr val="tx1"/>
                </a:solidFill>
              </a:rPr>
              <a:t>Qk</a:t>
            </a:r>
            <a:r>
              <a:rPr lang="en-US" altLang="zh-CN" dirty="0" smtClean="0">
                <a:solidFill>
                  <a:schemeClr val="tx1"/>
                </a:solidFill>
              </a:rPr>
              <a:t> </a:t>
            </a:r>
            <a:r>
              <a:rPr lang="en-US" altLang="zh-CN" dirty="0" smtClean="0">
                <a:solidFill>
                  <a:schemeClr val="tx1"/>
                </a:solidFill>
                <a:sym typeface="Symbol" panose="05050102010706020507" pitchFamily="18" charset="2"/>
              </a:rPr>
              <a:t></a:t>
            </a:r>
            <a:r>
              <a:rPr lang="en-US" altLang="zh-CN" dirty="0" smtClean="0">
                <a:solidFill>
                  <a:schemeClr val="tx1"/>
                </a:solidFill>
              </a:rPr>
              <a:t> 0 </a:t>
            </a:r>
            <a:r>
              <a:rPr lang="en-US" altLang="zh-CN" dirty="0" smtClean="0">
                <a:solidFill>
                  <a:schemeClr val="tx1"/>
                </a:solidFill>
                <a:sym typeface="Symbol" panose="05050102010706020507" pitchFamily="18" charset="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置</a:t>
            </a:r>
            <a:r>
              <a:rPr lang="en-US" altLang="zh-CN" sz="2000" b="1" dirty="0" err="1">
                <a:solidFill>
                  <a:srgbClr val="000000"/>
                </a:solidFill>
                <a:latin typeface="宋体" panose="02010600030101010101" pitchFamily="2" charset="-122"/>
                <a:ea typeface="宋体" panose="02010600030101010101" pitchFamily="2" charset="-122"/>
              </a:rPr>
              <a:t>Qk</a:t>
            </a:r>
            <a:r>
              <a:rPr lang="zh-CN" altLang="en-US" sz="2000" b="1" dirty="0">
                <a:solidFill>
                  <a:srgbClr val="000000"/>
                </a:solidFill>
                <a:latin typeface="宋体" panose="02010600030101010101" pitchFamily="2" charset="-122"/>
                <a:ea typeface="宋体" panose="02010600030101010101" pitchFamily="2" charset="-122"/>
              </a:rPr>
              <a:t>为</a:t>
            </a:r>
            <a:r>
              <a:rPr lang="en-US" altLang="zh-CN" sz="2000" b="1" dirty="0">
                <a:solidFill>
                  <a:srgbClr val="000000"/>
                </a:solidFill>
                <a:latin typeface="宋体" panose="02010600030101010101" pitchFamily="2" charset="-122"/>
                <a:ea typeface="宋体" panose="02010600030101010101" pitchFamily="2" charset="-122"/>
              </a:rPr>
              <a:t>0</a:t>
            </a:r>
            <a:r>
              <a:rPr lang="zh-CN" altLang="en-US" sz="2000" b="1" dirty="0">
                <a:solidFill>
                  <a:srgbClr val="000000"/>
                </a:solidFill>
                <a:latin typeface="宋体" panose="02010600030101010101" pitchFamily="2" charset="-122"/>
                <a:ea typeface="宋体" panose="02010600030101010101" pitchFamily="2" charset="-122"/>
              </a:rPr>
              <a:t>，表示当前保留站的</a:t>
            </a:r>
            <a:r>
              <a:rPr lang="en-US" altLang="zh-CN" sz="2000" b="1" dirty="0" err="1">
                <a:solidFill>
                  <a:srgbClr val="9933FF"/>
                </a:solidFill>
                <a:latin typeface="宋体" panose="02010600030101010101" pitchFamily="2" charset="-122"/>
                <a:ea typeface="宋体" panose="02010600030101010101" pitchFamily="2" charset="-122"/>
              </a:rPr>
              <a:t>Vk</a:t>
            </a:r>
            <a:r>
              <a:rPr lang="zh-CN" altLang="en-US" sz="2000" b="1" dirty="0">
                <a:solidFill>
                  <a:srgbClr val="000000"/>
                </a:solidFill>
                <a:latin typeface="宋体" panose="02010600030101010101" pitchFamily="2" charset="-122"/>
                <a:ea typeface="宋体" panose="02010600030101010101" pitchFamily="2" charset="-122"/>
              </a:rPr>
              <a:t>中的</a:t>
            </a:r>
          </a:p>
          <a:p>
            <a:pPr marL="457200" indent="-457200" eaLnBrk="1" hangingPunct="1">
              <a:buNone/>
              <a:tabLst>
                <a:tab pos="3521075"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操作数就绪。</a:t>
            </a:r>
          </a:p>
          <a:p>
            <a:pPr marL="457200" indent="-457200" eaLnBrk="1" hangingPunct="1">
              <a:buNone/>
              <a:tabLst>
                <a:tab pos="3521075" algn="l"/>
              </a:tabLst>
            </a:pPr>
            <a:r>
              <a:rPr lang="en-US" altLang="zh-CN" dirty="0" smtClean="0">
                <a:solidFill>
                  <a:schemeClr val="tx1"/>
                </a:solidFill>
              </a:rPr>
              <a:t>else                              </a:t>
            </a:r>
            <a:r>
              <a:rPr lang="en-US" altLang="zh-CN" sz="2000" b="1" dirty="0">
                <a:solidFill>
                  <a:srgbClr val="000000"/>
                </a:solidFill>
                <a:latin typeface="宋体" panose="02010600030101010101" pitchFamily="2" charset="-122"/>
                <a:ea typeface="宋体" panose="02010600030101010101" pitchFamily="2" charset="-122"/>
              </a:rPr>
              <a:t>//</a:t>
            </a:r>
            <a:r>
              <a:rPr lang="zh-CN" altLang="en-US" sz="2000" b="1" dirty="0">
                <a:solidFill>
                  <a:srgbClr val="000000"/>
                </a:solidFill>
                <a:latin typeface="宋体" panose="02010600030101010101" pitchFamily="2" charset="-122"/>
                <a:ea typeface="宋体" panose="02010600030101010101" pitchFamily="2" charset="-122"/>
              </a:rPr>
              <a:t>第二操作数没有就绪</a:t>
            </a:r>
            <a:endParaRPr lang="zh-CN" altLang="en-US" sz="2000" b="1" dirty="0">
              <a:solidFill>
                <a:srgbClr val="000000"/>
              </a:solidFill>
              <a:latin typeface="宋体" panose="02010600030101010101" pitchFamily="2" charset="-122"/>
              <a:ea typeface="宋体" panose="02010600030101010101" pitchFamily="2" charset="-122"/>
              <a:sym typeface="Symbol" panose="05050102010706020507" pitchFamily="18" charset="2"/>
            </a:endParaRPr>
          </a:p>
          <a:p>
            <a:pPr marL="457200" indent="-457200" eaLnBrk="1" hangingPunct="1">
              <a:buNone/>
              <a:tabLst>
                <a:tab pos="3521075" algn="l"/>
              </a:tabLst>
            </a:pPr>
            <a:r>
              <a:rPr lang="zh-CN" altLang="en-US" dirty="0" smtClean="0">
                <a:solidFill>
                  <a:schemeClr val="tx1"/>
                </a:solidFill>
                <a:sym typeface="Symbol" panose="05050102010706020507" pitchFamily="18" charset="2"/>
              </a:rPr>
              <a:t>   </a:t>
            </a:r>
            <a:r>
              <a:rPr lang="en-US" altLang="zh-CN" dirty="0" smtClean="0">
                <a:solidFill>
                  <a:schemeClr val="tx1"/>
                </a:solidFill>
              </a:rPr>
              <a:t>RS[</a:t>
            </a:r>
            <a:r>
              <a:rPr lang="en-US" altLang="zh-CN" dirty="0" smtClean="0"/>
              <a:t>r</a:t>
            </a:r>
            <a:r>
              <a:rPr lang="en-US" altLang="zh-CN" dirty="0" smtClean="0">
                <a:solidFill>
                  <a:schemeClr val="tx1"/>
                </a:solidFill>
              </a:rPr>
              <a:t>].</a:t>
            </a:r>
            <a:r>
              <a:rPr lang="en-US" altLang="zh-CN" dirty="0" err="1" smtClean="0">
                <a:solidFill>
                  <a:schemeClr val="tx1"/>
                </a:solidFill>
              </a:rPr>
              <a:t>Qk</a:t>
            </a:r>
            <a:r>
              <a:rPr lang="en-US" altLang="zh-CN" dirty="0" smtClean="0">
                <a:solidFill>
                  <a:schemeClr val="tx1"/>
                </a:solidFill>
              </a:rPr>
              <a:t> </a:t>
            </a:r>
            <a:r>
              <a:rPr lang="en-US" altLang="zh-CN" dirty="0" smtClean="0">
                <a:solidFill>
                  <a:schemeClr val="tx1"/>
                </a:solidFill>
                <a:sym typeface="Symbol" panose="05050102010706020507" pitchFamily="18" charset="2"/>
              </a:rPr>
              <a:t></a:t>
            </a:r>
            <a:r>
              <a:rPr lang="en-US" altLang="zh-CN" dirty="0" smtClean="0">
                <a:solidFill>
                  <a:schemeClr val="tx1"/>
                </a:solidFill>
              </a:rPr>
              <a:t> Qi[</a:t>
            </a:r>
            <a:r>
              <a:rPr lang="en-US" altLang="zh-CN" dirty="0" err="1" smtClean="0">
                <a:solidFill>
                  <a:srgbClr val="D60093"/>
                </a:solidFill>
              </a:rPr>
              <a:t>rt</a:t>
            </a:r>
            <a:r>
              <a:rPr lang="en-US" altLang="zh-CN" dirty="0" smtClean="0">
                <a:solidFill>
                  <a:schemeClr val="tx1"/>
                </a:solidFill>
              </a:rPr>
              <a:t>] </a:t>
            </a:r>
            <a:r>
              <a:rPr lang="en-US" altLang="zh-CN" dirty="0" smtClean="0">
                <a:solidFill>
                  <a:schemeClr val="tx1"/>
                </a:solidFill>
                <a:sym typeface="Symbol" panose="05050102010706020507" pitchFamily="18" charset="2"/>
              </a:rPr>
              <a:t>    </a:t>
            </a:r>
            <a:r>
              <a:rPr lang="en-US" altLang="zh-CN"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a:t>
            </a:r>
            <a:r>
              <a:rPr lang="zh-CN" altLang="en-US" sz="2000" b="1" dirty="0">
                <a:solidFill>
                  <a:srgbClr val="C20A73"/>
                </a:solidFill>
                <a:latin typeface="黑体" panose="02010609060101010101" pitchFamily="49" charset="-122"/>
              </a:rPr>
              <a:t>进行寄存器换名</a:t>
            </a:r>
            <a:r>
              <a:rPr lang="zh-CN" altLang="en-US" sz="2000" b="1" dirty="0">
                <a:solidFill>
                  <a:srgbClr val="000000"/>
                </a:solidFill>
                <a:latin typeface="宋体" panose="02010600030101010101" pitchFamily="2" charset="-122"/>
                <a:ea typeface="宋体" panose="02010600030101010101" pitchFamily="2" charset="-122"/>
              </a:rPr>
              <a:t>，即把将产生该操作</a:t>
            </a:r>
          </a:p>
          <a:p>
            <a:pPr marL="457200" indent="-457200" eaLnBrk="1" hangingPunct="1">
              <a:buNone/>
              <a:tabLst>
                <a:tab pos="3521075"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数的保留站的编号放入当前保留站的</a:t>
            </a:r>
            <a:r>
              <a:rPr lang="en-US" altLang="zh-CN" sz="2000" b="1" dirty="0" err="1">
                <a:solidFill>
                  <a:srgbClr val="000000"/>
                </a:solidFill>
                <a:latin typeface="宋体" panose="02010600030101010101" pitchFamily="2" charset="-122"/>
                <a:ea typeface="宋体" panose="02010600030101010101" pitchFamily="2" charset="-122"/>
              </a:rPr>
              <a:t>Qk</a:t>
            </a:r>
            <a:r>
              <a:rPr lang="zh-CN" altLang="en-US" sz="2000" b="1" dirty="0">
                <a:solidFill>
                  <a:srgbClr val="000000"/>
                </a:solidFill>
                <a:latin typeface="宋体" panose="02010600030101010101" pitchFamily="2" charset="-122"/>
                <a:ea typeface="宋体" panose="02010600030101010101" pitchFamily="2" charset="-122"/>
              </a:rPr>
              <a:t>。           </a:t>
            </a:r>
          </a:p>
          <a:p>
            <a:pPr marL="457200" indent="-457200" eaLnBrk="1" hangingPunct="1">
              <a:buNone/>
              <a:tabLst>
                <a:tab pos="3521075" algn="l"/>
              </a:tabLst>
            </a:pPr>
            <a:r>
              <a:rPr lang="en-US" altLang="zh-CN" dirty="0" smtClean="0">
                <a:solidFill>
                  <a:schemeClr val="tx1"/>
                </a:solidFill>
              </a:rPr>
              <a:t>RS[</a:t>
            </a:r>
            <a:r>
              <a:rPr lang="en-US" altLang="zh-CN" dirty="0" smtClean="0"/>
              <a:t>r</a:t>
            </a:r>
            <a:r>
              <a:rPr lang="en-US" altLang="zh-CN" dirty="0" smtClean="0">
                <a:solidFill>
                  <a:schemeClr val="tx1"/>
                </a:solidFill>
              </a:rPr>
              <a:t>].Busy </a:t>
            </a:r>
            <a:r>
              <a:rPr lang="en-US" altLang="zh-CN" dirty="0" smtClean="0">
                <a:solidFill>
                  <a:schemeClr val="tx1"/>
                </a:solidFill>
                <a:sym typeface="Symbol" panose="05050102010706020507" pitchFamily="18" charset="2"/>
              </a:rPr>
              <a:t></a:t>
            </a:r>
            <a:r>
              <a:rPr lang="en-US" altLang="zh-CN" dirty="0" smtClean="0">
                <a:solidFill>
                  <a:schemeClr val="tx1"/>
                </a:solidFill>
              </a:rPr>
              <a:t> yes</a:t>
            </a:r>
            <a:r>
              <a:rPr lang="zh-CN" altLang="en-US"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a:t>
            </a:r>
            <a:r>
              <a:rPr lang="zh-CN" altLang="en-US" sz="2000" b="1" dirty="0">
                <a:solidFill>
                  <a:srgbClr val="000000"/>
                </a:solidFill>
                <a:latin typeface="宋体" panose="02010600030101010101" pitchFamily="2" charset="-122"/>
                <a:ea typeface="宋体" panose="02010600030101010101" pitchFamily="2" charset="-122"/>
              </a:rPr>
              <a:t>置当前保留站为“忙”</a:t>
            </a:r>
          </a:p>
          <a:p>
            <a:pPr marL="457200" indent="-457200" eaLnBrk="1" hangingPunct="1">
              <a:buNone/>
              <a:tabLst>
                <a:tab pos="3521075" algn="l"/>
              </a:tabLst>
            </a:pPr>
            <a:r>
              <a:rPr lang="en-US" altLang="zh-CN" dirty="0" smtClean="0">
                <a:solidFill>
                  <a:schemeClr val="tx1"/>
                </a:solidFill>
              </a:rPr>
              <a:t>RS[</a:t>
            </a:r>
            <a:r>
              <a:rPr lang="en-US" altLang="zh-CN" dirty="0" smtClean="0"/>
              <a:t>r</a:t>
            </a:r>
            <a:r>
              <a:rPr lang="en-US" altLang="zh-CN" dirty="0" smtClean="0">
                <a:solidFill>
                  <a:schemeClr val="tx1"/>
                </a:solidFill>
              </a:rPr>
              <a:t>].Op </a:t>
            </a:r>
            <a:r>
              <a:rPr lang="en-US" altLang="zh-CN" dirty="0" smtClean="0">
                <a:solidFill>
                  <a:schemeClr val="tx1"/>
                </a:solidFill>
                <a:sym typeface="Symbol" panose="05050102010706020507" pitchFamily="18" charset="2"/>
              </a:rPr>
              <a:t></a:t>
            </a:r>
            <a:r>
              <a:rPr lang="en-US" altLang="zh-CN" dirty="0" smtClean="0">
                <a:solidFill>
                  <a:schemeClr val="tx1"/>
                </a:solidFill>
              </a:rPr>
              <a:t> Op</a:t>
            </a:r>
            <a:r>
              <a:rPr lang="zh-CN" altLang="en-US"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a:t>
            </a:r>
            <a:r>
              <a:rPr lang="zh-CN" altLang="en-US" sz="2000" b="1" dirty="0">
                <a:solidFill>
                  <a:srgbClr val="000000"/>
                </a:solidFill>
                <a:latin typeface="宋体" panose="02010600030101010101" pitchFamily="2" charset="-122"/>
                <a:ea typeface="宋体" panose="02010600030101010101" pitchFamily="2" charset="-122"/>
              </a:rPr>
              <a:t>设置操作码</a:t>
            </a:r>
          </a:p>
          <a:p>
            <a:pPr marL="457200" indent="-457200" eaLnBrk="1" hangingPunct="1">
              <a:buNone/>
              <a:tabLst>
                <a:tab pos="3521075" algn="l"/>
              </a:tabLst>
            </a:pPr>
            <a:r>
              <a:rPr lang="en-US" altLang="zh-CN" dirty="0" smtClean="0">
                <a:solidFill>
                  <a:schemeClr val="tx1"/>
                </a:solidFill>
              </a:rPr>
              <a:t>Qi[</a:t>
            </a:r>
            <a:r>
              <a:rPr lang="en-US" altLang="zh-CN" dirty="0" err="1" smtClean="0">
                <a:solidFill>
                  <a:srgbClr val="D60093"/>
                </a:solidFill>
              </a:rPr>
              <a:t>rd</a:t>
            </a:r>
            <a:r>
              <a:rPr lang="en-US" altLang="zh-CN" dirty="0" smtClean="0">
                <a:solidFill>
                  <a:schemeClr val="tx1"/>
                </a:solidFill>
              </a:rPr>
              <a:t>] </a:t>
            </a:r>
            <a:r>
              <a:rPr lang="en-US" altLang="zh-CN" dirty="0" smtClean="0">
                <a:solidFill>
                  <a:schemeClr val="tx1"/>
                </a:solidFill>
                <a:sym typeface="Symbol" panose="05050102010706020507" pitchFamily="18" charset="2"/>
              </a:rPr>
              <a:t></a:t>
            </a:r>
            <a:r>
              <a:rPr lang="en-US" altLang="zh-CN" dirty="0" smtClean="0">
                <a:solidFill>
                  <a:schemeClr val="tx1"/>
                </a:solidFill>
              </a:rPr>
              <a:t> </a:t>
            </a:r>
            <a:r>
              <a:rPr lang="en-US" altLang="zh-CN" dirty="0" smtClean="0"/>
              <a:t>r</a:t>
            </a:r>
            <a:r>
              <a:rPr lang="zh-CN" altLang="en-US"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把当前保留站的编号</a:t>
            </a:r>
            <a:r>
              <a:rPr lang="en-US" altLang="zh-CN" sz="2000" b="1" dirty="0">
                <a:latin typeface="宋体" panose="02010600030101010101" pitchFamily="2" charset="-122"/>
                <a:ea typeface="宋体" panose="02010600030101010101" pitchFamily="2" charset="-122"/>
              </a:rPr>
              <a:t>r</a:t>
            </a:r>
            <a:r>
              <a:rPr lang="zh-CN" altLang="en-US" sz="2000" b="1" dirty="0">
                <a:solidFill>
                  <a:srgbClr val="000000"/>
                </a:solidFill>
                <a:latin typeface="宋体" panose="02010600030101010101" pitchFamily="2" charset="-122"/>
                <a:ea typeface="宋体" panose="02010600030101010101" pitchFamily="2" charset="-122"/>
              </a:rPr>
              <a:t>放入</a:t>
            </a:r>
            <a:r>
              <a:rPr lang="en-US" altLang="zh-CN" sz="2000" b="1" dirty="0" err="1">
                <a:solidFill>
                  <a:srgbClr val="D60093"/>
                </a:solidFill>
                <a:latin typeface="宋体" panose="02010600030101010101" pitchFamily="2" charset="-122"/>
                <a:ea typeface="宋体" panose="02010600030101010101" pitchFamily="2" charset="-122"/>
              </a:rPr>
              <a:t>rd</a:t>
            </a:r>
            <a:r>
              <a:rPr lang="zh-CN" altLang="en-US" sz="2000" b="1" dirty="0">
                <a:solidFill>
                  <a:srgbClr val="000000"/>
                </a:solidFill>
                <a:latin typeface="宋体" panose="02010600030101010101" pitchFamily="2" charset="-122"/>
                <a:ea typeface="宋体" panose="02010600030101010101" pitchFamily="2" charset="-122"/>
              </a:rPr>
              <a:t>所对应</a:t>
            </a:r>
          </a:p>
          <a:p>
            <a:pPr marL="457200" indent="-457200" eaLnBrk="1" hangingPunct="1">
              <a:buNone/>
              <a:tabLst>
                <a:tab pos="3521075"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的寄存器状态表项，以便</a:t>
            </a:r>
            <a:r>
              <a:rPr lang="en-US" altLang="zh-CN" sz="2000" b="1" dirty="0" err="1">
                <a:solidFill>
                  <a:srgbClr val="D60093"/>
                </a:solidFill>
                <a:latin typeface="宋体" panose="02010600030101010101" pitchFamily="2" charset="-122"/>
                <a:ea typeface="宋体" panose="02010600030101010101" pitchFamily="2" charset="-122"/>
              </a:rPr>
              <a:t>rd</a:t>
            </a:r>
            <a:r>
              <a:rPr lang="zh-CN" altLang="en-US" sz="2000" b="1" dirty="0">
                <a:solidFill>
                  <a:srgbClr val="000000"/>
                </a:solidFill>
                <a:latin typeface="宋体" panose="02010600030101010101" pitchFamily="2" charset="-122"/>
                <a:ea typeface="宋体" panose="02010600030101010101" pitchFamily="2" charset="-122"/>
              </a:rPr>
              <a:t>将来接收结果。 </a:t>
            </a:r>
          </a:p>
        </p:txBody>
      </p:sp>
    </p:spTree>
    <p:extLst>
      <p:ext uri="{BB962C8B-B14F-4D97-AF65-F5344CB8AC3E}">
        <p14:creationId xmlns:p14="http://schemas.microsoft.com/office/powerpoint/2010/main" val="3964521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35522" name="Rectangle 3" descr="Rectangle: Click to edit Master text styles&#10;Second level&#10;Third level&#10;Fourth level&#10;Fifth level"/>
          <p:cNvSpPr>
            <a:spLocks noGrp="1" noChangeArrowheads="1"/>
          </p:cNvSpPr>
          <p:nvPr>
            <p:ph idx="1"/>
          </p:nvPr>
        </p:nvSpPr>
        <p:spPr>
          <a:xfrm>
            <a:off x="427038" y="546175"/>
            <a:ext cx="8640763" cy="5040312"/>
          </a:xfrm>
        </p:spPr>
        <p:txBody>
          <a:bodyPr/>
          <a:lstStyle/>
          <a:p>
            <a:pPr marL="628650" lvl="1" indent="0" eaLnBrk="1" hangingPunct="1">
              <a:lnSpc>
                <a:spcPct val="110000"/>
              </a:lnSpc>
              <a:buNone/>
              <a:tabLst>
                <a:tab pos="4098925" algn="l"/>
              </a:tabLst>
            </a:pPr>
            <a:r>
              <a:rPr lang="en-US" altLang="zh-CN" b="1" dirty="0" smtClean="0">
                <a:solidFill>
                  <a:srgbClr val="E24C05"/>
                </a:solidFill>
                <a:latin typeface="黑体" panose="02010609060101010101" pitchFamily="49" charset="-122"/>
              </a:rPr>
              <a:t>② </a:t>
            </a:r>
            <a:r>
              <a:rPr lang="en-US" altLang="zh-CN" b="1" dirty="0" smtClean="0">
                <a:solidFill>
                  <a:srgbClr val="E24C05"/>
                </a:solidFill>
                <a:latin typeface="Times New Roman" panose="02020603050405020304" pitchFamily="18" charset="0"/>
              </a:rPr>
              <a:t>load</a:t>
            </a:r>
            <a:r>
              <a:rPr lang="zh-CN" altLang="en-US" b="1" dirty="0" smtClean="0">
                <a:solidFill>
                  <a:srgbClr val="E24C05"/>
                </a:solidFill>
                <a:latin typeface="Times New Roman" panose="02020603050405020304" pitchFamily="18" charset="0"/>
              </a:rPr>
              <a:t>和</a:t>
            </a:r>
            <a:r>
              <a:rPr lang="en-US" altLang="zh-CN" b="1" dirty="0" smtClean="0">
                <a:solidFill>
                  <a:srgbClr val="E24C05"/>
                </a:solidFill>
                <a:latin typeface="Times New Roman" panose="02020603050405020304" pitchFamily="18" charset="0"/>
              </a:rPr>
              <a:t>store</a:t>
            </a:r>
            <a:r>
              <a:rPr lang="zh-CN" altLang="en-US" b="1" dirty="0" smtClean="0">
                <a:solidFill>
                  <a:srgbClr val="E24C05"/>
                </a:solidFill>
                <a:latin typeface="Times New Roman" panose="02020603050405020304" pitchFamily="18" charset="0"/>
              </a:rPr>
              <a:t>指令</a:t>
            </a:r>
          </a:p>
          <a:p>
            <a:pPr marL="1085850" lvl="1" indent="-457200" eaLnBrk="1" hangingPunct="1">
              <a:lnSpc>
                <a:spcPct val="110000"/>
              </a:lnSpc>
              <a:buNone/>
              <a:tabLst>
                <a:tab pos="4098925" algn="l"/>
              </a:tabLst>
            </a:pPr>
            <a:r>
              <a:rPr lang="zh-CN" altLang="en-US" dirty="0" smtClean="0">
                <a:solidFill>
                  <a:srgbClr val="D60093"/>
                </a:solidFill>
              </a:rPr>
              <a:t>进入条件：</a:t>
            </a:r>
            <a:r>
              <a:rPr lang="zh-CN" altLang="en-US" dirty="0" smtClean="0"/>
              <a:t>缓冲器有空闲单元（设为</a:t>
            </a:r>
            <a:r>
              <a:rPr lang="en-US" altLang="zh-CN" b="1" dirty="0" smtClean="0">
                <a:solidFill>
                  <a:srgbClr val="E24C05"/>
                </a:solidFill>
                <a:latin typeface="宋体" panose="02010600030101010101" pitchFamily="2" charset="-122"/>
              </a:rPr>
              <a:t>r</a:t>
            </a:r>
            <a:r>
              <a:rPr lang="zh-CN" altLang="en-US" dirty="0" smtClean="0"/>
              <a:t>） </a:t>
            </a:r>
          </a:p>
          <a:p>
            <a:pPr marL="1085850" lvl="1" indent="-457200" eaLnBrk="1" hangingPunct="1">
              <a:lnSpc>
                <a:spcPct val="110000"/>
              </a:lnSpc>
              <a:buNone/>
              <a:tabLst>
                <a:tab pos="4098925" algn="l"/>
              </a:tabLst>
            </a:pPr>
            <a:r>
              <a:rPr lang="zh-CN" altLang="en-US" dirty="0" smtClean="0"/>
              <a:t>操作和状态表内容修改：</a:t>
            </a:r>
          </a:p>
          <a:p>
            <a:pPr marL="1085850" lvl="1" indent="-457200" eaLnBrk="1" hangingPunct="1">
              <a:lnSpc>
                <a:spcPct val="110000"/>
              </a:lnSpc>
              <a:buNone/>
              <a:tabLst>
                <a:tab pos="4098925" algn="l"/>
              </a:tabLst>
            </a:pPr>
            <a:r>
              <a:rPr lang="en-US" altLang="zh-CN" dirty="0" smtClean="0"/>
              <a:t>if </a:t>
            </a:r>
            <a:r>
              <a:rPr lang="zh-CN" altLang="en-US" dirty="0" smtClean="0"/>
              <a:t>（</a:t>
            </a:r>
            <a:r>
              <a:rPr lang="en-US" altLang="zh-CN" dirty="0" smtClean="0"/>
              <a:t>Qi[</a:t>
            </a:r>
            <a:r>
              <a:rPr lang="en-US" altLang="zh-CN" dirty="0" err="1" smtClean="0">
                <a:solidFill>
                  <a:srgbClr val="D60093"/>
                </a:solidFill>
              </a:rPr>
              <a:t>rs</a:t>
            </a:r>
            <a:r>
              <a:rPr lang="en-US" altLang="zh-CN" dirty="0" smtClean="0"/>
              <a:t>] = 0</a:t>
            </a:r>
            <a:r>
              <a:rPr lang="zh-CN" altLang="en-US"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检测第一操作数是否就绪</a:t>
            </a:r>
            <a:endParaRPr lang="zh-CN" altLang="en-US" sz="2000" b="1" dirty="0">
              <a:solidFill>
                <a:srgbClr val="000000"/>
              </a:solidFill>
              <a:latin typeface="宋体" panose="02010600030101010101" pitchFamily="2" charset="-122"/>
              <a:ea typeface="宋体" panose="02010600030101010101" pitchFamily="2" charset="-122"/>
              <a:sym typeface="Symbol" panose="05050102010706020507" pitchFamily="18" charset="2"/>
            </a:endParaRPr>
          </a:p>
          <a:p>
            <a:pPr marL="1085850" lvl="1" indent="-457200" eaLnBrk="1" hangingPunct="1">
              <a:lnSpc>
                <a:spcPct val="110000"/>
              </a:lnSpc>
              <a:buNone/>
              <a:tabLst>
                <a:tab pos="4098925" algn="l"/>
              </a:tabLst>
            </a:pPr>
            <a:r>
              <a:rPr lang="zh-CN" altLang="en-US" dirty="0" smtClean="0">
                <a:sym typeface="Symbol" panose="05050102010706020507" pitchFamily="18" charset="2"/>
              </a:rPr>
              <a:t>  </a:t>
            </a:r>
            <a:r>
              <a:rPr lang="en-US" altLang="zh-CN" dirty="0" smtClean="0"/>
              <a:t>RS[</a:t>
            </a:r>
            <a:r>
              <a:rPr lang="en-US" altLang="zh-CN" dirty="0" smtClean="0">
                <a:solidFill>
                  <a:srgbClr val="E24C05"/>
                </a:solidFill>
              </a:rPr>
              <a:t>r</a:t>
            </a:r>
            <a:r>
              <a:rPr lang="en-US" altLang="zh-CN" dirty="0" smtClean="0"/>
              <a:t>].</a:t>
            </a:r>
            <a:r>
              <a:rPr lang="en-US" altLang="zh-CN" dirty="0" err="1" smtClean="0">
                <a:solidFill>
                  <a:srgbClr val="9933FF"/>
                </a:solidFill>
              </a:rPr>
              <a:t>Vj</a:t>
            </a:r>
            <a:r>
              <a:rPr lang="en-US" altLang="zh-CN" dirty="0" smtClean="0"/>
              <a:t> </a:t>
            </a:r>
            <a:r>
              <a:rPr lang="en-US" altLang="zh-CN" dirty="0" smtClean="0">
                <a:sym typeface="Symbol" panose="05050102010706020507" pitchFamily="18" charset="2"/>
              </a:rPr>
              <a:t></a:t>
            </a:r>
            <a:r>
              <a:rPr lang="en-US" altLang="zh-CN" dirty="0" smtClean="0"/>
              <a:t> </a:t>
            </a:r>
            <a:r>
              <a:rPr lang="en-US" altLang="zh-CN" dirty="0" err="1" smtClean="0"/>
              <a:t>Regs</a:t>
            </a:r>
            <a:r>
              <a:rPr lang="en-US" altLang="zh-CN" dirty="0" smtClean="0"/>
              <a:t>[</a:t>
            </a:r>
            <a:r>
              <a:rPr lang="en-US" altLang="zh-CN" dirty="0" err="1" smtClean="0">
                <a:solidFill>
                  <a:srgbClr val="D60093"/>
                </a:solidFill>
              </a:rPr>
              <a:t>rs</a:t>
            </a:r>
            <a:r>
              <a:rPr lang="en-US" altLang="zh-CN" dirty="0" smtClean="0"/>
              <a:t>]</a:t>
            </a:r>
            <a:r>
              <a:rPr lang="zh-CN" altLang="en-US"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第一操作数就绪，把寄存器</a:t>
            </a:r>
            <a:r>
              <a:rPr lang="en-US" altLang="zh-CN" sz="2000" b="1" dirty="0" err="1">
                <a:solidFill>
                  <a:srgbClr val="D60093"/>
                </a:solidFill>
                <a:latin typeface="宋体" panose="02010600030101010101" pitchFamily="2" charset="-122"/>
                <a:ea typeface="宋体" panose="02010600030101010101" pitchFamily="2" charset="-122"/>
              </a:rPr>
              <a:t>rs</a:t>
            </a:r>
            <a:r>
              <a:rPr lang="zh-CN" altLang="en-US" sz="2000" b="1" dirty="0">
                <a:solidFill>
                  <a:srgbClr val="000000"/>
                </a:solidFill>
                <a:latin typeface="宋体" panose="02010600030101010101" pitchFamily="2" charset="-122"/>
                <a:ea typeface="宋体" panose="02010600030101010101" pitchFamily="2" charset="-122"/>
              </a:rPr>
              <a:t>中的</a:t>
            </a:r>
          </a:p>
          <a:p>
            <a:pPr marL="1085850" lvl="1" indent="-457200" eaLnBrk="1" hangingPunct="1">
              <a:lnSpc>
                <a:spcPct val="110000"/>
              </a:lnSpc>
              <a:buNone/>
              <a:tabLst>
                <a:tab pos="4098925"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操作数取到当前缓冲器单元的</a:t>
            </a:r>
            <a:r>
              <a:rPr lang="en-US" altLang="zh-CN" sz="2000" b="1" dirty="0" err="1">
                <a:solidFill>
                  <a:srgbClr val="9933FF"/>
                </a:solidFill>
                <a:latin typeface="宋体" panose="02010600030101010101" pitchFamily="2" charset="-122"/>
                <a:ea typeface="宋体" panose="02010600030101010101" pitchFamily="2" charset="-122"/>
              </a:rPr>
              <a:t>Vj</a:t>
            </a:r>
            <a:endParaRPr lang="en-US" altLang="zh-CN" sz="2000" b="1" dirty="0">
              <a:solidFill>
                <a:srgbClr val="9933FF"/>
              </a:solidFill>
              <a:latin typeface="宋体" panose="02010600030101010101" pitchFamily="2" charset="-122"/>
              <a:ea typeface="宋体" panose="02010600030101010101" pitchFamily="2" charset="-122"/>
            </a:endParaRPr>
          </a:p>
          <a:p>
            <a:pPr marL="1085850" lvl="1" indent="-457200" eaLnBrk="1" hangingPunct="1">
              <a:lnSpc>
                <a:spcPct val="110000"/>
              </a:lnSpc>
              <a:buNone/>
              <a:tabLst>
                <a:tab pos="4098925" algn="l"/>
              </a:tabLst>
            </a:pPr>
            <a:r>
              <a:rPr lang="en-US" altLang="zh-CN" dirty="0" smtClean="0"/>
              <a:t>   RS[</a:t>
            </a:r>
            <a:r>
              <a:rPr lang="en-US" altLang="zh-CN" dirty="0" smtClean="0">
                <a:solidFill>
                  <a:srgbClr val="E24C05"/>
                </a:solidFill>
              </a:rPr>
              <a:t>r</a:t>
            </a:r>
            <a:r>
              <a:rPr lang="en-US" altLang="zh-CN" dirty="0" smtClean="0"/>
              <a:t>].</a:t>
            </a:r>
            <a:r>
              <a:rPr lang="en-US" altLang="zh-CN" dirty="0" err="1" smtClean="0"/>
              <a:t>Qj</a:t>
            </a:r>
            <a:r>
              <a:rPr lang="en-US" altLang="zh-CN" dirty="0" smtClean="0"/>
              <a:t> </a:t>
            </a:r>
            <a:r>
              <a:rPr lang="en-US" altLang="zh-CN" dirty="0" smtClean="0">
                <a:sym typeface="Symbol" panose="05050102010706020507" pitchFamily="18" charset="2"/>
              </a:rPr>
              <a:t></a:t>
            </a:r>
            <a:r>
              <a:rPr lang="en-US" altLang="zh-CN" dirty="0" smtClean="0"/>
              <a:t> 0 </a:t>
            </a:r>
            <a:r>
              <a:rPr lang="en-US" altLang="zh-CN" dirty="0" smtClean="0">
                <a:sym typeface="Symbol" panose="05050102010706020507" pitchFamily="18" charset="2"/>
              </a:rPr>
              <a:t></a:t>
            </a:r>
            <a:r>
              <a:rPr lang="zh-CN" altLang="en-US"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置</a:t>
            </a:r>
            <a:r>
              <a:rPr lang="en-US" altLang="zh-CN" sz="2000" b="1" dirty="0" err="1">
                <a:solidFill>
                  <a:srgbClr val="000000"/>
                </a:solidFill>
                <a:latin typeface="宋体" panose="02010600030101010101" pitchFamily="2" charset="-122"/>
                <a:ea typeface="宋体" panose="02010600030101010101" pitchFamily="2" charset="-122"/>
              </a:rPr>
              <a:t>Qj</a:t>
            </a:r>
            <a:r>
              <a:rPr lang="zh-CN" altLang="en-US" sz="2000" b="1" dirty="0">
                <a:solidFill>
                  <a:srgbClr val="000000"/>
                </a:solidFill>
                <a:latin typeface="宋体" panose="02010600030101010101" pitchFamily="2" charset="-122"/>
                <a:ea typeface="宋体" panose="02010600030101010101" pitchFamily="2" charset="-122"/>
              </a:rPr>
              <a:t>为</a:t>
            </a:r>
            <a:r>
              <a:rPr lang="en-US" altLang="zh-CN" sz="2000" b="1" dirty="0">
                <a:solidFill>
                  <a:srgbClr val="000000"/>
                </a:solidFill>
                <a:latin typeface="宋体" panose="02010600030101010101" pitchFamily="2" charset="-122"/>
                <a:ea typeface="宋体" panose="02010600030101010101" pitchFamily="2" charset="-122"/>
              </a:rPr>
              <a:t>0</a:t>
            </a:r>
            <a:r>
              <a:rPr lang="zh-CN" altLang="en-US" sz="2000" b="1" dirty="0">
                <a:solidFill>
                  <a:srgbClr val="000000"/>
                </a:solidFill>
                <a:latin typeface="宋体" panose="02010600030101010101" pitchFamily="2" charset="-122"/>
                <a:ea typeface="宋体" panose="02010600030101010101" pitchFamily="2" charset="-122"/>
              </a:rPr>
              <a:t>，表示当前缓冲器单元的</a:t>
            </a:r>
            <a:r>
              <a:rPr lang="en-US" altLang="zh-CN" sz="2000" b="1" dirty="0" err="1">
                <a:solidFill>
                  <a:srgbClr val="9933FF"/>
                </a:solidFill>
                <a:latin typeface="宋体" panose="02010600030101010101" pitchFamily="2" charset="-122"/>
                <a:ea typeface="宋体" panose="02010600030101010101" pitchFamily="2" charset="-122"/>
              </a:rPr>
              <a:t>Vj</a:t>
            </a:r>
            <a:endParaRPr lang="en-US" altLang="zh-CN" sz="2000" b="1" dirty="0">
              <a:solidFill>
                <a:srgbClr val="000000"/>
              </a:solidFill>
              <a:latin typeface="宋体" panose="02010600030101010101" pitchFamily="2" charset="-122"/>
              <a:ea typeface="宋体" panose="02010600030101010101" pitchFamily="2" charset="-122"/>
            </a:endParaRPr>
          </a:p>
          <a:p>
            <a:pPr marL="1085850" lvl="1" indent="-457200" eaLnBrk="1" hangingPunct="1">
              <a:lnSpc>
                <a:spcPct val="110000"/>
              </a:lnSpc>
              <a:buNone/>
              <a:tabLst>
                <a:tab pos="4098925" algn="l"/>
              </a:tabLst>
            </a:pPr>
            <a:r>
              <a:rPr lang="en-US" altLang="zh-CN" sz="2000" b="1" dirty="0">
                <a:solidFill>
                  <a:srgbClr val="000000"/>
                </a:solidFill>
                <a:latin typeface="宋体" panose="02010600030101010101" pitchFamily="2" charset="-122"/>
                <a:ea typeface="宋体" panose="02010600030101010101" pitchFamily="2" charset="-122"/>
              </a:rPr>
              <a:t>                         	// </a:t>
            </a:r>
            <a:r>
              <a:rPr lang="zh-CN" altLang="en-US" sz="2000" b="1" dirty="0">
                <a:solidFill>
                  <a:srgbClr val="000000"/>
                </a:solidFill>
                <a:latin typeface="宋体" panose="02010600030101010101" pitchFamily="2" charset="-122"/>
                <a:ea typeface="宋体" panose="02010600030101010101" pitchFamily="2" charset="-122"/>
              </a:rPr>
              <a:t>中的操作数就绪。</a:t>
            </a:r>
          </a:p>
          <a:p>
            <a:pPr marL="1085850" lvl="1" indent="-457200" eaLnBrk="1" hangingPunct="1">
              <a:lnSpc>
                <a:spcPct val="110000"/>
              </a:lnSpc>
              <a:buNone/>
              <a:tabLst>
                <a:tab pos="4098925" algn="l"/>
              </a:tabLst>
            </a:pPr>
            <a:r>
              <a:rPr lang="zh-CN" altLang="en-US" dirty="0" smtClean="0"/>
              <a:t> </a:t>
            </a:r>
            <a:r>
              <a:rPr lang="en-US" altLang="zh-CN" dirty="0" smtClean="0"/>
              <a:t>else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第一操作数没有就绪</a:t>
            </a:r>
            <a:endParaRPr lang="zh-CN" altLang="en-US" sz="2000" b="1" dirty="0">
              <a:solidFill>
                <a:srgbClr val="000000"/>
              </a:solidFill>
              <a:latin typeface="宋体" panose="02010600030101010101" pitchFamily="2" charset="-122"/>
              <a:ea typeface="宋体" panose="02010600030101010101" pitchFamily="2" charset="-122"/>
              <a:sym typeface="Symbol" panose="05050102010706020507" pitchFamily="18" charset="2"/>
            </a:endParaRPr>
          </a:p>
          <a:p>
            <a:pPr marL="1085850" lvl="1" indent="-457200" eaLnBrk="1" hangingPunct="1">
              <a:lnSpc>
                <a:spcPct val="110000"/>
              </a:lnSpc>
              <a:buNone/>
              <a:tabLst>
                <a:tab pos="4098925" algn="l"/>
              </a:tabLst>
            </a:pPr>
            <a:r>
              <a:rPr lang="zh-CN" altLang="en-US" dirty="0" smtClean="0">
                <a:sym typeface="Symbol" panose="05050102010706020507" pitchFamily="18" charset="2"/>
              </a:rPr>
              <a:t>  </a:t>
            </a:r>
            <a:r>
              <a:rPr lang="en-US" altLang="zh-CN" dirty="0" smtClean="0"/>
              <a:t>RS[</a:t>
            </a:r>
            <a:r>
              <a:rPr lang="en-US" altLang="zh-CN" dirty="0" smtClean="0">
                <a:solidFill>
                  <a:srgbClr val="E24C05"/>
                </a:solidFill>
              </a:rPr>
              <a:t>r</a:t>
            </a:r>
            <a:r>
              <a:rPr lang="en-US" altLang="zh-CN" dirty="0" smtClean="0"/>
              <a:t>].</a:t>
            </a:r>
            <a:r>
              <a:rPr lang="en-US" altLang="zh-CN" dirty="0" err="1" smtClean="0"/>
              <a:t>Qj</a:t>
            </a:r>
            <a:r>
              <a:rPr lang="en-US" altLang="zh-CN" dirty="0" smtClean="0"/>
              <a:t> </a:t>
            </a:r>
            <a:r>
              <a:rPr lang="en-US" altLang="zh-CN" dirty="0" smtClean="0">
                <a:sym typeface="Symbol" panose="05050102010706020507" pitchFamily="18" charset="2"/>
              </a:rPr>
              <a:t></a:t>
            </a:r>
            <a:r>
              <a:rPr lang="en-US" altLang="zh-CN" dirty="0" smtClean="0"/>
              <a:t> Qi[</a:t>
            </a:r>
            <a:r>
              <a:rPr lang="en-US" altLang="zh-CN" dirty="0" err="1" smtClean="0">
                <a:solidFill>
                  <a:srgbClr val="D60093"/>
                </a:solidFill>
              </a:rPr>
              <a:t>rs</a:t>
            </a:r>
            <a:r>
              <a:rPr lang="en-US" altLang="zh-CN" dirty="0" smtClean="0"/>
              <a:t>] </a:t>
            </a:r>
            <a:r>
              <a:rPr lang="en-US" altLang="zh-CN" dirty="0" smtClean="0">
                <a:sym typeface="Symbol" panose="05050102010706020507" pitchFamily="18" charset="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C20A73"/>
                </a:solidFill>
                <a:latin typeface="黑体" panose="02010609060101010101" pitchFamily="49" charset="-122"/>
              </a:rPr>
              <a:t>进行寄存器换名</a:t>
            </a:r>
            <a:r>
              <a:rPr lang="zh-CN" altLang="en-US" sz="2000" b="1" dirty="0">
                <a:solidFill>
                  <a:srgbClr val="000000"/>
                </a:solidFill>
                <a:latin typeface="宋体" panose="02010600030101010101" pitchFamily="2" charset="-122"/>
                <a:ea typeface="宋体" panose="02010600030101010101" pitchFamily="2" charset="-122"/>
              </a:rPr>
              <a:t>，即把将产生该   </a:t>
            </a:r>
          </a:p>
          <a:p>
            <a:pPr marL="1085850" lvl="1" indent="-457200" eaLnBrk="1" hangingPunct="1">
              <a:lnSpc>
                <a:spcPct val="110000"/>
              </a:lnSpc>
              <a:buNone/>
              <a:tabLst>
                <a:tab pos="4098925"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操作数的保留站的编号存入当前缓冲器单元的</a:t>
            </a:r>
            <a:r>
              <a:rPr lang="en-US" altLang="zh-CN" sz="2000" b="1" dirty="0" err="1">
                <a:solidFill>
                  <a:srgbClr val="000000"/>
                </a:solidFill>
                <a:latin typeface="宋体" panose="02010600030101010101" pitchFamily="2" charset="-122"/>
                <a:ea typeface="宋体" panose="02010600030101010101" pitchFamily="2" charset="-122"/>
              </a:rPr>
              <a:t>Qj</a:t>
            </a:r>
            <a:r>
              <a:rPr lang="zh-CN" altLang="en-US" sz="2000" b="1" dirty="0">
                <a:solidFill>
                  <a:srgbClr val="000000"/>
                </a:solidFill>
                <a:latin typeface="宋体" panose="02010600030101010101" pitchFamily="2" charset="-122"/>
                <a:ea typeface="宋体" panose="02010600030101010101" pitchFamily="2" charset="-122"/>
              </a:rPr>
              <a:t>。</a:t>
            </a:r>
          </a:p>
        </p:txBody>
      </p:sp>
      <p:sp>
        <p:nvSpPr>
          <p:cNvPr id="235523" name="Rectangle 14"/>
          <p:cNvSpPr>
            <a:spLocks noChangeArrowheads="1"/>
          </p:cNvSpPr>
          <p:nvPr/>
        </p:nvSpPr>
        <p:spPr bwMode="auto">
          <a:xfrm>
            <a:off x="9372600" y="12776"/>
            <a:ext cx="26677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b="1" dirty="0">
                <a:solidFill>
                  <a:srgbClr val="40458C"/>
                </a:solidFill>
                <a:latin typeface="楷体_GB2312" pitchFamily="49" charset="-122"/>
                <a:ea typeface="楷体_GB2312" pitchFamily="49" charset="-122"/>
              </a:rPr>
              <a:t>L.D F2</a:t>
            </a:r>
            <a:r>
              <a:rPr lang="zh-CN" altLang="en-US" b="1" dirty="0">
                <a:solidFill>
                  <a:srgbClr val="40458C"/>
                </a:solidFill>
                <a:latin typeface="楷体_GB2312" pitchFamily="49" charset="-122"/>
                <a:ea typeface="楷体_GB2312" pitchFamily="49" charset="-122"/>
              </a:rPr>
              <a:t>，</a:t>
            </a:r>
            <a:r>
              <a:rPr lang="en-US" altLang="zh-CN" b="1" dirty="0">
                <a:solidFill>
                  <a:srgbClr val="40458C"/>
                </a:solidFill>
                <a:latin typeface="楷体_GB2312" pitchFamily="49" charset="-122"/>
                <a:ea typeface="楷体_GB2312" pitchFamily="49" charset="-122"/>
              </a:rPr>
              <a:t>45</a:t>
            </a:r>
            <a:r>
              <a:rPr lang="zh-CN" altLang="en-US" b="1" dirty="0">
                <a:solidFill>
                  <a:srgbClr val="40458C"/>
                </a:solidFill>
                <a:latin typeface="楷体_GB2312" pitchFamily="49" charset="-122"/>
                <a:ea typeface="楷体_GB2312" pitchFamily="49" charset="-122"/>
              </a:rPr>
              <a:t>（</a:t>
            </a:r>
            <a:r>
              <a:rPr lang="en-US" altLang="zh-CN" b="1" dirty="0">
                <a:solidFill>
                  <a:srgbClr val="40458C"/>
                </a:solidFill>
                <a:latin typeface="楷体_GB2312" pitchFamily="49" charset="-122"/>
                <a:ea typeface="楷体_GB2312" pitchFamily="49" charset="-122"/>
              </a:rPr>
              <a:t>R3</a:t>
            </a:r>
            <a:r>
              <a:rPr lang="zh-CN" altLang="en-US" b="1" dirty="0">
                <a:solidFill>
                  <a:srgbClr val="40458C"/>
                </a:solidFill>
                <a:latin typeface="楷体_GB2312" pitchFamily="49" charset="-122"/>
                <a:ea typeface="楷体_GB2312" pitchFamily="49" charset="-122"/>
              </a:rPr>
              <a:t>）</a:t>
            </a:r>
          </a:p>
        </p:txBody>
      </p:sp>
      <p:grpSp>
        <p:nvGrpSpPr>
          <p:cNvPr id="235524" name="Group 15"/>
          <p:cNvGrpSpPr>
            <a:grpSpLocks/>
          </p:cNvGrpSpPr>
          <p:nvPr/>
        </p:nvGrpSpPr>
        <p:grpSpPr bwMode="auto">
          <a:xfrm>
            <a:off x="10058400" y="546175"/>
            <a:ext cx="2133600" cy="1524000"/>
            <a:chOff x="3577" y="1498"/>
            <a:chExt cx="1344" cy="960"/>
          </a:xfrm>
        </p:grpSpPr>
        <p:sp>
          <p:nvSpPr>
            <p:cNvPr id="235526" name="Rectangle 16"/>
            <p:cNvSpPr>
              <a:spLocks noChangeArrowheads="1"/>
            </p:cNvSpPr>
            <p:nvPr/>
          </p:nvSpPr>
          <p:spPr bwMode="auto">
            <a:xfrm>
              <a:off x="4345" y="1786"/>
              <a:ext cx="5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楷体_GB2312" pitchFamily="49" charset="-122"/>
                  <a:ea typeface="楷体_GB2312" pitchFamily="49" charset="-122"/>
                </a:rPr>
                <a:t>rs</a:t>
              </a:r>
            </a:p>
          </p:txBody>
        </p:sp>
        <p:sp>
          <p:nvSpPr>
            <p:cNvPr id="235527" name="Line 17"/>
            <p:cNvSpPr>
              <a:spLocks noChangeShapeType="1"/>
            </p:cNvSpPr>
            <p:nvPr/>
          </p:nvSpPr>
          <p:spPr bwMode="auto">
            <a:xfrm flipV="1">
              <a:off x="4489"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Tahoma" panose="020B0604030504040204" pitchFamily="34" charset="0"/>
                <a:ea typeface="黑体" panose="02010609060101010101" pitchFamily="49" charset="-122"/>
              </a:endParaRPr>
            </a:p>
          </p:txBody>
        </p:sp>
        <p:sp>
          <p:nvSpPr>
            <p:cNvPr id="235528" name="Rectangle 18"/>
            <p:cNvSpPr>
              <a:spLocks noChangeArrowheads="1"/>
            </p:cNvSpPr>
            <p:nvPr/>
          </p:nvSpPr>
          <p:spPr bwMode="auto">
            <a:xfrm>
              <a:off x="3577" y="1786"/>
              <a:ext cx="4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楷体_GB2312" pitchFamily="49" charset="-122"/>
                  <a:ea typeface="楷体_GB2312" pitchFamily="49" charset="-122"/>
                </a:rPr>
                <a:t>rt</a:t>
              </a:r>
            </a:p>
          </p:txBody>
        </p:sp>
        <p:sp>
          <p:nvSpPr>
            <p:cNvPr id="235529" name="Line 19"/>
            <p:cNvSpPr>
              <a:spLocks noChangeShapeType="1"/>
            </p:cNvSpPr>
            <p:nvPr/>
          </p:nvSpPr>
          <p:spPr bwMode="auto">
            <a:xfrm flipV="1">
              <a:off x="3721"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Tahoma" panose="020B0604030504040204" pitchFamily="34" charset="0"/>
                <a:ea typeface="黑体" panose="02010609060101010101" pitchFamily="49" charset="-122"/>
              </a:endParaRPr>
            </a:p>
          </p:txBody>
        </p:sp>
        <p:sp>
          <p:nvSpPr>
            <p:cNvPr id="235530" name="Rectangle 20"/>
            <p:cNvSpPr>
              <a:spLocks noChangeArrowheads="1"/>
            </p:cNvSpPr>
            <p:nvPr/>
          </p:nvSpPr>
          <p:spPr bwMode="auto">
            <a:xfrm>
              <a:off x="3913" y="1825"/>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b="1">
                  <a:solidFill>
                    <a:srgbClr val="D60093"/>
                  </a:solidFill>
                  <a:latin typeface="楷体_GB2312" pitchFamily="49" charset="-122"/>
                  <a:ea typeface="楷体_GB2312" pitchFamily="49" charset="-122"/>
                </a:rPr>
                <a:t>imm</a:t>
              </a:r>
            </a:p>
          </p:txBody>
        </p:sp>
        <p:sp>
          <p:nvSpPr>
            <p:cNvPr id="235531" name="Line 21"/>
            <p:cNvSpPr>
              <a:spLocks noChangeShapeType="1"/>
            </p:cNvSpPr>
            <p:nvPr/>
          </p:nvSpPr>
          <p:spPr bwMode="auto">
            <a:xfrm flipV="1">
              <a:off x="4105"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Tahoma" panose="020B0604030504040204" pitchFamily="34" charset="0"/>
                <a:ea typeface="黑体" panose="02010609060101010101" pitchFamily="49" charset="-122"/>
              </a:endParaRPr>
            </a:p>
          </p:txBody>
        </p:sp>
        <p:sp>
          <p:nvSpPr>
            <p:cNvPr id="235532" name="Rectangle 22"/>
            <p:cNvSpPr>
              <a:spLocks noChangeArrowheads="1"/>
            </p:cNvSpPr>
            <p:nvPr/>
          </p:nvSpPr>
          <p:spPr bwMode="auto">
            <a:xfrm>
              <a:off x="4393" y="2122"/>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楷体_GB2312" pitchFamily="49" charset="-122"/>
                  <a:ea typeface="楷体_GB2312" pitchFamily="49" charset="-122"/>
                </a:rPr>
                <a:t>j</a:t>
              </a:r>
            </a:p>
          </p:txBody>
        </p:sp>
        <p:sp>
          <p:nvSpPr>
            <p:cNvPr id="235533" name="Rectangle 23"/>
            <p:cNvSpPr>
              <a:spLocks noChangeArrowheads="1"/>
            </p:cNvSpPr>
            <p:nvPr/>
          </p:nvSpPr>
          <p:spPr bwMode="auto">
            <a:xfrm>
              <a:off x="3625" y="2131"/>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楷体_GB2312" pitchFamily="49" charset="-122"/>
                  <a:ea typeface="楷体_GB2312" pitchFamily="49" charset="-122"/>
                </a:rPr>
                <a:t>k</a:t>
              </a:r>
            </a:p>
          </p:txBody>
        </p:sp>
      </p:grpSp>
    </p:spTree>
    <p:extLst>
      <p:ext uri="{BB962C8B-B14F-4D97-AF65-F5344CB8AC3E}">
        <p14:creationId xmlns:p14="http://schemas.microsoft.com/office/powerpoint/2010/main" val="23105609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36546" name="Rectangle 3" descr="Rectangle: Click to edit Master text styles&#10;Second level&#10;Third level&#10;Fourth level&#10;Fifth level"/>
          <p:cNvSpPr>
            <a:spLocks noGrp="1" noChangeArrowheads="1"/>
          </p:cNvSpPr>
          <p:nvPr>
            <p:ph idx="1"/>
          </p:nvPr>
        </p:nvSpPr>
        <p:spPr>
          <a:xfrm>
            <a:off x="495301" y="1281113"/>
            <a:ext cx="7772400" cy="3744912"/>
          </a:xfrm>
        </p:spPr>
        <p:txBody>
          <a:bodyPr/>
          <a:lstStyle/>
          <a:p>
            <a:pPr marL="457200" indent="-457200" eaLnBrk="1" hangingPunct="1">
              <a:buNone/>
              <a:tabLst>
                <a:tab pos="3521075" algn="l"/>
              </a:tabLst>
            </a:pPr>
            <a:r>
              <a:rPr lang="en-US" altLang="zh-CN" dirty="0" smtClean="0">
                <a:solidFill>
                  <a:schemeClr val="tx1"/>
                </a:solidFill>
              </a:rPr>
              <a:t>RS[</a:t>
            </a:r>
            <a:r>
              <a:rPr lang="en-US" altLang="zh-CN" dirty="0" smtClean="0"/>
              <a:t>r</a:t>
            </a:r>
            <a:r>
              <a:rPr lang="en-US" altLang="zh-CN" dirty="0" smtClean="0">
                <a:solidFill>
                  <a:schemeClr val="tx1"/>
                </a:solidFill>
              </a:rPr>
              <a:t>].Busy </a:t>
            </a:r>
            <a:r>
              <a:rPr lang="en-US" altLang="zh-CN" dirty="0" smtClean="0">
                <a:solidFill>
                  <a:schemeClr val="tx1"/>
                </a:solidFill>
                <a:sym typeface="Symbol" panose="05050102010706020507" pitchFamily="18" charset="2"/>
              </a:rPr>
              <a:t></a:t>
            </a:r>
            <a:r>
              <a:rPr lang="en-US" altLang="zh-CN" dirty="0" smtClean="0">
                <a:solidFill>
                  <a:schemeClr val="tx1"/>
                </a:solidFill>
              </a:rPr>
              <a:t> yes</a:t>
            </a:r>
            <a:r>
              <a:rPr lang="zh-CN" altLang="en-US"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置当前缓冲器单元为“忙”</a:t>
            </a:r>
          </a:p>
          <a:p>
            <a:pPr marL="457200" indent="-457200" eaLnBrk="1" hangingPunct="1">
              <a:buNone/>
              <a:tabLst>
                <a:tab pos="3521075" algn="l"/>
              </a:tabLst>
            </a:pPr>
            <a:r>
              <a:rPr lang="en-US" altLang="zh-CN" dirty="0" smtClean="0">
                <a:solidFill>
                  <a:schemeClr val="tx1"/>
                </a:solidFill>
              </a:rPr>
              <a:t>RS[</a:t>
            </a:r>
            <a:r>
              <a:rPr lang="en-US" altLang="zh-CN" dirty="0" smtClean="0"/>
              <a:t>r</a:t>
            </a:r>
            <a:r>
              <a:rPr lang="en-US" altLang="zh-CN" dirty="0" smtClean="0">
                <a:solidFill>
                  <a:schemeClr val="tx1"/>
                </a:solidFill>
              </a:rPr>
              <a:t>].A </a:t>
            </a:r>
            <a:r>
              <a:rPr lang="en-US" altLang="zh-CN" dirty="0" smtClean="0">
                <a:solidFill>
                  <a:schemeClr val="tx1"/>
                </a:solidFill>
                <a:sym typeface="Symbol" panose="05050102010706020507" pitchFamily="18" charset="2"/>
              </a:rPr>
              <a:t></a:t>
            </a:r>
            <a:r>
              <a:rPr lang="en-US" altLang="zh-CN" dirty="0" smtClean="0">
                <a:solidFill>
                  <a:schemeClr val="tx1"/>
                </a:solidFill>
              </a:rPr>
              <a:t> </a:t>
            </a:r>
            <a:r>
              <a:rPr lang="en-US" altLang="zh-CN" dirty="0" err="1" smtClean="0">
                <a:solidFill>
                  <a:srgbClr val="D60093"/>
                </a:solidFill>
              </a:rPr>
              <a:t>Imm</a:t>
            </a:r>
            <a:r>
              <a:rPr lang="zh-CN" altLang="en-US"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把符号位扩展后的偏移量放入</a:t>
            </a:r>
          </a:p>
          <a:p>
            <a:pPr marL="457200" indent="-457200" eaLnBrk="1" hangingPunct="1">
              <a:buNone/>
              <a:tabLst>
                <a:tab pos="3521075"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当前缓冲器单元的</a:t>
            </a:r>
            <a:r>
              <a:rPr lang="en-US" altLang="zh-CN" sz="2000" b="1" dirty="0">
                <a:solidFill>
                  <a:srgbClr val="000000"/>
                </a:solidFill>
                <a:latin typeface="宋体" panose="02010600030101010101" pitchFamily="2" charset="-122"/>
                <a:ea typeface="宋体" panose="02010600030101010101" pitchFamily="2" charset="-122"/>
              </a:rPr>
              <a:t>A                               </a:t>
            </a:r>
          </a:p>
          <a:p>
            <a:pPr marL="457200" indent="-457200" eaLnBrk="1" hangingPunct="1">
              <a:buNone/>
              <a:tabLst>
                <a:tab pos="3521075" algn="l"/>
              </a:tabLst>
            </a:pPr>
            <a:r>
              <a:rPr lang="zh-CN" altLang="en-US" b="1" dirty="0" smtClean="0">
                <a:solidFill>
                  <a:schemeClr val="hlink"/>
                </a:solidFill>
                <a:latin typeface="宋体" panose="02010600030101010101" pitchFamily="2" charset="-122"/>
                <a:ea typeface="宋体" panose="02010600030101010101" pitchFamily="2" charset="-122"/>
              </a:rPr>
              <a:t>对于</a:t>
            </a:r>
            <a:r>
              <a:rPr lang="en-US" altLang="zh-CN" b="1" dirty="0" smtClean="0">
                <a:solidFill>
                  <a:schemeClr val="hlink"/>
                </a:solidFill>
                <a:latin typeface="宋体" panose="02010600030101010101" pitchFamily="2" charset="-122"/>
                <a:ea typeface="宋体" panose="02010600030101010101" pitchFamily="2" charset="-122"/>
              </a:rPr>
              <a:t>load</a:t>
            </a:r>
            <a:r>
              <a:rPr lang="zh-CN" altLang="en-US" b="1" dirty="0" smtClean="0">
                <a:solidFill>
                  <a:schemeClr val="hlink"/>
                </a:solidFill>
                <a:latin typeface="宋体" panose="02010600030101010101" pitchFamily="2" charset="-122"/>
                <a:ea typeface="宋体" panose="02010600030101010101" pitchFamily="2" charset="-122"/>
              </a:rPr>
              <a:t>指令：</a:t>
            </a:r>
          </a:p>
          <a:p>
            <a:pPr marL="457200" indent="-457200" eaLnBrk="1" hangingPunct="1">
              <a:buNone/>
              <a:tabLst>
                <a:tab pos="3521075" algn="l"/>
              </a:tabLst>
            </a:pPr>
            <a:r>
              <a:rPr lang="en-US" altLang="zh-CN" dirty="0" smtClean="0">
                <a:solidFill>
                  <a:schemeClr val="tx1"/>
                </a:solidFill>
              </a:rPr>
              <a:t>Qi[</a:t>
            </a:r>
            <a:r>
              <a:rPr lang="en-US" altLang="zh-CN" dirty="0" err="1" smtClean="0">
                <a:solidFill>
                  <a:srgbClr val="D60093"/>
                </a:solidFill>
              </a:rPr>
              <a:t>rt</a:t>
            </a:r>
            <a:r>
              <a:rPr lang="en-US" altLang="zh-CN" dirty="0" smtClean="0">
                <a:solidFill>
                  <a:schemeClr val="tx1"/>
                </a:solidFill>
              </a:rPr>
              <a:t>] </a:t>
            </a:r>
            <a:r>
              <a:rPr lang="en-US" altLang="zh-CN" dirty="0" smtClean="0">
                <a:solidFill>
                  <a:schemeClr val="tx1"/>
                </a:solidFill>
                <a:sym typeface="Symbol" panose="05050102010706020507" pitchFamily="18" charset="2"/>
              </a:rPr>
              <a:t></a:t>
            </a:r>
            <a:r>
              <a:rPr lang="en-US" altLang="zh-CN" dirty="0" smtClean="0">
                <a:solidFill>
                  <a:schemeClr val="tx1"/>
                </a:solidFill>
              </a:rPr>
              <a:t> </a:t>
            </a:r>
            <a:r>
              <a:rPr lang="en-US" altLang="zh-CN" dirty="0" smtClean="0"/>
              <a:t>r</a:t>
            </a:r>
            <a:r>
              <a:rPr lang="zh-CN" altLang="en-US"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把当前缓冲器单元的编号</a:t>
            </a:r>
            <a:r>
              <a:rPr lang="en-US" altLang="zh-CN" sz="2000" b="1" dirty="0">
                <a:latin typeface="宋体" panose="02010600030101010101" pitchFamily="2" charset="-122"/>
                <a:ea typeface="宋体" panose="02010600030101010101" pitchFamily="2" charset="-122"/>
              </a:rPr>
              <a:t>r</a:t>
            </a:r>
            <a:r>
              <a:rPr lang="zh-CN" altLang="en-US" sz="2000" b="1" dirty="0">
                <a:solidFill>
                  <a:srgbClr val="000000"/>
                </a:solidFill>
                <a:latin typeface="宋体" panose="02010600030101010101" pitchFamily="2" charset="-122"/>
                <a:ea typeface="宋体" panose="02010600030101010101" pitchFamily="2" charset="-122"/>
              </a:rPr>
              <a:t>放入</a:t>
            </a:r>
          </a:p>
          <a:p>
            <a:pPr marL="457200" indent="-457200" eaLnBrk="1" hangingPunct="1">
              <a:buNone/>
              <a:tabLst>
                <a:tab pos="3521075"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load</a:t>
            </a:r>
            <a:r>
              <a:rPr lang="zh-CN" altLang="en-US" sz="2000" b="1" dirty="0">
                <a:solidFill>
                  <a:srgbClr val="000000"/>
                </a:solidFill>
                <a:latin typeface="宋体" panose="02010600030101010101" pitchFamily="2" charset="-122"/>
                <a:ea typeface="宋体" panose="02010600030101010101" pitchFamily="2" charset="-122"/>
              </a:rPr>
              <a:t>指令的目标寄存器</a:t>
            </a:r>
            <a:r>
              <a:rPr lang="en-US" altLang="zh-CN" sz="2000" b="1" dirty="0" err="1">
                <a:solidFill>
                  <a:srgbClr val="D60093"/>
                </a:solidFill>
                <a:latin typeface="宋体" panose="02010600030101010101" pitchFamily="2" charset="-122"/>
                <a:ea typeface="宋体" panose="02010600030101010101" pitchFamily="2" charset="-122"/>
              </a:rPr>
              <a:t>rt</a:t>
            </a:r>
            <a:r>
              <a:rPr lang="zh-CN" altLang="en-US" sz="2000" b="1" dirty="0">
                <a:solidFill>
                  <a:srgbClr val="000000"/>
                </a:solidFill>
                <a:latin typeface="宋体" panose="02010600030101010101" pitchFamily="2" charset="-122"/>
                <a:ea typeface="宋体" panose="02010600030101010101" pitchFamily="2" charset="-122"/>
              </a:rPr>
              <a:t>所对应的寄存器</a:t>
            </a:r>
          </a:p>
          <a:p>
            <a:pPr marL="457200" indent="-457200" eaLnBrk="1" hangingPunct="1">
              <a:buNone/>
              <a:tabLst>
                <a:tab pos="3521075"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状态表项，以便</a:t>
            </a:r>
            <a:r>
              <a:rPr lang="en-US" altLang="zh-CN" sz="2000" b="1" dirty="0" err="1">
                <a:solidFill>
                  <a:srgbClr val="D60093"/>
                </a:solidFill>
                <a:latin typeface="宋体" panose="02010600030101010101" pitchFamily="2" charset="-122"/>
                <a:ea typeface="宋体" panose="02010600030101010101" pitchFamily="2" charset="-122"/>
              </a:rPr>
              <a:t>rt</a:t>
            </a:r>
            <a:r>
              <a:rPr lang="zh-CN" altLang="en-US" sz="2000" b="1" dirty="0">
                <a:solidFill>
                  <a:srgbClr val="000000"/>
                </a:solidFill>
                <a:latin typeface="宋体" panose="02010600030101010101" pitchFamily="2" charset="-122"/>
                <a:ea typeface="宋体" panose="02010600030101010101" pitchFamily="2" charset="-122"/>
              </a:rPr>
              <a:t>将来接收所取的数据。</a:t>
            </a:r>
          </a:p>
        </p:txBody>
      </p:sp>
      <p:sp>
        <p:nvSpPr>
          <p:cNvPr id="236547" name="Rectangle 44"/>
          <p:cNvSpPr>
            <a:spLocks noChangeArrowheads="1"/>
          </p:cNvSpPr>
          <p:nvPr/>
        </p:nvSpPr>
        <p:spPr bwMode="auto">
          <a:xfrm>
            <a:off x="9464040" y="0"/>
            <a:ext cx="26677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b="1">
                <a:solidFill>
                  <a:srgbClr val="40458C"/>
                </a:solidFill>
                <a:latin typeface="楷体_GB2312" pitchFamily="49" charset="-122"/>
                <a:ea typeface="楷体_GB2312" pitchFamily="49" charset="-122"/>
              </a:rPr>
              <a:t>L.D F2</a:t>
            </a:r>
            <a:r>
              <a:rPr lang="zh-CN" altLang="en-US" b="1">
                <a:solidFill>
                  <a:srgbClr val="40458C"/>
                </a:solidFill>
                <a:latin typeface="楷体_GB2312" pitchFamily="49" charset="-122"/>
                <a:ea typeface="楷体_GB2312" pitchFamily="49" charset="-122"/>
              </a:rPr>
              <a:t>，</a:t>
            </a:r>
            <a:r>
              <a:rPr lang="en-US" altLang="zh-CN" b="1">
                <a:solidFill>
                  <a:srgbClr val="40458C"/>
                </a:solidFill>
                <a:latin typeface="楷体_GB2312" pitchFamily="49" charset="-122"/>
                <a:ea typeface="楷体_GB2312" pitchFamily="49" charset="-122"/>
              </a:rPr>
              <a:t>45</a:t>
            </a:r>
            <a:r>
              <a:rPr lang="zh-CN" altLang="en-US" b="1">
                <a:solidFill>
                  <a:srgbClr val="40458C"/>
                </a:solidFill>
                <a:latin typeface="楷体_GB2312" pitchFamily="49" charset="-122"/>
                <a:ea typeface="楷体_GB2312" pitchFamily="49" charset="-122"/>
              </a:rPr>
              <a:t>（</a:t>
            </a:r>
            <a:r>
              <a:rPr lang="en-US" altLang="zh-CN" b="1">
                <a:solidFill>
                  <a:srgbClr val="40458C"/>
                </a:solidFill>
                <a:latin typeface="楷体_GB2312" pitchFamily="49" charset="-122"/>
                <a:ea typeface="楷体_GB2312" pitchFamily="49" charset="-122"/>
              </a:rPr>
              <a:t>R3</a:t>
            </a:r>
            <a:r>
              <a:rPr lang="zh-CN" altLang="en-US" b="1">
                <a:solidFill>
                  <a:srgbClr val="40458C"/>
                </a:solidFill>
                <a:latin typeface="楷体_GB2312" pitchFamily="49" charset="-122"/>
                <a:ea typeface="楷体_GB2312" pitchFamily="49" charset="-122"/>
              </a:rPr>
              <a:t>）</a:t>
            </a:r>
          </a:p>
        </p:txBody>
      </p:sp>
      <p:grpSp>
        <p:nvGrpSpPr>
          <p:cNvPr id="236548" name="Group 45"/>
          <p:cNvGrpSpPr>
            <a:grpSpLocks/>
          </p:cNvGrpSpPr>
          <p:nvPr/>
        </p:nvGrpSpPr>
        <p:grpSpPr bwMode="auto">
          <a:xfrm>
            <a:off x="10149840" y="533399"/>
            <a:ext cx="2133600" cy="1524000"/>
            <a:chOff x="3577" y="1498"/>
            <a:chExt cx="1344" cy="960"/>
          </a:xfrm>
        </p:grpSpPr>
        <p:sp>
          <p:nvSpPr>
            <p:cNvPr id="236549" name="Rectangle 46"/>
            <p:cNvSpPr>
              <a:spLocks noChangeArrowheads="1"/>
            </p:cNvSpPr>
            <p:nvPr/>
          </p:nvSpPr>
          <p:spPr bwMode="auto">
            <a:xfrm>
              <a:off x="4345" y="1786"/>
              <a:ext cx="5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楷体_GB2312" pitchFamily="49" charset="-122"/>
                  <a:ea typeface="楷体_GB2312" pitchFamily="49" charset="-122"/>
                </a:rPr>
                <a:t>rs</a:t>
              </a:r>
            </a:p>
          </p:txBody>
        </p:sp>
        <p:sp>
          <p:nvSpPr>
            <p:cNvPr id="236550" name="Line 47"/>
            <p:cNvSpPr>
              <a:spLocks noChangeShapeType="1"/>
            </p:cNvSpPr>
            <p:nvPr/>
          </p:nvSpPr>
          <p:spPr bwMode="auto">
            <a:xfrm flipV="1">
              <a:off x="4489"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Tahoma" panose="020B0604030504040204" pitchFamily="34" charset="0"/>
                <a:ea typeface="黑体" panose="02010609060101010101" pitchFamily="49" charset="-122"/>
              </a:endParaRPr>
            </a:p>
          </p:txBody>
        </p:sp>
        <p:sp>
          <p:nvSpPr>
            <p:cNvPr id="236551" name="Rectangle 48"/>
            <p:cNvSpPr>
              <a:spLocks noChangeArrowheads="1"/>
            </p:cNvSpPr>
            <p:nvPr/>
          </p:nvSpPr>
          <p:spPr bwMode="auto">
            <a:xfrm>
              <a:off x="3577" y="1786"/>
              <a:ext cx="4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楷体_GB2312" pitchFamily="49" charset="-122"/>
                  <a:ea typeface="楷体_GB2312" pitchFamily="49" charset="-122"/>
                </a:rPr>
                <a:t>rt</a:t>
              </a:r>
            </a:p>
          </p:txBody>
        </p:sp>
        <p:sp>
          <p:nvSpPr>
            <p:cNvPr id="236552" name="Line 49"/>
            <p:cNvSpPr>
              <a:spLocks noChangeShapeType="1"/>
            </p:cNvSpPr>
            <p:nvPr/>
          </p:nvSpPr>
          <p:spPr bwMode="auto">
            <a:xfrm flipV="1">
              <a:off x="3721"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Tahoma" panose="020B0604030504040204" pitchFamily="34" charset="0"/>
                <a:ea typeface="黑体" panose="02010609060101010101" pitchFamily="49" charset="-122"/>
              </a:endParaRPr>
            </a:p>
          </p:txBody>
        </p:sp>
        <p:sp>
          <p:nvSpPr>
            <p:cNvPr id="236553" name="Rectangle 50"/>
            <p:cNvSpPr>
              <a:spLocks noChangeArrowheads="1"/>
            </p:cNvSpPr>
            <p:nvPr/>
          </p:nvSpPr>
          <p:spPr bwMode="auto">
            <a:xfrm>
              <a:off x="3913" y="1825"/>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b="1">
                  <a:solidFill>
                    <a:srgbClr val="D60093"/>
                  </a:solidFill>
                  <a:latin typeface="楷体_GB2312" pitchFamily="49" charset="-122"/>
                  <a:ea typeface="楷体_GB2312" pitchFamily="49" charset="-122"/>
                </a:rPr>
                <a:t>imm</a:t>
              </a:r>
            </a:p>
          </p:txBody>
        </p:sp>
        <p:sp>
          <p:nvSpPr>
            <p:cNvPr id="236554" name="Line 51"/>
            <p:cNvSpPr>
              <a:spLocks noChangeShapeType="1"/>
            </p:cNvSpPr>
            <p:nvPr/>
          </p:nvSpPr>
          <p:spPr bwMode="auto">
            <a:xfrm flipV="1">
              <a:off x="4105"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Tahoma" panose="020B0604030504040204" pitchFamily="34" charset="0"/>
                <a:ea typeface="黑体" panose="02010609060101010101" pitchFamily="49" charset="-122"/>
              </a:endParaRPr>
            </a:p>
          </p:txBody>
        </p:sp>
        <p:sp>
          <p:nvSpPr>
            <p:cNvPr id="236555" name="Rectangle 52"/>
            <p:cNvSpPr>
              <a:spLocks noChangeArrowheads="1"/>
            </p:cNvSpPr>
            <p:nvPr/>
          </p:nvSpPr>
          <p:spPr bwMode="auto">
            <a:xfrm>
              <a:off x="4393" y="2122"/>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楷体_GB2312" pitchFamily="49" charset="-122"/>
                  <a:ea typeface="楷体_GB2312" pitchFamily="49" charset="-122"/>
                </a:rPr>
                <a:t>j</a:t>
              </a:r>
            </a:p>
          </p:txBody>
        </p:sp>
        <p:sp>
          <p:nvSpPr>
            <p:cNvPr id="236556" name="Rectangle 53"/>
            <p:cNvSpPr>
              <a:spLocks noChangeArrowheads="1"/>
            </p:cNvSpPr>
            <p:nvPr/>
          </p:nvSpPr>
          <p:spPr bwMode="auto">
            <a:xfrm>
              <a:off x="3625" y="2131"/>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楷体_GB2312" pitchFamily="49" charset="-122"/>
                  <a:ea typeface="楷体_GB2312" pitchFamily="49" charset="-122"/>
                </a:rPr>
                <a:t>k</a:t>
              </a:r>
            </a:p>
          </p:txBody>
        </p:sp>
      </p:grpSp>
    </p:spTree>
    <p:extLst>
      <p:ext uri="{BB962C8B-B14F-4D97-AF65-F5344CB8AC3E}">
        <p14:creationId xmlns:p14="http://schemas.microsoft.com/office/powerpoint/2010/main" val="31758807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37570" name="Rectangle 3" descr="Rectangle: Click to edit Master text styles&#10;Second level&#10;Third level&#10;Fourth level&#10;Fifth level"/>
          <p:cNvSpPr>
            <a:spLocks noGrp="1" noChangeArrowheads="1"/>
          </p:cNvSpPr>
          <p:nvPr>
            <p:ph idx="1"/>
          </p:nvPr>
        </p:nvSpPr>
        <p:spPr>
          <a:xfrm>
            <a:off x="431800" y="655638"/>
            <a:ext cx="8945109" cy="4897437"/>
          </a:xfrm>
        </p:spPr>
        <p:txBody>
          <a:bodyPr/>
          <a:lstStyle/>
          <a:p>
            <a:pPr eaLnBrk="1" hangingPunct="1">
              <a:buNone/>
              <a:tabLst>
                <a:tab pos="3435350" algn="l"/>
              </a:tabLst>
            </a:pPr>
            <a:r>
              <a:rPr lang="zh-CN" altLang="en-US" b="1" dirty="0" smtClean="0">
                <a:solidFill>
                  <a:schemeClr val="hlink"/>
                </a:solidFill>
                <a:latin typeface="宋体" panose="02010600030101010101" pitchFamily="2" charset="-122"/>
                <a:ea typeface="宋体" panose="02010600030101010101" pitchFamily="2" charset="-122"/>
              </a:rPr>
              <a:t>对于</a:t>
            </a:r>
            <a:r>
              <a:rPr lang="en-US" altLang="zh-CN" b="1" dirty="0" smtClean="0">
                <a:solidFill>
                  <a:schemeClr val="hlink"/>
                </a:solidFill>
                <a:latin typeface="宋体" panose="02010600030101010101" pitchFamily="2" charset="-122"/>
                <a:ea typeface="宋体" panose="02010600030101010101" pitchFamily="2" charset="-122"/>
              </a:rPr>
              <a:t>store</a:t>
            </a:r>
            <a:r>
              <a:rPr lang="zh-CN" altLang="en-US" b="1" dirty="0" smtClean="0">
                <a:solidFill>
                  <a:schemeClr val="hlink"/>
                </a:solidFill>
                <a:latin typeface="宋体" panose="02010600030101010101" pitchFamily="2" charset="-122"/>
                <a:ea typeface="宋体" panose="02010600030101010101" pitchFamily="2" charset="-122"/>
              </a:rPr>
              <a:t>指令：</a:t>
            </a:r>
            <a:r>
              <a:rPr lang="zh-CN" altLang="en-US" sz="2800" dirty="0">
                <a:solidFill>
                  <a:schemeClr val="tx1"/>
                </a:solidFill>
              </a:rPr>
              <a:t>			</a:t>
            </a:r>
          </a:p>
          <a:p>
            <a:pPr eaLnBrk="1" hangingPunct="1">
              <a:buNone/>
              <a:tabLst>
                <a:tab pos="3435350" algn="l"/>
              </a:tabLst>
            </a:pPr>
            <a:r>
              <a:rPr lang="en-US" altLang="zh-CN" dirty="0" smtClean="0">
                <a:solidFill>
                  <a:schemeClr val="tx1"/>
                </a:solidFill>
              </a:rPr>
              <a:t>if </a:t>
            </a:r>
            <a:r>
              <a:rPr lang="zh-CN" altLang="en-US" dirty="0" smtClean="0">
                <a:solidFill>
                  <a:schemeClr val="tx1"/>
                </a:solidFill>
              </a:rPr>
              <a:t>（</a:t>
            </a:r>
            <a:r>
              <a:rPr lang="en-US" altLang="zh-CN" dirty="0" smtClean="0">
                <a:solidFill>
                  <a:schemeClr val="tx1"/>
                </a:solidFill>
              </a:rPr>
              <a:t>Qi[</a:t>
            </a:r>
            <a:r>
              <a:rPr lang="en-US" altLang="zh-CN" dirty="0" err="1" smtClean="0">
                <a:solidFill>
                  <a:srgbClr val="D60093"/>
                </a:solidFill>
              </a:rPr>
              <a:t>rt</a:t>
            </a:r>
            <a:r>
              <a:rPr lang="en-US" altLang="zh-CN" dirty="0" smtClean="0">
                <a:solidFill>
                  <a:schemeClr val="tx1"/>
                </a:solidFill>
              </a:rPr>
              <a:t>] = 0</a:t>
            </a:r>
            <a:r>
              <a:rPr lang="zh-CN" altLang="en-US"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检测要存储的数据是否就绪</a:t>
            </a:r>
            <a:endParaRPr lang="zh-CN" altLang="en-US" sz="2000" b="1" dirty="0">
              <a:solidFill>
                <a:srgbClr val="000000"/>
              </a:solidFill>
              <a:latin typeface="宋体" panose="02010600030101010101" pitchFamily="2" charset="-122"/>
              <a:ea typeface="宋体" panose="02010600030101010101" pitchFamily="2" charset="-122"/>
              <a:sym typeface="Symbol" panose="05050102010706020507" pitchFamily="18" charset="2"/>
            </a:endParaRPr>
          </a:p>
          <a:p>
            <a:pPr eaLnBrk="1" hangingPunct="1">
              <a:buNone/>
              <a:tabLst>
                <a:tab pos="3435350" algn="l"/>
              </a:tabLst>
            </a:pPr>
            <a:r>
              <a:rPr lang="zh-CN" altLang="en-US" sz="2800" dirty="0">
                <a:solidFill>
                  <a:schemeClr val="tx1"/>
                </a:solidFill>
                <a:sym typeface="Symbol" panose="05050102010706020507" pitchFamily="18" charset="2"/>
              </a:rPr>
              <a:t>  </a:t>
            </a:r>
            <a:r>
              <a:rPr lang="zh-CN" altLang="en-US" dirty="0" smtClean="0">
                <a:solidFill>
                  <a:schemeClr val="tx1"/>
                </a:solidFill>
                <a:sym typeface="Symbol" panose="05050102010706020507" pitchFamily="18" charset="2"/>
              </a:rPr>
              <a:t></a:t>
            </a:r>
            <a:r>
              <a:rPr lang="en-US" altLang="zh-CN" dirty="0" smtClean="0">
                <a:solidFill>
                  <a:schemeClr val="tx1"/>
                </a:solidFill>
              </a:rPr>
              <a:t>RS[</a:t>
            </a:r>
            <a:r>
              <a:rPr lang="en-US" altLang="zh-CN" dirty="0" smtClean="0"/>
              <a:t>r</a:t>
            </a:r>
            <a:r>
              <a:rPr lang="en-US" altLang="zh-CN" dirty="0" smtClean="0">
                <a:solidFill>
                  <a:schemeClr val="tx1"/>
                </a:solidFill>
              </a:rPr>
              <a:t>].</a:t>
            </a:r>
            <a:r>
              <a:rPr lang="en-US" altLang="zh-CN" dirty="0" err="1" smtClean="0">
                <a:solidFill>
                  <a:srgbClr val="9933FF"/>
                </a:solidFill>
              </a:rPr>
              <a:t>Vk</a:t>
            </a:r>
            <a:r>
              <a:rPr lang="en-US" altLang="zh-CN" dirty="0" smtClean="0">
                <a:solidFill>
                  <a:schemeClr val="tx1"/>
                </a:solidFill>
              </a:rPr>
              <a:t> </a:t>
            </a:r>
            <a:r>
              <a:rPr lang="en-US" altLang="zh-CN" dirty="0" smtClean="0">
                <a:solidFill>
                  <a:schemeClr val="tx1"/>
                </a:solidFill>
                <a:sym typeface="Symbol" panose="05050102010706020507" pitchFamily="18" charset="2"/>
              </a:rPr>
              <a:t></a:t>
            </a:r>
            <a:r>
              <a:rPr lang="en-US" altLang="zh-CN" dirty="0" smtClean="0">
                <a:solidFill>
                  <a:schemeClr val="tx1"/>
                </a:solidFill>
              </a:rPr>
              <a:t> </a:t>
            </a:r>
            <a:r>
              <a:rPr lang="en-US" altLang="zh-CN" dirty="0" err="1" smtClean="0">
                <a:solidFill>
                  <a:schemeClr val="tx1"/>
                </a:solidFill>
              </a:rPr>
              <a:t>Regs</a:t>
            </a:r>
            <a:r>
              <a:rPr lang="en-US" altLang="zh-CN" dirty="0" smtClean="0">
                <a:solidFill>
                  <a:schemeClr val="tx1"/>
                </a:solidFill>
              </a:rPr>
              <a:t>[</a:t>
            </a:r>
            <a:r>
              <a:rPr lang="en-US" altLang="zh-CN" dirty="0" err="1" smtClean="0">
                <a:solidFill>
                  <a:srgbClr val="D60093"/>
                </a:solidFill>
              </a:rPr>
              <a:t>rt</a:t>
            </a:r>
            <a:r>
              <a:rPr lang="en-US" altLang="zh-CN" dirty="0" smtClean="0">
                <a:solidFill>
                  <a:schemeClr val="tx1"/>
                </a:solidFill>
              </a:rPr>
              <a:t>]</a:t>
            </a:r>
            <a:r>
              <a:rPr lang="zh-CN" altLang="en-US"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该数据就绪，把它从寄存器</a:t>
            </a:r>
            <a:r>
              <a:rPr lang="en-US" altLang="zh-CN" sz="2000" b="1" dirty="0" err="1">
                <a:solidFill>
                  <a:srgbClr val="D60093"/>
                </a:solidFill>
                <a:latin typeface="宋体" panose="02010600030101010101" pitchFamily="2" charset="-122"/>
                <a:ea typeface="宋体" panose="02010600030101010101" pitchFamily="2" charset="-122"/>
              </a:rPr>
              <a:t>rt</a:t>
            </a:r>
            <a:r>
              <a:rPr lang="zh-CN" altLang="en-US" sz="2000" b="1" dirty="0">
                <a:solidFill>
                  <a:srgbClr val="000000"/>
                </a:solidFill>
                <a:latin typeface="宋体" panose="02010600030101010101" pitchFamily="2" charset="-122"/>
                <a:ea typeface="宋体" panose="02010600030101010101" pitchFamily="2" charset="-122"/>
              </a:rPr>
              <a:t>取到</a:t>
            </a:r>
          </a:p>
          <a:p>
            <a:pPr eaLnBrk="1" hangingPunct="1">
              <a:buNone/>
              <a:tabLst>
                <a:tab pos="3435350"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store</a:t>
            </a:r>
            <a:r>
              <a:rPr lang="zh-CN" altLang="en-US" sz="2000" b="1" dirty="0">
                <a:solidFill>
                  <a:srgbClr val="000000"/>
                </a:solidFill>
                <a:latin typeface="宋体" panose="02010600030101010101" pitchFamily="2" charset="-122"/>
                <a:ea typeface="宋体" panose="02010600030101010101" pitchFamily="2" charset="-122"/>
              </a:rPr>
              <a:t>缓冲器单元的</a:t>
            </a:r>
            <a:r>
              <a:rPr lang="en-US" altLang="zh-CN" sz="2000" b="1" dirty="0" err="1">
                <a:solidFill>
                  <a:srgbClr val="9933FF"/>
                </a:solidFill>
                <a:latin typeface="宋体" panose="02010600030101010101" pitchFamily="2" charset="-122"/>
                <a:ea typeface="宋体" panose="02010600030101010101" pitchFamily="2" charset="-122"/>
              </a:rPr>
              <a:t>Vk</a:t>
            </a:r>
            <a:endParaRPr lang="en-US" altLang="zh-CN" sz="2000" b="1" dirty="0">
              <a:solidFill>
                <a:srgbClr val="9933FF"/>
              </a:solidFill>
              <a:latin typeface="宋体" panose="02010600030101010101" pitchFamily="2" charset="-122"/>
              <a:ea typeface="宋体" panose="02010600030101010101" pitchFamily="2" charset="-122"/>
            </a:endParaRPr>
          </a:p>
          <a:p>
            <a:pPr eaLnBrk="1" hangingPunct="1">
              <a:buNone/>
              <a:tabLst>
                <a:tab pos="3435350" algn="l"/>
              </a:tabLst>
            </a:pPr>
            <a:r>
              <a:rPr lang="en-US" altLang="zh-CN" dirty="0" smtClean="0">
                <a:solidFill>
                  <a:schemeClr val="tx1"/>
                </a:solidFill>
              </a:rPr>
              <a:t>    RS[</a:t>
            </a:r>
            <a:r>
              <a:rPr lang="en-US" altLang="zh-CN" dirty="0" smtClean="0"/>
              <a:t>r</a:t>
            </a:r>
            <a:r>
              <a:rPr lang="en-US" altLang="zh-CN" dirty="0" smtClean="0">
                <a:solidFill>
                  <a:schemeClr val="tx1"/>
                </a:solidFill>
              </a:rPr>
              <a:t>].</a:t>
            </a:r>
            <a:r>
              <a:rPr lang="en-US" altLang="zh-CN" dirty="0" err="1" smtClean="0">
                <a:solidFill>
                  <a:schemeClr val="tx1"/>
                </a:solidFill>
              </a:rPr>
              <a:t>Qk</a:t>
            </a:r>
            <a:r>
              <a:rPr lang="en-US" altLang="zh-CN" dirty="0" smtClean="0">
                <a:solidFill>
                  <a:schemeClr val="tx1"/>
                </a:solidFill>
              </a:rPr>
              <a:t> </a:t>
            </a:r>
            <a:r>
              <a:rPr lang="en-US" altLang="zh-CN" dirty="0" smtClean="0">
                <a:solidFill>
                  <a:schemeClr val="tx1"/>
                </a:solidFill>
                <a:sym typeface="Symbol" panose="05050102010706020507" pitchFamily="18" charset="2"/>
              </a:rPr>
              <a:t></a:t>
            </a:r>
            <a:r>
              <a:rPr lang="en-US" altLang="zh-CN" dirty="0" smtClean="0">
                <a:solidFill>
                  <a:schemeClr val="tx1"/>
                </a:solidFill>
              </a:rPr>
              <a:t> 0 </a:t>
            </a:r>
            <a:r>
              <a:rPr lang="en-US" altLang="zh-CN" dirty="0" smtClean="0">
                <a:solidFill>
                  <a:schemeClr val="tx1"/>
                </a:solidFill>
                <a:sym typeface="Symbol" panose="05050102010706020507" pitchFamily="18" charset="2"/>
              </a:rPr>
              <a:t></a:t>
            </a:r>
            <a:r>
              <a:rPr lang="zh-CN" altLang="en-US" dirty="0" smtClean="0">
                <a:solidFill>
                  <a:schemeClr val="tx1"/>
                </a:solidFill>
              </a:rPr>
              <a:t>； </a:t>
            </a:r>
            <a:r>
              <a:rPr lang="zh-CN" altLang="en-US" sz="2800" dirty="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置</a:t>
            </a:r>
            <a:r>
              <a:rPr lang="en-US" altLang="zh-CN" sz="2000" b="1" dirty="0" err="1">
                <a:solidFill>
                  <a:srgbClr val="000000"/>
                </a:solidFill>
                <a:latin typeface="宋体" panose="02010600030101010101" pitchFamily="2" charset="-122"/>
                <a:ea typeface="宋体" panose="02010600030101010101" pitchFamily="2" charset="-122"/>
              </a:rPr>
              <a:t>Qk</a:t>
            </a:r>
            <a:r>
              <a:rPr lang="zh-CN" altLang="en-US" sz="2000" b="1" dirty="0">
                <a:solidFill>
                  <a:srgbClr val="000000"/>
                </a:solidFill>
                <a:latin typeface="宋体" panose="02010600030101010101" pitchFamily="2" charset="-122"/>
                <a:ea typeface="宋体" panose="02010600030101010101" pitchFamily="2" charset="-122"/>
              </a:rPr>
              <a:t>为</a:t>
            </a:r>
            <a:r>
              <a:rPr lang="en-US" altLang="zh-CN" sz="2000" b="1" dirty="0">
                <a:solidFill>
                  <a:srgbClr val="000000"/>
                </a:solidFill>
                <a:latin typeface="宋体" panose="02010600030101010101" pitchFamily="2" charset="-122"/>
                <a:ea typeface="宋体" panose="02010600030101010101" pitchFamily="2" charset="-122"/>
              </a:rPr>
              <a:t>0</a:t>
            </a:r>
            <a:r>
              <a:rPr lang="zh-CN" altLang="en-US" sz="2000" b="1" dirty="0">
                <a:solidFill>
                  <a:srgbClr val="000000"/>
                </a:solidFill>
                <a:latin typeface="宋体" panose="02010600030101010101" pitchFamily="2" charset="-122"/>
                <a:ea typeface="宋体" panose="02010600030101010101" pitchFamily="2" charset="-122"/>
              </a:rPr>
              <a:t>，表示当前缓冲器单元的</a:t>
            </a:r>
            <a:r>
              <a:rPr lang="en-US" altLang="zh-CN" sz="2000" b="1" dirty="0" err="1">
                <a:solidFill>
                  <a:srgbClr val="9933FF"/>
                </a:solidFill>
                <a:latin typeface="宋体" panose="02010600030101010101" pitchFamily="2" charset="-122"/>
                <a:ea typeface="宋体" panose="02010600030101010101" pitchFamily="2" charset="-122"/>
              </a:rPr>
              <a:t>Vk</a:t>
            </a:r>
            <a:endParaRPr lang="en-US" altLang="zh-CN" sz="2000" b="1" dirty="0">
              <a:solidFill>
                <a:srgbClr val="000000"/>
              </a:solidFill>
              <a:latin typeface="宋体" panose="02010600030101010101" pitchFamily="2" charset="-122"/>
              <a:ea typeface="宋体" panose="02010600030101010101" pitchFamily="2" charset="-122"/>
            </a:endParaRPr>
          </a:p>
          <a:p>
            <a:pPr eaLnBrk="1" hangingPunct="1">
              <a:buNone/>
              <a:tabLst>
                <a:tab pos="3435350" algn="l"/>
              </a:tabLst>
            </a:pPr>
            <a:r>
              <a:rPr lang="en-US" altLang="zh-CN" sz="2000" b="1" dirty="0">
                <a:solidFill>
                  <a:srgbClr val="000000"/>
                </a:solidFill>
                <a:latin typeface="宋体" panose="02010600030101010101" pitchFamily="2" charset="-122"/>
                <a:ea typeface="宋体" panose="02010600030101010101" pitchFamily="2" charset="-122"/>
              </a:rPr>
              <a:t>                        	// </a:t>
            </a:r>
            <a:r>
              <a:rPr lang="zh-CN" altLang="en-US" sz="2000" b="1" dirty="0">
                <a:solidFill>
                  <a:srgbClr val="000000"/>
                </a:solidFill>
                <a:latin typeface="宋体" panose="02010600030101010101" pitchFamily="2" charset="-122"/>
                <a:ea typeface="宋体" panose="02010600030101010101" pitchFamily="2" charset="-122"/>
              </a:rPr>
              <a:t>中的数据就绪。</a:t>
            </a:r>
          </a:p>
          <a:p>
            <a:pPr eaLnBrk="1" hangingPunct="1">
              <a:buNone/>
              <a:tabLst>
                <a:tab pos="3435350" algn="l"/>
              </a:tabLst>
            </a:pPr>
            <a:r>
              <a:rPr lang="en-US" altLang="zh-CN" dirty="0" smtClean="0">
                <a:solidFill>
                  <a:schemeClr val="tx1"/>
                </a:solidFill>
              </a:rPr>
              <a:t>else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该数据没有就绪</a:t>
            </a:r>
            <a:endParaRPr lang="zh-CN" altLang="en-US" sz="2000" b="1" dirty="0">
              <a:solidFill>
                <a:srgbClr val="000000"/>
              </a:solidFill>
              <a:latin typeface="宋体" panose="02010600030101010101" pitchFamily="2" charset="-122"/>
              <a:ea typeface="宋体" panose="02010600030101010101" pitchFamily="2" charset="-122"/>
              <a:sym typeface="Symbol" panose="05050102010706020507" pitchFamily="18" charset="2"/>
            </a:endParaRPr>
          </a:p>
          <a:p>
            <a:pPr eaLnBrk="1" hangingPunct="1">
              <a:buNone/>
              <a:tabLst>
                <a:tab pos="3435350" algn="l"/>
              </a:tabLst>
            </a:pPr>
            <a:r>
              <a:rPr lang="zh-CN" altLang="en-US" dirty="0" smtClean="0">
                <a:solidFill>
                  <a:schemeClr val="tx1"/>
                </a:solidFill>
                <a:sym typeface="Symbol" panose="05050102010706020507" pitchFamily="18" charset="2"/>
              </a:rPr>
              <a:t>   </a:t>
            </a:r>
            <a:r>
              <a:rPr lang="en-US" altLang="zh-CN" dirty="0" smtClean="0">
                <a:solidFill>
                  <a:schemeClr val="tx1"/>
                </a:solidFill>
              </a:rPr>
              <a:t>RS[</a:t>
            </a:r>
            <a:r>
              <a:rPr lang="en-US" altLang="zh-CN" dirty="0" smtClean="0"/>
              <a:t>r</a:t>
            </a:r>
            <a:r>
              <a:rPr lang="en-US" altLang="zh-CN" dirty="0" smtClean="0">
                <a:solidFill>
                  <a:schemeClr val="tx1"/>
                </a:solidFill>
              </a:rPr>
              <a:t>].</a:t>
            </a:r>
            <a:r>
              <a:rPr lang="en-US" altLang="zh-CN" dirty="0" err="1" smtClean="0">
                <a:solidFill>
                  <a:schemeClr val="tx1"/>
                </a:solidFill>
              </a:rPr>
              <a:t>Qk</a:t>
            </a:r>
            <a:r>
              <a:rPr lang="en-US" altLang="zh-CN" dirty="0" smtClean="0">
                <a:solidFill>
                  <a:schemeClr val="tx1"/>
                </a:solidFill>
              </a:rPr>
              <a:t> </a:t>
            </a:r>
            <a:r>
              <a:rPr lang="en-US" altLang="zh-CN" dirty="0" smtClean="0">
                <a:solidFill>
                  <a:schemeClr val="tx1"/>
                </a:solidFill>
                <a:sym typeface="Symbol" panose="05050102010706020507" pitchFamily="18" charset="2"/>
              </a:rPr>
              <a:t></a:t>
            </a:r>
            <a:r>
              <a:rPr lang="en-US" altLang="zh-CN" dirty="0" smtClean="0">
                <a:solidFill>
                  <a:schemeClr val="tx1"/>
                </a:solidFill>
              </a:rPr>
              <a:t> Qi[</a:t>
            </a:r>
            <a:r>
              <a:rPr lang="en-US" altLang="zh-CN" dirty="0" err="1" smtClean="0">
                <a:solidFill>
                  <a:srgbClr val="D60093"/>
                </a:solidFill>
              </a:rPr>
              <a:t>rt</a:t>
            </a:r>
            <a:r>
              <a:rPr lang="en-US" altLang="zh-CN" dirty="0" smtClean="0">
                <a:solidFill>
                  <a:schemeClr val="tx1"/>
                </a:solidFill>
              </a:rPr>
              <a:t>] </a:t>
            </a:r>
            <a:r>
              <a:rPr lang="en-US" altLang="zh-CN" dirty="0" smtClean="0">
                <a:solidFill>
                  <a:schemeClr val="tx1"/>
                </a:solidFill>
                <a:sym typeface="Symbol" panose="05050102010706020507" pitchFamily="18" charset="2"/>
              </a:rPr>
              <a:t></a:t>
            </a:r>
            <a:r>
              <a:rPr lang="en-US" altLang="zh-CN" dirty="0" smtClean="0">
                <a:solidFill>
                  <a:schemeClr val="tx1"/>
                </a:solidFill>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C20A73"/>
                </a:solidFill>
                <a:latin typeface="黑体" panose="02010609060101010101" pitchFamily="49" charset="-122"/>
              </a:rPr>
              <a:t>进行寄存器换名</a:t>
            </a:r>
            <a:r>
              <a:rPr lang="zh-CN" altLang="en-US" sz="2000" b="1" dirty="0">
                <a:solidFill>
                  <a:srgbClr val="9966FF"/>
                </a:solidFill>
                <a:latin typeface="宋体" panose="02010600030101010101" pitchFamily="2" charset="-122"/>
                <a:ea typeface="宋体" panose="02010600030101010101" pitchFamily="2" charset="-122"/>
              </a:rPr>
              <a:t>，</a:t>
            </a:r>
            <a:r>
              <a:rPr lang="zh-CN" altLang="en-US" sz="2000" b="1" dirty="0">
                <a:solidFill>
                  <a:srgbClr val="000000"/>
                </a:solidFill>
                <a:latin typeface="宋体" panose="02010600030101010101" pitchFamily="2" charset="-122"/>
                <a:ea typeface="宋体" panose="02010600030101010101" pitchFamily="2" charset="-122"/>
              </a:rPr>
              <a:t>即把将产生该数</a:t>
            </a:r>
          </a:p>
          <a:p>
            <a:pPr eaLnBrk="1" hangingPunct="1">
              <a:buNone/>
              <a:tabLst>
                <a:tab pos="3435350" algn="l"/>
              </a:tabLst>
            </a:pPr>
            <a:r>
              <a:rPr lang="zh-CN" altLang="en-US" sz="2000" b="1" dirty="0">
                <a:solidFill>
                  <a:srgbClr val="000000"/>
                </a:solidFill>
                <a:latin typeface="宋体" panose="02010600030101010101" pitchFamily="2" charset="-122"/>
                <a:ea typeface="宋体" panose="02010600030101010101" pitchFamily="2" charset="-122"/>
              </a:rPr>
              <a:t>                     据的保留站的编号放入当前缓冲器单元的</a:t>
            </a:r>
            <a:r>
              <a:rPr lang="en-US" altLang="zh-CN" sz="2000" b="1" dirty="0" err="1">
                <a:solidFill>
                  <a:srgbClr val="000000"/>
                </a:solidFill>
                <a:latin typeface="宋体" panose="02010600030101010101" pitchFamily="2" charset="-122"/>
                <a:ea typeface="宋体" panose="02010600030101010101" pitchFamily="2" charset="-122"/>
              </a:rPr>
              <a:t>Qk</a:t>
            </a:r>
            <a:r>
              <a:rPr lang="zh-CN" altLang="en-US" sz="2000" b="1" dirty="0">
                <a:solidFill>
                  <a:srgbClr val="000000"/>
                </a:solidFill>
                <a:latin typeface="宋体" panose="02010600030101010101" pitchFamily="2" charset="-122"/>
                <a:ea typeface="宋体" panose="02010600030101010101" pitchFamily="2" charset="-122"/>
              </a:rPr>
              <a:t>。 </a:t>
            </a:r>
          </a:p>
        </p:txBody>
      </p:sp>
      <p:sp>
        <p:nvSpPr>
          <p:cNvPr id="237571" name="Rectangle 14"/>
          <p:cNvSpPr>
            <a:spLocks noChangeArrowheads="1"/>
          </p:cNvSpPr>
          <p:nvPr/>
        </p:nvSpPr>
        <p:spPr bwMode="auto">
          <a:xfrm>
            <a:off x="9510260" y="0"/>
            <a:ext cx="26693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b="1">
                <a:solidFill>
                  <a:srgbClr val="40458C"/>
                </a:solidFill>
                <a:latin typeface="楷体_GB2312" pitchFamily="49" charset="-122"/>
                <a:ea typeface="楷体_GB2312" pitchFamily="49" charset="-122"/>
              </a:rPr>
              <a:t>S.D F3, 40</a:t>
            </a:r>
            <a:r>
              <a:rPr lang="zh-CN" altLang="en-US" b="1">
                <a:solidFill>
                  <a:srgbClr val="40458C"/>
                </a:solidFill>
                <a:latin typeface="楷体_GB2312" pitchFamily="49" charset="-122"/>
                <a:ea typeface="楷体_GB2312" pitchFamily="49" charset="-122"/>
              </a:rPr>
              <a:t>（</a:t>
            </a:r>
            <a:r>
              <a:rPr lang="en-US" altLang="zh-CN" b="1">
                <a:solidFill>
                  <a:srgbClr val="40458C"/>
                </a:solidFill>
                <a:latin typeface="楷体_GB2312" pitchFamily="49" charset="-122"/>
                <a:ea typeface="楷体_GB2312" pitchFamily="49" charset="-122"/>
              </a:rPr>
              <a:t>R4</a:t>
            </a:r>
            <a:r>
              <a:rPr lang="zh-CN" altLang="en-US" b="1">
                <a:solidFill>
                  <a:srgbClr val="40458C"/>
                </a:solidFill>
                <a:latin typeface="楷体_GB2312" pitchFamily="49" charset="-122"/>
                <a:ea typeface="楷体_GB2312" pitchFamily="49" charset="-122"/>
              </a:rPr>
              <a:t>）</a:t>
            </a:r>
          </a:p>
        </p:txBody>
      </p:sp>
      <p:grpSp>
        <p:nvGrpSpPr>
          <p:cNvPr id="237572" name="Group 15"/>
          <p:cNvGrpSpPr>
            <a:grpSpLocks/>
          </p:cNvGrpSpPr>
          <p:nvPr/>
        </p:nvGrpSpPr>
        <p:grpSpPr bwMode="auto">
          <a:xfrm>
            <a:off x="10156372" y="503237"/>
            <a:ext cx="2133600" cy="1524000"/>
            <a:chOff x="3577" y="1498"/>
            <a:chExt cx="1344" cy="960"/>
          </a:xfrm>
        </p:grpSpPr>
        <p:sp>
          <p:nvSpPr>
            <p:cNvPr id="237573" name="Rectangle 16"/>
            <p:cNvSpPr>
              <a:spLocks noChangeArrowheads="1"/>
            </p:cNvSpPr>
            <p:nvPr/>
          </p:nvSpPr>
          <p:spPr bwMode="auto">
            <a:xfrm>
              <a:off x="4345" y="1786"/>
              <a:ext cx="5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楷体_GB2312" pitchFamily="49" charset="-122"/>
                  <a:ea typeface="楷体_GB2312" pitchFamily="49" charset="-122"/>
                </a:rPr>
                <a:t>rs</a:t>
              </a:r>
            </a:p>
          </p:txBody>
        </p:sp>
        <p:sp>
          <p:nvSpPr>
            <p:cNvPr id="237574" name="Line 17"/>
            <p:cNvSpPr>
              <a:spLocks noChangeShapeType="1"/>
            </p:cNvSpPr>
            <p:nvPr/>
          </p:nvSpPr>
          <p:spPr bwMode="auto">
            <a:xfrm flipV="1">
              <a:off x="4489"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Tahoma" panose="020B0604030504040204" pitchFamily="34" charset="0"/>
                <a:ea typeface="黑体" panose="02010609060101010101" pitchFamily="49" charset="-122"/>
              </a:endParaRPr>
            </a:p>
          </p:txBody>
        </p:sp>
        <p:sp>
          <p:nvSpPr>
            <p:cNvPr id="237575" name="Rectangle 18"/>
            <p:cNvSpPr>
              <a:spLocks noChangeArrowheads="1"/>
            </p:cNvSpPr>
            <p:nvPr/>
          </p:nvSpPr>
          <p:spPr bwMode="auto">
            <a:xfrm>
              <a:off x="3577" y="1786"/>
              <a:ext cx="4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D60093"/>
                  </a:solidFill>
                  <a:latin typeface="楷体_GB2312" pitchFamily="49" charset="-122"/>
                  <a:ea typeface="楷体_GB2312" pitchFamily="49" charset="-122"/>
                </a:rPr>
                <a:t>rt</a:t>
              </a:r>
            </a:p>
          </p:txBody>
        </p:sp>
        <p:sp>
          <p:nvSpPr>
            <p:cNvPr id="237576" name="Line 19"/>
            <p:cNvSpPr>
              <a:spLocks noChangeShapeType="1"/>
            </p:cNvSpPr>
            <p:nvPr/>
          </p:nvSpPr>
          <p:spPr bwMode="auto">
            <a:xfrm flipV="1">
              <a:off x="3721"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Tahoma" panose="020B0604030504040204" pitchFamily="34" charset="0"/>
                <a:ea typeface="黑体" panose="02010609060101010101" pitchFamily="49" charset="-122"/>
              </a:endParaRPr>
            </a:p>
          </p:txBody>
        </p:sp>
        <p:sp>
          <p:nvSpPr>
            <p:cNvPr id="237577" name="Rectangle 20"/>
            <p:cNvSpPr>
              <a:spLocks noChangeArrowheads="1"/>
            </p:cNvSpPr>
            <p:nvPr/>
          </p:nvSpPr>
          <p:spPr bwMode="auto">
            <a:xfrm>
              <a:off x="3913" y="1825"/>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b="1">
                  <a:solidFill>
                    <a:srgbClr val="D60093"/>
                  </a:solidFill>
                  <a:latin typeface="楷体_GB2312" pitchFamily="49" charset="-122"/>
                  <a:ea typeface="楷体_GB2312" pitchFamily="49" charset="-122"/>
                </a:rPr>
                <a:t>imm</a:t>
              </a:r>
            </a:p>
          </p:txBody>
        </p:sp>
        <p:sp>
          <p:nvSpPr>
            <p:cNvPr id="237578" name="Line 21"/>
            <p:cNvSpPr>
              <a:spLocks noChangeShapeType="1"/>
            </p:cNvSpPr>
            <p:nvPr/>
          </p:nvSpPr>
          <p:spPr bwMode="auto">
            <a:xfrm flipV="1">
              <a:off x="4105" y="1498"/>
              <a:ext cx="0" cy="288"/>
            </a:xfrm>
            <a:prstGeom prst="line">
              <a:avLst/>
            </a:prstGeom>
            <a:noFill/>
            <a:ln w="285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kumimoji="1" lang="zh-CN" altLang="en-US" sz="2400">
                <a:solidFill>
                  <a:srgbClr val="40458C"/>
                </a:solidFill>
                <a:latin typeface="Tahoma" panose="020B0604030504040204" pitchFamily="34" charset="0"/>
                <a:ea typeface="黑体" panose="02010609060101010101" pitchFamily="49" charset="-122"/>
              </a:endParaRPr>
            </a:p>
          </p:txBody>
        </p:sp>
        <p:sp>
          <p:nvSpPr>
            <p:cNvPr id="237579" name="Rectangle 22"/>
            <p:cNvSpPr>
              <a:spLocks noChangeArrowheads="1"/>
            </p:cNvSpPr>
            <p:nvPr/>
          </p:nvSpPr>
          <p:spPr bwMode="auto">
            <a:xfrm>
              <a:off x="4393" y="2122"/>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楷体_GB2312" pitchFamily="49" charset="-122"/>
                  <a:ea typeface="楷体_GB2312" pitchFamily="49" charset="-122"/>
                </a:rPr>
                <a:t>j</a:t>
              </a:r>
            </a:p>
          </p:txBody>
        </p:sp>
        <p:sp>
          <p:nvSpPr>
            <p:cNvPr id="237580" name="Rectangle 23"/>
            <p:cNvSpPr>
              <a:spLocks noChangeArrowheads="1"/>
            </p:cNvSpPr>
            <p:nvPr/>
          </p:nvSpPr>
          <p:spPr bwMode="auto">
            <a:xfrm>
              <a:off x="3625" y="2131"/>
              <a:ext cx="22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r>
                <a:rPr lang="en-US" altLang="zh-CN" sz="2800" b="1">
                  <a:solidFill>
                    <a:srgbClr val="40458C"/>
                  </a:solidFill>
                  <a:latin typeface="楷体_GB2312" pitchFamily="49" charset="-122"/>
                  <a:ea typeface="楷体_GB2312" pitchFamily="49" charset="-122"/>
                </a:rPr>
                <a:t>k</a:t>
              </a:r>
            </a:p>
          </p:txBody>
        </p:sp>
      </p:grpSp>
    </p:spTree>
    <p:extLst>
      <p:ext uri="{BB962C8B-B14F-4D97-AF65-F5344CB8AC3E}">
        <p14:creationId xmlns:p14="http://schemas.microsoft.com/office/powerpoint/2010/main" val="38142943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38594" name="Rectangle 3" descr="Rectangle: Click to edit Master text styles&#10;Second level&#10;Third level&#10;Fourth level&#10;Fifth level"/>
          <p:cNvSpPr>
            <a:spLocks noGrp="1" noChangeArrowheads="1"/>
          </p:cNvSpPr>
          <p:nvPr>
            <p:ph idx="1"/>
          </p:nvPr>
        </p:nvSpPr>
        <p:spPr>
          <a:xfrm>
            <a:off x="515597" y="304800"/>
            <a:ext cx="8839200" cy="6553200"/>
          </a:xfrm>
        </p:spPr>
        <p:txBody>
          <a:bodyPr/>
          <a:lstStyle/>
          <a:p>
            <a:pPr marL="457200" indent="-457200" eaLnBrk="1" hangingPunct="1">
              <a:lnSpc>
                <a:spcPts val="3000"/>
              </a:lnSpc>
              <a:spcBef>
                <a:spcPts val="0"/>
              </a:spcBef>
              <a:buFont typeface="Wingdings" panose="05000000000000000000" pitchFamily="2" charset="2"/>
              <a:buAutoNum type="arabicPeriod" startAt="2"/>
            </a:pPr>
            <a:r>
              <a:rPr lang="zh-CN" altLang="en-US" sz="2800" b="1" dirty="0">
                <a:latin typeface="华文琥珀" panose="02010800040101010101" pitchFamily="2" charset="-122"/>
                <a:ea typeface="华文琥珀" panose="02010800040101010101" pitchFamily="2" charset="-122"/>
              </a:rPr>
              <a:t>执行</a:t>
            </a:r>
          </a:p>
          <a:p>
            <a:pPr marL="628650" lvl="1" indent="0" eaLnBrk="1" hangingPunct="1">
              <a:lnSpc>
                <a:spcPts val="3000"/>
              </a:lnSpc>
              <a:spcBef>
                <a:spcPts val="0"/>
              </a:spcBef>
              <a:buNone/>
            </a:pPr>
            <a:r>
              <a:rPr lang="zh-CN" altLang="en-US" b="1" dirty="0" smtClean="0">
                <a:solidFill>
                  <a:srgbClr val="E24C05"/>
                </a:solidFill>
                <a:latin typeface="黑体" panose="02010609060101010101" pitchFamily="49" charset="-122"/>
              </a:rPr>
              <a:t>① </a:t>
            </a:r>
            <a:r>
              <a:rPr lang="zh-CN" altLang="en-US" b="1" dirty="0" smtClean="0">
                <a:solidFill>
                  <a:srgbClr val="E24C05"/>
                </a:solidFill>
              </a:rPr>
              <a:t>浮点操作指令</a:t>
            </a:r>
            <a:r>
              <a:rPr lang="zh-CN" altLang="en-US" b="1" dirty="0" smtClean="0"/>
              <a:t> </a:t>
            </a:r>
          </a:p>
          <a:p>
            <a:pPr lvl="2" eaLnBrk="1" hangingPunct="1">
              <a:lnSpc>
                <a:spcPts val="3000"/>
              </a:lnSpc>
              <a:spcBef>
                <a:spcPts val="0"/>
              </a:spcBef>
            </a:pPr>
            <a:r>
              <a:rPr lang="zh-CN" altLang="en-US" sz="2400" dirty="0">
                <a:solidFill>
                  <a:srgbClr val="D60093"/>
                </a:solidFill>
                <a:ea typeface="黑体" panose="02010609060101010101" pitchFamily="49" charset="-122"/>
              </a:rPr>
              <a:t>进入条件</a:t>
            </a:r>
            <a:r>
              <a:rPr lang="zh-CN" altLang="en-US" sz="2400" dirty="0">
                <a:solidFill>
                  <a:srgbClr val="D60093"/>
                </a:solidFill>
              </a:rPr>
              <a:t>：</a:t>
            </a:r>
            <a:r>
              <a:rPr lang="zh-CN" altLang="en-US" sz="2400" dirty="0"/>
              <a:t>（</a:t>
            </a:r>
            <a:r>
              <a:rPr lang="en-US" altLang="zh-CN" sz="2400" dirty="0"/>
              <a:t>RS[</a:t>
            </a:r>
            <a:r>
              <a:rPr lang="en-US" altLang="zh-CN" sz="2400" dirty="0">
                <a:solidFill>
                  <a:srgbClr val="E24C05"/>
                </a:solidFill>
              </a:rPr>
              <a:t>r</a:t>
            </a:r>
            <a:r>
              <a:rPr lang="en-US" altLang="zh-CN" sz="2400" dirty="0"/>
              <a:t>].</a:t>
            </a:r>
            <a:r>
              <a:rPr lang="en-US" altLang="zh-CN" sz="2400" dirty="0" err="1"/>
              <a:t>Qj</a:t>
            </a:r>
            <a:r>
              <a:rPr lang="en-US" altLang="zh-CN" sz="2400" dirty="0"/>
              <a:t> = 0</a:t>
            </a:r>
            <a:r>
              <a:rPr lang="zh-CN" altLang="en-US" sz="2400" dirty="0"/>
              <a:t>）且（</a:t>
            </a:r>
            <a:r>
              <a:rPr lang="en-US" altLang="zh-CN" sz="2400" dirty="0"/>
              <a:t>RS[</a:t>
            </a:r>
            <a:r>
              <a:rPr lang="en-US" altLang="zh-CN" sz="2400" dirty="0">
                <a:solidFill>
                  <a:srgbClr val="E24C05"/>
                </a:solidFill>
              </a:rPr>
              <a:t>r</a:t>
            </a:r>
            <a:r>
              <a:rPr lang="en-US" altLang="zh-CN" sz="2400" dirty="0"/>
              <a:t>].</a:t>
            </a:r>
            <a:r>
              <a:rPr lang="en-US" altLang="zh-CN" sz="2400" dirty="0" err="1"/>
              <a:t>Qk</a:t>
            </a:r>
            <a:r>
              <a:rPr lang="en-US" altLang="zh-CN" sz="2400" dirty="0"/>
              <a:t>= 0</a:t>
            </a:r>
            <a:r>
              <a:rPr lang="zh-CN" altLang="en-US" sz="2400" dirty="0"/>
              <a:t>）；	                                       </a:t>
            </a:r>
            <a:r>
              <a:rPr lang="en-US" altLang="zh-CN" dirty="0" smtClean="0"/>
              <a:t>// </a:t>
            </a:r>
            <a:r>
              <a:rPr lang="zh-CN" altLang="en-US" dirty="0" smtClean="0"/>
              <a:t>两个源操作数就绪</a:t>
            </a:r>
          </a:p>
          <a:p>
            <a:pPr lvl="2" eaLnBrk="1" hangingPunct="1">
              <a:lnSpc>
                <a:spcPts val="3000"/>
              </a:lnSpc>
              <a:spcBef>
                <a:spcPts val="0"/>
              </a:spcBef>
            </a:pPr>
            <a:r>
              <a:rPr lang="zh-CN" altLang="en-US" sz="2400" dirty="0">
                <a:solidFill>
                  <a:schemeClr val="tx1"/>
                </a:solidFill>
              </a:rPr>
              <a:t>操作和状态表内容修改：</a:t>
            </a:r>
            <a:r>
              <a:rPr lang="zh-CN" altLang="en-US" sz="2400" dirty="0"/>
              <a:t>进行计算，产生结果 。</a:t>
            </a:r>
          </a:p>
          <a:p>
            <a:pPr marL="628650" lvl="1" indent="0" eaLnBrk="1" hangingPunct="1">
              <a:lnSpc>
                <a:spcPts val="3000"/>
              </a:lnSpc>
              <a:spcBef>
                <a:spcPts val="0"/>
              </a:spcBef>
              <a:buNone/>
            </a:pPr>
            <a:r>
              <a:rPr lang="en-US" altLang="zh-CN" b="1" dirty="0" smtClean="0">
                <a:solidFill>
                  <a:srgbClr val="E24C05"/>
                </a:solidFill>
                <a:latin typeface="黑体" panose="02010609060101010101" pitchFamily="49" charset="-122"/>
              </a:rPr>
              <a:t>② load/store</a:t>
            </a:r>
            <a:r>
              <a:rPr lang="zh-CN" altLang="en-US" b="1" dirty="0" smtClean="0">
                <a:solidFill>
                  <a:srgbClr val="E24C05"/>
                </a:solidFill>
                <a:latin typeface="黑体" panose="02010609060101010101" pitchFamily="49" charset="-122"/>
              </a:rPr>
              <a:t>指令</a:t>
            </a:r>
          </a:p>
          <a:p>
            <a:pPr lvl="2" eaLnBrk="1" hangingPunct="1">
              <a:lnSpc>
                <a:spcPts val="3000"/>
              </a:lnSpc>
              <a:spcBef>
                <a:spcPts val="0"/>
              </a:spcBef>
            </a:pPr>
            <a:r>
              <a:rPr lang="zh-CN" altLang="en-US" sz="2400" dirty="0">
                <a:solidFill>
                  <a:srgbClr val="D60093"/>
                </a:solidFill>
                <a:ea typeface="黑体" panose="02010609060101010101" pitchFamily="49" charset="-122"/>
              </a:rPr>
              <a:t>进入条件</a:t>
            </a:r>
            <a:r>
              <a:rPr lang="zh-CN" altLang="en-US" sz="2400" dirty="0">
                <a:solidFill>
                  <a:srgbClr val="D60093"/>
                </a:solidFill>
              </a:rPr>
              <a:t>：</a:t>
            </a:r>
            <a:r>
              <a:rPr lang="zh-CN" altLang="en-US" sz="2400" dirty="0">
                <a:latin typeface="宋体" panose="02010600030101010101" pitchFamily="2" charset="-122"/>
              </a:rPr>
              <a:t>（</a:t>
            </a:r>
            <a:r>
              <a:rPr lang="en-US" altLang="zh-CN" sz="2400" dirty="0">
                <a:latin typeface="宋体" panose="02010600030101010101" pitchFamily="2" charset="-122"/>
              </a:rPr>
              <a:t>RS[</a:t>
            </a:r>
            <a:r>
              <a:rPr lang="en-US" altLang="zh-CN" sz="2400" dirty="0">
                <a:solidFill>
                  <a:srgbClr val="E24C05"/>
                </a:solidFill>
                <a:latin typeface="宋体" panose="02010600030101010101" pitchFamily="2" charset="-122"/>
              </a:rPr>
              <a:t>r</a:t>
            </a:r>
            <a:r>
              <a:rPr lang="en-US" altLang="zh-CN" sz="2400" dirty="0">
                <a:latin typeface="宋体" panose="02010600030101010101" pitchFamily="2" charset="-122"/>
              </a:rPr>
              <a:t>].</a:t>
            </a:r>
            <a:r>
              <a:rPr lang="en-US" altLang="zh-CN" sz="2400" dirty="0" err="1">
                <a:latin typeface="宋体" panose="02010600030101010101" pitchFamily="2" charset="-122"/>
              </a:rPr>
              <a:t>Qj</a:t>
            </a:r>
            <a:r>
              <a:rPr lang="en-US" altLang="zh-CN" sz="2400" dirty="0">
                <a:latin typeface="宋体" panose="02010600030101010101" pitchFamily="2" charset="-122"/>
              </a:rPr>
              <a:t> = 0</a:t>
            </a:r>
            <a:r>
              <a:rPr lang="zh-CN" altLang="en-US" sz="2400" dirty="0">
                <a:latin typeface="宋体" panose="02010600030101010101" pitchFamily="2" charset="-122"/>
              </a:rPr>
              <a:t>）且</a:t>
            </a:r>
            <a:r>
              <a:rPr lang="en-US" altLang="zh-CN" sz="2400" dirty="0">
                <a:solidFill>
                  <a:srgbClr val="E24C05"/>
                </a:solidFill>
                <a:latin typeface="宋体" panose="02010600030101010101" pitchFamily="2" charset="-122"/>
              </a:rPr>
              <a:t>r</a:t>
            </a:r>
            <a:r>
              <a:rPr lang="zh-CN" altLang="en-US" sz="2400" dirty="0">
                <a:latin typeface="宋体" panose="02010600030101010101" pitchFamily="2" charset="-122"/>
              </a:rPr>
              <a:t>成为</a:t>
            </a:r>
            <a:r>
              <a:rPr lang="en-US" altLang="zh-CN" sz="2400" dirty="0">
                <a:latin typeface="宋体" panose="02010600030101010101" pitchFamily="2" charset="-122"/>
              </a:rPr>
              <a:t>load/store </a:t>
            </a:r>
          </a:p>
          <a:p>
            <a:pPr lvl="2" eaLnBrk="1" hangingPunct="1">
              <a:lnSpc>
                <a:spcPts val="3000"/>
              </a:lnSpc>
              <a:spcBef>
                <a:spcPts val="0"/>
              </a:spcBef>
              <a:buFont typeface="Wingdings" panose="05000000000000000000" pitchFamily="2" charset="2"/>
              <a:buNone/>
            </a:pPr>
            <a:r>
              <a:rPr lang="en-US" altLang="zh-CN" sz="2400" dirty="0">
                <a:latin typeface="宋体" panose="02010600030101010101" pitchFamily="2" charset="-122"/>
              </a:rPr>
              <a:t>             </a:t>
            </a:r>
            <a:r>
              <a:rPr lang="zh-CN" altLang="en-US" sz="2400" dirty="0">
                <a:latin typeface="宋体" panose="02010600030101010101" pitchFamily="2" charset="-122"/>
              </a:rPr>
              <a:t>缓冲队列的头部</a:t>
            </a:r>
          </a:p>
          <a:p>
            <a:pPr lvl="2" eaLnBrk="1" hangingPunct="1">
              <a:lnSpc>
                <a:spcPts val="3000"/>
              </a:lnSpc>
              <a:spcBef>
                <a:spcPts val="0"/>
              </a:spcBef>
            </a:pPr>
            <a:r>
              <a:rPr lang="zh-CN" altLang="en-US" sz="2400" dirty="0"/>
              <a:t>操作和状态表内容修改</a:t>
            </a:r>
            <a:r>
              <a:rPr lang="zh-CN" altLang="en-US" dirty="0" smtClean="0"/>
              <a:t>：  </a:t>
            </a:r>
          </a:p>
          <a:p>
            <a:pPr marL="1085850" lvl="1" indent="-457200" eaLnBrk="1" hangingPunct="1">
              <a:lnSpc>
                <a:spcPts val="3000"/>
              </a:lnSpc>
              <a:spcBef>
                <a:spcPts val="0"/>
              </a:spcBef>
              <a:buNone/>
            </a:pPr>
            <a:r>
              <a:rPr lang="zh-CN" altLang="en-US" b="1" dirty="0" smtClean="0"/>
              <a:t>      </a:t>
            </a:r>
            <a:r>
              <a:rPr lang="en-US" altLang="zh-CN" b="1" dirty="0" smtClean="0"/>
              <a:t>RS[</a:t>
            </a:r>
            <a:r>
              <a:rPr lang="en-US" altLang="zh-CN" b="1" dirty="0" smtClean="0">
                <a:solidFill>
                  <a:srgbClr val="E24C05"/>
                </a:solidFill>
              </a:rPr>
              <a:t>r</a:t>
            </a:r>
            <a:r>
              <a:rPr lang="en-US" altLang="zh-CN" b="1" dirty="0" smtClean="0"/>
              <a:t>].A </a:t>
            </a:r>
            <a:r>
              <a:rPr lang="en-US" altLang="zh-CN" b="1" dirty="0" smtClean="0">
                <a:sym typeface="Symbol" panose="05050102010706020507" pitchFamily="18" charset="2"/>
              </a:rPr>
              <a:t></a:t>
            </a:r>
            <a:r>
              <a:rPr lang="en-US" altLang="zh-CN" b="1" dirty="0" smtClean="0"/>
              <a:t> RS[</a:t>
            </a:r>
            <a:r>
              <a:rPr lang="en-US" altLang="zh-CN" b="1" dirty="0" smtClean="0">
                <a:solidFill>
                  <a:srgbClr val="E24C05"/>
                </a:solidFill>
              </a:rPr>
              <a:t>r</a:t>
            </a:r>
            <a:r>
              <a:rPr lang="en-US" altLang="zh-CN" b="1" dirty="0" smtClean="0"/>
              <a:t>].</a:t>
            </a:r>
            <a:r>
              <a:rPr lang="en-US" altLang="zh-CN" b="1" dirty="0" err="1" smtClean="0">
                <a:solidFill>
                  <a:srgbClr val="9933FF"/>
                </a:solidFill>
              </a:rPr>
              <a:t>Vj</a:t>
            </a:r>
            <a:r>
              <a:rPr lang="en-US" altLang="zh-CN" b="1" dirty="0" smtClean="0"/>
              <a:t> + RS[</a:t>
            </a:r>
            <a:r>
              <a:rPr lang="en-US" altLang="zh-CN" b="1" dirty="0" smtClean="0">
                <a:solidFill>
                  <a:srgbClr val="E24C05"/>
                </a:solidFill>
              </a:rPr>
              <a:t>r</a:t>
            </a:r>
            <a:r>
              <a:rPr lang="en-US" altLang="zh-CN" b="1" dirty="0" smtClean="0"/>
              <a:t>].A</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a:t>
            </a:r>
            <a:r>
              <a:rPr lang="zh-CN" altLang="en-US" sz="2000" b="1" dirty="0">
                <a:solidFill>
                  <a:srgbClr val="000000"/>
                </a:solidFill>
                <a:latin typeface="宋体" panose="02010600030101010101" pitchFamily="2" charset="-122"/>
                <a:ea typeface="宋体" panose="02010600030101010101" pitchFamily="2" charset="-122"/>
              </a:rPr>
              <a:t>计算有效地址</a:t>
            </a:r>
          </a:p>
          <a:p>
            <a:pPr marL="1085850" lvl="1" indent="-457200" eaLnBrk="1" hangingPunct="1">
              <a:lnSpc>
                <a:spcPts val="3000"/>
              </a:lnSpc>
              <a:spcBef>
                <a:spcPts val="0"/>
              </a:spcBef>
              <a:buNone/>
            </a:pPr>
            <a:r>
              <a:rPr lang="zh-CN" altLang="en-US" b="1" dirty="0" smtClean="0">
                <a:solidFill>
                  <a:schemeClr val="hlink"/>
                </a:solidFill>
                <a:latin typeface="黑体" panose="02010609060101010101" pitchFamily="49" charset="-122"/>
              </a:rPr>
              <a:t>    对于</a:t>
            </a:r>
            <a:r>
              <a:rPr lang="en-US" altLang="zh-CN" b="1" dirty="0" smtClean="0">
                <a:solidFill>
                  <a:schemeClr val="hlink"/>
                </a:solidFill>
                <a:latin typeface="黑体" panose="02010609060101010101" pitchFamily="49" charset="-122"/>
              </a:rPr>
              <a:t>load</a:t>
            </a:r>
            <a:r>
              <a:rPr lang="zh-CN" altLang="en-US" b="1" dirty="0" smtClean="0">
                <a:solidFill>
                  <a:schemeClr val="hlink"/>
                </a:solidFill>
                <a:latin typeface="黑体" panose="02010609060101010101" pitchFamily="49" charset="-122"/>
              </a:rPr>
              <a:t>指令，在完成有效地址计算后，还要进行：</a:t>
            </a:r>
          </a:p>
          <a:p>
            <a:pPr marL="1085850" lvl="1" indent="-457200" eaLnBrk="1" hangingPunct="1">
              <a:lnSpc>
                <a:spcPts val="3000"/>
              </a:lnSpc>
              <a:spcBef>
                <a:spcPts val="0"/>
              </a:spcBef>
              <a:buNone/>
            </a:pPr>
            <a:r>
              <a:rPr lang="zh-CN" altLang="en-US" b="1" dirty="0" smtClean="0"/>
              <a:t>      从</a:t>
            </a:r>
            <a:r>
              <a:rPr lang="en-US" altLang="zh-CN" b="1" dirty="0" smtClean="0"/>
              <a:t>Mem[RS[</a:t>
            </a:r>
            <a:r>
              <a:rPr lang="en-US" altLang="zh-CN" b="1" dirty="0" smtClean="0">
                <a:solidFill>
                  <a:srgbClr val="E24C05"/>
                </a:solidFill>
              </a:rPr>
              <a:t>r</a:t>
            </a:r>
            <a:r>
              <a:rPr lang="en-US" altLang="zh-CN" b="1" dirty="0" smtClean="0"/>
              <a:t>].A]</a:t>
            </a:r>
            <a:r>
              <a:rPr lang="zh-CN" altLang="en-US" b="1" dirty="0" smtClean="0"/>
              <a:t>读取数据；    </a:t>
            </a:r>
            <a:r>
              <a:rPr lang="en-US" altLang="zh-CN" sz="2000" b="1" dirty="0">
                <a:solidFill>
                  <a:srgbClr val="000000"/>
                </a:solidFill>
                <a:latin typeface="宋体" panose="02010600030101010101" pitchFamily="2" charset="-122"/>
                <a:ea typeface="宋体" panose="02010600030101010101" pitchFamily="2" charset="-122"/>
              </a:rPr>
              <a:t>//</a:t>
            </a:r>
            <a:r>
              <a:rPr lang="zh-CN" altLang="en-US" sz="2000" b="1" dirty="0">
                <a:solidFill>
                  <a:srgbClr val="000000"/>
                </a:solidFill>
                <a:latin typeface="宋体" panose="02010600030101010101" pitchFamily="2" charset="-122"/>
                <a:ea typeface="宋体" panose="02010600030101010101" pitchFamily="2" charset="-122"/>
              </a:rPr>
              <a:t>从存储器中读取数据</a:t>
            </a:r>
          </a:p>
        </p:txBody>
      </p:sp>
      <p:sp>
        <p:nvSpPr>
          <p:cNvPr id="2" name="矩形标注 1"/>
          <p:cNvSpPr/>
          <p:nvPr/>
        </p:nvSpPr>
        <p:spPr>
          <a:xfrm>
            <a:off x="9354797" y="1684421"/>
            <a:ext cx="2758740" cy="1185527"/>
          </a:xfrm>
          <a:prstGeom prst="wedgeRectCallout">
            <a:avLst>
              <a:gd name="adj1" fmla="val -84367"/>
              <a:gd name="adj2" fmla="val 4549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此处理解为，</a:t>
            </a:r>
            <a:r>
              <a:rPr lang="en-US" altLang="zh-CN" dirty="0" smtClean="0">
                <a:solidFill>
                  <a:schemeClr val="tx1"/>
                </a:solidFill>
              </a:rPr>
              <a:t>Load</a:t>
            </a:r>
            <a:r>
              <a:rPr lang="zh-CN" altLang="en-US" dirty="0" smtClean="0">
                <a:solidFill>
                  <a:schemeClr val="tx1"/>
                </a:solidFill>
              </a:rPr>
              <a:t>和</a:t>
            </a:r>
            <a:r>
              <a:rPr lang="en-US" altLang="zh-CN" dirty="0" smtClean="0">
                <a:solidFill>
                  <a:schemeClr val="tx1"/>
                </a:solidFill>
              </a:rPr>
              <a:t>Store</a:t>
            </a:r>
            <a:r>
              <a:rPr lang="zh-CN" altLang="en-US" dirty="0" smtClean="0">
                <a:solidFill>
                  <a:schemeClr val="tx1"/>
                </a:solidFill>
              </a:rPr>
              <a:t>指令需要在同一队列中，且按照</a:t>
            </a:r>
            <a:r>
              <a:rPr lang="en-US" altLang="zh-CN" dirty="0" smtClean="0">
                <a:solidFill>
                  <a:schemeClr val="tx1"/>
                </a:solidFill>
              </a:rPr>
              <a:t>FIFO</a:t>
            </a:r>
            <a:r>
              <a:rPr lang="zh-CN" altLang="en-US" dirty="0" smtClean="0">
                <a:solidFill>
                  <a:schemeClr val="tx1"/>
                </a:solidFill>
              </a:rPr>
              <a:t>的次序访存</a:t>
            </a:r>
            <a:endParaRPr lang="zh-CN" altLang="en-US" dirty="0">
              <a:solidFill>
                <a:schemeClr val="tx1"/>
              </a:solidFill>
            </a:endParaRPr>
          </a:p>
        </p:txBody>
      </p:sp>
      <p:sp>
        <p:nvSpPr>
          <p:cNvPr id="4" name="矩形标注 3"/>
          <p:cNvSpPr/>
          <p:nvPr/>
        </p:nvSpPr>
        <p:spPr>
          <a:xfrm>
            <a:off x="9357364" y="3348273"/>
            <a:ext cx="2834636" cy="860079"/>
          </a:xfrm>
          <a:prstGeom prst="wedgeRectCallout">
            <a:avLst>
              <a:gd name="adj1" fmla="val -71896"/>
              <a:gd name="adj2" fmla="val 5181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注意：</a:t>
            </a:r>
            <a:r>
              <a:rPr lang="en-US" altLang="zh-CN" dirty="0" smtClean="0">
                <a:solidFill>
                  <a:schemeClr val="tx1"/>
                </a:solidFill>
              </a:rPr>
              <a:t>Load</a:t>
            </a:r>
            <a:r>
              <a:rPr lang="zh-CN" altLang="en-US" dirty="0" smtClean="0">
                <a:solidFill>
                  <a:schemeClr val="tx1"/>
                </a:solidFill>
              </a:rPr>
              <a:t>指令在该阶段完成的任务是两个：计算访存地址，访存</a:t>
            </a:r>
            <a:endParaRPr lang="zh-CN" altLang="en-US" dirty="0">
              <a:solidFill>
                <a:schemeClr val="tx1"/>
              </a:solidFill>
            </a:endParaRPr>
          </a:p>
        </p:txBody>
      </p:sp>
      <p:sp>
        <p:nvSpPr>
          <p:cNvPr id="5" name="矩形标注 4"/>
          <p:cNvSpPr/>
          <p:nvPr/>
        </p:nvSpPr>
        <p:spPr>
          <a:xfrm>
            <a:off x="9357364" y="4896414"/>
            <a:ext cx="2834636" cy="860079"/>
          </a:xfrm>
          <a:prstGeom prst="wedgeRectCallout">
            <a:avLst>
              <a:gd name="adj1" fmla="val -94572"/>
              <a:gd name="adj2" fmla="val -4608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注意：</a:t>
            </a:r>
            <a:r>
              <a:rPr lang="en-US" altLang="zh-CN" dirty="0" smtClean="0">
                <a:solidFill>
                  <a:schemeClr val="tx1"/>
                </a:solidFill>
              </a:rPr>
              <a:t>Store</a:t>
            </a:r>
            <a:r>
              <a:rPr lang="zh-CN" altLang="en-US" dirty="0" smtClean="0">
                <a:solidFill>
                  <a:schemeClr val="tx1"/>
                </a:solidFill>
              </a:rPr>
              <a:t>指令在该阶段，只需要第一个操作数就绪。</a:t>
            </a:r>
            <a:endParaRPr lang="zh-CN" altLang="en-US" dirty="0">
              <a:solidFill>
                <a:schemeClr val="tx1"/>
              </a:solidFill>
            </a:endParaRPr>
          </a:p>
        </p:txBody>
      </p:sp>
      <p:sp>
        <p:nvSpPr>
          <p:cNvPr id="3" name="矩形 2"/>
          <p:cNvSpPr/>
          <p:nvPr/>
        </p:nvSpPr>
        <p:spPr>
          <a:xfrm>
            <a:off x="768670" y="5643502"/>
            <a:ext cx="6673045" cy="461665"/>
          </a:xfrm>
          <a:prstGeom prst="rect">
            <a:avLst/>
          </a:prstGeom>
        </p:spPr>
        <p:txBody>
          <a:bodyPr wrap="none">
            <a:spAutoFit/>
          </a:bodyPr>
          <a:lstStyle/>
          <a:p>
            <a:r>
              <a:rPr lang="zh-CN" altLang="en-US" sz="2400" i="1" dirty="0" smtClean="0"/>
              <a:t>请思考：为什么</a:t>
            </a:r>
            <a:r>
              <a:rPr lang="en-US" altLang="zh-CN" sz="2400" i="1" dirty="0" smtClean="0"/>
              <a:t>Load</a:t>
            </a:r>
            <a:r>
              <a:rPr lang="zh-CN" altLang="en-US" sz="2400" i="1" dirty="0" smtClean="0"/>
              <a:t>和</a:t>
            </a:r>
            <a:r>
              <a:rPr lang="en-US" altLang="zh-CN" sz="2400" i="1" dirty="0" smtClean="0"/>
              <a:t>Store</a:t>
            </a:r>
            <a:r>
              <a:rPr lang="zh-CN" altLang="en-US" sz="2400" i="1" dirty="0" smtClean="0"/>
              <a:t>指令要按顺序访存？</a:t>
            </a:r>
            <a:endParaRPr lang="zh-CN" altLang="en-US" sz="2400" i="1" dirty="0"/>
          </a:p>
        </p:txBody>
      </p:sp>
    </p:spTree>
    <p:extLst>
      <p:ext uri="{BB962C8B-B14F-4D97-AF65-F5344CB8AC3E}">
        <p14:creationId xmlns:p14="http://schemas.microsoft.com/office/powerpoint/2010/main" val="10091072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39618" name="Rectangle 3" descr="Rectangle: Click to edit Master text styles&#10;Second level&#10;Third level&#10;Fourth level&#10;Fifth level"/>
          <p:cNvSpPr>
            <a:spLocks noGrp="1" noChangeArrowheads="1"/>
          </p:cNvSpPr>
          <p:nvPr>
            <p:ph idx="1"/>
          </p:nvPr>
        </p:nvSpPr>
        <p:spPr>
          <a:xfrm>
            <a:off x="703827" y="344993"/>
            <a:ext cx="8763000" cy="5832475"/>
          </a:xfrm>
        </p:spPr>
        <p:txBody>
          <a:bodyPr>
            <a:normAutofit lnSpcReduction="10000"/>
          </a:bodyPr>
          <a:lstStyle/>
          <a:p>
            <a:pPr marL="457200" indent="-457200" eaLnBrk="1" hangingPunct="1">
              <a:lnSpc>
                <a:spcPct val="110000"/>
              </a:lnSpc>
              <a:buFont typeface="Wingdings" panose="05000000000000000000" pitchFamily="2" charset="2"/>
              <a:buAutoNum type="arabicPeriod" startAt="3"/>
              <a:tabLst>
                <a:tab pos="4286250" algn="l"/>
              </a:tabLst>
            </a:pPr>
            <a:r>
              <a:rPr lang="zh-CN" altLang="en-US" sz="2800" b="1" dirty="0">
                <a:latin typeface="华文琥珀" panose="02010800040101010101" pitchFamily="2" charset="-122"/>
                <a:ea typeface="华文琥珀" panose="02010800040101010101" pitchFamily="2" charset="-122"/>
              </a:rPr>
              <a:t>写结果 </a:t>
            </a:r>
          </a:p>
          <a:p>
            <a:pPr marL="628650" lvl="1" indent="0" eaLnBrk="1" hangingPunct="1">
              <a:lnSpc>
                <a:spcPct val="110000"/>
              </a:lnSpc>
              <a:buNone/>
              <a:tabLst>
                <a:tab pos="4286250" algn="l"/>
              </a:tabLst>
            </a:pPr>
            <a:r>
              <a:rPr lang="zh-CN" altLang="en-US" b="1" dirty="0" smtClean="0">
                <a:solidFill>
                  <a:srgbClr val="E24C05"/>
                </a:solidFill>
                <a:latin typeface="黑体" panose="02010609060101010101" pitchFamily="49" charset="-122"/>
              </a:rPr>
              <a:t>① 浮点运算指令和</a:t>
            </a:r>
            <a:r>
              <a:rPr lang="en-US" altLang="zh-CN" b="1" dirty="0" smtClean="0">
                <a:solidFill>
                  <a:srgbClr val="E24C05"/>
                </a:solidFill>
                <a:latin typeface="黑体" panose="02010609060101010101" pitchFamily="49" charset="-122"/>
              </a:rPr>
              <a:t>load</a:t>
            </a:r>
            <a:r>
              <a:rPr lang="zh-CN" altLang="en-US" b="1" dirty="0" smtClean="0">
                <a:solidFill>
                  <a:srgbClr val="E24C05"/>
                </a:solidFill>
                <a:latin typeface="黑体" panose="02010609060101010101" pitchFamily="49" charset="-122"/>
              </a:rPr>
              <a:t>指令</a:t>
            </a:r>
          </a:p>
          <a:p>
            <a:pPr marL="1085850" lvl="1" indent="-457200" eaLnBrk="1" hangingPunct="1">
              <a:lnSpc>
                <a:spcPct val="110000"/>
              </a:lnSpc>
              <a:buNone/>
              <a:tabLst>
                <a:tab pos="4286250" algn="l"/>
              </a:tabLst>
            </a:pPr>
            <a:r>
              <a:rPr lang="zh-CN" altLang="en-US" b="1" dirty="0" smtClean="0">
                <a:solidFill>
                  <a:srgbClr val="D60093"/>
                </a:solidFill>
              </a:rPr>
              <a:t>进入条件：</a:t>
            </a:r>
            <a:r>
              <a:rPr lang="zh-CN" altLang="en-US" b="1" dirty="0" smtClean="0">
                <a:latin typeface="宋体" panose="02010600030101010101" pitchFamily="2" charset="-122"/>
              </a:rPr>
              <a:t>保留站</a:t>
            </a:r>
            <a:r>
              <a:rPr lang="en-US" altLang="zh-CN" b="1" dirty="0" smtClean="0">
                <a:solidFill>
                  <a:srgbClr val="E24C05"/>
                </a:solidFill>
                <a:latin typeface="宋体" panose="02010600030101010101" pitchFamily="2" charset="-122"/>
              </a:rPr>
              <a:t>r</a:t>
            </a:r>
            <a:r>
              <a:rPr lang="zh-CN" altLang="en-US" b="1" dirty="0" smtClean="0">
                <a:latin typeface="宋体" panose="02010600030101010101" pitchFamily="2" charset="-122"/>
              </a:rPr>
              <a:t>执行结束，且</a:t>
            </a:r>
            <a:r>
              <a:rPr lang="en-US" altLang="zh-CN" b="1" dirty="0" smtClean="0">
                <a:solidFill>
                  <a:srgbClr val="9933FF"/>
                </a:solidFill>
                <a:latin typeface="宋体" panose="02010600030101010101" pitchFamily="2" charset="-122"/>
              </a:rPr>
              <a:t>CDB</a:t>
            </a:r>
            <a:r>
              <a:rPr lang="zh-CN" altLang="en-US" b="1" dirty="0" smtClean="0">
                <a:latin typeface="宋体" panose="02010600030101010101" pitchFamily="2" charset="-122"/>
              </a:rPr>
              <a:t>就绪。</a:t>
            </a:r>
          </a:p>
          <a:p>
            <a:pPr marL="1085850" lvl="1" indent="-457200" eaLnBrk="1" hangingPunct="1">
              <a:lnSpc>
                <a:spcPct val="110000"/>
              </a:lnSpc>
              <a:buNone/>
              <a:tabLst>
                <a:tab pos="4286250" algn="l"/>
              </a:tabLst>
            </a:pPr>
            <a:r>
              <a:rPr lang="zh-CN" altLang="en-US" b="1" dirty="0" smtClean="0"/>
              <a:t>操作和状态表内容修改：</a:t>
            </a:r>
          </a:p>
          <a:p>
            <a:pPr marL="1085850" lvl="1" indent="-457200" eaLnBrk="1" hangingPunct="1">
              <a:lnSpc>
                <a:spcPct val="110000"/>
              </a:lnSpc>
              <a:buNone/>
              <a:tabLst>
                <a:tab pos="4286250" algn="l"/>
              </a:tabLst>
            </a:pPr>
            <a:r>
              <a:rPr lang="zh-CN" altLang="en-US" b="1" dirty="0" smtClean="0">
                <a:sym typeface="Symbol" panose="05050102010706020507" pitchFamily="18" charset="2"/>
              </a:rPr>
              <a:t></a:t>
            </a:r>
            <a:r>
              <a:rPr lang="en-US" altLang="zh-CN" b="1" dirty="0" smtClean="0"/>
              <a:t>x </a:t>
            </a:r>
            <a:r>
              <a:rPr lang="zh-CN" altLang="en-US" b="1" dirty="0" smtClean="0"/>
              <a:t>（</a:t>
            </a:r>
            <a:r>
              <a:rPr lang="en-US" altLang="zh-CN" b="1" dirty="0" smtClean="0"/>
              <a:t>if</a:t>
            </a:r>
            <a:r>
              <a:rPr lang="zh-CN" altLang="en-US" b="1" dirty="0" smtClean="0"/>
              <a:t>（</a:t>
            </a:r>
            <a:r>
              <a:rPr lang="en-US" altLang="zh-CN" b="1" dirty="0" smtClean="0"/>
              <a:t>Qi[</a:t>
            </a:r>
            <a:r>
              <a:rPr lang="en-US" altLang="zh-CN" b="1" dirty="0" smtClean="0">
                <a:solidFill>
                  <a:srgbClr val="9933FF"/>
                </a:solidFill>
              </a:rPr>
              <a:t>x</a:t>
            </a:r>
            <a:r>
              <a:rPr lang="en-US" altLang="zh-CN" b="1" dirty="0" smtClean="0"/>
              <a:t>] = </a:t>
            </a:r>
            <a:r>
              <a:rPr lang="en-US" altLang="zh-CN" b="1" dirty="0" smtClean="0">
                <a:solidFill>
                  <a:srgbClr val="E24C05"/>
                </a:solidFill>
              </a:rPr>
              <a:t>r</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对于任何一个正在等该结果</a:t>
            </a:r>
          </a:p>
          <a:p>
            <a:pPr marL="1085850" lvl="1" indent="-457200" eaLnBrk="1" hangingPunct="1">
              <a:lnSpc>
                <a:spcPct val="110000"/>
              </a:lnSpc>
              <a:buNone/>
              <a:tabLst>
                <a:tab pos="4286250"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的浮点寄存器</a:t>
            </a:r>
            <a:r>
              <a:rPr lang="en-US" altLang="zh-CN" sz="2000" b="1" dirty="0">
                <a:solidFill>
                  <a:srgbClr val="9933FF"/>
                </a:solidFill>
                <a:latin typeface="宋体" panose="02010600030101010101" pitchFamily="2" charset="-122"/>
                <a:ea typeface="宋体" panose="02010600030101010101" pitchFamily="2" charset="-122"/>
              </a:rPr>
              <a:t>x</a:t>
            </a:r>
            <a:endParaRPr lang="en-US" altLang="zh-CN" sz="2000" b="1" dirty="0">
              <a:solidFill>
                <a:srgbClr val="9933FF"/>
              </a:solidFill>
              <a:latin typeface="宋体" panose="02010600030101010101" pitchFamily="2" charset="-122"/>
              <a:ea typeface="宋体" panose="02010600030101010101" pitchFamily="2" charset="-122"/>
              <a:sym typeface="Symbol" panose="05050102010706020507" pitchFamily="18" charset="2"/>
            </a:endParaRPr>
          </a:p>
          <a:p>
            <a:pPr marL="1085850" lvl="1" indent="-457200" eaLnBrk="1" hangingPunct="1">
              <a:lnSpc>
                <a:spcPct val="110000"/>
              </a:lnSpc>
              <a:buNone/>
              <a:tabLst>
                <a:tab pos="4286250" algn="l"/>
              </a:tabLst>
            </a:pPr>
            <a:r>
              <a:rPr lang="en-US" altLang="zh-CN" b="1" dirty="0" smtClean="0">
                <a:sym typeface="Symbol" panose="05050102010706020507" pitchFamily="18" charset="2"/>
              </a:rPr>
              <a:t>     </a:t>
            </a:r>
            <a:r>
              <a:rPr lang="en-US" altLang="zh-CN" b="1" dirty="0" smtClean="0"/>
              <a:t> </a:t>
            </a:r>
            <a:r>
              <a:rPr lang="en-US" altLang="zh-CN" b="1" dirty="0" err="1" smtClean="0"/>
              <a:t>Regs</a:t>
            </a:r>
            <a:r>
              <a:rPr lang="en-US" altLang="zh-CN" b="1" dirty="0" smtClean="0"/>
              <a:t>[</a:t>
            </a:r>
            <a:r>
              <a:rPr lang="en-US" altLang="zh-CN" b="1" dirty="0" smtClean="0">
                <a:solidFill>
                  <a:srgbClr val="9933FF"/>
                </a:solidFill>
              </a:rPr>
              <a:t>x</a:t>
            </a:r>
            <a:r>
              <a:rPr lang="en-US" altLang="zh-CN" b="1" dirty="0" smtClean="0"/>
              <a:t>] </a:t>
            </a:r>
            <a:r>
              <a:rPr lang="en-US" altLang="zh-CN" b="1" dirty="0" smtClean="0">
                <a:sym typeface="Symbol" panose="05050102010706020507" pitchFamily="18" charset="2"/>
              </a:rPr>
              <a:t></a:t>
            </a:r>
            <a:r>
              <a:rPr lang="en-US" altLang="zh-CN" b="1" dirty="0" smtClean="0"/>
              <a:t> result</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向该寄存器写入结果</a:t>
            </a:r>
          </a:p>
          <a:p>
            <a:pPr marL="1085850" lvl="1" indent="-457200" eaLnBrk="1" hangingPunct="1">
              <a:lnSpc>
                <a:spcPct val="110000"/>
              </a:lnSpc>
              <a:buNone/>
              <a:tabLst>
                <a:tab pos="4286250" algn="l"/>
              </a:tabLst>
            </a:pPr>
            <a:r>
              <a:rPr lang="zh-CN" altLang="en-US" b="1" dirty="0" smtClean="0"/>
              <a:t>        </a:t>
            </a:r>
            <a:r>
              <a:rPr lang="en-US" altLang="zh-CN" b="1" dirty="0" smtClean="0"/>
              <a:t>Qi[</a:t>
            </a:r>
            <a:r>
              <a:rPr lang="en-US" altLang="zh-CN" b="1" dirty="0" smtClean="0">
                <a:solidFill>
                  <a:srgbClr val="9933FF"/>
                </a:solidFill>
              </a:rPr>
              <a:t>x</a:t>
            </a:r>
            <a:r>
              <a:rPr lang="en-US" altLang="zh-CN" b="1" dirty="0" smtClean="0"/>
              <a:t>] </a:t>
            </a:r>
            <a:r>
              <a:rPr lang="en-US" altLang="zh-CN" b="1" dirty="0" smtClean="0">
                <a:sym typeface="Symbol" panose="05050102010706020507" pitchFamily="18" charset="2"/>
              </a:rPr>
              <a:t></a:t>
            </a:r>
            <a:r>
              <a:rPr lang="en-US" altLang="zh-CN" b="1" dirty="0" smtClean="0"/>
              <a:t> 0 </a:t>
            </a:r>
            <a:r>
              <a:rPr lang="en-US" altLang="zh-CN" b="1" dirty="0" smtClean="0">
                <a:sym typeface="Symbol" panose="05050102010706020507" pitchFamily="18" charset="2"/>
              </a:rPr>
              <a:t></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把该寄存器的状态置为数据就绪</a:t>
            </a:r>
          </a:p>
          <a:p>
            <a:pPr marL="1085850" lvl="1" indent="-457200" eaLnBrk="1" hangingPunct="1">
              <a:lnSpc>
                <a:spcPct val="110000"/>
              </a:lnSpc>
              <a:buNone/>
              <a:tabLst>
                <a:tab pos="4286250" algn="l"/>
              </a:tabLst>
            </a:pPr>
            <a:r>
              <a:rPr lang="zh-CN" altLang="en-US" b="1" dirty="0" smtClean="0">
                <a:sym typeface="Symbol" panose="05050102010706020507" pitchFamily="18" charset="2"/>
              </a:rPr>
              <a:t></a:t>
            </a:r>
            <a:r>
              <a:rPr lang="en-US" altLang="zh-CN" b="1" dirty="0" smtClean="0"/>
              <a:t>x </a:t>
            </a:r>
            <a:r>
              <a:rPr lang="zh-CN" altLang="en-US" b="1" dirty="0" smtClean="0"/>
              <a:t>（</a:t>
            </a:r>
            <a:r>
              <a:rPr lang="en-US" altLang="zh-CN" b="1" dirty="0" smtClean="0"/>
              <a:t>if</a:t>
            </a:r>
            <a:r>
              <a:rPr lang="zh-CN" altLang="en-US" b="1" dirty="0" smtClean="0"/>
              <a:t>（</a:t>
            </a:r>
            <a:r>
              <a:rPr lang="en-US" altLang="zh-CN" b="1" dirty="0" smtClean="0"/>
              <a:t>RS[</a:t>
            </a:r>
            <a:r>
              <a:rPr lang="en-US" altLang="zh-CN" b="1" dirty="0" smtClean="0">
                <a:solidFill>
                  <a:srgbClr val="9933FF"/>
                </a:solidFill>
              </a:rPr>
              <a:t>x</a:t>
            </a:r>
            <a:r>
              <a:rPr lang="en-US" altLang="zh-CN" b="1" dirty="0" smtClean="0"/>
              <a:t>].</a:t>
            </a:r>
            <a:r>
              <a:rPr lang="en-US" altLang="zh-CN" b="1" dirty="0" err="1" smtClean="0"/>
              <a:t>Qj</a:t>
            </a:r>
            <a:r>
              <a:rPr lang="en-US" altLang="zh-CN" b="1" dirty="0" smtClean="0"/>
              <a:t> = </a:t>
            </a:r>
            <a:r>
              <a:rPr lang="en-US" altLang="zh-CN" b="1" dirty="0" smtClean="0">
                <a:solidFill>
                  <a:srgbClr val="E24C05"/>
                </a:solidFill>
              </a:rPr>
              <a:t>r</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对于任何一个正在等该结果</a:t>
            </a:r>
          </a:p>
          <a:p>
            <a:pPr marL="1085850" lvl="1" indent="-457200" eaLnBrk="1" hangingPunct="1">
              <a:lnSpc>
                <a:spcPct val="110000"/>
              </a:lnSpc>
              <a:buNone/>
              <a:tabLst>
                <a:tab pos="4286250"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作为第一操作数的保留站</a:t>
            </a:r>
            <a:r>
              <a:rPr lang="en-US" altLang="zh-CN" sz="2000" b="1" dirty="0">
                <a:solidFill>
                  <a:srgbClr val="9933FF"/>
                </a:solidFill>
                <a:latin typeface="宋体" panose="02010600030101010101" pitchFamily="2" charset="-122"/>
                <a:ea typeface="宋体" panose="02010600030101010101" pitchFamily="2" charset="-122"/>
              </a:rPr>
              <a:t>x</a:t>
            </a:r>
            <a:endParaRPr lang="en-US" altLang="zh-CN" sz="2000" b="1" dirty="0">
              <a:solidFill>
                <a:srgbClr val="9933FF"/>
              </a:solidFill>
              <a:latin typeface="宋体" panose="02010600030101010101" pitchFamily="2" charset="-122"/>
              <a:ea typeface="宋体" panose="02010600030101010101" pitchFamily="2" charset="-122"/>
              <a:sym typeface="Symbol" panose="05050102010706020507" pitchFamily="18" charset="2"/>
            </a:endParaRPr>
          </a:p>
          <a:p>
            <a:pPr marL="1085850" lvl="1" indent="-457200" eaLnBrk="1" hangingPunct="1">
              <a:lnSpc>
                <a:spcPct val="110000"/>
              </a:lnSpc>
              <a:buNone/>
              <a:tabLst>
                <a:tab pos="4286250" algn="l"/>
              </a:tabLst>
            </a:pPr>
            <a:r>
              <a:rPr lang="en-US" altLang="zh-CN" b="1" dirty="0" smtClean="0">
                <a:sym typeface="Symbol" panose="05050102010706020507" pitchFamily="18" charset="2"/>
              </a:rPr>
              <a:t>    </a:t>
            </a:r>
            <a:r>
              <a:rPr lang="en-US" altLang="zh-CN" b="1" dirty="0" smtClean="0"/>
              <a:t>RS[</a:t>
            </a:r>
            <a:r>
              <a:rPr lang="en-US" altLang="zh-CN" b="1" dirty="0" smtClean="0">
                <a:solidFill>
                  <a:srgbClr val="9933FF"/>
                </a:solidFill>
              </a:rPr>
              <a:t>x</a:t>
            </a:r>
            <a:r>
              <a:rPr lang="en-US" altLang="zh-CN" b="1" dirty="0" smtClean="0"/>
              <a:t>].</a:t>
            </a:r>
            <a:r>
              <a:rPr lang="en-US" altLang="zh-CN" b="1" dirty="0" err="1" smtClean="0">
                <a:solidFill>
                  <a:srgbClr val="9933FF"/>
                </a:solidFill>
              </a:rPr>
              <a:t>Vj</a:t>
            </a:r>
            <a:r>
              <a:rPr lang="en-US" altLang="zh-CN" b="1" dirty="0" smtClean="0"/>
              <a:t> </a:t>
            </a:r>
            <a:r>
              <a:rPr lang="en-US" altLang="zh-CN" b="1" dirty="0" smtClean="0">
                <a:sym typeface="Symbol" panose="05050102010706020507" pitchFamily="18" charset="2"/>
              </a:rPr>
              <a:t></a:t>
            </a:r>
            <a:r>
              <a:rPr lang="en-US" altLang="zh-CN" b="1" dirty="0" smtClean="0"/>
              <a:t> result</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向该保留站的</a:t>
            </a:r>
            <a:r>
              <a:rPr lang="en-US" altLang="zh-CN" sz="2000" b="1" dirty="0" err="1">
                <a:solidFill>
                  <a:srgbClr val="9933FF"/>
                </a:solidFill>
                <a:latin typeface="宋体" panose="02010600030101010101" pitchFamily="2" charset="-122"/>
                <a:ea typeface="宋体" panose="02010600030101010101" pitchFamily="2" charset="-122"/>
              </a:rPr>
              <a:t>Vj</a:t>
            </a:r>
            <a:r>
              <a:rPr lang="zh-CN" altLang="en-US" sz="2000" b="1" dirty="0">
                <a:solidFill>
                  <a:srgbClr val="000000"/>
                </a:solidFill>
                <a:latin typeface="宋体" panose="02010600030101010101" pitchFamily="2" charset="-122"/>
                <a:ea typeface="宋体" panose="02010600030101010101" pitchFamily="2" charset="-122"/>
              </a:rPr>
              <a:t>写入结果</a:t>
            </a:r>
          </a:p>
          <a:p>
            <a:pPr marL="1085850" lvl="1" indent="-457200" eaLnBrk="1" hangingPunct="1">
              <a:lnSpc>
                <a:spcPct val="110000"/>
              </a:lnSpc>
              <a:buNone/>
              <a:tabLst>
                <a:tab pos="4286250" algn="l"/>
              </a:tabLst>
            </a:pPr>
            <a:r>
              <a:rPr lang="zh-CN" altLang="en-US" b="1" dirty="0" smtClean="0"/>
              <a:t>      </a:t>
            </a:r>
            <a:r>
              <a:rPr lang="en-US" altLang="zh-CN" b="1" dirty="0" smtClean="0"/>
              <a:t>RS[</a:t>
            </a:r>
            <a:r>
              <a:rPr lang="en-US" altLang="zh-CN" b="1" dirty="0" smtClean="0">
                <a:solidFill>
                  <a:srgbClr val="9933FF"/>
                </a:solidFill>
              </a:rPr>
              <a:t>x</a:t>
            </a:r>
            <a:r>
              <a:rPr lang="en-US" altLang="zh-CN" b="1" dirty="0" smtClean="0"/>
              <a:t>].</a:t>
            </a:r>
            <a:r>
              <a:rPr lang="en-US" altLang="zh-CN" b="1" dirty="0" err="1" smtClean="0"/>
              <a:t>Qj</a:t>
            </a:r>
            <a:r>
              <a:rPr lang="en-US" altLang="zh-CN" b="1" dirty="0" smtClean="0"/>
              <a:t> </a:t>
            </a:r>
            <a:r>
              <a:rPr lang="en-US" altLang="zh-CN" b="1" dirty="0" smtClean="0">
                <a:sym typeface="Symbol" panose="05050102010706020507" pitchFamily="18" charset="2"/>
              </a:rPr>
              <a:t></a:t>
            </a:r>
            <a:r>
              <a:rPr lang="en-US" altLang="zh-CN" b="1" dirty="0" smtClean="0"/>
              <a:t> 0 </a:t>
            </a:r>
            <a:r>
              <a:rPr lang="en-US" altLang="zh-CN" b="1" dirty="0" smtClean="0">
                <a:sym typeface="Symbol" panose="05050102010706020507" pitchFamily="18" charset="2"/>
              </a:rPr>
              <a:t></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置</a:t>
            </a:r>
            <a:r>
              <a:rPr lang="en-US" altLang="zh-CN" sz="2000" b="1" dirty="0" err="1">
                <a:solidFill>
                  <a:srgbClr val="000000"/>
                </a:solidFill>
                <a:latin typeface="宋体" panose="02010600030101010101" pitchFamily="2" charset="-122"/>
                <a:ea typeface="宋体" panose="02010600030101010101" pitchFamily="2" charset="-122"/>
              </a:rPr>
              <a:t>Qj</a:t>
            </a:r>
            <a:r>
              <a:rPr lang="zh-CN" altLang="en-US" sz="2000" b="1" dirty="0">
                <a:solidFill>
                  <a:srgbClr val="000000"/>
                </a:solidFill>
                <a:latin typeface="宋体" panose="02010600030101010101" pitchFamily="2" charset="-122"/>
                <a:ea typeface="宋体" panose="02010600030101010101" pitchFamily="2" charset="-122"/>
              </a:rPr>
              <a:t>为</a:t>
            </a:r>
            <a:r>
              <a:rPr lang="en-US" altLang="zh-CN" sz="2000" b="1" dirty="0">
                <a:solidFill>
                  <a:srgbClr val="000000"/>
                </a:solidFill>
                <a:latin typeface="宋体" panose="02010600030101010101" pitchFamily="2" charset="-122"/>
                <a:ea typeface="宋体" panose="02010600030101010101" pitchFamily="2" charset="-122"/>
              </a:rPr>
              <a:t>0</a:t>
            </a:r>
            <a:r>
              <a:rPr lang="zh-CN" altLang="en-US" sz="2000" b="1" dirty="0">
                <a:solidFill>
                  <a:srgbClr val="000000"/>
                </a:solidFill>
                <a:latin typeface="宋体" panose="02010600030101010101" pitchFamily="2" charset="-122"/>
                <a:ea typeface="宋体" panose="02010600030101010101" pitchFamily="2" charset="-122"/>
              </a:rPr>
              <a:t>，表示该保留站的</a:t>
            </a:r>
          </a:p>
          <a:p>
            <a:pPr marL="1085850" lvl="1" indent="-457200" eaLnBrk="1" hangingPunct="1">
              <a:lnSpc>
                <a:spcPct val="110000"/>
              </a:lnSpc>
              <a:buNone/>
              <a:tabLst>
                <a:tab pos="4286250"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en-US" altLang="zh-CN" sz="2000" b="1" dirty="0" err="1">
                <a:solidFill>
                  <a:srgbClr val="9933FF"/>
                </a:solidFill>
                <a:latin typeface="宋体" panose="02010600030101010101" pitchFamily="2" charset="-122"/>
                <a:ea typeface="宋体" panose="02010600030101010101" pitchFamily="2" charset="-122"/>
              </a:rPr>
              <a:t>Vj</a:t>
            </a:r>
            <a:r>
              <a:rPr lang="zh-CN" altLang="en-US" sz="2000" b="1" dirty="0">
                <a:solidFill>
                  <a:srgbClr val="000000"/>
                </a:solidFill>
                <a:latin typeface="宋体" panose="02010600030101010101" pitchFamily="2" charset="-122"/>
                <a:ea typeface="宋体" panose="02010600030101010101" pitchFamily="2" charset="-122"/>
              </a:rPr>
              <a:t>中的操作数就绪 </a:t>
            </a:r>
          </a:p>
        </p:txBody>
      </p:sp>
    </p:spTree>
    <p:extLst>
      <p:ext uri="{BB962C8B-B14F-4D97-AF65-F5344CB8AC3E}">
        <p14:creationId xmlns:p14="http://schemas.microsoft.com/office/powerpoint/2010/main" val="8940051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40642" name="Rectangle 3" descr="Rectangle: Click to edit Master text styles&#10;Second level&#10;Third level&#10;Fourth level&#10;Fifth level"/>
          <p:cNvSpPr>
            <a:spLocks noGrp="1" noChangeArrowheads="1"/>
          </p:cNvSpPr>
          <p:nvPr>
            <p:ph idx="1"/>
          </p:nvPr>
        </p:nvSpPr>
        <p:spPr>
          <a:xfrm>
            <a:off x="455776" y="397380"/>
            <a:ext cx="8893175" cy="6610350"/>
          </a:xfrm>
        </p:spPr>
        <p:txBody>
          <a:bodyPr/>
          <a:lstStyle/>
          <a:p>
            <a:pPr marL="1085850" lvl="1" indent="-457200" eaLnBrk="1" hangingPunct="1">
              <a:buNone/>
              <a:tabLst>
                <a:tab pos="4473575" algn="l"/>
              </a:tabLst>
            </a:pPr>
            <a:r>
              <a:rPr lang="en-US" altLang="zh-CN" b="1" dirty="0" smtClean="0">
                <a:sym typeface="Symbol" panose="05050102010706020507" pitchFamily="18" charset="2"/>
              </a:rPr>
              <a:t></a:t>
            </a:r>
            <a:r>
              <a:rPr lang="en-US" altLang="zh-CN" b="1" dirty="0" smtClean="0"/>
              <a:t>x </a:t>
            </a:r>
            <a:r>
              <a:rPr lang="zh-CN" altLang="en-US" b="1" dirty="0" smtClean="0"/>
              <a:t>（</a:t>
            </a:r>
            <a:r>
              <a:rPr lang="en-US" altLang="zh-CN" b="1" dirty="0" smtClean="0"/>
              <a:t>if</a:t>
            </a:r>
            <a:r>
              <a:rPr lang="zh-CN" altLang="en-US" b="1" dirty="0" smtClean="0"/>
              <a:t>（</a:t>
            </a:r>
            <a:r>
              <a:rPr lang="en-US" altLang="zh-CN" b="1" dirty="0" smtClean="0"/>
              <a:t>RS[</a:t>
            </a:r>
            <a:r>
              <a:rPr lang="en-US" altLang="zh-CN" b="1" dirty="0" smtClean="0">
                <a:solidFill>
                  <a:srgbClr val="9933FF"/>
                </a:solidFill>
              </a:rPr>
              <a:t>x</a:t>
            </a:r>
            <a:r>
              <a:rPr lang="en-US" altLang="zh-CN" b="1" dirty="0" smtClean="0"/>
              <a:t>].</a:t>
            </a:r>
            <a:r>
              <a:rPr lang="en-US" altLang="zh-CN" b="1" dirty="0" err="1" smtClean="0"/>
              <a:t>Qk</a:t>
            </a:r>
            <a:r>
              <a:rPr lang="en-US" altLang="zh-CN" b="1" dirty="0" smtClean="0"/>
              <a:t> = </a:t>
            </a:r>
            <a:r>
              <a:rPr lang="en-US" altLang="zh-CN" b="1" dirty="0" smtClean="0">
                <a:solidFill>
                  <a:srgbClr val="E24C05"/>
                </a:solidFill>
              </a:rPr>
              <a:t>r</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对于任何一个正在等该结果作为</a:t>
            </a:r>
          </a:p>
          <a:p>
            <a:pPr marL="1085850" lvl="1" indent="-457200" eaLnBrk="1" hangingPunct="1">
              <a:buNone/>
              <a:tabLst>
                <a:tab pos="4473575" algn="l"/>
              </a:tabLst>
            </a:pPr>
            <a:r>
              <a:rPr lang="zh-CN" altLang="en-US" sz="18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第二操作数的保留站</a:t>
            </a:r>
            <a:r>
              <a:rPr lang="en-US" altLang="zh-CN" sz="2000" b="1" dirty="0">
                <a:solidFill>
                  <a:srgbClr val="9933FF"/>
                </a:solidFill>
                <a:latin typeface="宋体" panose="02010600030101010101" pitchFamily="2" charset="-122"/>
                <a:ea typeface="宋体" panose="02010600030101010101" pitchFamily="2" charset="-122"/>
              </a:rPr>
              <a:t>x</a:t>
            </a:r>
            <a:endParaRPr lang="en-US" altLang="zh-CN" sz="2000" b="1" dirty="0">
              <a:solidFill>
                <a:srgbClr val="9933FF"/>
              </a:solidFill>
              <a:latin typeface="宋体" panose="02010600030101010101" pitchFamily="2" charset="-122"/>
              <a:ea typeface="宋体" panose="02010600030101010101" pitchFamily="2" charset="-122"/>
              <a:sym typeface="Symbol" panose="05050102010706020507" pitchFamily="18" charset="2"/>
            </a:endParaRPr>
          </a:p>
          <a:p>
            <a:pPr marL="1085850" lvl="1" indent="-457200" eaLnBrk="1" hangingPunct="1">
              <a:buNone/>
              <a:tabLst>
                <a:tab pos="4473575" algn="l"/>
              </a:tabLst>
            </a:pPr>
            <a:r>
              <a:rPr lang="en-US" altLang="zh-CN" b="1" dirty="0" smtClean="0">
                <a:sym typeface="Symbol" panose="05050102010706020507" pitchFamily="18" charset="2"/>
              </a:rPr>
              <a:t>    </a:t>
            </a:r>
            <a:r>
              <a:rPr lang="en-US" altLang="zh-CN" b="1" dirty="0" smtClean="0"/>
              <a:t>RS[</a:t>
            </a:r>
            <a:r>
              <a:rPr lang="en-US" altLang="zh-CN" b="1" dirty="0" smtClean="0">
                <a:solidFill>
                  <a:srgbClr val="9933FF"/>
                </a:solidFill>
              </a:rPr>
              <a:t>x</a:t>
            </a:r>
            <a:r>
              <a:rPr lang="en-US" altLang="zh-CN" b="1" dirty="0" smtClean="0"/>
              <a:t>].</a:t>
            </a:r>
            <a:r>
              <a:rPr lang="en-US" altLang="zh-CN" b="1" dirty="0" err="1" smtClean="0">
                <a:solidFill>
                  <a:srgbClr val="9933FF"/>
                </a:solidFill>
              </a:rPr>
              <a:t>Vk</a:t>
            </a:r>
            <a:r>
              <a:rPr lang="en-US" altLang="zh-CN" b="1" dirty="0" smtClean="0"/>
              <a:t> </a:t>
            </a:r>
            <a:r>
              <a:rPr lang="en-US" altLang="zh-CN" b="1" dirty="0" smtClean="0">
                <a:sym typeface="Symbol" panose="05050102010706020507" pitchFamily="18" charset="2"/>
              </a:rPr>
              <a:t></a:t>
            </a:r>
            <a:r>
              <a:rPr lang="en-US" altLang="zh-CN" b="1" dirty="0" smtClean="0"/>
              <a:t> result</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向该保留站的</a:t>
            </a:r>
            <a:r>
              <a:rPr lang="en-US" altLang="zh-CN" sz="2000" b="1" dirty="0" err="1">
                <a:solidFill>
                  <a:srgbClr val="9933FF"/>
                </a:solidFill>
                <a:latin typeface="宋体" panose="02010600030101010101" pitchFamily="2" charset="-122"/>
                <a:ea typeface="宋体" panose="02010600030101010101" pitchFamily="2" charset="-122"/>
              </a:rPr>
              <a:t>Vk</a:t>
            </a:r>
            <a:r>
              <a:rPr lang="zh-CN" altLang="en-US" sz="2000" b="1" dirty="0">
                <a:solidFill>
                  <a:srgbClr val="000000"/>
                </a:solidFill>
                <a:latin typeface="宋体" panose="02010600030101010101" pitchFamily="2" charset="-122"/>
                <a:ea typeface="宋体" panose="02010600030101010101" pitchFamily="2" charset="-122"/>
              </a:rPr>
              <a:t>写入结果</a:t>
            </a:r>
          </a:p>
          <a:p>
            <a:pPr marL="1085850" lvl="1" indent="-457200" eaLnBrk="1" hangingPunct="1">
              <a:buNone/>
              <a:tabLst>
                <a:tab pos="4473575" algn="l"/>
              </a:tabLst>
            </a:pPr>
            <a:r>
              <a:rPr lang="zh-CN" altLang="en-US" b="1" dirty="0" smtClean="0"/>
              <a:t>     </a:t>
            </a:r>
            <a:r>
              <a:rPr lang="en-US" altLang="zh-CN" b="1" dirty="0" smtClean="0"/>
              <a:t>RS[</a:t>
            </a:r>
            <a:r>
              <a:rPr lang="en-US" altLang="zh-CN" b="1" dirty="0" smtClean="0">
                <a:solidFill>
                  <a:srgbClr val="9933FF"/>
                </a:solidFill>
              </a:rPr>
              <a:t>x</a:t>
            </a:r>
            <a:r>
              <a:rPr lang="en-US" altLang="zh-CN" b="1" dirty="0" smtClean="0"/>
              <a:t>].</a:t>
            </a:r>
            <a:r>
              <a:rPr lang="en-US" altLang="zh-CN" b="1" dirty="0" err="1" smtClean="0"/>
              <a:t>Qk</a:t>
            </a:r>
            <a:r>
              <a:rPr lang="en-US" altLang="zh-CN" b="1" dirty="0" smtClean="0"/>
              <a:t> </a:t>
            </a:r>
            <a:r>
              <a:rPr lang="en-US" altLang="zh-CN" b="1" dirty="0" smtClean="0">
                <a:sym typeface="Symbol" panose="05050102010706020507" pitchFamily="18" charset="2"/>
              </a:rPr>
              <a:t></a:t>
            </a:r>
            <a:r>
              <a:rPr lang="en-US" altLang="zh-CN" b="1" dirty="0" smtClean="0"/>
              <a:t> 0 </a:t>
            </a:r>
            <a:r>
              <a:rPr lang="en-US" altLang="zh-CN" b="1" dirty="0" smtClean="0">
                <a:sym typeface="Symbol" panose="05050102010706020507" pitchFamily="18" charset="2"/>
              </a:rPr>
              <a:t></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置</a:t>
            </a:r>
            <a:r>
              <a:rPr lang="en-US" altLang="zh-CN" sz="2000" b="1" dirty="0" err="1">
                <a:solidFill>
                  <a:srgbClr val="000000"/>
                </a:solidFill>
                <a:latin typeface="宋体" panose="02010600030101010101" pitchFamily="2" charset="-122"/>
                <a:ea typeface="宋体" panose="02010600030101010101" pitchFamily="2" charset="-122"/>
              </a:rPr>
              <a:t>Qk</a:t>
            </a:r>
            <a:r>
              <a:rPr lang="zh-CN" altLang="en-US" sz="2000" b="1" dirty="0">
                <a:solidFill>
                  <a:srgbClr val="000000"/>
                </a:solidFill>
                <a:latin typeface="宋体" panose="02010600030101010101" pitchFamily="2" charset="-122"/>
                <a:ea typeface="宋体" panose="02010600030101010101" pitchFamily="2" charset="-122"/>
              </a:rPr>
              <a:t>为</a:t>
            </a:r>
            <a:r>
              <a:rPr lang="en-US" altLang="zh-CN" sz="2000" b="1" dirty="0">
                <a:solidFill>
                  <a:srgbClr val="000000"/>
                </a:solidFill>
                <a:latin typeface="宋体" panose="02010600030101010101" pitchFamily="2" charset="-122"/>
                <a:ea typeface="宋体" panose="02010600030101010101" pitchFamily="2" charset="-122"/>
              </a:rPr>
              <a:t>0</a:t>
            </a:r>
            <a:r>
              <a:rPr lang="zh-CN" altLang="en-US" sz="2000" b="1" dirty="0">
                <a:solidFill>
                  <a:srgbClr val="000000"/>
                </a:solidFill>
                <a:latin typeface="宋体" panose="02010600030101010101" pitchFamily="2" charset="-122"/>
                <a:ea typeface="宋体" panose="02010600030101010101" pitchFamily="2" charset="-122"/>
              </a:rPr>
              <a:t>，表示该保留站的</a:t>
            </a:r>
            <a:r>
              <a:rPr lang="en-US" altLang="zh-CN" sz="2000" b="1" dirty="0" err="1">
                <a:solidFill>
                  <a:srgbClr val="9933FF"/>
                </a:solidFill>
                <a:latin typeface="宋体" panose="02010600030101010101" pitchFamily="2" charset="-122"/>
                <a:ea typeface="宋体" panose="02010600030101010101" pitchFamily="2" charset="-122"/>
              </a:rPr>
              <a:t>Vk</a:t>
            </a:r>
            <a:r>
              <a:rPr lang="zh-CN" altLang="en-US" sz="2000" b="1" dirty="0">
                <a:solidFill>
                  <a:srgbClr val="000000"/>
                </a:solidFill>
                <a:latin typeface="宋体" panose="02010600030101010101" pitchFamily="2" charset="-122"/>
                <a:ea typeface="宋体" panose="02010600030101010101" pitchFamily="2" charset="-122"/>
              </a:rPr>
              <a:t>中的</a:t>
            </a:r>
          </a:p>
          <a:p>
            <a:pPr marL="1085850" lvl="1" indent="-457200" eaLnBrk="1" hangingPunct="1">
              <a:buNone/>
              <a:tabLst>
                <a:tab pos="4473575" algn="l"/>
              </a:tabLst>
            </a:pPr>
            <a:r>
              <a:rPr lang="zh-CN" altLang="en-US" sz="2000"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操作数就绪。</a:t>
            </a:r>
          </a:p>
          <a:p>
            <a:pPr marL="1085850" lvl="1" indent="-457200" eaLnBrk="1" hangingPunct="1">
              <a:buNone/>
              <a:tabLst>
                <a:tab pos="4473575" algn="l"/>
              </a:tabLst>
            </a:pPr>
            <a:r>
              <a:rPr lang="en-US" altLang="zh-CN" b="1" dirty="0" smtClean="0"/>
              <a:t>RS[</a:t>
            </a:r>
            <a:r>
              <a:rPr lang="en-US" altLang="zh-CN" b="1" dirty="0" smtClean="0">
                <a:solidFill>
                  <a:srgbClr val="E24C05"/>
                </a:solidFill>
              </a:rPr>
              <a:t>r</a:t>
            </a:r>
            <a:r>
              <a:rPr lang="en-US" altLang="zh-CN" b="1" dirty="0" smtClean="0"/>
              <a:t>].Busy </a:t>
            </a:r>
            <a:r>
              <a:rPr lang="en-US" altLang="zh-CN" b="1" dirty="0" smtClean="0">
                <a:sym typeface="Symbol" panose="05050102010706020507" pitchFamily="18" charset="2"/>
              </a:rPr>
              <a:t></a:t>
            </a:r>
            <a:r>
              <a:rPr lang="en-US" altLang="zh-CN" b="1" dirty="0" smtClean="0"/>
              <a:t> no</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 </a:t>
            </a:r>
            <a:r>
              <a:rPr lang="zh-CN" altLang="en-US" sz="2000" b="1" dirty="0">
                <a:solidFill>
                  <a:srgbClr val="000000"/>
                </a:solidFill>
                <a:latin typeface="宋体" panose="02010600030101010101" pitchFamily="2" charset="-122"/>
                <a:ea typeface="宋体" panose="02010600030101010101" pitchFamily="2" charset="-122"/>
              </a:rPr>
              <a:t>释放当前保留站，将之置为空闲状态</a:t>
            </a:r>
            <a:r>
              <a:rPr lang="zh-CN" altLang="en-US" sz="2000" b="1" dirty="0" smtClean="0">
                <a:solidFill>
                  <a:srgbClr val="000000"/>
                </a:solidFill>
                <a:latin typeface="宋体" panose="02010600030101010101" pitchFamily="2" charset="-122"/>
                <a:ea typeface="宋体" panose="02010600030101010101" pitchFamily="2" charset="-122"/>
              </a:rPr>
              <a:t>。</a:t>
            </a:r>
            <a:endParaRPr lang="en-US" altLang="zh-CN" sz="2000" b="1" dirty="0" smtClean="0">
              <a:solidFill>
                <a:srgbClr val="000000"/>
              </a:solidFill>
              <a:latin typeface="宋体" panose="02010600030101010101" pitchFamily="2" charset="-122"/>
              <a:ea typeface="宋体" panose="02010600030101010101" pitchFamily="2" charset="-122"/>
            </a:endParaRPr>
          </a:p>
          <a:p>
            <a:pPr marL="1085850" lvl="1" indent="-457200" eaLnBrk="1" hangingPunct="1">
              <a:buNone/>
              <a:tabLst>
                <a:tab pos="4473575" algn="l"/>
              </a:tabLst>
            </a:pPr>
            <a:endParaRPr lang="zh-CN" altLang="en-US" sz="2000" b="1" dirty="0">
              <a:solidFill>
                <a:srgbClr val="000000"/>
              </a:solidFill>
              <a:latin typeface="宋体" panose="02010600030101010101" pitchFamily="2" charset="-122"/>
              <a:ea typeface="宋体" panose="02010600030101010101" pitchFamily="2" charset="-122"/>
            </a:endParaRPr>
          </a:p>
          <a:p>
            <a:pPr marL="628650" lvl="1" indent="0" eaLnBrk="1" hangingPunct="1">
              <a:buNone/>
              <a:tabLst>
                <a:tab pos="4473575" algn="l"/>
              </a:tabLst>
            </a:pPr>
            <a:r>
              <a:rPr lang="en-US" altLang="zh-CN" b="1" dirty="0" smtClean="0">
                <a:solidFill>
                  <a:srgbClr val="E24C05"/>
                </a:solidFill>
                <a:latin typeface="黑体" panose="02010609060101010101" pitchFamily="49" charset="-122"/>
              </a:rPr>
              <a:t>② store</a:t>
            </a:r>
            <a:r>
              <a:rPr lang="zh-CN" altLang="en-US" b="1" dirty="0" smtClean="0">
                <a:solidFill>
                  <a:srgbClr val="E24C05"/>
                </a:solidFill>
                <a:latin typeface="黑体" panose="02010609060101010101" pitchFamily="49" charset="-122"/>
              </a:rPr>
              <a:t>指令</a:t>
            </a:r>
            <a:r>
              <a:rPr lang="zh-CN" altLang="en-US" b="1" dirty="0" smtClean="0"/>
              <a:t>  </a:t>
            </a:r>
          </a:p>
          <a:p>
            <a:pPr marL="1085850" lvl="1" indent="-457200" eaLnBrk="1" hangingPunct="1">
              <a:buNone/>
              <a:tabLst>
                <a:tab pos="4473575" algn="l"/>
              </a:tabLst>
            </a:pPr>
            <a:r>
              <a:rPr lang="zh-CN" altLang="en-US" b="1" dirty="0" smtClean="0">
                <a:solidFill>
                  <a:srgbClr val="D60093"/>
                </a:solidFill>
                <a:latin typeface="宋体" panose="02010600030101010101" pitchFamily="2" charset="-122"/>
              </a:rPr>
              <a:t>进入条件：</a:t>
            </a:r>
            <a:r>
              <a:rPr lang="zh-CN" altLang="en-US" b="1" dirty="0" smtClean="0">
                <a:latin typeface="宋体" panose="02010600030101010101" pitchFamily="2" charset="-122"/>
              </a:rPr>
              <a:t>保留站</a:t>
            </a:r>
            <a:r>
              <a:rPr lang="en-US" altLang="zh-CN" b="1" dirty="0" smtClean="0">
                <a:solidFill>
                  <a:srgbClr val="E24C05"/>
                </a:solidFill>
                <a:latin typeface="宋体" panose="02010600030101010101" pitchFamily="2" charset="-122"/>
              </a:rPr>
              <a:t>r</a:t>
            </a:r>
            <a:r>
              <a:rPr lang="zh-CN" altLang="en-US" b="1" dirty="0" smtClean="0">
                <a:latin typeface="宋体" panose="02010600030101010101" pitchFamily="2" charset="-122"/>
              </a:rPr>
              <a:t>执行结束，且</a:t>
            </a:r>
            <a:r>
              <a:rPr lang="en-US" altLang="zh-CN" b="1" dirty="0" smtClean="0">
                <a:latin typeface="宋体" panose="02010600030101010101" pitchFamily="2" charset="-122"/>
              </a:rPr>
              <a:t>RS[</a:t>
            </a:r>
            <a:r>
              <a:rPr lang="en-US" altLang="zh-CN" b="1" dirty="0" smtClean="0">
                <a:solidFill>
                  <a:srgbClr val="E24C05"/>
                </a:solidFill>
                <a:latin typeface="宋体" panose="02010600030101010101" pitchFamily="2" charset="-122"/>
              </a:rPr>
              <a:t>r</a:t>
            </a:r>
            <a:r>
              <a:rPr lang="en-US" altLang="zh-CN" b="1" dirty="0" smtClean="0">
                <a:latin typeface="宋体" panose="02010600030101010101" pitchFamily="2" charset="-122"/>
              </a:rPr>
              <a:t>].</a:t>
            </a:r>
            <a:r>
              <a:rPr lang="en-US" altLang="zh-CN" b="1" dirty="0" err="1" smtClean="0">
                <a:latin typeface="宋体" panose="02010600030101010101" pitchFamily="2" charset="-122"/>
              </a:rPr>
              <a:t>Qk</a:t>
            </a:r>
            <a:r>
              <a:rPr lang="en-US" altLang="zh-CN" b="1" dirty="0" smtClean="0">
                <a:latin typeface="宋体" panose="02010600030101010101" pitchFamily="2" charset="-122"/>
              </a:rPr>
              <a:t> = 0	</a:t>
            </a:r>
          </a:p>
          <a:p>
            <a:pPr lvl="2" eaLnBrk="1" hangingPunct="1">
              <a:buNone/>
              <a:tabLst>
                <a:tab pos="4473575" algn="l"/>
              </a:tabLst>
            </a:pPr>
            <a:r>
              <a:rPr lang="en-US" altLang="zh-CN" dirty="0" smtClean="0">
                <a:latin typeface="宋体" panose="02010600030101010101" pitchFamily="2" charset="-122"/>
              </a:rPr>
              <a:t>                       	// </a:t>
            </a:r>
            <a:r>
              <a:rPr lang="zh-CN" altLang="en-US" dirty="0" smtClean="0">
                <a:latin typeface="宋体" panose="02010600030101010101" pitchFamily="2" charset="-122"/>
              </a:rPr>
              <a:t>要存储的数据已经就绪</a:t>
            </a:r>
          </a:p>
          <a:p>
            <a:pPr marL="1085850" lvl="1" indent="-457200" eaLnBrk="1" hangingPunct="1">
              <a:buNone/>
              <a:tabLst>
                <a:tab pos="4473575" algn="l"/>
              </a:tabLst>
            </a:pPr>
            <a:r>
              <a:rPr lang="zh-CN" altLang="en-US" b="1" dirty="0" smtClean="0">
                <a:latin typeface="宋体" panose="02010600030101010101" pitchFamily="2" charset="-122"/>
              </a:rPr>
              <a:t>操作和状态表内容修改： </a:t>
            </a:r>
          </a:p>
          <a:p>
            <a:pPr marL="1085850" lvl="1" indent="-457200" eaLnBrk="1" hangingPunct="1">
              <a:buNone/>
              <a:tabLst>
                <a:tab pos="4473575" algn="l"/>
              </a:tabLst>
            </a:pPr>
            <a:r>
              <a:rPr lang="en-US" altLang="zh-CN" b="1" dirty="0" smtClean="0"/>
              <a:t>Mem[RS[</a:t>
            </a:r>
            <a:r>
              <a:rPr lang="en-US" altLang="zh-CN" b="1" dirty="0" smtClean="0">
                <a:solidFill>
                  <a:srgbClr val="E24C05"/>
                </a:solidFill>
              </a:rPr>
              <a:t>r</a:t>
            </a:r>
            <a:r>
              <a:rPr lang="en-US" altLang="zh-CN" b="1" dirty="0" smtClean="0"/>
              <a:t>].A] </a:t>
            </a:r>
            <a:r>
              <a:rPr lang="en-US" altLang="zh-CN" b="1" dirty="0" smtClean="0">
                <a:sym typeface="Symbol" panose="05050102010706020507" pitchFamily="18" charset="2"/>
              </a:rPr>
              <a:t></a:t>
            </a:r>
            <a:r>
              <a:rPr lang="en-US" altLang="zh-CN" b="1" dirty="0" smtClean="0"/>
              <a:t> RS[</a:t>
            </a:r>
            <a:r>
              <a:rPr lang="en-US" altLang="zh-CN" b="1" dirty="0" smtClean="0">
                <a:solidFill>
                  <a:srgbClr val="E24C05"/>
                </a:solidFill>
              </a:rPr>
              <a:t>r</a:t>
            </a:r>
            <a:r>
              <a:rPr lang="en-US" altLang="zh-CN" b="1" dirty="0" smtClean="0"/>
              <a:t>].</a:t>
            </a:r>
            <a:r>
              <a:rPr lang="en-US" altLang="zh-CN" b="1" dirty="0" err="1" smtClean="0">
                <a:solidFill>
                  <a:srgbClr val="9933FF"/>
                </a:solidFill>
              </a:rPr>
              <a:t>Vk</a:t>
            </a:r>
            <a:r>
              <a:rPr lang="en-US" altLang="zh-CN" b="1" dirty="0" smtClean="0">
                <a:solidFill>
                  <a:srgbClr val="9933FF"/>
                </a:solidFill>
              </a:rPr>
              <a:t>	</a:t>
            </a:r>
            <a:r>
              <a:rPr lang="en-US" altLang="zh-CN" sz="2000" b="1" dirty="0">
                <a:solidFill>
                  <a:srgbClr val="000000"/>
                </a:solidFill>
                <a:latin typeface="宋体" panose="02010600030101010101" pitchFamily="2" charset="-122"/>
                <a:ea typeface="宋体" panose="02010600030101010101" pitchFamily="2" charset="-122"/>
              </a:rPr>
              <a:t>// </a:t>
            </a:r>
            <a:r>
              <a:rPr lang="zh-CN" altLang="pt-BR" sz="2000" b="1" dirty="0">
                <a:solidFill>
                  <a:srgbClr val="000000"/>
                </a:solidFill>
                <a:latin typeface="宋体" panose="02010600030101010101" pitchFamily="2" charset="-122"/>
                <a:ea typeface="宋体" panose="02010600030101010101" pitchFamily="2" charset="-122"/>
              </a:rPr>
              <a:t>数据写入存储器，地址由</a:t>
            </a:r>
            <a:r>
              <a:rPr lang="pt-BR" altLang="zh-CN" sz="2000" b="1" dirty="0">
                <a:solidFill>
                  <a:srgbClr val="000000"/>
                </a:solidFill>
                <a:latin typeface="宋体" panose="02010600030101010101" pitchFamily="2" charset="-122"/>
                <a:ea typeface="宋体" panose="02010600030101010101" pitchFamily="2" charset="-122"/>
              </a:rPr>
              <a:t>store</a:t>
            </a:r>
          </a:p>
          <a:p>
            <a:pPr marL="1085850" lvl="1" indent="-457200" eaLnBrk="1" hangingPunct="1">
              <a:buNone/>
              <a:tabLst>
                <a:tab pos="4473575" algn="l"/>
              </a:tabLst>
            </a:pPr>
            <a:r>
              <a:rPr lang="zh-CN" altLang="pt-BR" sz="2000" b="1" dirty="0">
                <a:solidFill>
                  <a:srgbClr val="000000"/>
                </a:solidFill>
                <a:latin typeface="宋体" panose="02010600030101010101" pitchFamily="2" charset="-122"/>
                <a:ea typeface="宋体" panose="02010600030101010101" pitchFamily="2" charset="-122"/>
              </a:rPr>
              <a:t>                            	// 缓冲器单元的</a:t>
            </a:r>
            <a:r>
              <a:rPr lang="pt-BR" altLang="zh-CN" sz="2000" b="1" dirty="0">
                <a:solidFill>
                  <a:srgbClr val="9933FF"/>
                </a:solidFill>
                <a:latin typeface="宋体" panose="02010600030101010101" pitchFamily="2" charset="-122"/>
                <a:ea typeface="宋体" panose="02010600030101010101" pitchFamily="2" charset="-122"/>
              </a:rPr>
              <a:t>A</a:t>
            </a:r>
            <a:r>
              <a:rPr lang="zh-CN" altLang="pt-BR" sz="2000" b="1" dirty="0">
                <a:solidFill>
                  <a:srgbClr val="000000"/>
                </a:solidFill>
                <a:latin typeface="宋体" panose="02010600030101010101" pitchFamily="2" charset="-122"/>
                <a:ea typeface="宋体" panose="02010600030101010101" pitchFamily="2" charset="-122"/>
              </a:rPr>
              <a:t>字段给出。</a:t>
            </a:r>
            <a:endParaRPr lang="zh-CN" altLang="en-US" sz="2000" b="1" dirty="0">
              <a:solidFill>
                <a:srgbClr val="000000"/>
              </a:solidFill>
              <a:latin typeface="宋体" panose="02010600030101010101" pitchFamily="2" charset="-122"/>
              <a:ea typeface="宋体" panose="02010600030101010101" pitchFamily="2" charset="-122"/>
            </a:endParaRPr>
          </a:p>
          <a:p>
            <a:pPr marL="1085850" lvl="1" indent="-457200" eaLnBrk="1" hangingPunct="1">
              <a:buNone/>
              <a:tabLst>
                <a:tab pos="4473575" algn="l"/>
              </a:tabLst>
            </a:pPr>
            <a:r>
              <a:rPr lang="en-US" altLang="zh-CN" b="1" dirty="0" smtClean="0"/>
              <a:t>RS[</a:t>
            </a:r>
            <a:r>
              <a:rPr lang="en-US" altLang="zh-CN" b="1" dirty="0" smtClean="0">
                <a:solidFill>
                  <a:srgbClr val="E24C05"/>
                </a:solidFill>
              </a:rPr>
              <a:t>r</a:t>
            </a:r>
            <a:r>
              <a:rPr lang="en-US" altLang="zh-CN" b="1" dirty="0" smtClean="0"/>
              <a:t>].Busy </a:t>
            </a:r>
            <a:r>
              <a:rPr lang="en-US" altLang="zh-CN" b="1" dirty="0" smtClean="0">
                <a:sym typeface="Symbol" panose="05050102010706020507" pitchFamily="18" charset="2"/>
              </a:rPr>
              <a:t></a:t>
            </a:r>
            <a:r>
              <a:rPr lang="en-US" altLang="zh-CN" b="1" dirty="0" smtClean="0"/>
              <a:t> no</a:t>
            </a:r>
            <a:r>
              <a:rPr lang="zh-CN" altLang="en-US" b="1" dirty="0" smtClean="0"/>
              <a:t>；    </a:t>
            </a:r>
            <a:r>
              <a:rPr lang="en-US" altLang="zh-CN" sz="2000" b="1" dirty="0">
                <a:solidFill>
                  <a:srgbClr val="000000"/>
                </a:solidFill>
                <a:latin typeface="宋体" panose="02010600030101010101" pitchFamily="2" charset="-122"/>
                <a:ea typeface="宋体" panose="02010600030101010101" pitchFamily="2" charset="-122"/>
              </a:rPr>
              <a:t>//</a:t>
            </a:r>
            <a:r>
              <a:rPr lang="zh-CN" altLang="en-US" sz="2000" b="1" dirty="0">
                <a:solidFill>
                  <a:srgbClr val="000000"/>
                </a:solidFill>
                <a:latin typeface="宋体" panose="02010600030101010101" pitchFamily="2" charset="-122"/>
                <a:ea typeface="宋体" panose="02010600030101010101" pitchFamily="2" charset="-122"/>
              </a:rPr>
              <a:t>释放当前缓冲器单元，将之置为空闲状态。 </a:t>
            </a:r>
          </a:p>
        </p:txBody>
      </p:sp>
      <p:sp>
        <p:nvSpPr>
          <p:cNvPr id="3" name="矩形标注 2"/>
          <p:cNvSpPr/>
          <p:nvPr/>
        </p:nvSpPr>
        <p:spPr>
          <a:xfrm>
            <a:off x="8180413" y="2750744"/>
            <a:ext cx="2834636" cy="860079"/>
          </a:xfrm>
          <a:prstGeom prst="wedgeRectCallout">
            <a:avLst>
              <a:gd name="adj1" fmla="val -71896"/>
              <a:gd name="adj2" fmla="val 5181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注意：</a:t>
            </a:r>
            <a:r>
              <a:rPr lang="en-US" altLang="zh-CN" dirty="0" smtClean="0">
                <a:solidFill>
                  <a:schemeClr val="tx1"/>
                </a:solidFill>
              </a:rPr>
              <a:t>Store</a:t>
            </a:r>
            <a:r>
              <a:rPr lang="zh-CN" altLang="en-US" dirty="0" smtClean="0">
                <a:solidFill>
                  <a:schemeClr val="tx1"/>
                </a:solidFill>
              </a:rPr>
              <a:t>指令在该阶段，需要第二个操作数就绪。</a:t>
            </a:r>
            <a:endParaRPr lang="zh-CN" altLang="en-US" dirty="0">
              <a:solidFill>
                <a:schemeClr val="tx1"/>
              </a:solidFill>
            </a:endParaRPr>
          </a:p>
        </p:txBody>
      </p:sp>
    </p:spTree>
    <p:extLst>
      <p:ext uri="{BB962C8B-B14F-4D97-AF65-F5344CB8AC3E}">
        <p14:creationId xmlns:p14="http://schemas.microsoft.com/office/powerpoint/2010/main" val="27164355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23244" y="86187"/>
            <a:ext cx="6160477" cy="583770"/>
          </a:xfrm>
        </p:spPr>
        <p:txBody>
          <a:bodyPr/>
          <a:lstStyle/>
          <a:p>
            <a:pPr marL="0" lvl="0" indent="0" eaLnBrk="1" hangingPunct="1">
              <a:spcBef>
                <a:spcPct val="50000"/>
              </a:spcBef>
              <a:buNone/>
            </a:pPr>
            <a:r>
              <a:rPr lang="en-US" altLang="zh-CN" sz="2800" dirty="0" smtClean="0"/>
              <a:t> </a:t>
            </a:r>
            <a:r>
              <a:rPr lang="en-US" altLang="zh-CN" sz="2400" dirty="0" smtClean="0">
                <a:latin typeface="宋体" panose="02010600030101010101" pitchFamily="2" charset="-122"/>
                <a:ea typeface="宋体" panose="02010600030101010101" pitchFamily="2" charset="-122"/>
              </a:rPr>
              <a:t>7.</a:t>
            </a:r>
            <a:r>
              <a:rPr lang="en-US" altLang="zh-CN" sz="2400" b="1" dirty="0" smtClean="0">
                <a:latin typeface="宋体" panose="02010600030101010101" pitchFamily="2" charset="-122"/>
                <a:ea typeface="宋体" panose="02010600030101010101" pitchFamily="2" charset="-122"/>
              </a:rPr>
              <a:t>Tomasulo</a:t>
            </a:r>
            <a:r>
              <a:rPr lang="zh-CN" altLang="en-US" sz="2400" b="1" dirty="0" smtClean="0">
                <a:latin typeface="宋体" panose="02010600030101010101" pitchFamily="2" charset="-122"/>
                <a:ea typeface="宋体" panose="02010600030101010101" pitchFamily="2" charset="-122"/>
              </a:rPr>
              <a:t>算法</a:t>
            </a:r>
            <a:r>
              <a:rPr lang="zh-CN" altLang="en-US" sz="2400" b="1" dirty="0">
                <a:latin typeface="宋体" panose="02010600030101010101" pitchFamily="2" charset="-122"/>
                <a:ea typeface="宋体" panose="02010600030101010101" pitchFamily="2" charset="-122"/>
              </a:rPr>
              <a:t>总结</a:t>
            </a:r>
            <a:endParaRPr lang="zh-CN" altLang="en-US" sz="2800" dirty="0">
              <a:latin typeface="Tahoma"/>
              <a:ea typeface="黑体"/>
            </a:endParaRPr>
          </a:p>
          <a:p>
            <a:endParaRPr lang="zh-CN" altLang="en-US" sz="2800" dirty="0"/>
          </a:p>
        </p:txBody>
      </p:sp>
      <p:graphicFrame>
        <p:nvGraphicFramePr>
          <p:cNvPr id="2" name="表格 1"/>
          <p:cNvGraphicFramePr>
            <a:graphicFrameLocks noGrp="1"/>
          </p:cNvGraphicFramePr>
          <p:nvPr>
            <p:extLst>
              <p:ext uri="{D42A27DB-BD31-4B8C-83A1-F6EECF244321}">
                <p14:modId xmlns:p14="http://schemas.microsoft.com/office/powerpoint/2010/main" val="1788700974"/>
              </p:ext>
            </p:extLst>
          </p:nvPr>
        </p:nvGraphicFramePr>
        <p:xfrm>
          <a:off x="543210" y="669957"/>
          <a:ext cx="11280615" cy="6131560"/>
        </p:xfrm>
        <a:graphic>
          <a:graphicData uri="http://schemas.openxmlformats.org/drawingml/2006/table">
            <a:tbl>
              <a:tblPr firstRow="1" bandRow="1">
                <a:tableStyleId>{5940675A-B579-460E-94D1-54222C63F5DA}</a:tableStyleId>
              </a:tblPr>
              <a:tblGrid>
                <a:gridCol w="2256123"/>
                <a:gridCol w="2256123"/>
                <a:gridCol w="2256123"/>
                <a:gridCol w="2256123"/>
                <a:gridCol w="2256123"/>
              </a:tblGrid>
              <a:tr h="370840">
                <a:tc>
                  <a:txBody>
                    <a:bodyPr/>
                    <a:lstStyle/>
                    <a:p>
                      <a:pPr algn="ctr"/>
                      <a:endParaRPr lang="zh-CN" altLang="en-US" dirty="0"/>
                    </a:p>
                  </a:txBody>
                  <a:tcPr/>
                </a:tc>
                <a:tc>
                  <a:txBody>
                    <a:bodyPr/>
                    <a:lstStyle/>
                    <a:p>
                      <a:pPr algn="ctr"/>
                      <a:r>
                        <a:rPr lang="zh-CN" altLang="en-US" dirty="0" smtClean="0"/>
                        <a:t>流出</a:t>
                      </a:r>
                      <a:endParaRPr lang="zh-CN" altLang="en-US" dirty="0"/>
                    </a:p>
                  </a:txBody>
                  <a:tcPr/>
                </a:tc>
                <a:tc>
                  <a:txBody>
                    <a:bodyPr/>
                    <a:lstStyle/>
                    <a:p>
                      <a:pPr algn="ctr"/>
                      <a:r>
                        <a:rPr lang="zh-CN" altLang="en-US" dirty="0" smtClean="0"/>
                        <a:t>执行</a:t>
                      </a:r>
                      <a:endParaRPr lang="zh-CN" altLang="en-US" dirty="0"/>
                    </a:p>
                  </a:txBody>
                  <a:tcPr/>
                </a:tc>
                <a:tc>
                  <a:txBody>
                    <a:bodyPr/>
                    <a:lstStyle/>
                    <a:p>
                      <a:pPr algn="ctr"/>
                      <a:r>
                        <a:rPr lang="zh-CN" altLang="en-US" dirty="0" smtClean="0"/>
                        <a:t>访存</a:t>
                      </a:r>
                      <a:endParaRPr lang="zh-CN" altLang="en-US" dirty="0"/>
                    </a:p>
                  </a:txBody>
                  <a:tcPr/>
                </a:tc>
                <a:tc>
                  <a:txBody>
                    <a:bodyPr/>
                    <a:lstStyle/>
                    <a:p>
                      <a:pPr algn="ctr"/>
                      <a:r>
                        <a:rPr lang="zh-CN" altLang="en-US" dirty="0" smtClean="0"/>
                        <a:t>写结果</a:t>
                      </a:r>
                      <a:endParaRPr lang="zh-CN" altLang="en-US" dirty="0"/>
                    </a:p>
                  </a:txBody>
                  <a:tcPr/>
                </a:tc>
              </a:tr>
              <a:tr h="370840">
                <a:tc>
                  <a:txBody>
                    <a:bodyPr/>
                    <a:lstStyle/>
                    <a:p>
                      <a:pPr algn="ctr"/>
                      <a:r>
                        <a:rPr lang="zh-CN" altLang="en-US" dirty="0" smtClean="0"/>
                        <a:t>浮点</a:t>
                      </a:r>
                      <a:r>
                        <a:rPr lang="en-US" altLang="zh-CN" dirty="0" smtClean="0"/>
                        <a:t>ALU</a:t>
                      </a:r>
                      <a:r>
                        <a:rPr lang="zh-CN" altLang="en-US" dirty="0" smtClean="0"/>
                        <a:t>指令</a:t>
                      </a:r>
                      <a:endParaRPr lang="zh-CN" altLang="en-US" dirty="0"/>
                    </a:p>
                  </a:txBody>
                  <a:tcPr/>
                </a:tc>
                <a:tc>
                  <a:txBody>
                    <a:bodyPr/>
                    <a:lstStyle/>
                    <a:p>
                      <a:pPr algn="l"/>
                      <a:r>
                        <a:rPr lang="zh-CN" altLang="en-US" dirty="0" smtClean="0">
                          <a:solidFill>
                            <a:srgbClr val="FF0000"/>
                          </a:solidFill>
                        </a:rPr>
                        <a:t>进入条件：</a:t>
                      </a:r>
                      <a:r>
                        <a:rPr lang="zh-CN" altLang="en-US" dirty="0" smtClean="0"/>
                        <a:t>保留站有空闲；</a:t>
                      </a:r>
                      <a:endParaRPr lang="en-US" altLang="zh-CN" dirty="0" smtClean="0"/>
                    </a:p>
                    <a:p>
                      <a:pPr algn="l"/>
                      <a:r>
                        <a:rPr lang="zh-CN" altLang="en-US" dirty="0" smtClean="0">
                          <a:solidFill>
                            <a:srgbClr val="FF0000"/>
                          </a:solidFill>
                        </a:rPr>
                        <a:t>完成任务：</a:t>
                      </a:r>
                      <a:r>
                        <a:rPr lang="zh-CN" altLang="en-US" dirty="0" smtClean="0"/>
                        <a:t>进入保留站，换名，目标寄存器预约；</a:t>
                      </a:r>
                      <a:endParaRPr lang="zh-CN" altLang="en-US" dirty="0"/>
                    </a:p>
                  </a:txBody>
                  <a:tcPr/>
                </a:tc>
                <a:tc>
                  <a:txBody>
                    <a:bodyPr/>
                    <a:lstStyle/>
                    <a:p>
                      <a:pPr algn="l"/>
                      <a:r>
                        <a:rPr lang="zh-CN" altLang="en-US" dirty="0" smtClean="0">
                          <a:solidFill>
                            <a:srgbClr val="FF0000"/>
                          </a:solidFill>
                        </a:rPr>
                        <a:t>进入条件：</a:t>
                      </a:r>
                      <a:r>
                        <a:rPr lang="zh-CN" altLang="en-US" dirty="0" smtClean="0">
                          <a:solidFill>
                            <a:schemeClr val="tx1"/>
                          </a:solidFill>
                        </a:rPr>
                        <a:t>两个操作数就绪，且部件不冲突；</a:t>
                      </a:r>
                      <a:endParaRPr lang="en-US" altLang="zh-CN" dirty="0" smtClean="0"/>
                    </a:p>
                    <a:p>
                      <a:pPr algn="l"/>
                      <a:r>
                        <a:rPr lang="zh-CN" altLang="en-US" dirty="0" smtClean="0">
                          <a:solidFill>
                            <a:srgbClr val="FF0000"/>
                          </a:solidFill>
                        </a:rPr>
                        <a:t>完成任务：</a:t>
                      </a:r>
                      <a:r>
                        <a:rPr lang="zh-CN" altLang="en-US" dirty="0" smtClean="0">
                          <a:solidFill>
                            <a:schemeClr val="tx1"/>
                          </a:solidFill>
                        </a:rPr>
                        <a:t>浮点运算</a:t>
                      </a:r>
                      <a:endParaRPr lang="zh-CN" altLang="en-US" dirty="0">
                        <a:solidFill>
                          <a:schemeClr val="tx1"/>
                        </a:solidFill>
                      </a:endParaRPr>
                    </a:p>
                  </a:txBody>
                  <a:tcPr/>
                </a:tc>
                <a:tc>
                  <a:txBody>
                    <a:bodyPr/>
                    <a:lstStyle/>
                    <a:p>
                      <a:pPr algn="l"/>
                      <a:endParaRPr lang="zh-CN" altLang="en-US" dirty="0"/>
                    </a:p>
                  </a:txBody>
                  <a:tcPr/>
                </a:tc>
                <a:tc>
                  <a:txBody>
                    <a:bodyPr/>
                    <a:lstStyle/>
                    <a:p>
                      <a:pPr algn="l"/>
                      <a:r>
                        <a:rPr lang="zh-CN" altLang="en-US" dirty="0" smtClean="0">
                          <a:solidFill>
                            <a:srgbClr val="FF0000"/>
                          </a:solidFill>
                        </a:rPr>
                        <a:t>进入条件：</a:t>
                      </a:r>
                      <a:r>
                        <a:rPr lang="zh-CN" altLang="en-US" dirty="0" smtClean="0">
                          <a:solidFill>
                            <a:schemeClr val="tx1"/>
                          </a:solidFill>
                        </a:rPr>
                        <a:t>功能部件执行结束，</a:t>
                      </a:r>
                      <a:r>
                        <a:rPr lang="en-US" altLang="zh-CN" dirty="0" smtClean="0">
                          <a:solidFill>
                            <a:schemeClr val="tx1"/>
                          </a:solidFill>
                        </a:rPr>
                        <a:t>CDB</a:t>
                      </a:r>
                      <a:r>
                        <a:rPr lang="zh-CN" altLang="en-US" dirty="0" smtClean="0">
                          <a:solidFill>
                            <a:schemeClr val="tx1"/>
                          </a:solidFill>
                        </a:rPr>
                        <a:t>就绪；</a:t>
                      </a:r>
                      <a:endParaRPr lang="en-US" altLang="zh-CN" dirty="0" smtClean="0">
                        <a:solidFill>
                          <a:schemeClr val="tx1"/>
                        </a:solidFill>
                      </a:endParaRPr>
                    </a:p>
                    <a:p>
                      <a:pPr algn="l"/>
                      <a:r>
                        <a:rPr lang="zh-CN" altLang="en-US" dirty="0" smtClean="0">
                          <a:solidFill>
                            <a:srgbClr val="FF0000"/>
                          </a:solidFill>
                        </a:rPr>
                        <a:t>完成任务：</a:t>
                      </a:r>
                      <a:r>
                        <a:rPr lang="zh-CN" altLang="en-US" dirty="0" smtClean="0">
                          <a:solidFill>
                            <a:schemeClr val="tx1"/>
                          </a:solidFill>
                        </a:rPr>
                        <a:t>将结果通过</a:t>
                      </a:r>
                      <a:r>
                        <a:rPr lang="en-US" altLang="zh-CN" dirty="0" smtClean="0">
                          <a:solidFill>
                            <a:schemeClr val="tx1"/>
                          </a:solidFill>
                        </a:rPr>
                        <a:t>CDB</a:t>
                      </a:r>
                      <a:r>
                        <a:rPr lang="zh-CN" altLang="en-US" dirty="0" smtClean="0">
                          <a:solidFill>
                            <a:schemeClr val="tx1"/>
                          </a:solidFill>
                        </a:rPr>
                        <a:t>写入浮点寄存器和保留站，修改</a:t>
                      </a:r>
                      <a:r>
                        <a:rPr lang="en-US" altLang="zh-CN" dirty="0" smtClean="0">
                          <a:solidFill>
                            <a:schemeClr val="tx1"/>
                          </a:solidFill>
                        </a:rPr>
                        <a:t>Qi</a:t>
                      </a:r>
                      <a:r>
                        <a:rPr lang="zh-CN" altLang="en-US" dirty="0" smtClean="0">
                          <a:solidFill>
                            <a:schemeClr val="tx1"/>
                          </a:solidFill>
                        </a:rPr>
                        <a:t>，</a:t>
                      </a:r>
                      <a:r>
                        <a:rPr lang="en-US" altLang="zh-CN" dirty="0" err="1" smtClean="0">
                          <a:solidFill>
                            <a:schemeClr val="tx1"/>
                          </a:solidFill>
                        </a:rPr>
                        <a:t>Qj</a:t>
                      </a:r>
                      <a:r>
                        <a:rPr lang="zh-CN" altLang="en-US" dirty="0" smtClean="0">
                          <a:solidFill>
                            <a:schemeClr val="tx1"/>
                          </a:solidFill>
                        </a:rPr>
                        <a:t>，</a:t>
                      </a:r>
                      <a:r>
                        <a:rPr lang="en-US" altLang="zh-CN" dirty="0" err="1" smtClean="0">
                          <a:solidFill>
                            <a:schemeClr val="tx1"/>
                          </a:solidFill>
                        </a:rPr>
                        <a:t>Qk</a:t>
                      </a:r>
                      <a:r>
                        <a:rPr lang="zh-CN" altLang="en-US" dirty="0" smtClean="0">
                          <a:solidFill>
                            <a:schemeClr val="tx1"/>
                          </a:solidFill>
                        </a:rPr>
                        <a:t>状态，释放保留站；</a:t>
                      </a:r>
                      <a:endParaRPr lang="zh-CN" altLang="en-US" dirty="0">
                        <a:solidFill>
                          <a:schemeClr val="tx1"/>
                        </a:solidFill>
                      </a:endParaRPr>
                    </a:p>
                  </a:txBody>
                  <a:tcPr/>
                </a:tc>
              </a:tr>
              <a:tr h="370840">
                <a:tc>
                  <a:txBody>
                    <a:bodyPr/>
                    <a:lstStyle/>
                    <a:p>
                      <a:pPr algn="ctr"/>
                      <a:r>
                        <a:rPr lang="en-US" altLang="zh-CN" dirty="0" smtClean="0"/>
                        <a:t>Load</a:t>
                      </a:r>
                      <a:r>
                        <a:rPr lang="zh-CN" altLang="en-US" dirty="0" smtClean="0"/>
                        <a:t>指令</a:t>
                      </a:r>
                      <a:endParaRPr lang="zh-CN" altLang="en-US" dirty="0"/>
                    </a:p>
                  </a:txBody>
                  <a:tcPr/>
                </a:tc>
                <a:tc>
                  <a:txBody>
                    <a:bodyPr/>
                    <a:lstStyle/>
                    <a:p>
                      <a:pPr algn="l"/>
                      <a:r>
                        <a:rPr lang="zh-CN" altLang="en-US" dirty="0" smtClean="0">
                          <a:solidFill>
                            <a:srgbClr val="FF0000"/>
                          </a:solidFill>
                        </a:rPr>
                        <a:t>进入条件：</a:t>
                      </a:r>
                      <a:r>
                        <a:rPr lang="en-US" altLang="zh-CN" dirty="0" smtClean="0"/>
                        <a:t>L/S</a:t>
                      </a:r>
                      <a:r>
                        <a:rPr lang="zh-CN" altLang="en-US" dirty="0" smtClean="0"/>
                        <a:t>缓冲区有空闲；</a:t>
                      </a:r>
                      <a:endParaRPr lang="en-US" altLang="zh-CN" dirty="0" smtClean="0"/>
                    </a:p>
                    <a:p>
                      <a:pPr algn="l"/>
                      <a:r>
                        <a:rPr lang="zh-CN" altLang="en-US" dirty="0" smtClean="0">
                          <a:solidFill>
                            <a:srgbClr val="FF0000"/>
                          </a:solidFill>
                        </a:rPr>
                        <a:t>完成任务：</a:t>
                      </a:r>
                      <a:r>
                        <a:rPr lang="zh-CN" altLang="en-US" dirty="0" smtClean="0"/>
                        <a:t>进入缓冲区，立即数写入</a:t>
                      </a:r>
                      <a:r>
                        <a:rPr lang="en-US" altLang="zh-CN" dirty="0" smtClean="0"/>
                        <a:t>A</a:t>
                      </a:r>
                      <a:r>
                        <a:rPr lang="zh-CN" altLang="en-US" dirty="0" smtClean="0"/>
                        <a:t>字段；</a:t>
                      </a:r>
                      <a:endParaRPr lang="zh-CN" altLang="en-US" dirty="0"/>
                    </a:p>
                  </a:txBody>
                  <a:tcPr/>
                </a:tc>
                <a:tc>
                  <a:txBody>
                    <a:bodyPr/>
                    <a:lstStyle/>
                    <a:p>
                      <a:pPr algn="l"/>
                      <a:r>
                        <a:rPr lang="zh-CN" altLang="en-US" dirty="0" smtClean="0">
                          <a:solidFill>
                            <a:srgbClr val="FF0000"/>
                          </a:solidFill>
                        </a:rPr>
                        <a:t>进入条件：</a:t>
                      </a:r>
                      <a:r>
                        <a:rPr lang="en-US" altLang="zh-CN" dirty="0" smtClean="0">
                          <a:solidFill>
                            <a:schemeClr val="tx1"/>
                          </a:solidFill>
                        </a:rPr>
                        <a:t>RS</a:t>
                      </a:r>
                      <a:r>
                        <a:rPr lang="zh-CN" altLang="en-US" dirty="0" smtClean="0">
                          <a:solidFill>
                            <a:schemeClr val="tx1"/>
                          </a:solidFill>
                        </a:rPr>
                        <a:t>寄存器就绪，计算部件不冲突；</a:t>
                      </a:r>
                      <a:endParaRPr lang="en-US" altLang="zh-CN" dirty="0" smtClean="0">
                        <a:solidFill>
                          <a:schemeClr val="tx1"/>
                        </a:solidFill>
                      </a:endParaRPr>
                    </a:p>
                    <a:p>
                      <a:pPr algn="l"/>
                      <a:r>
                        <a:rPr lang="zh-CN" altLang="en-US" dirty="0" smtClean="0">
                          <a:solidFill>
                            <a:srgbClr val="FF0000"/>
                          </a:solidFill>
                        </a:rPr>
                        <a:t>完成任务：</a:t>
                      </a:r>
                      <a:r>
                        <a:rPr lang="zh-CN" altLang="en-US" dirty="0" smtClean="0">
                          <a:solidFill>
                            <a:schemeClr val="tx1"/>
                          </a:solidFill>
                        </a:rPr>
                        <a:t>计算访存地址，并写入</a:t>
                      </a:r>
                      <a:r>
                        <a:rPr lang="en-US" altLang="zh-CN" dirty="0" smtClean="0">
                          <a:solidFill>
                            <a:schemeClr val="tx1"/>
                          </a:solidFill>
                        </a:rPr>
                        <a:t>A</a:t>
                      </a:r>
                      <a:r>
                        <a:rPr lang="zh-CN" altLang="en-US" dirty="0" smtClean="0">
                          <a:solidFill>
                            <a:schemeClr val="tx1"/>
                          </a:solidFill>
                        </a:rPr>
                        <a:t>字段；</a:t>
                      </a:r>
                      <a:endParaRPr lang="zh-CN" altLang="en-US" dirty="0">
                        <a:solidFill>
                          <a:schemeClr val="tx1"/>
                        </a:solidFill>
                      </a:endParaRPr>
                    </a:p>
                  </a:txBody>
                  <a:tcPr/>
                </a:tc>
                <a:tc>
                  <a:txBody>
                    <a:bodyPr/>
                    <a:lstStyle/>
                    <a:p>
                      <a:pPr algn="l"/>
                      <a:r>
                        <a:rPr lang="zh-CN" altLang="en-US" dirty="0" smtClean="0">
                          <a:solidFill>
                            <a:srgbClr val="FF0000"/>
                          </a:solidFill>
                        </a:rPr>
                        <a:t>进入条件</a:t>
                      </a:r>
                      <a:r>
                        <a:rPr lang="zh-CN" altLang="en-US" dirty="0" smtClean="0">
                          <a:solidFill>
                            <a:schemeClr val="tx1"/>
                          </a:solidFill>
                        </a:rPr>
                        <a:t>：</a:t>
                      </a:r>
                      <a:r>
                        <a:rPr lang="en-US" altLang="zh-CN" dirty="0" smtClean="0">
                          <a:solidFill>
                            <a:schemeClr val="tx1"/>
                          </a:solidFill>
                        </a:rPr>
                        <a:t>L/S</a:t>
                      </a:r>
                      <a:r>
                        <a:rPr lang="zh-CN" altLang="en-US" dirty="0" smtClean="0">
                          <a:solidFill>
                            <a:schemeClr val="tx1"/>
                          </a:solidFill>
                        </a:rPr>
                        <a:t>队列头部，地址已经计算完，写入</a:t>
                      </a:r>
                      <a:r>
                        <a:rPr lang="en-US" altLang="zh-CN" dirty="0" smtClean="0">
                          <a:solidFill>
                            <a:schemeClr val="tx1"/>
                          </a:solidFill>
                        </a:rPr>
                        <a:t>A</a:t>
                      </a:r>
                      <a:r>
                        <a:rPr lang="zh-CN" altLang="en-US" dirty="0" smtClean="0">
                          <a:solidFill>
                            <a:schemeClr val="tx1"/>
                          </a:solidFill>
                        </a:rPr>
                        <a:t>字段；</a:t>
                      </a:r>
                      <a:endParaRPr lang="en-US" altLang="zh-CN" dirty="0" smtClean="0">
                        <a:solidFill>
                          <a:schemeClr val="tx1"/>
                        </a:solidFill>
                      </a:endParaRPr>
                    </a:p>
                    <a:p>
                      <a:pPr algn="l"/>
                      <a:r>
                        <a:rPr lang="zh-CN" altLang="en-US" dirty="0" smtClean="0">
                          <a:solidFill>
                            <a:srgbClr val="FF0000"/>
                          </a:solidFill>
                        </a:rPr>
                        <a:t>完成任务：</a:t>
                      </a:r>
                      <a:r>
                        <a:rPr lang="zh-CN" altLang="en-US" dirty="0" smtClean="0">
                          <a:solidFill>
                            <a:schemeClr val="tx1"/>
                          </a:solidFill>
                        </a:rPr>
                        <a:t>访存，结果放到</a:t>
                      </a:r>
                      <a:r>
                        <a:rPr lang="en-US" altLang="zh-CN" dirty="0" smtClean="0">
                          <a:solidFill>
                            <a:schemeClr val="tx1"/>
                          </a:solidFill>
                        </a:rPr>
                        <a:t>CDB</a:t>
                      </a:r>
                      <a:r>
                        <a:rPr lang="zh-CN" altLang="en-US" dirty="0" smtClean="0">
                          <a:solidFill>
                            <a:schemeClr val="tx1"/>
                          </a:solidFill>
                        </a:rPr>
                        <a:t>上；</a:t>
                      </a:r>
                      <a:endParaRPr lang="zh-CN" altLang="en-US" dirty="0">
                        <a:solidFill>
                          <a:schemeClr val="tx1"/>
                        </a:solidFill>
                      </a:endParaRPr>
                    </a:p>
                  </a:txBody>
                  <a:tcPr/>
                </a:tc>
                <a:tc>
                  <a:txBody>
                    <a:bodyPr/>
                    <a:lstStyle/>
                    <a:p>
                      <a:pPr algn="l"/>
                      <a:r>
                        <a:rPr lang="zh-CN" altLang="en-US" dirty="0" smtClean="0">
                          <a:solidFill>
                            <a:srgbClr val="FF0000"/>
                          </a:solidFill>
                        </a:rPr>
                        <a:t>进入条件：</a:t>
                      </a:r>
                      <a:r>
                        <a:rPr lang="zh-CN" altLang="en-US" dirty="0" smtClean="0">
                          <a:solidFill>
                            <a:schemeClr val="tx1"/>
                          </a:solidFill>
                        </a:rPr>
                        <a:t>访存结束，</a:t>
                      </a:r>
                      <a:r>
                        <a:rPr lang="en-US" altLang="zh-CN" dirty="0" smtClean="0">
                          <a:solidFill>
                            <a:schemeClr val="tx1"/>
                          </a:solidFill>
                        </a:rPr>
                        <a:t>CDB</a:t>
                      </a:r>
                      <a:r>
                        <a:rPr lang="zh-CN" altLang="en-US" dirty="0" smtClean="0">
                          <a:solidFill>
                            <a:schemeClr val="tx1"/>
                          </a:solidFill>
                        </a:rPr>
                        <a:t>就绪；</a:t>
                      </a:r>
                      <a:endParaRPr lang="en-US" altLang="zh-CN" dirty="0" smtClean="0">
                        <a:solidFill>
                          <a:schemeClr val="tx1"/>
                        </a:solidFill>
                      </a:endParaRPr>
                    </a:p>
                    <a:p>
                      <a:pPr algn="l"/>
                      <a:r>
                        <a:rPr lang="zh-CN" altLang="en-US" dirty="0" smtClean="0">
                          <a:solidFill>
                            <a:srgbClr val="FF0000"/>
                          </a:solidFill>
                        </a:rPr>
                        <a:t>完成任务：</a:t>
                      </a:r>
                      <a:r>
                        <a:rPr lang="zh-CN" altLang="en-US" dirty="0" smtClean="0">
                          <a:solidFill>
                            <a:schemeClr val="tx1"/>
                          </a:solidFill>
                        </a:rPr>
                        <a:t>将结果通过</a:t>
                      </a:r>
                      <a:r>
                        <a:rPr lang="en-US" altLang="zh-CN" dirty="0" smtClean="0">
                          <a:solidFill>
                            <a:schemeClr val="tx1"/>
                          </a:solidFill>
                        </a:rPr>
                        <a:t>CDB</a:t>
                      </a:r>
                      <a:r>
                        <a:rPr lang="zh-CN" altLang="en-US" dirty="0" smtClean="0">
                          <a:solidFill>
                            <a:schemeClr val="tx1"/>
                          </a:solidFill>
                        </a:rPr>
                        <a:t>写入浮点寄存器和保留站，修改</a:t>
                      </a:r>
                      <a:r>
                        <a:rPr lang="en-US" altLang="zh-CN" dirty="0" smtClean="0">
                          <a:solidFill>
                            <a:schemeClr val="tx1"/>
                          </a:solidFill>
                        </a:rPr>
                        <a:t>Qi</a:t>
                      </a:r>
                      <a:r>
                        <a:rPr lang="zh-CN" altLang="en-US" dirty="0" smtClean="0">
                          <a:solidFill>
                            <a:schemeClr val="tx1"/>
                          </a:solidFill>
                        </a:rPr>
                        <a:t>，</a:t>
                      </a:r>
                      <a:r>
                        <a:rPr lang="en-US" altLang="zh-CN" dirty="0" err="1" smtClean="0">
                          <a:solidFill>
                            <a:schemeClr val="tx1"/>
                          </a:solidFill>
                        </a:rPr>
                        <a:t>Qj</a:t>
                      </a:r>
                      <a:r>
                        <a:rPr lang="zh-CN" altLang="en-US" dirty="0" smtClean="0">
                          <a:solidFill>
                            <a:schemeClr val="tx1"/>
                          </a:solidFill>
                        </a:rPr>
                        <a:t>，</a:t>
                      </a:r>
                      <a:r>
                        <a:rPr lang="en-US" altLang="zh-CN" dirty="0" err="1" smtClean="0">
                          <a:solidFill>
                            <a:schemeClr val="tx1"/>
                          </a:solidFill>
                        </a:rPr>
                        <a:t>Qk</a:t>
                      </a:r>
                      <a:r>
                        <a:rPr lang="zh-CN" altLang="en-US" dirty="0" smtClean="0">
                          <a:solidFill>
                            <a:schemeClr val="tx1"/>
                          </a:solidFill>
                        </a:rPr>
                        <a:t>状态，释放缓冲区；</a:t>
                      </a:r>
                      <a:endParaRPr lang="zh-CN" altLang="en-US" dirty="0">
                        <a:solidFill>
                          <a:schemeClr val="tx1"/>
                        </a:solidFill>
                      </a:endParaRPr>
                    </a:p>
                  </a:txBody>
                  <a:tcPr/>
                </a:tc>
              </a:tr>
              <a:tr h="370840">
                <a:tc>
                  <a:txBody>
                    <a:bodyPr/>
                    <a:lstStyle/>
                    <a:p>
                      <a:pPr algn="ctr"/>
                      <a:r>
                        <a:rPr lang="en-US" altLang="zh-CN" dirty="0" smtClean="0"/>
                        <a:t>Store</a:t>
                      </a:r>
                      <a:r>
                        <a:rPr lang="zh-CN" altLang="en-US" dirty="0" smtClean="0"/>
                        <a:t>指令</a:t>
                      </a:r>
                      <a:endParaRPr lang="zh-CN" altLang="en-US" dirty="0"/>
                    </a:p>
                  </a:txBody>
                  <a:tcPr/>
                </a:tc>
                <a:tc>
                  <a:txBody>
                    <a:bodyPr/>
                    <a:lstStyle/>
                    <a:p>
                      <a:pPr algn="l"/>
                      <a:r>
                        <a:rPr lang="zh-CN" altLang="en-US" dirty="0" smtClean="0">
                          <a:solidFill>
                            <a:srgbClr val="FF0000"/>
                          </a:solidFill>
                        </a:rPr>
                        <a:t>进入条件：</a:t>
                      </a:r>
                      <a:r>
                        <a:rPr lang="en-US" altLang="zh-CN" dirty="0" smtClean="0"/>
                        <a:t>L/S</a:t>
                      </a:r>
                      <a:r>
                        <a:rPr lang="zh-CN" altLang="en-US" dirty="0" smtClean="0"/>
                        <a:t>缓冲区有空闲；</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solidFill>
                            <a:srgbClr val="FF0000"/>
                          </a:solidFill>
                        </a:rPr>
                        <a:t>完成任务：</a:t>
                      </a:r>
                      <a:r>
                        <a:rPr lang="zh-CN" altLang="en-US" dirty="0" smtClean="0"/>
                        <a:t>进入缓冲区，立即数写入</a:t>
                      </a:r>
                      <a:r>
                        <a:rPr lang="en-US" altLang="zh-CN" dirty="0" smtClean="0"/>
                        <a:t>A</a:t>
                      </a:r>
                      <a:r>
                        <a:rPr lang="zh-CN" altLang="en-US" dirty="0" smtClean="0"/>
                        <a:t>字段；</a:t>
                      </a:r>
                    </a:p>
                  </a:txBody>
                  <a:tcPr/>
                </a:tc>
                <a:tc>
                  <a:txBody>
                    <a:bodyPr/>
                    <a:lstStyle/>
                    <a:p>
                      <a:pPr algn="l"/>
                      <a:r>
                        <a:rPr lang="zh-CN" altLang="en-US" dirty="0" smtClean="0">
                          <a:solidFill>
                            <a:srgbClr val="FF0000"/>
                          </a:solidFill>
                        </a:rPr>
                        <a:t>进入条件：</a:t>
                      </a:r>
                      <a:r>
                        <a:rPr lang="en-US" altLang="zh-CN" dirty="0" smtClean="0">
                          <a:solidFill>
                            <a:schemeClr val="tx1"/>
                          </a:solidFill>
                        </a:rPr>
                        <a:t>RS</a:t>
                      </a:r>
                      <a:r>
                        <a:rPr lang="zh-CN" altLang="en-US" dirty="0" smtClean="0">
                          <a:solidFill>
                            <a:schemeClr val="tx1"/>
                          </a:solidFill>
                        </a:rPr>
                        <a:t>寄存器就绪，计算部件不冲突；</a:t>
                      </a:r>
                      <a:endParaRPr lang="en-US" altLang="zh-CN" dirty="0" smtClean="0">
                        <a:solidFill>
                          <a:schemeClr val="tx1"/>
                        </a:solidFill>
                      </a:endParaRPr>
                    </a:p>
                    <a:p>
                      <a:pPr algn="l"/>
                      <a:r>
                        <a:rPr lang="zh-CN" altLang="en-US" dirty="0" smtClean="0">
                          <a:solidFill>
                            <a:srgbClr val="FF0000"/>
                          </a:solidFill>
                        </a:rPr>
                        <a:t>完成任务：</a:t>
                      </a:r>
                      <a:r>
                        <a:rPr lang="zh-CN" altLang="en-US" dirty="0" smtClean="0">
                          <a:solidFill>
                            <a:schemeClr val="tx1"/>
                          </a:solidFill>
                        </a:rPr>
                        <a:t>计算访存地址，并写入</a:t>
                      </a:r>
                      <a:r>
                        <a:rPr lang="en-US" altLang="zh-CN" dirty="0" smtClean="0">
                          <a:solidFill>
                            <a:schemeClr val="tx1"/>
                          </a:solidFill>
                        </a:rPr>
                        <a:t>A</a:t>
                      </a:r>
                      <a:r>
                        <a:rPr lang="zh-CN" altLang="en-US" dirty="0" smtClean="0">
                          <a:solidFill>
                            <a:schemeClr val="tx1"/>
                          </a:solidFill>
                        </a:rPr>
                        <a:t>字段；</a:t>
                      </a:r>
                      <a:endParaRPr lang="zh-CN" altLang="en-US" dirty="0">
                        <a:solidFill>
                          <a:schemeClr val="tx1"/>
                        </a:solidFill>
                      </a:endParaRPr>
                    </a:p>
                  </a:txBody>
                  <a:tcPr/>
                </a:tc>
                <a:tc>
                  <a:txBody>
                    <a:bodyPr/>
                    <a:lstStyle/>
                    <a:p>
                      <a:pPr algn="l"/>
                      <a:r>
                        <a:rPr lang="zh-CN" altLang="en-US" dirty="0" smtClean="0">
                          <a:solidFill>
                            <a:srgbClr val="FF0000"/>
                          </a:solidFill>
                        </a:rPr>
                        <a:t>进入条件</a:t>
                      </a:r>
                      <a:r>
                        <a:rPr lang="zh-CN" altLang="en-US" dirty="0" smtClean="0">
                          <a:solidFill>
                            <a:schemeClr val="tx1"/>
                          </a:solidFill>
                        </a:rPr>
                        <a:t>：</a:t>
                      </a:r>
                      <a:r>
                        <a:rPr lang="en-US" altLang="zh-CN" dirty="0" smtClean="0">
                          <a:solidFill>
                            <a:schemeClr val="tx1"/>
                          </a:solidFill>
                        </a:rPr>
                        <a:t>L/S</a:t>
                      </a:r>
                      <a:r>
                        <a:rPr lang="zh-CN" altLang="en-US" dirty="0" smtClean="0">
                          <a:solidFill>
                            <a:schemeClr val="tx1"/>
                          </a:solidFill>
                        </a:rPr>
                        <a:t>队列头部，地址已经计算完，写入</a:t>
                      </a:r>
                      <a:r>
                        <a:rPr lang="en-US" altLang="zh-CN" dirty="0" smtClean="0">
                          <a:solidFill>
                            <a:schemeClr val="tx1"/>
                          </a:solidFill>
                        </a:rPr>
                        <a:t>A</a:t>
                      </a:r>
                      <a:r>
                        <a:rPr lang="zh-CN" altLang="en-US" dirty="0" smtClean="0">
                          <a:solidFill>
                            <a:schemeClr val="tx1"/>
                          </a:solidFill>
                        </a:rPr>
                        <a:t>字段，要写入的数据就绪；</a:t>
                      </a:r>
                      <a:endParaRPr lang="en-US" altLang="zh-CN" dirty="0" smtClean="0">
                        <a:solidFill>
                          <a:schemeClr val="tx1"/>
                        </a:solidFill>
                      </a:endParaRPr>
                    </a:p>
                    <a:p>
                      <a:pPr algn="l"/>
                      <a:r>
                        <a:rPr lang="zh-CN" altLang="en-US" dirty="0" smtClean="0">
                          <a:solidFill>
                            <a:srgbClr val="FF0000"/>
                          </a:solidFill>
                        </a:rPr>
                        <a:t>完成任务：</a:t>
                      </a:r>
                      <a:r>
                        <a:rPr lang="zh-CN" altLang="en-US" dirty="0" smtClean="0">
                          <a:solidFill>
                            <a:schemeClr val="tx1"/>
                          </a:solidFill>
                        </a:rPr>
                        <a:t>写入存储器；</a:t>
                      </a:r>
                      <a:endParaRPr lang="zh-CN" altLang="en-US" dirty="0">
                        <a:solidFill>
                          <a:schemeClr val="tx1"/>
                        </a:solidFill>
                      </a:endParaRPr>
                    </a:p>
                  </a:txBody>
                  <a:tcPr/>
                </a:tc>
                <a:tc>
                  <a:txBody>
                    <a:bodyPr/>
                    <a:lstStyle/>
                    <a:p>
                      <a:pPr algn="l"/>
                      <a:endParaRPr lang="zh-CN" altLang="en-US" dirty="0"/>
                    </a:p>
                  </a:txBody>
                  <a:tcPr/>
                </a:tc>
              </a:tr>
            </a:tbl>
          </a:graphicData>
        </a:graphic>
      </p:graphicFrame>
      <p:sp>
        <p:nvSpPr>
          <p:cNvPr id="4" name="矩形 3"/>
          <p:cNvSpPr/>
          <p:nvPr/>
        </p:nvSpPr>
        <p:spPr>
          <a:xfrm>
            <a:off x="7306146" y="1050202"/>
            <a:ext cx="2245259" cy="1991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左箭头 4"/>
          <p:cNvSpPr/>
          <p:nvPr/>
        </p:nvSpPr>
        <p:spPr>
          <a:xfrm>
            <a:off x="9669100" y="5088049"/>
            <a:ext cx="2154725" cy="171346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bg1"/>
                </a:solidFill>
              </a:rPr>
              <a:t>这个访存就是它的写结果阶段</a:t>
            </a:r>
            <a:endParaRPr lang="zh-CN" altLang="en-US" sz="1600" dirty="0">
              <a:solidFill>
                <a:schemeClr val="bg1"/>
              </a:solidFill>
            </a:endParaRPr>
          </a:p>
        </p:txBody>
      </p:sp>
    </p:spTree>
    <p:extLst>
      <p:ext uri="{BB962C8B-B14F-4D97-AF65-F5344CB8AC3E}">
        <p14:creationId xmlns:p14="http://schemas.microsoft.com/office/powerpoint/2010/main" val="59430643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643213" y="98913"/>
            <a:ext cx="10515600" cy="5941573"/>
          </a:xfrm>
        </p:spPr>
        <p:txBody>
          <a:bodyPr/>
          <a:lstStyle/>
          <a:p>
            <a:pPr marL="0" indent="0">
              <a:lnSpc>
                <a:spcPct val="150000"/>
              </a:lnSpc>
              <a:buNone/>
            </a:pPr>
            <a:r>
              <a:rPr lang="zh-CN" altLang="en-US" dirty="0" smtClean="0"/>
              <a:t>需要注意的地方：</a:t>
            </a:r>
            <a:endParaRPr lang="en-US" altLang="zh-CN" dirty="0" smtClean="0"/>
          </a:p>
          <a:p>
            <a:pPr lvl="1">
              <a:lnSpc>
                <a:spcPct val="150000"/>
              </a:lnSpc>
            </a:pPr>
            <a:r>
              <a:rPr lang="zh-CN" altLang="en-US" dirty="0" smtClean="0"/>
              <a:t>用硬件的思维理解硬件的算法；</a:t>
            </a:r>
            <a:endParaRPr lang="en-US" altLang="zh-CN" dirty="0" smtClean="0"/>
          </a:p>
          <a:p>
            <a:pPr lvl="1">
              <a:lnSpc>
                <a:spcPct val="150000"/>
              </a:lnSpc>
            </a:pPr>
            <a:r>
              <a:rPr lang="zh-CN" altLang="en-US" dirty="0"/>
              <a:t>一</a:t>
            </a:r>
            <a:r>
              <a:rPr lang="zh-CN" altLang="en-US" dirty="0" smtClean="0"/>
              <a:t>个</a:t>
            </a:r>
            <a:r>
              <a:rPr lang="en-US" altLang="zh-CN" dirty="0" smtClean="0"/>
              <a:t>clock</a:t>
            </a:r>
            <a:r>
              <a:rPr lang="zh-CN" altLang="en-US" dirty="0" smtClean="0"/>
              <a:t>，也就是一个时钟周期，打开的是一个存储设备到另一个存储设备之间的数据通路；</a:t>
            </a:r>
            <a:endParaRPr lang="en-US" altLang="zh-CN" dirty="0" smtClean="0"/>
          </a:p>
          <a:p>
            <a:pPr lvl="1">
              <a:lnSpc>
                <a:spcPct val="150000"/>
              </a:lnSpc>
            </a:pPr>
            <a:r>
              <a:rPr lang="zh-CN" altLang="en-US" dirty="0" smtClean="0"/>
              <a:t>对于任意一条指令，任意一个阶段，能否进入（或者说开始执行它要执行的任务）的唯一审视标准是：</a:t>
            </a:r>
            <a:r>
              <a:rPr lang="zh-CN" altLang="en-US" b="1" dirty="0" smtClean="0"/>
              <a:t>进入条件是否满足。</a:t>
            </a:r>
            <a:endParaRPr lang="zh-CN" altLang="en-US" b="1" dirty="0"/>
          </a:p>
        </p:txBody>
      </p:sp>
    </p:spTree>
    <p:extLst>
      <p:ext uri="{BB962C8B-B14F-4D97-AF65-F5344CB8AC3E}">
        <p14:creationId xmlns:p14="http://schemas.microsoft.com/office/powerpoint/2010/main" val="79805287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84323" name="Object 3"/>
          <p:cNvGraphicFramePr>
            <a:graphicFrameLocks/>
          </p:cNvGraphicFramePr>
          <p:nvPr/>
        </p:nvGraphicFramePr>
        <p:xfrm>
          <a:off x="1703388" y="1412876"/>
          <a:ext cx="8774112" cy="4995863"/>
        </p:xfrm>
        <a:graphic>
          <a:graphicData uri="http://schemas.openxmlformats.org/presentationml/2006/ole">
            <mc:AlternateContent xmlns:mc="http://schemas.openxmlformats.org/markup-compatibility/2006">
              <mc:Choice xmlns:v="urn:schemas-microsoft-com:vml" Requires="v">
                <p:oleObj spid="_x0000_s74869"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8" y="1412876"/>
                        <a:ext cx="8774112"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p:cNvSpPr/>
          <p:nvPr/>
        </p:nvSpPr>
        <p:spPr>
          <a:xfrm>
            <a:off x="1775520" y="765175"/>
            <a:ext cx="8892480" cy="338554"/>
          </a:xfrm>
          <a:prstGeom prst="rect">
            <a:avLst/>
          </a:prstGeom>
        </p:spPr>
        <p:txBody>
          <a:bodyPr wrap="square">
            <a:spAutoFit/>
          </a:bodyPr>
          <a:lstStyle/>
          <a:p>
            <a:pPr fontAlgn="base">
              <a:spcBef>
                <a:spcPct val="0"/>
              </a:spcBef>
              <a:spcAft>
                <a:spcPct val="0"/>
              </a:spcAft>
            </a:pPr>
            <a:r>
              <a:rPr kumimoji="1" lang="en-US" altLang="zh-CN" sz="1600" b="1" dirty="0">
                <a:solidFill>
                  <a:srgbClr val="C705CC"/>
                </a:solidFill>
                <a:latin typeface="Tahoma"/>
                <a:ea typeface="黑体"/>
              </a:rPr>
              <a:t>load</a:t>
            </a:r>
            <a:r>
              <a:rPr kumimoji="1" lang="zh-CN" altLang="en-US" sz="1600" b="1" dirty="0">
                <a:solidFill>
                  <a:srgbClr val="C705CC"/>
                </a:solidFill>
                <a:latin typeface="Tahoma"/>
                <a:ea typeface="黑体"/>
              </a:rPr>
              <a:t>：</a:t>
            </a:r>
            <a:r>
              <a:rPr kumimoji="1" lang="en-US" altLang="zh-CN" sz="1600" b="1" dirty="0">
                <a:solidFill>
                  <a:srgbClr val="C705CC"/>
                </a:solidFill>
                <a:latin typeface="Tahoma"/>
                <a:ea typeface="黑体"/>
              </a:rPr>
              <a:t>2</a:t>
            </a:r>
            <a:r>
              <a:rPr kumimoji="1" lang="zh-CN" altLang="en-US" sz="1600" b="1" dirty="0">
                <a:solidFill>
                  <a:srgbClr val="C705CC"/>
                </a:solidFill>
                <a:latin typeface="Tahoma"/>
                <a:ea typeface="黑体"/>
              </a:rPr>
              <a:t>个时钟周期，加法：</a:t>
            </a:r>
            <a:r>
              <a:rPr kumimoji="1" lang="en-US" altLang="zh-CN" sz="1600" b="1" dirty="0">
                <a:solidFill>
                  <a:srgbClr val="C705CC"/>
                </a:solidFill>
                <a:latin typeface="Tahoma"/>
                <a:ea typeface="黑体"/>
              </a:rPr>
              <a:t>2</a:t>
            </a:r>
            <a:r>
              <a:rPr kumimoji="1" lang="zh-CN" altLang="en-US" sz="1600" b="1" dirty="0">
                <a:solidFill>
                  <a:srgbClr val="C705CC"/>
                </a:solidFill>
                <a:latin typeface="Tahoma"/>
                <a:ea typeface="黑体"/>
              </a:rPr>
              <a:t>个时钟周期，乘法：</a:t>
            </a:r>
            <a:r>
              <a:rPr kumimoji="1" lang="en-US" altLang="zh-CN" sz="1600" b="1" dirty="0">
                <a:solidFill>
                  <a:srgbClr val="C705CC"/>
                </a:solidFill>
                <a:latin typeface="Tahoma"/>
                <a:ea typeface="黑体"/>
              </a:rPr>
              <a:t>10</a:t>
            </a:r>
            <a:r>
              <a:rPr kumimoji="1" lang="zh-CN" altLang="en-US" sz="1600" b="1" dirty="0">
                <a:solidFill>
                  <a:srgbClr val="C705CC"/>
                </a:solidFill>
                <a:latin typeface="Tahoma"/>
                <a:ea typeface="黑体"/>
              </a:rPr>
              <a:t>个时钟周期，除法：</a:t>
            </a:r>
            <a:r>
              <a:rPr kumimoji="1" lang="en-US" altLang="zh-CN" sz="1600" b="1" dirty="0">
                <a:solidFill>
                  <a:srgbClr val="C705CC"/>
                </a:solidFill>
                <a:latin typeface="Tahoma"/>
                <a:ea typeface="黑体"/>
              </a:rPr>
              <a:t>40</a:t>
            </a:r>
            <a:r>
              <a:rPr kumimoji="1" lang="zh-CN" altLang="en-US" sz="1600" b="1" dirty="0">
                <a:solidFill>
                  <a:srgbClr val="C705CC"/>
                </a:solidFill>
                <a:latin typeface="Tahoma"/>
                <a:ea typeface="黑体"/>
              </a:rPr>
              <a:t>个时钟周期</a:t>
            </a:r>
          </a:p>
        </p:txBody>
      </p:sp>
      <p:sp>
        <p:nvSpPr>
          <p:cNvPr id="5" name="矩形 4"/>
          <p:cNvSpPr/>
          <p:nvPr/>
        </p:nvSpPr>
        <p:spPr>
          <a:xfrm>
            <a:off x="99842" y="10437"/>
            <a:ext cx="5422771" cy="523220"/>
          </a:xfrm>
          <a:prstGeom prst="rect">
            <a:avLst/>
          </a:prstGeom>
        </p:spPr>
        <p:txBody>
          <a:bodyPr wrap="square">
            <a:spAutoFit/>
          </a:bodyPr>
          <a:lstStyle/>
          <a:p>
            <a:pPr lvl="0">
              <a:spcBef>
                <a:spcPct val="50000"/>
              </a:spcBef>
            </a:pPr>
            <a:r>
              <a:rPr lang="en-US" altLang="zh-CN" sz="2800" dirty="0" smtClean="0"/>
              <a:t> </a:t>
            </a:r>
            <a:r>
              <a:rPr lang="en-US" altLang="zh-CN" sz="2400" dirty="0" smtClean="0">
                <a:latin typeface="+mn-ea"/>
              </a:rPr>
              <a:t>8 .</a:t>
            </a:r>
            <a:r>
              <a:rPr lang="en-US" altLang="zh-CN" sz="2400" b="1" dirty="0" smtClean="0">
                <a:latin typeface="+mn-ea"/>
              </a:rPr>
              <a:t>Tomasulo</a:t>
            </a:r>
            <a:r>
              <a:rPr lang="zh-CN" altLang="en-US" sz="2400" b="1" dirty="0" smtClean="0">
                <a:latin typeface="+mn-ea"/>
              </a:rPr>
              <a:t>算法实例动态演示</a:t>
            </a:r>
            <a:endParaRPr lang="en-US" altLang="zh-CN" sz="2400" dirty="0">
              <a:latin typeface="+mn-ea"/>
            </a:endParaRPr>
          </a:p>
        </p:txBody>
      </p:sp>
    </p:spTree>
    <p:extLst>
      <p:ext uri="{BB962C8B-B14F-4D97-AF65-F5344CB8AC3E}">
        <p14:creationId xmlns:p14="http://schemas.microsoft.com/office/powerpoint/2010/main" val="37391118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1490641" y="5446565"/>
            <a:ext cx="8975725" cy="685800"/>
          </a:xfrm>
          <a:noFill/>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noAutofit/>
          </a:bodyPr>
          <a:lstStyle/>
          <a:p>
            <a:pPr eaLnBrk="1" hangingPunct="1"/>
            <a:r>
              <a:rPr lang="zh-CN" altLang="en-US" sz="2400" dirty="0" smtClean="0">
                <a:ea typeface="宋体" charset="-122"/>
              </a:rPr>
              <a:t>周期</a:t>
            </a:r>
            <a:r>
              <a:rPr lang="en-US" altLang="zh-CN" sz="2400" dirty="0" smtClean="0">
                <a:ea typeface="宋体" charset="-122"/>
              </a:rPr>
              <a:t>1</a:t>
            </a:r>
            <a:r>
              <a:rPr lang="zh-CN" altLang="en-US" sz="2400" dirty="0" smtClean="0">
                <a:ea typeface="宋体" charset="-122"/>
              </a:rPr>
              <a:t>：取出第一条指令</a:t>
            </a:r>
            <a:r>
              <a:rPr lang="en-US" altLang="zh-CN" sz="2400" dirty="0" smtClean="0">
                <a:ea typeface="宋体" charset="-122"/>
              </a:rPr>
              <a:t>L.D F6, 34(R2)</a:t>
            </a:r>
            <a:r>
              <a:rPr lang="zh-CN" altLang="en-US" sz="2400" dirty="0" smtClean="0">
                <a:ea typeface="宋体" charset="-122"/>
              </a:rPr>
              <a:t>，地址偏移量</a:t>
            </a:r>
            <a:r>
              <a:rPr lang="en-US" altLang="zh-CN" sz="2400" dirty="0" smtClean="0">
                <a:ea typeface="宋体" charset="-122"/>
              </a:rPr>
              <a:t>34,</a:t>
            </a:r>
            <a:r>
              <a:rPr lang="zh-CN" altLang="en-US" sz="2400" dirty="0" smtClean="0">
                <a:ea typeface="宋体" charset="-122"/>
              </a:rPr>
              <a:t>写入</a:t>
            </a:r>
            <a:r>
              <a:rPr lang="en-US" altLang="zh-CN" sz="2400" dirty="0" smtClean="0">
                <a:ea typeface="宋体" charset="-122"/>
              </a:rPr>
              <a:t>LOAD1</a:t>
            </a:r>
            <a:r>
              <a:rPr lang="zh-CN" altLang="en-US" sz="2400" dirty="0" smtClean="0">
                <a:ea typeface="宋体" charset="-122"/>
              </a:rPr>
              <a:t>，</a:t>
            </a:r>
            <a:r>
              <a:rPr lang="en-US" altLang="zh-CN" sz="2400" dirty="0" smtClean="0">
                <a:ea typeface="宋体" charset="-122"/>
              </a:rPr>
              <a:t>LOAD1</a:t>
            </a:r>
            <a:r>
              <a:rPr lang="zh-CN" altLang="en-US" sz="2400" dirty="0" smtClean="0">
                <a:ea typeface="宋体" charset="-122"/>
              </a:rPr>
              <a:t>名存入寄存器</a:t>
            </a:r>
            <a:r>
              <a:rPr lang="en-US" altLang="zh-CN" sz="2400" dirty="0" smtClean="0">
                <a:ea typeface="宋体" charset="-122"/>
              </a:rPr>
              <a:t>F6</a:t>
            </a:r>
            <a:r>
              <a:rPr lang="zh-CN" altLang="en-US" sz="2400" dirty="0" smtClean="0">
                <a:ea typeface="宋体" charset="-122"/>
              </a:rPr>
              <a:t>。</a:t>
            </a:r>
            <a:endParaRPr lang="en-US" altLang="zh-CN" sz="2400" dirty="0" smtClean="0">
              <a:ea typeface="宋体" charset="-122"/>
            </a:endParaRPr>
          </a:p>
        </p:txBody>
      </p:sp>
      <p:graphicFrame>
        <p:nvGraphicFramePr>
          <p:cNvPr id="185347" name="Object 3"/>
          <p:cNvGraphicFramePr>
            <a:graphicFrameLocks/>
          </p:cNvGraphicFramePr>
          <p:nvPr>
            <p:extLst/>
          </p:nvPr>
        </p:nvGraphicFramePr>
        <p:xfrm>
          <a:off x="1591448" y="243200"/>
          <a:ext cx="8774113" cy="4995863"/>
        </p:xfrm>
        <a:graphic>
          <a:graphicData uri="http://schemas.openxmlformats.org/presentationml/2006/ole">
            <mc:AlternateContent xmlns:mc="http://schemas.openxmlformats.org/markup-compatibility/2006">
              <mc:Choice xmlns:v="urn:schemas-microsoft-com:vml" Requires="v">
                <p:oleObj spid="_x0000_s75893"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1448" y="243200"/>
                        <a:ext cx="8774113"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5348" name="AutoShape 4"/>
          <p:cNvSpPr>
            <a:spLocks noChangeArrowheads="1"/>
          </p:cNvSpPr>
          <p:nvPr/>
        </p:nvSpPr>
        <p:spPr bwMode="auto">
          <a:xfrm>
            <a:off x="4502922" y="662299"/>
            <a:ext cx="533400" cy="457200"/>
          </a:xfrm>
          <a:prstGeom prst="roundRect">
            <a:avLst>
              <a:gd name="adj" fmla="val 16667"/>
            </a:avLst>
          </a:prstGeom>
          <a:noFill/>
          <a:ln w="57150">
            <a:solidFill>
              <a:schemeClr val="accent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40458C"/>
              </a:solidFill>
              <a:latin typeface="Tahoma"/>
              <a:ea typeface="黑体"/>
            </a:endParaRPr>
          </a:p>
        </p:txBody>
      </p:sp>
      <p:sp>
        <p:nvSpPr>
          <p:cNvPr id="185349" name="AutoShape 5"/>
          <p:cNvSpPr>
            <a:spLocks noChangeArrowheads="1"/>
          </p:cNvSpPr>
          <p:nvPr/>
        </p:nvSpPr>
        <p:spPr bwMode="auto">
          <a:xfrm>
            <a:off x="7627122" y="662299"/>
            <a:ext cx="1676400" cy="457200"/>
          </a:xfrm>
          <a:prstGeom prst="roundRect">
            <a:avLst>
              <a:gd name="adj" fmla="val 16667"/>
            </a:avLst>
          </a:prstGeom>
          <a:noFill/>
          <a:ln w="57150">
            <a:solidFill>
              <a:schemeClr val="accent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40458C"/>
              </a:solidFill>
              <a:latin typeface="Tahoma"/>
              <a:ea typeface="黑体"/>
            </a:endParaRPr>
          </a:p>
        </p:txBody>
      </p:sp>
      <p:sp>
        <p:nvSpPr>
          <p:cNvPr id="185350" name="AutoShape 6"/>
          <p:cNvSpPr>
            <a:spLocks noChangeArrowheads="1"/>
          </p:cNvSpPr>
          <p:nvPr/>
        </p:nvSpPr>
        <p:spPr bwMode="auto">
          <a:xfrm>
            <a:off x="6255522" y="4472299"/>
            <a:ext cx="762000" cy="457200"/>
          </a:xfrm>
          <a:prstGeom prst="roundRect">
            <a:avLst>
              <a:gd name="adj" fmla="val 16667"/>
            </a:avLst>
          </a:prstGeom>
          <a:noFill/>
          <a:ln w="57150">
            <a:solidFill>
              <a:schemeClr val="accent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40458C"/>
              </a:solidFill>
              <a:latin typeface="Tahoma"/>
              <a:ea typeface="黑体"/>
            </a:endParaRPr>
          </a:p>
        </p:txBody>
      </p:sp>
    </p:spTree>
    <p:extLst>
      <p:ext uri="{BB962C8B-B14F-4D97-AF65-F5344CB8AC3E}">
        <p14:creationId xmlns:p14="http://schemas.microsoft.com/office/powerpoint/2010/main" val="27193385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86370" name="Object 2"/>
          <p:cNvGraphicFramePr>
            <a:graphicFrameLocks/>
          </p:cNvGraphicFramePr>
          <p:nvPr>
            <p:extLst/>
          </p:nvPr>
        </p:nvGraphicFramePr>
        <p:xfrm>
          <a:off x="1591447" y="320112"/>
          <a:ext cx="8774113" cy="4995863"/>
        </p:xfrm>
        <a:graphic>
          <a:graphicData uri="http://schemas.openxmlformats.org/presentationml/2006/ole">
            <mc:AlternateContent xmlns:mc="http://schemas.openxmlformats.org/markup-compatibility/2006">
              <mc:Choice xmlns:v="urn:schemas-microsoft-com:vml" Requires="v">
                <p:oleObj spid="_x0000_s76917"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1447" y="320112"/>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6371" name="AutoShape 3"/>
          <p:cNvSpPr>
            <a:spLocks noChangeArrowheads="1"/>
          </p:cNvSpPr>
          <p:nvPr/>
        </p:nvSpPr>
        <p:spPr bwMode="auto">
          <a:xfrm>
            <a:off x="4502921" y="1044011"/>
            <a:ext cx="533400" cy="304800"/>
          </a:xfrm>
          <a:prstGeom prst="roundRect">
            <a:avLst>
              <a:gd name="adj" fmla="val 16667"/>
            </a:avLst>
          </a:prstGeom>
          <a:noFill/>
          <a:ln w="57150">
            <a:solidFill>
              <a:schemeClr val="accent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40458C"/>
              </a:solidFill>
              <a:latin typeface="Tahoma"/>
              <a:ea typeface="黑体"/>
            </a:endParaRPr>
          </a:p>
        </p:txBody>
      </p:sp>
      <p:sp>
        <p:nvSpPr>
          <p:cNvPr id="186372" name="AutoShape 4"/>
          <p:cNvSpPr>
            <a:spLocks noChangeArrowheads="1"/>
          </p:cNvSpPr>
          <p:nvPr/>
        </p:nvSpPr>
        <p:spPr bwMode="auto">
          <a:xfrm>
            <a:off x="7627121" y="967811"/>
            <a:ext cx="1676400" cy="457200"/>
          </a:xfrm>
          <a:prstGeom prst="roundRect">
            <a:avLst>
              <a:gd name="adj" fmla="val 16667"/>
            </a:avLst>
          </a:prstGeom>
          <a:noFill/>
          <a:ln w="57150">
            <a:solidFill>
              <a:schemeClr val="accent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40458C"/>
              </a:solidFill>
              <a:latin typeface="Tahoma"/>
              <a:ea typeface="黑体"/>
            </a:endParaRPr>
          </a:p>
        </p:txBody>
      </p:sp>
      <p:sp>
        <p:nvSpPr>
          <p:cNvPr id="186373" name="AutoShape 5"/>
          <p:cNvSpPr>
            <a:spLocks noChangeArrowheads="1"/>
          </p:cNvSpPr>
          <p:nvPr/>
        </p:nvSpPr>
        <p:spPr bwMode="auto">
          <a:xfrm>
            <a:off x="5012509" y="4499999"/>
            <a:ext cx="762000" cy="457200"/>
          </a:xfrm>
          <a:prstGeom prst="roundRect">
            <a:avLst>
              <a:gd name="adj" fmla="val 16667"/>
            </a:avLst>
          </a:prstGeom>
          <a:noFill/>
          <a:ln w="57150">
            <a:solidFill>
              <a:schemeClr val="accent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40458C"/>
              </a:solidFill>
              <a:latin typeface="Tahoma"/>
              <a:ea typeface="黑体"/>
            </a:endParaRPr>
          </a:p>
        </p:txBody>
      </p:sp>
      <p:sp>
        <p:nvSpPr>
          <p:cNvPr id="884742" name="Rectangle 6"/>
          <p:cNvSpPr>
            <a:spLocks noChangeArrowheads="1"/>
          </p:cNvSpPr>
          <p:nvPr/>
        </p:nvSpPr>
        <p:spPr bwMode="auto">
          <a:xfrm>
            <a:off x="1591447" y="5315975"/>
            <a:ext cx="9144000" cy="1196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spAutoFit/>
          </a:bodyPr>
          <a:lstStyle/>
          <a:p>
            <a:pPr eaLnBrk="0" fontAlgn="base" hangingPunct="0">
              <a:spcBef>
                <a:spcPct val="0"/>
              </a:spcBef>
              <a:spcAft>
                <a:spcPct val="0"/>
              </a:spcAft>
            </a:pPr>
            <a:r>
              <a:rPr kumimoji="1" lang="zh-CN" altLang="zh-CN" sz="2400" dirty="0">
                <a:latin typeface="宋体" panose="02010600030101010101" pitchFamily="2" charset="-122"/>
                <a:ea typeface="宋体" panose="02010600030101010101" pitchFamily="2" charset="-122"/>
                <a:cs typeface="Times New Roman" pitchFamily="18" charset="0"/>
              </a:rPr>
              <a:t>周期</a:t>
            </a:r>
            <a:r>
              <a:rPr kumimoji="1" lang="en-US" altLang="zh-CN" sz="2400" dirty="0">
                <a:latin typeface="宋体" panose="02010600030101010101" pitchFamily="2" charset="-122"/>
                <a:ea typeface="宋体" panose="02010600030101010101" pitchFamily="2" charset="-122"/>
                <a:cs typeface="Times New Roman" pitchFamily="18" charset="0"/>
              </a:rPr>
              <a:t>2</a:t>
            </a:r>
            <a:r>
              <a:rPr kumimoji="1" lang="zh-CN" altLang="zh-CN" sz="2400" dirty="0">
                <a:latin typeface="宋体" panose="02010600030101010101" pitchFamily="2" charset="-122"/>
                <a:ea typeface="宋体" panose="02010600030101010101" pitchFamily="2" charset="-122"/>
                <a:cs typeface="Times New Roman" pitchFamily="18" charset="0"/>
              </a:rPr>
              <a:t>：取出第二条指令</a:t>
            </a:r>
            <a:r>
              <a:rPr kumimoji="1" lang="en-US" altLang="zh-CN" sz="2400" dirty="0">
                <a:latin typeface="宋体" panose="02010600030101010101" pitchFamily="2" charset="-122"/>
                <a:ea typeface="宋体" panose="02010600030101010101" pitchFamily="2" charset="-122"/>
                <a:cs typeface="Times New Roman" pitchFamily="18" charset="0"/>
              </a:rPr>
              <a:t>L.D F2, 45(R3)</a:t>
            </a:r>
            <a:r>
              <a:rPr kumimoji="1" lang="zh-CN" altLang="zh-CN" sz="2400" dirty="0">
                <a:latin typeface="宋体" panose="02010600030101010101" pitchFamily="2" charset="-122"/>
                <a:ea typeface="宋体" panose="02010600030101010101" pitchFamily="2" charset="-122"/>
                <a:cs typeface="Times New Roman" pitchFamily="18" charset="0"/>
              </a:rPr>
              <a:t>，地址偏移量</a:t>
            </a:r>
            <a:r>
              <a:rPr kumimoji="1" lang="en-US" altLang="zh-CN" sz="2400" dirty="0">
                <a:latin typeface="宋体" panose="02010600030101010101" pitchFamily="2" charset="-122"/>
                <a:ea typeface="宋体" panose="02010600030101010101" pitchFamily="2" charset="-122"/>
                <a:cs typeface="Times New Roman" pitchFamily="18" charset="0"/>
              </a:rPr>
              <a:t>45</a:t>
            </a:r>
            <a:r>
              <a:rPr kumimoji="1" lang="zh-CN" altLang="zh-CN" sz="2400" dirty="0">
                <a:latin typeface="宋体" panose="02010600030101010101" pitchFamily="2" charset="-122"/>
                <a:ea typeface="宋体" panose="02010600030101010101" pitchFamily="2" charset="-122"/>
                <a:cs typeface="Times New Roman" pitchFamily="18" charset="0"/>
              </a:rPr>
              <a:t>写入</a:t>
            </a:r>
            <a:r>
              <a:rPr kumimoji="1" lang="en-US" altLang="zh-CN" sz="2400" dirty="0">
                <a:latin typeface="宋体" panose="02010600030101010101" pitchFamily="2" charset="-122"/>
                <a:ea typeface="宋体" panose="02010600030101010101" pitchFamily="2" charset="-122"/>
                <a:cs typeface="Times New Roman" pitchFamily="18" charset="0"/>
              </a:rPr>
              <a:t>LOAD2</a:t>
            </a:r>
            <a:r>
              <a:rPr kumimoji="1" lang="zh-CN" altLang="zh-CN" sz="2400" dirty="0">
                <a:latin typeface="宋体" panose="02010600030101010101" pitchFamily="2" charset="-122"/>
                <a:ea typeface="宋体" panose="02010600030101010101" pitchFamily="2" charset="-122"/>
                <a:cs typeface="Times New Roman" pitchFamily="18" charset="0"/>
              </a:rPr>
              <a:t>，</a:t>
            </a:r>
            <a:r>
              <a:rPr kumimoji="1" lang="en-US" altLang="zh-CN" sz="2400" dirty="0">
                <a:latin typeface="宋体" panose="02010600030101010101" pitchFamily="2" charset="-122"/>
                <a:ea typeface="宋体" panose="02010600030101010101" pitchFamily="2" charset="-122"/>
                <a:cs typeface="Times New Roman" pitchFamily="18" charset="0"/>
              </a:rPr>
              <a:t>LOAD2</a:t>
            </a:r>
            <a:r>
              <a:rPr kumimoji="1" lang="zh-CN" altLang="zh-CN" sz="2400" dirty="0">
                <a:latin typeface="宋体" panose="02010600030101010101" pitchFamily="2" charset="-122"/>
                <a:ea typeface="宋体" panose="02010600030101010101" pitchFamily="2" charset="-122"/>
                <a:cs typeface="Times New Roman" pitchFamily="18" charset="0"/>
              </a:rPr>
              <a:t>名存入寄存器</a:t>
            </a:r>
            <a:r>
              <a:rPr kumimoji="1" lang="en-US" altLang="zh-CN" sz="2400" dirty="0">
                <a:latin typeface="宋体" panose="02010600030101010101" pitchFamily="2" charset="-122"/>
                <a:ea typeface="宋体" panose="02010600030101010101" pitchFamily="2" charset="-122"/>
                <a:cs typeface="Times New Roman" pitchFamily="18" charset="0"/>
              </a:rPr>
              <a:t>F2</a:t>
            </a:r>
            <a:r>
              <a:rPr kumimoji="1" lang="zh-CN" altLang="zh-CN" sz="2400" dirty="0">
                <a:latin typeface="宋体" panose="02010600030101010101" pitchFamily="2" charset="-122"/>
                <a:ea typeface="宋体" panose="02010600030101010101" pitchFamily="2" charset="-122"/>
                <a:cs typeface="Times New Roman" pitchFamily="18" charset="0"/>
              </a:rPr>
              <a:t>，同时第一条指令开始执行，</a:t>
            </a:r>
            <a:r>
              <a:rPr kumimoji="1" lang="en-US" altLang="zh-CN" sz="2400" dirty="0">
                <a:latin typeface="宋体" panose="02010600030101010101" pitchFamily="2" charset="-122"/>
                <a:ea typeface="宋体" panose="02010600030101010101" pitchFamily="2" charset="-122"/>
                <a:cs typeface="Times New Roman" pitchFamily="18" charset="0"/>
              </a:rPr>
              <a:t>LOAD1</a:t>
            </a:r>
            <a:r>
              <a:rPr kumimoji="1" lang="zh-CN" altLang="zh-CN" sz="2400" dirty="0">
                <a:latin typeface="宋体" panose="02010600030101010101" pitchFamily="2" charset="-122"/>
                <a:ea typeface="宋体" panose="02010600030101010101" pitchFamily="2" charset="-122"/>
                <a:cs typeface="Times New Roman" pitchFamily="18" charset="0"/>
              </a:rPr>
              <a:t>上写入绝对地址</a:t>
            </a:r>
            <a:endParaRPr lang="en-US" altLang="zh-CN" sz="2400" dirty="0">
              <a:latin typeface="宋体" panose="02010600030101010101" pitchFamily="2" charset="-122"/>
              <a:ea typeface="宋体" panose="02010600030101010101" pitchFamily="2" charset="-122"/>
              <a:cs typeface="Times New Roman" pitchFamily="18" charset="0"/>
            </a:endParaRPr>
          </a:p>
        </p:txBody>
      </p:sp>
    </p:spTree>
    <p:extLst>
      <p:ext uri="{BB962C8B-B14F-4D97-AF65-F5344CB8AC3E}">
        <p14:creationId xmlns:p14="http://schemas.microsoft.com/office/powerpoint/2010/main" val="10094804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84742"/>
                                        </p:tgtEl>
                                        <p:attrNameLst>
                                          <p:attrName>style.visibility</p:attrName>
                                        </p:attrNameLst>
                                      </p:cBhvr>
                                      <p:to>
                                        <p:strVal val="visible"/>
                                      </p:to>
                                    </p:set>
                                    <p:anim calcmode="lin" valueType="num">
                                      <p:cBhvr additive="base">
                                        <p:cTn id="7" dur="500" fill="hold"/>
                                        <p:tgtEl>
                                          <p:spTgt spid="884742"/>
                                        </p:tgtEl>
                                        <p:attrNameLst>
                                          <p:attrName>ppt_x</p:attrName>
                                        </p:attrNameLst>
                                      </p:cBhvr>
                                      <p:tavLst>
                                        <p:tav tm="0">
                                          <p:val>
                                            <p:strVal val="1+#ppt_w/2"/>
                                          </p:val>
                                        </p:tav>
                                        <p:tav tm="100000">
                                          <p:val>
                                            <p:strVal val="#ppt_x"/>
                                          </p:val>
                                        </p:tav>
                                      </p:tavLst>
                                    </p:anim>
                                    <p:anim calcmode="lin" valueType="num">
                                      <p:cBhvr additive="base">
                                        <p:cTn id="8" dur="500" fill="hold"/>
                                        <p:tgtEl>
                                          <p:spTgt spid="8847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4742"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87394" name="Object 2"/>
          <p:cNvGraphicFramePr>
            <a:graphicFrameLocks/>
          </p:cNvGraphicFramePr>
          <p:nvPr>
            <p:extLst/>
          </p:nvPr>
        </p:nvGraphicFramePr>
        <p:xfrm>
          <a:off x="1659814" y="397024"/>
          <a:ext cx="8774113" cy="4995863"/>
        </p:xfrm>
        <a:graphic>
          <a:graphicData uri="http://schemas.openxmlformats.org/presentationml/2006/ole">
            <mc:AlternateContent xmlns:mc="http://schemas.openxmlformats.org/markup-compatibility/2006">
              <mc:Choice xmlns:v="urn:schemas-microsoft-com:vml" Requires="v">
                <p:oleObj spid="_x0000_s77941"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9814" y="397024"/>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7395" name="AutoShape 3"/>
          <p:cNvSpPr>
            <a:spLocks noChangeArrowheads="1"/>
          </p:cNvSpPr>
          <p:nvPr/>
        </p:nvSpPr>
        <p:spPr bwMode="auto">
          <a:xfrm>
            <a:off x="3885488" y="3483123"/>
            <a:ext cx="3962400" cy="457200"/>
          </a:xfrm>
          <a:prstGeom prst="roundRect">
            <a:avLst>
              <a:gd name="adj" fmla="val 16667"/>
            </a:avLst>
          </a:prstGeom>
          <a:noFill/>
          <a:ln w="57150">
            <a:solidFill>
              <a:schemeClr val="accent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endParaRPr lang="zh-CN" altLang="zh-CN" b="1">
              <a:solidFill>
                <a:srgbClr val="ECD882"/>
              </a:solidFill>
              <a:latin typeface="Arial" charset="0"/>
              <a:ea typeface="宋体" charset="-122"/>
            </a:endParaRPr>
          </a:p>
        </p:txBody>
      </p:sp>
      <p:sp>
        <p:nvSpPr>
          <p:cNvPr id="187396" name="AutoShape 4"/>
          <p:cNvSpPr>
            <a:spLocks noChangeArrowheads="1"/>
          </p:cNvSpPr>
          <p:nvPr/>
        </p:nvSpPr>
        <p:spPr bwMode="auto">
          <a:xfrm>
            <a:off x="4412538" y="4576911"/>
            <a:ext cx="762000" cy="457200"/>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40458C"/>
              </a:solidFill>
              <a:latin typeface="Tahoma"/>
              <a:ea typeface="黑体"/>
            </a:endParaRPr>
          </a:p>
        </p:txBody>
      </p:sp>
      <p:sp>
        <p:nvSpPr>
          <p:cNvPr id="885765" name="Rectangle 5"/>
          <p:cNvSpPr>
            <a:spLocks noChangeArrowheads="1"/>
          </p:cNvSpPr>
          <p:nvPr/>
        </p:nvSpPr>
        <p:spPr bwMode="auto">
          <a:xfrm>
            <a:off x="1464180" y="5430730"/>
            <a:ext cx="9036050" cy="8651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p>
            <a:pPr eaLnBrk="0" fontAlgn="base" hangingPunct="0">
              <a:lnSpc>
                <a:spcPct val="90000"/>
              </a:lnSpc>
              <a:spcBef>
                <a:spcPct val="30000"/>
              </a:spcBef>
              <a:spcAft>
                <a:spcPct val="0"/>
              </a:spcAft>
              <a:tabLst>
                <a:tab pos="914400" algn="l"/>
                <a:tab pos="1657350" algn="l"/>
                <a:tab pos="3028950" algn="l"/>
              </a:tabLst>
            </a:pPr>
            <a:r>
              <a:rPr lang="zh-CN" altLang="en-US" sz="2000" dirty="0">
                <a:solidFill>
                  <a:srgbClr val="000000"/>
                </a:solidFill>
                <a:latin typeface="宋体" panose="02010600030101010101" pitchFamily="2" charset="-122"/>
                <a:ea typeface="宋体" panose="02010600030101010101" pitchFamily="2" charset="-122"/>
              </a:rPr>
              <a:t>周期</a:t>
            </a:r>
            <a:r>
              <a:rPr lang="en-US" altLang="zh-CN" sz="2000" dirty="0">
                <a:solidFill>
                  <a:srgbClr val="000000"/>
                </a:solidFill>
                <a:latin typeface="宋体" panose="02010600030101010101" pitchFamily="2" charset="-122"/>
                <a:ea typeface="宋体" panose="02010600030101010101" pitchFamily="2" charset="-122"/>
              </a:rPr>
              <a:t>3</a:t>
            </a:r>
            <a:r>
              <a:rPr lang="zh-CN" altLang="en-US" sz="2000" dirty="0">
                <a:solidFill>
                  <a:srgbClr val="000000"/>
                </a:solidFill>
                <a:latin typeface="宋体" panose="02010600030101010101" pitchFamily="2" charset="-122"/>
                <a:ea typeface="宋体" panose="02010600030101010101" pitchFamily="2" charset="-122"/>
              </a:rPr>
              <a:t>：取出第三条指令</a:t>
            </a:r>
            <a:r>
              <a:rPr lang="en-US" altLang="zh-CN" sz="2000" dirty="0">
                <a:solidFill>
                  <a:srgbClr val="000000"/>
                </a:solidFill>
                <a:latin typeface="宋体" panose="02010600030101010101" pitchFamily="2" charset="-122"/>
                <a:ea typeface="宋体" panose="02010600030101010101" pitchFamily="2" charset="-122"/>
              </a:rPr>
              <a:t>MUL.D F0, F2,F4</a:t>
            </a:r>
            <a:r>
              <a:rPr lang="zh-CN" altLang="en-US" sz="2000" dirty="0">
                <a:solidFill>
                  <a:srgbClr val="000000"/>
                </a:solidFill>
                <a:latin typeface="宋体" panose="02010600030101010101" pitchFamily="2" charset="-122"/>
                <a:ea typeface="宋体" panose="02010600030101010101" pitchFamily="2" charset="-122"/>
              </a:rPr>
              <a:t>，第一条指令完成，第二条指令开始执行</a:t>
            </a:r>
            <a:r>
              <a:rPr lang="en-US" altLang="zh-CN" sz="2000" dirty="0">
                <a:solidFill>
                  <a:srgbClr val="000000"/>
                </a:solidFill>
                <a:latin typeface="宋体" panose="02010600030101010101" pitchFamily="2" charset="-122"/>
                <a:ea typeface="宋体" panose="02010600030101010101" pitchFamily="2" charset="-122"/>
              </a:rPr>
              <a:t>,LOAD2</a:t>
            </a:r>
            <a:r>
              <a:rPr lang="zh-CN" altLang="en-US" sz="2000" dirty="0">
                <a:solidFill>
                  <a:srgbClr val="000000"/>
                </a:solidFill>
                <a:latin typeface="宋体" panose="02010600030101010101" pitchFamily="2" charset="-122"/>
                <a:ea typeface="宋体" panose="02010600030101010101" pitchFamily="2" charset="-122"/>
              </a:rPr>
              <a:t>上写入绝对地址。保留站中存入待运算的操作数和操作。寄存器</a:t>
            </a:r>
            <a:r>
              <a:rPr lang="en-US" altLang="zh-CN" sz="2000" dirty="0">
                <a:solidFill>
                  <a:srgbClr val="000000"/>
                </a:solidFill>
                <a:latin typeface="宋体" panose="02010600030101010101" pitchFamily="2" charset="-122"/>
                <a:ea typeface="宋体" panose="02010600030101010101" pitchFamily="2" charset="-122"/>
              </a:rPr>
              <a:t>F0</a:t>
            </a:r>
            <a:r>
              <a:rPr lang="zh-CN" altLang="en-US" sz="2000" dirty="0">
                <a:solidFill>
                  <a:srgbClr val="000000"/>
                </a:solidFill>
                <a:latin typeface="宋体" panose="02010600030101010101" pitchFamily="2" charset="-122"/>
                <a:ea typeface="宋体" panose="02010600030101010101" pitchFamily="2" charset="-122"/>
              </a:rPr>
              <a:t>上写入保留站中待运算命令的名称。</a:t>
            </a:r>
            <a:endParaRPr lang="en-US" altLang="zh-CN" sz="2000" dirty="0">
              <a:solidFill>
                <a:srgbClr val="000000"/>
              </a:solidFill>
              <a:latin typeface="宋体" panose="02010600030101010101" pitchFamily="2" charset="-122"/>
              <a:ea typeface="宋体" panose="02010600030101010101" pitchFamily="2" charset="-122"/>
            </a:endParaRPr>
          </a:p>
          <a:p>
            <a:pPr eaLnBrk="0" fontAlgn="base" hangingPunct="0">
              <a:lnSpc>
                <a:spcPct val="90000"/>
              </a:lnSpc>
              <a:spcBef>
                <a:spcPct val="30000"/>
              </a:spcBef>
              <a:spcAft>
                <a:spcPct val="0"/>
              </a:spcAft>
              <a:tabLst>
                <a:tab pos="914400" algn="l"/>
                <a:tab pos="1657350" algn="l"/>
                <a:tab pos="3028950" algn="l"/>
              </a:tabLst>
            </a:pPr>
            <a:r>
              <a:rPr lang="en-US" altLang="zh-CN" sz="2000" dirty="0">
                <a:solidFill>
                  <a:srgbClr val="000000"/>
                </a:solidFill>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25561264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85765"/>
                                        </p:tgtEl>
                                        <p:attrNameLst>
                                          <p:attrName>style.visibility</p:attrName>
                                        </p:attrNameLst>
                                      </p:cBhvr>
                                      <p:to>
                                        <p:strVal val="visible"/>
                                      </p:to>
                                    </p:set>
                                    <p:anim calcmode="lin" valueType="num">
                                      <p:cBhvr additive="base">
                                        <p:cTn id="7" dur="500" fill="hold"/>
                                        <p:tgtEl>
                                          <p:spTgt spid="885765"/>
                                        </p:tgtEl>
                                        <p:attrNameLst>
                                          <p:attrName>ppt_x</p:attrName>
                                        </p:attrNameLst>
                                      </p:cBhvr>
                                      <p:tavLst>
                                        <p:tav tm="0">
                                          <p:val>
                                            <p:strVal val="1+#ppt_w/2"/>
                                          </p:val>
                                        </p:tav>
                                        <p:tav tm="100000">
                                          <p:val>
                                            <p:strVal val="#ppt_x"/>
                                          </p:val>
                                        </p:tav>
                                      </p:tavLst>
                                    </p:anim>
                                    <p:anim calcmode="lin" valueType="num">
                                      <p:cBhvr additive="base">
                                        <p:cTn id="8" dur="500" fill="hold"/>
                                        <p:tgtEl>
                                          <p:spTgt spid="8857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5765"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88418" name="Object 2"/>
          <p:cNvGraphicFramePr>
            <a:graphicFrameLocks/>
          </p:cNvGraphicFramePr>
          <p:nvPr>
            <p:extLst/>
          </p:nvPr>
        </p:nvGraphicFramePr>
        <p:xfrm>
          <a:off x="1617085" y="251746"/>
          <a:ext cx="8774113" cy="4995863"/>
        </p:xfrm>
        <a:graphic>
          <a:graphicData uri="http://schemas.openxmlformats.org/presentationml/2006/ole">
            <mc:AlternateContent xmlns:mc="http://schemas.openxmlformats.org/markup-compatibility/2006">
              <mc:Choice xmlns:v="urn:schemas-microsoft-com:vml" Requires="v">
                <p:oleObj spid="_x0000_s78965"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7085" y="251746"/>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6787" name="Rectangle 3"/>
          <p:cNvSpPr>
            <a:spLocks noChangeArrowheads="1"/>
          </p:cNvSpPr>
          <p:nvPr/>
        </p:nvSpPr>
        <p:spPr bwMode="auto">
          <a:xfrm>
            <a:off x="1617085" y="5102331"/>
            <a:ext cx="9105714" cy="10858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p>
            <a:pPr eaLnBrk="0" fontAlgn="base" hangingPunct="0">
              <a:lnSpc>
                <a:spcPct val="90000"/>
              </a:lnSpc>
              <a:spcBef>
                <a:spcPct val="30000"/>
              </a:spcBef>
              <a:spcAft>
                <a:spcPct val="0"/>
              </a:spcAft>
              <a:tabLst>
                <a:tab pos="914400" algn="l"/>
                <a:tab pos="1657350" algn="l"/>
                <a:tab pos="3028950" algn="l"/>
              </a:tabLst>
            </a:pPr>
            <a:r>
              <a:rPr lang="zh-CN" altLang="en-US" sz="2400" dirty="0">
                <a:solidFill>
                  <a:srgbClr val="000000"/>
                </a:solidFill>
                <a:latin typeface="宋体" panose="02010600030101010101" pitchFamily="2" charset="-122"/>
                <a:ea typeface="宋体" panose="02010600030101010101" pitchFamily="2" charset="-122"/>
              </a:rPr>
              <a:t>周期</a:t>
            </a:r>
            <a:r>
              <a:rPr lang="en-US" altLang="zh-CN" sz="2400" dirty="0">
                <a:solidFill>
                  <a:srgbClr val="000000"/>
                </a:solidFill>
                <a:latin typeface="宋体" panose="02010600030101010101" pitchFamily="2" charset="-122"/>
                <a:ea typeface="宋体" panose="02010600030101010101" pitchFamily="2" charset="-122"/>
              </a:rPr>
              <a:t>4</a:t>
            </a:r>
            <a:r>
              <a:rPr lang="zh-CN" altLang="en-US" sz="2400" dirty="0">
                <a:solidFill>
                  <a:srgbClr val="000000"/>
                </a:solidFill>
                <a:latin typeface="宋体" panose="02010600030101010101" pitchFamily="2" charset="-122"/>
                <a:ea typeface="宋体" panose="02010600030101010101" pitchFamily="2" charset="-122"/>
              </a:rPr>
              <a:t>：取出第四条指令</a:t>
            </a:r>
            <a:r>
              <a:rPr lang="en-US" altLang="zh-CN" sz="2400" dirty="0">
                <a:solidFill>
                  <a:srgbClr val="000000"/>
                </a:solidFill>
                <a:latin typeface="宋体" panose="02010600030101010101" pitchFamily="2" charset="-122"/>
                <a:ea typeface="宋体" panose="02010600030101010101" pitchFamily="2" charset="-122"/>
              </a:rPr>
              <a:t>SUB.D F8,F6,F2</a:t>
            </a:r>
            <a:r>
              <a:rPr lang="zh-CN" altLang="en-US" sz="2400" dirty="0">
                <a:solidFill>
                  <a:srgbClr val="000000"/>
                </a:solidFill>
                <a:latin typeface="宋体" panose="02010600030101010101" pitchFamily="2" charset="-122"/>
                <a:ea typeface="宋体" panose="02010600030101010101" pitchFamily="2" charset="-122"/>
              </a:rPr>
              <a:t>，第二条指令执行完成，第一条指令写入结果</a:t>
            </a:r>
            <a:r>
              <a:rPr lang="en-US" altLang="zh-CN" sz="2400" dirty="0">
                <a:solidFill>
                  <a:srgbClr val="000000"/>
                </a:solidFill>
                <a:latin typeface="宋体" panose="02010600030101010101" pitchFamily="2" charset="-122"/>
                <a:ea typeface="宋体" panose="02010600030101010101" pitchFamily="2" charset="-122"/>
              </a:rPr>
              <a:t>M(A1)</a:t>
            </a:r>
            <a:r>
              <a:rPr lang="zh-CN" altLang="en-US" sz="2400" dirty="0">
                <a:solidFill>
                  <a:srgbClr val="000000"/>
                </a:solidFill>
                <a:latin typeface="宋体" panose="02010600030101010101" pitchFamily="2" charset="-122"/>
                <a:ea typeface="宋体" panose="02010600030101010101" pitchFamily="2" charset="-122"/>
              </a:rPr>
              <a:t>到寄存器</a:t>
            </a:r>
            <a:r>
              <a:rPr lang="en-US" altLang="zh-CN" sz="2400" dirty="0">
                <a:solidFill>
                  <a:srgbClr val="000000"/>
                </a:solidFill>
                <a:latin typeface="宋体" panose="02010600030101010101" pitchFamily="2" charset="-122"/>
                <a:ea typeface="宋体" panose="02010600030101010101" pitchFamily="2" charset="-122"/>
              </a:rPr>
              <a:t>F6</a:t>
            </a:r>
            <a:r>
              <a:rPr lang="zh-CN" altLang="en-US" sz="2400" dirty="0">
                <a:solidFill>
                  <a:srgbClr val="000000"/>
                </a:solidFill>
                <a:latin typeface="宋体" panose="02010600030101010101" pitchFamily="2" charset="-122"/>
                <a:ea typeface="宋体" panose="02010600030101010101" pitchFamily="2" charset="-122"/>
              </a:rPr>
              <a:t>，保留站中存入第四条指令的待运算操作数和操作。</a:t>
            </a:r>
            <a:r>
              <a:rPr lang="en-US" altLang="zh-CN" sz="2400" dirty="0">
                <a:solidFill>
                  <a:srgbClr val="000000"/>
                </a:solidFill>
                <a:latin typeface="宋体" panose="02010600030101010101" pitchFamily="2" charset="-122"/>
                <a:ea typeface="宋体" panose="02010600030101010101" pitchFamily="2" charset="-122"/>
              </a:rPr>
              <a:t>LOAD1</a:t>
            </a:r>
            <a:r>
              <a:rPr lang="zh-CN" altLang="en-US" sz="2400" dirty="0">
                <a:solidFill>
                  <a:srgbClr val="000000"/>
                </a:solidFill>
                <a:latin typeface="宋体" panose="02010600030101010101" pitchFamily="2" charset="-122"/>
                <a:ea typeface="宋体" panose="02010600030101010101" pitchFamily="2" charset="-122"/>
              </a:rPr>
              <a:t>清空。</a:t>
            </a:r>
            <a:endParaRPr lang="en-US" altLang="zh-CN" sz="2400"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3887762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86787"/>
                                        </p:tgtEl>
                                        <p:attrNameLst>
                                          <p:attrName>style.visibility</p:attrName>
                                        </p:attrNameLst>
                                      </p:cBhvr>
                                      <p:to>
                                        <p:strVal val="visible"/>
                                      </p:to>
                                    </p:set>
                                    <p:anim calcmode="lin" valueType="num">
                                      <p:cBhvr additive="base">
                                        <p:cTn id="7" dur="500" fill="hold"/>
                                        <p:tgtEl>
                                          <p:spTgt spid="886787"/>
                                        </p:tgtEl>
                                        <p:attrNameLst>
                                          <p:attrName>ppt_x</p:attrName>
                                        </p:attrNameLst>
                                      </p:cBhvr>
                                      <p:tavLst>
                                        <p:tav tm="0">
                                          <p:val>
                                            <p:strVal val="1+#ppt_w/2"/>
                                          </p:val>
                                        </p:tav>
                                        <p:tav tm="100000">
                                          <p:val>
                                            <p:strVal val="#ppt_x"/>
                                          </p:val>
                                        </p:tav>
                                      </p:tavLst>
                                    </p:anim>
                                    <p:anim calcmode="lin" valueType="num">
                                      <p:cBhvr additive="base">
                                        <p:cTn id="8" dur="500" fill="hold"/>
                                        <p:tgtEl>
                                          <p:spTgt spid="8867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6787"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89442" name="Object 2"/>
          <p:cNvGraphicFramePr>
            <a:graphicFrameLocks/>
          </p:cNvGraphicFramePr>
          <p:nvPr>
            <p:extLst/>
          </p:nvPr>
        </p:nvGraphicFramePr>
        <p:xfrm>
          <a:off x="1727200" y="183379"/>
          <a:ext cx="8774113" cy="4995863"/>
        </p:xfrm>
        <a:graphic>
          <a:graphicData uri="http://schemas.openxmlformats.org/presentationml/2006/ole">
            <mc:AlternateContent xmlns:mc="http://schemas.openxmlformats.org/markup-compatibility/2006">
              <mc:Choice xmlns:v="urn:schemas-microsoft-com:vml" Requires="v">
                <p:oleObj spid="_x0000_s79989"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7200" y="183379"/>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9443" name="Rectangle 3"/>
          <p:cNvSpPr>
            <a:spLocks noGrp="1" noChangeArrowheads="1"/>
          </p:cNvSpPr>
          <p:nvPr>
            <p:ph type="title"/>
          </p:nvPr>
        </p:nvSpPr>
        <p:spPr>
          <a:xfrm>
            <a:off x="1523999" y="5330810"/>
            <a:ext cx="9180513" cy="1078536"/>
          </a:xfrm>
        </p:spPr>
        <p:txBody>
          <a:bodyPr>
            <a:normAutofit fontScale="90000"/>
          </a:bodyPr>
          <a:lstStyle/>
          <a:p>
            <a:pPr eaLnBrk="1" hangingPunct="1"/>
            <a:r>
              <a:rPr lang="en-US" altLang="zh-CN" b="1" dirty="0" smtClean="0">
                <a:ea typeface="宋体" charset="-122"/>
              </a:rPr>
              <a:t> </a:t>
            </a:r>
            <a:r>
              <a:rPr lang="zh-CN" altLang="en-US" sz="2700" dirty="0" smtClean="0">
                <a:latin typeface="宋体" panose="02010600030101010101" pitchFamily="2" charset="-122"/>
                <a:ea typeface="宋体" panose="02010600030101010101" pitchFamily="2" charset="-122"/>
              </a:rPr>
              <a:t>周期</a:t>
            </a:r>
            <a:r>
              <a:rPr lang="en-US" altLang="zh-CN" sz="2700" dirty="0" smtClean="0">
                <a:latin typeface="宋体" panose="02010600030101010101" pitchFamily="2" charset="-122"/>
                <a:ea typeface="宋体" panose="02010600030101010101" pitchFamily="2" charset="-122"/>
              </a:rPr>
              <a:t>5</a:t>
            </a:r>
            <a:r>
              <a:rPr lang="zh-CN" altLang="en-US" sz="2700" dirty="0" smtClean="0">
                <a:latin typeface="宋体" panose="02010600030101010101" pitchFamily="2" charset="-122"/>
                <a:ea typeface="宋体" panose="02010600030101010101" pitchFamily="2" charset="-122"/>
              </a:rPr>
              <a:t>：取出第五条指令</a:t>
            </a:r>
            <a:r>
              <a:rPr lang="en-US" altLang="zh-CN" sz="2700" dirty="0" smtClean="0">
                <a:latin typeface="宋体" panose="02010600030101010101" pitchFamily="2" charset="-122"/>
                <a:ea typeface="宋体" panose="02010600030101010101" pitchFamily="2" charset="-122"/>
              </a:rPr>
              <a:t>DIV.D F10,F0,F6</a:t>
            </a:r>
            <a:r>
              <a:rPr lang="zh-CN" altLang="en-US" sz="2700" dirty="0" smtClean="0">
                <a:latin typeface="宋体" panose="02010600030101010101" pitchFamily="2" charset="-122"/>
                <a:ea typeface="宋体" panose="02010600030101010101" pitchFamily="2" charset="-122"/>
              </a:rPr>
              <a:t>，第二条指令写结果</a:t>
            </a:r>
            <a:r>
              <a:rPr lang="en-US" altLang="zh-CN" sz="2700" dirty="0" smtClean="0">
                <a:solidFill>
                  <a:srgbClr val="FF0000"/>
                </a:solidFill>
                <a:latin typeface="宋体" panose="02010600030101010101" pitchFamily="2" charset="-122"/>
                <a:ea typeface="宋体" panose="02010600030101010101" pitchFamily="2" charset="-122"/>
              </a:rPr>
              <a:t>M(A2)</a:t>
            </a:r>
            <a:r>
              <a:rPr lang="zh-CN" altLang="en-US" sz="2700" dirty="0" smtClean="0">
                <a:latin typeface="宋体" panose="02010600030101010101" pitchFamily="2" charset="-122"/>
                <a:ea typeface="宋体" panose="02010600030101010101" pitchFamily="2" charset="-122"/>
              </a:rPr>
              <a:t>到寄存器</a:t>
            </a:r>
            <a:r>
              <a:rPr lang="en-US" altLang="zh-CN" sz="2700" dirty="0" smtClean="0">
                <a:latin typeface="宋体" panose="02010600030101010101" pitchFamily="2" charset="-122"/>
                <a:ea typeface="宋体" panose="02010600030101010101" pitchFamily="2" charset="-122"/>
              </a:rPr>
              <a:t>F2</a:t>
            </a:r>
            <a:r>
              <a:rPr lang="zh-CN" altLang="en-US" sz="2700" dirty="0" smtClean="0">
                <a:latin typeface="宋体" panose="02010600030101010101" pitchFamily="2" charset="-122"/>
                <a:ea typeface="宋体" panose="02010600030101010101" pitchFamily="2" charset="-122"/>
              </a:rPr>
              <a:t>，</a:t>
            </a:r>
            <a:r>
              <a:rPr lang="en-US" altLang="zh-CN" sz="2700" dirty="0" smtClean="0">
                <a:latin typeface="宋体" panose="02010600030101010101" pitchFamily="2" charset="-122"/>
                <a:ea typeface="宋体" panose="02010600030101010101" pitchFamily="2" charset="-122"/>
              </a:rPr>
              <a:t>LOAD2</a:t>
            </a:r>
            <a:r>
              <a:rPr lang="zh-CN" altLang="en-US" sz="2700" dirty="0" smtClean="0">
                <a:latin typeface="宋体" panose="02010600030101010101" pitchFamily="2" charset="-122"/>
                <a:ea typeface="宋体" panose="02010600030101010101" pitchFamily="2" charset="-122"/>
              </a:rPr>
              <a:t>清空。保留站中存入第五条指令的待运算操作数和操作</a:t>
            </a:r>
            <a:endParaRPr lang="en-US" altLang="zh-CN" sz="2700" dirty="0" smtClean="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7928199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90466" name="Object 2"/>
          <p:cNvGraphicFramePr>
            <a:graphicFrameLocks/>
          </p:cNvGraphicFramePr>
          <p:nvPr>
            <p:extLst/>
          </p:nvPr>
        </p:nvGraphicFramePr>
        <p:xfrm>
          <a:off x="1550987" y="356254"/>
          <a:ext cx="8774113" cy="4995863"/>
        </p:xfrm>
        <a:graphic>
          <a:graphicData uri="http://schemas.openxmlformats.org/presentationml/2006/ole">
            <mc:AlternateContent xmlns:mc="http://schemas.openxmlformats.org/markup-compatibility/2006">
              <mc:Choice xmlns:v="urn:schemas-microsoft-com:vml" Requires="v">
                <p:oleObj spid="_x0000_s81013" name="工作表" r:id="rId3" imgW="9696456" imgH="6638938" progId="Excel.Sheet.8">
                  <p:embed/>
                </p:oleObj>
              </mc:Choice>
              <mc:Fallback>
                <p:oleObj name="工作表" r:id="rId3" imgW="9696456" imgH="6638938"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0987" y="356254"/>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8835" name="Rectangle 3"/>
          <p:cNvSpPr>
            <a:spLocks noChangeArrowheads="1"/>
          </p:cNvSpPr>
          <p:nvPr/>
        </p:nvSpPr>
        <p:spPr bwMode="auto">
          <a:xfrm>
            <a:off x="1828800" y="5463656"/>
            <a:ext cx="8496300" cy="6588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p>
            <a:pPr eaLnBrk="0" fontAlgn="base" hangingPunct="0">
              <a:lnSpc>
                <a:spcPct val="90000"/>
              </a:lnSpc>
              <a:spcBef>
                <a:spcPct val="30000"/>
              </a:spcBef>
              <a:spcAft>
                <a:spcPct val="0"/>
              </a:spcAft>
              <a:tabLst>
                <a:tab pos="914400" algn="l"/>
                <a:tab pos="1657350" algn="l"/>
                <a:tab pos="3028950" algn="l"/>
              </a:tabLst>
            </a:pPr>
            <a:r>
              <a:rPr lang="zh-CN" altLang="en-US" sz="2400" dirty="0">
                <a:solidFill>
                  <a:srgbClr val="000000"/>
                </a:solidFill>
                <a:latin typeface="宋体" panose="02010600030101010101" pitchFamily="2" charset="-122"/>
                <a:ea typeface="宋体" panose="02010600030101010101" pitchFamily="2" charset="-122"/>
              </a:rPr>
              <a:t>周期</a:t>
            </a:r>
            <a:r>
              <a:rPr lang="en-US" altLang="zh-CN" sz="2400" dirty="0">
                <a:solidFill>
                  <a:srgbClr val="000000"/>
                </a:solidFill>
                <a:latin typeface="宋体" panose="02010600030101010101" pitchFamily="2" charset="-122"/>
                <a:ea typeface="宋体" panose="02010600030101010101" pitchFamily="2" charset="-122"/>
              </a:rPr>
              <a:t>6</a:t>
            </a:r>
            <a:r>
              <a:rPr lang="zh-CN" altLang="en-US" sz="2400" dirty="0">
                <a:solidFill>
                  <a:srgbClr val="000000"/>
                </a:solidFill>
                <a:latin typeface="宋体" panose="02010600030101010101" pitchFamily="2" charset="-122"/>
                <a:ea typeface="宋体" panose="02010600030101010101" pitchFamily="2" charset="-122"/>
              </a:rPr>
              <a:t>：取出第六条指令</a:t>
            </a:r>
            <a:r>
              <a:rPr lang="en-US" altLang="zh-CN" sz="2400" dirty="0">
                <a:solidFill>
                  <a:srgbClr val="000000"/>
                </a:solidFill>
                <a:latin typeface="宋体" panose="02010600030101010101" pitchFamily="2" charset="-122"/>
                <a:ea typeface="宋体" panose="02010600030101010101" pitchFamily="2" charset="-122"/>
              </a:rPr>
              <a:t>ADD.D F6,F8,F2</a:t>
            </a:r>
            <a:r>
              <a:rPr lang="zh-CN" altLang="en-US" sz="2400" dirty="0">
                <a:solidFill>
                  <a:srgbClr val="000000"/>
                </a:solidFill>
                <a:latin typeface="宋体" panose="02010600030101010101" pitchFamily="2" charset="-122"/>
                <a:ea typeface="宋体" panose="02010600030101010101" pitchFamily="2" charset="-122"/>
              </a:rPr>
              <a:t>，第三条和第四条指令开始执行，相关的操作数和操作符被存入保留站</a:t>
            </a:r>
            <a:endParaRPr lang="en-US" altLang="zh-CN" sz="2400"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9104505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88835"/>
                                        </p:tgtEl>
                                        <p:attrNameLst>
                                          <p:attrName>style.visibility</p:attrName>
                                        </p:attrNameLst>
                                      </p:cBhvr>
                                      <p:to>
                                        <p:strVal val="visible"/>
                                      </p:to>
                                    </p:set>
                                    <p:anim calcmode="lin" valueType="num">
                                      <p:cBhvr additive="base">
                                        <p:cTn id="7" dur="500" fill="hold"/>
                                        <p:tgtEl>
                                          <p:spTgt spid="888835"/>
                                        </p:tgtEl>
                                        <p:attrNameLst>
                                          <p:attrName>ppt_x</p:attrName>
                                        </p:attrNameLst>
                                      </p:cBhvr>
                                      <p:tavLst>
                                        <p:tav tm="0">
                                          <p:val>
                                            <p:strVal val="1+#ppt_w/2"/>
                                          </p:val>
                                        </p:tav>
                                        <p:tav tm="100000">
                                          <p:val>
                                            <p:strVal val="#ppt_x"/>
                                          </p:val>
                                        </p:tav>
                                      </p:tavLst>
                                    </p:anim>
                                    <p:anim calcmode="lin" valueType="num">
                                      <p:cBhvr additive="base">
                                        <p:cTn id="8" dur="500" fill="hold"/>
                                        <p:tgtEl>
                                          <p:spTgt spid="8888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8835"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91490" name="Object 2"/>
          <p:cNvGraphicFramePr>
            <a:graphicFrameLocks/>
          </p:cNvGraphicFramePr>
          <p:nvPr>
            <p:extLst/>
          </p:nvPr>
        </p:nvGraphicFramePr>
        <p:xfrm>
          <a:off x="1557264" y="277383"/>
          <a:ext cx="8774113" cy="4995863"/>
        </p:xfrm>
        <a:graphic>
          <a:graphicData uri="http://schemas.openxmlformats.org/presentationml/2006/ole">
            <mc:AlternateContent xmlns:mc="http://schemas.openxmlformats.org/markup-compatibility/2006">
              <mc:Choice xmlns:v="urn:schemas-microsoft-com:vml" Requires="v">
                <p:oleObj spid="_x0000_s82037"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7264" y="277383"/>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9859" name="Rectangle 3"/>
          <p:cNvSpPr>
            <a:spLocks noChangeArrowheads="1"/>
          </p:cNvSpPr>
          <p:nvPr/>
        </p:nvSpPr>
        <p:spPr bwMode="auto">
          <a:xfrm>
            <a:off x="1600127" y="5635952"/>
            <a:ext cx="8731250"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p>
            <a:pPr eaLnBrk="0" fontAlgn="base" hangingPunct="0">
              <a:lnSpc>
                <a:spcPct val="90000"/>
              </a:lnSpc>
              <a:spcBef>
                <a:spcPct val="30000"/>
              </a:spcBef>
              <a:spcAft>
                <a:spcPct val="0"/>
              </a:spcAft>
              <a:tabLst>
                <a:tab pos="914400" algn="l"/>
                <a:tab pos="1657350" algn="l"/>
                <a:tab pos="3028950" algn="l"/>
              </a:tabLst>
            </a:pPr>
            <a:r>
              <a:rPr lang="zh-CN" altLang="en-US" sz="2400">
                <a:solidFill>
                  <a:srgbClr val="000000"/>
                </a:solidFill>
                <a:latin typeface="宋体" panose="02010600030101010101" pitchFamily="2" charset="-122"/>
                <a:ea typeface="宋体" panose="02010600030101010101" pitchFamily="2" charset="-122"/>
              </a:rPr>
              <a:t>周期</a:t>
            </a:r>
            <a:r>
              <a:rPr lang="en-US" altLang="zh-CN" sz="2400">
                <a:solidFill>
                  <a:srgbClr val="000000"/>
                </a:solidFill>
                <a:latin typeface="宋体" panose="02010600030101010101" pitchFamily="2" charset="-122"/>
                <a:ea typeface="宋体" panose="02010600030101010101" pitchFamily="2" charset="-122"/>
              </a:rPr>
              <a:t>7</a:t>
            </a:r>
            <a:r>
              <a:rPr lang="zh-CN" altLang="en-US" sz="2400">
                <a:solidFill>
                  <a:srgbClr val="000000"/>
                </a:solidFill>
                <a:latin typeface="宋体" panose="02010600030101010101" pitchFamily="2" charset="-122"/>
                <a:ea typeface="宋体" panose="02010600030101010101" pitchFamily="2" charset="-122"/>
              </a:rPr>
              <a:t>：第四条指令执行完成，保留站中的第三条指令继续执行</a:t>
            </a:r>
            <a:r>
              <a:rPr lang="zh-CN" altLang="en-US" sz="2400">
                <a:solidFill>
                  <a:srgbClr val="ECD882"/>
                </a:solidFill>
                <a:latin typeface="宋体" panose="02010600030101010101" pitchFamily="2" charset="-122"/>
                <a:ea typeface="宋体" panose="02010600030101010101" pitchFamily="2" charset="-122"/>
              </a:rPr>
              <a:t>。</a:t>
            </a:r>
            <a:r>
              <a:rPr lang="en-US" altLang="zh-CN" sz="2400">
                <a:solidFill>
                  <a:srgbClr val="ECD882"/>
                </a:solidFill>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33728273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89859"/>
                                        </p:tgtEl>
                                        <p:attrNameLst>
                                          <p:attrName>style.visibility</p:attrName>
                                        </p:attrNameLst>
                                      </p:cBhvr>
                                      <p:to>
                                        <p:strVal val="visible"/>
                                      </p:to>
                                    </p:set>
                                    <p:anim calcmode="lin" valueType="num">
                                      <p:cBhvr additive="base">
                                        <p:cTn id="7" dur="500" fill="hold"/>
                                        <p:tgtEl>
                                          <p:spTgt spid="889859"/>
                                        </p:tgtEl>
                                        <p:attrNameLst>
                                          <p:attrName>ppt_x</p:attrName>
                                        </p:attrNameLst>
                                      </p:cBhvr>
                                      <p:tavLst>
                                        <p:tav tm="0">
                                          <p:val>
                                            <p:strVal val="1+#ppt_w/2"/>
                                          </p:val>
                                        </p:tav>
                                        <p:tav tm="100000">
                                          <p:val>
                                            <p:strVal val="#ppt_x"/>
                                          </p:val>
                                        </p:tav>
                                      </p:tavLst>
                                    </p:anim>
                                    <p:anim calcmode="lin" valueType="num">
                                      <p:cBhvr additive="base">
                                        <p:cTn id="8" dur="500" fill="hold"/>
                                        <p:tgtEl>
                                          <p:spTgt spid="8898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9859"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92514" name="Object 2"/>
          <p:cNvGraphicFramePr>
            <a:graphicFrameLocks/>
          </p:cNvGraphicFramePr>
          <p:nvPr>
            <p:extLst/>
          </p:nvPr>
        </p:nvGraphicFramePr>
        <p:xfrm>
          <a:off x="1675606" y="397024"/>
          <a:ext cx="8774113" cy="4995863"/>
        </p:xfrm>
        <a:graphic>
          <a:graphicData uri="http://schemas.openxmlformats.org/presentationml/2006/ole">
            <mc:AlternateContent xmlns:mc="http://schemas.openxmlformats.org/markup-compatibility/2006">
              <mc:Choice xmlns:v="urn:schemas-microsoft-com:vml" Requires="v">
                <p:oleObj spid="_x0000_s83061"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5606" y="397024"/>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587" name="Rectangle 3"/>
          <p:cNvSpPr>
            <a:spLocks noGrp="1" noChangeArrowheads="1"/>
          </p:cNvSpPr>
          <p:nvPr>
            <p:ph type="title"/>
          </p:nvPr>
        </p:nvSpPr>
        <p:spPr>
          <a:xfrm>
            <a:off x="1562101" y="5589588"/>
            <a:ext cx="9001125" cy="677862"/>
          </a:xfrm>
        </p:spPr>
        <p:txBody>
          <a:bodyPr>
            <a:normAutofit fontScale="90000"/>
          </a:bodyPr>
          <a:lstStyle/>
          <a:p>
            <a:pPr eaLnBrk="1" hangingPunct="1">
              <a:defRPr/>
            </a:pPr>
            <a:r>
              <a:rPr lang="en-US" altLang="zh-CN" dirty="0" smtClean="0">
                <a:ea typeface="宋体" pitchFamily="2" charset="-122"/>
              </a:rPr>
              <a:t> </a:t>
            </a:r>
            <a:r>
              <a:rPr lang="zh-CN" altLang="en-US" sz="2700" dirty="0" smtClean="0">
                <a:latin typeface="宋体" panose="02010600030101010101" pitchFamily="2" charset="-122"/>
                <a:ea typeface="宋体" panose="02010600030101010101" pitchFamily="2" charset="-122"/>
              </a:rPr>
              <a:t>周期</a:t>
            </a:r>
            <a:r>
              <a:rPr lang="en-US" altLang="zh-CN" sz="2700" dirty="0" smtClean="0">
                <a:latin typeface="宋体" panose="02010600030101010101" pitchFamily="2" charset="-122"/>
                <a:ea typeface="宋体" panose="02010600030101010101" pitchFamily="2" charset="-122"/>
              </a:rPr>
              <a:t>8</a:t>
            </a:r>
            <a:r>
              <a:rPr lang="zh-CN" altLang="en-US" sz="2700" dirty="0" smtClean="0">
                <a:latin typeface="宋体" panose="02010600030101010101" pitchFamily="2" charset="-122"/>
                <a:ea typeface="宋体" panose="02010600030101010101" pitchFamily="2" charset="-122"/>
              </a:rPr>
              <a:t>：第四条指令写结果</a:t>
            </a:r>
            <a:r>
              <a:rPr lang="en-US" altLang="zh-CN" sz="2700" dirty="0" smtClean="0">
                <a:solidFill>
                  <a:schemeClr val="tx2">
                    <a:lumMod val="40000"/>
                    <a:lumOff val="60000"/>
                  </a:schemeClr>
                </a:solidFill>
                <a:latin typeface="宋体" panose="02010600030101010101" pitchFamily="2" charset="-122"/>
                <a:ea typeface="宋体" panose="02010600030101010101" pitchFamily="2" charset="-122"/>
              </a:rPr>
              <a:t>M-M</a:t>
            </a:r>
            <a:r>
              <a:rPr lang="zh-CN" altLang="en-US" sz="2700" dirty="0" smtClean="0">
                <a:latin typeface="宋体" panose="02010600030101010101" pitchFamily="2" charset="-122"/>
                <a:ea typeface="宋体" panose="02010600030101010101" pitchFamily="2" charset="-122"/>
              </a:rPr>
              <a:t>到寄存器</a:t>
            </a:r>
            <a:r>
              <a:rPr lang="en-US" altLang="zh-CN" sz="2700" dirty="0" smtClean="0">
                <a:latin typeface="宋体" panose="02010600030101010101" pitchFamily="2" charset="-122"/>
                <a:ea typeface="宋体" panose="02010600030101010101" pitchFamily="2" charset="-122"/>
              </a:rPr>
              <a:t>F8</a:t>
            </a:r>
            <a:r>
              <a:rPr lang="zh-CN" altLang="en-US" sz="2700" dirty="0" smtClean="0">
                <a:latin typeface="宋体" panose="02010600030101010101" pitchFamily="2" charset="-122"/>
                <a:ea typeface="宋体" panose="02010600030101010101" pitchFamily="2" charset="-122"/>
              </a:rPr>
              <a:t>，保留站中存放第四条指令的位置清空，第三条指令继续执行。</a:t>
            </a:r>
            <a:endParaRPr lang="en-US" altLang="zh-CN" sz="2700" dirty="0" smtClean="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952553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93538" name="Object 2"/>
          <p:cNvGraphicFramePr>
            <a:graphicFrameLocks/>
          </p:cNvGraphicFramePr>
          <p:nvPr>
            <p:extLst/>
          </p:nvPr>
        </p:nvGraphicFramePr>
        <p:xfrm>
          <a:off x="1703388" y="405570"/>
          <a:ext cx="8774113" cy="4995863"/>
        </p:xfrm>
        <a:graphic>
          <a:graphicData uri="http://schemas.openxmlformats.org/presentationml/2006/ole">
            <mc:AlternateContent xmlns:mc="http://schemas.openxmlformats.org/markup-compatibility/2006">
              <mc:Choice xmlns:v="urn:schemas-microsoft-com:vml" Requires="v">
                <p:oleObj spid="_x0000_s84085"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8" y="405570"/>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3539" name="Rectangle 3"/>
          <p:cNvSpPr>
            <a:spLocks noGrp="1" noChangeArrowheads="1"/>
          </p:cNvSpPr>
          <p:nvPr>
            <p:ph type="title"/>
          </p:nvPr>
        </p:nvSpPr>
        <p:spPr>
          <a:xfrm>
            <a:off x="1703388" y="5805488"/>
            <a:ext cx="8496300" cy="368300"/>
          </a:xfrm>
        </p:spPr>
        <p:txBody>
          <a:bodyPr>
            <a:normAutofit fontScale="90000"/>
          </a:bodyPr>
          <a:lstStyle/>
          <a:p>
            <a:pPr eaLnBrk="1" hangingPunct="1"/>
            <a:r>
              <a:rPr lang="en-US" altLang="zh-CN" dirty="0" smtClean="0">
                <a:ea typeface="宋体" charset="-122"/>
              </a:rPr>
              <a:t> </a:t>
            </a:r>
            <a:r>
              <a:rPr lang="zh-CN" altLang="en-US" sz="2700" dirty="0" smtClean="0">
                <a:latin typeface="宋体" panose="02010600030101010101" pitchFamily="2" charset="-122"/>
                <a:ea typeface="宋体" panose="02010600030101010101" pitchFamily="2" charset="-122"/>
              </a:rPr>
              <a:t>周期</a:t>
            </a:r>
            <a:r>
              <a:rPr lang="en-US" altLang="zh-CN" sz="2700" dirty="0" smtClean="0">
                <a:latin typeface="宋体" panose="02010600030101010101" pitchFamily="2" charset="-122"/>
                <a:ea typeface="宋体" panose="02010600030101010101" pitchFamily="2" charset="-122"/>
              </a:rPr>
              <a:t>9</a:t>
            </a:r>
            <a:r>
              <a:rPr lang="zh-CN" altLang="en-US" sz="2700" dirty="0" smtClean="0">
                <a:latin typeface="宋体" panose="02010600030101010101" pitchFamily="2" charset="-122"/>
                <a:ea typeface="宋体" panose="02010600030101010101" pitchFamily="2" charset="-122"/>
              </a:rPr>
              <a:t>：第六条指令开始执行。第三条指令继续执行。</a:t>
            </a:r>
            <a:endParaRPr lang="en-US" altLang="zh-CN" sz="2700" dirty="0" smtClean="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5004503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94562" name="Object 2"/>
          <p:cNvGraphicFramePr>
            <a:graphicFrameLocks/>
          </p:cNvGraphicFramePr>
          <p:nvPr>
            <p:extLst/>
          </p:nvPr>
        </p:nvGraphicFramePr>
        <p:xfrm>
          <a:off x="1689893" y="311566"/>
          <a:ext cx="8774113" cy="4995863"/>
        </p:xfrm>
        <a:graphic>
          <a:graphicData uri="http://schemas.openxmlformats.org/presentationml/2006/ole">
            <mc:AlternateContent xmlns:mc="http://schemas.openxmlformats.org/markup-compatibility/2006">
              <mc:Choice xmlns:v="urn:schemas-microsoft-com:vml" Requires="v">
                <p:oleObj spid="_x0000_s85109"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9893" y="311566"/>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2931" name="Rectangle 3"/>
          <p:cNvSpPr>
            <a:spLocks noChangeArrowheads="1"/>
          </p:cNvSpPr>
          <p:nvPr/>
        </p:nvSpPr>
        <p:spPr bwMode="auto">
          <a:xfrm>
            <a:off x="1828799" y="5576130"/>
            <a:ext cx="8496300"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p>
            <a:pPr eaLnBrk="0" fontAlgn="base" hangingPunct="0">
              <a:lnSpc>
                <a:spcPct val="90000"/>
              </a:lnSpc>
              <a:spcBef>
                <a:spcPct val="30000"/>
              </a:spcBef>
              <a:spcAft>
                <a:spcPct val="0"/>
              </a:spcAft>
              <a:tabLst>
                <a:tab pos="914400" algn="l"/>
                <a:tab pos="1657350" algn="l"/>
                <a:tab pos="3028950" algn="l"/>
              </a:tabLst>
            </a:pPr>
            <a:r>
              <a:rPr lang="zh-CN" altLang="en-US" sz="2400" dirty="0">
                <a:solidFill>
                  <a:srgbClr val="000000"/>
                </a:solidFill>
                <a:latin typeface="宋体" panose="02010600030101010101" pitchFamily="2" charset="-122"/>
                <a:ea typeface="宋体" panose="02010600030101010101" pitchFamily="2" charset="-122"/>
              </a:rPr>
              <a:t>周期</a:t>
            </a:r>
            <a:r>
              <a:rPr lang="en-US" altLang="zh-CN" sz="2400" dirty="0">
                <a:solidFill>
                  <a:srgbClr val="000000"/>
                </a:solidFill>
                <a:latin typeface="宋体" panose="02010600030101010101" pitchFamily="2" charset="-122"/>
                <a:ea typeface="宋体" panose="02010600030101010101" pitchFamily="2" charset="-122"/>
              </a:rPr>
              <a:t>10</a:t>
            </a:r>
            <a:r>
              <a:rPr lang="zh-CN" altLang="en-US" sz="2400" dirty="0">
                <a:solidFill>
                  <a:srgbClr val="000000"/>
                </a:solidFill>
                <a:latin typeface="宋体" panose="02010600030101010101" pitchFamily="2" charset="-122"/>
                <a:ea typeface="宋体" panose="02010600030101010101" pitchFamily="2" charset="-122"/>
              </a:rPr>
              <a:t>：第六条指令执行完成，第三条指令继续执行。</a:t>
            </a:r>
            <a:r>
              <a:rPr lang="en-US" altLang="zh-CN" sz="2400" dirty="0">
                <a:solidFill>
                  <a:srgbClr val="000000"/>
                </a:solidFill>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8049789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92931"/>
                                        </p:tgtEl>
                                        <p:attrNameLst>
                                          <p:attrName>style.visibility</p:attrName>
                                        </p:attrNameLst>
                                      </p:cBhvr>
                                      <p:to>
                                        <p:strVal val="visible"/>
                                      </p:to>
                                    </p:set>
                                    <p:anim calcmode="lin" valueType="num">
                                      <p:cBhvr additive="base">
                                        <p:cTn id="7" dur="500" fill="hold"/>
                                        <p:tgtEl>
                                          <p:spTgt spid="892931"/>
                                        </p:tgtEl>
                                        <p:attrNameLst>
                                          <p:attrName>ppt_x</p:attrName>
                                        </p:attrNameLst>
                                      </p:cBhvr>
                                      <p:tavLst>
                                        <p:tav tm="0">
                                          <p:val>
                                            <p:strVal val="1+#ppt_w/2"/>
                                          </p:val>
                                        </p:tav>
                                        <p:tav tm="100000">
                                          <p:val>
                                            <p:strVal val="#ppt_x"/>
                                          </p:val>
                                        </p:tav>
                                      </p:tavLst>
                                    </p:anim>
                                    <p:anim calcmode="lin" valueType="num">
                                      <p:cBhvr additive="base">
                                        <p:cTn id="8" dur="500" fill="hold"/>
                                        <p:tgtEl>
                                          <p:spTgt spid="8929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2931"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95586" name="Object 2"/>
          <p:cNvGraphicFramePr>
            <a:graphicFrameLocks/>
          </p:cNvGraphicFramePr>
          <p:nvPr>
            <p:extLst/>
          </p:nvPr>
        </p:nvGraphicFramePr>
        <p:xfrm>
          <a:off x="1703388" y="247769"/>
          <a:ext cx="8964612" cy="5761038"/>
        </p:xfrm>
        <a:graphic>
          <a:graphicData uri="http://schemas.openxmlformats.org/presentationml/2006/ole">
            <mc:AlternateContent xmlns:mc="http://schemas.openxmlformats.org/markup-compatibility/2006">
              <mc:Choice xmlns:v="urn:schemas-microsoft-com:vml" Requires="v">
                <p:oleObj spid="_x0000_s86133"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8" y="247769"/>
                        <a:ext cx="8964612" cy="57610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3955" name="Rectangle 3"/>
          <p:cNvSpPr>
            <a:spLocks noChangeArrowheads="1"/>
          </p:cNvSpPr>
          <p:nvPr/>
        </p:nvSpPr>
        <p:spPr bwMode="auto">
          <a:xfrm>
            <a:off x="1613694" y="5935114"/>
            <a:ext cx="9144000" cy="692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p>
            <a:pPr eaLnBrk="0" fontAlgn="base" hangingPunct="0">
              <a:lnSpc>
                <a:spcPct val="90000"/>
              </a:lnSpc>
              <a:spcBef>
                <a:spcPct val="30000"/>
              </a:spcBef>
              <a:spcAft>
                <a:spcPct val="0"/>
              </a:spcAft>
              <a:tabLst>
                <a:tab pos="914400" algn="l"/>
                <a:tab pos="1657350" algn="l"/>
                <a:tab pos="3028950" algn="l"/>
              </a:tabLst>
            </a:pPr>
            <a:r>
              <a:rPr lang="zh-CN" altLang="en-US" sz="2400" dirty="0">
                <a:solidFill>
                  <a:srgbClr val="000000"/>
                </a:solidFill>
                <a:latin typeface="宋体" panose="02010600030101010101" pitchFamily="2" charset="-122"/>
                <a:ea typeface="宋体" panose="02010600030101010101" pitchFamily="2" charset="-122"/>
              </a:rPr>
              <a:t>周期</a:t>
            </a:r>
            <a:r>
              <a:rPr lang="en-US" altLang="zh-CN" sz="2400" dirty="0">
                <a:solidFill>
                  <a:srgbClr val="000000"/>
                </a:solidFill>
                <a:latin typeface="宋体" panose="02010600030101010101" pitchFamily="2" charset="-122"/>
                <a:ea typeface="宋体" panose="02010600030101010101" pitchFamily="2" charset="-122"/>
              </a:rPr>
              <a:t>11</a:t>
            </a:r>
            <a:r>
              <a:rPr lang="zh-CN" altLang="en-US" sz="2400" dirty="0">
                <a:solidFill>
                  <a:srgbClr val="000000"/>
                </a:solidFill>
                <a:latin typeface="宋体" panose="02010600030101010101" pitchFamily="2" charset="-122"/>
                <a:ea typeface="宋体" panose="02010600030101010101" pitchFamily="2" charset="-122"/>
              </a:rPr>
              <a:t>：第六条指令写结果</a:t>
            </a:r>
            <a:r>
              <a:rPr lang="en-US" altLang="zh-CN" sz="2400" dirty="0">
                <a:solidFill>
                  <a:srgbClr val="00B050"/>
                </a:solidFill>
                <a:latin typeface="宋体" panose="02010600030101010101" pitchFamily="2" charset="-122"/>
                <a:ea typeface="宋体" panose="02010600030101010101" pitchFamily="2" charset="-122"/>
              </a:rPr>
              <a:t>M-M+M(A2)</a:t>
            </a:r>
            <a:r>
              <a:rPr lang="zh-CN" altLang="en-US" sz="2400" dirty="0">
                <a:solidFill>
                  <a:srgbClr val="000000"/>
                </a:solidFill>
                <a:latin typeface="宋体" panose="02010600030101010101" pitchFamily="2" charset="-122"/>
                <a:ea typeface="宋体" panose="02010600030101010101" pitchFamily="2" charset="-122"/>
              </a:rPr>
              <a:t>到寄存器</a:t>
            </a:r>
            <a:r>
              <a:rPr lang="en-US" altLang="zh-CN" sz="2400" dirty="0">
                <a:solidFill>
                  <a:srgbClr val="000000"/>
                </a:solidFill>
                <a:latin typeface="宋体" panose="02010600030101010101" pitchFamily="2" charset="-122"/>
                <a:ea typeface="宋体" panose="02010600030101010101" pitchFamily="2" charset="-122"/>
              </a:rPr>
              <a:t>F6</a:t>
            </a:r>
            <a:r>
              <a:rPr lang="zh-CN" altLang="en-US" sz="2400" dirty="0">
                <a:solidFill>
                  <a:srgbClr val="000000"/>
                </a:solidFill>
                <a:latin typeface="宋体" panose="02010600030101010101" pitchFamily="2" charset="-122"/>
                <a:ea typeface="宋体" panose="02010600030101010101" pitchFamily="2" charset="-122"/>
              </a:rPr>
              <a:t>中，清空保留站中原来存放第六条指令的位置。第三条指令继续执行。</a:t>
            </a:r>
            <a:r>
              <a:rPr lang="en-US" altLang="zh-CN" sz="2400" dirty="0">
                <a:solidFill>
                  <a:srgbClr val="000000"/>
                </a:solidFill>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41816421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93955"/>
                                        </p:tgtEl>
                                        <p:attrNameLst>
                                          <p:attrName>style.visibility</p:attrName>
                                        </p:attrNameLst>
                                      </p:cBhvr>
                                      <p:to>
                                        <p:strVal val="visible"/>
                                      </p:to>
                                    </p:set>
                                    <p:anim calcmode="lin" valueType="num">
                                      <p:cBhvr additive="base">
                                        <p:cTn id="7" dur="500" fill="hold"/>
                                        <p:tgtEl>
                                          <p:spTgt spid="893955"/>
                                        </p:tgtEl>
                                        <p:attrNameLst>
                                          <p:attrName>ppt_x</p:attrName>
                                        </p:attrNameLst>
                                      </p:cBhvr>
                                      <p:tavLst>
                                        <p:tav tm="0">
                                          <p:val>
                                            <p:strVal val="1+#ppt_w/2"/>
                                          </p:val>
                                        </p:tav>
                                        <p:tav tm="100000">
                                          <p:val>
                                            <p:strVal val="#ppt_x"/>
                                          </p:val>
                                        </p:tav>
                                      </p:tavLst>
                                    </p:anim>
                                    <p:anim calcmode="lin" valueType="num">
                                      <p:cBhvr additive="base">
                                        <p:cTn id="8" dur="500" fill="hold"/>
                                        <p:tgtEl>
                                          <p:spTgt spid="8939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3955"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96610" name="Object 2"/>
          <p:cNvGraphicFramePr>
            <a:graphicFrameLocks/>
          </p:cNvGraphicFramePr>
          <p:nvPr>
            <p:extLst/>
          </p:nvPr>
        </p:nvGraphicFramePr>
        <p:xfrm>
          <a:off x="1703388" y="436563"/>
          <a:ext cx="8774113" cy="4995863"/>
        </p:xfrm>
        <a:graphic>
          <a:graphicData uri="http://schemas.openxmlformats.org/presentationml/2006/ole">
            <mc:AlternateContent xmlns:mc="http://schemas.openxmlformats.org/markup-compatibility/2006">
              <mc:Choice xmlns:v="urn:schemas-microsoft-com:vml" Requires="v">
                <p:oleObj spid="_x0000_s87157"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8" y="436563"/>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6611" name="Rectangle 3"/>
          <p:cNvSpPr>
            <a:spLocks noChangeArrowheads="1"/>
          </p:cNvSpPr>
          <p:nvPr/>
        </p:nvSpPr>
        <p:spPr bwMode="auto">
          <a:xfrm>
            <a:off x="2146300" y="93663"/>
            <a:ext cx="7162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fontAlgn="base">
              <a:spcBef>
                <a:spcPct val="0"/>
              </a:spcBef>
              <a:spcAft>
                <a:spcPct val="0"/>
              </a:spcAft>
            </a:pPr>
            <a:endParaRPr kumimoji="1" lang="zh-CN" altLang="zh-CN" sz="2000">
              <a:solidFill>
                <a:srgbClr val="4F56AD"/>
              </a:solidFill>
              <a:latin typeface="Tahoma"/>
              <a:ea typeface="宋体" charset="-122"/>
            </a:endParaRPr>
          </a:p>
        </p:txBody>
      </p:sp>
      <p:sp>
        <p:nvSpPr>
          <p:cNvPr id="196612" name="Rectangle 4"/>
          <p:cNvSpPr>
            <a:spLocks noGrp="1" noChangeArrowheads="1"/>
          </p:cNvSpPr>
          <p:nvPr>
            <p:ph type="title"/>
          </p:nvPr>
        </p:nvSpPr>
        <p:spPr>
          <a:xfrm>
            <a:off x="1976852" y="5775326"/>
            <a:ext cx="8774113" cy="368300"/>
          </a:xfrm>
        </p:spPr>
        <p:txBody>
          <a:bodyPr>
            <a:noAutofit/>
          </a:bodyPr>
          <a:lstStyle/>
          <a:p>
            <a:pPr eaLnBrk="1" hangingPunct="1"/>
            <a:r>
              <a:rPr lang="zh-CN" altLang="en-US" sz="2400" dirty="0" smtClean="0">
                <a:latin typeface="宋体" panose="02010600030101010101" pitchFamily="2" charset="-122"/>
                <a:ea typeface="宋体" panose="02010600030101010101" pitchFamily="2" charset="-122"/>
              </a:rPr>
              <a:t>周期</a:t>
            </a:r>
            <a:r>
              <a:rPr lang="en-US" altLang="zh-CN" sz="2400" dirty="0" smtClean="0">
                <a:latin typeface="宋体" panose="02010600030101010101" pitchFamily="2" charset="-122"/>
                <a:ea typeface="宋体" panose="02010600030101010101" pitchFamily="2" charset="-122"/>
              </a:rPr>
              <a:t>12~15</a:t>
            </a:r>
            <a:r>
              <a:rPr lang="zh-CN" altLang="en-US" sz="2400" dirty="0" smtClean="0">
                <a:latin typeface="宋体" panose="02010600030101010101" pitchFamily="2" charset="-122"/>
                <a:ea typeface="宋体" panose="02010600030101010101" pitchFamily="2" charset="-122"/>
              </a:rPr>
              <a:t>：第三条指令继续执行，直到完成。</a:t>
            </a:r>
            <a:endParaRPr lang="en-US" altLang="zh-CN" sz="2400" dirty="0" smtClean="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8645710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97634" name="Object 2"/>
          <p:cNvGraphicFramePr>
            <a:graphicFrameLocks/>
          </p:cNvGraphicFramePr>
          <p:nvPr>
            <p:extLst/>
          </p:nvPr>
        </p:nvGraphicFramePr>
        <p:xfrm>
          <a:off x="1377803" y="619215"/>
          <a:ext cx="8774113" cy="4995863"/>
        </p:xfrm>
        <a:graphic>
          <a:graphicData uri="http://schemas.openxmlformats.org/presentationml/2006/ole">
            <mc:AlternateContent xmlns:mc="http://schemas.openxmlformats.org/markup-compatibility/2006">
              <mc:Choice xmlns:v="urn:schemas-microsoft-com:vml" Requires="v">
                <p:oleObj spid="_x0000_s88181"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7803" y="619215"/>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831130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98658" name="Object 2"/>
          <p:cNvGraphicFramePr>
            <a:graphicFrameLocks/>
          </p:cNvGraphicFramePr>
          <p:nvPr>
            <p:extLst/>
          </p:nvPr>
        </p:nvGraphicFramePr>
        <p:xfrm>
          <a:off x="1335074" y="516666"/>
          <a:ext cx="8774113" cy="4995863"/>
        </p:xfrm>
        <a:graphic>
          <a:graphicData uri="http://schemas.openxmlformats.org/presentationml/2006/ole">
            <mc:AlternateContent xmlns:mc="http://schemas.openxmlformats.org/markup-compatibility/2006">
              <mc:Choice xmlns:v="urn:schemas-microsoft-com:vml" Requires="v">
                <p:oleObj spid="_x0000_s89205"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5074" y="516666"/>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057068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199682" name="Object 2"/>
          <p:cNvGraphicFramePr>
            <a:graphicFrameLocks/>
          </p:cNvGraphicFramePr>
          <p:nvPr>
            <p:extLst/>
          </p:nvPr>
        </p:nvGraphicFramePr>
        <p:xfrm>
          <a:off x="1497444" y="533757"/>
          <a:ext cx="8774113" cy="4995863"/>
        </p:xfrm>
        <a:graphic>
          <a:graphicData uri="http://schemas.openxmlformats.org/presentationml/2006/ole">
            <mc:AlternateContent xmlns:mc="http://schemas.openxmlformats.org/markup-compatibility/2006">
              <mc:Choice xmlns:v="urn:schemas-microsoft-com:vml" Requires="v">
                <p:oleObj spid="_x0000_s90229"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7444" y="533757"/>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845025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200706" name="Object 2"/>
          <p:cNvGraphicFramePr>
            <a:graphicFrameLocks/>
          </p:cNvGraphicFramePr>
          <p:nvPr/>
        </p:nvGraphicFramePr>
        <p:xfrm>
          <a:off x="1736726" y="952501"/>
          <a:ext cx="8774113" cy="4995863"/>
        </p:xfrm>
        <a:graphic>
          <a:graphicData uri="http://schemas.openxmlformats.org/presentationml/2006/ole">
            <mc:AlternateContent xmlns:mc="http://schemas.openxmlformats.org/markup-compatibility/2006">
              <mc:Choice xmlns:v="urn:schemas-microsoft-com:vml" Requires="v">
                <p:oleObj spid="_x0000_s91253" name="Worksheet" r:id="rId3" imgW="9696901" imgH="6639166" progId="Excel.Sheet.8">
                  <p:embed/>
                </p:oleObj>
              </mc:Choice>
              <mc:Fallback>
                <p:oleObj name="Worksheet" r:id="rId3" imgW="9696901" imgH="6639166" progId="Excel.Shee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6" y="952501"/>
                        <a:ext cx="8774113" cy="4995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0707" name="Rectangle 3"/>
          <p:cNvSpPr>
            <a:spLocks noGrp="1" noChangeArrowheads="1"/>
          </p:cNvSpPr>
          <p:nvPr>
            <p:ph type="title"/>
          </p:nvPr>
        </p:nvSpPr>
        <p:spPr>
          <a:xfrm>
            <a:off x="1659732" y="5780667"/>
            <a:ext cx="8928100" cy="606425"/>
          </a:xfrm>
        </p:spPr>
        <p:txBody>
          <a:bodyPr>
            <a:noAutofit/>
          </a:bodyPr>
          <a:lstStyle/>
          <a:p>
            <a:pPr eaLnBrk="1" hangingPunct="1"/>
            <a:r>
              <a:rPr lang="zh-CN" altLang="en-US" sz="2400" dirty="0" smtClean="0">
                <a:latin typeface="宋体" panose="02010600030101010101" pitchFamily="2" charset="-122"/>
                <a:ea typeface="宋体" panose="02010600030101010101" pitchFamily="2" charset="-122"/>
              </a:rPr>
              <a:t>周期</a:t>
            </a:r>
            <a:r>
              <a:rPr lang="en-US" altLang="zh-CN" sz="2400" dirty="0" smtClean="0">
                <a:latin typeface="宋体" panose="02010600030101010101" pitchFamily="2" charset="-122"/>
                <a:ea typeface="宋体" panose="02010600030101010101" pitchFamily="2" charset="-122"/>
              </a:rPr>
              <a:t>16</a:t>
            </a:r>
            <a:r>
              <a:rPr lang="zh-CN" altLang="en-US" sz="2400" dirty="0" smtClean="0">
                <a:latin typeface="宋体" panose="02010600030101010101" pitchFamily="2" charset="-122"/>
                <a:ea typeface="宋体" panose="02010600030101010101" pitchFamily="2" charset="-122"/>
              </a:rPr>
              <a:t>：第三条指令写结果</a:t>
            </a:r>
            <a:r>
              <a:rPr lang="en-US" altLang="zh-CN" sz="2400" dirty="0" smtClean="0">
                <a:latin typeface="宋体" panose="02010600030101010101" pitchFamily="2" charset="-122"/>
                <a:ea typeface="宋体" panose="02010600030101010101" pitchFamily="2" charset="-122"/>
              </a:rPr>
              <a:t>M*F4</a:t>
            </a:r>
            <a:r>
              <a:rPr lang="zh-CN" altLang="en-US" sz="2400" dirty="0" smtClean="0">
                <a:latin typeface="宋体" panose="02010600030101010101" pitchFamily="2" charset="-122"/>
                <a:ea typeface="宋体" panose="02010600030101010101" pitchFamily="2" charset="-122"/>
              </a:rPr>
              <a:t>到寄存器</a:t>
            </a:r>
            <a:r>
              <a:rPr lang="en-US" altLang="zh-CN" sz="2400" dirty="0" smtClean="0">
                <a:latin typeface="宋体" panose="02010600030101010101" pitchFamily="2" charset="-122"/>
                <a:ea typeface="宋体" panose="02010600030101010101" pitchFamily="2" charset="-122"/>
              </a:rPr>
              <a:t>F0</a:t>
            </a:r>
            <a:r>
              <a:rPr lang="zh-CN" altLang="en-US" sz="2400" dirty="0" smtClean="0">
                <a:latin typeface="宋体" panose="02010600030101010101" pitchFamily="2" charset="-122"/>
                <a:ea typeface="宋体" panose="02010600030101010101" pitchFamily="2" charset="-122"/>
              </a:rPr>
              <a:t>，保留站中原来存放第三条指令的位置清空。</a:t>
            </a:r>
            <a:endParaRPr lang="en-US" altLang="zh-CN" sz="2400" dirty="0" smtClean="0">
              <a:latin typeface="宋体" panose="02010600030101010101" pitchFamily="2" charset="-122"/>
              <a:ea typeface="宋体" panose="02010600030101010101" pitchFamily="2" charset="-122"/>
            </a:endParaRPr>
          </a:p>
        </p:txBody>
      </p:sp>
      <p:pic>
        <p:nvPicPr>
          <p:cNvPr id="200708"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9875" y="115889"/>
            <a:ext cx="6408738"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直接箭头连接符 5"/>
          <p:cNvCxnSpPr/>
          <p:nvPr/>
        </p:nvCxnSpPr>
        <p:spPr bwMode="auto">
          <a:xfrm>
            <a:off x="4800600" y="1557338"/>
            <a:ext cx="0" cy="1295400"/>
          </a:xfrm>
          <a:prstGeom prst="straightConnector1">
            <a:avLst/>
          </a:prstGeom>
          <a:ln>
            <a:solidFill>
              <a:srgbClr val="E24C05"/>
            </a:solidFill>
            <a:headEnd type="none" w="med" len="med"/>
            <a:tailEnd type="arrow"/>
          </a:ln>
          <a:extLst/>
        </p:spPr>
        <p:style>
          <a:lnRef idx="2">
            <a:schemeClr val="dk1"/>
          </a:lnRef>
          <a:fillRef idx="0">
            <a:schemeClr val="dk1"/>
          </a:fillRef>
          <a:effectRef idx="1">
            <a:schemeClr val="dk1"/>
          </a:effectRef>
          <a:fontRef idx="minor">
            <a:schemeClr val="tx1"/>
          </a:fontRef>
        </p:style>
      </p:cxnSp>
      <p:cxnSp>
        <p:nvCxnSpPr>
          <p:cNvPr id="10" name="直接箭头连接符 9"/>
          <p:cNvCxnSpPr/>
          <p:nvPr/>
        </p:nvCxnSpPr>
        <p:spPr bwMode="auto">
          <a:xfrm>
            <a:off x="6456363" y="1557338"/>
            <a:ext cx="0" cy="1295400"/>
          </a:xfrm>
          <a:prstGeom prst="straightConnector1">
            <a:avLst/>
          </a:prstGeom>
          <a:ln>
            <a:solidFill>
              <a:srgbClr val="E24C05"/>
            </a:solidFill>
            <a:headEnd type="none" w="med" len="med"/>
            <a:tailEnd type="arrow"/>
          </a:ln>
          <a:extLst/>
        </p:spPr>
        <p:style>
          <a:lnRef idx="2">
            <a:schemeClr val="dk1"/>
          </a:lnRef>
          <a:fillRef idx="0">
            <a:schemeClr val="dk1"/>
          </a:fillRef>
          <a:effectRef idx="1">
            <a:schemeClr val="dk1"/>
          </a:effectRef>
          <a:fontRef idx="minor">
            <a:schemeClr val="tx1"/>
          </a:fontRef>
        </p:style>
      </p:cxnSp>
      <p:cxnSp>
        <p:nvCxnSpPr>
          <p:cNvPr id="12" name="直接箭头连接符 11"/>
          <p:cNvCxnSpPr/>
          <p:nvPr/>
        </p:nvCxnSpPr>
        <p:spPr bwMode="auto">
          <a:xfrm flipV="1">
            <a:off x="4800600" y="620714"/>
            <a:ext cx="0" cy="936625"/>
          </a:xfrm>
          <a:prstGeom prst="straightConnector1">
            <a:avLst/>
          </a:prstGeom>
          <a:ln>
            <a:solidFill>
              <a:srgbClr val="339933"/>
            </a:solidFill>
            <a:headEnd type="arrow"/>
            <a:tailEnd type="arrow"/>
          </a:ln>
          <a:extLst/>
        </p:spPr>
        <p:style>
          <a:lnRef idx="3">
            <a:schemeClr val="accent1"/>
          </a:lnRef>
          <a:fillRef idx="0">
            <a:schemeClr val="accent1"/>
          </a:fillRef>
          <a:effectRef idx="2">
            <a:schemeClr val="accent1"/>
          </a:effectRef>
          <a:fontRef idx="minor">
            <a:schemeClr val="tx1"/>
          </a:fontRef>
        </p:style>
      </p:cxnSp>
      <p:cxnSp>
        <p:nvCxnSpPr>
          <p:cNvPr id="14" name="直接箭头连接符 13"/>
          <p:cNvCxnSpPr/>
          <p:nvPr/>
        </p:nvCxnSpPr>
        <p:spPr bwMode="auto">
          <a:xfrm flipV="1">
            <a:off x="6456364" y="620714"/>
            <a:ext cx="719137" cy="936625"/>
          </a:xfrm>
          <a:prstGeom prst="straightConnector1">
            <a:avLst/>
          </a:prstGeom>
          <a:ln>
            <a:solidFill>
              <a:srgbClr val="339933"/>
            </a:solidFill>
            <a:headEnd type="arrow"/>
            <a:tailEnd type="arrow"/>
          </a:ln>
          <a:extLst/>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473048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descr="Rectangle: Click to edit Master text styles&#10;Second level&#10;Third level&#10;Fourth level&#10;Fifth level"/>
          <p:cNvSpPr>
            <a:spLocks noGrp="1"/>
          </p:cNvSpPr>
          <p:nvPr>
            <p:ph idx="1"/>
          </p:nvPr>
        </p:nvSpPr>
        <p:spPr>
          <a:xfrm>
            <a:off x="984573" y="608257"/>
            <a:ext cx="9090917" cy="4953000"/>
          </a:xfrm>
        </p:spPr>
        <p:txBody>
          <a:bodyPr>
            <a:normAutofit/>
          </a:bodyPr>
          <a:lstStyle/>
          <a:p>
            <a:pPr marL="0" indent="0">
              <a:buNone/>
              <a:defRPr/>
            </a:pPr>
            <a:r>
              <a:rPr lang="zh-CN" altLang="en-US" sz="2400" dirty="0" smtClean="0">
                <a:solidFill>
                  <a:srgbClr val="000000"/>
                </a:solidFill>
                <a:latin typeface="宋体" panose="02010600030101010101" pitchFamily="2" charset="-122"/>
                <a:ea typeface="宋体" panose="02010600030101010101" pitchFamily="2" charset="-122"/>
              </a:rPr>
              <a:t>周期</a:t>
            </a:r>
            <a:r>
              <a:rPr lang="en-US" altLang="zh-CN" sz="2400" dirty="0" smtClean="0">
                <a:solidFill>
                  <a:srgbClr val="000000"/>
                </a:solidFill>
                <a:latin typeface="宋体" panose="02010600030101010101" pitchFamily="2" charset="-122"/>
                <a:ea typeface="宋体" panose="02010600030101010101" pitchFamily="2" charset="-122"/>
              </a:rPr>
              <a:t>17~56</a:t>
            </a:r>
            <a:r>
              <a:rPr lang="zh-CN" altLang="en-US" sz="2400" dirty="0" smtClean="0">
                <a:solidFill>
                  <a:srgbClr val="000000"/>
                </a:solidFill>
                <a:latin typeface="宋体" panose="02010600030101010101" pitchFamily="2" charset="-122"/>
                <a:ea typeface="宋体" panose="02010600030101010101" pitchFamily="2" charset="-122"/>
              </a:rPr>
              <a:t>：第五条指令开始执行，直到结束；</a:t>
            </a:r>
          </a:p>
          <a:p>
            <a:pPr marL="0" indent="0">
              <a:buNone/>
              <a:defRPr/>
            </a:pPr>
            <a:r>
              <a:rPr lang="zh-CN" altLang="en-US" sz="2400" dirty="0" smtClean="0">
                <a:solidFill>
                  <a:srgbClr val="000000"/>
                </a:solidFill>
                <a:latin typeface="宋体" panose="02010600030101010101" pitchFamily="2" charset="-122"/>
                <a:ea typeface="宋体" panose="02010600030101010101" pitchFamily="2" charset="-122"/>
              </a:rPr>
              <a:t>周期</a:t>
            </a:r>
            <a:r>
              <a:rPr lang="en-US" altLang="zh-CN" sz="2400" dirty="0" smtClean="0">
                <a:solidFill>
                  <a:srgbClr val="000000"/>
                </a:solidFill>
                <a:latin typeface="宋体" panose="02010600030101010101" pitchFamily="2" charset="-122"/>
                <a:ea typeface="宋体" panose="02010600030101010101" pitchFamily="2" charset="-122"/>
              </a:rPr>
              <a:t>57</a:t>
            </a:r>
            <a:r>
              <a:rPr lang="zh-CN" altLang="en-US" sz="2400" dirty="0" smtClean="0">
                <a:solidFill>
                  <a:srgbClr val="000000"/>
                </a:solidFill>
                <a:latin typeface="宋体" panose="02010600030101010101" pitchFamily="2" charset="-122"/>
                <a:ea typeface="宋体" panose="02010600030101010101" pitchFamily="2" charset="-122"/>
              </a:rPr>
              <a:t>：第五条指令执行结束后写结果</a:t>
            </a:r>
            <a:r>
              <a:rPr lang="en-US" altLang="zh-CN" sz="2400" dirty="0" smtClean="0">
                <a:solidFill>
                  <a:srgbClr val="000000"/>
                </a:solidFill>
                <a:latin typeface="宋体" panose="02010600030101010101" pitchFamily="2" charset="-122"/>
                <a:ea typeface="宋体" panose="02010600030101010101" pitchFamily="2" charset="-122"/>
              </a:rPr>
              <a:t>M6</a:t>
            </a:r>
            <a:r>
              <a:rPr lang="zh-CN" altLang="en-US" sz="2400" dirty="0" smtClean="0">
                <a:solidFill>
                  <a:srgbClr val="000000"/>
                </a:solidFill>
                <a:latin typeface="宋体" panose="02010600030101010101" pitchFamily="2" charset="-122"/>
                <a:ea typeface="宋体" panose="02010600030101010101" pitchFamily="2" charset="-122"/>
              </a:rPr>
              <a:t>到</a:t>
            </a:r>
            <a:r>
              <a:rPr lang="en-US" altLang="zh-CN" sz="2400" dirty="0" smtClean="0">
                <a:solidFill>
                  <a:srgbClr val="000000"/>
                </a:solidFill>
                <a:latin typeface="宋体" panose="02010600030101010101" pitchFamily="2" charset="-122"/>
                <a:ea typeface="宋体" panose="02010600030101010101" pitchFamily="2" charset="-122"/>
              </a:rPr>
              <a:t>F10,</a:t>
            </a:r>
            <a:r>
              <a:rPr lang="zh-CN" altLang="en-US" sz="2400" dirty="0" smtClean="0">
                <a:solidFill>
                  <a:srgbClr val="000000"/>
                </a:solidFill>
                <a:latin typeface="宋体" panose="02010600030101010101" pitchFamily="2" charset="-122"/>
                <a:ea typeface="宋体" panose="02010600030101010101" pitchFamily="2" charset="-122"/>
              </a:rPr>
              <a:t>保留站中原来存放第五条指令的位置清空。</a:t>
            </a:r>
          </a:p>
          <a:p>
            <a:pPr>
              <a:defRPr/>
            </a:pPr>
            <a:endParaRPr lang="zh-CN" altLang="en-US"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7065651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0242" name="Rectangle 4" descr="Rectangle: Click to edit Master text styles&#10;Second level&#10;Third level&#10;Fourth level&#10;Fifth level"/>
          <p:cNvSpPr>
            <a:spLocks noChangeArrowheads="1"/>
          </p:cNvSpPr>
          <p:nvPr/>
        </p:nvSpPr>
        <p:spPr bwMode="auto">
          <a:xfrm>
            <a:off x="671601" y="411957"/>
            <a:ext cx="10583209" cy="531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Tahoma" panose="020B0604030504040204" pitchFamily="34" charset="0"/>
                <a:ea typeface="黑体" panose="02010609060101010101" pitchFamily="49" charset="-122"/>
              </a:defRPr>
            </a:lvl1pPr>
            <a:lvl2pPr>
              <a:defRPr sz="2400">
                <a:solidFill>
                  <a:schemeClr val="tx1"/>
                </a:solidFill>
                <a:latin typeface="Tahoma" panose="020B0604030504040204" pitchFamily="34" charset="0"/>
                <a:ea typeface="黑体" panose="02010609060101010101" pitchFamily="49" charset="-122"/>
              </a:defRPr>
            </a:lvl2pPr>
            <a:lvl3pPr>
              <a:defRPr sz="2400">
                <a:solidFill>
                  <a:schemeClr val="tx1"/>
                </a:solidFill>
                <a:latin typeface="Tahoma" panose="020B0604030504040204" pitchFamily="34" charset="0"/>
                <a:ea typeface="黑体" panose="02010609060101010101" pitchFamily="49" charset="-122"/>
              </a:defRPr>
            </a:lvl3pPr>
            <a:lvl4pPr>
              <a:defRPr sz="2400">
                <a:solidFill>
                  <a:schemeClr val="tx1"/>
                </a:solidFill>
                <a:latin typeface="Tahoma" panose="020B0604030504040204" pitchFamily="34" charset="0"/>
                <a:ea typeface="黑体" panose="02010609060101010101" pitchFamily="49" charset="-122"/>
              </a:defRPr>
            </a:lvl4pPr>
            <a:lvl5pPr>
              <a:defRPr sz="2400">
                <a:solidFill>
                  <a:schemeClr val="tx1"/>
                </a:solidFill>
                <a:latin typeface="Tahoma" panose="020B0604030504040204" pitchFamily="34" charset="0"/>
                <a:ea typeface="黑体" panose="02010609060101010101" pitchFamily="49" charset="-122"/>
              </a:defRPr>
            </a:lvl5pPr>
            <a:lvl6pPr fontAlgn="base">
              <a:spcBef>
                <a:spcPct val="0"/>
              </a:spcBef>
              <a:spcAft>
                <a:spcPct val="0"/>
              </a:spcAft>
              <a:defRPr sz="2400">
                <a:solidFill>
                  <a:schemeClr val="tx1"/>
                </a:solidFill>
                <a:latin typeface="Tahoma" panose="020B0604030504040204" pitchFamily="34" charset="0"/>
                <a:ea typeface="黑体" panose="02010609060101010101" pitchFamily="49" charset="-122"/>
              </a:defRPr>
            </a:lvl6pPr>
            <a:lvl7pPr fontAlgn="base">
              <a:spcBef>
                <a:spcPct val="0"/>
              </a:spcBef>
              <a:spcAft>
                <a:spcPct val="0"/>
              </a:spcAft>
              <a:defRPr sz="2400">
                <a:solidFill>
                  <a:schemeClr val="tx1"/>
                </a:solidFill>
                <a:latin typeface="Tahoma" panose="020B0604030504040204" pitchFamily="34" charset="0"/>
                <a:ea typeface="黑体" panose="02010609060101010101" pitchFamily="49" charset="-122"/>
              </a:defRPr>
            </a:lvl7pPr>
            <a:lvl8pPr fontAlgn="base">
              <a:spcBef>
                <a:spcPct val="0"/>
              </a:spcBef>
              <a:spcAft>
                <a:spcPct val="0"/>
              </a:spcAft>
              <a:defRPr sz="2400">
                <a:solidFill>
                  <a:schemeClr val="tx1"/>
                </a:solidFill>
                <a:latin typeface="Tahoma" panose="020B0604030504040204" pitchFamily="34" charset="0"/>
                <a:ea typeface="黑体" panose="02010609060101010101" pitchFamily="49" charset="-122"/>
              </a:defRPr>
            </a:lvl8pPr>
            <a:lvl9pPr fontAlgn="base">
              <a:spcBef>
                <a:spcPct val="0"/>
              </a:spcBef>
              <a:spcAft>
                <a:spcPct val="0"/>
              </a:spcAft>
              <a:defRPr sz="2400">
                <a:solidFill>
                  <a:schemeClr val="tx1"/>
                </a:solidFill>
                <a:latin typeface="Tahoma" panose="020B0604030504040204" pitchFamily="34" charset="0"/>
                <a:ea typeface="黑体" panose="02010609060101010101" pitchFamily="49" charset="-122"/>
              </a:defRPr>
            </a:lvl9pPr>
          </a:lstStyle>
          <a:p>
            <a:pPr marL="0" indent="0">
              <a:lnSpc>
                <a:spcPct val="150000"/>
              </a:lnSpc>
              <a:spcBef>
                <a:spcPct val="20000"/>
              </a:spcBef>
              <a:buClr>
                <a:schemeClr val="tx1"/>
              </a:buClr>
            </a:pPr>
            <a:r>
              <a:rPr lang="zh-CN" altLang="en-US" sz="2000" b="1" dirty="0" smtClean="0">
                <a:solidFill>
                  <a:srgbClr val="E24C05"/>
                </a:solidFill>
                <a:latin typeface="宋体" panose="02010600030101010101" pitchFamily="2" charset="-122"/>
                <a:ea typeface="宋体" panose="02010600030101010101" pitchFamily="2" charset="-122"/>
              </a:rPr>
              <a:t>例 </a:t>
            </a:r>
            <a:r>
              <a:rPr lang="zh-CN" altLang="en-US" sz="2000" b="1" dirty="0">
                <a:latin typeface="宋体" panose="02010600030101010101" pitchFamily="2" charset="-122"/>
                <a:ea typeface="宋体" panose="02010600030101010101" pitchFamily="2" charset="-122"/>
              </a:rPr>
              <a:t>单流出处理器采用基于</a:t>
            </a:r>
            <a:r>
              <a:rPr lang="en-US" altLang="zh-CN" sz="2000" b="1" dirty="0">
                <a:latin typeface="宋体" panose="02010600030101010101" pitchFamily="2" charset="-122"/>
                <a:ea typeface="宋体" panose="02010600030101010101" pitchFamily="2" charset="-122"/>
              </a:rPr>
              <a:t>Tomasulo</a:t>
            </a:r>
            <a:r>
              <a:rPr lang="zh-CN" altLang="en-US" sz="2000" b="1" dirty="0">
                <a:latin typeface="宋体" panose="02010600030101010101" pitchFamily="2" charset="-122"/>
                <a:ea typeface="宋体" panose="02010600030101010101" pitchFamily="2" charset="-122"/>
              </a:rPr>
              <a:t>算法进行指令调度。有一个</a:t>
            </a:r>
            <a:r>
              <a:rPr lang="en-US" altLang="zh-CN" sz="2000" b="1" dirty="0">
                <a:latin typeface="宋体" panose="02010600030101010101" pitchFamily="2" charset="-122"/>
                <a:ea typeface="宋体" panose="02010600030101010101" pitchFamily="2" charset="-122"/>
              </a:rPr>
              <a:t>LSU</a:t>
            </a:r>
            <a:r>
              <a:rPr lang="zh-CN" altLang="en-US" sz="2000" b="1" dirty="0" smtClean="0">
                <a:latin typeface="宋体" panose="02010600030101010101" pitchFamily="2" charset="-122"/>
                <a:ea typeface="宋体" panose="02010600030101010101" pitchFamily="2" charset="-122"/>
              </a:rPr>
              <a:t>部件（部件内有加法器），</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个</a:t>
            </a:r>
            <a:r>
              <a:rPr lang="en-US" altLang="zh-CN" sz="2000" b="1" dirty="0">
                <a:latin typeface="宋体" panose="02010600030101010101" pitchFamily="2" charset="-122"/>
                <a:ea typeface="宋体" panose="02010600030101010101" pitchFamily="2" charset="-122"/>
              </a:rPr>
              <a:t>LS</a:t>
            </a:r>
            <a:r>
              <a:rPr lang="zh-CN" altLang="en-US" sz="2000" b="1" dirty="0">
                <a:latin typeface="宋体" panose="02010600030101010101" pitchFamily="2" charset="-122"/>
                <a:ea typeface="宋体" panose="02010600030101010101" pitchFamily="2" charset="-122"/>
              </a:rPr>
              <a:t>缓冲器（私有时间戳实现</a:t>
            </a:r>
            <a:r>
              <a:rPr lang="en-US" altLang="zh-CN" sz="2000" b="1" dirty="0">
                <a:latin typeface="宋体" panose="02010600030101010101" pitchFamily="2" charset="-122"/>
                <a:ea typeface="宋体" panose="02010600030101010101" pitchFamily="2" charset="-122"/>
              </a:rPr>
              <a:t>FIFO</a:t>
            </a:r>
            <a:r>
              <a:rPr lang="zh-CN" altLang="en-US" sz="2000" b="1" dirty="0" smtClean="0">
                <a:latin typeface="宋体" panose="02010600030101010101" pitchFamily="2" charset="-122"/>
                <a:ea typeface="宋体" panose="02010600030101010101" pitchFamily="2" charset="-122"/>
              </a:rPr>
              <a:t>），一个加</a:t>
            </a:r>
            <a:r>
              <a:rPr lang="en-US" altLang="zh-CN" sz="2000" b="1" dirty="0" smtClean="0">
                <a:latin typeface="宋体" panose="02010600030101010101" pitchFamily="2" charset="-122"/>
                <a:ea typeface="宋体" panose="02010600030101010101" pitchFamily="2" charset="-122"/>
              </a:rPr>
              <a:t>/</a:t>
            </a:r>
            <a:r>
              <a:rPr lang="zh-CN" altLang="en-US" sz="2000" b="1" dirty="0" smtClean="0">
                <a:latin typeface="宋体" panose="02010600030101010101" pitchFamily="2" charset="-122"/>
                <a:ea typeface="宋体" panose="02010600030101010101" pitchFamily="2" charset="-122"/>
              </a:rPr>
              <a:t>减法运算部件，一个乘</a:t>
            </a:r>
            <a:r>
              <a:rPr lang="en-US" altLang="zh-CN" sz="2000" b="1" dirty="0" smtClean="0">
                <a:latin typeface="宋体" panose="02010600030101010101" pitchFamily="2" charset="-122"/>
                <a:ea typeface="宋体" panose="02010600030101010101" pitchFamily="2" charset="-122"/>
              </a:rPr>
              <a:t>/</a:t>
            </a:r>
            <a:r>
              <a:rPr lang="zh-CN" altLang="en-US" sz="2000" b="1" dirty="0" smtClean="0">
                <a:latin typeface="宋体" panose="02010600030101010101" pitchFamily="2" charset="-122"/>
                <a:ea typeface="宋体" panose="02010600030101010101" pitchFamily="2" charset="-122"/>
              </a:rPr>
              <a:t>除法运算</a:t>
            </a:r>
            <a:r>
              <a:rPr lang="zh-CN" altLang="en-US" sz="2000" b="1" dirty="0">
                <a:latin typeface="宋体" panose="02010600030101010101" pitchFamily="2" charset="-122"/>
                <a:ea typeface="宋体" panose="02010600030101010101" pitchFamily="2" charset="-122"/>
              </a:rPr>
              <a:t>部件</a:t>
            </a:r>
            <a:r>
              <a:rPr lang="zh-CN" altLang="en-US" sz="2000" b="1" dirty="0" smtClean="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个</a:t>
            </a:r>
            <a:r>
              <a:rPr lang="en-US" altLang="zh-CN" sz="2000" b="1" dirty="0">
                <a:latin typeface="宋体" panose="02010600030101010101" pitchFamily="2" charset="-122"/>
                <a:ea typeface="宋体" panose="02010600030101010101" pitchFamily="2" charset="-122"/>
              </a:rPr>
              <a:t>ALU</a:t>
            </a:r>
            <a:r>
              <a:rPr lang="zh-CN" altLang="en-US" sz="2000" b="1" dirty="0">
                <a:latin typeface="宋体" panose="02010600030101010101" pitchFamily="2" charset="-122"/>
                <a:ea typeface="宋体" panose="02010600030101010101" pitchFamily="2" charset="-122"/>
              </a:rPr>
              <a:t>保留站。指令序列执行前，指令均未流出，所有缓冲器</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保留站均空闲。</a:t>
            </a:r>
          </a:p>
          <a:p>
            <a:pPr>
              <a:lnSpc>
                <a:spcPct val="150000"/>
              </a:lnSpc>
              <a:spcBef>
                <a:spcPct val="20000"/>
              </a:spcBef>
              <a:buClr>
                <a:schemeClr val="tx1"/>
              </a:buClr>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）各个硬件操作流水段及指令通过的时钟周期如下表</a:t>
            </a:r>
            <a:endParaRPr lang="en-US" altLang="zh-CN" sz="2000" b="1" dirty="0">
              <a:latin typeface="宋体" panose="02010600030101010101" pitchFamily="2" charset="-122"/>
              <a:ea typeface="宋体" panose="02010600030101010101" pitchFamily="2" charset="-122"/>
            </a:endParaRPr>
          </a:p>
          <a:p>
            <a:pPr>
              <a:lnSpc>
                <a:spcPct val="150000"/>
              </a:lnSpc>
              <a:spcBef>
                <a:spcPct val="20000"/>
              </a:spcBef>
              <a:buClr>
                <a:schemeClr val="tx1"/>
              </a:buClr>
            </a:pPr>
            <a:endParaRPr lang="en-US" altLang="zh-CN" sz="2000" b="1" dirty="0">
              <a:latin typeface="宋体" panose="02010600030101010101" pitchFamily="2" charset="-122"/>
              <a:ea typeface="宋体" panose="02010600030101010101" pitchFamily="2" charset="-122"/>
            </a:endParaRPr>
          </a:p>
          <a:p>
            <a:pPr>
              <a:lnSpc>
                <a:spcPct val="150000"/>
              </a:lnSpc>
              <a:spcBef>
                <a:spcPct val="20000"/>
              </a:spcBef>
              <a:buClr>
                <a:schemeClr val="tx1"/>
              </a:buClr>
            </a:pPr>
            <a:endParaRPr lang="en-US" altLang="zh-CN" sz="2000" dirty="0"/>
          </a:p>
          <a:p>
            <a:pPr>
              <a:lnSpc>
                <a:spcPct val="150000"/>
              </a:lnSpc>
              <a:spcBef>
                <a:spcPct val="20000"/>
              </a:spcBef>
              <a:buClr>
                <a:schemeClr val="tx1"/>
              </a:buClr>
            </a:pPr>
            <a:r>
              <a:rPr lang="zh-CN" altLang="zh-CN" sz="2000" dirty="0"/>
              <a:t>（</a:t>
            </a:r>
            <a:r>
              <a:rPr lang="en-US" altLang="zh-CN" sz="2000" dirty="0"/>
              <a:t>2</a:t>
            </a:r>
            <a:r>
              <a:rPr lang="zh-CN" altLang="zh-CN" sz="2000" dirty="0"/>
              <a:t>）待执行指令序列如下：</a:t>
            </a:r>
          </a:p>
          <a:p>
            <a:pPr>
              <a:lnSpc>
                <a:spcPct val="150000"/>
              </a:lnSpc>
              <a:spcBef>
                <a:spcPct val="20000"/>
              </a:spcBef>
              <a:buClr>
                <a:schemeClr val="tx1"/>
              </a:buClr>
            </a:pPr>
            <a:r>
              <a:rPr lang="zh-CN" altLang="en-US" sz="2000" b="1" dirty="0">
                <a:latin typeface="宋体" panose="02010600030101010101" pitchFamily="2" charset="-122"/>
                <a:ea typeface="宋体" panose="02010600030101010101" pitchFamily="2" charset="-122"/>
              </a:rPr>
              <a:t>问：</a:t>
            </a:r>
          </a:p>
          <a:p>
            <a:pPr>
              <a:lnSpc>
                <a:spcPct val="150000"/>
              </a:lnSpc>
              <a:spcBef>
                <a:spcPct val="20000"/>
              </a:spcBef>
              <a:buClr>
                <a:schemeClr val="tx1"/>
              </a:buClr>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）请给出指令执行状态时钟周期表</a:t>
            </a:r>
          </a:p>
          <a:p>
            <a:pPr>
              <a:lnSpc>
                <a:spcPct val="150000"/>
              </a:lnSpc>
              <a:spcBef>
                <a:spcPct val="20000"/>
              </a:spcBef>
              <a:buClr>
                <a:schemeClr val="tx1"/>
              </a:buClr>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）请给出第</a:t>
            </a:r>
            <a:r>
              <a:rPr lang="en-US" altLang="zh-CN" sz="2000" b="1" dirty="0">
                <a:latin typeface="宋体" panose="02010600030101010101" pitchFamily="2" charset="-122"/>
                <a:ea typeface="宋体" panose="02010600030101010101" pitchFamily="2" charset="-122"/>
              </a:rPr>
              <a:t>14</a:t>
            </a:r>
            <a:r>
              <a:rPr lang="zh-CN" altLang="en-US" sz="2000" b="1" dirty="0">
                <a:latin typeface="宋体" panose="02010600030101010101" pitchFamily="2" charset="-122"/>
                <a:ea typeface="宋体" panose="02010600030101010101" pitchFamily="2" charset="-122"/>
              </a:rPr>
              <a:t>周期末尾各个状态表内容</a:t>
            </a:r>
          </a:p>
          <a:p>
            <a:pPr>
              <a:lnSpc>
                <a:spcPct val="150000"/>
              </a:lnSpc>
              <a:spcBef>
                <a:spcPct val="20000"/>
              </a:spcBef>
              <a:buClr>
                <a:schemeClr val="tx1"/>
              </a:buClr>
            </a:pPr>
            <a:endParaRPr lang="zh-CN" altLang="en-US" sz="2000" b="1" dirty="0">
              <a:solidFill>
                <a:srgbClr val="E24C05"/>
              </a:solidFill>
              <a:latin typeface="宋体" panose="02010600030101010101" pitchFamily="2" charset="-122"/>
              <a:ea typeface="宋体" panose="02010600030101010101" pitchFamily="2" charset="-122"/>
            </a:endParaRPr>
          </a:p>
        </p:txBody>
      </p:sp>
      <p:graphicFrame>
        <p:nvGraphicFramePr>
          <p:cNvPr id="3" name="表格 2"/>
          <p:cNvGraphicFramePr>
            <a:graphicFrameLocks noGrp="1"/>
          </p:cNvGraphicFramePr>
          <p:nvPr>
            <p:extLst/>
          </p:nvPr>
        </p:nvGraphicFramePr>
        <p:xfrm>
          <a:off x="1455962" y="2470433"/>
          <a:ext cx="7561261" cy="852486"/>
        </p:xfrm>
        <a:graphic>
          <a:graphicData uri="http://schemas.openxmlformats.org/drawingml/2006/table">
            <a:tbl>
              <a:tblPr firstRow="1" firstCol="1" lastRow="1" lastCol="1" bandRow="1" bandCol="1"/>
              <a:tblGrid>
                <a:gridCol w="670757"/>
                <a:gridCol w="1158581"/>
                <a:gridCol w="1158581"/>
                <a:gridCol w="914668"/>
                <a:gridCol w="914669"/>
                <a:gridCol w="914668"/>
                <a:gridCol w="914669"/>
                <a:gridCol w="914668"/>
              </a:tblGrid>
              <a:tr h="284162">
                <a:tc rowSpan="2">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Issue</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WtCDB</a:t>
                      </a: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Mem</a:t>
                      </a: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5">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Execute</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284162">
                <a:tc vMerge="1">
                  <a:txBody>
                    <a:bodyPr/>
                    <a:lstStyle/>
                    <a:p>
                      <a:endParaRPr lang="zh-CN"/>
                    </a:p>
                  </a:txBody>
                  <a:tcPr/>
                </a:tc>
                <a:tc vMerge="1">
                  <a:txBody>
                    <a:bodyPr/>
                    <a:lstStyle/>
                    <a:p>
                      <a:endParaRPr lang="zh-CN"/>
                    </a:p>
                  </a:txBody>
                  <a:tcPr/>
                </a:tc>
                <a:tc vMerge="1">
                  <a:txBody>
                    <a:bodyPr/>
                    <a:lstStyle/>
                    <a:p>
                      <a:endParaRPr lang="zh-CN"/>
                    </a:p>
                  </a:txBody>
                  <a:tcPr>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LD</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ST</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SUB</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ADD</a:t>
                      </a:r>
                      <a:endParaRPr lang="en-US"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MUL</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4162">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3</a:t>
                      </a: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3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表格 4"/>
          <p:cNvGraphicFramePr>
            <a:graphicFrameLocks noGrp="1"/>
          </p:cNvGraphicFramePr>
          <p:nvPr>
            <p:extLst/>
          </p:nvPr>
        </p:nvGraphicFramePr>
        <p:xfrm>
          <a:off x="6113270" y="3663699"/>
          <a:ext cx="3870325" cy="2336859"/>
        </p:xfrm>
        <a:graphic>
          <a:graphicData uri="http://schemas.openxmlformats.org/drawingml/2006/table">
            <a:tbl>
              <a:tblPr firstRow="1" firstCol="1" lastRow="1" lastCol="1" bandRow="1" bandCol="1"/>
              <a:tblGrid>
                <a:gridCol w="1637396"/>
                <a:gridCol w="2232929"/>
              </a:tblGrid>
              <a:tr h="253296">
                <a:tc>
                  <a:txBody>
                    <a:bodyPr/>
                    <a:lstStyle/>
                    <a:p>
                      <a:pPr algn="ctr">
                        <a:spcAft>
                          <a:spcPts val="0"/>
                        </a:spcAft>
                      </a:pPr>
                      <a:r>
                        <a:rPr lang="zh-CN" sz="16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指令</a:t>
                      </a:r>
                      <a:endParaRPr lang="zh-CN" sz="16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对应变量</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6138">
                <a:tc>
                  <a:txBody>
                    <a:bodyPr/>
                    <a:lstStyle/>
                    <a:p>
                      <a:pPr algn="ctr">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LD  R2, (R1)</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Rt=R2, Rs=R1, Imm=0</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1042">
                <a:tc>
                  <a:txBody>
                    <a:bodyPr/>
                    <a:lstStyle/>
                    <a:p>
                      <a:pPr algn="ctr">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MUL  R2, R2, #2</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Rd=R2, Rs=R2, Rt= #2</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55503">
                <a:tc>
                  <a:txBody>
                    <a:bodyPr/>
                    <a:lstStyle/>
                    <a:p>
                      <a:pPr algn="ctr">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  R2, (R1)</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Rt=R2, Rs=R1, Imm=0</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8829">
                <a:tc>
                  <a:txBody>
                    <a:bodyPr/>
                    <a:lstStyle/>
                    <a:p>
                      <a:pPr algn="ctr">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SUB  R1, R1, #4</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Rd=R1, Rs=R1, Rt= #4</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991">
                <a:tc>
                  <a:txBody>
                    <a:bodyPr/>
                    <a:lstStyle/>
                    <a:p>
                      <a:pPr algn="ctr">
                        <a:spcAft>
                          <a:spcPts val="0"/>
                        </a:spcAft>
                      </a:pPr>
                      <a:r>
                        <a:rPr lang="en-US" sz="16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ADD  R5, R3, R4</a:t>
                      </a:r>
                      <a:endParaRPr lang="zh-CN" altLang="en-US" sz="16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Rd</a:t>
                      </a:r>
                      <a:r>
                        <a:rPr lang="en-US" sz="16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=R5, </a:t>
                      </a:r>
                      <a:r>
                        <a:rPr lang="en-US" sz="1600" kern="10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a:t>
                      </a:r>
                      <a:r>
                        <a:rPr lang="en-US" sz="16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=R3, Rt=R4</a:t>
                      </a:r>
                      <a:endParaRPr lang="zh-CN" sz="16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8" marR="68578" marT="95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9029753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258607130"/>
              </p:ext>
            </p:extLst>
          </p:nvPr>
        </p:nvGraphicFramePr>
        <p:xfrm>
          <a:off x="1420255" y="1598500"/>
          <a:ext cx="9140827" cy="2438471"/>
        </p:xfrm>
        <a:graphic>
          <a:graphicData uri="http://schemas.openxmlformats.org/drawingml/2006/table">
            <a:tbl>
              <a:tblPr firstRow="1" firstCol="1" lastRow="1" lastCol="1" bandRow="1" bandCol="1"/>
              <a:tblGrid>
                <a:gridCol w="1839088"/>
                <a:gridCol w="772849"/>
                <a:gridCol w="1305651"/>
                <a:gridCol w="1305651"/>
                <a:gridCol w="1305651"/>
                <a:gridCol w="1306286"/>
                <a:gridCol w="1305651"/>
              </a:tblGrid>
              <a:tr h="283772">
                <a:tc>
                  <a:txBody>
                    <a:bodyPr/>
                    <a:lstStyle/>
                    <a:p>
                      <a:pPr algn="ctr">
                        <a:spcAft>
                          <a:spcPts val="0"/>
                        </a:spcAft>
                      </a:pPr>
                      <a:r>
                        <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指令</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IS</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EX</a:t>
                      </a:r>
                      <a:endParaRPr lang="en-US" alt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None/>
                      </a:pPr>
                      <a:r>
                        <a:rPr lang="en-US" alt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MEM</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WtCDB</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备注</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r>
                        <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末</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2490">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LD   R2, (R1)</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3-5</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已完成</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3896">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MUL  R2, R2, #2</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7-16</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数据相关</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2490">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   R2, (R1)</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18-20</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数据相关</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3261">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SUB    R1, R1, #4</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5-8</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R1</a:t>
                      </a:r>
                      <a:r>
                        <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已换名</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已写结果</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2490">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rPr>
                        <a:t>ADD  R5, R3, R4</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r>
                        <a:rPr lang="en-US" altLang="zh-CN" sz="1800" kern="1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altLang="en-US" sz="1800" kern="100" dirty="0" smtClean="0">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结构冲突</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 name="矩形标注 1"/>
          <p:cNvSpPr/>
          <p:nvPr/>
        </p:nvSpPr>
        <p:spPr>
          <a:xfrm>
            <a:off x="9144000" y="372979"/>
            <a:ext cx="2081464" cy="902368"/>
          </a:xfrm>
          <a:prstGeom prst="wedgeRectCallout">
            <a:avLst>
              <a:gd name="adj1" fmla="val -53158"/>
              <a:gd name="adj2" fmla="val 7601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请挑错</a:t>
            </a:r>
            <a:endParaRPr lang="zh-CN" altLang="en-US" dirty="0"/>
          </a:p>
        </p:txBody>
      </p:sp>
    </p:spTree>
    <p:extLst>
      <p:ext uri="{BB962C8B-B14F-4D97-AF65-F5344CB8AC3E}">
        <p14:creationId xmlns:p14="http://schemas.microsoft.com/office/powerpoint/2010/main" val="40746854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nvPr>
        </p:nvGraphicFramePr>
        <p:xfrm>
          <a:off x="1263845" y="563785"/>
          <a:ext cx="9140827" cy="2438471"/>
        </p:xfrm>
        <a:graphic>
          <a:graphicData uri="http://schemas.openxmlformats.org/drawingml/2006/table">
            <a:tbl>
              <a:tblPr firstRow="1" firstCol="1" lastRow="1" lastCol="1" bandRow="1" bandCol="1"/>
              <a:tblGrid>
                <a:gridCol w="1839088"/>
                <a:gridCol w="772849"/>
                <a:gridCol w="1305651"/>
                <a:gridCol w="1305651"/>
                <a:gridCol w="1305651"/>
                <a:gridCol w="1306286"/>
                <a:gridCol w="1305651"/>
              </a:tblGrid>
              <a:tr h="283772">
                <a:tc>
                  <a:txBody>
                    <a:bodyPr/>
                    <a:lstStyle/>
                    <a:p>
                      <a:pPr algn="ctr">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指令</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IS</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EX</a:t>
                      </a:r>
                      <a:endParaRPr lang="en-US" alt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None/>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MEM</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WtCDB</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备注</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14</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末</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2490">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LD   R2, (R1)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2</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3-5</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6</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已完成</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3896">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MUL  R2, R2, #2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7-16</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17</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数据相关</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2490">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ST   R2, (R1)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4</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18-20</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数据相关</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33261">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SUB    R1, R1, #4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5-8</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9</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R1</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已换名</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已写结果</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2490">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sym typeface="+mn-ea"/>
                        </a:rPr>
                        <a:t>ADD  R5, R3, R4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11-14</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15</a:t>
                      </a:r>
                    </a:p>
                  </a:txBody>
                  <a:tcPr marL="68581" marR="68581"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保留站冲突</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 name="表格 5"/>
          <p:cNvGraphicFramePr>
            <a:graphicFrameLocks noGrp="1"/>
          </p:cNvGraphicFramePr>
          <p:nvPr>
            <p:extLst/>
          </p:nvPr>
        </p:nvGraphicFramePr>
        <p:xfrm>
          <a:off x="1582931" y="3100610"/>
          <a:ext cx="8280399" cy="1752599"/>
        </p:xfrm>
        <a:graphic>
          <a:graphicData uri="http://schemas.openxmlformats.org/drawingml/2006/table">
            <a:tbl>
              <a:tblPr firstRow="1" firstCol="1" lastRow="1" lastCol="1" bandRow="1" bandCol="1"/>
              <a:tblGrid>
                <a:gridCol w="792038"/>
                <a:gridCol w="792038"/>
                <a:gridCol w="1512073"/>
                <a:gridCol w="1044050"/>
                <a:gridCol w="1035050"/>
                <a:gridCol w="1035050"/>
                <a:gridCol w="1035050"/>
                <a:gridCol w="1035050"/>
              </a:tblGrid>
              <a:tr h="367159">
                <a:tc>
                  <a:txBody>
                    <a:bodyPr/>
                    <a:lstStyle/>
                    <a:p>
                      <a:pPr algn="just">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Label</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Busy</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Op</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Vj(rs)</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Vk(rt)</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Qj(rs)</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Qk(rt)</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A(Imm)</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3963">
                <a:tc>
                  <a:txBody>
                    <a:bodyPr/>
                    <a:lstStyle/>
                    <a:p>
                      <a:pPr algn="just">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Load1</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7159">
                <a:tc>
                  <a:txBody>
                    <a:bodyPr/>
                    <a:lstStyle/>
                    <a:p>
                      <a:pPr algn="just">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Load2</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800" kern="0">
                          <a:effectLst/>
                          <a:latin typeface="Times New Roman" panose="02020603050405020304" pitchFamily="18" charset="0"/>
                          <a:ea typeface="宋体" panose="02010600030101010101" pitchFamily="2" charset="-122"/>
                          <a:cs typeface="Times New Roman" panose="02020603050405020304" pitchFamily="18" charset="0"/>
                          <a:sym typeface="+mn-ea"/>
                        </a:rPr>
                        <a:t>Reg[R1]</a:t>
                      </a:r>
                      <a:endPar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ALU1</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Reg[R1]</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7159">
                <a:tc>
                  <a:txBody>
                    <a:bodyPr/>
                    <a:lstStyle/>
                    <a:p>
                      <a:pPr algn="just">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ALU1</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MUL</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Reg[R2]</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7159">
                <a:tc>
                  <a:txBody>
                    <a:bodyPr/>
                    <a:lstStyle/>
                    <a:p>
                      <a:pPr algn="just">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ALU2</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SUB-&gt;ADD</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Reg[R3]</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800" kern="0">
                          <a:effectLst/>
                          <a:latin typeface="Times New Roman" panose="02020603050405020304" pitchFamily="18" charset="0"/>
                          <a:ea typeface="宋体" panose="02010600030101010101" pitchFamily="2" charset="-122"/>
                          <a:cs typeface="Times New Roman" panose="02020603050405020304" pitchFamily="18" charset="0"/>
                          <a:sym typeface="+mn-ea"/>
                        </a:rPr>
                        <a:t>Reg[R4]</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6" marR="68576" marT="9529"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8" name="表格 7"/>
          <p:cNvGraphicFramePr>
            <a:graphicFrameLocks noGrp="1"/>
          </p:cNvGraphicFramePr>
          <p:nvPr>
            <p:extLst/>
          </p:nvPr>
        </p:nvGraphicFramePr>
        <p:xfrm>
          <a:off x="2735457" y="5140549"/>
          <a:ext cx="6264275" cy="815975"/>
        </p:xfrm>
        <a:graphic>
          <a:graphicData uri="http://schemas.openxmlformats.org/drawingml/2006/table">
            <a:tbl>
              <a:tblPr/>
              <a:tblGrid>
                <a:gridCol w="1044046"/>
                <a:gridCol w="1044046"/>
                <a:gridCol w="1044046"/>
                <a:gridCol w="1044045"/>
                <a:gridCol w="1044046"/>
                <a:gridCol w="1044046"/>
              </a:tblGrid>
              <a:tr h="365834">
                <a:tc>
                  <a:txBody>
                    <a:bodyPr/>
                    <a:lstStyle/>
                    <a:p>
                      <a:endParaRPr lang="zh-CN" sz="1800" kern="100">
                        <a:effectLst/>
                        <a:latin typeface="Calibri" panose="020F0502020204030204" pitchFamily="34" charset="0"/>
                        <a:cs typeface="Times New Roman" panose="02020603050405020304" pitchFamily="18" charset="0"/>
                      </a:endParaRP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buNone/>
                      </a:pPr>
                      <a:r>
                        <a:rPr lang="en-US" altLang="zh-CN" sz="1800" kern="100">
                          <a:effectLst/>
                          <a:latin typeface="Calibri" panose="020F0502020204030204" pitchFamily="34" charset="0"/>
                          <a:ea typeface="宋体" panose="02010600030101010101" pitchFamily="2" charset="-122"/>
                          <a:cs typeface="Times New Roman" panose="02020603050405020304" pitchFamily="18" charset="0"/>
                        </a:rPr>
                        <a:t>R5</a:t>
                      </a: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0141">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Qi</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ALU1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buNone/>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ALU2</a:t>
                      </a:r>
                      <a:endPar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91434" marR="91434" marT="45729" marB="4572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0117112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751756" y="156948"/>
            <a:ext cx="9998853" cy="6286580"/>
          </a:xfrm>
        </p:spPr>
        <p:txBody>
          <a:bodyPr>
            <a:normAutofit fontScale="92500"/>
          </a:bodyPr>
          <a:lstStyle/>
          <a:p>
            <a:pPr marL="0" indent="0">
              <a:lnSpc>
                <a:spcPts val="3000"/>
              </a:lnSpc>
              <a:spcBef>
                <a:spcPts val="600"/>
              </a:spcBef>
              <a:buNone/>
            </a:pPr>
            <a:r>
              <a:rPr lang="en-US" altLang="zh-CN" sz="2400" dirty="0">
                <a:latin typeface="宋体" panose="02010600030101010101" pitchFamily="2" charset="-122"/>
                <a:ea typeface="宋体" panose="02010600030101010101" pitchFamily="2" charset="-122"/>
              </a:rPr>
              <a:t>9</a:t>
            </a:r>
            <a:r>
              <a:rPr lang="en-US" altLang="zh-CN" sz="2400" dirty="0" smtClean="0">
                <a:latin typeface="宋体" panose="02010600030101010101" pitchFamily="2" charset="-122"/>
                <a:ea typeface="宋体" panose="02010600030101010101" pitchFamily="2" charset="-122"/>
              </a:rPr>
              <a:t>.Tomasulo</a:t>
            </a:r>
            <a:r>
              <a:rPr lang="zh-CN" altLang="en-US" sz="2400" dirty="0">
                <a:latin typeface="宋体" panose="02010600030101010101" pitchFamily="2" charset="-122"/>
                <a:ea typeface="宋体" panose="02010600030101010101" pitchFamily="2" charset="-122"/>
              </a:rPr>
              <a:t>的要点</a:t>
            </a:r>
            <a:r>
              <a:rPr lang="zh-CN" altLang="en-US" sz="2400" dirty="0" smtClean="0">
                <a:latin typeface="宋体" panose="02010600030101010101" pitchFamily="2" charset="-122"/>
                <a:ea typeface="宋体" panose="02010600030101010101" pitchFamily="2" charset="-122"/>
              </a:rPr>
              <a:t>总结</a:t>
            </a:r>
            <a:endParaRPr lang="en-US" altLang="zh-CN" sz="2400" dirty="0" smtClean="0">
              <a:latin typeface="宋体" panose="02010600030101010101" pitchFamily="2" charset="-122"/>
              <a:ea typeface="宋体" panose="02010600030101010101" pitchFamily="2" charset="-122"/>
            </a:endParaRPr>
          </a:p>
          <a:p>
            <a:pPr marL="896938" indent="-452438">
              <a:lnSpc>
                <a:spcPts val="3000"/>
              </a:lnSpc>
              <a:spcBef>
                <a:spcPts val="600"/>
              </a:spcBef>
              <a:buNone/>
            </a:pPr>
            <a:r>
              <a:rPr lang="en-US" altLang="zh-CN" sz="2400" dirty="0" smtClean="0">
                <a:solidFill>
                  <a:srgbClr val="181E33"/>
                </a:solidFill>
                <a:latin typeface="宋体" panose="02010600030101010101" pitchFamily="2" charset="-122"/>
                <a:ea typeface="宋体" panose="02010600030101010101" pitchFamily="2" charset="-122"/>
              </a:rPr>
              <a:t>① </a:t>
            </a:r>
            <a:r>
              <a:rPr lang="zh-CN" altLang="en-US" sz="2400" dirty="0" smtClean="0">
                <a:solidFill>
                  <a:srgbClr val="181E33"/>
                </a:solidFill>
                <a:latin typeface="宋体" panose="02010600030101010101" pitchFamily="2" charset="-122"/>
                <a:ea typeface="宋体" panose="02010600030101010101" pitchFamily="2" charset="-122"/>
              </a:rPr>
              <a:t>指令</a:t>
            </a:r>
            <a:r>
              <a:rPr lang="zh-CN" altLang="en-US" sz="2400" dirty="0">
                <a:solidFill>
                  <a:srgbClr val="181E33"/>
                </a:solidFill>
                <a:latin typeface="宋体" panose="02010600030101010101" pitchFamily="2" charset="-122"/>
                <a:ea typeface="宋体" panose="02010600030101010101" pitchFamily="2" charset="-122"/>
              </a:rPr>
              <a:t>按照程序原有的顺序进入指令队列，并按照原有的顺序流出指令队列，但是并不一定按照原有的顺序执行。</a:t>
            </a:r>
          </a:p>
          <a:p>
            <a:pPr marL="896938" indent="-452438">
              <a:lnSpc>
                <a:spcPts val="3000"/>
              </a:lnSpc>
              <a:spcBef>
                <a:spcPts val="600"/>
              </a:spcBef>
              <a:buNone/>
            </a:pPr>
            <a:r>
              <a:rPr lang="en-US" altLang="zh-CN" sz="2400" dirty="0" smtClean="0">
                <a:solidFill>
                  <a:srgbClr val="181E33"/>
                </a:solidFill>
                <a:latin typeface="宋体" panose="02010600030101010101" pitchFamily="2" charset="-122"/>
                <a:ea typeface="宋体" panose="02010600030101010101" pitchFamily="2" charset="-122"/>
              </a:rPr>
              <a:t>② </a:t>
            </a:r>
            <a:r>
              <a:rPr lang="zh-CN" altLang="en-US" sz="2400" dirty="0" smtClean="0">
                <a:solidFill>
                  <a:srgbClr val="181E33"/>
                </a:solidFill>
                <a:latin typeface="宋体" panose="02010600030101010101" pitchFamily="2" charset="-122"/>
                <a:ea typeface="宋体" panose="02010600030101010101" pitchFamily="2" charset="-122"/>
              </a:rPr>
              <a:t>操作数</a:t>
            </a:r>
            <a:r>
              <a:rPr lang="zh-CN" altLang="en-US" sz="2400" dirty="0">
                <a:solidFill>
                  <a:srgbClr val="181E33"/>
                </a:solidFill>
                <a:latin typeface="宋体" panose="02010600030101010101" pitchFamily="2" charset="-122"/>
                <a:ea typeface="宋体" panose="02010600030101010101" pitchFamily="2" charset="-122"/>
              </a:rPr>
              <a:t>未就绪的指令在保留站中等待，操作数就绪的指令可以先被执行。</a:t>
            </a:r>
          </a:p>
          <a:p>
            <a:pPr marL="896938" indent="-452438">
              <a:lnSpc>
                <a:spcPts val="3000"/>
              </a:lnSpc>
              <a:spcBef>
                <a:spcPts val="600"/>
              </a:spcBef>
              <a:buNone/>
            </a:pPr>
            <a:r>
              <a:rPr lang="en-US" altLang="zh-CN" sz="2400" dirty="0" smtClean="0">
                <a:solidFill>
                  <a:srgbClr val="181E33"/>
                </a:solidFill>
                <a:latin typeface="宋体" panose="02010600030101010101" pitchFamily="2" charset="-122"/>
                <a:ea typeface="宋体" panose="02010600030101010101" pitchFamily="2" charset="-122"/>
              </a:rPr>
              <a:t>③ </a:t>
            </a:r>
            <a:r>
              <a:rPr lang="zh-CN" altLang="en-US" sz="2400" dirty="0" smtClean="0">
                <a:solidFill>
                  <a:srgbClr val="181E33"/>
                </a:solidFill>
                <a:latin typeface="宋体" panose="02010600030101010101" pitchFamily="2" charset="-122"/>
                <a:ea typeface="宋体" panose="02010600030101010101" pitchFamily="2" charset="-122"/>
              </a:rPr>
              <a:t>通过</a:t>
            </a:r>
            <a:r>
              <a:rPr lang="zh-CN" altLang="en-US" sz="2400" dirty="0">
                <a:solidFill>
                  <a:srgbClr val="181E33"/>
                </a:solidFill>
                <a:latin typeface="宋体" panose="02010600030101010101" pitchFamily="2" charset="-122"/>
                <a:ea typeface="宋体" panose="02010600030101010101" pitchFamily="2" charset="-122"/>
              </a:rPr>
              <a:t>寄存器换名技术消除了名相关，从而解决了读后写和写后写冲突。换了什么名呢？把流出到保留站中的指令的操作数寄存器换成了操作数，或者产生该操作数的保留站号。</a:t>
            </a:r>
          </a:p>
          <a:p>
            <a:pPr marL="896938" indent="-452438">
              <a:lnSpc>
                <a:spcPts val="3000"/>
              </a:lnSpc>
              <a:spcBef>
                <a:spcPts val="600"/>
              </a:spcBef>
              <a:buNone/>
            </a:pPr>
            <a:r>
              <a:rPr lang="en-US" altLang="zh-CN" sz="2400" dirty="0" smtClean="0">
                <a:solidFill>
                  <a:srgbClr val="181E33"/>
                </a:solidFill>
                <a:latin typeface="宋体" panose="02010600030101010101" pitchFamily="2" charset="-122"/>
                <a:ea typeface="宋体" panose="02010600030101010101" pitchFamily="2" charset="-122"/>
              </a:rPr>
              <a:t>④ </a:t>
            </a:r>
            <a:r>
              <a:rPr lang="zh-CN" altLang="en-US" sz="2400" dirty="0" smtClean="0">
                <a:solidFill>
                  <a:srgbClr val="181E33"/>
                </a:solidFill>
                <a:latin typeface="宋体" panose="02010600030101010101" pitchFamily="2" charset="-122"/>
                <a:ea typeface="宋体" panose="02010600030101010101" pitchFamily="2" charset="-122"/>
              </a:rPr>
              <a:t>指令</a:t>
            </a:r>
            <a:r>
              <a:rPr lang="zh-CN" altLang="en-US" sz="2400" dirty="0">
                <a:solidFill>
                  <a:srgbClr val="181E33"/>
                </a:solidFill>
                <a:latin typeface="宋体" panose="02010600030101010101" pitchFamily="2" charset="-122"/>
                <a:ea typeface="宋体" panose="02010600030101010101" pitchFamily="2" charset="-122"/>
              </a:rPr>
              <a:t>能够流出、执行和写结果这三步的进入条件请看详细的算法，但是还有一个隐含条件，即没有结构冲突。</a:t>
            </a:r>
          </a:p>
          <a:p>
            <a:pPr marL="896938" indent="-452438">
              <a:lnSpc>
                <a:spcPts val="3000"/>
              </a:lnSpc>
              <a:spcBef>
                <a:spcPts val="600"/>
              </a:spcBef>
              <a:buNone/>
            </a:pPr>
            <a:r>
              <a:rPr lang="en-US" altLang="zh-CN" sz="2400" dirty="0" smtClean="0">
                <a:solidFill>
                  <a:srgbClr val="181E33"/>
                </a:solidFill>
                <a:latin typeface="宋体" panose="02010600030101010101" pitchFamily="2" charset="-122"/>
                <a:ea typeface="宋体" panose="02010600030101010101" pitchFamily="2" charset="-122"/>
              </a:rPr>
              <a:t>⑤ </a:t>
            </a:r>
            <a:r>
              <a:rPr lang="en-US" altLang="zh-CN" sz="2400" dirty="0" err="1" smtClean="0">
                <a:solidFill>
                  <a:srgbClr val="181E33"/>
                </a:solidFill>
                <a:latin typeface="宋体" panose="02010600030101010101" pitchFamily="2" charset="-122"/>
                <a:ea typeface="宋体" panose="02010600030101010101" pitchFamily="2" charset="-122"/>
              </a:rPr>
              <a:t>Tomasulo</a:t>
            </a:r>
            <a:r>
              <a:rPr lang="zh-CN" altLang="en-US" sz="2400" dirty="0">
                <a:solidFill>
                  <a:srgbClr val="181E33"/>
                </a:solidFill>
                <a:latin typeface="宋体" panose="02010600030101010101" pitchFamily="2" charset="-122"/>
                <a:ea typeface="宋体" panose="02010600030101010101" pitchFamily="2" charset="-122"/>
              </a:rPr>
              <a:t>算法只能处理结构冲突和数据冲突，不能处理异常和控制冲突</a:t>
            </a:r>
            <a:r>
              <a:rPr lang="zh-CN" altLang="en-US" sz="2400" dirty="0" smtClean="0">
                <a:solidFill>
                  <a:srgbClr val="181E33"/>
                </a:solidFill>
                <a:latin typeface="宋体" panose="02010600030101010101" pitchFamily="2" charset="-122"/>
                <a:ea typeface="宋体" panose="02010600030101010101" pitchFamily="2" charset="-122"/>
              </a:rPr>
              <a:t>。指令队列里有分支指令，分支指令之后的指令不能流出，直到确定分支是否成功。</a:t>
            </a:r>
            <a:endParaRPr lang="zh-CN" altLang="en-US" sz="2400" dirty="0">
              <a:solidFill>
                <a:srgbClr val="181E33"/>
              </a:solidFill>
              <a:latin typeface="宋体" panose="02010600030101010101" pitchFamily="2" charset="-122"/>
              <a:ea typeface="宋体" panose="02010600030101010101" pitchFamily="2" charset="-122"/>
            </a:endParaRPr>
          </a:p>
          <a:p>
            <a:pPr marL="896938" indent="-452438">
              <a:lnSpc>
                <a:spcPts val="3000"/>
              </a:lnSpc>
              <a:spcBef>
                <a:spcPts val="600"/>
              </a:spcBef>
              <a:buNone/>
            </a:pPr>
            <a:r>
              <a:rPr lang="en-US" altLang="zh-CN" sz="2400" dirty="0" smtClean="0">
                <a:solidFill>
                  <a:srgbClr val="181E33"/>
                </a:solidFill>
                <a:latin typeface="宋体" panose="02010600030101010101" pitchFamily="2" charset="-122"/>
                <a:ea typeface="宋体" panose="02010600030101010101" pitchFamily="2" charset="-122"/>
              </a:rPr>
              <a:t>⑥ </a:t>
            </a:r>
            <a:r>
              <a:rPr lang="zh-CN" altLang="en-US" sz="2400" dirty="0" smtClean="0">
                <a:solidFill>
                  <a:srgbClr val="181E33"/>
                </a:solidFill>
                <a:latin typeface="宋体" panose="02010600030101010101" pitchFamily="2" charset="-122"/>
                <a:ea typeface="宋体" panose="02010600030101010101" pitchFamily="2" charset="-122"/>
              </a:rPr>
              <a:t>在</a:t>
            </a:r>
            <a:r>
              <a:rPr lang="zh-CN" altLang="en-US" sz="2400" dirty="0">
                <a:solidFill>
                  <a:srgbClr val="181E33"/>
                </a:solidFill>
                <a:latin typeface="宋体" panose="02010600030101010101" pitchFamily="2" charset="-122"/>
                <a:ea typeface="宋体" panose="02010600030101010101" pitchFamily="2" charset="-122"/>
              </a:rPr>
              <a:t>算法中，有两个地方容易忽视，需要格外注意：一个是从</a:t>
            </a:r>
            <a:r>
              <a:rPr lang="en-US" altLang="zh-CN" sz="2400" dirty="0" smtClean="0">
                <a:solidFill>
                  <a:srgbClr val="181E33"/>
                </a:solidFill>
                <a:latin typeface="宋体" panose="02010600030101010101" pitchFamily="2" charset="-122"/>
                <a:ea typeface="宋体" panose="02010600030101010101" pitchFamily="2" charset="-122"/>
              </a:rPr>
              <a:t>Load/store</a:t>
            </a:r>
            <a:r>
              <a:rPr lang="zh-CN" altLang="en-US" sz="2400" dirty="0" smtClean="0">
                <a:solidFill>
                  <a:srgbClr val="181E33"/>
                </a:solidFill>
                <a:latin typeface="宋体" panose="02010600030101010101" pitchFamily="2" charset="-122"/>
                <a:ea typeface="宋体" panose="02010600030101010101" pitchFamily="2" charset="-122"/>
              </a:rPr>
              <a:t>指令要按照</a:t>
            </a:r>
            <a:r>
              <a:rPr lang="en-US" altLang="zh-CN" sz="2400" dirty="0" smtClean="0">
                <a:solidFill>
                  <a:srgbClr val="181E33"/>
                </a:solidFill>
                <a:latin typeface="宋体" panose="02010600030101010101" pitchFamily="2" charset="-122"/>
                <a:ea typeface="宋体" panose="02010600030101010101" pitchFamily="2" charset="-122"/>
              </a:rPr>
              <a:t>FIFO</a:t>
            </a:r>
            <a:r>
              <a:rPr lang="zh-CN" altLang="en-US" sz="2400" dirty="0" smtClean="0">
                <a:solidFill>
                  <a:srgbClr val="181E33"/>
                </a:solidFill>
                <a:latin typeface="宋体" panose="02010600030101010101" pitchFamily="2" charset="-122"/>
                <a:ea typeface="宋体" panose="02010600030101010101" pitchFamily="2" charset="-122"/>
              </a:rPr>
              <a:t>次序访存；</a:t>
            </a:r>
            <a:r>
              <a:rPr lang="zh-CN" altLang="en-US" sz="2400" dirty="0">
                <a:solidFill>
                  <a:srgbClr val="181E33"/>
                </a:solidFill>
                <a:latin typeface="宋体" panose="02010600030101010101" pitchFamily="2" charset="-122"/>
                <a:ea typeface="宋体" panose="02010600030101010101" pitchFamily="2" charset="-122"/>
              </a:rPr>
              <a:t>另一个是，</a:t>
            </a:r>
            <a:r>
              <a:rPr lang="en-US" altLang="zh-CN" sz="2400" dirty="0">
                <a:solidFill>
                  <a:srgbClr val="181E33"/>
                </a:solidFill>
                <a:latin typeface="宋体" panose="02010600030101010101" pitchFamily="2" charset="-122"/>
                <a:ea typeface="宋体" panose="02010600030101010101" pitchFamily="2" charset="-122"/>
              </a:rPr>
              <a:t>store</a:t>
            </a:r>
            <a:r>
              <a:rPr lang="zh-CN" altLang="en-US" sz="2400" dirty="0">
                <a:solidFill>
                  <a:srgbClr val="181E33"/>
                </a:solidFill>
                <a:latin typeface="宋体" panose="02010600030101010101" pitchFamily="2" charset="-122"/>
                <a:ea typeface="宋体" panose="02010600030101010101" pitchFamily="2" charset="-122"/>
              </a:rPr>
              <a:t>指令执行阶段和写结果阶段进入的条件</a:t>
            </a:r>
            <a:r>
              <a:rPr lang="zh-CN" altLang="en-US" sz="2400" dirty="0" smtClean="0">
                <a:solidFill>
                  <a:srgbClr val="181E33"/>
                </a:solidFill>
                <a:latin typeface="宋体" panose="02010600030101010101" pitchFamily="2" charset="-122"/>
                <a:ea typeface="宋体" panose="02010600030101010101" pitchFamily="2" charset="-122"/>
              </a:rPr>
              <a:t>。</a:t>
            </a:r>
            <a:endParaRPr lang="zh-CN" altLang="en-US" sz="20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79915269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标题 1"/>
          <p:cNvSpPr txBox="1">
            <a:spLocks/>
          </p:cNvSpPr>
          <p:nvPr/>
        </p:nvSpPr>
        <p:spPr>
          <a:xfrm>
            <a:off x="-1" y="0"/>
            <a:ext cx="7699762" cy="8887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dirty="0" smtClean="0">
                <a:latin typeface="宋体" panose="02010600030101010101" pitchFamily="2" charset="-122"/>
                <a:ea typeface="宋体" panose="02010600030101010101" pitchFamily="2" charset="-122"/>
              </a:rPr>
              <a:t>四</a:t>
            </a:r>
            <a:r>
              <a:rPr lang="en-US" altLang="zh-CN" sz="3600" dirty="0" smtClean="0">
                <a:latin typeface="宋体" panose="02010600030101010101" pitchFamily="2" charset="-122"/>
                <a:ea typeface="宋体" panose="02010600030101010101" pitchFamily="2" charset="-122"/>
              </a:rPr>
              <a:t> </a:t>
            </a:r>
            <a:r>
              <a:rPr lang="zh-CN" altLang="en-US" sz="3600" dirty="0" smtClean="0">
                <a:latin typeface="宋体" panose="02010600030101010101" pitchFamily="2" charset="-122"/>
                <a:ea typeface="宋体" panose="02010600030101010101" pitchFamily="2" charset="-122"/>
              </a:rPr>
              <a:t>动态调度解决控制冒险</a:t>
            </a:r>
            <a:endParaRPr lang="zh-CN" altLang="en-US" sz="3600" dirty="0">
              <a:latin typeface="宋体" panose="02010600030101010101" pitchFamily="2" charset="-122"/>
              <a:ea typeface="宋体" panose="02010600030101010101" pitchFamily="2" charset="-122"/>
            </a:endParaRPr>
          </a:p>
        </p:txBody>
      </p:sp>
      <p:pic>
        <p:nvPicPr>
          <p:cNvPr id="61442" name="Picture 2" descr="https://p.ananas.chaoxing.com/star3/origin/01a77e28758d0a65f5ebfb9372e7bb6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3376" y="1316260"/>
            <a:ext cx="6057221" cy="3161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104576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508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ClrTx/>
              <a:buSzTx/>
              <a:buNone/>
            </a:pPr>
            <a:fld id="{994158CD-4866-42DC-B96A-1A300C13B8E6}" type="slidenum">
              <a:rPr kumimoji="0" lang="en-US" altLang="zh-CN" sz="1400">
                <a:solidFill>
                  <a:srgbClr val="FFFFFF"/>
                </a:solidFill>
                <a:latin typeface="Tahoma" panose="020B0604030504040204" pitchFamily="34" charset="0"/>
              </a:rPr>
              <a:pPr fontAlgn="base">
                <a:spcBef>
                  <a:spcPct val="0"/>
                </a:spcBef>
                <a:spcAft>
                  <a:spcPct val="0"/>
                </a:spcAft>
                <a:buClrTx/>
                <a:buSzTx/>
                <a:buNone/>
              </a:pPr>
              <a:t>85</a:t>
            </a:fld>
            <a:endParaRPr kumimoji="0" lang="en-US" altLang="zh-CN" sz="1400">
              <a:solidFill>
                <a:srgbClr val="FFFFFF"/>
              </a:solidFill>
              <a:latin typeface="Tahoma" panose="020B0604030504040204" pitchFamily="34" charset="0"/>
            </a:endParaRPr>
          </a:p>
        </p:txBody>
      </p:sp>
      <p:sp>
        <p:nvSpPr>
          <p:cNvPr id="250883" name="Rectangle 2"/>
          <p:cNvSpPr>
            <a:spLocks noChangeArrowheads="1"/>
          </p:cNvSpPr>
          <p:nvPr/>
        </p:nvSpPr>
        <p:spPr bwMode="auto">
          <a:xfrm>
            <a:off x="85919" y="0"/>
            <a:ext cx="3892412" cy="8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tIns="165048" bIns="165048" anchor="ct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ClrTx/>
              <a:buSzTx/>
              <a:buNone/>
            </a:pPr>
            <a:r>
              <a:rPr lang="zh-CN" altLang="en-US" dirty="0" smtClean="0">
                <a:solidFill>
                  <a:srgbClr val="080808"/>
                </a:solidFill>
                <a:latin typeface="宋体" panose="02010600030101010101" pitchFamily="2" charset="-122"/>
              </a:rPr>
              <a:t>什么是动态</a:t>
            </a:r>
            <a:r>
              <a:rPr lang="zh-CN" altLang="en-US" dirty="0">
                <a:solidFill>
                  <a:srgbClr val="080808"/>
                </a:solidFill>
                <a:latin typeface="宋体" panose="02010600030101010101" pitchFamily="2" charset="-122"/>
              </a:rPr>
              <a:t>分支预测</a:t>
            </a:r>
          </a:p>
        </p:txBody>
      </p:sp>
      <p:sp>
        <p:nvSpPr>
          <p:cNvPr id="250884" name="Rectangle 3"/>
          <p:cNvSpPr>
            <a:spLocks noChangeArrowheads="1"/>
          </p:cNvSpPr>
          <p:nvPr/>
        </p:nvSpPr>
        <p:spPr bwMode="auto">
          <a:xfrm>
            <a:off x="1080657" y="2488567"/>
            <a:ext cx="884100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fontAlgn="base">
              <a:lnSpc>
                <a:spcPct val="120000"/>
              </a:lnSpc>
              <a:spcBef>
                <a:spcPct val="0"/>
              </a:spcBef>
              <a:spcAft>
                <a:spcPct val="0"/>
              </a:spcAft>
              <a:buClrTx/>
              <a:buSzTx/>
              <a:buNone/>
            </a:pPr>
            <a:r>
              <a:rPr lang="zh-CN" altLang="en-US" sz="2000" dirty="0" smtClean="0">
                <a:solidFill>
                  <a:srgbClr val="080808"/>
                </a:solidFill>
                <a:latin typeface="宋体" panose="02010600030101010101" pitchFamily="2" charset="-122"/>
              </a:rPr>
              <a:t>优点</a:t>
            </a:r>
            <a:r>
              <a:rPr lang="zh-CN" altLang="en-US" sz="2000" dirty="0">
                <a:solidFill>
                  <a:srgbClr val="080808"/>
                </a:solidFill>
                <a:latin typeface="宋体" panose="02010600030101010101" pitchFamily="2" charset="-122"/>
              </a:rPr>
              <a:t>：</a:t>
            </a:r>
          </a:p>
          <a:p>
            <a:pPr marL="896938" lvl="2" indent="-273050" fontAlgn="base">
              <a:lnSpc>
                <a:spcPct val="120000"/>
              </a:lnSpc>
              <a:spcBef>
                <a:spcPct val="0"/>
              </a:spcBef>
              <a:spcAft>
                <a:spcPct val="0"/>
              </a:spcAft>
              <a:buClrTx/>
              <a:buSzTx/>
              <a:buFont typeface="Wingdings" panose="05000000000000000000" pitchFamily="2" charset="2"/>
              <a:buChar char="Ø"/>
            </a:pPr>
            <a:r>
              <a:rPr lang="zh-CN" altLang="en-US" sz="2000" dirty="0" smtClean="0">
                <a:solidFill>
                  <a:srgbClr val="080808"/>
                </a:solidFill>
                <a:latin typeface="宋体" panose="02010600030101010101" pitchFamily="2" charset="-122"/>
              </a:rPr>
              <a:t>根据</a:t>
            </a:r>
            <a:r>
              <a:rPr lang="zh-CN" altLang="en-US" sz="2000" dirty="0">
                <a:solidFill>
                  <a:srgbClr val="080808"/>
                </a:solidFill>
                <a:latin typeface="宋体" panose="02010600030101010101" pitchFamily="2" charset="-122"/>
              </a:rPr>
              <a:t>程序的执行过程动态地改变转移的预测方向，因此有更好的准确度和适应性。</a:t>
            </a:r>
            <a:endParaRPr lang="en-US" altLang="zh-CN" sz="2000" dirty="0">
              <a:solidFill>
                <a:srgbClr val="080808"/>
              </a:solidFill>
              <a:latin typeface="宋体" panose="02010600030101010101" pitchFamily="2" charset="-122"/>
            </a:endParaRPr>
          </a:p>
          <a:p>
            <a:pPr marL="896938" lvl="2" indent="-273050" fontAlgn="base">
              <a:lnSpc>
                <a:spcPct val="120000"/>
              </a:lnSpc>
              <a:spcBef>
                <a:spcPct val="0"/>
              </a:spcBef>
              <a:spcAft>
                <a:spcPct val="0"/>
              </a:spcAft>
              <a:buClrTx/>
              <a:buSzTx/>
              <a:buFont typeface="Wingdings" panose="05000000000000000000" pitchFamily="2" charset="2"/>
              <a:buChar char="Ø"/>
            </a:pPr>
            <a:r>
              <a:rPr lang="zh-CN" altLang="en-US" sz="2000" dirty="0">
                <a:solidFill>
                  <a:srgbClr val="080808"/>
                </a:solidFill>
                <a:latin typeface="宋体" panose="02010600030101010101" pitchFamily="2" charset="-122"/>
              </a:rPr>
              <a:t>程序每次执行时，可能预测的分支方向与前次相同或不同</a:t>
            </a:r>
            <a:r>
              <a:rPr lang="zh-CN" altLang="en-US" sz="2000" dirty="0" smtClean="0">
                <a:solidFill>
                  <a:srgbClr val="080808"/>
                </a:solidFill>
                <a:latin typeface="宋体" panose="02010600030101010101" pitchFamily="2" charset="-122"/>
              </a:rPr>
              <a:t>。</a:t>
            </a:r>
            <a:endParaRPr lang="zh-CN" altLang="en-US" sz="2000" dirty="0">
              <a:solidFill>
                <a:srgbClr val="080808"/>
              </a:solidFill>
              <a:latin typeface="宋体" panose="02010600030101010101" pitchFamily="2" charset="-122"/>
            </a:endParaRPr>
          </a:p>
        </p:txBody>
      </p:sp>
      <p:sp>
        <p:nvSpPr>
          <p:cNvPr id="250888" name="Text Box 12"/>
          <p:cNvSpPr txBox="1">
            <a:spLocks noChangeArrowheads="1"/>
          </p:cNvSpPr>
          <p:nvPr/>
        </p:nvSpPr>
        <p:spPr bwMode="auto">
          <a:xfrm>
            <a:off x="1080658" y="6077247"/>
            <a:ext cx="91450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lr>
                <a:schemeClr val="accent2"/>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50000"/>
              </a:spcBef>
              <a:spcAft>
                <a:spcPct val="0"/>
              </a:spcAft>
              <a:buClrTx/>
              <a:buSzTx/>
              <a:buNone/>
            </a:pPr>
            <a:r>
              <a:rPr lang="zh-CN" altLang="en-US" sz="2400" dirty="0">
                <a:ea typeface="黑体" panose="02010609060101010101" pitchFamily="49" charset="-122"/>
              </a:rPr>
              <a:t>以上预测机制的</a:t>
            </a:r>
            <a:r>
              <a:rPr lang="zh-CN" altLang="en-US" sz="2400" dirty="0">
                <a:solidFill>
                  <a:srgbClr val="0070C0"/>
                </a:solidFill>
                <a:ea typeface="黑体" panose="02010609060101010101" pitchFamily="49" charset="-122"/>
              </a:rPr>
              <a:t>性能随着复杂性与硬件的增加而有效地提高。</a:t>
            </a:r>
          </a:p>
        </p:txBody>
      </p:sp>
      <p:sp>
        <p:nvSpPr>
          <p:cNvPr id="2" name="矩形 1"/>
          <p:cNvSpPr/>
          <p:nvPr/>
        </p:nvSpPr>
        <p:spPr>
          <a:xfrm>
            <a:off x="1080658" y="4228485"/>
            <a:ext cx="4801314" cy="2492990"/>
          </a:xfrm>
          <a:prstGeom prst="rect">
            <a:avLst/>
          </a:prstGeom>
        </p:spPr>
        <p:txBody>
          <a:bodyPr wrap="none">
            <a:spAutoFit/>
          </a:bodyPr>
          <a:lstStyle/>
          <a:p>
            <a:pPr fontAlgn="base">
              <a:lnSpc>
                <a:spcPts val="3000"/>
              </a:lnSpc>
              <a:spcBef>
                <a:spcPct val="0"/>
              </a:spcBef>
              <a:spcAft>
                <a:spcPct val="0"/>
              </a:spcAft>
              <a:buClrTx/>
              <a:buSzTx/>
              <a:buNone/>
            </a:pPr>
            <a:r>
              <a:rPr lang="zh-CN" altLang="en-US" sz="2000" dirty="0">
                <a:solidFill>
                  <a:srgbClr val="080808"/>
                </a:solidFill>
                <a:latin typeface="宋体" panose="02010600030101010101" pitchFamily="2" charset="-122"/>
                <a:ea typeface="宋体" panose="02010600030101010101" pitchFamily="2" charset="-122"/>
              </a:rPr>
              <a:t>从简单到复杂的动态转移预测技术如下</a:t>
            </a:r>
            <a:r>
              <a:rPr lang="zh-CN" altLang="en-US" sz="2000" dirty="0" smtClean="0">
                <a:solidFill>
                  <a:srgbClr val="080808"/>
                </a:solidFill>
                <a:latin typeface="宋体" panose="02010600030101010101" pitchFamily="2" charset="-122"/>
                <a:ea typeface="宋体" panose="02010600030101010101" pitchFamily="2" charset="-122"/>
              </a:rPr>
              <a:t>：</a:t>
            </a:r>
            <a:endParaRPr lang="en-US" altLang="zh-CN" sz="2000" dirty="0" smtClean="0">
              <a:solidFill>
                <a:srgbClr val="080808"/>
              </a:solidFill>
              <a:latin typeface="宋体" panose="02010600030101010101" pitchFamily="2" charset="-122"/>
              <a:ea typeface="宋体" panose="02010600030101010101" pitchFamily="2" charset="-122"/>
            </a:endParaRPr>
          </a:p>
          <a:p>
            <a:pPr marL="342900" indent="195263" fontAlgn="base">
              <a:lnSpc>
                <a:spcPts val="3000"/>
              </a:lnSpc>
              <a:spcBef>
                <a:spcPct val="0"/>
              </a:spcBef>
              <a:spcAft>
                <a:spcPct val="0"/>
              </a:spcAft>
              <a:buFont typeface="Arial" panose="020B0604020202020204" pitchFamily="34" charset="0"/>
              <a:buChar char="•"/>
            </a:pPr>
            <a:r>
              <a:rPr kumimoji="1" lang="zh-CN" altLang="en-US" sz="2000" dirty="0">
                <a:solidFill>
                  <a:srgbClr val="080808"/>
                </a:solidFill>
                <a:latin typeface="宋体" panose="02010600030101010101" pitchFamily="2" charset="-122"/>
                <a:ea typeface="宋体" panose="02010600030101010101" pitchFamily="2" charset="-122"/>
              </a:rPr>
              <a:t>分支预测缓存器（</a:t>
            </a:r>
            <a:r>
              <a:rPr kumimoji="1" lang="en-US" altLang="zh-CN" sz="2000" dirty="0">
                <a:solidFill>
                  <a:srgbClr val="080808"/>
                </a:solidFill>
                <a:latin typeface="宋体" panose="02010600030101010101" pitchFamily="2" charset="-122"/>
                <a:ea typeface="宋体" panose="02010600030101010101" pitchFamily="2" charset="-122"/>
              </a:rPr>
              <a:t>BHT</a:t>
            </a:r>
            <a:r>
              <a:rPr kumimoji="1" lang="zh-CN" altLang="en-US" sz="2000" dirty="0">
                <a:solidFill>
                  <a:srgbClr val="080808"/>
                </a:solidFill>
                <a:latin typeface="宋体" panose="02010600030101010101" pitchFamily="2" charset="-122"/>
                <a:ea typeface="宋体" panose="02010600030101010101" pitchFamily="2" charset="-122"/>
              </a:rPr>
              <a:t>）</a:t>
            </a:r>
            <a:endParaRPr kumimoji="1" lang="en-US" altLang="zh-CN" sz="2000" dirty="0">
              <a:solidFill>
                <a:srgbClr val="080808"/>
              </a:solidFill>
              <a:latin typeface="宋体" panose="02010600030101010101" pitchFamily="2" charset="-122"/>
              <a:ea typeface="宋体" panose="02010600030101010101" pitchFamily="2" charset="-122"/>
            </a:endParaRPr>
          </a:p>
          <a:p>
            <a:pPr marL="342900" indent="195263" fontAlgn="base">
              <a:lnSpc>
                <a:spcPts val="3000"/>
              </a:lnSpc>
              <a:spcBef>
                <a:spcPct val="0"/>
              </a:spcBef>
              <a:spcAft>
                <a:spcPct val="0"/>
              </a:spcAft>
              <a:buFont typeface="Arial" panose="020B0604020202020204" pitchFamily="34" charset="0"/>
              <a:buChar char="•"/>
            </a:pPr>
            <a:r>
              <a:rPr kumimoji="1" lang="zh-CN" altLang="en-US" sz="2000" dirty="0">
                <a:solidFill>
                  <a:srgbClr val="080808"/>
                </a:solidFill>
                <a:latin typeface="宋体" panose="02010600030101010101" pitchFamily="2" charset="-122"/>
                <a:ea typeface="宋体" panose="02010600030101010101" pitchFamily="2" charset="-122"/>
              </a:rPr>
              <a:t>分支目标缓冲器（</a:t>
            </a:r>
            <a:r>
              <a:rPr kumimoji="1" lang="en-US" altLang="zh-CN" sz="2000" dirty="0">
                <a:solidFill>
                  <a:srgbClr val="080808"/>
                </a:solidFill>
                <a:latin typeface="宋体" panose="02010600030101010101" pitchFamily="2" charset="-122"/>
                <a:ea typeface="宋体" panose="02010600030101010101" pitchFamily="2" charset="-122"/>
              </a:rPr>
              <a:t>BTB</a:t>
            </a:r>
            <a:r>
              <a:rPr kumimoji="1" lang="zh-CN" altLang="en-US" sz="2000" dirty="0">
                <a:solidFill>
                  <a:srgbClr val="080808"/>
                </a:solidFill>
                <a:latin typeface="宋体" panose="02010600030101010101" pitchFamily="2" charset="-122"/>
                <a:ea typeface="宋体" panose="02010600030101010101" pitchFamily="2" charset="-122"/>
              </a:rPr>
              <a:t>）</a:t>
            </a:r>
            <a:endParaRPr kumimoji="1" lang="en-US" altLang="zh-CN" sz="2000" dirty="0">
              <a:solidFill>
                <a:srgbClr val="080808"/>
              </a:solidFill>
              <a:latin typeface="宋体" panose="02010600030101010101" pitchFamily="2" charset="-122"/>
              <a:ea typeface="宋体" panose="02010600030101010101" pitchFamily="2" charset="-122"/>
            </a:endParaRPr>
          </a:p>
          <a:p>
            <a:pPr marL="342900" indent="195263" fontAlgn="base">
              <a:lnSpc>
                <a:spcPts val="3000"/>
              </a:lnSpc>
              <a:spcBef>
                <a:spcPct val="0"/>
              </a:spcBef>
              <a:spcAft>
                <a:spcPct val="0"/>
              </a:spcAft>
              <a:buFont typeface="Arial" panose="020B0604020202020204" pitchFamily="34" charset="0"/>
              <a:buChar char="•"/>
            </a:pPr>
            <a:r>
              <a:rPr kumimoji="1" lang="zh-CN" altLang="en-US" sz="2000" dirty="0">
                <a:solidFill>
                  <a:srgbClr val="080808"/>
                </a:solidFill>
                <a:latin typeface="宋体" panose="02010600030101010101" pitchFamily="2" charset="-122"/>
                <a:ea typeface="宋体" panose="02010600030101010101" pitchFamily="2" charset="-122"/>
              </a:rPr>
              <a:t>基于硬件的前瞻执行</a:t>
            </a:r>
            <a:r>
              <a:rPr kumimoji="1" lang="en-US" altLang="zh-CN" sz="2000" dirty="0">
                <a:solidFill>
                  <a:srgbClr val="080808"/>
                </a:solidFill>
                <a:latin typeface="宋体" panose="02010600030101010101" pitchFamily="2" charset="-122"/>
                <a:ea typeface="宋体" panose="02010600030101010101" pitchFamily="2" charset="-122"/>
              </a:rPr>
              <a:t>(ROB)</a:t>
            </a:r>
            <a:endParaRPr kumimoji="1" lang="zh-CN" altLang="en-US" sz="2000" dirty="0">
              <a:solidFill>
                <a:srgbClr val="080808"/>
              </a:solidFill>
              <a:latin typeface="宋体" panose="02010600030101010101" pitchFamily="2" charset="-122"/>
              <a:ea typeface="宋体" panose="02010600030101010101" pitchFamily="2" charset="-122"/>
            </a:endParaRPr>
          </a:p>
          <a:p>
            <a:pPr fontAlgn="base">
              <a:spcBef>
                <a:spcPct val="0"/>
              </a:spcBef>
              <a:spcAft>
                <a:spcPct val="0"/>
              </a:spcAft>
            </a:pPr>
            <a:endParaRPr kumimoji="1" lang="zh-CN" altLang="en-US" sz="2000" dirty="0">
              <a:solidFill>
                <a:srgbClr val="080808"/>
              </a:solidFill>
              <a:latin typeface="宋体" panose="02010600030101010101" pitchFamily="2" charset="-122"/>
              <a:ea typeface="宋体" panose="02010600030101010101" pitchFamily="2" charset="-122"/>
            </a:endParaRPr>
          </a:p>
          <a:p>
            <a:pPr fontAlgn="base">
              <a:spcBef>
                <a:spcPct val="0"/>
              </a:spcBef>
              <a:spcAft>
                <a:spcPct val="0"/>
              </a:spcAft>
            </a:pPr>
            <a:r>
              <a:rPr lang="zh-CN" altLang="en-US" dirty="0" smtClean="0">
                <a:solidFill>
                  <a:srgbClr val="0070C0"/>
                </a:solidFill>
                <a:ea typeface="黑体" panose="02010609060101010101" pitchFamily="49" charset="-122"/>
              </a:rPr>
              <a:t> </a:t>
            </a:r>
            <a:endParaRPr lang="zh-CN" altLang="en-US" dirty="0">
              <a:solidFill>
                <a:srgbClr val="0070C0"/>
              </a:solidFill>
              <a:ea typeface="黑体" panose="02010609060101010101" pitchFamily="49" charset="-122"/>
            </a:endParaRPr>
          </a:p>
          <a:p>
            <a:pPr fontAlgn="base">
              <a:spcBef>
                <a:spcPct val="0"/>
              </a:spcBef>
              <a:spcAft>
                <a:spcPct val="0"/>
              </a:spcAft>
              <a:buClrTx/>
              <a:buSzTx/>
              <a:buNone/>
            </a:pPr>
            <a:endParaRPr lang="zh-CN" altLang="en-US" dirty="0">
              <a:solidFill>
                <a:srgbClr val="080808"/>
              </a:solidFill>
              <a:latin typeface="宋体" panose="02010600030101010101" pitchFamily="2" charset="-122"/>
            </a:endParaRPr>
          </a:p>
        </p:txBody>
      </p:sp>
      <p:sp>
        <p:nvSpPr>
          <p:cNvPr id="3" name="矩形 2"/>
          <p:cNvSpPr/>
          <p:nvPr/>
        </p:nvSpPr>
        <p:spPr>
          <a:xfrm>
            <a:off x="1080658" y="877955"/>
            <a:ext cx="9001239" cy="1520609"/>
          </a:xfrm>
          <a:prstGeom prst="rect">
            <a:avLst/>
          </a:prstGeom>
        </p:spPr>
        <p:txBody>
          <a:bodyPr wrap="square">
            <a:spAutoFit/>
          </a:bodyPr>
          <a:lstStyle/>
          <a:p>
            <a:pPr fontAlgn="base">
              <a:lnSpc>
                <a:spcPct val="120000"/>
              </a:lnSpc>
              <a:spcBef>
                <a:spcPct val="0"/>
              </a:spcBef>
              <a:spcAft>
                <a:spcPct val="0"/>
              </a:spcAft>
              <a:buClrTx/>
              <a:buSzTx/>
              <a:buNone/>
            </a:pPr>
            <a:r>
              <a:rPr lang="zh-CN" altLang="en-US" sz="2000" dirty="0" smtClean="0">
                <a:solidFill>
                  <a:srgbClr val="080808"/>
                </a:solidFill>
                <a:latin typeface="宋体" panose="02010600030101010101" pitchFamily="2" charset="-122"/>
                <a:ea typeface="宋体" panose="02010600030101010101" pitchFamily="2" charset="-122"/>
              </a:rPr>
              <a:t>动态</a:t>
            </a:r>
            <a:r>
              <a:rPr lang="zh-CN" altLang="en-US" sz="2000" dirty="0">
                <a:solidFill>
                  <a:srgbClr val="080808"/>
                </a:solidFill>
                <a:latin typeface="宋体" panose="02010600030101010101" pitchFamily="2" charset="-122"/>
                <a:ea typeface="宋体" panose="02010600030101010101" pitchFamily="2" charset="-122"/>
              </a:rPr>
              <a:t>分支预测技术</a:t>
            </a:r>
            <a:r>
              <a:rPr lang="zh-CN" altLang="en-US" sz="2000" dirty="0" smtClean="0">
                <a:solidFill>
                  <a:srgbClr val="080808"/>
                </a:solidFill>
                <a:latin typeface="宋体" panose="02010600030101010101" pitchFamily="2" charset="-122"/>
                <a:ea typeface="宋体" panose="02010600030101010101" pitchFamily="2" charset="-122"/>
              </a:rPr>
              <a:t>：</a:t>
            </a:r>
            <a:endParaRPr lang="en-US" altLang="zh-CN" sz="2000" dirty="0" smtClean="0">
              <a:solidFill>
                <a:srgbClr val="080808"/>
              </a:solidFill>
              <a:latin typeface="宋体" panose="02010600030101010101" pitchFamily="2" charset="-122"/>
              <a:ea typeface="宋体" panose="02010600030101010101" pitchFamily="2" charset="-122"/>
            </a:endParaRPr>
          </a:p>
          <a:p>
            <a:pPr fontAlgn="base">
              <a:lnSpc>
                <a:spcPct val="120000"/>
              </a:lnSpc>
              <a:spcBef>
                <a:spcPct val="0"/>
              </a:spcBef>
              <a:spcAft>
                <a:spcPct val="0"/>
              </a:spcAft>
              <a:buClrTx/>
              <a:buSzTx/>
              <a:buNone/>
            </a:pPr>
            <a:r>
              <a:rPr lang="en-US" altLang="zh-CN" sz="2000" dirty="0">
                <a:solidFill>
                  <a:srgbClr val="080808"/>
                </a:solidFill>
                <a:latin typeface="宋体" panose="02010600030101010101" pitchFamily="2" charset="-122"/>
                <a:ea typeface="宋体" panose="02010600030101010101" pitchFamily="2" charset="-122"/>
              </a:rPr>
              <a:t> </a:t>
            </a:r>
            <a:r>
              <a:rPr lang="en-US" altLang="zh-CN" sz="2000" dirty="0" smtClean="0">
                <a:solidFill>
                  <a:srgbClr val="080808"/>
                </a:solidFill>
                <a:latin typeface="宋体" panose="02010600030101010101" pitchFamily="2" charset="-122"/>
                <a:ea typeface="宋体" panose="02010600030101010101" pitchFamily="2" charset="-122"/>
              </a:rPr>
              <a:t>   </a:t>
            </a:r>
            <a:r>
              <a:rPr lang="zh-CN" altLang="en-US" sz="2000" dirty="0" smtClean="0">
                <a:solidFill>
                  <a:srgbClr val="080808"/>
                </a:solidFill>
                <a:latin typeface="宋体" panose="02010600030101010101" pitchFamily="2" charset="-122"/>
                <a:ea typeface="宋体" panose="02010600030101010101" pitchFamily="2" charset="-122"/>
              </a:rPr>
              <a:t>通过</a:t>
            </a:r>
            <a:r>
              <a:rPr lang="zh-CN" altLang="en-US" sz="2000" dirty="0">
                <a:solidFill>
                  <a:srgbClr val="080808"/>
                </a:solidFill>
                <a:latin typeface="宋体" panose="02010600030101010101" pitchFamily="2" charset="-122"/>
                <a:ea typeface="宋体" panose="02010600030101010101" pitchFamily="2" charset="-122"/>
              </a:rPr>
              <a:t>硬件技术，在程序执行时根据每一条转移指令过去的转移历史记录来预测下一次转移的方向。通过提前预测分支方向，减少或消除控制相关导致的流水线停顿。</a:t>
            </a:r>
            <a:endParaRPr lang="en-US" altLang="zh-CN" sz="2000" dirty="0">
              <a:solidFill>
                <a:srgbClr val="080808"/>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6949426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descr="Rectangle: Click to edit Master text styles&#10;Second level&#10;Third level&#10;Fourth level&#10;Fifth level"/>
          <p:cNvSpPr>
            <a:spLocks noGrp="1"/>
          </p:cNvSpPr>
          <p:nvPr>
            <p:ph idx="1"/>
          </p:nvPr>
        </p:nvSpPr>
        <p:spPr>
          <a:xfrm>
            <a:off x="1143658" y="512527"/>
            <a:ext cx="8658368" cy="4953000"/>
          </a:xfrm>
        </p:spPr>
        <p:txBody>
          <a:bodyPr/>
          <a:lstStyle/>
          <a:p>
            <a:pPr marL="0" indent="0">
              <a:buNone/>
              <a:defRPr/>
            </a:pPr>
            <a:r>
              <a:rPr lang="zh-CN" altLang="en-US" sz="2400" dirty="0">
                <a:latin typeface="宋体" panose="02010600030101010101" pitchFamily="2" charset="-122"/>
                <a:ea typeface="宋体" panose="02010600030101010101" pitchFamily="2" charset="-122"/>
              </a:rPr>
              <a:t>要点： </a:t>
            </a:r>
            <a:endParaRPr lang="en-US" altLang="zh-CN" sz="2400" dirty="0" smtClean="0">
              <a:latin typeface="宋体" panose="02010600030101010101" pitchFamily="2" charset="-122"/>
              <a:ea typeface="宋体" panose="02010600030101010101" pitchFamily="2" charset="-122"/>
            </a:endParaRPr>
          </a:p>
          <a:p>
            <a:pPr marL="358775" indent="265113">
              <a:defRPr/>
            </a:pPr>
            <a:r>
              <a:rPr lang="zh-CN" altLang="en-US" sz="2400" dirty="0" smtClean="0">
                <a:latin typeface="宋体" panose="02010600030101010101" pitchFamily="2" charset="-122"/>
                <a:ea typeface="宋体" panose="02010600030101010101" pitchFamily="2" charset="-122"/>
              </a:rPr>
              <a:t>动态</a:t>
            </a:r>
            <a:r>
              <a:rPr lang="zh-CN" altLang="en-US" sz="2400" dirty="0">
                <a:latin typeface="宋体" panose="02010600030101010101" pitchFamily="2" charset="-122"/>
                <a:ea typeface="宋体" panose="02010600030101010101" pitchFamily="2" charset="-122"/>
              </a:rPr>
              <a:t>分支预测技术和静态分支预测技术的区别 </a:t>
            </a:r>
            <a:endParaRPr lang="en-US" altLang="zh-CN" sz="2400" dirty="0" smtClean="0">
              <a:latin typeface="宋体" panose="02010600030101010101" pitchFamily="2" charset="-122"/>
              <a:ea typeface="宋体" panose="02010600030101010101" pitchFamily="2" charset="-122"/>
            </a:endParaRPr>
          </a:p>
          <a:p>
            <a:pPr marL="358775" indent="265113">
              <a:defRPr/>
            </a:pPr>
            <a:r>
              <a:rPr lang="zh-CN" altLang="en-US" sz="2400" dirty="0" smtClean="0">
                <a:latin typeface="宋体" panose="02010600030101010101" pitchFamily="2" charset="-122"/>
                <a:ea typeface="宋体" panose="02010600030101010101" pitchFamily="2" charset="-122"/>
              </a:rPr>
              <a:t>什么</a:t>
            </a:r>
            <a:r>
              <a:rPr lang="zh-CN" altLang="en-US" sz="2400" dirty="0">
                <a:latin typeface="宋体" panose="02010600030101010101" pitchFamily="2" charset="-122"/>
                <a:ea typeface="宋体" panose="02010600030101010101" pitchFamily="2" charset="-122"/>
              </a:rPr>
              <a:t>叫“分支指令过去的表现”？ </a:t>
            </a:r>
            <a:endParaRPr lang="en-US" altLang="zh-CN" sz="2400" dirty="0" smtClean="0">
              <a:latin typeface="宋体" panose="02010600030101010101" pitchFamily="2" charset="-122"/>
              <a:ea typeface="宋体" panose="02010600030101010101" pitchFamily="2" charset="-122"/>
            </a:endParaRPr>
          </a:p>
          <a:p>
            <a:pPr marL="358775" indent="265113">
              <a:defRPr/>
            </a:pPr>
            <a:r>
              <a:rPr lang="zh-CN" altLang="en-US" sz="2400" dirty="0" smtClean="0">
                <a:latin typeface="宋体" panose="02010600030101010101" pitchFamily="2" charset="-122"/>
                <a:ea typeface="宋体" panose="02010600030101010101" pitchFamily="2" charset="-122"/>
              </a:rPr>
              <a:t>如何</a:t>
            </a:r>
            <a:r>
              <a:rPr lang="zh-CN" altLang="en-US" sz="2400" dirty="0">
                <a:latin typeface="宋体" panose="02010600030101010101" pitchFamily="2" charset="-122"/>
                <a:ea typeface="宋体" panose="02010600030101010101" pitchFamily="2" charset="-122"/>
              </a:rPr>
              <a:t>衡量分支预测的有效性？ </a:t>
            </a:r>
            <a:endParaRPr lang="en-US" altLang="zh-CN" sz="2400" dirty="0" smtClean="0">
              <a:latin typeface="宋体" panose="02010600030101010101" pitchFamily="2" charset="-122"/>
              <a:ea typeface="宋体" panose="02010600030101010101" pitchFamily="2" charset="-122"/>
            </a:endParaRPr>
          </a:p>
          <a:p>
            <a:pPr marL="358775" indent="265113">
              <a:defRPr/>
            </a:pPr>
            <a:r>
              <a:rPr lang="zh-CN" altLang="en-US" sz="2400" dirty="0" smtClean="0">
                <a:latin typeface="宋体" panose="02010600030101010101" pitchFamily="2" charset="-122"/>
                <a:ea typeface="宋体" panose="02010600030101010101" pitchFamily="2" charset="-122"/>
              </a:rPr>
              <a:t>分支</a:t>
            </a:r>
            <a:r>
              <a:rPr lang="zh-CN" altLang="en-US" sz="2400" dirty="0">
                <a:latin typeface="宋体" panose="02010600030101010101" pitchFamily="2" charset="-122"/>
                <a:ea typeface="宋体" panose="02010600030101010101" pitchFamily="2" charset="-122"/>
              </a:rPr>
              <a:t>预测要解决的问题是什么</a:t>
            </a:r>
            <a:r>
              <a:rPr lang="zh-CN" altLang="en-US" sz="2400" dirty="0" smtClean="0">
                <a:latin typeface="宋体" panose="02010600030101010101" pitchFamily="2" charset="-122"/>
                <a:ea typeface="宋体" panose="02010600030101010101" pitchFamily="2" charset="-122"/>
              </a:rPr>
              <a:t>？</a:t>
            </a:r>
            <a:endParaRPr lang="en-US" altLang="zh-CN" sz="2400" dirty="0" smtClean="0">
              <a:latin typeface="宋体" panose="02010600030101010101" pitchFamily="2" charset="-122"/>
              <a:ea typeface="宋体" panose="02010600030101010101" pitchFamily="2" charset="-122"/>
            </a:endParaRPr>
          </a:p>
          <a:p>
            <a:pPr marL="358775" indent="265113">
              <a:defRPr/>
            </a:pPr>
            <a:r>
              <a:rPr lang="zh-CN" altLang="en-US" sz="2400" dirty="0" smtClean="0">
                <a:latin typeface="宋体" panose="02010600030101010101" pitchFamily="2" charset="-122"/>
                <a:ea typeface="宋体" panose="02010600030101010101" pitchFamily="2" charset="-122"/>
              </a:rPr>
              <a:t>需要解决的关键问题？</a:t>
            </a:r>
          </a:p>
          <a:p>
            <a:pPr>
              <a:defRPr/>
            </a:pPr>
            <a:endParaRPr lang="zh-CN" altLang="en-US" dirty="0">
              <a:solidFill>
                <a:schemeClr val="tx1"/>
              </a:solidFill>
            </a:endParaRPr>
          </a:p>
        </p:txBody>
      </p:sp>
    </p:spTree>
    <p:extLst>
      <p:ext uri="{BB962C8B-B14F-4D97-AF65-F5344CB8AC3E}">
        <p14:creationId xmlns:p14="http://schemas.microsoft.com/office/powerpoint/2010/main" val="17645553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52931" name="内容占位符 2" descr="Rectangle: Click to edit Master text styles&#10;Second level&#10;Third level&#10;Fourth level&#10;Fifth level"/>
          <p:cNvSpPr>
            <a:spLocks noGrp="1"/>
          </p:cNvSpPr>
          <p:nvPr>
            <p:ph idx="1"/>
          </p:nvPr>
        </p:nvSpPr>
        <p:spPr>
          <a:xfrm>
            <a:off x="575965" y="351114"/>
            <a:ext cx="10473746" cy="1665693"/>
          </a:xfrm>
        </p:spPr>
        <p:txBody>
          <a:bodyPr/>
          <a:lstStyle/>
          <a:p>
            <a:pPr marL="0" indent="0">
              <a:lnSpc>
                <a:spcPts val="3000"/>
              </a:lnSpc>
              <a:spcBef>
                <a:spcPts val="0"/>
              </a:spcBef>
              <a:buNone/>
            </a:pPr>
            <a:r>
              <a:rPr lang="en-US" altLang="zh-CN" sz="2000" dirty="0">
                <a:solidFill>
                  <a:srgbClr val="FF0000"/>
                </a:solidFill>
                <a:latin typeface="宋体" panose="02010600030101010101" pitchFamily="2" charset="-122"/>
                <a:ea typeface="宋体" panose="02010600030101010101" pitchFamily="2" charset="-122"/>
              </a:rPr>
              <a:t>1. </a:t>
            </a:r>
            <a:r>
              <a:rPr lang="zh-CN" altLang="en-US" sz="2000" dirty="0">
                <a:solidFill>
                  <a:srgbClr val="FF0000"/>
                </a:solidFill>
                <a:latin typeface="宋体" panose="02010600030101010101" pitchFamily="2" charset="-122"/>
                <a:ea typeface="宋体" panose="02010600030101010101" pitchFamily="2" charset="-122"/>
              </a:rPr>
              <a:t>动态分支预测技术和静态分支预测技术的区别</a:t>
            </a:r>
            <a:endParaRPr lang="en-US" altLang="zh-CN" sz="2000" dirty="0">
              <a:solidFill>
                <a:srgbClr val="FF0000"/>
              </a:solidFill>
              <a:latin typeface="宋体" panose="02010600030101010101" pitchFamily="2" charset="-122"/>
              <a:ea typeface="宋体" panose="02010600030101010101" pitchFamily="2" charset="-122"/>
            </a:endParaRPr>
          </a:p>
          <a:p>
            <a:pPr marL="0" indent="444500">
              <a:lnSpc>
                <a:spcPts val="3000"/>
              </a:lnSpc>
              <a:spcBef>
                <a:spcPts val="0"/>
              </a:spcBef>
              <a:buNone/>
            </a:pPr>
            <a:r>
              <a:rPr lang="zh-CN" altLang="en-US" sz="2000" dirty="0">
                <a:solidFill>
                  <a:srgbClr val="FF0000"/>
                </a:solidFill>
                <a:latin typeface="宋体" panose="02010600030101010101" pitchFamily="2" charset="-122"/>
                <a:ea typeface="宋体" panose="02010600030101010101" pitchFamily="2" charset="-122"/>
              </a:rPr>
              <a:t>静态</a:t>
            </a:r>
            <a:r>
              <a:rPr lang="zh-CN" altLang="en-US" sz="2000" dirty="0" smtClean="0">
                <a:solidFill>
                  <a:srgbClr val="FF0000"/>
                </a:solidFill>
                <a:latin typeface="宋体" panose="02010600030101010101" pitchFamily="2" charset="-122"/>
                <a:ea typeface="宋体" panose="02010600030101010101" pitchFamily="2" charset="-122"/>
              </a:rPr>
              <a:t>分支</a:t>
            </a:r>
            <a:r>
              <a:rPr lang="zh-CN" altLang="en-US" sz="2000" dirty="0">
                <a:solidFill>
                  <a:srgbClr val="FF0000"/>
                </a:solidFill>
                <a:latin typeface="宋体" panose="02010600030101010101" pitchFamily="2" charset="-122"/>
                <a:ea typeface="宋体" panose="02010600030101010101" pitchFamily="2" charset="-122"/>
              </a:rPr>
              <a:t>预测</a:t>
            </a:r>
            <a:r>
              <a:rPr lang="zh-CN" altLang="en-US" sz="2000" dirty="0" smtClean="0">
                <a:solidFill>
                  <a:srgbClr val="FF0000"/>
                </a:solidFill>
                <a:latin typeface="宋体" panose="02010600030101010101" pitchFamily="2" charset="-122"/>
                <a:ea typeface="宋体" panose="02010600030101010101" pitchFamily="2" charset="-122"/>
              </a:rPr>
              <a:t>技术</a:t>
            </a:r>
            <a:r>
              <a:rPr lang="zh-CN" altLang="en-US" sz="2000" dirty="0">
                <a:solidFill>
                  <a:schemeClr val="tx1"/>
                </a:solidFill>
                <a:latin typeface="宋体" panose="02010600030101010101" pitchFamily="2" charset="-122"/>
                <a:ea typeface="宋体" panose="02010600030101010101" pitchFamily="2" charset="-122"/>
              </a:rPr>
              <a:t>所进行的操作事先预定好的 ，与分支的实际执行情况无关</a:t>
            </a:r>
            <a:r>
              <a:rPr lang="zh-CN" altLang="en-US" sz="2000" dirty="0" smtClean="0">
                <a:solidFill>
                  <a:schemeClr val="tx1"/>
                </a:solidFill>
                <a:latin typeface="宋体" panose="02010600030101010101" pitchFamily="2" charset="-122"/>
                <a:ea typeface="宋体" panose="02010600030101010101" pitchFamily="2" charset="-122"/>
              </a:rPr>
              <a:t>；</a:t>
            </a:r>
            <a:endParaRPr lang="en-US" altLang="zh-CN" sz="2000" dirty="0" smtClean="0">
              <a:solidFill>
                <a:schemeClr val="tx1"/>
              </a:solidFill>
              <a:latin typeface="宋体" panose="02010600030101010101" pitchFamily="2" charset="-122"/>
              <a:ea typeface="宋体" panose="02010600030101010101" pitchFamily="2" charset="-122"/>
            </a:endParaRPr>
          </a:p>
          <a:p>
            <a:pPr marL="0" indent="444500">
              <a:lnSpc>
                <a:spcPts val="3000"/>
              </a:lnSpc>
              <a:spcBef>
                <a:spcPts val="0"/>
              </a:spcBef>
              <a:buNone/>
            </a:pPr>
            <a:r>
              <a:rPr lang="zh-CN" altLang="en-US" sz="2000" dirty="0" smtClean="0">
                <a:solidFill>
                  <a:srgbClr val="FF0000"/>
                </a:solidFill>
                <a:latin typeface="宋体" panose="02010600030101010101" pitchFamily="2" charset="-122"/>
                <a:ea typeface="宋体" panose="02010600030101010101" pitchFamily="2" charset="-122"/>
              </a:rPr>
              <a:t>动态</a:t>
            </a:r>
            <a:r>
              <a:rPr lang="zh-CN" altLang="en-US" sz="2000" dirty="0">
                <a:solidFill>
                  <a:srgbClr val="FF0000"/>
                </a:solidFill>
                <a:latin typeface="宋体" panose="02010600030101010101" pitchFamily="2" charset="-122"/>
                <a:ea typeface="宋体" panose="02010600030101010101" pitchFamily="2" charset="-122"/>
              </a:rPr>
              <a:t>分支</a:t>
            </a:r>
            <a:r>
              <a:rPr lang="zh-CN" altLang="en-US" sz="2000" dirty="0" smtClean="0">
                <a:solidFill>
                  <a:srgbClr val="FF0000"/>
                </a:solidFill>
                <a:latin typeface="宋体" panose="02010600030101010101" pitchFamily="2" charset="-122"/>
                <a:ea typeface="宋体" panose="02010600030101010101" pitchFamily="2" charset="-122"/>
              </a:rPr>
              <a:t>预测技术</a:t>
            </a:r>
            <a:r>
              <a:rPr lang="zh-CN" altLang="en-US" sz="2000" dirty="0" smtClean="0">
                <a:solidFill>
                  <a:schemeClr val="tx1"/>
                </a:solidFill>
                <a:latin typeface="宋体" panose="02010600030101010101" pitchFamily="2" charset="-122"/>
                <a:ea typeface="宋体" panose="02010600030101010101" pitchFamily="2" charset="-122"/>
              </a:rPr>
              <a:t>的</a:t>
            </a:r>
            <a:r>
              <a:rPr lang="zh-CN" altLang="en-US" sz="2000" dirty="0">
                <a:solidFill>
                  <a:schemeClr val="tx1"/>
                </a:solidFill>
                <a:latin typeface="宋体" panose="02010600030101010101" pitchFamily="2" charset="-122"/>
                <a:ea typeface="宋体" panose="02010600030101010101" pitchFamily="2" charset="-122"/>
              </a:rPr>
              <a:t>方法在程序运行时根据分支执行过去的表现预测其将来的行为（如果分支行为发生了变化，预测结果也跟着改变，此外有更好的预测准确度和适应性）</a:t>
            </a:r>
            <a:r>
              <a:rPr lang="zh-CN" altLang="en-US" sz="2000" dirty="0" smtClean="0">
                <a:solidFill>
                  <a:schemeClr val="tx1"/>
                </a:solidFill>
                <a:latin typeface="宋体" panose="02010600030101010101" pitchFamily="2" charset="-122"/>
                <a:ea typeface="宋体" panose="02010600030101010101" pitchFamily="2" charset="-122"/>
              </a:rPr>
              <a:t>。</a:t>
            </a:r>
            <a:endParaRPr lang="en-US" altLang="zh-CN" sz="2000" dirty="0" smtClean="0">
              <a:solidFill>
                <a:schemeClr val="tx1"/>
              </a:solidFill>
              <a:latin typeface="宋体" panose="02010600030101010101" pitchFamily="2" charset="-122"/>
              <a:ea typeface="宋体" panose="02010600030101010101" pitchFamily="2" charset="-122"/>
            </a:endParaRPr>
          </a:p>
        </p:txBody>
      </p:sp>
      <p:pic>
        <p:nvPicPr>
          <p:cNvPr id="252932"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71291" y="3677682"/>
            <a:ext cx="5244740" cy="2347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575965" y="1661746"/>
            <a:ext cx="10268647" cy="1631216"/>
          </a:xfrm>
          <a:prstGeom prst="rect">
            <a:avLst/>
          </a:prstGeom>
        </p:spPr>
        <p:txBody>
          <a:bodyPr wrap="square">
            <a:spAutoFit/>
          </a:bodyPr>
          <a:lstStyle/>
          <a:p>
            <a:pPr indent="444500">
              <a:lnSpc>
                <a:spcPts val="3000"/>
              </a:lnSpc>
            </a:pPr>
            <a:endParaRPr lang="en-US" altLang="zh-CN" dirty="0">
              <a:latin typeface="宋体" panose="02010600030101010101" pitchFamily="2" charset="-122"/>
              <a:ea typeface="宋体" panose="02010600030101010101" pitchFamily="2" charset="-122"/>
            </a:endParaRPr>
          </a:p>
          <a:p>
            <a:pPr>
              <a:lnSpc>
                <a:spcPts val="3000"/>
              </a:lnSpc>
            </a:pPr>
            <a:r>
              <a:rPr lang="en-US" altLang="zh-CN" sz="2000" dirty="0">
                <a:solidFill>
                  <a:srgbClr val="FF0000"/>
                </a:solidFill>
                <a:latin typeface="宋体" panose="02010600030101010101" pitchFamily="2" charset="-122"/>
                <a:ea typeface="宋体" panose="02010600030101010101" pitchFamily="2" charset="-122"/>
              </a:rPr>
              <a:t>2. </a:t>
            </a:r>
            <a:r>
              <a:rPr lang="zh-CN" altLang="en-US" sz="2000" dirty="0">
                <a:solidFill>
                  <a:srgbClr val="FF0000"/>
                </a:solidFill>
                <a:latin typeface="宋体" panose="02010600030101010101" pitchFamily="2" charset="-122"/>
                <a:ea typeface="宋体" panose="02010600030101010101" pitchFamily="2" charset="-122"/>
              </a:rPr>
              <a:t>什么是“分支指令过去的表现”？ </a:t>
            </a:r>
            <a:endParaRPr lang="en-US" altLang="zh-CN" sz="2000" dirty="0">
              <a:solidFill>
                <a:srgbClr val="FF0000"/>
              </a:solidFill>
              <a:latin typeface="宋体" panose="02010600030101010101" pitchFamily="2" charset="-122"/>
              <a:ea typeface="宋体" panose="02010600030101010101" pitchFamily="2" charset="-122"/>
            </a:endParaRPr>
          </a:p>
          <a:p>
            <a:pPr indent="444500">
              <a:lnSpc>
                <a:spcPts val="3000"/>
              </a:lnSpc>
            </a:pPr>
            <a:r>
              <a:rPr lang="zh-CN" altLang="en-US" sz="2000" dirty="0">
                <a:solidFill>
                  <a:srgbClr val="FF0000"/>
                </a:solidFill>
                <a:latin typeface="宋体" panose="02010600030101010101" pitchFamily="2" charset="-122"/>
                <a:ea typeface="宋体" panose="02010600030101010101" pitchFamily="2" charset="-122"/>
              </a:rPr>
              <a:t>就是记录分支的历史信息，</a:t>
            </a:r>
            <a:r>
              <a:rPr lang="zh-CN" altLang="en-US" sz="2000" dirty="0">
                <a:latin typeface="宋体" panose="02010600030101010101" pitchFamily="2" charset="-122"/>
                <a:ea typeface="宋体" panose="02010600030101010101" pitchFamily="2" charset="-122"/>
              </a:rPr>
              <a:t>在预测错误时，要作废已经预取和分析的指令，恢复现场，为了恢复现场，需要在执行预测的目标指令之前将现场保存起来。</a:t>
            </a:r>
          </a:p>
        </p:txBody>
      </p:sp>
    </p:spTree>
    <p:extLst>
      <p:ext uri="{BB962C8B-B14F-4D97-AF65-F5344CB8AC3E}">
        <p14:creationId xmlns:p14="http://schemas.microsoft.com/office/powerpoint/2010/main" val="14791663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53955" name="Rectangle 3" descr="Rectangle: Click to edit Master text styles&#10;Second level&#10;Third level&#10;Fourth level&#10;Fifth level"/>
          <p:cNvSpPr>
            <a:spLocks noGrp="1" noChangeArrowheads="1"/>
          </p:cNvSpPr>
          <p:nvPr>
            <p:ph idx="1"/>
          </p:nvPr>
        </p:nvSpPr>
        <p:spPr>
          <a:xfrm>
            <a:off x="624556" y="167739"/>
            <a:ext cx="10515600" cy="6536436"/>
          </a:xfrm>
        </p:spPr>
        <p:txBody>
          <a:bodyPr>
            <a:normAutofit/>
          </a:bodyPr>
          <a:lstStyle/>
          <a:p>
            <a:pPr eaLnBrk="1" hangingPunct="1">
              <a:lnSpc>
                <a:spcPts val="3000"/>
              </a:lnSpc>
              <a:spcBef>
                <a:spcPts val="0"/>
              </a:spcBef>
              <a:buFont typeface="Wingdings" panose="05000000000000000000" pitchFamily="2" charset="2"/>
              <a:buNone/>
            </a:pPr>
            <a:r>
              <a:rPr lang="en-US" altLang="zh-CN" sz="2400" dirty="0" smtClean="0">
                <a:latin typeface="宋体" panose="02010600030101010101" pitchFamily="2" charset="-122"/>
                <a:ea typeface="宋体" panose="02010600030101010101" pitchFamily="2" charset="-122"/>
              </a:rPr>
              <a:t>3.</a:t>
            </a:r>
            <a:r>
              <a:rPr lang="zh-CN" altLang="en-US" sz="2400" dirty="0" smtClean="0">
                <a:latin typeface="宋体" panose="02010600030101010101" pitchFamily="2" charset="-122"/>
                <a:ea typeface="宋体" panose="02010600030101010101" pitchFamily="2" charset="-122"/>
              </a:rPr>
              <a:t>分支预测的有效性取决于：</a:t>
            </a:r>
          </a:p>
          <a:p>
            <a:pPr lvl="1" eaLnBrk="1" hangingPunct="1">
              <a:lnSpc>
                <a:spcPts val="3000"/>
              </a:lnSpc>
              <a:spcBef>
                <a:spcPts val="0"/>
              </a:spcBef>
            </a:pPr>
            <a:r>
              <a:rPr lang="zh-CN" altLang="en-US" dirty="0" smtClean="0">
                <a:latin typeface="宋体" panose="02010600030101010101" pitchFamily="2" charset="-122"/>
                <a:ea typeface="宋体" panose="02010600030101010101" pitchFamily="2" charset="-122"/>
              </a:rPr>
              <a:t>预测的准确性</a:t>
            </a:r>
          </a:p>
          <a:p>
            <a:pPr lvl="1" eaLnBrk="1" hangingPunct="1">
              <a:lnSpc>
                <a:spcPts val="3000"/>
              </a:lnSpc>
              <a:spcBef>
                <a:spcPts val="0"/>
              </a:spcBef>
            </a:pPr>
            <a:r>
              <a:rPr lang="zh-CN" altLang="en-US" dirty="0" smtClean="0">
                <a:latin typeface="宋体" panose="02010600030101010101" pitchFamily="2" charset="-122"/>
                <a:ea typeface="宋体" panose="02010600030101010101" pitchFamily="2" charset="-122"/>
              </a:rPr>
              <a:t>预测正确和不正确两种情况下的分支开销</a:t>
            </a:r>
          </a:p>
          <a:p>
            <a:pPr lvl="2" eaLnBrk="1" hangingPunct="1">
              <a:lnSpc>
                <a:spcPts val="3000"/>
              </a:lnSpc>
              <a:spcBef>
                <a:spcPts val="0"/>
              </a:spcBef>
              <a:buFont typeface="Wingdings" panose="05000000000000000000" pitchFamily="2" charset="2"/>
              <a:buNone/>
            </a:pPr>
            <a:r>
              <a:rPr lang="zh-CN" altLang="en-US" sz="2400" dirty="0" smtClean="0">
                <a:latin typeface="宋体" panose="02010600030101010101" pitchFamily="2" charset="-122"/>
                <a:ea typeface="宋体" panose="02010600030101010101" pitchFamily="2" charset="-122"/>
              </a:rPr>
              <a:t>决定分支开销的因素：</a:t>
            </a:r>
          </a:p>
          <a:p>
            <a:pPr lvl="3" eaLnBrk="1" hangingPunct="1">
              <a:lnSpc>
                <a:spcPts val="3000"/>
              </a:lnSpc>
              <a:spcBef>
                <a:spcPts val="0"/>
              </a:spcBef>
            </a:pPr>
            <a:r>
              <a:rPr lang="zh-CN" altLang="en-US" sz="2400" dirty="0" smtClean="0">
                <a:latin typeface="宋体" panose="02010600030101010101" pitchFamily="2" charset="-122"/>
                <a:ea typeface="宋体" panose="02010600030101010101" pitchFamily="2" charset="-122"/>
              </a:rPr>
              <a:t>流水线的结构（</a:t>
            </a:r>
            <a:r>
              <a:rPr lang="en-US" altLang="zh-CN" sz="2400" dirty="0">
                <a:solidFill>
                  <a:srgbClr val="9933FF"/>
                </a:solidFill>
                <a:latin typeface="宋体" panose="02010600030101010101" pitchFamily="2" charset="-122"/>
                <a:ea typeface="宋体" panose="02010600030101010101" pitchFamily="2" charset="-122"/>
              </a:rPr>
              <a:t>5</a:t>
            </a:r>
            <a:r>
              <a:rPr lang="zh-CN" altLang="en-US" sz="2400" dirty="0">
                <a:solidFill>
                  <a:srgbClr val="9933FF"/>
                </a:solidFill>
                <a:latin typeface="宋体" panose="02010600030101010101" pitchFamily="2" charset="-122"/>
                <a:ea typeface="宋体" panose="02010600030101010101" pitchFamily="2" charset="-122"/>
              </a:rPr>
              <a:t>段流水，分支</a:t>
            </a:r>
            <a:r>
              <a:rPr lang="zh-CN" altLang="en-US" sz="2400" dirty="0" smtClean="0">
                <a:solidFill>
                  <a:srgbClr val="9933FF"/>
                </a:solidFill>
                <a:latin typeface="宋体" panose="02010600030101010101" pitchFamily="2" charset="-122"/>
                <a:ea typeface="宋体" panose="02010600030101010101" pitchFamily="2" charset="-122"/>
              </a:rPr>
              <a:t>处理由</a:t>
            </a:r>
            <a:r>
              <a:rPr lang="en-US" altLang="zh-CN" sz="2400" dirty="0" smtClean="0">
                <a:solidFill>
                  <a:srgbClr val="9933FF"/>
                </a:solidFill>
                <a:latin typeface="宋体" panose="02010600030101010101" pitchFamily="2" charset="-122"/>
                <a:ea typeface="宋体" panose="02010600030101010101" pitchFamily="2" charset="-122"/>
              </a:rPr>
              <a:t>MEM</a:t>
            </a:r>
            <a:r>
              <a:rPr lang="zh-CN" altLang="en-US" sz="2400" dirty="0">
                <a:solidFill>
                  <a:srgbClr val="9933FF"/>
                </a:solidFill>
                <a:latin typeface="宋体" panose="02010600030101010101" pitchFamily="2" charset="-122"/>
                <a:ea typeface="宋体" panose="02010600030101010101" pitchFamily="2" charset="-122"/>
              </a:rPr>
              <a:t>段提到</a:t>
            </a:r>
            <a:r>
              <a:rPr lang="en-US" altLang="zh-CN" sz="2400" dirty="0">
                <a:solidFill>
                  <a:srgbClr val="9933FF"/>
                </a:solidFill>
                <a:latin typeface="宋体" panose="02010600030101010101" pitchFamily="2" charset="-122"/>
                <a:ea typeface="宋体" panose="02010600030101010101" pitchFamily="2" charset="-122"/>
              </a:rPr>
              <a:t>ID</a:t>
            </a:r>
            <a:r>
              <a:rPr lang="zh-CN" altLang="en-US" sz="2400" dirty="0">
                <a:latin typeface="宋体" panose="02010600030101010101" pitchFamily="2" charset="-122"/>
                <a:ea typeface="宋体" panose="02010600030101010101" pitchFamily="2" charset="-122"/>
              </a:rPr>
              <a:t>）</a:t>
            </a:r>
          </a:p>
          <a:p>
            <a:pPr lvl="3" eaLnBrk="1" hangingPunct="1">
              <a:lnSpc>
                <a:spcPts val="3000"/>
              </a:lnSpc>
              <a:spcBef>
                <a:spcPts val="0"/>
              </a:spcBef>
            </a:pPr>
            <a:r>
              <a:rPr lang="zh-CN" altLang="en-US" sz="2400" dirty="0" smtClean="0">
                <a:latin typeface="宋体" panose="02010600030101010101" pitchFamily="2" charset="-122"/>
                <a:ea typeface="宋体" panose="02010600030101010101" pitchFamily="2" charset="-122"/>
              </a:rPr>
              <a:t>预测的方法</a:t>
            </a:r>
          </a:p>
          <a:p>
            <a:pPr lvl="3" eaLnBrk="1" hangingPunct="1">
              <a:lnSpc>
                <a:spcPts val="3000"/>
              </a:lnSpc>
              <a:spcBef>
                <a:spcPts val="0"/>
              </a:spcBef>
            </a:pPr>
            <a:r>
              <a:rPr lang="zh-CN" altLang="en-US" sz="2400" dirty="0" smtClean="0">
                <a:latin typeface="宋体" panose="02010600030101010101" pitchFamily="2" charset="-122"/>
                <a:ea typeface="宋体" panose="02010600030101010101" pitchFamily="2" charset="-122"/>
              </a:rPr>
              <a:t>预测错误时的恢复策略等</a:t>
            </a:r>
          </a:p>
          <a:p>
            <a:pPr marL="0" indent="0">
              <a:lnSpc>
                <a:spcPts val="3000"/>
              </a:lnSpc>
              <a:spcBef>
                <a:spcPts val="0"/>
              </a:spcBef>
              <a:buNone/>
            </a:pPr>
            <a:endParaRPr lang="en-US" altLang="zh-CN" sz="2400" dirty="0" smtClean="0">
              <a:latin typeface="宋体" panose="02010600030101010101" pitchFamily="2" charset="-122"/>
              <a:ea typeface="宋体" panose="02010600030101010101" pitchFamily="2" charset="-122"/>
            </a:endParaRPr>
          </a:p>
          <a:p>
            <a:pPr marL="0" indent="0">
              <a:lnSpc>
                <a:spcPts val="3000"/>
              </a:lnSpc>
              <a:spcBef>
                <a:spcPts val="0"/>
              </a:spcBef>
              <a:buNone/>
            </a:pPr>
            <a:r>
              <a:rPr lang="en-US" altLang="zh-CN" sz="2400" dirty="0" smtClean="0">
                <a:latin typeface="宋体" panose="02010600030101010101" pitchFamily="2" charset="-122"/>
                <a:ea typeface="宋体" panose="02010600030101010101" pitchFamily="2" charset="-122"/>
              </a:rPr>
              <a:t>4.</a:t>
            </a:r>
            <a:r>
              <a:rPr lang="zh-CN" altLang="en-US" sz="2400" dirty="0" smtClean="0">
                <a:latin typeface="宋体" panose="02010600030101010101" pitchFamily="2" charset="-122"/>
                <a:ea typeface="宋体" panose="02010600030101010101" pitchFamily="2" charset="-122"/>
              </a:rPr>
              <a:t>采用</a:t>
            </a:r>
            <a:r>
              <a:rPr lang="zh-CN" altLang="en-US" sz="2400" dirty="0">
                <a:latin typeface="宋体" panose="02010600030101010101" pitchFamily="2" charset="-122"/>
                <a:ea typeface="宋体" panose="02010600030101010101" pitchFamily="2" charset="-122"/>
              </a:rPr>
              <a:t>动态分支预测技术的目的</a:t>
            </a:r>
          </a:p>
          <a:p>
            <a:pPr marL="717550" lvl="1" indent="-273050">
              <a:lnSpc>
                <a:spcPts val="3000"/>
              </a:lnSpc>
              <a:spcBef>
                <a:spcPts val="0"/>
              </a:spcBef>
            </a:pPr>
            <a:r>
              <a:rPr lang="zh-CN" altLang="en-US" dirty="0" smtClean="0">
                <a:latin typeface="宋体" panose="02010600030101010101" pitchFamily="2" charset="-122"/>
                <a:ea typeface="宋体" panose="02010600030101010101" pitchFamily="2" charset="-122"/>
              </a:rPr>
              <a:t>预测</a:t>
            </a:r>
            <a:r>
              <a:rPr lang="zh-CN" altLang="en-US" dirty="0">
                <a:latin typeface="宋体" panose="02010600030101010101" pitchFamily="2" charset="-122"/>
                <a:ea typeface="宋体" panose="02010600030101010101" pitchFamily="2" charset="-122"/>
              </a:rPr>
              <a:t>分支是否成功</a:t>
            </a:r>
          </a:p>
          <a:p>
            <a:pPr marL="717550" lvl="1" indent="-273050">
              <a:lnSpc>
                <a:spcPts val="3000"/>
              </a:lnSpc>
              <a:spcBef>
                <a:spcPts val="0"/>
              </a:spcBef>
            </a:pPr>
            <a:r>
              <a:rPr lang="zh-CN" altLang="en-US" dirty="0">
                <a:latin typeface="宋体" panose="02010600030101010101" pitchFamily="2" charset="-122"/>
                <a:ea typeface="宋体" panose="02010600030101010101" pitchFamily="2" charset="-122"/>
              </a:rPr>
              <a:t>尽快找到分支目标地址（或指令）</a:t>
            </a:r>
          </a:p>
          <a:p>
            <a:pPr lvl="2">
              <a:lnSpc>
                <a:spcPts val="3000"/>
              </a:lnSpc>
              <a:spcBef>
                <a:spcPts val="0"/>
              </a:spcBef>
              <a:buNone/>
            </a:pPr>
            <a:r>
              <a:rPr lang="zh-CN" altLang="en-US" sz="2400" dirty="0">
                <a:latin typeface="宋体" panose="02010600030101010101" pitchFamily="2" charset="-122"/>
                <a:ea typeface="宋体" panose="02010600030101010101" pitchFamily="2" charset="-122"/>
              </a:rPr>
              <a:t>（避免控制相关造成流水线停顿） </a:t>
            </a:r>
          </a:p>
          <a:p>
            <a:pPr marL="0" indent="0">
              <a:lnSpc>
                <a:spcPts val="3000"/>
              </a:lnSpc>
              <a:spcBef>
                <a:spcPts val="0"/>
              </a:spcBef>
              <a:buNone/>
            </a:pPr>
            <a:endParaRPr lang="en-US" altLang="zh-CN" sz="2400" dirty="0" smtClean="0">
              <a:latin typeface="宋体" panose="02010600030101010101" pitchFamily="2" charset="-122"/>
              <a:ea typeface="宋体" panose="02010600030101010101" pitchFamily="2" charset="-122"/>
            </a:endParaRPr>
          </a:p>
          <a:p>
            <a:pPr marL="0" indent="0">
              <a:lnSpc>
                <a:spcPts val="3000"/>
              </a:lnSpc>
              <a:spcBef>
                <a:spcPts val="0"/>
              </a:spcBef>
              <a:buNone/>
            </a:pPr>
            <a:r>
              <a:rPr lang="en-US" altLang="zh-CN" sz="2400" dirty="0" smtClean="0">
                <a:latin typeface="宋体" panose="02010600030101010101" pitchFamily="2" charset="-122"/>
                <a:ea typeface="宋体" panose="02010600030101010101" pitchFamily="2" charset="-122"/>
              </a:rPr>
              <a:t>5</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需要解决的</a:t>
            </a:r>
            <a:r>
              <a:rPr lang="zh-CN" altLang="en-US" sz="2400" dirty="0">
                <a:solidFill>
                  <a:srgbClr val="000000"/>
                </a:solidFill>
                <a:latin typeface="宋体" panose="02010600030101010101" pitchFamily="2" charset="-122"/>
                <a:ea typeface="宋体" panose="02010600030101010101" pitchFamily="2" charset="-122"/>
              </a:rPr>
              <a:t>关键问题</a:t>
            </a:r>
          </a:p>
          <a:p>
            <a:pPr marL="717550" lvl="1" indent="-273050">
              <a:lnSpc>
                <a:spcPts val="3000"/>
              </a:lnSpc>
              <a:spcBef>
                <a:spcPts val="0"/>
              </a:spcBef>
            </a:pPr>
            <a:r>
              <a:rPr lang="zh-CN" altLang="en-US" dirty="0" smtClean="0">
                <a:latin typeface="宋体" panose="02010600030101010101" pitchFamily="2" charset="-122"/>
                <a:ea typeface="宋体" panose="02010600030101010101" pitchFamily="2" charset="-122"/>
              </a:rPr>
              <a:t>如何</a:t>
            </a:r>
            <a:r>
              <a:rPr lang="zh-CN" altLang="en-US" dirty="0">
                <a:latin typeface="宋体" panose="02010600030101010101" pitchFamily="2" charset="-122"/>
                <a:ea typeface="宋体" panose="02010600030101010101" pitchFamily="2" charset="-122"/>
              </a:rPr>
              <a:t>记录分支的历史信息；</a:t>
            </a:r>
          </a:p>
          <a:p>
            <a:pPr marL="717550" lvl="1" indent="-273050">
              <a:lnSpc>
                <a:spcPts val="3000"/>
              </a:lnSpc>
              <a:spcBef>
                <a:spcPts val="0"/>
              </a:spcBef>
            </a:pPr>
            <a:r>
              <a:rPr lang="zh-CN" altLang="en-US" dirty="0" smtClean="0">
                <a:latin typeface="宋体" panose="02010600030101010101" pitchFamily="2" charset="-122"/>
                <a:ea typeface="宋体" panose="02010600030101010101" pitchFamily="2" charset="-122"/>
              </a:rPr>
              <a:t>如何</a:t>
            </a:r>
            <a:r>
              <a:rPr lang="zh-CN" altLang="en-US" dirty="0">
                <a:latin typeface="宋体" panose="02010600030101010101" pitchFamily="2" charset="-122"/>
                <a:ea typeface="宋体" panose="02010600030101010101" pitchFamily="2" charset="-122"/>
              </a:rPr>
              <a:t>根据这些分支的历史信息来预测分支的去向（甚至取到指令）。</a:t>
            </a:r>
          </a:p>
          <a:p>
            <a:pPr marL="717550" lvl="1" indent="-273050">
              <a:lnSpc>
                <a:spcPts val="3000"/>
              </a:lnSpc>
              <a:spcBef>
                <a:spcPts val="0"/>
              </a:spcBef>
            </a:pPr>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5171463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80996" y="200756"/>
            <a:ext cx="5131777" cy="781051"/>
          </a:xfrm>
        </p:spPr>
        <p:txBody>
          <a:bodyPr>
            <a:noAutofit/>
          </a:bodyPr>
          <a:lstStyle/>
          <a:p>
            <a:pPr lvl="0">
              <a:spcBef>
                <a:spcPct val="20000"/>
              </a:spcBef>
            </a:pPr>
            <a:r>
              <a:rPr kumimoji="0" lang="en-US" altLang="zh-CN" sz="2800" kern="1200" dirty="0" smtClean="0">
                <a:latin typeface="宋体" panose="02010600030101010101" pitchFamily="2" charset="-122"/>
                <a:ea typeface="宋体" panose="02010600030101010101" pitchFamily="2" charset="-122"/>
                <a:cs typeface="+mn-cs"/>
              </a:rPr>
              <a:t>4.1 </a:t>
            </a:r>
            <a:r>
              <a:rPr kumimoji="0" lang="zh-CN" altLang="en-US" sz="2800" kern="1200" dirty="0">
                <a:latin typeface="宋体" panose="02010600030101010101" pitchFamily="2" charset="-122"/>
                <a:ea typeface="宋体" panose="02010600030101010101" pitchFamily="2" charset="-122"/>
                <a:cs typeface="+mn-cs"/>
              </a:rPr>
              <a:t>分支历史</a:t>
            </a:r>
            <a:r>
              <a:rPr kumimoji="0" lang="zh-CN" altLang="en-US" sz="2800" kern="1200" dirty="0" smtClean="0">
                <a:latin typeface="宋体" panose="02010600030101010101" pitchFamily="2" charset="-122"/>
                <a:ea typeface="宋体" panose="02010600030101010101" pitchFamily="2" charset="-122"/>
                <a:cs typeface="+mn-cs"/>
              </a:rPr>
              <a:t>表 </a:t>
            </a:r>
            <a:r>
              <a:rPr kumimoji="0" lang="en-US" altLang="zh-CN" sz="2800" kern="1200" dirty="0" smtClean="0">
                <a:latin typeface="宋体" panose="02010600030101010101" pitchFamily="2" charset="-122"/>
                <a:ea typeface="宋体" panose="02010600030101010101" pitchFamily="2" charset="-122"/>
                <a:cs typeface="+mn-cs"/>
              </a:rPr>
              <a:t>BHT</a:t>
            </a:r>
            <a:r>
              <a:rPr kumimoji="0" lang="zh-CN" altLang="en-US" sz="2800" kern="1200" dirty="0">
                <a:latin typeface="宋体" panose="02010600030101010101" pitchFamily="2" charset="-122"/>
                <a:ea typeface="宋体" panose="02010600030101010101" pitchFamily="2" charset="-122"/>
                <a:cs typeface="+mn-cs"/>
              </a:rPr>
              <a:t/>
            </a:r>
            <a:br>
              <a:rPr kumimoji="0" lang="zh-CN" altLang="en-US" sz="2800" kern="1200" dirty="0">
                <a:latin typeface="宋体" panose="02010600030101010101" pitchFamily="2" charset="-122"/>
                <a:ea typeface="宋体" panose="02010600030101010101" pitchFamily="2" charset="-122"/>
                <a:cs typeface="+mn-cs"/>
              </a:rPr>
            </a:br>
            <a:endParaRPr lang="zh-CN" altLang="en-US" sz="2800"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1112020" y="1067265"/>
            <a:ext cx="6792839" cy="4953000"/>
          </a:xfrm>
        </p:spPr>
        <p:txBody>
          <a:bodyPr/>
          <a:lstStyle/>
          <a:p>
            <a:pPr marL="0" indent="0">
              <a:buNone/>
            </a:pPr>
            <a:r>
              <a:rPr lang="zh-CN" altLang="en-US" sz="2400" dirty="0" smtClean="0">
                <a:latin typeface="宋体" panose="02010600030101010101" pitchFamily="2" charset="-122"/>
                <a:ea typeface="宋体" panose="02010600030101010101" pitchFamily="2" charset="-122"/>
              </a:rPr>
              <a:t>要点：</a:t>
            </a:r>
            <a:endParaRPr lang="en-US" altLang="zh-CN" sz="2400" dirty="0" smtClean="0">
              <a:latin typeface="宋体" panose="02010600030101010101" pitchFamily="2" charset="-122"/>
              <a:ea typeface="宋体" panose="02010600030101010101" pitchFamily="2" charset="-122"/>
            </a:endParaRPr>
          </a:p>
          <a:p>
            <a:pPr marL="815975" indent="-457200">
              <a:buFont typeface="+mj-lt"/>
              <a:buAutoNum type="arabicPeriod"/>
            </a:pPr>
            <a:r>
              <a:rPr lang="zh-CN" altLang="en-US" sz="2400" dirty="0" smtClean="0">
                <a:latin typeface="宋体" panose="02010600030101010101" pitchFamily="2" charset="-122"/>
                <a:ea typeface="宋体" panose="02010600030101010101" pitchFamily="2" charset="-122"/>
              </a:rPr>
              <a:t>分支历史表</a:t>
            </a:r>
            <a:endParaRPr lang="en-US" altLang="zh-CN" sz="2400" dirty="0" smtClean="0">
              <a:latin typeface="宋体" panose="02010600030101010101" pitchFamily="2" charset="-122"/>
              <a:ea typeface="宋体" panose="02010600030101010101" pitchFamily="2" charset="-122"/>
            </a:endParaRPr>
          </a:p>
          <a:p>
            <a:pPr marL="815975" indent="-457200">
              <a:buFont typeface="+mj-lt"/>
              <a:buAutoNum type="arabicPeriod"/>
            </a:pPr>
            <a:r>
              <a:rPr lang="zh-CN" altLang="en-US" sz="2400" dirty="0" smtClean="0">
                <a:latin typeface="宋体" panose="02010600030101010101" pitchFamily="2" charset="-122"/>
                <a:ea typeface="宋体" panose="02010600030101010101" pitchFamily="2" charset="-122"/>
              </a:rPr>
              <a:t>只有</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个预测位的分支历史</a:t>
            </a:r>
            <a:r>
              <a:rPr lang="zh-CN" altLang="en-US" sz="2400" dirty="0" smtClean="0">
                <a:latin typeface="宋体" panose="02010600030101010101" pitchFamily="2" charset="-122"/>
                <a:ea typeface="宋体" panose="02010600030101010101" pitchFamily="2" charset="-122"/>
              </a:rPr>
              <a:t>表</a:t>
            </a:r>
            <a:r>
              <a:rPr lang="en-US" altLang="zh-CN" sz="2400" dirty="0" smtClean="0">
                <a:latin typeface="宋体" panose="02010600030101010101" pitchFamily="2" charset="-122"/>
                <a:ea typeface="宋体" panose="02010600030101010101" pitchFamily="2" charset="-122"/>
              </a:rPr>
              <a:t> </a:t>
            </a:r>
          </a:p>
          <a:p>
            <a:pPr marL="815975" indent="-457200">
              <a:buFont typeface="+mj-lt"/>
              <a:buAutoNum type="arabicPeriod"/>
            </a:pPr>
            <a:r>
              <a:rPr lang="zh-CN" altLang="en-US" sz="2400" dirty="0">
                <a:latin typeface="宋体" panose="02010600030101010101" pitchFamily="2" charset="-122"/>
                <a:ea typeface="宋体" panose="02010600030101010101" pitchFamily="2" charset="-122"/>
              </a:rPr>
              <a:t>采用两位</a:t>
            </a:r>
            <a:r>
              <a:rPr lang="zh-CN" altLang="en-US" sz="2400" dirty="0" smtClean="0">
                <a:latin typeface="宋体" panose="02010600030101010101" pitchFamily="2" charset="-122"/>
                <a:ea typeface="宋体" panose="02010600030101010101" pitchFamily="2" charset="-122"/>
              </a:rPr>
              <a:t>二进制位记录历史</a:t>
            </a:r>
            <a:endParaRPr lang="en-US" altLang="zh-CN" sz="2400" dirty="0" smtClean="0">
              <a:latin typeface="宋体" panose="02010600030101010101" pitchFamily="2" charset="-122"/>
              <a:ea typeface="宋体" panose="02010600030101010101" pitchFamily="2" charset="-122"/>
            </a:endParaRPr>
          </a:p>
          <a:p>
            <a:pPr marL="815975" indent="-457200">
              <a:buFont typeface="+mj-lt"/>
              <a:buAutoNum type="arabicPeriod"/>
            </a:pPr>
            <a:r>
              <a:rPr lang="zh-CN" altLang="en-US" sz="2400" dirty="0" smtClean="0">
                <a:latin typeface="宋体" panose="02010600030101010101" pitchFamily="2" charset="-122"/>
                <a:ea typeface="宋体" panose="02010600030101010101" pitchFamily="2" charset="-122"/>
              </a:rPr>
              <a:t>转移</a:t>
            </a:r>
            <a:r>
              <a:rPr lang="zh-CN" altLang="en-US" sz="2400" dirty="0">
                <a:latin typeface="宋体" panose="02010600030101010101" pitchFamily="2" charset="-122"/>
                <a:ea typeface="宋体" panose="02010600030101010101" pitchFamily="2" charset="-122"/>
              </a:rPr>
              <a:t>历史表</a:t>
            </a:r>
            <a:r>
              <a:rPr lang="en-US" altLang="zh-CN" sz="2400" dirty="0">
                <a:latin typeface="宋体" panose="02010600030101010101" pitchFamily="2" charset="-122"/>
                <a:ea typeface="宋体" panose="02010600030101010101" pitchFamily="2" charset="-122"/>
              </a:rPr>
              <a:t>BHT</a:t>
            </a:r>
            <a:r>
              <a:rPr lang="zh-CN" altLang="en-US" sz="2400" dirty="0">
                <a:latin typeface="宋体" panose="02010600030101010101" pitchFamily="2" charset="-122"/>
                <a:ea typeface="宋体" panose="02010600030101010101" pitchFamily="2" charset="-122"/>
              </a:rPr>
              <a:t>的逻辑</a:t>
            </a:r>
            <a:r>
              <a:rPr lang="zh-CN" altLang="en-US" sz="2400" dirty="0" smtClean="0">
                <a:latin typeface="宋体" panose="02010600030101010101" pitchFamily="2" charset="-122"/>
                <a:ea typeface="宋体" panose="02010600030101010101" pitchFamily="2" charset="-122"/>
              </a:rPr>
              <a:t>结构</a:t>
            </a:r>
            <a:endParaRPr lang="en-US" altLang="zh-CN" sz="2400" dirty="0" smtClean="0">
              <a:latin typeface="宋体" panose="02010600030101010101" pitchFamily="2" charset="-122"/>
              <a:ea typeface="宋体" panose="02010600030101010101" pitchFamily="2" charset="-122"/>
            </a:endParaRPr>
          </a:p>
          <a:p>
            <a:pPr marL="815975" indent="-457200">
              <a:buFont typeface="+mj-lt"/>
              <a:buAutoNum type="arabicPeriod"/>
            </a:pPr>
            <a:r>
              <a:rPr lang="en-US" altLang="zh-CN" sz="2400" dirty="0">
                <a:latin typeface="宋体" panose="02010600030101010101" pitchFamily="2" charset="-122"/>
                <a:ea typeface="宋体" panose="02010600030101010101" pitchFamily="2" charset="-122"/>
              </a:rPr>
              <a:t>BHT</a:t>
            </a:r>
            <a:r>
              <a:rPr lang="zh-CN" altLang="en-US" sz="2400" dirty="0" smtClean="0">
                <a:latin typeface="宋体" panose="02010600030101010101" pitchFamily="2" charset="-122"/>
                <a:ea typeface="宋体" panose="02010600030101010101" pitchFamily="2" charset="-122"/>
              </a:rPr>
              <a:t>方法</a:t>
            </a:r>
            <a:r>
              <a:rPr lang="zh-CN" altLang="en-US" sz="2400" dirty="0">
                <a:latin typeface="宋体" panose="02010600030101010101" pitchFamily="2" charset="-122"/>
                <a:ea typeface="宋体" panose="02010600030101010101" pitchFamily="2" charset="-122"/>
              </a:rPr>
              <a:t>适用</a:t>
            </a:r>
            <a:r>
              <a:rPr lang="zh-CN" altLang="en-US" sz="2400" dirty="0" smtClean="0">
                <a:latin typeface="宋体" panose="02010600030101010101" pitchFamily="2" charset="-122"/>
                <a:ea typeface="宋体" panose="02010600030101010101" pitchFamily="2" charset="-122"/>
              </a:rPr>
              <a:t>情况 </a:t>
            </a:r>
            <a:endParaRPr lang="zh-CN" altLang="en-US" sz="2400" dirty="0">
              <a:latin typeface="宋体" panose="02010600030101010101" pitchFamily="2" charset="-122"/>
              <a:ea typeface="宋体" panose="02010600030101010101" pitchFamily="2" charset="-122"/>
            </a:endParaRPr>
          </a:p>
          <a:p>
            <a:endParaRPr lang="en-US" altLang="zh-CN" dirty="0" smtClean="0"/>
          </a:p>
          <a:p>
            <a:endParaRPr lang="zh-CN" altLang="en-US" dirty="0"/>
          </a:p>
          <a:p>
            <a:endParaRPr lang="zh-CN" altLang="en-US" dirty="0"/>
          </a:p>
          <a:p>
            <a:endParaRPr lang="en-US" altLang="zh-CN" dirty="0"/>
          </a:p>
          <a:p>
            <a:endParaRPr lang="zh-CN" altLang="en-US" dirty="0"/>
          </a:p>
        </p:txBody>
      </p:sp>
    </p:spTree>
    <p:extLst>
      <p:ext uri="{BB962C8B-B14F-4D97-AF65-F5344CB8AC3E}">
        <p14:creationId xmlns:p14="http://schemas.microsoft.com/office/powerpoint/2010/main" val="30915259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60099" name="Rectangle 3" descr="Rectangle: Click to edit Master text styles&#10;Second level&#10;Third level&#10;Fourth level&#10;Fifth level"/>
          <p:cNvSpPr>
            <a:spLocks noGrp="1" noChangeArrowheads="1"/>
          </p:cNvSpPr>
          <p:nvPr>
            <p:ph idx="1"/>
          </p:nvPr>
        </p:nvSpPr>
        <p:spPr>
          <a:xfrm>
            <a:off x="440819" y="600062"/>
            <a:ext cx="9378298" cy="5467452"/>
          </a:xfrm>
        </p:spPr>
        <p:txBody>
          <a:bodyPr>
            <a:normAutofit/>
          </a:bodyPr>
          <a:lstStyle/>
          <a:p>
            <a:pPr marL="0" indent="0" eaLnBrk="1" hangingPunct="1">
              <a:lnSpc>
                <a:spcPts val="3000"/>
              </a:lnSpc>
              <a:spcBef>
                <a:spcPts val="600"/>
              </a:spcBef>
              <a:buNone/>
            </a:pPr>
            <a:r>
              <a:rPr lang="en-US" altLang="zh-CN" sz="2400" dirty="0" smtClean="0">
                <a:latin typeface="宋体" panose="02010600030101010101" pitchFamily="2" charset="-122"/>
                <a:ea typeface="宋体" panose="02010600030101010101" pitchFamily="2" charset="-122"/>
              </a:rPr>
              <a:t>1.</a:t>
            </a:r>
            <a:r>
              <a:rPr lang="zh-CN" altLang="en-US" sz="2400" dirty="0" smtClean="0">
                <a:latin typeface="宋体" panose="02010600030101010101" pitchFamily="2" charset="-122"/>
                <a:ea typeface="宋体" panose="02010600030101010101" pitchFamily="2" charset="-122"/>
              </a:rPr>
              <a:t>分支历史表</a:t>
            </a:r>
            <a:r>
              <a:rPr lang="en-US" altLang="zh-CN" sz="2400" dirty="0" smtClean="0">
                <a:latin typeface="宋体" panose="02010600030101010101" pitchFamily="2" charset="-122"/>
                <a:ea typeface="宋体" panose="02010600030101010101" pitchFamily="2" charset="-122"/>
              </a:rPr>
              <a:t>BHT</a:t>
            </a:r>
            <a:r>
              <a:rPr lang="zh-CN" altLang="en-US" sz="2400" dirty="0" smtClean="0">
                <a:solidFill>
                  <a:srgbClr val="9933FF"/>
                </a:solidFill>
                <a:latin typeface="宋体" panose="02010600030101010101" pitchFamily="2" charset="-122"/>
                <a:ea typeface="宋体" panose="02010600030101010101" pitchFamily="2" charset="-122"/>
              </a:rPr>
              <a:t>（</a:t>
            </a:r>
            <a:r>
              <a:rPr lang="en-US" altLang="zh-CN" sz="2400" dirty="0" smtClean="0">
                <a:solidFill>
                  <a:srgbClr val="9933FF"/>
                </a:solidFill>
                <a:latin typeface="宋体" panose="02010600030101010101" pitchFamily="2" charset="-122"/>
                <a:ea typeface="宋体" panose="02010600030101010101" pitchFamily="2" charset="-122"/>
              </a:rPr>
              <a:t>Branch History Table</a:t>
            </a:r>
            <a:r>
              <a:rPr lang="zh-CN" altLang="en-US" sz="2400" dirty="0" smtClean="0">
                <a:solidFill>
                  <a:srgbClr val="9933FF"/>
                </a:solidFill>
                <a:latin typeface="宋体" panose="02010600030101010101" pitchFamily="2" charset="-122"/>
                <a:ea typeface="宋体" panose="02010600030101010101" pitchFamily="2" charset="-122"/>
              </a:rPr>
              <a:t>）</a:t>
            </a:r>
            <a:endParaRPr lang="en-US" altLang="zh-CN" sz="2400" dirty="0" smtClean="0">
              <a:solidFill>
                <a:srgbClr val="9933FF"/>
              </a:solidFill>
              <a:latin typeface="宋体" panose="02010600030101010101" pitchFamily="2" charset="-122"/>
              <a:ea typeface="宋体" panose="02010600030101010101" pitchFamily="2" charset="-122"/>
            </a:endParaRPr>
          </a:p>
          <a:p>
            <a:pPr marL="0" indent="0" eaLnBrk="1" hangingPunct="1">
              <a:lnSpc>
                <a:spcPts val="3000"/>
              </a:lnSpc>
              <a:spcBef>
                <a:spcPts val="600"/>
              </a:spcBef>
              <a:buNone/>
            </a:pPr>
            <a:r>
              <a:rPr lang="en-US" altLang="zh-CN" sz="2400" dirty="0">
                <a:solidFill>
                  <a:srgbClr val="9933FF"/>
                </a:solidFill>
                <a:latin typeface="宋体" panose="02010600030101010101" pitchFamily="2" charset="-122"/>
                <a:ea typeface="宋体" panose="02010600030101010101" pitchFamily="2" charset="-122"/>
              </a:rPr>
              <a:t> </a:t>
            </a:r>
            <a:r>
              <a:rPr lang="en-US" altLang="zh-CN" sz="2400" dirty="0" smtClean="0">
                <a:solidFill>
                  <a:srgbClr val="9933FF"/>
                </a:solidFill>
                <a:latin typeface="宋体" panose="02010600030101010101" pitchFamily="2" charset="-122"/>
                <a:ea typeface="宋体" panose="02010600030101010101" pitchFamily="2" charset="-122"/>
              </a:rPr>
              <a:t>  </a:t>
            </a:r>
            <a:r>
              <a:rPr lang="zh-CN" altLang="en-US" sz="2400" dirty="0" smtClean="0">
                <a:latin typeface="宋体" panose="02010600030101010101" pitchFamily="2" charset="-122"/>
                <a:ea typeface="宋体" panose="02010600030101010101" pitchFamily="2" charset="-122"/>
              </a:rPr>
              <a:t>或分支预测缓冲器</a:t>
            </a:r>
            <a:r>
              <a:rPr lang="zh-CN" altLang="en-US" sz="2400" dirty="0" smtClean="0">
                <a:solidFill>
                  <a:srgbClr val="9933FF"/>
                </a:solidFill>
                <a:latin typeface="宋体" panose="02010600030101010101" pitchFamily="2" charset="-122"/>
                <a:ea typeface="宋体" panose="02010600030101010101" pitchFamily="2" charset="-122"/>
              </a:rPr>
              <a:t>（</a:t>
            </a:r>
            <a:r>
              <a:rPr lang="en-US" altLang="zh-CN" sz="2400" dirty="0" smtClean="0">
                <a:solidFill>
                  <a:srgbClr val="9933FF"/>
                </a:solidFill>
                <a:latin typeface="宋体" panose="02010600030101010101" pitchFamily="2" charset="-122"/>
                <a:ea typeface="宋体" panose="02010600030101010101" pitchFamily="2" charset="-122"/>
              </a:rPr>
              <a:t>Branch </a:t>
            </a:r>
            <a:r>
              <a:rPr lang="en-US" altLang="zh-CN" sz="2400" dirty="0" err="1" smtClean="0">
                <a:solidFill>
                  <a:srgbClr val="9933FF"/>
                </a:solidFill>
                <a:latin typeface="宋体" panose="02010600030101010101" pitchFamily="2" charset="-122"/>
                <a:ea typeface="宋体" panose="02010600030101010101" pitchFamily="2" charset="-122"/>
              </a:rPr>
              <a:t>Prediciton</a:t>
            </a:r>
            <a:r>
              <a:rPr lang="en-US" altLang="zh-CN" sz="2400" dirty="0" smtClean="0">
                <a:solidFill>
                  <a:srgbClr val="9933FF"/>
                </a:solidFill>
                <a:latin typeface="宋体" panose="02010600030101010101" pitchFamily="2" charset="-122"/>
                <a:ea typeface="宋体" panose="02010600030101010101" pitchFamily="2" charset="-122"/>
              </a:rPr>
              <a:t> Buffer</a:t>
            </a:r>
            <a:r>
              <a:rPr lang="zh-CN" altLang="en-US" sz="2400" dirty="0" smtClean="0">
                <a:solidFill>
                  <a:srgbClr val="9933FF"/>
                </a:solidFill>
                <a:latin typeface="宋体" panose="02010600030101010101" pitchFamily="2" charset="-122"/>
                <a:ea typeface="宋体" panose="02010600030101010101" pitchFamily="2" charset="-122"/>
              </a:rPr>
              <a:t>）</a:t>
            </a:r>
          </a:p>
          <a:p>
            <a:pPr marL="1085850" lvl="1" indent="-457200" eaLnBrk="1" hangingPunct="1">
              <a:lnSpc>
                <a:spcPts val="3000"/>
              </a:lnSpc>
              <a:spcBef>
                <a:spcPts val="600"/>
              </a:spcBef>
            </a:pPr>
            <a:r>
              <a:rPr lang="zh-CN" altLang="en-US" dirty="0" smtClean="0">
                <a:latin typeface="宋体" panose="02010600030101010101" pitchFamily="2" charset="-122"/>
                <a:ea typeface="宋体" panose="02010600030101010101" pitchFamily="2" charset="-122"/>
              </a:rPr>
              <a:t>最简单的动态分支预测方法。 </a:t>
            </a:r>
          </a:p>
          <a:p>
            <a:pPr marL="1085850" lvl="1" indent="-457200" eaLnBrk="1" hangingPunct="1">
              <a:lnSpc>
                <a:spcPts val="3000"/>
              </a:lnSpc>
              <a:spcBef>
                <a:spcPts val="600"/>
              </a:spcBef>
            </a:pPr>
            <a:r>
              <a:rPr lang="zh-CN" altLang="en-US" dirty="0" smtClean="0">
                <a:latin typeface="宋体" panose="02010600030101010101" pitchFamily="2" charset="-122"/>
                <a:ea typeface="宋体" panose="02010600030101010101" pitchFamily="2" charset="-122"/>
              </a:rPr>
              <a:t>用</a:t>
            </a:r>
            <a:r>
              <a:rPr lang="en-US" altLang="zh-CN" dirty="0" smtClean="0">
                <a:solidFill>
                  <a:srgbClr val="9933FF"/>
                </a:solidFill>
                <a:latin typeface="宋体" panose="02010600030101010101" pitchFamily="2" charset="-122"/>
                <a:ea typeface="宋体" panose="02010600030101010101" pitchFamily="2" charset="-122"/>
              </a:rPr>
              <a:t>BHT</a:t>
            </a:r>
            <a:r>
              <a:rPr lang="zh-CN" altLang="en-US" dirty="0" smtClean="0">
                <a:latin typeface="宋体" panose="02010600030101010101" pitchFamily="2" charset="-122"/>
                <a:ea typeface="宋体" panose="02010600030101010101" pitchFamily="2" charset="-122"/>
              </a:rPr>
              <a:t>来记录分支指令最近一次或几次的执行情况（成功或不成功），并据此进行预测。 </a:t>
            </a:r>
            <a:endParaRPr lang="en-US" altLang="zh-CN" dirty="0" smtClean="0">
              <a:latin typeface="宋体" panose="02010600030101010101" pitchFamily="2" charset="-122"/>
              <a:ea typeface="宋体" panose="02010600030101010101" pitchFamily="2" charset="-122"/>
            </a:endParaRPr>
          </a:p>
          <a:p>
            <a:pPr marL="1085850" lvl="1" indent="-457200" eaLnBrk="1" hangingPunct="1">
              <a:lnSpc>
                <a:spcPts val="3000"/>
              </a:lnSpc>
              <a:spcBef>
                <a:spcPts val="600"/>
              </a:spcBef>
            </a:pPr>
            <a:endParaRPr lang="zh-CN" altLang="en-US" dirty="0" smtClean="0">
              <a:latin typeface="宋体" panose="02010600030101010101" pitchFamily="2" charset="-122"/>
              <a:ea typeface="宋体" panose="02010600030101010101" pitchFamily="2" charset="-122"/>
            </a:endParaRPr>
          </a:p>
          <a:p>
            <a:pPr marL="0" indent="0" eaLnBrk="1" hangingPunct="1">
              <a:lnSpc>
                <a:spcPts val="3000"/>
              </a:lnSpc>
              <a:spcBef>
                <a:spcPts val="600"/>
              </a:spcBef>
              <a:buNone/>
            </a:pPr>
            <a:r>
              <a:rPr lang="en-US" altLang="zh-CN" sz="2400" dirty="0" smtClean="0">
                <a:latin typeface="宋体" panose="02010600030101010101" pitchFamily="2" charset="-122"/>
                <a:ea typeface="宋体" panose="02010600030101010101" pitchFamily="2" charset="-122"/>
              </a:rPr>
              <a:t>2. </a:t>
            </a:r>
            <a:r>
              <a:rPr lang="zh-CN" altLang="en-US" sz="2400" dirty="0" smtClean="0">
                <a:latin typeface="宋体" panose="02010600030101010101" pitchFamily="2" charset="-122"/>
                <a:ea typeface="宋体" panose="02010600030101010101" pitchFamily="2" charset="-122"/>
              </a:rPr>
              <a:t>只有</a:t>
            </a:r>
            <a:r>
              <a:rPr lang="en-US" altLang="zh-CN" sz="2400" dirty="0" smtClean="0">
                <a:latin typeface="宋体" panose="02010600030101010101" pitchFamily="2" charset="-122"/>
                <a:ea typeface="宋体" panose="02010600030101010101" pitchFamily="2" charset="-122"/>
              </a:rPr>
              <a:t>1</a:t>
            </a:r>
            <a:r>
              <a:rPr lang="zh-CN" altLang="en-US" sz="2400" dirty="0" smtClean="0">
                <a:latin typeface="宋体" panose="02010600030101010101" pitchFamily="2" charset="-122"/>
                <a:ea typeface="宋体" panose="02010600030101010101" pitchFamily="2" charset="-122"/>
              </a:rPr>
              <a:t>个预测位的分支预测缓冲 </a:t>
            </a:r>
          </a:p>
          <a:p>
            <a:pPr marL="1085850" lvl="1" indent="-457200" eaLnBrk="1" hangingPunct="1">
              <a:lnSpc>
                <a:spcPts val="3000"/>
              </a:lnSpc>
              <a:spcBef>
                <a:spcPts val="600"/>
              </a:spcBef>
              <a:buNone/>
            </a:pPr>
            <a:r>
              <a:rPr lang="zh-CN" altLang="en-US" dirty="0" smtClean="0">
                <a:latin typeface="宋体" panose="02010600030101010101" pitchFamily="2" charset="-122"/>
                <a:ea typeface="宋体" panose="02010600030101010101" pitchFamily="2" charset="-122"/>
              </a:rPr>
              <a:t>记录分支指令最近一次的历史，</a:t>
            </a:r>
            <a:r>
              <a:rPr lang="en-US" altLang="zh-CN" dirty="0" smtClean="0">
                <a:solidFill>
                  <a:srgbClr val="9933FF"/>
                </a:solidFill>
                <a:latin typeface="宋体" panose="02010600030101010101" pitchFamily="2" charset="-122"/>
                <a:ea typeface="宋体" panose="02010600030101010101" pitchFamily="2" charset="-122"/>
              </a:rPr>
              <a:t>BHT</a:t>
            </a:r>
            <a:r>
              <a:rPr lang="zh-CN" altLang="en-US" dirty="0" smtClean="0">
                <a:latin typeface="宋体" panose="02010600030101010101" pitchFamily="2" charset="-122"/>
                <a:ea typeface="宋体" panose="02010600030101010101" pitchFamily="2" charset="-122"/>
              </a:rPr>
              <a:t>中只需要</a:t>
            </a:r>
            <a:r>
              <a:rPr lang="en-US" altLang="zh-CN" dirty="0" smtClean="0">
                <a:solidFill>
                  <a:srgbClr val="9933FF"/>
                </a:solidFill>
                <a:latin typeface="宋体" panose="02010600030101010101" pitchFamily="2" charset="-122"/>
                <a:ea typeface="宋体" panose="02010600030101010101" pitchFamily="2" charset="-122"/>
              </a:rPr>
              <a:t>1</a:t>
            </a:r>
            <a:r>
              <a:rPr lang="zh-CN" altLang="en-US" dirty="0" smtClean="0">
                <a:latin typeface="宋体" panose="02010600030101010101" pitchFamily="2" charset="-122"/>
                <a:ea typeface="宋体" panose="02010600030101010101" pitchFamily="2" charset="-122"/>
              </a:rPr>
              <a:t>位二进制位。</a:t>
            </a:r>
          </a:p>
          <a:p>
            <a:pPr lvl="2" eaLnBrk="1" hangingPunct="1">
              <a:lnSpc>
                <a:spcPts val="3000"/>
              </a:lnSpc>
              <a:spcBef>
                <a:spcPts val="600"/>
              </a:spcBef>
              <a:buFont typeface="Wingdings" panose="05000000000000000000" pitchFamily="2" charset="2"/>
              <a:buNone/>
            </a:pPr>
            <a:r>
              <a:rPr lang="zh-CN" altLang="en-US" sz="2400" dirty="0" smtClean="0">
                <a:latin typeface="宋体" panose="02010600030101010101" pitchFamily="2" charset="-122"/>
                <a:ea typeface="宋体" panose="02010600030101010101" pitchFamily="2" charset="-122"/>
              </a:rPr>
              <a:t>　（最简单）</a:t>
            </a:r>
          </a:p>
        </p:txBody>
      </p:sp>
    </p:spTree>
    <p:extLst>
      <p:ext uri="{BB962C8B-B14F-4D97-AF65-F5344CB8AC3E}">
        <p14:creationId xmlns:p14="http://schemas.microsoft.com/office/powerpoint/2010/main" val="2143773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61123" name="Text Box 3"/>
          <p:cNvSpPr txBox="1">
            <a:spLocks noChangeArrowheads="1"/>
          </p:cNvSpPr>
          <p:nvPr/>
        </p:nvSpPr>
        <p:spPr bwMode="auto">
          <a:xfrm>
            <a:off x="456177" y="202804"/>
            <a:ext cx="76327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50000"/>
              </a:spcBef>
              <a:spcAft>
                <a:spcPct val="0"/>
              </a:spcAft>
              <a:buClr>
                <a:srgbClr val="FEAEF8"/>
              </a:buClr>
              <a:buSzPct val="145000"/>
              <a:buFontTx/>
              <a:buChar char="•"/>
            </a:pPr>
            <a:r>
              <a:rPr lang="en-US" altLang="zh-CN" sz="2200" dirty="0">
                <a:solidFill>
                  <a:srgbClr val="000000"/>
                </a:solidFill>
                <a:latin typeface="宋体" panose="02010600030101010101" pitchFamily="2" charset="-122"/>
                <a:ea typeface="宋体" panose="02010600030101010101" pitchFamily="2" charset="-122"/>
              </a:rPr>
              <a:t>“0”</a:t>
            </a:r>
            <a:r>
              <a:rPr lang="zh-CN" altLang="en-US" sz="2200" dirty="0">
                <a:solidFill>
                  <a:srgbClr val="000000"/>
                </a:solidFill>
                <a:latin typeface="宋体" panose="02010600030101010101" pitchFamily="2" charset="-122"/>
                <a:ea typeface="宋体" panose="02010600030101010101" pitchFamily="2" charset="-122"/>
              </a:rPr>
              <a:t>记录分支不成功 </a:t>
            </a:r>
          </a:p>
          <a:p>
            <a:pPr fontAlgn="base">
              <a:lnSpc>
                <a:spcPct val="100000"/>
              </a:lnSpc>
              <a:spcBef>
                <a:spcPct val="50000"/>
              </a:spcBef>
              <a:spcAft>
                <a:spcPct val="0"/>
              </a:spcAft>
              <a:buClr>
                <a:srgbClr val="FEAEF8"/>
              </a:buClr>
              <a:buSzPct val="145000"/>
              <a:buFontTx/>
              <a:buChar char="•"/>
            </a:pPr>
            <a:r>
              <a:rPr lang="zh-CN" altLang="en-US" sz="2200" dirty="0">
                <a:solidFill>
                  <a:srgbClr val="000000"/>
                </a:solidFill>
                <a:latin typeface="宋体" panose="02010600030101010101" pitchFamily="2" charset="-122"/>
                <a:ea typeface="宋体" panose="02010600030101010101" pitchFamily="2" charset="-122"/>
              </a:rPr>
              <a:t>“</a:t>
            </a:r>
            <a:r>
              <a:rPr lang="en-US" altLang="zh-CN" sz="2200" dirty="0">
                <a:solidFill>
                  <a:srgbClr val="000000"/>
                </a:solidFill>
                <a:latin typeface="宋体" panose="02010600030101010101" pitchFamily="2" charset="-122"/>
                <a:ea typeface="宋体" panose="02010600030101010101" pitchFamily="2" charset="-122"/>
              </a:rPr>
              <a:t>1”</a:t>
            </a:r>
            <a:r>
              <a:rPr lang="zh-CN" altLang="en-US" sz="2200" dirty="0">
                <a:solidFill>
                  <a:srgbClr val="000000"/>
                </a:solidFill>
                <a:latin typeface="宋体" panose="02010600030101010101" pitchFamily="2" charset="-122"/>
                <a:ea typeface="宋体" panose="02010600030101010101" pitchFamily="2" charset="-122"/>
              </a:rPr>
              <a:t>记录分支成功</a:t>
            </a:r>
            <a:endParaRPr lang="en-US" altLang="zh-CN" sz="2200" dirty="0">
              <a:solidFill>
                <a:srgbClr val="000000"/>
              </a:solidFill>
              <a:latin typeface="宋体" panose="02010600030101010101" pitchFamily="2" charset="-122"/>
              <a:ea typeface="宋体" panose="02010600030101010101" pitchFamily="2" charset="-122"/>
            </a:endParaRPr>
          </a:p>
          <a:p>
            <a:pPr fontAlgn="base">
              <a:lnSpc>
                <a:spcPct val="100000"/>
              </a:lnSpc>
              <a:spcBef>
                <a:spcPct val="50000"/>
              </a:spcBef>
              <a:spcAft>
                <a:spcPct val="0"/>
              </a:spcAft>
              <a:buClr>
                <a:srgbClr val="FEAEF8"/>
              </a:buClr>
              <a:buSzPct val="145000"/>
              <a:buFontTx/>
              <a:buChar char="•"/>
            </a:pPr>
            <a:r>
              <a:rPr lang="zh-CN" altLang="en-US" sz="2200" dirty="0" smtClean="0">
                <a:solidFill>
                  <a:srgbClr val="000000"/>
                </a:solidFill>
                <a:latin typeface="宋体" panose="02010600030101010101" pitchFamily="2" charset="-122"/>
                <a:ea typeface="宋体" panose="02010600030101010101" pitchFamily="2" charset="-122"/>
              </a:rPr>
              <a:t> 遇见</a:t>
            </a:r>
            <a:r>
              <a:rPr lang="en-US" altLang="zh-CN" sz="2200" dirty="0">
                <a:solidFill>
                  <a:srgbClr val="000000"/>
                </a:solidFill>
                <a:latin typeface="宋体" panose="02010600030101010101" pitchFamily="2" charset="-122"/>
                <a:ea typeface="宋体" panose="02010600030101010101" pitchFamily="2" charset="-122"/>
              </a:rPr>
              <a:t>1</a:t>
            </a:r>
            <a:r>
              <a:rPr lang="zh-CN" altLang="en-US" sz="2200" dirty="0">
                <a:solidFill>
                  <a:srgbClr val="000000"/>
                </a:solidFill>
                <a:latin typeface="宋体" panose="02010600030101010101" pitchFamily="2" charset="-122"/>
                <a:ea typeface="宋体" panose="02010600030101010101" pitchFamily="2" charset="-122"/>
              </a:rPr>
              <a:t>，预测成功。实际成功则保持</a:t>
            </a:r>
            <a:r>
              <a:rPr lang="en-US" altLang="zh-CN" sz="2200" dirty="0">
                <a:solidFill>
                  <a:srgbClr val="000000"/>
                </a:solidFill>
                <a:latin typeface="宋体" panose="02010600030101010101" pitchFamily="2" charset="-122"/>
                <a:ea typeface="宋体" panose="02010600030101010101" pitchFamily="2" charset="-122"/>
              </a:rPr>
              <a:t>1</a:t>
            </a:r>
            <a:r>
              <a:rPr lang="zh-CN" altLang="en-US" sz="2200" dirty="0">
                <a:solidFill>
                  <a:srgbClr val="000000"/>
                </a:solidFill>
                <a:latin typeface="宋体" panose="02010600030101010101" pitchFamily="2" charset="-122"/>
                <a:ea typeface="宋体" panose="02010600030101010101" pitchFamily="2" charset="-122"/>
              </a:rPr>
              <a:t>，实际失败置</a:t>
            </a:r>
            <a:r>
              <a:rPr lang="en-US" altLang="zh-CN" sz="2200" dirty="0">
                <a:solidFill>
                  <a:srgbClr val="000000"/>
                </a:solidFill>
                <a:latin typeface="宋体" panose="02010600030101010101" pitchFamily="2" charset="-122"/>
                <a:ea typeface="宋体" panose="02010600030101010101" pitchFamily="2" charset="-122"/>
              </a:rPr>
              <a:t>0</a:t>
            </a:r>
          </a:p>
          <a:p>
            <a:pPr fontAlgn="base">
              <a:lnSpc>
                <a:spcPct val="100000"/>
              </a:lnSpc>
              <a:spcBef>
                <a:spcPct val="50000"/>
              </a:spcBef>
              <a:spcAft>
                <a:spcPct val="0"/>
              </a:spcAft>
              <a:buClr>
                <a:srgbClr val="FEAEF8"/>
              </a:buClr>
              <a:buSzPct val="145000"/>
              <a:buFontTx/>
              <a:buChar char="•"/>
            </a:pPr>
            <a:r>
              <a:rPr lang="zh-CN" altLang="en-US" sz="2200" dirty="0" smtClean="0">
                <a:solidFill>
                  <a:srgbClr val="000000"/>
                </a:solidFill>
                <a:latin typeface="宋体" panose="02010600030101010101" pitchFamily="2" charset="-122"/>
                <a:ea typeface="宋体" panose="02010600030101010101" pitchFamily="2" charset="-122"/>
              </a:rPr>
              <a:t> 遇见</a:t>
            </a:r>
            <a:r>
              <a:rPr lang="en-US" altLang="zh-CN" sz="2200" dirty="0">
                <a:solidFill>
                  <a:srgbClr val="000000"/>
                </a:solidFill>
                <a:latin typeface="宋体" panose="02010600030101010101" pitchFamily="2" charset="-122"/>
                <a:ea typeface="宋体" panose="02010600030101010101" pitchFamily="2" charset="-122"/>
              </a:rPr>
              <a:t>0</a:t>
            </a:r>
            <a:r>
              <a:rPr lang="zh-CN" altLang="en-US" sz="2200" dirty="0">
                <a:solidFill>
                  <a:srgbClr val="000000"/>
                </a:solidFill>
                <a:latin typeface="宋体" panose="02010600030101010101" pitchFamily="2" charset="-122"/>
                <a:ea typeface="宋体" panose="02010600030101010101" pitchFamily="2" charset="-122"/>
              </a:rPr>
              <a:t>，预测失败。实际失败则保持</a:t>
            </a:r>
            <a:r>
              <a:rPr lang="en-US" altLang="zh-CN" sz="2200" dirty="0">
                <a:solidFill>
                  <a:srgbClr val="000000"/>
                </a:solidFill>
                <a:latin typeface="宋体" panose="02010600030101010101" pitchFamily="2" charset="-122"/>
                <a:ea typeface="宋体" panose="02010600030101010101" pitchFamily="2" charset="-122"/>
              </a:rPr>
              <a:t>0</a:t>
            </a:r>
            <a:r>
              <a:rPr lang="zh-CN" altLang="en-US" sz="2200" dirty="0">
                <a:solidFill>
                  <a:srgbClr val="000000"/>
                </a:solidFill>
                <a:latin typeface="宋体" panose="02010600030101010101" pitchFamily="2" charset="-122"/>
                <a:ea typeface="宋体" panose="02010600030101010101" pitchFamily="2" charset="-122"/>
              </a:rPr>
              <a:t>，实际成功置</a:t>
            </a:r>
            <a:r>
              <a:rPr lang="en-US" altLang="zh-CN" sz="2200" dirty="0">
                <a:solidFill>
                  <a:srgbClr val="000000"/>
                </a:solidFill>
                <a:latin typeface="宋体" panose="02010600030101010101" pitchFamily="2" charset="-122"/>
                <a:ea typeface="宋体" panose="02010600030101010101" pitchFamily="2" charset="-122"/>
              </a:rPr>
              <a:t>1</a:t>
            </a:r>
          </a:p>
          <a:p>
            <a:pPr fontAlgn="base">
              <a:lnSpc>
                <a:spcPct val="100000"/>
              </a:lnSpc>
              <a:spcBef>
                <a:spcPct val="50000"/>
              </a:spcBef>
              <a:spcAft>
                <a:spcPct val="0"/>
              </a:spcAft>
              <a:buClr>
                <a:srgbClr val="FEAEF8"/>
              </a:buClr>
              <a:buSzPct val="145000"/>
              <a:buFontTx/>
              <a:buChar char="•"/>
            </a:pPr>
            <a:endParaRPr lang="zh-CN" altLang="en-US" sz="2200" dirty="0">
              <a:solidFill>
                <a:srgbClr val="000000"/>
              </a:solidFill>
              <a:latin typeface="宋体" panose="02010600030101010101" pitchFamily="2" charset="-122"/>
              <a:ea typeface="宋体" panose="02010600030101010101" pitchFamily="2" charset="-122"/>
            </a:endParaRPr>
          </a:p>
        </p:txBody>
      </p:sp>
      <p:pic>
        <p:nvPicPr>
          <p:cNvPr id="26112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8770" y="2821379"/>
            <a:ext cx="6119813" cy="1597025"/>
          </a:xfrm>
          <a:prstGeom prst="rect">
            <a:avLst/>
          </a:prstGeom>
          <a:solidFill>
            <a:schemeClr val="bg1"/>
          </a:solidFill>
          <a:ln w="9525">
            <a:solidFill>
              <a:schemeClr val="bg1"/>
            </a:solidFill>
            <a:miter lim="800000"/>
            <a:headEnd/>
            <a:tailEnd/>
          </a:ln>
        </p:spPr>
      </p:pic>
      <p:sp>
        <p:nvSpPr>
          <p:cNvPr id="261125" name="Text Box 5"/>
          <p:cNvSpPr txBox="1">
            <a:spLocks noChangeArrowheads="1"/>
          </p:cNvSpPr>
          <p:nvPr/>
        </p:nvSpPr>
        <p:spPr bwMode="auto">
          <a:xfrm>
            <a:off x="1165216" y="4945319"/>
            <a:ext cx="67675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50000"/>
              </a:spcBef>
              <a:spcAft>
                <a:spcPct val="0"/>
              </a:spcAft>
              <a:buClrTx/>
              <a:buNone/>
            </a:pPr>
            <a:r>
              <a:rPr lang="en-US" altLang="zh-CN" sz="2000" dirty="0">
                <a:solidFill>
                  <a:srgbClr val="000000"/>
                </a:solidFill>
                <a:latin typeface="宋体" panose="02010600030101010101" pitchFamily="2" charset="-122"/>
                <a:ea typeface="宋体" panose="02010600030101010101" pitchFamily="2" charset="-122"/>
              </a:rPr>
              <a:t>  </a:t>
            </a:r>
            <a:r>
              <a:rPr lang="zh-CN" altLang="en-US" sz="2000" dirty="0">
                <a:solidFill>
                  <a:srgbClr val="000000"/>
                </a:solidFill>
                <a:latin typeface="宋体" panose="02010600030101010101" pitchFamily="2" charset="-122"/>
                <a:ea typeface="宋体" panose="02010600030101010101" pitchFamily="2" charset="-122"/>
              </a:rPr>
              <a:t>只有</a:t>
            </a:r>
            <a:r>
              <a:rPr lang="en-US" altLang="zh-CN" sz="2000" dirty="0">
                <a:solidFill>
                  <a:srgbClr val="000000"/>
                </a:solidFill>
                <a:latin typeface="宋体" panose="02010600030101010101" pitchFamily="2" charset="-122"/>
                <a:ea typeface="宋体" panose="02010600030101010101" pitchFamily="2" charset="-122"/>
              </a:rPr>
              <a:t>1</a:t>
            </a:r>
            <a:r>
              <a:rPr lang="zh-CN" altLang="en-US" sz="2000" dirty="0">
                <a:solidFill>
                  <a:srgbClr val="000000"/>
                </a:solidFill>
                <a:latin typeface="宋体" panose="02010600030101010101" pitchFamily="2" charset="-122"/>
                <a:ea typeface="宋体" panose="02010600030101010101" pitchFamily="2" charset="-122"/>
              </a:rPr>
              <a:t>个预测位的分支预测缓冲状态转换图</a:t>
            </a:r>
            <a:r>
              <a:rPr lang="zh-CN" altLang="en-US" sz="2000" dirty="0">
                <a:solidFill>
                  <a:srgbClr val="F4FB6D"/>
                </a:solidFill>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1906304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3187" name="Rectangle 3"/>
          <p:cNvSpPr>
            <a:spLocks noChangeArrowheads="1"/>
          </p:cNvSpPr>
          <p:nvPr/>
        </p:nvSpPr>
        <p:spPr bwMode="auto">
          <a:xfrm>
            <a:off x="568083" y="562039"/>
            <a:ext cx="10331858" cy="484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base">
              <a:lnSpc>
                <a:spcPct val="110000"/>
              </a:lnSpc>
              <a:spcBef>
                <a:spcPct val="20000"/>
              </a:spcBef>
              <a:spcAft>
                <a:spcPct val="0"/>
              </a:spcAft>
              <a:buClr>
                <a:srgbClr val="64EC77"/>
              </a:buClr>
              <a:buSzPct val="80000"/>
              <a:defRPr/>
            </a:pPr>
            <a:r>
              <a:rPr kumimoji="1" lang="en-US" altLang="zh-CN" sz="2400" b="1" dirty="0">
                <a:solidFill>
                  <a:srgbClr val="FF0000"/>
                </a:solidFill>
                <a:latin typeface="黑体" pitchFamily="49" charset="-122"/>
                <a:ea typeface="宋体"/>
              </a:rPr>
              <a:t>  </a:t>
            </a:r>
            <a:r>
              <a:rPr kumimoji="1" lang="en-US" altLang="zh-CN" sz="2200" dirty="0" smtClean="0">
                <a:solidFill>
                  <a:srgbClr val="FF0000"/>
                </a:solidFill>
                <a:latin typeface="宋体" panose="02010600030101010101" pitchFamily="2" charset="-122"/>
                <a:ea typeface="宋体" panose="02010600030101010101" pitchFamily="2" charset="-122"/>
              </a:rPr>
              <a:t>① </a:t>
            </a:r>
            <a:r>
              <a:rPr kumimoji="1" lang="zh-CN" altLang="en-US" sz="2200" dirty="0" smtClean="0">
                <a:solidFill>
                  <a:srgbClr val="FF0000"/>
                </a:solidFill>
                <a:latin typeface="宋体" panose="02010600030101010101" pitchFamily="2" charset="-122"/>
                <a:ea typeface="宋体" panose="02010600030101010101" pitchFamily="2" charset="-122"/>
              </a:rPr>
              <a:t>分支</a:t>
            </a:r>
            <a:r>
              <a:rPr kumimoji="1" lang="zh-CN" altLang="en-US" sz="2200" dirty="0">
                <a:solidFill>
                  <a:srgbClr val="FF0000"/>
                </a:solidFill>
                <a:latin typeface="宋体" panose="02010600030101010101" pitchFamily="2" charset="-122"/>
                <a:ea typeface="宋体" panose="02010600030101010101" pitchFamily="2" charset="-122"/>
              </a:rPr>
              <a:t>预测缓冲技术包括两个步骤 </a:t>
            </a:r>
            <a:endParaRPr kumimoji="1" lang="en-US" altLang="zh-CN" sz="2200" dirty="0">
              <a:solidFill>
                <a:srgbClr val="FF0000"/>
              </a:solidFill>
              <a:latin typeface="宋体" panose="02010600030101010101" pitchFamily="2" charset="-122"/>
              <a:ea typeface="宋体" panose="02010600030101010101" pitchFamily="2" charset="-122"/>
            </a:endParaRPr>
          </a:p>
          <a:p>
            <a:pPr marL="1057275" indent="-342900" fontAlgn="base">
              <a:lnSpc>
                <a:spcPct val="110000"/>
              </a:lnSpc>
              <a:spcBef>
                <a:spcPct val="20000"/>
              </a:spcBef>
              <a:spcAft>
                <a:spcPct val="0"/>
              </a:spcAft>
              <a:buSzPct val="80000"/>
              <a:buFont typeface="Wingdings" panose="05000000000000000000" pitchFamily="2" charset="2"/>
              <a:buChar char="Ø"/>
              <a:defRPr/>
            </a:pPr>
            <a:r>
              <a:rPr kumimoji="1" lang="zh-CN" altLang="en-US" sz="2200" dirty="0">
                <a:latin typeface="宋体" panose="02010600030101010101" pitchFamily="2" charset="-122"/>
                <a:ea typeface="宋体" panose="02010600030101010101" pitchFamily="2" charset="-122"/>
              </a:rPr>
              <a:t>分支预测</a:t>
            </a:r>
            <a:r>
              <a:rPr kumimoji="1" lang="zh-CN" altLang="en-US" sz="2200" dirty="0">
                <a:solidFill>
                  <a:srgbClr val="000000"/>
                </a:solidFill>
                <a:latin typeface="宋体" panose="02010600030101010101" pitchFamily="2" charset="-122"/>
                <a:ea typeface="宋体" panose="02010600030101010101" pitchFamily="2" charset="-122"/>
              </a:rPr>
              <a:t/>
            </a:r>
            <a:br>
              <a:rPr kumimoji="1" lang="zh-CN" altLang="en-US" sz="2200" dirty="0">
                <a:solidFill>
                  <a:srgbClr val="000000"/>
                </a:solidFill>
                <a:latin typeface="宋体" panose="02010600030101010101" pitchFamily="2" charset="-122"/>
                <a:ea typeface="宋体" panose="02010600030101010101" pitchFamily="2" charset="-122"/>
              </a:rPr>
            </a:br>
            <a:r>
              <a:rPr kumimoji="1" lang="zh-CN" altLang="en-US" sz="2200" dirty="0">
                <a:solidFill>
                  <a:srgbClr val="000000"/>
                </a:solidFill>
                <a:latin typeface="宋体" panose="02010600030101010101" pitchFamily="2" charset="-122"/>
                <a:ea typeface="宋体" panose="02010600030101010101" pitchFamily="2" charset="-122"/>
              </a:rPr>
              <a:t>    </a:t>
            </a:r>
            <a:r>
              <a:rPr kumimoji="1" lang="zh-CN" altLang="en-US" sz="2200" dirty="0" smtClean="0">
                <a:solidFill>
                  <a:srgbClr val="000000"/>
                </a:solidFill>
                <a:latin typeface="宋体" panose="02010600030101010101" pitchFamily="2" charset="-122"/>
                <a:ea typeface="宋体" panose="02010600030101010101" pitchFamily="2" charset="-122"/>
              </a:rPr>
              <a:t>如果</a:t>
            </a:r>
            <a:r>
              <a:rPr kumimoji="1" lang="zh-CN" altLang="en-US" sz="2200" dirty="0">
                <a:solidFill>
                  <a:srgbClr val="000000"/>
                </a:solidFill>
                <a:latin typeface="宋体" panose="02010600030101010101" pitchFamily="2" charset="-122"/>
                <a:ea typeface="宋体" panose="02010600030101010101" pitchFamily="2" charset="-122"/>
              </a:rPr>
              <a:t>当前</a:t>
            </a:r>
            <a:r>
              <a:rPr kumimoji="1" lang="zh-CN" altLang="en-US" sz="2200" dirty="0">
                <a:solidFill>
                  <a:srgbClr val="9900CC"/>
                </a:solidFill>
                <a:latin typeface="宋体" panose="02010600030101010101" pitchFamily="2" charset="-122"/>
                <a:ea typeface="宋体" panose="02010600030101010101" pitchFamily="2" charset="-122"/>
              </a:rPr>
              <a:t>缓冲记录</a:t>
            </a:r>
            <a:r>
              <a:rPr kumimoji="1" lang="zh-CN" altLang="en-US" sz="2200" dirty="0">
                <a:solidFill>
                  <a:srgbClr val="000000"/>
                </a:solidFill>
                <a:latin typeface="宋体" panose="02010600030101010101" pitchFamily="2" charset="-122"/>
                <a:ea typeface="宋体" panose="02010600030101010101" pitchFamily="2" charset="-122"/>
              </a:rPr>
              <a:t>的预测位为“</a:t>
            </a:r>
            <a:r>
              <a:rPr kumimoji="1" lang="en-US" altLang="zh-CN" sz="2200" dirty="0">
                <a:solidFill>
                  <a:srgbClr val="000000"/>
                </a:solidFill>
                <a:latin typeface="宋体" panose="02010600030101010101" pitchFamily="2" charset="-122"/>
                <a:ea typeface="宋体" panose="02010600030101010101" pitchFamily="2" charset="-122"/>
              </a:rPr>
              <a:t>1”</a:t>
            </a:r>
            <a:r>
              <a:rPr kumimoji="1" lang="zh-CN" altLang="en-US" sz="2200" dirty="0">
                <a:solidFill>
                  <a:srgbClr val="000000"/>
                </a:solidFill>
                <a:latin typeface="宋体" panose="02010600030101010101" pitchFamily="2" charset="-122"/>
                <a:ea typeface="宋体" panose="02010600030101010101" pitchFamily="2" charset="-122"/>
              </a:rPr>
              <a:t>，则</a:t>
            </a:r>
            <a:r>
              <a:rPr kumimoji="1" lang="zh-CN" altLang="en-US" sz="2200" dirty="0" smtClean="0">
                <a:solidFill>
                  <a:srgbClr val="000000"/>
                </a:solidFill>
                <a:latin typeface="宋体" panose="02010600030101010101" pitchFamily="2" charset="-122"/>
                <a:ea typeface="宋体" panose="02010600030101010101" pitchFamily="2" charset="-122"/>
              </a:rPr>
              <a:t>预测</a:t>
            </a:r>
            <a:r>
              <a:rPr kumimoji="1" lang="zh-CN" altLang="en-US" sz="2200" dirty="0">
                <a:solidFill>
                  <a:srgbClr val="000000"/>
                </a:solidFill>
                <a:latin typeface="宋体" panose="02010600030101010101" pitchFamily="2" charset="-122"/>
                <a:ea typeface="宋体" panose="02010600030101010101" pitchFamily="2" charset="-122"/>
              </a:rPr>
              <a:t>分支为成功；如果预测位为“</a:t>
            </a:r>
            <a:r>
              <a:rPr kumimoji="1" lang="en-US" altLang="zh-CN" sz="2200" dirty="0">
                <a:solidFill>
                  <a:srgbClr val="000000"/>
                </a:solidFill>
                <a:latin typeface="宋体" panose="02010600030101010101" pitchFamily="2" charset="-122"/>
                <a:ea typeface="宋体" panose="02010600030101010101" pitchFamily="2" charset="-122"/>
              </a:rPr>
              <a:t>0”</a:t>
            </a:r>
            <a:r>
              <a:rPr kumimoji="1" lang="zh-CN" altLang="en-US" sz="2200" dirty="0">
                <a:solidFill>
                  <a:srgbClr val="000000"/>
                </a:solidFill>
                <a:latin typeface="宋体" panose="02010600030101010101" pitchFamily="2" charset="-122"/>
                <a:ea typeface="宋体" panose="02010600030101010101" pitchFamily="2" charset="-122"/>
              </a:rPr>
              <a:t>，则预测</a:t>
            </a:r>
            <a:r>
              <a:rPr kumimoji="1" lang="zh-CN" altLang="en-US" sz="2200" dirty="0" smtClean="0">
                <a:solidFill>
                  <a:srgbClr val="000000"/>
                </a:solidFill>
                <a:latin typeface="宋体" panose="02010600030101010101" pitchFamily="2" charset="-122"/>
                <a:ea typeface="宋体" panose="02010600030101010101" pitchFamily="2" charset="-122"/>
              </a:rPr>
              <a:t>分支为</a:t>
            </a:r>
            <a:r>
              <a:rPr kumimoji="1" lang="zh-CN" altLang="en-US" sz="2200" dirty="0">
                <a:solidFill>
                  <a:srgbClr val="000000"/>
                </a:solidFill>
                <a:latin typeface="宋体" panose="02010600030101010101" pitchFamily="2" charset="-122"/>
                <a:ea typeface="宋体" panose="02010600030101010101" pitchFamily="2" charset="-122"/>
              </a:rPr>
              <a:t>不成功</a:t>
            </a:r>
            <a:r>
              <a:rPr kumimoji="1" lang="zh-CN" altLang="en-US" sz="2200" dirty="0" smtClean="0">
                <a:solidFill>
                  <a:srgbClr val="000000"/>
                </a:solidFill>
                <a:latin typeface="宋体" panose="02010600030101010101" pitchFamily="2" charset="-122"/>
                <a:ea typeface="宋体" panose="02010600030101010101" pitchFamily="2" charset="-122"/>
              </a:rPr>
              <a:t>。</a:t>
            </a:r>
            <a:endParaRPr kumimoji="1" lang="en-US" altLang="zh-CN" sz="2200" dirty="0" smtClean="0">
              <a:solidFill>
                <a:srgbClr val="000000"/>
              </a:solidFill>
              <a:latin typeface="宋体" panose="02010600030101010101" pitchFamily="2" charset="-122"/>
              <a:ea typeface="宋体" panose="02010600030101010101" pitchFamily="2" charset="-122"/>
            </a:endParaRPr>
          </a:p>
          <a:p>
            <a:pPr marL="1057275" indent="-342900" fontAlgn="base">
              <a:lnSpc>
                <a:spcPct val="110000"/>
              </a:lnSpc>
              <a:spcBef>
                <a:spcPct val="20000"/>
              </a:spcBef>
              <a:spcAft>
                <a:spcPct val="0"/>
              </a:spcAft>
              <a:buSzPct val="80000"/>
              <a:buFont typeface="Wingdings" panose="05000000000000000000" pitchFamily="2" charset="2"/>
              <a:buChar char="Ø"/>
              <a:defRPr/>
            </a:pPr>
            <a:r>
              <a:rPr kumimoji="1" lang="zh-CN" altLang="en-US" sz="2200" dirty="0">
                <a:latin typeface="宋体" panose="02010600030101010101" pitchFamily="2" charset="-122"/>
                <a:ea typeface="宋体" panose="02010600030101010101" pitchFamily="2" charset="-122"/>
              </a:rPr>
              <a:t>预测位修改</a:t>
            </a:r>
            <a:r>
              <a:rPr kumimoji="1" lang="zh-CN" altLang="en-US" sz="2200" dirty="0">
                <a:solidFill>
                  <a:srgbClr val="000000"/>
                </a:solidFill>
                <a:latin typeface="宋体" panose="02010600030101010101" pitchFamily="2" charset="-122"/>
                <a:ea typeface="宋体" panose="02010600030101010101" pitchFamily="2" charset="-122"/>
              </a:rPr>
              <a:t/>
            </a:r>
            <a:br>
              <a:rPr kumimoji="1" lang="zh-CN" altLang="en-US" sz="2200" dirty="0">
                <a:solidFill>
                  <a:srgbClr val="000000"/>
                </a:solidFill>
                <a:latin typeface="宋体" panose="02010600030101010101" pitchFamily="2" charset="-122"/>
                <a:ea typeface="宋体" panose="02010600030101010101" pitchFamily="2" charset="-122"/>
              </a:rPr>
            </a:br>
            <a:r>
              <a:rPr kumimoji="1" lang="zh-CN" altLang="en-US" sz="2200" dirty="0">
                <a:solidFill>
                  <a:srgbClr val="000000"/>
                </a:solidFill>
                <a:latin typeface="宋体" panose="02010600030101010101" pitchFamily="2" charset="-122"/>
                <a:ea typeface="宋体" panose="02010600030101010101" pitchFamily="2" charset="-122"/>
              </a:rPr>
              <a:t>    如果当前分支成功，则预测位置为“</a:t>
            </a:r>
            <a:r>
              <a:rPr kumimoji="1" lang="en-US" altLang="zh-CN" sz="2200" dirty="0">
                <a:solidFill>
                  <a:srgbClr val="000000"/>
                </a:solidFill>
                <a:latin typeface="宋体" panose="02010600030101010101" pitchFamily="2" charset="-122"/>
                <a:ea typeface="宋体" panose="02010600030101010101" pitchFamily="2" charset="-122"/>
              </a:rPr>
              <a:t>1”</a:t>
            </a:r>
            <a:r>
              <a:rPr kumimoji="1" lang="zh-CN" altLang="en-US" sz="2200" dirty="0">
                <a:solidFill>
                  <a:srgbClr val="000000"/>
                </a:solidFill>
                <a:latin typeface="宋体" panose="02010600030101010101" pitchFamily="2" charset="-122"/>
                <a:ea typeface="宋体" panose="02010600030101010101" pitchFamily="2" charset="-122"/>
              </a:rPr>
              <a:t>； 如果当前分支不成功，预测位置为“</a:t>
            </a:r>
            <a:r>
              <a:rPr kumimoji="1" lang="en-US" altLang="zh-CN" sz="2200" dirty="0">
                <a:solidFill>
                  <a:srgbClr val="000000"/>
                </a:solidFill>
                <a:latin typeface="宋体" panose="02010600030101010101" pitchFamily="2" charset="-122"/>
                <a:ea typeface="宋体" panose="02010600030101010101" pitchFamily="2" charset="-122"/>
              </a:rPr>
              <a:t>0”</a:t>
            </a:r>
            <a:r>
              <a:rPr kumimoji="1" lang="zh-CN" altLang="en-US" sz="2200" dirty="0">
                <a:solidFill>
                  <a:srgbClr val="000000"/>
                </a:solidFill>
                <a:latin typeface="宋体" panose="02010600030101010101" pitchFamily="2" charset="-122"/>
                <a:ea typeface="宋体" panose="02010600030101010101" pitchFamily="2" charset="-122"/>
              </a:rPr>
              <a:t>。 </a:t>
            </a:r>
          </a:p>
        </p:txBody>
      </p:sp>
      <p:sp>
        <p:nvSpPr>
          <p:cNvPr id="262148" name="Text Box 4"/>
          <p:cNvSpPr txBox="1">
            <a:spLocks noChangeArrowheads="1"/>
          </p:cNvSpPr>
          <p:nvPr/>
        </p:nvSpPr>
        <p:spPr bwMode="auto">
          <a:xfrm>
            <a:off x="715735" y="3544389"/>
            <a:ext cx="10001884"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algn="just" fontAlgn="base">
              <a:spcBef>
                <a:spcPct val="50000"/>
              </a:spcBef>
              <a:spcAft>
                <a:spcPct val="0"/>
              </a:spcAft>
              <a:buClrTx/>
              <a:buNone/>
            </a:pPr>
            <a:r>
              <a:rPr lang="en-US" altLang="zh-CN" sz="2200" dirty="0">
                <a:solidFill>
                  <a:srgbClr val="FF0000"/>
                </a:solidFill>
                <a:latin typeface="黑体" panose="02010609060101010101" pitchFamily="49" charset="-122"/>
              </a:rPr>
              <a:t> </a:t>
            </a:r>
            <a:r>
              <a:rPr lang="en-US" altLang="zh-CN" sz="2200" dirty="0" smtClean="0">
                <a:solidFill>
                  <a:srgbClr val="FF0000"/>
                </a:solidFill>
                <a:latin typeface="宋体" panose="02010600030101010101" pitchFamily="2" charset="-122"/>
                <a:ea typeface="宋体" panose="02010600030101010101" pitchFamily="2" charset="-122"/>
              </a:rPr>
              <a:t>②</a:t>
            </a:r>
            <a:r>
              <a:rPr lang="zh-CN" altLang="en-US" sz="2200" dirty="0" smtClean="0">
                <a:solidFill>
                  <a:srgbClr val="FF0000"/>
                </a:solidFill>
                <a:latin typeface="宋体" panose="02010600030101010101" pitchFamily="2" charset="-122"/>
                <a:ea typeface="宋体" panose="02010600030101010101" pitchFamily="2" charset="-122"/>
              </a:rPr>
              <a:t>分支</a:t>
            </a:r>
            <a:r>
              <a:rPr lang="zh-CN" altLang="en-US" sz="2200" dirty="0">
                <a:solidFill>
                  <a:srgbClr val="FF0000"/>
                </a:solidFill>
                <a:latin typeface="宋体" panose="02010600030101010101" pitchFamily="2" charset="-122"/>
                <a:ea typeface="宋体" panose="02010600030101010101" pitchFamily="2" charset="-122"/>
              </a:rPr>
              <a:t>预测错误时，</a:t>
            </a:r>
            <a:r>
              <a:rPr lang="zh-CN" altLang="en-US" sz="2200" dirty="0">
                <a:solidFill>
                  <a:srgbClr val="000000"/>
                </a:solidFill>
                <a:latin typeface="宋体" panose="02010600030101010101" pitchFamily="2" charset="-122"/>
                <a:ea typeface="宋体" panose="02010600030101010101" pitchFamily="2" charset="-122"/>
              </a:rPr>
              <a:t>预测位就被修改，并且需</a:t>
            </a:r>
            <a:br>
              <a:rPr lang="zh-CN" altLang="en-US" sz="2200" dirty="0">
                <a:solidFill>
                  <a:srgbClr val="000000"/>
                </a:solidFill>
                <a:latin typeface="宋体" panose="02010600030101010101" pitchFamily="2" charset="-122"/>
                <a:ea typeface="宋体" panose="02010600030101010101" pitchFamily="2" charset="-122"/>
              </a:rPr>
            </a:br>
            <a:r>
              <a:rPr lang="zh-CN" altLang="en-US" sz="2200" dirty="0">
                <a:solidFill>
                  <a:srgbClr val="000000"/>
                </a:solidFill>
                <a:latin typeface="宋体" panose="02010600030101010101" pitchFamily="2" charset="-122"/>
                <a:ea typeface="宋体" panose="02010600030101010101" pitchFamily="2" charset="-122"/>
              </a:rPr>
              <a:t>  要恢复现场，程序从分支指令处重新执行。</a:t>
            </a:r>
            <a:r>
              <a:rPr lang="zh-CN" altLang="en-US" sz="2200" dirty="0">
                <a:solidFill>
                  <a:srgbClr val="64EC77"/>
                </a:solidFill>
                <a:latin typeface="宋体" panose="02010600030101010101" pitchFamily="2" charset="-122"/>
                <a:ea typeface="宋体" panose="02010600030101010101" pitchFamily="2" charset="-122"/>
                <a:cs typeface="Times New Roman" panose="02020603050405020304" pitchFamily="18" charset="0"/>
              </a:rPr>
              <a:t> </a:t>
            </a:r>
            <a:endParaRPr lang="zh-CN" altLang="en-US" sz="2200" dirty="0">
              <a:solidFill>
                <a:srgbClr val="64EC77"/>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04945288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155850" y="0"/>
            <a:ext cx="8538437" cy="6858000"/>
          </a:xfrm>
          <a:prstGeom prst="rect">
            <a:avLst/>
          </a:prstGeom>
        </p:spPr>
      </p:pic>
      <p:sp>
        <p:nvSpPr>
          <p:cNvPr id="4" name="矩形 3"/>
          <p:cNvSpPr/>
          <p:nvPr/>
        </p:nvSpPr>
        <p:spPr>
          <a:xfrm>
            <a:off x="297712" y="133192"/>
            <a:ext cx="1107996" cy="476669"/>
          </a:xfrm>
          <a:prstGeom prst="rect">
            <a:avLst/>
          </a:prstGeom>
        </p:spPr>
        <p:txBody>
          <a:bodyPr wrap="none">
            <a:spAutoFit/>
          </a:bodyPr>
          <a:lstStyle/>
          <a:p>
            <a:pPr lvl="0" fontAlgn="base">
              <a:lnSpc>
                <a:spcPct val="120000"/>
              </a:lnSpc>
              <a:spcBef>
                <a:spcPct val="20000"/>
              </a:spcBef>
              <a:spcAft>
                <a:spcPct val="0"/>
              </a:spcAft>
              <a:buClr>
                <a:srgbClr val="40458C"/>
              </a:buClr>
            </a:pPr>
            <a:r>
              <a:rPr kumimoji="1" lang="zh-CN" altLang="en-US" sz="2400" kern="0" dirty="0" smtClean="0">
                <a:latin typeface="宋体" panose="02010600030101010101" pitchFamily="2" charset="-122"/>
                <a:ea typeface="宋体" panose="02010600030101010101" pitchFamily="2" charset="-122"/>
              </a:rPr>
              <a:t>实例：</a:t>
            </a:r>
            <a:endParaRPr kumimoji="1" lang="zh-CN" altLang="en-US" sz="2400" kern="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3241490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矩形 2"/>
          <p:cNvSpPr/>
          <p:nvPr/>
        </p:nvSpPr>
        <p:spPr>
          <a:xfrm>
            <a:off x="317112" y="3495963"/>
            <a:ext cx="11453008" cy="3447098"/>
          </a:xfrm>
          <a:prstGeom prst="rect">
            <a:avLst/>
          </a:prstGeom>
        </p:spPr>
        <p:txBody>
          <a:bodyPr wrap="square">
            <a:spAutoFit/>
          </a:bodyPr>
          <a:lstStyle/>
          <a:p>
            <a:r>
              <a:rPr lang="zh-CN" altLang="en-US" sz="2000" b="1" dirty="0" smtClean="0">
                <a:solidFill>
                  <a:srgbClr val="181E33"/>
                </a:solidFill>
                <a:latin typeface="宋体" panose="02010600030101010101" pitchFamily="2" charset="-122"/>
                <a:ea typeface="宋体" panose="02010600030101010101" pitchFamily="2" charset="-122"/>
              </a:rPr>
              <a:t>上图读</a:t>
            </a:r>
            <a:r>
              <a:rPr lang="zh-CN" altLang="en-US" sz="2000" b="1" dirty="0">
                <a:solidFill>
                  <a:srgbClr val="181E33"/>
                </a:solidFill>
                <a:latin typeface="宋体" panose="02010600030101010101" pitchFamily="2" charset="-122"/>
                <a:ea typeface="宋体" panose="02010600030101010101" pitchFamily="2" charset="-122"/>
              </a:rPr>
              <a:t>解</a:t>
            </a:r>
            <a:r>
              <a:rPr lang="zh-CN" altLang="en-US" sz="2000" b="1" dirty="0" smtClean="0">
                <a:solidFill>
                  <a:srgbClr val="181E33"/>
                </a:solidFill>
                <a:latin typeface="宋体" panose="02010600030101010101" pitchFamily="2" charset="-122"/>
                <a:ea typeface="宋体" panose="02010600030101010101" pitchFamily="2" charset="-122"/>
              </a:rPr>
              <a:t>：</a:t>
            </a:r>
            <a:r>
              <a:rPr lang="zh-CN" altLang="en-US" dirty="0" smtClean="0">
                <a:solidFill>
                  <a:srgbClr val="181E33"/>
                </a:solidFill>
                <a:latin typeface="宋体" panose="02010600030101010101" pitchFamily="2" charset="-122"/>
                <a:ea typeface="宋体" panose="02010600030101010101" pitchFamily="2" charset="-122"/>
              </a:rPr>
              <a:t> </a:t>
            </a:r>
            <a:endParaRPr lang="zh-CN" altLang="en-US" dirty="0">
              <a:solidFill>
                <a:srgbClr val="181E33"/>
              </a:solidFill>
              <a:latin typeface="PingFangSC"/>
            </a:endParaRPr>
          </a:p>
          <a:p>
            <a:r>
              <a:rPr lang="zh-CN" altLang="en-US" dirty="0">
                <a:solidFill>
                  <a:srgbClr val="181E33"/>
                </a:solidFill>
                <a:latin typeface="宋体" panose="02010600030101010101" pitchFamily="2" charset="-122"/>
                <a:ea typeface="宋体" panose="02010600030101010101" pitchFamily="2" charset="-122"/>
              </a:rPr>
              <a:t>（</a:t>
            </a:r>
            <a:r>
              <a:rPr lang="en-US" altLang="zh-CN" dirty="0">
                <a:solidFill>
                  <a:srgbClr val="181E33"/>
                </a:solidFill>
                <a:latin typeface="宋体" panose="02010600030101010101" pitchFamily="2" charset="-122"/>
                <a:ea typeface="宋体" panose="02010600030101010101" pitchFamily="2" charset="-122"/>
              </a:rPr>
              <a:t>a</a:t>
            </a:r>
            <a:r>
              <a:rPr lang="zh-CN" altLang="en-US" dirty="0">
                <a:solidFill>
                  <a:srgbClr val="181E33"/>
                </a:solidFill>
                <a:latin typeface="宋体" panose="02010600030101010101" pitchFamily="2" charset="-122"/>
                <a:ea typeface="宋体" panose="02010600030101010101" pitchFamily="2" charset="-122"/>
              </a:rPr>
              <a:t>）约定一下，左边为第一位，右边为第二位，比如“</a:t>
            </a:r>
            <a:r>
              <a:rPr lang="en-US" altLang="zh-CN" dirty="0">
                <a:solidFill>
                  <a:srgbClr val="181E33"/>
                </a:solidFill>
                <a:latin typeface="宋体" panose="02010600030101010101" pitchFamily="2" charset="-122"/>
                <a:ea typeface="宋体" panose="02010600030101010101" pitchFamily="2" charset="-122"/>
              </a:rPr>
              <a:t>01”</a:t>
            </a:r>
            <a:r>
              <a:rPr lang="zh-CN" altLang="en-US" dirty="0">
                <a:solidFill>
                  <a:srgbClr val="181E33"/>
                </a:solidFill>
                <a:latin typeface="宋体" panose="02010600030101010101" pitchFamily="2" charset="-122"/>
                <a:ea typeface="宋体" panose="02010600030101010101" pitchFamily="2" charset="-122"/>
              </a:rPr>
              <a:t>，“</a:t>
            </a:r>
            <a:r>
              <a:rPr lang="en-US" altLang="zh-CN" dirty="0">
                <a:solidFill>
                  <a:srgbClr val="181E33"/>
                </a:solidFill>
                <a:latin typeface="宋体" panose="02010600030101010101" pitchFamily="2" charset="-122"/>
                <a:ea typeface="宋体" panose="02010600030101010101" pitchFamily="2" charset="-122"/>
              </a:rPr>
              <a:t>0”</a:t>
            </a:r>
            <a:r>
              <a:rPr lang="zh-CN" altLang="en-US" dirty="0">
                <a:solidFill>
                  <a:srgbClr val="181E33"/>
                </a:solidFill>
                <a:latin typeface="宋体" panose="02010600030101010101" pitchFamily="2" charset="-122"/>
                <a:ea typeface="宋体" panose="02010600030101010101" pitchFamily="2" charset="-122"/>
              </a:rPr>
              <a:t>为第一位，“</a:t>
            </a:r>
            <a:r>
              <a:rPr lang="en-US" altLang="zh-CN" dirty="0">
                <a:solidFill>
                  <a:srgbClr val="181E33"/>
                </a:solidFill>
                <a:latin typeface="宋体" panose="02010600030101010101" pitchFamily="2" charset="-122"/>
                <a:ea typeface="宋体" panose="02010600030101010101" pitchFamily="2" charset="-122"/>
              </a:rPr>
              <a:t>1”</a:t>
            </a:r>
            <a:r>
              <a:rPr lang="zh-CN" altLang="en-US" dirty="0">
                <a:solidFill>
                  <a:srgbClr val="181E33"/>
                </a:solidFill>
                <a:latin typeface="宋体" panose="02010600030101010101" pitchFamily="2" charset="-122"/>
                <a:ea typeface="宋体" panose="02010600030101010101" pitchFamily="2" charset="-122"/>
              </a:rPr>
              <a:t>位第二位。</a:t>
            </a:r>
            <a:endParaRPr lang="zh-CN" altLang="en-US" dirty="0">
              <a:solidFill>
                <a:srgbClr val="181E33"/>
              </a:solidFill>
              <a:latin typeface="PingFangSC"/>
            </a:endParaRPr>
          </a:p>
          <a:p>
            <a:r>
              <a:rPr lang="zh-CN" altLang="en-US" dirty="0">
                <a:solidFill>
                  <a:srgbClr val="181E33"/>
                </a:solidFill>
                <a:latin typeface="宋体" panose="02010600030101010101" pitchFamily="2" charset="-122"/>
                <a:ea typeface="宋体" panose="02010600030101010101" pitchFamily="2" charset="-122"/>
              </a:rPr>
              <a:t>（</a:t>
            </a:r>
            <a:r>
              <a:rPr lang="en-US" altLang="zh-CN" dirty="0">
                <a:solidFill>
                  <a:srgbClr val="181E33"/>
                </a:solidFill>
                <a:latin typeface="宋体" panose="02010600030101010101" pitchFamily="2" charset="-122"/>
                <a:ea typeface="宋体" panose="02010600030101010101" pitchFamily="2" charset="-122"/>
              </a:rPr>
              <a:t>b</a:t>
            </a:r>
            <a:r>
              <a:rPr lang="zh-CN" altLang="en-US" dirty="0">
                <a:solidFill>
                  <a:srgbClr val="181E33"/>
                </a:solidFill>
                <a:latin typeface="宋体" panose="02010600030101010101" pitchFamily="2" charset="-122"/>
                <a:ea typeface="宋体" panose="02010600030101010101" pitchFamily="2" charset="-122"/>
              </a:rPr>
              <a:t>）当前状态下，预测啥看第一位，比如“</a:t>
            </a:r>
            <a:r>
              <a:rPr lang="en-US" altLang="zh-CN" dirty="0">
                <a:solidFill>
                  <a:srgbClr val="181E33"/>
                </a:solidFill>
                <a:latin typeface="宋体" panose="02010600030101010101" pitchFamily="2" charset="-122"/>
                <a:ea typeface="宋体" panose="02010600030101010101" pitchFamily="2" charset="-122"/>
              </a:rPr>
              <a:t>01”</a:t>
            </a:r>
            <a:r>
              <a:rPr lang="zh-CN" altLang="en-US" dirty="0">
                <a:solidFill>
                  <a:srgbClr val="181E33"/>
                </a:solidFill>
                <a:latin typeface="宋体" panose="02010600030101010101" pitchFamily="2" charset="-122"/>
                <a:ea typeface="宋体" panose="02010600030101010101" pitchFamily="2" charset="-122"/>
              </a:rPr>
              <a:t>，第一位是“</a:t>
            </a:r>
            <a:r>
              <a:rPr lang="en-US" altLang="zh-CN" dirty="0">
                <a:solidFill>
                  <a:srgbClr val="181E33"/>
                </a:solidFill>
                <a:latin typeface="宋体" panose="02010600030101010101" pitchFamily="2" charset="-122"/>
                <a:ea typeface="宋体" panose="02010600030101010101" pitchFamily="2" charset="-122"/>
              </a:rPr>
              <a:t>0”</a:t>
            </a:r>
            <a:r>
              <a:rPr lang="zh-CN" altLang="en-US" dirty="0">
                <a:solidFill>
                  <a:srgbClr val="181E33"/>
                </a:solidFill>
                <a:latin typeface="宋体" panose="02010600030101010101" pitchFamily="2" charset="-122"/>
                <a:ea typeface="宋体" panose="02010600030101010101" pitchFamily="2" charset="-122"/>
              </a:rPr>
              <a:t>，则预测分支是失败的（不成功）。</a:t>
            </a:r>
            <a:endParaRPr lang="zh-CN" altLang="en-US" dirty="0">
              <a:solidFill>
                <a:srgbClr val="181E33"/>
              </a:solidFill>
              <a:latin typeface="PingFangSC"/>
            </a:endParaRPr>
          </a:p>
          <a:p>
            <a:r>
              <a:rPr lang="zh-CN" altLang="en-US" dirty="0">
                <a:solidFill>
                  <a:srgbClr val="181E33"/>
                </a:solidFill>
                <a:latin typeface="宋体" panose="02010600030101010101" pitchFamily="2" charset="-122"/>
                <a:ea typeface="宋体" panose="02010600030101010101" pitchFamily="2" charset="-122"/>
              </a:rPr>
              <a:t>（</a:t>
            </a:r>
            <a:r>
              <a:rPr lang="en-US" altLang="zh-CN" dirty="0">
                <a:solidFill>
                  <a:srgbClr val="181E33"/>
                </a:solidFill>
                <a:latin typeface="宋体" panose="02010600030101010101" pitchFamily="2" charset="-122"/>
                <a:ea typeface="宋体" panose="02010600030101010101" pitchFamily="2" charset="-122"/>
              </a:rPr>
              <a:t>c</a:t>
            </a:r>
            <a:r>
              <a:rPr lang="zh-CN" altLang="en-US" dirty="0">
                <a:solidFill>
                  <a:srgbClr val="181E33"/>
                </a:solidFill>
                <a:latin typeface="宋体" panose="02010600030101010101" pitchFamily="2" charset="-122"/>
                <a:ea typeface="宋体" panose="02010600030101010101" pitchFamily="2" charset="-122"/>
              </a:rPr>
              <a:t>）上图分成上下两部分：上半部分两个状态第一位都是“</a:t>
            </a:r>
            <a:r>
              <a:rPr lang="en-US" altLang="zh-CN" dirty="0">
                <a:solidFill>
                  <a:srgbClr val="181E33"/>
                </a:solidFill>
                <a:latin typeface="宋体" panose="02010600030101010101" pitchFamily="2" charset="-122"/>
                <a:ea typeface="宋体" panose="02010600030101010101" pitchFamily="2" charset="-122"/>
              </a:rPr>
              <a:t>1”</a:t>
            </a:r>
            <a:r>
              <a:rPr lang="zh-CN" altLang="en-US" dirty="0">
                <a:solidFill>
                  <a:srgbClr val="181E33"/>
                </a:solidFill>
                <a:latin typeface="宋体" panose="02010600030101010101" pitchFamily="2" charset="-122"/>
                <a:ea typeface="宋体" panose="02010600030101010101" pitchFamily="2" charset="-122"/>
              </a:rPr>
              <a:t>，处在该状态的分支指令，将会被预测分支成功；下半部分两个状态第一位都是“</a:t>
            </a:r>
            <a:r>
              <a:rPr lang="en-US" altLang="zh-CN" dirty="0">
                <a:solidFill>
                  <a:srgbClr val="181E33"/>
                </a:solidFill>
                <a:latin typeface="宋体" panose="02010600030101010101" pitchFamily="2" charset="-122"/>
                <a:ea typeface="宋体" panose="02010600030101010101" pitchFamily="2" charset="-122"/>
              </a:rPr>
              <a:t>0”</a:t>
            </a:r>
            <a:r>
              <a:rPr lang="zh-CN" altLang="en-US" dirty="0">
                <a:solidFill>
                  <a:srgbClr val="181E33"/>
                </a:solidFill>
                <a:latin typeface="宋体" panose="02010600030101010101" pitchFamily="2" charset="-122"/>
                <a:ea typeface="宋体" panose="02010600030101010101" pitchFamily="2" charset="-122"/>
              </a:rPr>
              <a:t>，处在该状态的分支指令，将会被预测分支失败。</a:t>
            </a:r>
            <a:endParaRPr lang="zh-CN" altLang="en-US" dirty="0">
              <a:solidFill>
                <a:srgbClr val="181E33"/>
              </a:solidFill>
              <a:latin typeface="PingFangSC"/>
            </a:endParaRPr>
          </a:p>
          <a:p>
            <a:r>
              <a:rPr lang="zh-CN" altLang="en-US" dirty="0">
                <a:solidFill>
                  <a:srgbClr val="181E33"/>
                </a:solidFill>
                <a:latin typeface="宋体" panose="02010600030101010101" pitchFamily="2" charset="-122"/>
                <a:ea typeface="宋体" panose="02010600030101010101" pitchFamily="2" charset="-122"/>
              </a:rPr>
              <a:t>（</a:t>
            </a:r>
            <a:r>
              <a:rPr lang="en-US" altLang="zh-CN" dirty="0">
                <a:solidFill>
                  <a:srgbClr val="181E33"/>
                </a:solidFill>
                <a:latin typeface="宋体" panose="02010600030101010101" pitchFamily="2" charset="-122"/>
                <a:ea typeface="宋体" panose="02010600030101010101" pitchFamily="2" charset="-122"/>
              </a:rPr>
              <a:t>d</a:t>
            </a:r>
            <a:r>
              <a:rPr lang="zh-CN" altLang="en-US" dirty="0">
                <a:solidFill>
                  <a:srgbClr val="181E33"/>
                </a:solidFill>
                <a:latin typeface="宋体" panose="02010600030101010101" pitchFamily="2" charset="-122"/>
                <a:ea typeface="宋体" panose="02010600030101010101" pitchFamily="2" charset="-122"/>
              </a:rPr>
              <a:t>）连续</a:t>
            </a:r>
            <a:r>
              <a:rPr lang="en-US" altLang="zh-CN" dirty="0">
                <a:solidFill>
                  <a:srgbClr val="181E33"/>
                </a:solidFill>
                <a:latin typeface="宋体" panose="02010600030101010101" pitchFamily="2" charset="-122"/>
                <a:ea typeface="宋体" panose="02010600030101010101" pitchFamily="2" charset="-122"/>
              </a:rPr>
              <a:t>2</a:t>
            </a:r>
            <a:r>
              <a:rPr lang="zh-CN" altLang="en-US" dirty="0">
                <a:solidFill>
                  <a:srgbClr val="181E33"/>
                </a:solidFill>
                <a:latin typeface="宋体" panose="02010600030101010101" pitchFamily="2" charset="-122"/>
                <a:ea typeface="宋体" panose="02010600030101010101" pitchFamily="2" charset="-122"/>
              </a:rPr>
              <a:t>次预测</a:t>
            </a:r>
            <a:r>
              <a:rPr lang="zh-CN" altLang="en-US" dirty="0">
                <a:solidFill>
                  <a:srgbClr val="FF0000"/>
                </a:solidFill>
                <a:latin typeface="宋体" panose="02010600030101010101" pitchFamily="2" charset="-122"/>
                <a:ea typeface="宋体" panose="02010600030101010101" pitchFamily="2" charset="-122"/>
              </a:rPr>
              <a:t>错误</a:t>
            </a:r>
            <a:r>
              <a:rPr lang="zh-CN" altLang="en-US" dirty="0">
                <a:solidFill>
                  <a:srgbClr val="000000"/>
                </a:solidFill>
                <a:latin typeface="宋体" panose="02010600030101010101" pitchFamily="2" charset="-122"/>
                <a:ea typeface="宋体" panose="02010600030101010101" pitchFamily="2" charset="-122"/>
              </a:rPr>
              <a:t>会导致翻转，也就是从上半部分进入下半部分，或者从下半部分进入上半部分。比如当前处于“</a:t>
            </a:r>
            <a:r>
              <a:rPr lang="en-US" altLang="zh-CN" dirty="0">
                <a:solidFill>
                  <a:srgbClr val="000000"/>
                </a:solidFill>
                <a:latin typeface="宋体" panose="02010600030101010101" pitchFamily="2" charset="-122"/>
                <a:ea typeface="宋体" panose="02010600030101010101" pitchFamily="2" charset="-122"/>
              </a:rPr>
              <a:t>01”</a:t>
            </a:r>
            <a:r>
              <a:rPr lang="zh-CN" altLang="en-US" dirty="0">
                <a:solidFill>
                  <a:srgbClr val="000000"/>
                </a:solidFill>
                <a:latin typeface="宋体" panose="02010600030101010101" pitchFamily="2" charset="-122"/>
                <a:ea typeface="宋体" panose="02010600030101010101" pitchFamily="2" charset="-122"/>
              </a:rPr>
              <a:t>状态，也就是前一次已经预测错误了，此次将仍然预测分支是失败的，但是如果分支成功了（也就是预测错了），将会更改为“</a:t>
            </a:r>
            <a:r>
              <a:rPr lang="en-US" altLang="zh-CN" dirty="0">
                <a:solidFill>
                  <a:srgbClr val="000000"/>
                </a:solidFill>
                <a:latin typeface="宋体" panose="02010600030101010101" pitchFamily="2" charset="-122"/>
                <a:ea typeface="宋体" panose="02010600030101010101" pitchFamily="2" charset="-122"/>
              </a:rPr>
              <a:t>11”</a:t>
            </a:r>
            <a:r>
              <a:rPr lang="zh-CN" altLang="en-US" dirty="0">
                <a:solidFill>
                  <a:srgbClr val="000000"/>
                </a:solidFill>
                <a:latin typeface="宋体" panose="02010600030101010101" pitchFamily="2" charset="-122"/>
                <a:ea typeface="宋体" panose="02010600030101010101" pitchFamily="2" charset="-122"/>
              </a:rPr>
              <a:t>状态。</a:t>
            </a:r>
            <a:endParaRPr lang="zh-CN" altLang="en-US" dirty="0">
              <a:solidFill>
                <a:srgbClr val="181E33"/>
              </a:solidFill>
              <a:latin typeface="PingFangSC"/>
            </a:endParaRPr>
          </a:p>
          <a:p>
            <a:r>
              <a:rPr lang="zh-CN" altLang="en-US" dirty="0">
                <a:solidFill>
                  <a:srgbClr val="181E33"/>
                </a:solidFill>
                <a:latin typeface="宋体" panose="02010600030101010101" pitchFamily="2" charset="-122"/>
                <a:ea typeface="宋体" panose="02010600030101010101" pitchFamily="2" charset="-122"/>
              </a:rPr>
              <a:t>（</a:t>
            </a:r>
            <a:r>
              <a:rPr lang="en-US" altLang="zh-CN" dirty="0">
                <a:solidFill>
                  <a:srgbClr val="181E33"/>
                </a:solidFill>
                <a:latin typeface="宋体" panose="02010600030101010101" pitchFamily="2" charset="-122"/>
                <a:ea typeface="宋体" panose="02010600030101010101" pitchFamily="2" charset="-122"/>
              </a:rPr>
              <a:t>e</a:t>
            </a:r>
            <a:r>
              <a:rPr lang="zh-CN" altLang="en-US" dirty="0">
                <a:solidFill>
                  <a:srgbClr val="181E33"/>
                </a:solidFill>
                <a:latin typeface="宋体" panose="02010600030101010101" pitchFamily="2" charset="-122"/>
                <a:ea typeface="宋体" panose="02010600030101010101" pitchFamily="2" charset="-122"/>
              </a:rPr>
              <a:t>）没看懂多看几遍。</a:t>
            </a:r>
            <a:br>
              <a:rPr lang="zh-CN" altLang="en-US" dirty="0">
                <a:solidFill>
                  <a:srgbClr val="181E33"/>
                </a:solidFill>
                <a:latin typeface="宋体" panose="02010600030101010101" pitchFamily="2" charset="-122"/>
                <a:ea typeface="宋体" panose="02010600030101010101" pitchFamily="2" charset="-122"/>
              </a:rPr>
            </a:br>
            <a:endParaRPr lang="zh-CN" altLang="en-US" dirty="0">
              <a:solidFill>
                <a:srgbClr val="181E33"/>
              </a:solidFill>
              <a:latin typeface="PingFangSC"/>
            </a:endParaRPr>
          </a:p>
          <a:p>
            <a:r>
              <a:rPr kumimoji="1" lang="zh-CN" altLang="en-US" kern="0" dirty="0" smtClean="0">
                <a:solidFill>
                  <a:srgbClr val="D60093"/>
                </a:solidFill>
                <a:latin typeface="宋体" panose="02010600030101010101" pitchFamily="2" charset="-122"/>
                <a:ea typeface="宋体" panose="02010600030101010101" pitchFamily="2" charset="-122"/>
              </a:rPr>
              <a:t>研究</a:t>
            </a:r>
            <a:r>
              <a:rPr kumimoji="1" lang="zh-CN" altLang="en-US" kern="0" dirty="0">
                <a:solidFill>
                  <a:srgbClr val="D60093"/>
                </a:solidFill>
                <a:latin typeface="宋体" panose="02010600030101010101" pitchFamily="2" charset="-122"/>
                <a:ea typeface="宋体" panose="02010600030101010101" pitchFamily="2" charset="-122"/>
              </a:rPr>
              <a:t>结果表明：</a:t>
            </a:r>
            <a:r>
              <a:rPr kumimoji="1" lang="zh-CN" altLang="en-US" kern="0" dirty="0">
                <a:solidFill>
                  <a:srgbClr val="000000"/>
                </a:solidFill>
                <a:latin typeface="宋体" panose="02010600030101010101" pitchFamily="2" charset="-122"/>
                <a:ea typeface="宋体" panose="02010600030101010101" pitchFamily="2" charset="-122"/>
              </a:rPr>
              <a:t>两位分支预测的性能与</a:t>
            </a:r>
            <a:r>
              <a:rPr kumimoji="1" lang="en-US" altLang="zh-CN" kern="0" dirty="0">
                <a:solidFill>
                  <a:srgbClr val="9933FF"/>
                </a:solidFill>
                <a:latin typeface="宋体" panose="02010600030101010101" pitchFamily="2" charset="-122"/>
                <a:ea typeface="宋体" panose="02010600030101010101" pitchFamily="2" charset="-122"/>
              </a:rPr>
              <a:t>n</a:t>
            </a:r>
            <a:r>
              <a:rPr kumimoji="1" lang="zh-CN" altLang="en-US" kern="0" dirty="0">
                <a:solidFill>
                  <a:srgbClr val="000000"/>
                </a:solidFill>
                <a:latin typeface="宋体" panose="02010600030101010101" pitchFamily="2" charset="-122"/>
                <a:ea typeface="宋体" panose="02010600030101010101" pitchFamily="2" charset="-122"/>
              </a:rPr>
              <a:t>位（</a:t>
            </a:r>
            <a:r>
              <a:rPr kumimoji="1" lang="en-US" altLang="zh-CN" kern="0" dirty="0">
                <a:solidFill>
                  <a:srgbClr val="000000"/>
                </a:solidFill>
                <a:latin typeface="宋体" panose="02010600030101010101" pitchFamily="2" charset="-122"/>
                <a:ea typeface="宋体" panose="02010600030101010101" pitchFamily="2" charset="-122"/>
              </a:rPr>
              <a:t>n&gt;2</a:t>
            </a:r>
            <a:r>
              <a:rPr kumimoji="1" lang="zh-CN" altLang="en-US" kern="0" dirty="0">
                <a:solidFill>
                  <a:srgbClr val="000000"/>
                </a:solidFill>
                <a:latin typeface="宋体" panose="02010600030101010101" pitchFamily="2" charset="-122"/>
                <a:ea typeface="宋体" panose="02010600030101010101" pitchFamily="2" charset="-122"/>
              </a:rPr>
              <a:t>）分支预测的性能差不多。</a:t>
            </a:r>
          </a:p>
          <a:p>
            <a:endParaRPr lang="zh-CN" altLang="en-US" b="0" i="0" dirty="0">
              <a:solidFill>
                <a:srgbClr val="181E33"/>
              </a:solidFill>
              <a:effectLst/>
              <a:latin typeface="PingFangSC"/>
            </a:endParaRPr>
          </a:p>
        </p:txBody>
      </p:sp>
      <p:pic>
        <p:nvPicPr>
          <p:cNvPr id="4" name="图片 3"/>
          <p:cNvPicPr>
            <a:picLocks noChangeAspect="1"/>
          </p:cNvPicPr>
          <p:nvPr/>
        </p:nvPicPr>
        <p:blipFill>
          <a:blip r:embed="rId2"/>
          <a:stretch>
            <a:fillRect/>
          </a:stretch>
        </p:blipFill>
        <p:spPr>
          <a:xfrm>
            <a:off x="2283486" y="684472"/>
            <a:ext cx="7353300" cy="2695575"/>
          </a:xfrm>
          <a:prstGeom prst="rect">
            <a:avLst/>
          </a:prstGeom>
        </p:spPr>
      </p:pic>
      <p:sp>
        <p:nvSpPr>
          <p:cNvPr id="2" name="矩形 1"/>
          <p:cNvSpPr/>
          <p:nvPr/>
        </p:nvSpPr>
        <p:spPr>
          <a:xfrm>
            <a:off x="317112" y="143825"/>
            <a:ext cx="3647152" cy="424732"/>
          </a:xfrm>
          <a:prstGeom prst="rect">
            <a:avLst/>
          </a:prstGeom>
        </p:spPr>
        <p:txBody>
          <a:bodyPr wrap="none">
            <a:spAutoFit/>
          </a:bodyPr>
          <a:lstStyle/>
          <a:p>
            <a:pPr marL="457200" lvl="0" indent="-457200" fontAlgn="base">
              <a:lnSpc>
                <a:spcPct val="120000"/>
              </a:lnSpc>
              <a:spcBef>
                <a:spcPct val="20000"/>
              </a:spcBef>
              <a:spcAft>
                <a:spcPct val="0"/>
              </a:spcAft>
              <a:buClr>
                <a:srgbClr val="40458C"/>
              </a:buClr>
              <a:buFont typeface="Wingdings" panose="05000000000000000000" pitchFamily="2" charset="2"/>
              <a:buAutoNum type="arabicPeriod" startAt="3"/>
            </a:pPr>
            <a:r>
              <a:rPr kumimoji="1" lang="zh-CN" altLang="en-US" kern="0" dirty="0">
                <a:solidFill>
                  <a:srgbClr val="E24C05"/>
                </a:solidFill>
                <a:latin typeface="宋体" panose="02010600030101010101" pitchFamily="2" charset="-122"/>
                <a:ea typeface="宋体" panose="02010600030101010101" pitchFamily="2" charset="-122"/>
              </a:rPr>
              <a:t>采用两位二进制位来记录历史</a:t>
            </a:r>
          </a:p>
        </p:txBody>
      </p:sp>
    </p:spTree>
    <p:extLst>
      <p:ext uri="{BB962C8B-B14F-4D97-AF65-F5344CB8AC3E}">
        <p14:creationId xmlns:p14="http://schemas.microsoft.com/office/powerpoint/2010/main" val="3148863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矩形 1"/>
          <p:cNvSpPr/>
          <p:nvPr/>
        </p:nvSpPr>
        <p:spPr>
          <a:xfrm>
            <a:off x="689114" y="491691"/>
            <a:ext cx="9283827" cy="2363724"/>
          </a:xfrm>
          <a:prstGeom prst="rect">
            <a:avLst/>
          </a:prstGeom>
        </p:spPr>
        <p:txBody>
          <a:bodyPr wrap="square">
            <a:spAutoFit/>
          </a:bodyPr>
          <a:lstStyle/>
          <a:p>
            <a:pPr lvl="0" fontAlgn="base">
              <a:lnSpc>
                <a:spcPct val="120000"/>
              </a:lnSpc>
              <a:spcBef>
                <a:spcPct val="20000"/>
              </a:spcBef>
              <a:spcAft>
                <a:spcPct val="0"/>
              </a:spcAft>
              <a:buClr>
                <a:srgbClr val="40458C"/>
              </a:buClr>
            </a:pPr>
            <a:r>
              <a:rPr kumimoji="1" lang="en-US" altLang="zh-CN" sz="2400" kern="0" dirty="0" smtClean="0"/>
              <a:t>4. </a:t>
            </a:r>
            <a:r>
              <a:rPr kumimoji="1" lang="en-US" altLang="zh-CN" sz="2200" kern="0" dirty="0" smtClean="0">
                <a:latin typeface="宋体" panose="02010600030101010101" pitchFamily="2" charset="-122"/>
                <a:ea typeface="宋体" panose="02010600030101010101" pitchFamily="2" charset="-122"/>
              </a:rPr>
              <a:t>BHT</a:t>
            </a:r>
            <a:r>
              <a:rPr kumimoji="1" lang="zh-CN" altLang="en-US" sz="2200" kern="0" dirty="0">
                <a:latin typeface="宋体" panose="02010600030101010101" pitchFamily="2" charset="-122"/>
                <a:ea typeface="宋体" panose="02010600030101010101" pitchFamily="2" charset="-122"/>
              </a:rPr>
              <a:t>方法只在以下情况下才有用：</a:t>
            </a:r>
          </a:p>
          <a:p>
            <a:pPr marL="1085850" lvl="1" indent="-457200" fontAlgn="base">
              <a:lnSpc>
                <a:spcPct val="120000"/>
              </a:lnSpc>
              <a:spcBef>
                <a:spcPct val="20000"/>
              </a:spcBef>
              <a:spcAft>
                <a:spcPct val="0"/>
              </a:spcAft>
              <a:buClr>
                <a:srgbClr val="40458C"/>
              </a:buClr>
              <a:buSzPct val="90000"/>
              <a:buFont typeface="Wingdings" panose="05000000000000000000" pitchFamily="2" charset="2"/>
              <a:buChar char="Ø"/>
            </a:pPr>
            <a:r>
              <a:rPr kumimoji="1" lang="zh-CN" altLang="en-US" sz="2200" kern="0" dirty="0">
                <a:solidFill>
                  <a:srgbClr val="40458C"/>
                </a:solidFill>
                <a:latin typeface="宋体" panose="02010600030101010101" pitchFamily="2" charset="-122"/>
                <a:ea typeface="宋体" panose="02010600030101010101" pitchFamily="2" charset="-122"/>
              </a:rPr>
              <a:t>判定分支是否成功所需的时间大于确定分支目标地址所需的时间</a:t>
            </a:r>
            <a:r>
              <a:rPr kumimoji="1" lang="zh-CN" altLang="en-US" sz="2200" kern="0" dirty="0" smtClean="0">
                <a:solidFill>
                  <a:srgbClr val="40458C"/>
                </a:solidFill>
                <a:latin typeface="宋体" panose="02010600030101010101" pitchFamily="2" charset="-122"/>
                <a:ea typeface="宋体" panose="02010600030101010101" pitchFamily="2" charset="-122"/>
              </a:rPr>
              <a:t>。</a:t>
            </a:r>
            <a:endParaRPr kumimoji="1" lang="en-US" altLang="zh-CN" sz="2200" kern="0" dirty="0">
              <a:solidFill>
                <a:srgbClr val="40458C"/>
              </a:solidFill>
              <a:latin typeface="宋体" panose="02010600030101010101" pitchFamily="2" charset="-122"/>
              <a:ea typeface="宋体" panose="02010600030101010101" pitchFamily="2" charset="-122"/>
            </a:endParaRPr>
          </a:p>
          <a:p>
            <a:pPr marL="1085850" lvl="1" indent="-457200" fontAlgn="base">
              <a:lnSpc>
                <a:spcPct val="120000"/>
              </a:lnSpc>
              <a:spcBef>
                <a:spcPct val="20000"/>
              </a:spcBef>
              <a:spcAft>
                <a:spcPct val="0"/>
              </a:spcAft>
              <a:buClr>
                <a:srgbClr val="40458C"/>
              </a:buClr>
              <a:buSzPct val="90000"/>
              <a:buFont typeface="Wingdings" panose="05000000000000000000" pitchFamily="2" charset="2"/>
              <a:buChar char="Ø"/>
            </a:pPr>
            <a:r>
              <a:rPr kumimoji="1" lang="zh-CN" altLang="en-US" sz="2200" kern="0" dirty="0" smtClean="0">
                <a:solidFill>
                  <a:srgbClr val="9933FF"/>
                </a:solidFill>
                <a:latin typeface="宋体" panose="02010600030101010101" pitchFamily="2" charset="-122"/>
                <a:ea typeface="宋体" panose="02010600030101010101" pitchFamily="2" charset="-122"/>
              </a:rPr>
              <a:t>前述</a:t>
            </a:r>
            <a:r>
              <a:rPr kumimoji="1" lang="en-US" altLang="zh-CN" sz="2200" kern="0" dirty="0">
                <a:solidFill>
                  <a:srgbClr val="9933FF"/>
                </a:solidFill>
                <a:latin typeface="宋体" panose="02010600030101010101" pitchFamily="2" charset="-122"/>
                <a:ea typeface="宋体" panose="02010600030101010101" pitchFamily="2" charset="-122"/>
              </a:rPr>
              <a:t>5</a:t>
            </a:r>
            <a:r>
              <a:rPr kumimoji="1" lang="zh-CN" altLang="en-US" sz="2200" kern="0" dirty="0">
                <a:solidFill>
                  <a:srgbClr val="9933FF"/>
                </a:solidFill>
                <a:latin typeface="宋体" panose="02010600030101010101" pitchFamily="2" charset="-122"/>
                <a:ea typeface="宋体" panose="02010600030101010101" pitchFamily="2" charset="-122"/>
              </a:rPr>
              <a:t>段经典流水线</a:t>
            </a:r>
            <a:r>
              <a:rPr kumimoji="1" lang="zh-CN" altLang="en-US" sz="2200" kern="0" dirty="0">
                <a:solidFill>
                  <a:srgbClr val="000000"/>
                </a:solidFill>
                <a:latin typeface="宋体" panose="02010600030101010101" pitchFamily="2" charset="-122"/>
                <a:ea typeface="宋体" panose="02010600030101010101" pitchFamily="2" charset="-122"/>
              </a:rPr>
              <a:t>：由于判定分支是否成功和</a:t>
            </a:r>
            <a:r>
              <a:rPr kumimoji="1" lang="zh-CN" altLang="en-US" sz="2200" kern="0" dirty="0" smtClean="0">
                <a:solidFill>
                  <a:srgbClr val="000000"/>
                </a:solidFill>
                <a:latin typeface="宋体" panose="02010600030101010101" pitchFamily="2" charset="-122"/>
                <a:ea typeface="宋体" panose="02010600030101010101" pitchFamily="2" charset="-122"/>
              </a:rPr>
              <a:t>计算分支</a:t>
            </a:r>
            <a:r>
              <a:rPr kumimoji="1" lang="zh-CN" altLang="en-US" sz="2200" kern="0" dirty="0">
                <a:solidFill>
                  <a:srgbClr val="000000"/>
                </a:solidFill>
                <a:latin typeface="宋体" panose="02010600030101010101" pitchFamily="2" charset="-122"/>
                <a:ea typeface="宋体" panose="02010600030101010101" pitchFamily="2" charset="-122"/>
              </a:rPr>
              <a:t>目标地址都是在</a:t>
            </a:r>
            <a:r>
              <a:rPr kumimoji="1" lang="en-US" altLang="zh-CN" sz="2200" kern="0" dirty="0">
                <a:solidFill>
                  <a:srgbClr val="9933FF"/>
                </a:solidFill>
                <a:latin typeface="宋体" panose="02010600030101010101" pitchFamily="2" charset="-122"/>
                <a:ea typeface="宋体" panose="02010600030101010101" pitchFamily="2" charset="-122"/>
              </a:rPr>
              <a:t>ID</a:t>
            </a:r>
            <a:r>
              <a:rPr kumimoji="1" lang="zh-CN" altLang="en-US" sz="2200" kern="0" dirty="0">
                <a:solidFill>
                  <a:srgbClr val="000000"/>
                </a:solidFill>
                <a:latin typeface="宋体" panose="02010600030101010101" pitchFamily="2" charset="-122"/>
                <a:ea typeface="宋体" panose="02010600030101010101" pitchFamily="2" charset="-122"/>
              </a:rPr>
              <a:t>段完成，所以</a:t>
            </a:r>
            <a:r>
              <a:rPr kumimoji="1" lang="en-US" altLang="zh-CN" sz="2200" kern="0" dirty="0">
                <a:solidFill>
                  <a:srgbClr val="9933FF"/>
                </a:solidFill>
                <a:latin typeface="宋体" panose="02010600030101010101" pitchFamily="2" charset="-122"/>
                <a:ea typeface="宋体" panose="02010600030101010101" pitchFamily="2" charset="-122"/>
              </a:rPr>
              <a:t>BHT</a:t>
            </a:r>
            <a:r>
              <a:rPr kumimoji="1" lang="zh-CN" altLang="en-US" sz="2200" kern="0" dirty="0">
                <a:solidFill>
                  <a:srgbClr val="000000"/>
                </a:solidFill>
                <a:latin typeface="宋体" panose="02010600030101010101" pitchFamily="2" charset="-122"/>
                <a:ea typeface="宋体" panose="02010600030101010101" pitchFamily="2" charset="-122"/>
              </a:rPr>
              <a:t>方法不会</a:t>
            </a:r>
            <a:r>
              <a:rPr kumimoji="1" lang="zh-CN" altLang="en-US" sz="2200" kern="0" dirty="0" smtClean="0">
                <a:solidFill>
                  <a:srgbClr val="000000"/>
                </a:solidFill>
                <a:latin typeface="宋体" panose="02010600030101010101" pitchFamily="2" charset="-122"/>
                <a:ea typeface="宋体" panose="02010600030101010101" pitchFamily="2" charset="-122"/>
              </a:rPr>
              <a:t>给该</a:t>
            </a:r>
            <a:r>
              <a:rPr kumimoji="1" lang="zh-CN" altLang="en-US" sz="2200" kern="0" dirty="0">
                <a:solidFill>
                  <a:srgbClr val="000000"/>
                </a:solidFill>
                <a:latin typeface="宋体" panose="02010600030101010101" pitchFamily="2" charset="-122"/>
                <a:ea typeface="宋体" panose="02010600030101010101" pitchFamily="2" charset="-122"/>
              </a:rPr>
              <a:t>流水线带来好处。</a:t>
            </a:r>
          </a:p>
          <a:p>
            <a:pPr marL="628650" lvl="1" fontAlgn="base">
              <a:lnSpc>
                <a:spcPct val="120000"/>
              </a:lnSpc>
              <a:spcBef>
                <a:spcPct val="20000"/>
              </a:spcBef>
              <a:spcAft>
                <a:spcPct val="0"/>
              </a:spcAft>
              <a:buClr>
                <a:srgbClr val="40458C"/>
              </a:buClr>
              <a:buSzPct val="90000"/>
            </a:pPr>
            <a:r>
              <a:rPr kumimoji="1" lang="zh-CN" altLang="en-US" sz="2200" kern="0" dirty="0" smtClean="0">
                <a:solidFill>
                  <a:srgbClr val="40458C"/>
                </a:solidFill>
                <a:latin typeface="宋体" panose="02010600030101010101" pitchFamily="2" charset="-122"/>
                <a:ea typeface="宋体" panose="02010600030101010101" pitchFamily="2" charset="-122"/>
              </a:rPr>
              <a:t> </a:t>
            </a:r>
            <a:endParaRPr kumimoji="1" lang="zh-CN" altLang="en-US" sz="2200" kern="0" dirty="0">
              <a:solidFill>
                <a:srgbClr val="40458C"/>
              </a:solidFill>
              <a:latin typeface="宋体" panose="02010600030101010101" pitchFamily="2" charset="-122"/>
              <a:ea typeface="宋体" panose="02010600030101010101" pitchFamily="2" charset="-122"/>
            </a:endParaRPr>
          </a:p>
        </p:txBody>
      </p:sp>
      <p:sp>
        <p:nvSpPr>
          <p:cNvPr id="3" name="矩形 2"/>
          <p:cNvSpPr/>
          <p:nvPr/>
        </p:nvSpPr>
        <p:spPr>
          <a:xfrm>
            <a:off x="689114" y="3386944"/>
            <a:ext cx="9369039" cy="2259080"/>
          </a:xfrm>
          <a:prstGeom prst="rect">
            <a:avLst/>
          </a:prstGeom>
        </p:spPr>
        <p:txBody>
          <a:bodyPr wrap="square">
            <a:spAutoFit/>
          </a:bodyPr>
          <a:lstStyle/>
          <a:p>
            <a:pPr lvl="0" fontAlgn="base">
              <a:lnSpc>
                <a:spcPct val="120000"/>
              </a:lnSpc>
              <a:spcBef>
                <a:spcPct val="20000"/>
              </a:spcBef>
              <a:spcAft>
                <a:spcPct val="0"/>
              </a:spcAft>
              <a:buClr>
                <a:srgbClr val="40458C"/>
              </a:buClr>
            </a:pPr>
            <a:r>
              <a:rPr kumimoji="1" lang="zh-CN" altLang="en-US" sz="2200" kern="0" dirty="0" smtClean="0">
                <a:solidFill>
                  <a:srgbClr val="E24C05"/>
                </a:solidFill>
                <a:latin typeface="宋体" panose="02010600030101010101" pitchFamily="2" charset="-122"/>
                <a:ea typeface="宋体" panose="02010600030101010101" pitchFamily="2" charset="-122"/>
              </a:rPr>
              <a:t>    研究</a:t>
            </a:r>
            <a:r>
              <a:rPr kumimoji="1" lang="zh-CN" altLang="en-US" sz="2200" kern="0" dirty="0">
                <a:solidFill>
                  <a:srgbClr val="E24C05"/>
                </a:solidFill>
                <a:latin typeface="宋体" panose="02010600030101010101" pitchFamily="2" charset="-122"/>
                <a:ea typeface="宋体" panose="02010600030101010101" pitchFamily="2" charset="-122"/>
              </a:rPr>
              <a:t>结果表明：对于</a:t>
            </a:r>
            <a:r>
              <a:rPr kumimoji="1" lang="en-US" altLang="zh-CN" sz="2200" kern="0" dirty="0">
                <a:solidFill>
                  <a:srgbClr val="9933FF"/>
                </a:solidFill>
                <a:latin typeface="宋体" panose="02010600030101010101" pitchFamily="2" charset="-122"/>
                <a:ea typeface="宋体" panose="02010600030101010101" pitchFamily="2" charset="-122"/>
              </a:rPr>
              <a:t>SPEC89</a:t>
            </a:r>
            <a:r>
              <a:rPr kumimoji="1" lang="zh-CN" altLang="en-US" sz="2200" kern="0" dirty="0">
                <a:solidFill>
                  <a:srgbClr val="E24C05"/>
                </a:solidFill>
                <a:latin typeface="宋体" panose="02010600030101010101" pitchFamily="2" charset="-122"/>
                <a:ea typeface="宋体" panose="02010600030101010101" pitchFamily="2" charset="-122"/>
              </a:rPr>
              <a:t>测试程序来说，具有大小为</a:t>
            </a:r>
            <a:r>
              <a:rPr kumimoji="1" lang="en-US" altLang="zh-CN" sz="2200" kern="0" dirty="0">
                <a:solidFill>
                  <a:srgbClr val="D60093"/>
                </a:solidFill>
                <a:latin typeface="宋体" panose="02010600030101010101" pitchFamily="2" charset="-122"/>
                <a:ea typeface="宋体" panose="02010600030101010101" pitchFamily="2" charset="-122"/>
              </a:rPr>
              <a:t>4K</a:t>
            </a:r>
            <a:r>
              <a:rPr kumimoji="1" lang="zh-CN" altLang="en-US" sz="2200" kern="0" dirty="0">
                <a:solidFill>
                  <a:srgbClr val="E24C05"/>
                </a:solidFill>
                <a:latin typeface="宋体" panose="02010600030101010101" pitchFamily="2" charset="-122"/>
                <a:ea typeface="宋体" panose="02010600030101010101" pitchFamily="2" charset="-122"/>
              </a:rPr>
              <a:t>的</a:t>
            </a:r>
            <a:r>
              <a:rPr kumimoji="1" lang="en-US" altLang="zh-CN" sz="2200" kern="0" dirty="0">
                <a:solidFill>
                  <a:srgbClr val="9933FF"/>
                </a:solidFill>
                <a:latin typeface="宋体" panose="02010600030101010101" pitchFamily="2" charset="-122"/>
                <a:ea typeface="宋体" panose="02010600030101010101" pitchFamily="2" charset="-122"/>
              </a:rPr>
              <a:t>BHT</a:t>
            </a:r>
            <a:r>
              <a:rPr kumimoji="1" lang="zh-CN" altLang="en-US" sz="2200" kern="0" dirty="0">
                <a:solidFill>
                  <a:srgbClr val="E24C05"/>
                </a:solidFill>
                <a:latin typeface="宋体" panose="02010600030101010101" pitchFamily="2" charset="-122"/>
                <a:ea typeface="宋体" panose="02010600030101010101" pitchFamily="2" charset="-122"/>
              </a:rPr>
              <a:t>的预测准确率为</a:t>
            </a:r>
            <a:r>
              <a:rPr kumimoji="1" lang="en-US" altLang="zh-CN" sz="2200" kern="0" dirty="0">
                <a:solidFill>
                  <a:srgbClr val="D60093"/>
                </a:solidFill>
                <a:latin typeface="宋体" panose="02010600030101010101" pitchFamily="2" charset="-122"/>
                <a:ea typeface="宋体" panose="02010600030101010101" pitchFamily="2" charset="-122"/>
              </a:rPr>
              <a:t>82%</a:t>
            </a:r>
            <a:r>
              <a:rPr kumimoji="1" lang="zh-CN" altLang="en-US" sz="2200" kern="0" dirty="0">
                <a:solidFill>
                  <a:srgbClr val="D60093"/>
                </a:solidFill>
                <a:latin typeface="宋体" panose="02010600030101010101" pitchFamily="2" charset="-122"/>
                <a:ea typeface="宋体" panose="02010600030101010101" pitchFamily="2" charset="-122"/>
              </a:rPr>
              <a:t>～</a:t>
            </a:r>
            <a:r>
              <a:rPr kumimoji="1" lang="en-US" altLang="zh-CN" sz="2200" kern="0" dirty="0">
                <a:solidFill>
                  <a:srgbClr val="D60093"/>
                </a:solidFill>
                <a:latin typeface="宋体" panose="02010600030101010101" pitchFamily="2" charset="-122"/>
                <a:ea typeface="宋体" panose="02010600030101010101" pitchFamily="2" charset="-122"/>
              </a:rPr>
              <a:t>99%</a:t>
            </a:r>
            <a:r>
              <a:rPr kumimoji="1" lang="zh-CN" altLang="en-US" sz="2200" kern="0" dirty="0">
                <a:solidFill>
                  <a:srgbClr val="D60093"/>
                </a:solidFill>
                <a:latin typeface="宋体" panose="02010600030101010101" pitchFamily="2" charset="-122"/>
                <a:ea typeface="宋体" panose="02010600030101010101" pitchFamily="2" charset="-122"/>
              </a:rPr>
              <a:t>。</a:t>
            </a:r>
            <a:r>
              <a:rPr kumimoji="1" lang="zh-CN" altLang="en-US" sz="2200" kern="0" dirty="0">
                <a:solidFill>
                  <a:srgbClr val="E24C05"/>
                </a:solidFill>
                <a:latin typeface="宋体" panose="02010600030101010101" pitchFamily="2" charset="-122"/>
                <a:ea typeface="宋体" panose="02010600030101010101" pitchFamily="2" charset="-122"/>
              </a:rPr>
              <a:t> </a:t>
            </a:r>
          </a:p>
          <a:p>
            <a:pPr marL="1714500" lvl="2" indent="-457200" fontAlgn="base">
              <a:lnSpc>
                <a:spcPct val="120000"/>
              </a:lnSpc>
              <a:spcBef>
                <a:spcPct val="20000"/>
              </a:spcBef>
              <a:spcAft>
                <a:spcPct val="0"/>
              </a:spcAft>
              <a:buClr>
                <a:srgbClr val="4768F5"/>
              </a:buClr>
              <a:buSzPct val="60000"/>
            </a:pPr>
            <a:r>
              <a:rPr kumimoji="1" lang="zh-CN" altLang="en-US" sz="2200" kern="0" dirty="0">
                <a:solidFill>
                  <a:srgbClr val="000000"/>
                </a:solidFill>
                <a:latin typeface="宋体" panose="02010600030101010101" pitchFamily="2" charset="-122"/>
                <a:ea typeface="宋体" panose="02010600030101010101" pitchFamily="2" charset="-122"/>
              </a:rPr>
              <a:t>一般来说，采用</a:t>
            </a:r>
            <a:r>
              <a:rPr kumimoji="1" lang="en-US" altLang="zh-CN" sz="2200" kern="0" dirty="0">
                <a:solidFill>
                  <a:srgbClr val="000000"/>
                </a:solidFill>
                <a:latin typeface="宋体" panose="02010600030101010101" pitchFamily="2" charset="-122"/>
                <a:ea typeface="宋体" panose="02010600030101010101" pitchFamily="2" charset="-122"/>
              </a:rPr>
              <a:t>4K</a:t>
            </a:r>
            <a:r>
              <a:rPr kumimoji="1" lang="zh-CN" altLang="en-US" sz="2200" kern="0" dirty="0">
                <a:solidFill>
                  <a:srgbClr val="000000"/>
                </a:solidFill>
                <a:latin typeface="宋体" panose="02010600030101010101" pitchFamily="2" charset="-122"/>
                <a:ea typeface="宋体" panose="02010600030101010101" pitchFamily="2" charset="-122"/>
              </a:rPr>
              <a:t>的</a:t>
            </a:r>
            <a:r>
              <a:rPr kumimoji="1" lang="en-US" altLang="zh-CN" sz="2200" kern="0" dirty="0">
                <a:solidFill>
                  <a:srgbClr val="000000"/>
                </a:solidFill>
                <a:latin typeface="宋体" panose="02010600030101010101" pitchFamily="2" charset="-122"/>
                <a:ea typeface="宋体" panose="02010600030101010101" pitchFamily="2" charset="-122"/>
              </a:rPr>
              <a:t>BHT</a:t>
            </a:r>
            <a:r>
              <a:rPr kumimoji="1" lang="zh-CN" altLang="en-US" sz="2200" kern="0" dirty="0">
                <a:solidFill>
                  <a:srgbClr val="000000"/>
                </a:solidFill>
                <a:latin typeface="宋体" panose="02010600030101010101" pitchFamily="2" charset="-122"/>
                <a:ea typeface="宋体" panose="02010600030101010101" pitchFamily="2" charset="-122"/>
              </a:rPr>
              <a:t>就可以了。 </a:t>
            </a:r>
          </a:p>
          <a:p>
            <a:pPr lvl="0" fontAlgn="base">
              <a:lnSpc>
                <a:spcPct val="120000"/>
              </a:lnSpc>
              <a:spcBef>
                <a:spcPct val="20000"/>
              </a:spcBef>
              <a:spcAft>
                <a:spcPct val="0"/>
              </a:spcAft>
              <a:buClr>
                <a:srgbClr val="40458C"/>
              </a:buClr>
            </a:pPr>
            <a:r>
              <a:rPr kumimoji="1" lang="en-US" altLang="zh-CN" sz="2200" kern="0" dirty="0" smtClean="0">
                <a:solidFill>
                  <a:srgbClr val="9933FF"/>
                </a:solidFill>
                <a:latin typeface="宋体" panose="02010600030101010101" pitchFamily="2" charset="-122"/>
                <a:ea typeface="宋体" panose="02010600030101010101" pitchFamily="2" charset="-122"/>
              </a:rPr>
              <a:t>    BHT</a:t>
            </a:r>
            <a:r>
              <a:rPr kumimoji="1" lang="zh-CN" altLang="en-US" sz="2200" kern="0" dirty="0">
                <a:solidFill>
                  <a:srgbClr val="E24C05"/>
                </a:solidFill>
                <a:latin typeface="宋体" panose="02010600030101010101" pitchFamily="2" charset="-122"/>
                <a:ea typeface="宋体" panose="02010600030101010101" pitchFamily="2" charset="-122"/>
              </a:rPr>
              <a:t>可以跟分支指令一起存放在指令</a:t>
            </a:r>
            <a:r>
              <a:rPr kumimoji="1" lang="en-US" altLang="zh-CN" sz="2200" kern="0" dirty="0">
                <a:solidFill>
                  <a:srgbClr val="9933FF"/>
                </a:solidFill>
                <a:latin typeface="宋体" panose="02010600030101010101" pitchFamily="2" charset="-122"/>
                <a:ea typeface="宋体" panose="02010600030101010101" pitchFamily="2" charset="-122"/>
              </a:rPr>
              <a:t>Cache</a:t>
            </a:r>
            <a:r>
              <a:rPr kumimoji="1" lang="zh-CN" altLang="en-US" sz="2200" kern="0" dirty="0">
                <a:solidFill>
                  <a:srgbClr val="E24C05"/>
                </a:solidFill>
                <a:latin typeface="宋体" panose="02010600030101010101" pitchFamily="2" charset="-122"/>
                <a:ea typeface="宋体" panose="02010600030101010101" pitchFamily="2" charset="-122"/>
              </a:rPr>
              <a:t>中，也可以用一个专门的硬件来实现。 </a:t>
            </a:r>
          </a:p>
        </p:txBody>
      </p:sp>
    </p:spTree>
    <p:extLst>
      <p:ext uri="{BB962C8B-B14F-4D97-AF65-F5344CB8AC3E}">
        <p14:creationId xmlns:p14="http://schemas.microsoft.com/office/powerpoint/2010/main" val="18364296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02360" y="203947"/>
            <a:ext cx="9026769" cy="599953"/>
          </a:xfrm>
        </p:spPr>
        <p:txBody>
          <a:bodyPr>
            <a:normAutofit fontScale="90000"/>
          </a:bodyPr>
          <a:lstStyle/>
          <a:p>
            <a:pPr lvl="0" eaLnBrk="1" fontAlgn="auto" hangingPunct="1">
              <a:spcBef>
                <a:spcPts val="0"/>
              </a:spcBef>
              <a:spcAft>
                <a:spcPts val="0"/>
              </a:spcAft>
            </a:pPr>
            <a:r>
              <a:rPr lang="en-US" altLang="zh-CN" sz="2200" b="1" dirty="0" smtClean="0">
                <a:solidFill>
                  <a:srgbClr val="40458C"/>
                </a:solidFill>
                <a:latin typeface="黑体" panose="02010609060101010101" pitchFamily="49" charset="-122"/>
                <a:ea typeface="黑体"/>
                <a:cs typeface="+mn-cs"/>
              </a:rPr>
              <a:t/>
            </a:r>
            <a:br>
              <a:rPr lang="en-US" altLang="zh-CN" sz="2200" b="1" dirty="0" smtClean="0">
                <a:solidFill>
                  <a:srgbClr val="40458C"/>
                </a:solidFill>
                <a:latin typeface="黑体" panose="02010609060101010101" pitchFamily="49" charset="-122"/>
                <a:ea typeface="黑体"/>
                <a:cs typeface="+mn-cs"/>
              </a:rPr>
            </a:br>
            <a:r>
              <a:rPr lang="en-US" altLang="zh-CN" sz="3600" dirty="0" smtClean="0">
                <a:latin typeface="宋体" panose="02010600030101010101" pitchFamily="2" charset="-122"/>
                <a:ea typeface="宋体" panose="02010600030101010101" pitchFamily="2" charset="-122"/>
                <a:cs typeface="+mn-cs"/>
              </a:rPr>
              <a:t>4.2 </a:t>
            </a:r>
            <a:r>
              <a:rPr lang="zh-CN" altLang="en-US" sz="3600" dirty="0">
                <a:latin typeface="宋体" panose="02010600030101010101" pitchFamily="2" charset="-122"/>
                <a:ea typeface="宋体" panose="02010600030101010101" pitchFamily="2" charset="-122"/>
                <a:cs typeface="+mn-cs"/>
              </a:rPr>
              <a:t>分支目标</a:t>
            </a:r>
            <a:r>
              <a:rPr lang="zh-CN" altLang="en-US" sz="3600" dirty="0" smtClean="0">
                <a:latin typeface="宋体" panose="02010600030101010101" pitchFamily="2" charset="-122"/>
                <a:ea typeface="宋体" panose="02010600030101010101" pitchFamily="2" charset="-122"/>
                <a:cs typeface="+mn-cs"/>
              </a:rPr>
              <a:t>缓冲器</a:t>
            </a:r>
            <a:r>
              <a:rPr lang="en-US" altLang="zh-CN" sz="3600" dirty="0" smtClean="0">
                <a:latin typeface="宋体" panose="02010600030101010101" pitchFamily="2" charset="-122"/>
                <a:ea typeface="宋体" panose="02010600030101010101" pitchFamily="2" charset="-122"/>
                <a:cs typeface="+mn-cs"/>
              </a:rPr>
              <a:t>BTB</a:t>
            </a:r>
            <a:br>
              <a:rPr lang="en-US" altLang="zh-CN" sz="3600" dirty="0" smtClean="0">
                <a:latin typeface="宋体" panose="02010600030101010101" pitchFamily="2" charset="-122"/>
                <a:ea typeface="宋体" panose="02010600030101010101" pitchFamily="2" charset="-122"/>
                <a:cs typeface="+mn-cs"/>
              </a:rPr>
            </a:br>
            <a:r>
              <a:rPr lang="en-US" altLang="zh-CN" sz="1800" b="1" dirty="0" smtClean="0">
                <a:latin typeface="黑体" panose="02010609060101010101" pitchFamily="49" charset="-122"/>
                <a:ea typeface="黑体"/>
                <a:cs typeface="+mn-cs"/>
              </a:rPr>
              <a:t> </a:t>
            </a:r>
            <a:endParaRPr lang="zh-CN" altLang="en-US" sz="1800" dirty="0"/>
          </a:p>
        </p:txBody>
      </p:sp>
      <p:sp>
        <p:nvSpPr>
          <p:cNvPr id="3" name="内容占位符 2"/>
          <p:cNvSpPr>
            <a:spLocks noGrp="1"/>
          </p:cNvSpPr>
          <p:nvPr>
            <p:ph idx="1"/>
          </p:nvPr>
        </p:nvSpPr>
        <p:spPr>
          <a:xfrm>
            <a:off x="1100108" y="1137987"/>
            <a:ext cx="5861538" cy="5035918"/>
          </a:xfrm>
        </p:spPr>
        <p:txBody>
          <a:bodyPr/>
          <a:lstStyle/>
          <a:p>
            <a:pPr marL="0" indent="0">
              <a:buNone/>
            </a:pPr>
            <a:r>
              <a:rPr lang="zh-CN" altLang="en-US" sz="2400" dirty="0" smtClean="0">
                <a:latin typeface="宋体" panose="02010600030101010101" pitchFamily="2" charset="-122"/>
                <a:ea typeface="宋体" panose="02010600030101010101" pitchFamily="2" charset="-122"/>
              </a:rPr>
              <a:t>要点：</a:t>
            </a:r>
            <a:endParaRPr lang="en-US" altLang="zh-CN" sz="2400" dirty="0" smtClean="0">
              <a:latin typeface="宋体" panose="02010600030101010101" pitchFamily="2" charset="-122"/>
              <a:ea typeface="宋体" panose="02010600030101010101" pitchFamily="2" charset="-122"/>
            </a:endParaRPr>
          </a:p>
          <a:p>
            <a:pPr marL="0" indent="444500">
              <a:buNone/>
            </a:pPr>
            <a:r>
              <a:rPr lang="en-US" altLang="zh-CN" sz="2400" dirty="0" smtClean="0">
                <a:latin typeface="宋体" panose="02010600030101010101" pitchFamily="2" charset="-122"/>
                <a:ea typeface="宋体" panose="02010600030101010101" pitchFamily="2" charset="-122"/>
              </a:rPr>
              <a:t>1.</a:t>
            </a:r>
            <a:r>
              <a:rPr lang="zh-CN" altLang="en-US" sz="2400" dirty="0" smtClean="0">
                <a:latin typeface="宋体" panose="02010600030101010101" pitchFamily="2" charset="-122"/>
                <a:ea typeface="宋体" panose="02010600030101010101" pitchFamily="2" charset="-122"/>
              </a:rPr>
              <a:t>背景、</a:t>
            </a:r>
            <a:r>
              <a:rPr lang="zh-CN" altLang="en-US" sz="2400" dirty="0">
                <a:latin typeface="宋体" panose="02010600030101010101" pitchFamily="2" charset="-122"/>
                <a:ea typeface="宋体" panose="02010600030101010101" pitchFamily="2" charset="-122"/>
              </a:rPr>
              <a:t>目标</a:t>
            </a:r>
            <a:r>
              <a:rPr lang="zh-CN" altLang="en-US" sz="2400" dirty="0" smtClean="0">
                <a:latin typeface="宋体" panose="02010600030101010101" pitchFamily="2" charset="-122"/>
                <a:ea typeface="宋体" panose="02010600030101010101" pitchFamily="2" charset="-122"/>
              </a:rPr>
              <a:t>、方法</a:t>
            </a:r>
            <a:endParaRPr lang="en-US" altLang="zh-CN" sz="2400" dirty="0" smtClean="0">
              <a:latin typeface="宋体" panose="02010600030101010101" pitchFamily="2" charset="-122"/>
              <a:ea typeface="宋体" panose="02010600030101010101" pitchFamily="2" charset="-122"/>
            </a:endParaRPr>
          </a:p>
          <a:p>
            <a:pPr marL="0" lvl="0" indent="444500" eaLnBrk="1" hangingPunct="1">
              <a:lnSpc>
                <a:spcPct val="120000"/>
              </a:lnSpc>
              <a:buClr>
                <a:srgbClr val="40458C"/>
              </a:buClr>
              <a:buNone/>
            </a:pPr>
            <a:r>
              <a:rPr lang="en-US" altLang="zh-CN" sz="2400" dirty="0" smtClean="0">
                <a:latin typeface="宋体" panose="02010600030101010101" pitchFamily="2" charset="-122"/>
                <a:ea typeface="宋体" panose="02010600030101010101" pitchFamily="2" charset="-122"/>
              </a:rPr>
              <a:t>2.</a:t>
            </a:r>
            <a:r>
              <a:rPr kumimoji="1" lang="en-US" altLang="zh-CN" sz="2400" kern="0" dirty="0" smtClean="0">
                <a:latin typeface="宋体" panose="02010600030101010101" pitchFamily="2" charset="-122"/>
                <a:ea typeface="宋体" panose="02010600030101010101" pitchFamily="2" charset="-122"/>
              </a:rPr>
              <a:t>BTB</a:t>
            </a:r>
            <a:r>
              <a:rPr kumimoji="1" lang="zh-CN" altLang="en-US" sz="2400" kern="0" dirty="0">
                <a:latin typeface="宋体" panose="02010600030101010101" pitchFamily="2" charset="-122"/>
                <a:ea typeface="宋体" panose="02010600030101010101" pitchFamily="2" charset="-122"/>
              </a:rPr>
              <a:t>的结构 </a:t>
            </a:r>
            <a:endParaRPr kumimoji="1" lang="en-US" altLang="zh-CN" sz="2400" kern="0" dirty="0" smtClean="0">
              <a:latin typeface="宋体" panose="02010600030101010101" pitchFamily="2" charset="-122"/>
              <a:ea typeface="宋体" panose="02010600030101010101" pitchFamily="2" charset="-122"/>
            </a:endParaRPr>
          </a:p>
          <a:p>
            <a:pPr marL="0" lvl="0" indent="444500" eaLnBrk="1" hangingPunct="1">
              <a:lnSpc>
                <a:spcPct val="120000"/>
              </a:lnSpc>
              <a:buClr>
                <a:srgbClr val="40458C"/>
              </a:buClr>
              <a:buNone/>
            </a:pPr>
            <a:r>
              <a:rPr lang="en-US" altLang="zh-CN" sz="2400" dirty="0" smtClean="0">
                <a:latin typeface="宋体" panose="02010600030101010101" pitchFamily="2" charset="-122"/>
                <a:ea typeface="宋体" panose="02010600030101010101" pitchFamily="2" charset="-122"/>
              </a:rPr>
              <a:t>3.</a:t>
            </a:r>
            <a:r>
              <a:rPr lang="zh-CN" altLang="en-US" sz="2400" dirty="0">
                <a:latin typeface="宋体" panose="02010600030101010101" pitchFamily="2" charset="-122"/>
                <a:ea typeface="宋体" panose="02010600030101010101" pitchFamily="2" charset="-122"/>
              </a:rPr>
              <a:t>采用</a:t>
            </a:r>
            <a:r>
              <a:rPr lang="en-US" altLang="zh-CN" sz="2400" dirty="0" smtClean="0">
                <a:latin typeface="宋体" panose="02010600030101010101" pitchFamily="2" charset="-122"/>
                <a:ea typeface="宋体" panose="02010600030101010101" pitchFamily="2" charset="-122"/>
              </a:rPr>
              <a:t>BTB</a:t>
            </a:r>
            <a:r>
              <a:rPr lang="zh-CN" altLang="en-US" sz="2400" dirty="0" smtClean="0">
                <a:latin typeface="宋体" panose="02010600030101010101" pitchFamily="2" charset="-122"/>
                <a:ea typeface="宋体" panose="02010600030101010101" pitchFamily="2" charset="-122"/>
              </a:rPr>
              <a:t>在</a:t>
            </a:r>
            <a:r>
              <a:rPr lang="zh-CN" altLang="en-US" sz="2400" dirty="0">
                <a:latin typeface="宋体" panose="02010600030101010101" pitchFamily="2" charset="-122"/>
                <a:ea typeface="宋体" panose="02010600030101010101" pitchFamily="2" charset="-122"/>
              </a:rPr>
              <a:t>流水线各个</a:t>
            </a:r>
            <a:r>
              <a:rPr lang="zh-CN" altLang="en-US" sz="2400" dirty="0" smtClean="0">
                <a:latin typeface="宋体" panose="02010600030101010101" pitchFamily="2" charset="-122"/>
                <a:ea typeface="宋体" panose="02010600030101010101" pitchFamily="2" charset="-122"/>
              </a:rPr>
              <a:t>阶段操作</a:t>
            </a:r>
            <a:endParaRPr lang="en-US" altLang="zh-CN" sz="2400" dirty="0" smtClean="0">
              <a:latin typeface="宋体" panose="02010600030101010101" pitchFamily="2" charset="-122"/>
              <a:ea typeface="宋体" panose="02010600030101010101" pitchFamily="2" charset="-122"/>
            </a:endParaRPr>
          </a:p>
          <a:p>
            <a:pPr marL="0" indent="444500">
              <a:buNone/>
            </a:pPr>
            <a:r>
              <a:rPr lang="en-US" altLang="zh-CN" sz="2400" dirty="0" smtClean="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采用</a:t>
            </a:r>
            <a:r>
              <a:rPr lang="en-US" altLang="zh-CN" sz="2400" dirty="0" smtClean="0">
                <a:latin typeface="宋体" panose="02010600030101010101" pitchFamily="2" charset="-122"/>
                <a:ea typeface="宋体" panose="02010600030101010101" pitchFamily="2" charset="-122"/>
              </a:rPr>
              <a:t>BTB</a:t>
            </a:r>
            <a:r>
              <a:rPr lang="zh-CN" altLang="en-US" sz="2400" dirty="0" smtClean="0">
                <a:latin typeface="宋体" panose="02010600030101010101" pitchFamily="2" charset="-122"/>
                <a:ea typeface="宋体" panose="02010600030101010101" pitchFamily="2" charset="-122"/>
              </a:rPr>
              <a:t>各种</a:t>
            </a:r>
            <a:r>
              <a:rPr lang="zh-CN" altLang="en-US" sz="2400" dirty="0">
                <a:latin typeface="宋体" panose="02010600030101010101" pitchFamily="2" charset="-122"/>
                <a:ea typeface="宋体" panose="02010600030101010101" pitchFamily="2" charset="-122"/>
              </a:rPr>
              <a:t>可能情况下的</a:t>
            </a:r>
            <a:r>
              <a:rPr lang="zh-CN" altLang="en-US" sz="2400" dirty="0" smtClean="0">
                <a:latin typeface="宋体" panose="02010600030101010101" pitchFamily="2" charset="-122"/>
                <a:ea typeface="宋体" panose="02010600030101010101" pitchFamily="2" charset="-122"/>
              </a:rPr>
              <a:t>延迟</a:t>
            </a:r>
            <a:endParaRPr lang="en-US" altLang="zh-CN" sz="2400" dirty="0" smtClean="0">
              <a:latin typeface="宋体" panose="02010600030101010101" pitchFamily="2" charset="-122"/>
              <a:ea typeface="宋体" panose="02010600030101010101" pitchFamily="2" charset="-122"/>
            </a:endParaRPr>
          </a:p>
          <a:p>
            <a:pPr marL="0" indent="444500">
              <a:buNone/>
            </a:pPr>
            <a:r>
              <a:rPr lang="en-US" altLang="zh-CN" sz="2400" dirty="0" smtClean="0">
                <a:latin typeface="宋体" panose="02010600030101010101" pitchFamily="2" charset="-122"/>
                <a:ea typeface="宋体" panose="02010600030101010101" pitchFamily="2" charset="-122"/>
              </a:rPr>
              <a:t>5.</a:t>
            </a:r>
            <a:r>
              <a:rPr lang="zh-CN" altLang="en-US" sz="2400" dirty="0" smtClean="0">
                <a:latin typeface="宋体" panose="02010600030101010101" pitchFamily="2" charset="-122"/>
                <a:ea typeface="宋体" panose="02010600030101010101" pitchFamily="2" charset="-122"/>
              </a:rPr>
              <a:t> 举例</a:t>
            </a:r>
            <a:endParaRPr lang="en-US" altLang="zh-CN" sz="2400" dirty="0" smtClean="0">
              <a:latin typeface="宋体" panose="02010600030101010101" pitchFamily="2" charset="-122"/>
              <a:ea typeface="宋体" panose="02010600030101010101" pitchFamily="2" charset="-122"/>
            </a:endParaRPr>
          </a:p>
          <a:p>
            <a:pPr marL="0" indent="444500">
              <a:buNone/>
            </a:pPr>
            <a:r>
              <a:rPr lang="en-US" altLang="zh-CN" sz="2400" dirty="0" smtClean="0">
                <a:latin typeface="宋体" panose="02010600030101010101" pitchFamily="2" charset="-122"/>
                <a:ea typeface="宋体" panose="02010600030101010101" pitchFamily="2" charset="-122"/>
              </a:rPr>
              <a:t>6.</a:t>
            </a:r>
            <a:r>
              <a:rPr lang="zh-CN" altLang="en-US" sz="2400" dirty="0">
                <a:latin typeface="宋体" panose="02010600030101010101" pitchFamily="2" charset="-122"/>
                <a:ea typeface="宋体" panose="02010600030101010101" pitchFamily="2" charset="-122"/>
              </a:rPr>
              <a:t>分支指令可能存在</a:t>
            </a:r>
            <a:r>
              <a:rPr lang="en-US" altLang="zh-CN" sz="2400" dirty="0">
                <a:latin typeface="宋体" panose="02010600030101010101" pitchFamily="2" charset="-122"/>
                <a:ea typeface="宋体" panose="02010600030101010101" pitchFamily="2" charset="-122"/>
              </a:rPr>
              <a:t>3</a:t>
            </a:r>
            <a:r>
              <a:rPr lang="zh-CN" altLang="en-US" sz="2400" dirty="0">
                <a:latin typeface="宋体" panose="02010600030101010101" pitchFamily="2" charset="-122"/>
                <a:ea typeface="宋体" panose="02010600030101010101" pitchFamily="2" charset="-122"/>
              </a:rPr>
              <a:t>种</a:t>
            </a:r>
            <a:r>
              <a:rPr lang="zh-CN" altLang="en-US" sz="2400" dirty="0" smtClean="0">
                <a:latin typeface="宋体" panose="02010600030101010101" pitchFamily="2" charset="-122"/>
                <a:ea typeface="宋体" panose="02010600030101010101" pitchFamily="2" charset="-122"/>
              </a:rPr>
              <a:t>情况</a:t>
            </a:r>
            <a:endParaRPr lang="en-US" altLang="zh-CN" sz="2400" dirty="0" smtClean="0">
              <a:latin typeface="宋体" panose="02010600030101010101" pitchFamily="2" charset="-122"/>
              <a:ea typeface="宋体" panose="02010600030101010101" pitchFamily="2" charset="-122"/>
            </a:endParaRPr>
          </a:p>
          <a:p>
            <a:pPr marL="0" indent="444500">
              <a:buNone/>
            </a:pPr>
            <a:r>
              <a:rPr lang="en-US" altLang="zh-CN" sz="2400" dirty="0">
                <a:latin typeface="宋体" panose="02010600030101010101" pitchFamily="2" charset="-122"/>
                <a:ea typeface="宋体" panose="02010600030101010101" pitchFamily="2" charset="-122"/>
              </a:rPr>
              <a:t>7. </a:t>
            </a:r>
            <a:r>
              <a:rPr lang="en-US" altLang="zh-CN" sz="2400" dirty="0" smtClean="0">
                <a:latin typeface="宋体" panose="02010600030101010101" pitchFamily="2" charset="-122"/>
                <a:ea typeface="宋体" panose="02010600030101010101" pitchFamily="2" charset="-122"/>
              </a:rPr>
              <a:t>BTB</a:t>
            </a:r>
            <a:r>
              <a:rPr lang="zh-CN" altLang="en-US" sz="2400" dirty="0">
                <a:latin typeface="宋体" panose="02010600030101010101" pitchFamily="2" charset="-122"/>
                <a:ea typeface="宋体" panose="02010600030101010101" pitchFamily="2" charset="-122"/>
              </a:rPr>
              <a:t>的另一种形式</a:t>
            </a:r>
          </a:p>
          <a:p>
            <a:pPr marL="0" indent="0">
              <a:buNone/>
            </a:pPr>
            <a:endParaRPr lang="zh-CN" altLang="en-US" dirty="0"/>
          </a:p>
        </p:txBody>
      </p:sp>
    </p:spTree>
    <p:extLst>
      <p:ext uri="{BB962C8B-B14F-4D97-AF65-F5344CB8AC3E}">
        <p14:creationId xmlns:p14="http://schemas.microsoft.com/office/powerpoint/2010/main" val="4201493722"/>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pPr eaLnBrk="1" hangingPunct="1"/>
            <a:r>
              <a:rPr lang="en-US" altLang="zh-CN" dirty="0" smtClean="0">
                <a:latin typeface="黑体" panose="02010609060101010101" pitchFamily="49" charset="-122"/>
              </a:rPr>
              <a:t> </a:t>
            </a:r>
            <a:endParaRPr lang="zh-CN" altLang="en-US" dirty="0" smtClean="0">
              <a:latin typeface="黑体" panose="02010609060101010101" pitchFamily="49" charset="-122"/>
            </a:endParaRPr>
          </a:p>
        </p:txBody>
      </p:sp>
      <p:sp>
        <p:nvSpPr>
          <p:cNvPr id="271363" name="Rectangle 3" descr="Rectangle: Click to edit Master text styles&#10;Second level&#10;Third level&#10;Fourth level&#10;Fifth level"/>
          <p:cNvSpPr>
            <a:spLocks noGrp="1" noChangeArrowheads="1"/>
          </p:cNvSpPr>
          <p:nvPr>
            <p:ph idx="1"/>
          </p:nvPr>
        </p:nvSpPr>
        <p:spPr>
          <a:xfrm>
            <a:off x="1524601" y="1088932"/>
            <a:ext cx="7525395" cy="5239440"/>
          </a:xfrm>
        </p:spPr>
        <p:txBody>
          <a:bodyPr/>
          <a:lstStyle/>
          <a:p>
            <a:pPr marL="457200" indent="-457200" eaLnBrk="1" hangingPunct="1">
              <a:buNone/>
            </a:pPr>
            <a:r>
              <a:rPr lang="zh-CN" altLang="en-US" sz="2000" dirty="0">
                <a:latin typeface="宋体" panose="02010600030101010101" pitchFamily="2" charset="-122"/>
                <a:ea typeface="宋体" panose="02010600030101010101" pitchFamily="2" charset="-122"/>
              </a:rPr>
              <a:t>背景：</a:t>
            </a:r>
            <a:endParaRPr lang="en-US" altLang="zh-CN" sz="2000" dirty="0">
              <a:latin typeface="宋体" panose="02010600030101010101" pitchFamily="2" charset="-122"/>
              <a:ea typeface="宋体" panose="02010600030101010101" pitchFamily="2" charset="-122"/>
            </a:endParaRPr>
          </a:p>
          <a:p>
            <a:pPr marL="0" indent="0" eaLnBrk="1" hangingPunct="1">
              <a:buNone/>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在高性能流水线中，特别是多流出的处理机中，只准确地预测分支还不够，还要能够提供足够的指令流。许多现代的处理器要求每个时钟周期能提供</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8</a:t>
            </a:r>
            <a:r>
              <a:rPr lang="zh-CN" altLang="en-US" sz="2000" dirty="0">
                <a:latin typeface="宋体" panose="02010600030101010101" pitchFamily="2" charset="-122"/>
                <a:ea typeface="宋体" panose="02010600030101010101" pitchFamily="2" charset="-122"/>
              </a:rPr>
              <a:t>条指令。这需要</a:t>
            </a:r>
            <a:r>
              <a:rPr lang="zh-CN" altLang="en-US" sz="2000" b="1" dirty="0">
                <a:latin typeface="宋体" panose="02010600030101010101" pitchFamily="2" charset="-122"/>
                <a:ea typeface="宋体" panose="02010600030101010101" pitchFamily="2" charset="-122"/>
              </a:rPr>
              <a:t>尽早</a:t>
            </a:r>
            <a:r>
              <a:rPr lang="zh-CN" altLang="en-US" sz="2000" dirty="0">
                <a:latin typeface="宋体" panose="02010600030101010101" pitchFamily="2" charset="-122"/>
                <a:ea typeface="宋体" panose="02010600030101010101" pitchFamily="2" charset="-122"/>
              </a:rPr>
              <a:t>知道分支是否成功、</a:t>
            </a:r>
            <a:r>
              <a:rPr lang="zh-CN" altLang="en-US" sz="2000" b="1" dirty="0">
                <a:latin typeface="宋体" panose="02010600030101010101" pitchFamily="2" charset="-122"/>
                <a:ea typeface="宋体" panose="02010600030101010101" pitchFamily="2" charset="-122"/>
              </a:rPr>
              <a:t>尽早</a:t>
            </a:r>
            <a:r>
              <a:rPr lang="zh-CN" altLang="en-US" sz="2000" dirty="0">
                <a:latin typeface="宋体" panose="02010600030101010101" pitchFamily="2" charset="-122"/>
                <a:ea typeface="宋体" panose="02010600030101010101" pitchFamily="2" charset="-122"/>
              </a:rPr>
              <a:t>知道分支目标地址、</a:t>
            </a:r>
            <a:r>
              <a:rPr lang="zh-CN" altLang="en-US" sz="2000" b="1" dirty="0">
                <a:latin typeface="宋体" panose="02010600030101010101" pitchFamily="2" charset="-122"/>
                <a:ea typeface="宋体" panose="02010600030101010101" pitchFamily="2" charset="-122"/>
              </a:rPr>
              <a:t>尽早</a:t>
            </a:r>
            <a:r>
              <a:rPr lang="zh-CN" altLang="en-US" sz="2000" dirty="0">
                <a:latin typeface="宋体" panose="02010600030101010101" pitchFamily="2" charset="-122"/>
                <a:ea typeface="宋体" panose="02010600030101010101" pitchFamily="2" charset="-122"/>
              </a:rPr>
              <a:t>获得分支目标指令。</a:t>
            </a:r>
            <a:r>
              <a:rPr lang="en-US" altLang="zh-CN" sz="2000" dirty="0">
                <a:latin typeface="宋体" panose="02010600030101010101" pitchFamily="2" charset="-122"/>
                <a:ea typeface="宋体" panose="02010600030101010101" pitchFamily="2" charset="-122"/>
              </a:rPr>
              <a:t> </a:t>
            </a:r>
            <a:endParaRPr lang="zh-CN" altLang="en-US" sz="2000" dirty="0">
              <a:latin typeface="宋体" panose="02010600030101010101" pitchFamily="2" charset="-122"/>
              <a:ea typeface="宋体" panose="02010600030101010101" pitchFamily="2" charset="-122"/>
            </a:endParaRPr>
          </a:p>
          <a:p>
            <a:pPr marL="457200" indent="-457200" eaLnBrk="1" hangingPunct="1">
              <a:buNone/>
            </a:pPr>
            <a:r>
              <a:rPr lang="en-US" altLang="zh-CN" sz="2000" b="1" dirty="0">
                <a:solidFill>
                  <a:srgbClr val="000000"/>
                </a:solidFill>
                <a:latin typeface="黑体" panose="02010609060101010101" pitchFamily="49" charset="-122"/>
              </a:rPr>
              <a:t> </a:t>
            </a:r>
            <a:endParaRPr lang="zh-CN" altLang="en-US" sz="2000" dirty="0">
              <a:latin typeface="黑体" panose="02010609060101010101" pitchFamily="49" charset="-122"/>
            </a:endParaRPr>
          </a:p>
        </p:txBody>
      </p:sp>
      <p:sp>
        <p:nvSpPr>
          <p:cNvPr id="2" name="矩形 1"/>
          <p:cNvSpPr/>
          <p:nvPr/>
        </p:nvSpPr>
        <p:spPr>
          <a:xfrm>
            <a:off x="1088766" y="282360"/>
            <a:ext cx="4185761" cy="461665"/>
          </a:xfrm>
          <a:prstGeom prst="rect">
            <a:avLst/>
          </a:prstGeom>
        </p:spPr>
        <p:txBody>
          <a:bodyPr wrap="none">
            <a:spAutoFit/>
          </a:bodyPr>
          <a:lstStyle/>
          <a:p>
            <a:pPr lvl="0" eaLnBrk="0" fontAlgn="base" hangingPunct="0">
              <a:spcBef>
                <a:spcPct val="20000"/>
              </a:spcBef>
              <a:spcAft>
                <a:spcPct val="0"/>
              </a:spcAft>
            </a:pPr>
            <a:r>
              <a:rPr lang="en-US" altLang="zh-CN" sz="2400" dirty="0">
                <a:latin typeface="宋体" panose="02010600030101010101" pitchFamily="2" charset="-122"/>
                <a:ea typeface="宋体" panose="02010600030101010101" pitchFamily="2" charset="-122"/>
              </a:rPr>
              <a:t>1</a:t>
            </a:r>
            <a:r>
              <a:rPr lang="en-US" altLang="zh-CN" sz="2400" dirty="0" smtClean="0">
                <a:latin typeface="宋体" panose="02010600030101010101" pitchFamily="2" charset="-122"/>
                <a:ea typeface="宋体" panose="02010600030101010101" pitchFamily="2" charset="-122"/>
              </a:rPr>
              <a:t>.</a:t>
            </a:r>
            <a:r>
              <a:rPr lang="zh-CN" altLang="en-US" sz="2400" dirty="0" smtClean="0">
                <a:latin typeface="宋体" panose="02010600030101010101" pitchFamily="2" charset="-122"/>
                <a:ea typeface="宋体" panose="02010600030101010101" pitchFamily="2" charset="-122"/>
              </a:rPr>
              <a:t>为什么要用分支目标缓冲器</a:t>
            </a:r>
            <a:endParaRPr lang="en-US" altLang="zh-CN" sz="2400" dirty="0">
              <a:latin typeface="宋体" panose="02010600030101010101" pitchFamily="2" charset="-122"/>
              <a:ea typeface="宋体" panose="02010600030101010101" pitchFamily="2" charset="-122"/>
            </a:endParaRPr>
          </a:p>
        </p:txBody>
      </p:sp>
      <p:sp>
        <p:nvSpPr>
          <p:cNvPr id="6" name="Rectangle 3" descr="Rectangle: Click to edit Master text styles&#10;Second level&#10;Third level&#10;Fourth level&#10;Fifth level"/>
          <p:cNvSpPr txBox="1">
            <a:spLocks noChangeArrowheads="1"/>
          </p:cNvSpPr>
          <p:nvPr/>
        </p:nvSpPr>
        <p:spPr>
          <a:xfrm>
            <a:off x="1524601" y="3237911"/>
            <a:ext cx="7772400" cy="4464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None/>
            </a:pPr>
            <a:r>
              <a:rPr lang="zh-CN" altLang="en-US" sz="2000" dirty="0" smtClean="0">
                <a:latin typeface="宋体" panose="02010600030101010101" pitchFamily="2" charset="-122"/>
                <a:ea typeface="宋体" panose="02010600030101010101" pitchFamily="2" charset="-122"/>
              </a:rPr>
              <a:t>方法：分支目标缓冲</a:t>
            </a:r>
          </a:p>
          <a:p>
            <a:pPr marL="896938" lvl="1" indent="-273050"/>
            <a:r>
              <a:rPr lang="zh-CN" altLang="en-US" sz="2000" dirty="0">
                <a:latin typeface="宋体" panose="02010600030101010101" pitchFamily="2" charset="-122"/>
                <a:ea typeface="宋体" panose="02010600030101010101" pitchFamily="2" charset="-122"/>
              </a:rPr>
              <a:t>将分支成功的分支指令的地址和它的分支目标地址都放到一个缓冲区中保存起来，缓冲区以分支指令的地址作为标识。</a:t>
            </a:r>
          </a:p>
          <a:p>
            <a:pPr marL="896938" lvl="1" indent="-273050"/>
            <a:r>
              <a:rPr lang="zh-CN" altLang="en-US" sz="2000" dirty="0">
                <a:latin typeface="宋体" panose="02010600030101010101" pitchFamily="2" charset="-122"/>
                <a:ea typeface="宋体" panose="02010600030101010101" pitchFamily="2" charset="-122"/>
              </a:rPr>
              <a:t>这个缓冲区就是分支目标缓冲器（</a:t>
            </a:r>
            <a:r>
              <a:rPr lang="en-US" altLang="zh-CN" sz="2000" dirty="0">
                <a:latin typeface="宋体" panose="02010600030101010101" pitchFamily="2" charset="-122"/>
                <a:ea typeface="宋体" panose="02010600030101010101" pitchFamily="2" charset="-122"/>
              </a:rPr>
              <a:t>Branch-Target Buffer</a:t>
            </a:r>
            <a:r>
              <a:rPr lang="zh-CN" altLang="en-US" sz="2000" dirty="0">
                <a:latin typeface="宋体" panose="02010600030101010101" pitchFamily="2" charset="-122"/>
                <a:ea typeface="宋体" panose="02010600030101010101" pitchFamily="2" charset="-122"/>
              </a:rPr>
              <a:t>，简记为</a:t>
            </a:r>
            <a:r>
              <a:rPr lang="en-US" altLang="zh-CN" sz="2000" dirty="0">
                <a:latin typeface="宋体" panose="02010600030101010101" pitchFamily="2" charset="-122"/>
                <a:ea typeface="宋体" panose="02010600030101010101" pitchFamily="2" charset="-122"/>
              </a:rPr>
              <a:t>BTB</a:t>
            </a:r>
            <a:r>
              <a:rPr lang="zh-CN" altLang="en-US" sz="2000" dirty="0">
                <a:latin typeface="宋体" panose="02010600030101010101" pitchFamily="2" charset="-122"/>
                <a:ea typeface="宋体" panose="02010600030101010101" pitchFamily="2" charset="-122"/>
              </a:rPr>
              <a:t>，或者</a:t>
            </a:r>
            <a:r>
              <a:rPr lang="en-US" altLang="zh-CN" sz="2000" dirty="0">
                <a:latin typeface="宋体" panose="02010600030101010101" pitchFamily="2" charset="-122"/>
                <a:ea typeface="宋体" panose="02010600030101010101" pitchFamily="2" charset="-122"/>
              </a:rPr>
              <a:t>Branch-Target Cache</a:t>
            </a:r>
            <a:r>
              <a:rPr lang="zh-CN" altLang="en-US" sz="2000" dirty="0">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25116506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lstStyle/>
          <a:p>
            <a:pPr eaLnBrk="1" hangingPunct="1"/>
            <a:r>
              <a:rPr lang="en-US" altLang="zh-CN" dirty="0" smtClean="0">
                <a:latin typeface="黑体" panose="02010609060101010101" pitchFamily="49" charset="-122"/>
              </a:rPr>
              <a:t> </a:t>
            </a:r>
            <a:endParaRPr lang="zh-CN" altLang="en-US" dirty="0" smtClean="0">
              <a:latin typeface="黑体" panose="02010609060101010101" pitchFamily="49" charset="-122"/>
            </a:endParaRPr>
          </a:p>
        </p:txBody>
      </p:sp>
      <p:sp>
        <p:nvSpPr>
          <p:cNvPr id="273411" name="Rectangle 3" descr="Rectangle: Click to edit Master text styles&#10;Second level&#10;Third level&#10;Fourth level&#10;Fifth level"/>
          <p:cNvSpPr>
            <a:spLocks noGrp="1" noChangeArrowheads="1"/>
          </p:cNvSpPr>
          <p:nvPr>
            <p:ph idx="1"/>
          </p:nvPr>
        </p:nvSpPr>
        <p:spPr>
          <a:xfrm>
            <a:off x="162469" y="1360238"/>
            <a:ext cx="7772400" cy="3073400"/>
          </a:xfrm>
        </p:spPr>
        <p:txBody>
          <a:bodyPr/>
          <a:lstStyle/>
          <a:p>
            <a:pPr marL="623888" lvl="1" indent="-265113" eaLnBrk="1" hangingPunct="1">
              <a:buFont typeface="Wingdings" panose="05000000000000000000" pitchFamily="2" charset="2"/>
              <a:buChar char="Ø"/>
            </a:pPr>
            <a:r>
              <a:rPr lang="zh-CN" altLang="en-US" sz="2000" b="1" dirty="0" smtClean="0">
                <a:latin typeface="宋体" panose="02010600030101010101" pitchFamily="2" charset="-122"/>
                <a:ea typeface="宋体" panose="02010600030101010101" pitchFamily="2" charset="-122"/>
              </a:rPr>
              <a:t>看成是用专门的硬件实现的一张表格。 </a:t>
            </a:r>
          </a:p>
          <a:p>
            <a:pPr marL="623888" lvl="1" indent="-265113" eaLnBrk="1" hangingPunct="1">
              <a:buFont typeface="Wingdings" panose="05000000000000000000" pitchFamily="2" charset="2"/>
              <a:buChar char="Ø"/>
            </a:pPr>
            <a:r>
              <a:rPr lang="zh-CN" altLang="en-US" sz="2000" b="1" dirty="0" smtClean="0">
                <a:latin typeface="宋体" panose="02010600030101010101" pitchFamily="2" charset="-122"/>
                <a:ea typeface="宋体" panose="02010600030101010101" pitchFamily="2" charset="-122"/>
              </a:rPr>
              <a:t>表格中的每一项至少有两个字段： </a:t>
            </a:r>
          </a:p>
          <a:p>
            <a:pPr lvl="2" eaLnBrk="1" hangingPunct="1"/>
            <a:r>
              <a:rPr lang="zh-CN" altLang="en-US" dirty="0" smtClean="0">
                <a:latin typeface="宋体" panose="02010600030101010101" pitchFamily="2" charset="-122"/>
                <a:ea typeface="宋体" panose="02010600030101010101" pitchFamily="2" charset="-122"/>
              </a:rPr>
              <a:t>执行过的成功分支指令的地址；</a:t>
            </a:r>
          </a:p>
          <a:p>
            <a:pPr lvl="3" eaLnBrk="1" hangingPunct="1">
              <a:buFont typeface="Wingdings" panose="05000000000000000000" pitchFamily="2" charset="2"/>
              <a:buNone/>
            </a:pPr>
            <a:r>
              <a:rPr lang="zh-CN" altLang="en-US" sz="2000" dirty="0" smtClean="0">
                <a:latin typeface="宋体" panose="02010600030101010101" pitchFamily="2" charset="-122"/>
                <a:ea typeface="宋体" panose="02010600030101010101" pitchFamily="2" charset="-122"/>
              </a:rPr>
              <a:t>（作为该表的匹配标识 ）</a:t>
            </a:r>
          </a:p>
          <a:p>
            <a:pPr lvl="2" eaLnBrk="1" hangingPunct="1"/>
            <a:r>
              <a:rPr lang="zh-CN" altLang="en-US" dirty="0" smtClean="0">
                <a:latin typeface="宋体" panose="02010600030101010101" pitchFamily="2" charset="-122"/>
                <a:ea typeface="宋体" panose="02010600030101010101" pitchFamily="2" charset="-122"/>
              </a:rPr>
              <a:t>预测的分支目标地址。</a:t>
            </a:r>
          </a:p>
          <a:p>
            <a:pPr marL="0" indent="0" eaLnBrk="1" hangingPunct="1">
              <a:buNone/>
            </a:pPr>
            <a:endParaRPr lang="zh-CN" altLang="en-US" dirty="0" smtClean="0"/>
          </a:p>
        </p:txBody>
      </p:sp>
      <p:graphicFrame>
        <p:nvGraphicFramePr>
          <p:cNvPr id="5" name="Object 4"/>
          <p:cNvGraphicFramePr>
            <a:graphicFrameLocks noChangeAspect="1"/>
          </p:cNvGraphicFramePr>
          <p:nvPr>
            <p:extLst>
              <p:ext uri="{D42A27DB-BD31-4B8C-83A1-F6EECF244321}">
                <p14:modId xmlns:p14="http://schemas.microsoft.com/office/powerpoint/2010/main" val="1421278874"/>
              </p:ext>
            </p:extLst>
          </p:nvPr>
        </p:nvGraphicFramePr>
        <p:xfrm>
          <a:off x="5469502" y="759850"/>
          <a:ext cx="6030912" cy="5084763"/>
        </p:xfrm>
        <a:graphic>
          <a:graphicData uri="http://schemas.openxmlformats.org/presentationml/2006/ole">
            <mc:AlternateContent xmlns:mc="http://schemas.openxmlformats.org/markup-compatibility/2006">
              <mc:Choice xmlns:v="urn:schemas-microsoft-com:vml" Requires="v">
                <p:oleObj spid="_x0000_s65700" name="Picture" r:id="rId3" imgW="3299460" imgH="2781300" progId="Word.Picture.8">
                  <p:embed/>
                </p:oleObj>
              </mc:Choice>
              <mc:Fallback>
                <p:oleObj name="Picture" r:id="rId3" imgW="3299460" imgH="2781300" progId="Word.Picture.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9502" y="759850"/>
                        <a:ext cx="6030912" cy="5084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 name="矩形 5"/>
          <p:cNvSpPr/>
          <p:nvPr/>
        </p:nvSpPr>
        <p:spPr>
          <a:xfrm>
            <a:off x="382930" y="418096"/>
            <a:ext cx="1877437" cy="461665"/>
          </a:xfrm>
          <a:prstGeom prst="rect">
            <a:avLst/>
          </a:prstGeom>
        </p:spPr>
        <p:txBody>
          <a:bodyPr wrap="none">
            <a:spAutoFit/>
          </a:bodyPr>
          <a:lstStyle/>
          <a:p>
            <a:pPr lvl="0" eaLnBrk="0" fontAlgn="base" hangingPunct="0">
              <a:spcBef>
                <a:spcPct val="20000"/>
              </a:spcBef>
              <a:spcAft>
                <a:spcPct val="0"/>
              </a:spcAft>
            </a:pPr>
            <a:r>
              <a:rPr lang="en-US" altLang="zh-CN" sz="2400" dirty="0" smtClean="0">
                <a:latin typeface="宋体" panose="02010600030101010101" pitchFamily="2" charset="-122"/>
                <a:ea typeface="宋体" panose="02010600030101010101" pitchFamily="2" charset="-122"/>
              </a:rPr>
              <a:t>2.BTB</a:t>
            </a:r>
            <a:r>
              <a:rPr lang="zh-CN" altLang="en-US" sz="2400" dirty="0" smtClean="0">
                <a:latin typeface="宋体" panose="02010600030101010101" pitchFamily="2" charset="-122"/>
                <a:ea typeface="宋体" panose="02010600030101010101" pitchFamily="2" charset="-122"/>
              </a:rPr>
              <a:t>表结构</a:t>
            </a:r>
            <a:endParaRPr lang="en-US" altLang="zh-CN" sz="2400" dirty="0">
              <a:latin typeface="宋体" panose="02010600030101010101" pitchFamily="2" charset="-122"/>
              <a:ea typeface="宋体" panose="02010600030101010101" pitchFamily="2" charset="-122"/>
            </a:endParaRPr>
          </a:p>
        </p:txBody>
      </p:sp>
      <p:sp>
        <p:nvSpPr>
          <p:cNvPr id="7" name="矩形 6"/>
          <p:cNvSpPr/>
          <p:nvPr/>
        </p:nvSpPr>
        <p:spPr>
          <a:xfrm>
            <a:off x="6915298" y="1812319"/>
            <a:ext cx="1569660" cy="923330"/>
          </a:xfrm>
          <a:prstGeom prst="rect">
            <a:avLst/>
          </a:prstGeom>
        </p:spPr>
        <p:txBody>
          <a:bodyPr wrap="none">
            <a:spAutoFit/>
          </a:bodyPr>
          <a:lstStyle/>
          <a:p>
            <a:r>
              <a:rPr kumimoji="1" lang="zh-CN" altLang="en-US" dirty="0">
                <a:solidFill>
                  <a:srgbClr val="000000"/>
                </a:solidFill>
              </a:rPr>
              <a:t>执行过</a:t>
            </a:r>
            <a:r>
              <a:rPr kumimoji="1" lang="zh-CN" altLang="en-US" dirty="0" smtClean="0">
                <a:solidFill>
                  <a:srgbClr val="000000"/>
                </a:solidFill>
              </a:rPr>
              <a:t>的</a:t>
            </a:r>
            <a:endParaRPr kumimoji="1" lang="en-US" altLang="zh-CN" dirty="0" smtClean="0">
              <a:solidFill>
                <a:srgbClr val="000000"/>
              </a:solidFill>
            </a:endParaRPr>
          </a:p>
          <a:p>
            <a:r>
              <a:rPr kumimoji="1" lang="zh-CN" altLang="en-US" dirty="0" smtClean="0">
                <a:solidFill>
                  <a:srgbClr val="000000"/>
                </a:solidFill>
              </a:rPr>
              <a:t>成功分支指令</a:t>
            </a:r>
            <a:endParaRPr kumimoji="1" lang="en-US" altLang="zh-CN" dirty="0" smtClean="0">
              <a:solidFill>
                <a:srgbClr val="000000"/>
              </a:solidFill>
            </a:endParaRPr>
          </a:p>
          <a:p>
            <a:r>
              <a:rPr kumimoji="1" lang="zh-CN" altLang="en-US" dirty="0" smtClean="0">
                <a:solidFill>
                  <a:srgbClr val="000000"/>
                </a:solidFill>
              </a:rPr>
              <a:t>的</a:t>
            </a:r>
            <a:r>
              <a:rPr kumimoji="1" lang="zh-CN" altLang="en-US" dirty="0">
                <a:solidFill>
                  <a:srgbClr val="000000"/>
                </a:solidFill>
              </a:rPr>
              <a:t>地址；</a:t>
            </a:r>
            <a:endParaRPr lang="zh-CN" altLang="en-US" dirty="0"/>
          </a:p>
        </p:txBody>
      </p:sp>
      <p:sp>
        <p:nvSpPr>
          <p:cNvPr id="8" name="矩形 7"/>
          <p:cNvSpPr/>
          <p:nvPr/>
        </p:nvSpPr>
        <p:spPr>
          <a:xfrm>
            <a:off x="9112679" y="2001947"/>
            <a:ext cx="2031325" cy="338554"/>
          </a:xfrm>
          <a:prstGeom prst="rect">
            <a:avLst/>
          </a:prstGeom>
        </p:spPr>
        <p:txBody>
          <a:bodyPr wrap="none">
            <a:spAutoFit/>
          </a:bodyPr>
          <a:lstStyle/>
          <a:p>
            <a:r>
              <a:rPr kumimoji="1" lang="zh-CN" altLang="en-US" sz="1600" dirty="0">
                <a:solidFill>
                  <a:srgbClr val="000000"/>
                </a:solidFill>
                <a:latin typeface="宋体" panose="02010600030101010101" pitchFamily="2" charset="-122"/>
                <a:ea typeface="宋体" panose="02010600030101010101" pitchFamily="2" charset="-122"/>
              </a:rPr>
              <a:t>预测的分支目标</a:t>
            </a:r>
            <a:r>
              <a:rPr kumimoji="1" lang="zh-CN" altLang="en-US" sz="1600" dirty="0" smtClean="0">
                <a:solidFill>
                  <a:srgbClr val="000000"/>
                </a:solidFill>
                <a:latin typeface="宋体" panose="02010600030101010101" pitchFamily="2" charset="-122"/>
                <a:ea typeface="宋体" panose="02010600030101010101" pitchFamily="2" charset="-122"/>
              </a:rPr>
              <a:t>地址</a:t>
            </a:r>
            <a:endParaRPr lang="zh-CN" altLang="en-US" sz="16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432073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pSp>
        <p:nvGrpSpPr>
          <p:cNvPr id="83" name="组合 82"/>
          <p:cNvGrpSpPr/>
          <p:nvPr/>
        </p:nvGrpSpPr>
        <p:grpSpPr>
          <a:xfrm>
            <a:off x="165594" y="1650467"/>
            <a:ext cx="12192000" cy="4716555"/>
            <a:chOff x="452674" y="778597"/>
            <a:chExt cx="12192000" cy="4716555"/>
          </a:xfrm>
        </p:grpSpPr>
        <p:sp>
          <p:nvSpPr>
            <p:cNvPr id="82" name="Rectangle 7"/>
            <p:cNvSpPr>
              <a:spLocks noChangeArrowheads="1"/>
            </p:cNvSpPr>
            <p:nvPr/>
          </p:nvSpPr>
          <p:spPr bwMode="auto">
            <a:xfrm>
              <a:off x="2622525" y="4790210"/>
              <a:ext cx="1066800" cy="560388"/>
            </a:xfrm>
            <a:prstGeom prst="rect">
              <a:avLst/>
            </a:prstGeom>
            <a:solidFill>
              <a:srgbClr val="FE9CEB"/>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nvGrpSpPr>
            <p:cNvPr id="74" name="组合 73"/>
            <p:cNvGrpSpPr/>
            <p:nvPr/>
          </p:nvGrpSpPr>
          <p:grpSpPr>
            <a:xfrm>
              <a:off x="452674" y="778597"/>
              <a:ext cx="12192000" cy="4641435"/>
              <a:chOff x="0" y="0"/>
              <a:chExt cx="12192000" cy="4641435"/>
            </a:xfrm>
          </p:grpSpPr>
          <p:sp>
            <p:nvSpPr>
              <p:cNvPr id="2" name="Rectangle 64"/>
              <p:cNvSpPr>
                <a:spLocks noChangeArrowheads="1"/>
              </p:cNvSpPr>
              <p:nvPr/>
            </p:nvSpPr>
            <p:spPr bwMode="auto">
              <a:xfrm>
                <a:off x="5386254" y="1699420"/>
                <a:ext cx="1012825" cy="669925"/>
              </a:xfrm>
              <a:prstGeom prst="rect">
                <a:avLst/>
              </a:prstGeom>
              <a:solidFill>
                <a:srgbClr val="CCFFCC"/>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 name="Rectangle 63"/>
              <p:cNvSpPr>
                <a:spLocks noChangeArrowheads="1"/>
              </p:cNvSpPr>
              <p:nvPr/>
            </p:nvSpPr>
            <p:spPr bwMode="auto">
              <a:xfrm>
                <a:off x="2425700" y="35187"/>
                <a:ext cx="1371600" cy="393700"/>
              </a:xfrm>
              <a:prstGeom prst="rect">
                <a:avLst/>
              </a:prstGeom>
              <a:solidFill>
                <a:srgbClr val="FFFF99"/>
              </a:solidFill>
              <a:ln w="889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 name="Rectangle 62"/>
              <p:cNvSpPr>
                <a:spLocks noChangeArrowheads="1"/>
              </p:cNvSpPr>
              <p:nvPr/>
            </p:nvSpPr>
            <p:spPr bwMode="auto">
              <a:xfrm>
                <a:off x="2848403" y="61912"/>
                <a:ext cx="11430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当前</a:t>
                </a:r>
                <a:r>
                  <a:rPr kumimoji="0" lang="en-US"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PC</a:t>
                </a:r>
                <a:r>
                  <a:rPr kumimoji="0" lang="zh-CN" altLang="en-US"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值</a:t>
                </a:r>
                <a:endParaRPr kumimoji="0" lang="zh-CN" altLang="en-US"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61"/>
              <p:cNvSpPr>
                <a:spLocks noChangeArrowheads="1"/>
              </p:cNvSpPr>
              <p:nvPr/>
            </p:nvSpPr>
            <p:spPr bwMode="auto">
              <a:xfrm>
                <a:off x="3752850" y="688975"/>
                <a:ext cx="74613"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7" name="Freeform 59"/>
              <p:cNvSpPr>
                <a:spLocks/>
              </p:cNvSpPr>
              <p:nvPr/>
            </p:nvSpPr>
            <p:spPr bwMode="auto">
              <a:xfrm>
                <a:off x="2330450" y="635796"/>
                <a:ext cx="1531938" cy="525462"/>
              </a:xfrm>
              <a:custGeom>
                <a:avLst/>
                <a:gdLst>
                  <a:gd name="T0" fmla="*/ 1018 w 2036"/>
                  <a:gd name="T1" fmla="*/ 0 h 597"/>
                  <a:gd name="T2" fmla="*/ 0 w 2036"/>
                  <a:gd name="T3" fmla="*/ 299 h 597"/>
                  <a:gd name="T4" fmla="*/ 1018 w 2036"/>
                  <a:gd name="T5" fmla="*/ 597 h 597"/>
                  <a:gd name="T6" fmla="*/ 2036 w 2036"/>
                  <a:gd name="T7" fmla="*/ 299 h 597"/>
                  <a:gd name="T8" fmla="*/ 1018 w 2036"/>
                  <a:gd name="T9" fmla="*/ 0 h 597"/>
                </a:gdLst>
                <a:ahLst/>
                <a:cxnLst>
                  <a:cxn ang="0">
                    <a:pos x="T0" y="T1"/>
                  </a:cxn>
                  <a:cxn ang="0">
                    <a:pos x="T2" y="T3"/>
                  </a:cxn>
                  <a:cxn ang="0">
                    <a:pos x="T4" y="T5"/>
                  </a:cxn>
                  <a:cxn ang="0">
                    <a:pos x="T6" y="T7"/>
                  </a:cxn>
                  <a:cxn ang="0">
                    <a:pos x="T8" y="T9"/>
                  </a:cxn>
                </a:cxnLst>
                <a:rect l="0" t="0" r="r" b="b"/>
                <a:pathLst>
                  <a:path w="2036" h="597">
                    <a:moveTo>
                      <a:pt x="1018" y="0"/>
                    </a:moveTo>
                    <a:lnTo>
                      <a:pt x="0" y="299"/>
                    </a:lnTo>
                    <a:lnTo>
                      <a:pt x="1018" y="597"/>
                    </a:lnTo>
                    <a:lnTo>
                      <a:pt x="2036" y="299"/>
                    </a:lnTo>
                    <a:lnTo>
                      <a:pt x="1018" y="0"/>
                    </a:lnTo>
                    <a:close/>
                  </a:path>
                </a:pathLst>
              </a:custGeom>
              <a:solidFill>
                <a:srgbClr val="FFFF99"/>
              </a:solidFill>
              <a:ln w="889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 name="Rectangle 58"/>
              <p:cNvSpPr>
                <a:spLocks noChangeArrowheads="1"/>
              </p:cNvSpPr>
              <p:nvPr/>
            </p:nvSpPr>
            <p:spPr bwMode="auto">
              <a:xfrm>
                <a:off x="2546777" y="838117"/>
                <a:ext cx="12477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BTB</a:t>
                </a:r>
                <a:r>
                  <a:rPr kumimoji="0" lang="zh-CN" altLang="en-US"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中存在匹配的项？</a:t>
                </a: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57"/>
              <p:cNvSpPr>
                <a:spLocks noChangeArrowheads="1"/>
              </p:cNvSpPr>
              <p:nvPr/>
            </p:nvSpPr>
            <p:spPr bwMode="auto">
              <a:xfrm>
                <a:off x="3444875" y="1146175"/>
                <a:ext cx="74613"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0" name="Freeform 56"/>
              <p:cNvSpPr>
                <a:spLocks/>
              </p:cNvSpPr>
              <p:nvPr/>
            </p:nvSpPr>
            <p:spPr bwMode="auto">
              <a:xfrm>
                <a:off x="1322388" y="1709738"/>
                <a:ext cx="1293812" cy="379412"/>
              </a:xfrm>
              <a:custGeom>
                <a:avLst/>
                <a:gdLst>
                  <a:gd name="T0" fmla="*/ 1019 w 2037"/>
                  <a:gd name="T1" fmla="*/ 0 h 597"/>
                  <a:gd name="T2" fmla="*/ 0 w 2037"/>
                  <a:gd name="T3" fmla="*/ 299 h 597"/>
                  <a:gd name="T4" fmla="*/ 1019 w 2037"/>
                  <a:gd name="T5" fmla="*/ 597 h 597"/>
                  <a:gd name="T6" fmla="*/ 2037 w 2037"/>
                  <a:gd name="T7" fmla="*/ 299 h 597"/>
                  <a:gd name="T8" fmla="*/ 1019 w 2037"/>
                  <a:gd name="T9" fmla="*/ 0 h 597"/>
                </a:gdLst>
                <a:ahLst/>
                <a:cxnLst>
                  <a:cxn ang="0">
                    <a:pos x="T0" y="T1"/>
                  </a:cxn>
                  <a:cxn ang="0">
                    <a:pos x="T2" y="T3"/>
                  </a:cxn>
                  <a:cxn ang="0">
                    <a:pos x="T4" y="T5"/>
                  </a:cxn>
                  <a:cxn ang="0">
                    <a:pos x="T6" y="T7"/>
                  </a:cxn>
                  <a:cxn ang="0">
                    <a:pos x="T8" y="T9"/>
                  </a:cxn>
                </a:cxnLst>
                <a:rect l="0" t="0" r="r" b="b"/>
                <a:pathLst>
                  <a:path w="2037" h="597">
                    <a:moveTo>
                      <a:pt x="1019" y="0"/>
                    </a:moveTo>
                    <a:lnTo>
                      <a:pt x="0" y="299"/>
                    </a:lnTo>
                    <a:lnTo>
                      <a:pt x="1019" y="597"/>
                    </a:lnTo>
                    <a:lnTo>
                      <a:pt x="2037" y="299"/>
                    </a:lnTo>
                    <a:lnTo>
                      <a:pt x="101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55"/>
              <p:cNvSpPr>
                <a:spLocks/>
              </p:cNvSpPr>
              <p:nvPr/>
            </p:nvSpPr>
            <p:spPr bwMode="auto">
              <a:xfrm>
                <a:off x="1377950" y="1730375"/>
                <a:ext cx="1184275" cy="373063"/>
              </a:xfrm>
              <a:custGeom>
                <a:avLst/>
                <a:gdLst>
                  <a:gd name="T0" fmla="*/ 1019 w 2037"/>
                  <a:gd name="T1" fmla="*/ 0 h 597"/>
                  <a:gd name="T2" fmla="*/ 0 w 2037"/>
                  <a:gd name="T3" fmla="*/ 299 h 597"/>
                  <a:gd name="T4" fmla="*/ 1019 w 2037"/>
                  <a:gd name="T5" fmla="*/ 597 h 597"/>
                  <a:gd name="T6" fmla="*/ 2037 w 2037"/>
                  <a:gd name="T7" fmla="*/ 299 h 597"/>
                  <a:gd name="T8" fmla="*/ 1019 w 2037"/>
                  <a:gd name="T9" fmla="*/ 0 h 597"/>
                </a:gdLst>
                <a:ahLst/>
                <a:cxnLst>
                  <a:cxn ang="0">
                    <a:pos x="T0" y="T1"/>
                  </a:cxn>
                  <a:cxn ang="0">
                    <a:pos x="T2" y="T3"/>
                  </a:cxn>
                  <a:cxn ang="0">
                    <a:pos x="T4" y="T5"/>
                  </a:cxn>
                  <a:cxn ang="0">
                    <a:pos x="T6" y="T7"/>
                  </a:cxn>
                  <a:cxn ang="0">
                    <a:pos x="T8" y="T9"/>
                  </a:cxn>
                </a:cxnLst>
                <a:rect l="0" t="0" r="r" b="b"/>
                <a:pathLst>
                  <a:path w="2037" h="597">
                    <a:moveTo>
                      <a:pt x="1019" y="0"/>
                    </a:moveTo>
                    <a:lnTo>
                      <a:pt x="0" y="299"/>
                    </a:lnTo>
                    <a:lnTo>
                      <a:pt x="1019" y="597"/>
                    </a:lnTo>
                    <a:lnTo>
                      <a:pt x="2037" y="299"/>
                    </a:lnTo>
                    <a:lnTo>
                      <a:pt x="1019" y="0"/>
                    </a:lnTo>
                    <a:close/>
                  </a:path>
                </a:pathLst>
              </a:custGeom>
              <a:solidFill>
                <a:srgbClr val="CCFFCC"/>
              </a:solidFill>
              <a:ln w="889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 name="Rectangle 54"/>
              <p:cNvSpPr>
                <a:spLocks noChangeArrowheads="1"/>
              </p:cNvSpPr>
              <p:nvPr/>
            </p:nvSpPr>
            <p:spPr bwMode="auto">
              <a:xfrm>
                <a:off x="1622425" y="1817688"/>
                <a:ext cx="879475" cy="19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成功分支指令？</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3" name="Rectangle 53"/>
              <p:cNvSpPr>
                <a:spLocks noChangeArrowheads="1"/>
              </p:cNvSpPr>
              <p:nvPr/>
            </p:nvSpPr>
            <p:spPr bwMode="auto">
              <a:xfrm>
                <a:off x="2425700" y="1828800"/>
                <a:ext cx="74613"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15" name="Freeform 51"/>
              <p:cNvSpPr>
                <a:spLocks/>
              </p:cNvSpPr>
              <p:nvPr/>
            </p:nvSpPr>
            <p:spPr bwMode="auto">
              <a:xfrm>
                <a:off x="3997546" y="1734344"/>
                <a:ext cx="1114425" cy="409575"/>
              </a:xfrm>
              <a:custGeom>
                <a:avLst/>
                <a:gdLst>
                  <a:gd name="T0" fmla="*/ 1018 w 2036"/>
                  <a:gd name="T1" fmla="*/ 0 h 598"/>
                  <a:gd name="T2" fmla="*/ 0 w 2036"/>
                  <a:gd name="T3" fmla="*/ 299 h 598"/>
                  <a:gd name="T4" fmla="*/ 1018 w 2036"/>
                  <a:gd name="T5" fmla="*/ 598 h 598"/>
                  <a:gd name="T6" fmla="*/ 2036 w 2036"/>
                  <a:gd name="T7" fmla="*/ 299 h 598"/>
                  <a:gd name="T8" fmla="*/ 1018 w 2036"/>
                  <a:gd name="T9" fmla="*/ 0 h 598"/>
                </a:gdLst>
                <a:ahLst/>
                <a:cxnLst>
                  <a:cxn ang="0">
                    <a:pos x="T0" y="T1"/>
                  </a:cxn>
                  <a:cxn ang="0">
                    <a:pos x="T2" y="T3"/>
                  </a:cxn>
                  <a:cxn ang="0">
                    <a:pos x="T4" y="T5"/>
                  </a:cxn>
                  <a:cxn ang="0">
                    <a:pos x="T6" y="T7"/>
                  </a:cxn>
                  <a:cxn ang="0">
                    <a:pos x="T8" y="T9"/>
                  </a:cxn>
                </a:cxnLst>
                <a:rect l="0" t="0" r="r" b="b"/>
                <a:pathLst>
                  <a:path w="2036" h="598">
                    <a:moveTo>
                      <a:pt x="1018" y="0"/>
                    </a:moveTo>
                    <a:lnTo>
                      <a:pt x="0" y="299"/>
                    </a:lnTo>
                    <a:lnTo>
                      <a:pt x="1018" y="598"/>
                    </a:lnTo>
                    <a:lnTo>
                      <a:pt x="2036" y="299"/>
                    </a:lnTo>
                    <a:lnTo>
                      <a:pt x="1018" y="0"/>
                    </a:lnTo>
                    <a:close/>
                  </a:path>
                </a:pathLst>
              </a:custGeom>
              <a:solidFill>
                <a:srgbClr val="CCFFCC"/>
              </a:solidFill>
              <a:ln w="8890">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 name="Rectangle 50"/>
              <p:cNvSpPr>
                <a:spLocks noChangeArrowheads="1"/>
              </p:cNvSpPr>
              <p:nvPr/>
            </p:nvSpPr>
            <p:spPr bwMode="auto">
              <a:xfrm>
                <a:off x="4190774" y="1862063"/>
                <a:ext cx="8382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当前分支成功？</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17" name="Rectangle 49"/>
              <p:cNvSpPr>
                <a:spLocks noChangeArrowheads="1"/>
              </p:cNvSpPr>
              <p:nvPr/>
            </p:nvSpPr>
            <p:spPr bwMode="auto">
              <a:xfrm>
                <a:off x="3842908" y="1156353"/>
                <a:ext cx="1387475" cy="346075"/>
              </a:xfrm>
              <a:prstGeom prst="rect">
                <a:avLst/>
              </a:prstGeom>
              <a:solidFill>
                <a:srgbClr val="FFFF99"/>
              </a:solidFill>
              <a:ln w="889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8" name="Rectangle 48"/>
              <p:cNvSpPr>
                <a:spLocks noChangeArrowheads="1"/>
              </p:cNvSpPr>
              <p:nvPr/>
            </p:nvSpPr>
            <p:spPr bwMode="auto">
              <a:xfrm>
                <a:off x="3954462" y="1185920"/>
                <a:ext cx="119221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以</a:t>
                </a:r>
                <a:r>
                  <a:rPr kumimoji="0" lang="en-US"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BTB</a:t>
                </a:r>
                <a:r>
                  <a:rPr kumimoji="0" lang="zh-CN" altLang="en-US"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的第二字段作为</a:t>
                </a: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9" name="Rectangle 47"/>
              <p:cNvSpPr>
                <a:spLocks noChangeArrowheads="1"/>
              </p:cNvSpPr>
              <p:nvPr/>
            </p:nvSpPr>
            <p:spPr bwMode="auto">
              <a:xfrm>
                <a:off x="2133600" y="736998"/>
                <a:ext cx="17621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0" name="Rectangle 46"/>
              <p:cNvSpPr>
                <a:spLocks noChangeArrowheads="1"/>
              </p:cNvSpPr>
              <p:nvPr/>
            </p:nvSpPr>
            <p:spPr bwMode="auto">
              <a:xfrm>
                <a:off x="1189038" y="1714500"/>
                <a:ext cx="196850"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1" name="Rectangle 45"/>
              <p:cNvSpPr>
                <a:spLocks noChangeArrowheads="1"/>
              </p:cNvSpPr>
              <p:nvPr/>
            </p:nvSpPr>
            <p:spPr bwMode="auto">
              <a:xfrm>
                <a:off x="1303338" y="1746250"/>
                <a:ext cx="74612"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2" name="Rectangle 44"/>
              <p:cNvSpPr>
                <a:spLocks noChangeArrowheads="1"/>
              </p:cNvSpPr>
              <p:nvPr/>
            </p:nvSpPr>
            <p:spPr bwMode="auto">
              <a:xfrm>
                <a:off x="787400" y="2092325"/>
                <a:ext cx="723900" cy="441748"/>
              </a:xfrm>
              <a:prstGeom prst="rect">
                <a:avLst/>
              </a:prstGeom>
              <a:solidFill>
                <a:srgbClr val="CCFFCC"/>
              </a:solidFill>
              <a:ln w="889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3" name="Rectangle 43"/>
              <p:cNvSpPr>
                <a:spLocks noChangeArrowheads="1"/>
              </p:cNvSpPr>
              <p:nvPr/>
            </p:nvSpPr>
            <p:spPr bwMode="auto">
              <a:xfrm>
                <a:off x="800100" y="2090738"/>
                <a:ext cx="746125" cy="45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继续执行</a:t>
                </a:r>
                <a:endParaRPr kumimoji="0" lang="en-US"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zh-CN" altLang="en-US" sz="9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后续指令</a:t>
                </a:r>
                <a:endParaRPr lang="en-US" altLang="zh-CN" sz="9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4" name="Rectangle 42"/>
              <p:cNvSpPr>
                <a:spLocks noChangeArrowheads="1"/>
              </p:cNvSpPr>
              <p:nvPr/>
            </p:nvSpPr>
            <p:spPr bwMode="auto">
              <a:xfrm>
                <a:off x="2586038" y="1714500"/>
                <a:ext cx="180975" cy="19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5" name="Rectangle 41"/>
              <p:cNvSpPr>
                <a:spLocks noChangeArrowheads="1"/>
              </p:cNvSpPr>
              <p:nvPr/>
            </p:nvSpPr>
            <p:spPr bwMode="auto">
              <a:xfrm>
                <a:off x="2786063" y="1746250"/>
                <a:ext cx="74612"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26" name="Rectangle 40"/>
              <p:cNvSpPr>
                <a:spLocks noChangeArrowheads="1"/>
              </p:cNvSpPr>
              <p:nvPr/>
            </p:nvSpPr>
            <p:spPr bwMode="auto">
              <a:xfrm>
                <a:off x="5170965" y="1790277"/>
                <a:ext cx="17780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7" name="Rectangle 39"/>
              <p:cNvSpPr>
                <a:spLocks noChangeArrowheads="1"/>
              </p:cNvSpPr>
              <p:nvPr/>
            </p:nvSpPr>
            <p:spPr bwMode="auto">
              <a:xfrm>
                <a:off x="3839588" y="1783196"/>
                <a:ext cx="182563"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否</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8" name="Rectangle 38"/>
              <p:cNvSpPr>
                <a:spLocks noChangeArrowheads="1"/>
              </p:cNvSpPr>
              <p:nvPr/>
            </p:nvSpPr>
            <p:spPr bwMode="auto">
              <a:xfrm>
                <a:off x="5513387" y="1748633"/>
                <a:ext cx="873125"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分支预测正确，</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29" name="Rectangle 37"/>
              <p:cNvSpPr>
                <a:spLocks noChangeArrowheads="1"/>
              </p:cNvSpPr>
              <p:nvPr/>
            </p:nvSpPr>
            <p:spPr bwMode="auto">
              <a:xfrm>
                <a:off x="5427149" y="1939131"/>
                <a:ext cx="1085850"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继续执行后继指令，</a:t>
                </a:r>
                <a:endParaRPr kumimoji="0" lang="zh-CN" altLang="zh-CN" sz="8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30" name="Rectangle 36"/>
              <p:cNvSpPr>
                <a:spLocks noChangeArrowheads="1"/>
              </p:cNvSpPr>
              <p:nvPr/>
            </p:nvSpPr>
            <p:spPr bwMode="auto">
              <a:xfrm>
                <a:off x="5532437" y="2120885"/>
                <a:ext cx="8572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不会出现停顿。</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31" name="Rectangle 35"/>
              <p:cNvSpPr>
                <a:spLocks noChangeArrowheads="1"/>
              </p:cNvSpPr>
              <p:nvPr/>
            </p:nvSpPr>
            <p:spPr bwMode="auto">
              <a:xfrm>
                <a:off x="3275013" y="2790825"/>
                <a:ext cx="1152525" cy="866775"/>
              </a:xfrm>
              <a:prstGeom prst="rect">
                <a:avLst/>
              </a:prstGeom>
              <a:solidFill>
                <a:srgbClr val="CCFFFF"/>
              </a:solidFill>
              <a:ln w="889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2" name="Rectangle 34"/>
              <p:cNvSpPr>
                <a:spLocks noChangeArrowheads="1"/>
              </p:cNvSpPr>
              <p:nvPr/>
            </p:nvSpPr>
            <p:spPr bwMode="auto">
              <a:xfrm>
                <a:off x="3355976" y="2896511"/>
                <a:ext cx="1146175"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分支预测错误，清除</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33" name="Rectangle 33"/>
              <p:cNvSpPr>
                <a:spLocks noChangeArrowheads="1"/>
              </p:cNvSpPr>
              <p:nvPr/>
            </p:nvSpPr>
            <p:spPr bwMode="auto">
              <a:xfrm>
                <a:off x="3327400" y="3074987"/>
                <a:ext cx="1100138"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已取的指令，从</a:t>
                </a:r>
                <a:r>
                  <a:rPr kumimoji="0" lang="en-US"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BTB</a:t>
                </a:r>
                <a:r>
                  <a:rPr kumimoji="0" lang="zh-CN" altLang="en-US" sz="9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中删除相应的项。</a:t>
                </a:r>
                <a:endParaRPr kumimoji="0" lang="zh-CN"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4" name="Rectangle 32"/>
              <p:cNvSpPr>
                <a:spLocks noChangeArrowheads="1"/>
              </p:cNvSpPr>
              <p:nvPr/>
            </p:nvSpPr>
            <p:spPr bwMode="auto">
              <a:xfrm>
                <a:off x="2133600" y="2790825"/>
                <a:ext cx="1066800" cy="866775"/>
              </a:xfrm>
              <a:prstGeom prst="rect">
                <a:avLst/>
              </a:prstGeom>
              <a:solidFill>
                <a:srgbClr val="CCFFFF"/>
              </a:solidFill>
              <a:ln w="889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1"/>
              <p:cNvSpPr>
                <a:spLocks noChangeArrowheads="1"/>
              </p:cNvSpPr>
              <p:nvPr/>
            </p:nvSpPr>
            <p:spPr bwMode="auto">
              <a:xfrm>
                <a:off x="2193925" y="2905125"/>
                <a:ext cx="95091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将其</a:t>
                </a:r>
                <a:r>
                  <a:rPr kumimoji="0" lang="en-US" altLang="zh-CN" sz="9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PC</a:t>
                </a:r>
                <a:r>
                  <a:rPr kumimoji="0" lang="zh-CN" altLang="en-US" sz="9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值和分支</a:t>
                </a:r>
                <a:endParaRPr kumimoji="0" lang="zh-CN" altLang="en-US" sz="1800" b="0" i="0" u="none" strike="noStrike" cap="none" normalizeH="0" baseline="0" smtClean="0">
                  <a:ln>
                    <a:noFill/>
                  </a:ln>
                  <a:solidFill>
                    <a:schemeClr val="tx1"/>
                  </a:solidFill>
                  <a:effectLst/>
                  <a:latin typeface="Arial" panose="020B0604020202020204" pitchFamily="34" charset="0"/>
                </a:endParaRPr>
              </a:p>
            </p:txBody>
          </p:sp>
          <p:sp>
            <p:nvSpPr>
              <p:cNvPr id="36" name="Rectangle 30"/>
              <p:cNvSpPr>
                <a:spLocks noChangeArrowheads="1"/>
              </p:cNvSpPr>
              <p:nvPr/>
            </p:nvSpPr>
            <p:spPr bwMode="auto">
              <a:xfrm>
                <a:off x="2190750" y="3092450"/>
                <a:ext cx="100965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目标地址写入</a:t>
                </a:r>
                <a:r>
                  <a:rPr kumimoji="0" lang="en-US" altLang="zh-CN" sz="9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BTB</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
            <p:nvSpPr>
              <p:cNvPr id="37" name="Rectangle 29"/>
              <p:cNvSpPr>
                <a:spLocks noChangeArrowheads="1"/>
              </p:cNvSpPr>
              <p:nvPr/>
            </p:nvSpPr>
            <p:spPr bwMode="auto">
              <a:xfrm>
                <a:off x="2200275" y="3289300"/>
                <a:ext cx="1809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zh-CN" altLang="en-US"/>
              </a:p>
            </p:txBody>
          </p:sp>
          <p:sp>
            <p:nvSpPr>
              <p:cNvPr id="38" name="Rectangle 28"/>
              <p:cNvSpPr>
                <a:spLocks noChangeArrowheads="1"/>
              </p:cNvSpPr>
              <p:nvPr/>
            </p:nvSpPr>
            <p:spPr bwMode="auto">
              <a:xfrm>
                <a:off x="2187575" y="3289300"/>
                <a:ext cx="960438"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中，作为一个新项。</a:t>
                </a:r>
                <a:endParaRPr kumimoji="0" lang="zh-CN" altLang="zh-CN" sz="1800" b="0" i="0" u="none" strike="noStrike" cap="none" normalizeH="0" baseline="0" smtClean="0">
                  <a:ln>
                    <a:noFill/>
                  </a:ln>
                  <a:solidFill>
                    <a:schemeClr val="tx1"/>
                  </a:solidFill>
                  <a:effectLst/>
                  <a:latin typeface="Arial" panose="020B0604020202020204" pitchFamily="34" charset="0"/>
                </a:endParaRPr>
              </a:p>
            </p:txBody>
          </p:sp>
          <p:sp>
            <p:nvSpPr>
              <p:cNvPr id="39" name="Rectangle 68"/>
              <p:cNvSpPr>
                <a:spLocks noChangeArrowheads="1"/>
              </p:cNvSpPr>
              <p:nvPr/>
            </p:nvSpPr>
            <p:spPr bwMode="auto">
              <a:xfrm>
                <a:off x="187325" y="1044575"/>
                <a:ext cx="3429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smtClean="0">
                    <a:ln>
                      <a:noFill/>
                    </a:ln>
                    <a:solidFill>
                      <a:srgbClr val="FF6600"/>
                    </a:solidFill>
                    <a:effectLst/>
                    <a:latin typeface="Times New Roman" panose="02020603050405020304" pitchFamily="18" charset="0"/>
                    <a:ea typeface="宋体" panose="02010600030101010101" pitchFamily="2" charset="-122"/>
                    <a:cs typeface="Times New Roman" panose="02020603050405020304" pitchFamily="18" charset="0"/>
                  </a:rPr>
                  <a:t>IF</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
            <p:nvSpPr>
              <p:cNvPr id="40" name="Rectangle 70"/>
              <p:cNvSpPr>
                <a:spLocks noChangeArrowheads="1"/>
              </p:cNvSpPr>
              <p:nvPr/>
            </p:nvSpPr>
            <p:spPr bwMode="auto">
              <a:xfrm>
                <a:off x="187325" y="2044700"/>
                <a:ext cx="4000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smtClean="0">
                    <a:ln>
                      <a:noFill/>
                    </a:ln>
                    <a:solidFill>
                      <a:srgbClr val="008000"/>
                    </a:solidFill>
                    <a:effectLst/>
                    <a:latin typeface="Times New Roman" panose="02020603050405020304" pitchFamily="18" charset="0"/>
                    <a:ea typeface="宋体" panose="02010600030101010101" pitchFamily="2" charset="-122"/>
                    <a:cs typeface="Times New Roman" panose="02020603050405020304" pitchFamily="18" charset="0"/>
                  </a:rPr>
                  <a:t>ID</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
            <p:nvSpPr>
              <p:cNvPr id="41" name="Rectangle 2"/>
              <p:cNvSpPr>
                <a:spLocks noChangeArrowheads="1"/>
              </p:cNvSpPr>
              <p:nvPr/>
            </p:nvSpPr>
            <p:spPr bwMode="auto">
              <a:xfrm>
                <a:off x="212725" y="3040063"/>
                <a:ext cx="342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EX</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
            <p:nvSpPr>
              <p:cNvPr id="42" name="AutoShape 69"/>
              <p:cNvSpPr>
                <a:spLocks/>
              </p:cNvSpPr>
              <p:nvPr/>
            </p:nvSpPr>
            <p:spPr bwMode="auto">
              <a:xfrm>
                <a:off x="560388" y="1668463"/>
                <a:ext cx="114300" cy="892175"/>
              </a:xfrm>
              <a:prstGeom prst="leftBrace">
                <a:avLst>
                  <a:gd name="adj1" fmla="val 65046"/>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AutoShape 1"/>
              <p:cNvSpPr>
                <a:spLocks/>
              </p:cNvSpPr>
              <p:nvPr/>
            </p:nvSpPr>
            <p:spPr bwMode="auto">
              <a:xfrm>
                <a:off x="568324" y="2695575"/>
                <a:ext cx="106363" cy="1075705"/>
              </a:xfrm>
              <a:prstGeom prst="leftBrace">
                <a:avLst>
                  <a:gd name="adj1" fmla="val 65046"/>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AutoShape 67"/>
              <p:cNvSpPr>
                <a:spLocks/>
              </p:cNvSpPr>
              <p:nvPr/>
            </p:nvSpPr>
            <p:spPr bwMode="auto">
              <a:xfrm>
                <a:off x="560388" y="61912"/>
                <a:ext cx="114300" cy="1477963"/>
              </a:xfrm>
              <a:prstGeom prst="leftBrace">
                <a:avLst>
                  <a:gd name="adj1" fmla="val 65046"/>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Rectangle 27"/>
              <p:cNvSpPr>
                <a:spLocks noChangeArrowheads="1"/>
              </p:cNvSpPr>
              <p:nvPr/>
            </p:nvSpPr>
            <p:spPr bwMode="auto">
              <a:xfrm>
                <a:off x="2676525" y="246597"/>
                <a:ext cx="1011237"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送存储器和</a:t>
                </a:r>
                <a:r>
                  <a:rPr kumimoji="0" lang="en-US"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BTB</a:t>
                </a:r>
                <a:endParaRPr kumimoji="0" lang="en-US"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46" name="Line 26"/>
              <p:cNvSpPr>
                <a:spLocks noChangeShapeType="1"/>
              </p:cNvSpPr>
              <p:nvPr/>
            </p:nvSpPr>
            <p:spPr bwMode="auto">
              <a:xfrm>
                <a:off x="3096419" y="428887"/>
                <a:ext cx="0" cy="19685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Line 25"/>
              <p:cNvSpPr>
                <a:spLocks noChangeShapeType="1"/>
              </p:cNvSpPr>
              <p:nvPr/>
            </p:nvSpPr>
            <p:spPr bwMode="auto">
              <a:xfrm>
                <a:off x="1996020" y="898527"/>
                <a:ext cx="3476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Line 23"/>
              <p:cNvSpPr>
                <a:spLocks noChangeShapeType="1"/>
              </p:cNvSpPr>
              <p:nvPr/>
            </p:nvSpPr>
            <p:spPr bwMode="auto">
              <a:xfrm flipV="1">
                <a:off x="3869895" y="897729"/>
                <a:ext cx="673958" cy="6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Rectangle 21"/>
              <p:cNvSpPr>
                <a:spLocks noChangeArrowheads="1"/>
              </p:cNvSpPr>
              <p:nvPr/>
            </p:nvSpPr>
            <p:spPr bwMode="auto">
              <a:xfrm>
                <a:off x="3950858" y="1353291"/>
                <a:ext cx="1279525"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分支目标地址送给</a:t>
                </a:r>
                <a:r>
                  <a:rPr kumimoji="0" lang="en-US"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PC</a:t>
                </a:r>
                <a:endParaRPr kumimoji="0" lang="en-US"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52" name="Line 20"/>
              <p:cNvSpPr>
                <a:spLocks noChangeShapeType="1"/>
              </p:cNvSpPr>
              <p:nvPr/>
            </p:nvSpPr>
            <p:spPr bwMode="auto">
              <a:xfrm>
                <a:off x="1165225" y="1916113"/>
                <a:ext cx="2143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Line 19"/>
              <p:cNvSpPr>
                <a:spLocks noChangeShapeType="1"/>
              </p:cNvSpPr>
              <p:nvPr/>
            </p:nvSpPr>
            <p:spPr bwMode="auto">
              <a:xfrm>
                <a:off x="1160463" y="1912938"/>
                <a:ext cx="7937" cy="19050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Line 18"/>
              <p:cNvSpPr>
                <a:spLocks noChangeShapeType="1"/>
              </p:cNvSpPr>
              <p:nvPr/>
            </p:nvSpPr>
            <p:spPr bwMode="auto">
              <a:xfrm>
                <a:off x="2682875" y="1916113"/>
                <a:ext cx="0" cy="866775"/>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Line 17"/>
              <p:cNvSpPr>
                <a:spLocks noChangeShapeType="1"/>
              </p:cNvSpPr>
              <p:nvPr/>
            </p:nvSpPr>
            <p:spPr bwMode="auto">
              <a:xfrm>
                <a:off x="2559307" y="1916113"/>
                <a:ext cx="12356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Line 16"/>
              <p:cNvSpPr>
                <a:spLocks noChangeShapeType="1"/>
              </p:cNvSpPr>
              <p:nvPr/>
            </p:nvSpPr>
            <p:spPr bwMode="auto">
              <a:xfrm>
                <a:off x="4543852" y="892917"/>
                <a:ext cx="1" cy="273895"/>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Rectangle 15"/>
              <p:cNvSpPr>
                <a:spLocks noChangeArrowheads="1"/>
              </p:cNvSpPr>
              <p:nvPr/>
            </p:nvSpPr>
            <p:spPr bwMode="auto">
              <a:xfrm>
                <a:off x="4117974" y="727866"/>
                <a:ext cx="17780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58" name="Line 14"/>
              <p:cNvSpPr>
                <a:spLocks noChangeShapeType="1"/>
              </p:cNvSpPr>
              <p:nvPr/>
            </p:nvSpPr>
            <p:spPr bwMode="auto">
              <a:xfrm flipH="1">
                <a:off x="3839588" y="1935957"/>
                <a:ext cx="0" cy="851694"/>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Line 13"/>
              <p:cNvSpPr>
                <a:spLocks noChangeShapeType="1"/>
              </p:cNvSpPr>
              <p:nvPr/>
            </p:nvSpPr>
            <p:spPr bwMode="auto">
              <a:xfrm>
                <a:off x="3840163" y="1939131"/>
                <a:ext cx="1603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Line 12"/>
              <p:cNvSpPr>
                <a:spLocks noChangeShapeType="1"/>
              </p:cNvSpPr>
              <p:nvPr/>
            </p:nvSpPr>
            <p:spPr bwMode="auto">
              <a:xfrm>
                <a:off x="800100" y="1601788"/>
                <a:ext cx="4746625" cy="0"/>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Line 11"/>
              <p:cNvSpPr>
                <a:spLocks noChangeShapeType="1"/>
              </p:cNvSpPr>
              <p:nvPr/>
            </p:nvSpPr>
            <p:spPr bwMode="auto">
              <a:xfrm>
                <a:off x="800100" y="2625725"/>
                <a:ext cx="4746625" cy="0"/>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Line 10"/>
              <p:cNvSpPr>
                <a:spLocks noChangeShapeType="1"/>
              </p:cNvSpPr>
              <p:nvPr/>
            </p:nvSpPr>
            <p:spPr bwMode="auto">
              <a:xfrm>
                <a:off x="5111971" y="1939131"/>
                <a:ext cx="285750"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AutoShape 66"/>
              <p:cNvSpPr>
                <a:spLocks/>
              </p:cNvSpPr>
              <p:nvPr/>
            </p:nvSpPr>
            <p:spPr bwMode="auto">
              <a:xfrm>
                <a:off x="530224" y="3875089"/>
                <a:ext cx="145353" cy="766346"/>
              </a:xfrm>
              <a:prstGeom prst="leftBrace">
                <a:avLst>
                  <a:gd name="adj1" fmla="val 65046"/>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Line 9"/>
              <p:cNvSpPr>
                <a:spLocks noChangeShapeType="1"/>
              </p:cNvSpPr>
              <p:nvPr/>
            </p:nvSpPr>
            <p:spPr bwMode="auto">
              <a:xfrm>
                <a:off x="733425" y="3846513"/>
                <a:ext cx="4748213" cy="0"/>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Rectangle 7"/>
              <p:cNvSpPr>
                <a:spLocks noChangeArrowheads="1"/>
              </p:cNvSpPr>
              <p:nvPr/>
            </p:nvSpPr>
            <p:spPr bwMode="auto">
              <a:xfrm>
                <a:off x="3327400" y="4014789"/>
                <a:ext cx="1066800" cy="560388"/>
              </a:xfrm>
              <a:prstGeom prst="rect">
                <a:avLst/>
              </a:prstGeom>
              <a:solidFill>
                <a:srgbClr val="FE9CEB"/>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67" name="Rectangle 6"/>
              <p:cNvSpPr>
                <a:spLocks noChangeArrowheads="1"/>
              </p:cNvSpPr>
              <p:nvPr/>
            </p:nvSpPr>
            <p:spPr bwMode="auto">
              <a:xfrm>
                <a:off x="2394744" y="4237037"/>
                <a:ext cx="8382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重新取指令</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68" name="Rectangle 5"/>
              <p:cNvSpPr>
                <a:spLocks noChangeArrowheads="1"/>
              </p:cNvSpPr>
              <p:nvPr/>
            </p:nvSpPr>
            <p:spPr bwMode="auto">
              <a:xfrm>
                <a:off x="3444875" y="4230010"/>
                <a:ext cx="8382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9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重新取指令</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69" name="Line 4"/>
              <p:cNvSpPr>
                <a:spLocks noChangeShapeType="1"/>
              </p:cNvSpPr>
              <p:nvPr/>
            </p:nvSpPr>
            <p:spPr bwMode="auto">
              <a:xfrm flipH="1">
                <a:off x="2670176" y="3657600"/>
                <a:ext cx="6350" cy="354013"/>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Rectangle 65"/>
              <p:cNvSpPr>
                <a:spLocks noChangeArrowheads="1"/>
              </p:cNvSpPr>
              <p:nvPr/>
            </p:nvSpPr>
            <p:spPr bwMode="auto">
              <a:xfrm>
                <a:off x="187325" y="4221163"/>
                <a:ext cx="3429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smtClean="0">
                    <a:ln>
                      <a:noFill/>
                    </a:ln>
                    <a:solidFill>
                      <a:srgbClr val="7030A0"/>
                    </a:solidFill>
                    <a:effectLst/>
                    <a:latin typeface="Times New Roman" panose="02020603050405020304" pitchFamily="18" charset="0"/>
                    <a:ea typeface="宋体" panose="02010600030101010101" pitchFamily="2" charset="-122"/>
                    <a:cs typeface="Times New Roman" panose="02020603050405020304" pitchFamily="18" charset="0"/>
                  </a:rPr>
                  <a:t>MEM</a:t>
                </a:r>
                <a:endParaRPr kumimoji="0" lang="en-US" altLang="zh-CN" sz="1800" b="0" i="0" u="none" strike="noStrike" cap="none" normalizeH="0" baseline="0" smtClean="0">
                  <a:ln>
                    <a:noFill/>
                  </a:ln>
                  <a:solidFill>
                    <a:schemeClr val="tx1"/>
                  </a:solidFill>
                  <a:effectLst/>
                  <a:latin typeface="Arial" panose="020B0604020202020204" pitchFamily="34" charset="0"/>
                </a:endParaRPr>
              </a:p>
            </p:txBody>
          </p:sp>
          <p:sp>
            <p:nvSpPr>
              <p:cNvPr id="72" name="Rectangle 7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3" name="Rectangle 106"/>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graphicFrame>
          <p:nvGraphicFramePr>
            <p:cNvPr id="75" name="Group 49"/>
            <p:cNvGraphicFramePr>
              <a:graphicFrameLocks/>
            </p:cNvGraphicFramePr>
            <p:nvPr>
              <p:extLst>
                <p:ext uri="{D42A27DB-BD31-4B8C-83A1-F6EECF244321}">
                  <p14:modId xmlns:p14="http://schemas.microsoft.com/office/powerpoint/2010/main" val="2692755703"/>
                </p:ext>
              </p:extLst>
            </p:nvPr>
          </p:nvGraphicFramePr>
          <p:xfrm>
            <a:off x="7928911" y="2416672"/>
            <a:ext cx="4161507" cy="3078480"/>
          </p:xfrm>
          <a:graphic>
            <a:graphicData uri="http://schemas.openxmlformats.org/drawingml/2006/table">
              <a:tbl>
                <a:tblPr/>
                <a:tblGrid>
                  <a:gridCol w="1035534">
                    <a:extLst>
                      <a:ext uri="{9D8B030D-6E8A-4147-A177-3AD203B41FA5}">
                        <a16:colId xmlns:a16="http://schemas.microsoft.com/office/drawing/2014/main" xmlns="" val="20000"/>
                      </a:ext>
                    </a:extLst>
                  </a:gridCol>
                  <a:gridCol w="946298">
                    <a:extLst>
                      <a:ext uri="{9D8B030D-6E8A-4147-A177-3AD203B41FA5}">
                        <a16:colId xmlns:a16="http://schemas.microsoft.com/office/drawing/2014/main" xmlns="" val="20001"/>
                      </a:ext>
                    </a:extLst>
                  </a:gridCol>
                  <a:gridCol w="1127051">
                    <a:extLst>
                      <a:ext uri="{9D8B030D-6E8A-4147-A177-3AD203B41FA5}">
                        <a16:colId xmlns:a16="http://schemas.microsoft.com/office/drawing/2014/main" xmlns="" val="20002"/>
                      </a:ext>
                    </a:extLst>
                  </a:gridCol>
                  <a:gridCol w="1052624">
                    <a:extLst>
                      <a:ext uri="{9D8B030D-6E8A-4147-A177-3AD203B41FA5}">
                        <a16:colId xmlns:a16="http://schemas.microsoft.com/office/drawing/2014/main" xmlns="" val="20003"/>
                      </a:ext>
                    </a:extLst>
                  </a:gridCol>
                </a:tblGrid>
                <a:tr h="955872">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E24C05"/>
                            </a:solidFill>
                            <a:effectLst/>
                            <a:latin typeface="宋体" pitchFamily="2" charset="-122"/>
                            <a:ea typeface="宋体" pitchFamily="2" charset="-122"/>
                          </a:rPr>
                          <a:t>指令在</a:t>
                        </a:r>
                        <a:r>
                          <a:rPr kumimoji="1" lang="en-US" altLang="zh-CN" sz="2000" b="0" i="0" u="none" strike="noStrike" cap="none" normalizeH="0" baseline="0" dirty="0" smtClean="0">
                            <a:ln>
                              <a:noFill/>
                            </a:ln>
                            <a:solidFill>
                              <a:srgbClr val="E24C05"/>
                            </a:solidFill>
                            <a:effectLst/>
                            <a:latin typeface="宋体" pitchFamily="2" charset="-122"/>
                            <a:ea typeface="宋体" pitchFamily="2" charset="-122"/>
                          </a:rPr>
                          <a:t>BTB</a:t>
                        </a:r>
                        <a:r>
                          <a:rPr kumimoji="1" lang="zh-CN" altLang="en-US" sz="2000" b="0" i="0" u="none" strike="noStrike" cap="none" normalizeH="0" baseline="0" dirty="0" smtClean="0">
                            <a:ln>
                              <a:noFill/>
                            </a:ln>
                            <a:solidFill>
                              <a:srgbClr val="E24C05"/>
                            </a:solidFill>
                            <a:effectLst/>
                            <a:latin typeface="宋体" pitchFamily="2" charset="-122"/>
                            <a:ea typeface="宋体" pitchFamily="2" charset="-122"/>
                          </a:rPr>
                          <a:t>中？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E24C05"/>
                            </a:solidFill>
                            <a:effectLst/>
                            <a:latin typeface="宋体" pitchFamily="2" charset="-122"/>
                            <a:ea typeface="宋体" pitchFamily="2" charset="-122"/>
                          </a:rPr>
                          <a:t>预测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E24C05"/>
                            </a:solidFill>
                            <a:effectLst/>
                            <a:latin typeface="宋体" pitchFamily="2" charset="-122"/>
                            <a:ea typeface="宋体" pitchFamily="2" charset="-122"/>
                          </a:rPr>
                          <a:t>实际</a:t>
                        </a:r>
                        <a:endParaRPr kumimoji="1" lang="en-US" altLang="zh-CN" sz="2000" b="0" i="0" u="none" strike="noStrike" cap="none" normalizeH="0" baseline="0" dirty="0" smtClean="0">
                          <a:ln>
                            <a:noFill/>
                          </a:ln>
                          <a:solidFill>
                            <a:srgbClr val="E24C05"/>
                          </a:solidFill>
                          <a:effectLst/>
                          <a:latin typeface="宋体" pitchFamily="2" charset="-122"/>
                          <a:ea typeface="宋体" pitchFamily="2" charset="-122"/>
                        </a:endParaRPr>
                      </a:p>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E24C05"/>
                            </a:solidFill>
                            <a:effectLst/>
                            <a:latin typeface="宋体" pitchFamily="2" charset="-122"/>
                            <a:ea typeface="宋体" pitchFamily="2" charset="-122"/>
                          </a:rPr>
                          <a:t>情况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E24C05"/>
                            </a:solidFill>
                            <a:effectLst/>
                            <a:latin typeface="宋体" pitchFamily="2" charset="-122"/>
                            <a:ea typeface="宋体" pitchFamily="2" charset="-122"/>
                          </a:rPr>
                          <a:t>延迟</a:t>
                        </a:r>
                        <a:endParaRPr kumimoji="1" lang="en-US" altLang="zh-CN" sz="2000" b="0" i="0" u="none" strike="noStrike" cap="none" normalizeH="0" baseline="0" dirty="0" smtClean="0">
                          <a:ln>
                            <a:noFill/>
                          </a:ln>
                          <a:solidFill>
                            <a:srgbClr val="E24C05"/>
                          </a:solidFill>
                          <a:effectLst/>
                          <a:latin typeface="宋体" pitchFamily="2" charset="-122"/>
                          <a:ea typeface="宋体" pitchFamily="2" charset="-122"/>
                        </a:endParaRPr>
                      </a:p>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E24C05"/>
                            </a:solidFill>
                            <a:effectLst/>
                            <a:latin typeface="宋体" pitchFamily="2" charset="-122"/>
                            <a:ea typeface="宋体" pitchFamily="2" charset="-122"/>
                          </a:rPr>
                          <a:t>周期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37017">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chemeClr val="tx1"/>
                            </a:solidFill>
                            <a:effectLst/>
                            <a:latin typeface="宋体" pitchFamily="2" charset="-122"/>
                            <a:ea typeface="宋体" pitchFamily="2" charset="-122"/>
                          </a:rPr>
                          <a:t>是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chemeClr val="tx1"/>
                            </a:solidFill>
                            <a:effectLst/>
                            <a:latin typeface="宋体" pitchFamily="2" charset="-122"/>
                            <a:ea typeface="宋体" pitchFamily="2" charset="-122"/>
                          </a:rPr>
                          <a:t>成功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chemeClr val="tx1"/>
                            </a:solidFill>
                            <a:effectLst/>
                            <a:latin typeface="宋体" pitchFamily="2" charset="-122"/>
                            <a:ea typeface="宋体" pitchFamily="2" charset="-122"/>
                          </a:rPr>
                          <a:t>成功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en-US" altLang="zh-CN" sz="2000" b="0" i="0" u="none" strike="noStrike" cap="none" normalizeH="0" baseline="0" dirty="0" smtClean="0">
                            <a:ln>
                              <a:noFill/>
                            </a:ln>
                            <a:solidFill>
                              <a:schemeClr val="tx1"/>
                            </a:solidFill>
                            <a:effectLst/>
                            <a:latin typeface="宋体" pitchFamily="2" charset="-122"/>
                            <a:ea typeface="宋体" pitchFamily="2" charset="-122"/>
                          </a:rPr>
                          <a:t>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93037">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FF66FF"/>
                            </a:solidFill>
                            <a:effectLst/>
                            <a:latin typeface="宋体" pitchFamily="2" charset="-122"/>
                            <a:ea typeface="宋体" pitchFamily="2" charset="-122"/>
                          </a:rPr>
                          <a:t>是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FF66FF"/>
                            </a:solidFill>
                            <a:effectLst/>
                            <a:latin typeface="宋体" pitchFamily="2" charset="-122"/>
                            <a:ea typeface="宋体" pitchFamily="2" charset="-122"/>
                          </a:rPr>
                          <a:t>成功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FF66FF"/>
                            </a:solidFill>
                            <a:effectLst/>
                            <a:latin typeface="宋体" pitchFamily="2" charset="-122"/>
                            <a:ea typeface="宋体" pitchFamily="2" charset="-122"/>
                          </a:rPr>
                          <a:t>不成功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en-US" altLang="zh-CN" sz="2000" b="0" i="0" u="none" strike="noStrike" cap="none" normalizeH="0" baseline="0" dirty="0" smtClean="0">
                            <a:ln>
                              <a:noFill/>
                            </a:ln>
                            <a:solidFill>
                              <a:srgbClr val="FF66FF"/>
                            </a:solidFill>
                            <a:effectLst/>
                            <a:latin typeface="宋体" pitchFamily="2" charset="-122"/>
                            <a:ea typeface="宋体" pitchFamily="2" charset="-122"/>
                          </a:rPr>
                          <a:t>2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14670">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17B913"/>
                            </a:solidFill>
                            <a:effectLst/>
                            <a:latin typeface="宋体" pitchFamily="2" charset="-122"/>
                            <a:ea typeface="宋体" pitchFamily="2" charset="-122"/>
                          </a:rPr>
                          <a:t>不是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endParaRPr kumimoji="1" lang="zh-CN" altLang="zh-CN" sz="2000" b="0" i="0" u="none" strike="noStrike" cap="none" normalizeH="0" baseline="0" dirty="0" smtClean="0">
                          <a:ln>
                            <a:noFill/>
                          </a:ln>
                          <a:solidFill>
                            <a:srgbClr val="17B913"/>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rgbClr val="17B913"/>
                            </a:solidFill>
                            <a:effectLst/>
                            <a:latin typeface="宋体" pitchFamily="2" charset="-122"/>
                            <a:ea typeface="宋体" pitchFamily="2" charset="-122"/>
                          </a:rPr>
                          <a:t>成功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en-US" altLang="zh-CN" sz="2000" b="0" i="0" u="none" strike="noStrike" cap="none" normalizeH="0" baseline="0" dirty="0" smtClean="0">
                            <a:ln>
                              <a:noFill/>
                            </a:ln>
                            <a:solidFill>
                              <a:srgbClr val="17B913"/>
                            </a:solidFill>
                            <a:effectLst/>
                            <a:latin typeface="宋体" pitchFamily="2" charset="-122"/>
                            <a:ea typeface="宋体" pitchFamily="2" charset="-122"/>
                          </a:rPr>
                          <a:t>2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70668">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chemeClr val="tx1"/>
                            </a:solidFill>
                            <a:effectLst/>
                            <a:latin typeface="宋体" pitchFamily="2" charset="-122"/>
                            <a:ea typeface="宋体" pitchFamily="2" charset="-122"/>
                          </a:rPr>
                          <a:t>不是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endParaRPr kumimoji="1" lang="zh-CN" altLang="zh-CN" sz="2000" b="0" i="0" u="none" strike="noStrike" cap="none" normalizeH="0" baseline="0" dirty="0" smtClean="0">
                          <a:ln>
                            <a:noFill/>
                          </a:ln>
                          <a:solidFill>
                            <a:schemeClr val="tx1"/>
                          </a:solidFill>
                          <a:effectLst/>
                          <a:latin typeface="宋体" pitchFamily="2" charset="-122"/>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dirty="0" smtClean="0">
                            <a:ln>
                              <a:noFill/>
                            </a:ln>
                            <a:solidFill>
                              <a:schemeClr val="tx1"/>
                            </a:solidFill>
                            <a:effectLst/>
                            <a:latin typeface="宋体" pitchFamily="2" charset="-122"/>
                            <a:ea typeface="宋体" pitchFamily="2" charset="-122"/>
                          </a:rPr>
                          <a:t>不成功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en-US" altLang="zh-CN" sz="2000" b="0" i="0" u="none" strike="noStrike" cap="none" normalizeH="0" baseline="0" dirty="0" smtClean="0">
                            <a:ln>
                              <a:noFill/>
                            </a:ln>
                            <a:solidFill>
                              <a:schemeClr val="tx1"/>
                            </a:solidFill>
                            <a:effectLst/>
                            <a:latin typeface="宋体" pitchFamily="2" charset="-122"/>
                            <a:ea typeface="宋体" pitchFamily="2" charset="-122"/>
                          </a:rPr>
                          <a:t>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76" name="Rectangle 49"/>
            <p:cNvSpPr>
              <a:spLocks noChangeArrowheads="1"/>
            </p:cNvSpPr>
            <p:nvPr/>
          </p:nvSpPr>
          <p:spPr bwMode="auto">
            <a:xfrm>
              <a:off x="1760774" y="1988272"/>
              <a:ext cx="1387475" cy="212725"/>
            </a:xfrm>
            <a:prstGeom prst="rect">
              <a:avLst/>
            </a:prstGeom>
            <a:solidFill>
              <a:srgbClr val="FFFF99"/>
            </a:solidFill>
            <a:ln w="8890">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77" name="Rectangle 15"/>
            <p:cNvSpPr>
              <a:spLocks noChangeArrowheads="1"/>
            </p:cNvSpPr>
            <p:nvPr/>
          </p:nvSpPr>
          <p:spPr bwMode="auto">
            <a:xfrm>
              <a:off x="2161694" y="2043042"/>
              <a:ext cx="693465"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en-US" sz="9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900" b="1" dirty="0" smtClean="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NPC</a:t>
              </a:r>
              <a:endParaRPr kumimoji="0" lang="zh-CN" altLang="zh-CN" sz="1800" b="0" i="0" u="none" strike="noStrike" cap="none" normalizeH="0" baseline="0" dirty="0" smtClean="0">
                <a:ln>
                  <a:noFill/>
                </a:ln>
                <a:solidFill>
                  <a:schemeClr val="tx1"/>
                </a:solidFill>
                <a:effectLst/>
                <a:latin typeface="Arial" panose="020B0604020202020204" pitchFamily="34" charset="0"/>
              </a:endParaRPr>
            </a:p>
          </p:txBody>
        </p:sp>
        <p:sp>
          <p:nvSpPr>
            <p:cNvPr id="78" name="Line 16"/>
            <p:cNvSpPr>
              <a:spLocks noChangeShapeType="1"/>
            </p:cNvSpPr>
            <p:nvPr/>
          </p:nvSpPr>
          <p:spPr bwMode="auto">
            <a:xfrm flipH="1">
              <a:off x="2448694" y="1671514"/>
              <a:ext cx="2341" cy="31517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Line 16"/>
            <p:cNvSpPr>
              <a:spLocks noChangeShapeType="1"/>
            </p:cNvSpPr>
            <p:nvPr/>
          </p:nvSpPr>
          <p:spPr bwMode="auto">
            <a:xfrm flipH="1">
              <a:off x="2429030" y="2200997"/>
              <a:ext cx="6662" cy="31114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Line 16"/>
            <p:cNvSpPr>
              <a:spLocks noChangeShapeType="1"/>
            </p:cNvSpPr>
            <p:nvPr/>
          </p:nvSpPr>
          <p:spPr bwMode="auto">
            <a:xfrm flipH="1">
              <a:off x="5003242" y="2289051"/>
              <a:ext cx="0" cy="22841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Line 4"/>
            <p:cNvSpPr>
              <a:spLocks noChangeShapeType="1"/>
            </p:cNvSpPr>
            <p:nvPr/>
          </p:nvSpPr>
          <p:spPr bwMode="auto">
            <a:xfrm>
              <a:off x="4280137" y="4436197"/>
              <a:ext cx="12126" cy="354013"/>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84" name="矩形标注 83"/>
          <p:cNvSpPr>
            <a:spLocks noChangeArrowheads="1"/>
          </p:cNvSpPr>
          <p:nvPr/>
        </p:nvSpPr>
        <p:spPr bwMode="auto">
          <a:xfrm>
            <a:off x="237414" y="1186123"/>
            <a:ext cx="2251075" cy="990600"/>
          </a:xfrm>
          <a:prstGeom prst="wedgeRectCallout">
            <a:avLst>
              <a:gd name="adj1" fmla="val 32366"/>
              <a:gd name="adj2" fmla="val 79042"/>
            </a:avLst>
          </a:prstGeom>
          <a:solidFill>
            <a:schemeClr val="accent6">
              <a:lumMod val="20000"/>
              <a:lumOff val="80000"/>
            </a:schemeClr>
          </a:solidFill>
          <a:ln w="31750" algn="ctr">
            <a:solidFill>
              <a:schemeClr val="accent2"/>
            </a:solidFill>
            <a:round/>
            <a:headEnd/>
            <a:tailEnd/>
          </a:ln>
        </p:spPr>
        <p:txBody>
          <a:bodyPr/>
          <a:lstStyle>
            <a:lvl1pPr marL="95250" indent="-95250">
              <a:lnSpc>
                <a:spcPct val="120000"/>
              </a:lnSpc>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1pPr>
            <a:lvl2pPr marL="742950" indent="-285750">
              <a:lnSpc>
                <a:spcPct val="120000"/>
              </a:lnSpc>
              <a:spcBef>
                <a:spcPct val="20000"/>
              </a:spcBef>
              <a:buClr>
                <a:schemeClr val="hlink"/>
              </a:buClr>
              <a:buSzPct val="55000"/>
              <a:buFont typeface="Wingdings" panose="05000000000000000000" pitchFamily="2" charset="2"/>
              <a:buChar char="n"/>
              <a:defRPr sz="2200" b="1">
                <a:solidFill>
                  <a:schemeClr val="tx1"/>
                </a:solidFill>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85725" indent="-85725" fontAlgn="base">
              <a:lnSpc>
                <a:spcPct val="100000"/>
              </a:lnSpc>
              <a:spcBef>
                <a:spcPct val="0"/>
              </a:spcBef>
              <a:spcAft>
                <a:spcPct val="0"/>
              </a:spcAft>
              <a:buClrTx/>
              <a:buSzPct val="100000"/>
              <a:buFont typeface="+mj-ea"/>
              <a:buAutoNum type="circleNumDbPlain"/>
            </a:pPr>
            <a:r>
              <a:rPr lang="zh-CN" altLang="en-US" sz="1800" b="0" dirty="0">
                <a:solidFill>
                  <a:srgbClr val="000000"/>
                </a:solidFill>
              </a:rPr>
              <a:t>之前不成功的分支</a:t>
            </a:r>
          </a:p>
          <a:p>
            <a:pPr marL="85725" indent="-85725" fontAlgn="base">
              <a:lnSpc>
                <a:spcPct val="100000"/>
              </a:lnSpc>
              <a:spcBef>
                <a:spcPct val="0"/>
              </a:spcBef>
              <a:spcAft>
                <a:spcPct val="0"/>
              </a:spcAft>
              <a:buClrTx/>
              <a:buSzPct val="100000"/>
              <a:buFont typeface="+mj-ea"/>
              <a:buAutoNum type="circleNumDbPlain"/>
            </a:pPr>
            <a:r>
              <a:rPr lang="zh-CN" altLang="en-US" sz="1800" b="0" dirty="0">
                <a:solidFill>
                  <a:srgbClr val="000000"/>
                </a:solidFill>
              </a:rPr>
              <a:t>未执行过的分支</a:t>
            </a:r>
          </a:p>
          <a:p>
            <a:pPr marL="85725" indent="-85725" fontAlgn="base">
              <a:lnSpc>
                <a:spcPct val="100000"/>
              </a:lnSpc>
              <a:spcBef>
                <a:spcPct val="0"/>
              </a:spcBef>
              <a:spcAft>
                <a:spcPct val="0"/>
              </a:spcAft>
              <a:buClrTx/>
              <a:buSzPct val="100000"/>
              <a:buFont typeface="+mj-ea"/>
              <a:buAutoNum type="circleNumDbPlain"/>
            </a:pPr>
            <a:r>
              <a:rPr lang="zh-CN" altLang="en-US" sz="1800" b="0" dirty="0">
                <a:solidFill>
                  <a:srgbClr val="000000"/>
                </a:solidFill>
              </a:rPr>
              <a:t>普通指令</a:t>
            </a:r>
          </a:p>
        </p:txBody>
      </p:sp>
      <p:sp>
        <p:nvSpPr>
          <p:cNvPr id="85" name="Rectangle 3"/>
          <p:cNvSpPr txBox="1">
            <a:spLocks noChangeArrowheads="1"/>
          </p:cNvSpPr>
          <p:nvPr/>
        </p:nvSpPr>
        <p:spPr>
          <a:xfrm>
            <a:off x="-368197" y="82550"/>
            <a:ext cx="8937625" cy="10795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11200" indent="-711200">
              <a:buFont typeface="Arial" panose="020B0604020202020204" pitchFamily="34" charset="0"/>
              <a:buNone/>
            </a:pPr>
            <a:r>
              <a:rPr lang="en-US" altLang="zh-CN" sz="2000" dirty="0" smtClean="0">
                <a:latin typeface="宋体" panose="02010600030101010101" pitchFamily="2" charset="-122"/>
                <a:ea typeface="宋体" panose="02010600030101010101" pitchFamily="2" charset="-122"/>
              </a:rPr>
              <a:t>    </a:t>
            </a:r>
            <a:r>
              <a:rPr lang="en-US" altLang="zh-CN" dirty="0" smtClean="0">
                <a:latin typeface="宋体" panose="02010600030101010101" pitchFamily="2" charset="-122"/>
                <a:ea typeface="宋体" panose="02010600030101010101" pitchFamily="2" charset="-122"/>
              </a:rPr>
              <a:t>3.</a:t>
            </a:r>
            <a:r>
              <a:rPr lang="zh-CN" altLang="en-US" dirty="0" smtClean="0">
                <a:latin typeface="宋体" panose="02010600030101010101" pitchFamily="2" charset="-122"/>
                <a:ea typeface="宋体" panose="02010600030101010101" pitchFamily="2" charset="-122"/>
              </a:rPr>
              <a:t>采用</a:t>
            </a:r>
            <a:r>
              <a:rPr lang="en-US" altLang="zh-CN" dirty="0" smtClean="0">
                <a:latin typeface="宋体" panose="02010600030101010101" pitchFamily="2" charset="-122"/>
                <a:ea typeface="宋体" panose="02010600030101010101" pitchFamily="2" charset="-122"/>
              </a:rPr>
              <a:t>BTB</a:t>
            </a:r>
            <a:r>
              <a:rPr lang="zh-CN" altLang="en-US" dirty="0" smtClean="0">
                <a:latin typeface="宋体" panose="02010600030101010101" pitchFamily="2" charset="-122"/>
                <a:ea typeface="宋体" panose="02010600030101010101" pitchFamily="2" charset="-122"/>
              </a:rPr>
              <a:t>后，在流水线各个阶段所进行的相关操作： </a:t>
            </a:r>
          </a:p>
        </p:txBody>
      </p:sp>
      <p:sp>
        <p:nvSpPr>
          <p:cNvPr id="86" name="矩形 85"/>
          <p:cNvSpPr/>
          <p:nvPr/>
        </p:nvSpPr>
        <p:spPr>
          <a:xfrm>
            <a:off x="6714981" y="794858"/>
            <a:ext cx="5255942" cy="2308324"/>
          </a:xfrm>
          <a:prstGeom prst="rect">
            <a:avLst/>
          </a:prstGeom>
        </p:spPr>
        <p:txBody>
          <a:bodyPr wrap="square">
            <a:spAutoFit/>
          </a:bodyPr>
          <a:lstStyle/>
          <a:p>
            <a:r>
              <a:rPr lang="zh-CN" altLang="en-US" dirty="0" smtClean="0">
                <a:solidFill>
                  <a:srgbClr val="000000"/>
                </a:solidFill>
                <a:latin typeface="宋体" panose="02010600030101010101" pitchFamily="2" charset="-122"/>
                <a:ea typeface="宋体" panose="02010600030101010101" pitchFamily="2" charset="-122"/>
              </a:rPr>
              <a:t>   如果</a:t>
            </a:r>
            <a:r>
              <a:rPr lang="zh-CN" altLang="en-US" dirty="0">
                <a:solidFill>
                  <a:srgbClr val="000000"/>
                </a:solidFill>
                <a:latin typeface="宋体" panose="02010600030101010101" pitchFamily="2" charset="-122"/>
                <a:ea typeface="宋体" panose="02010600030101010101" pitchFamily="2" charset="-122"/>
              </a:rPr>
              <a:t>预测错误或在</a:t>
            </a:r>
            <a:r>
              <a:rPr lang="en-US" altLang="zh-CN" dirty="0">
                <a:solidFill>
                  <a:srgbClr val="000000"/>
                </a:solidFill>
                <a:latin typeface="宋体" panose="02010600030101010101" pitchFamily="2" charset="-122"/>
                <a:ea typeface="宋体" panose="02010600030101010101" pitchFamily="2" charset="-122"/>
              </a:rPr>
              <a:t>BTB</a:t>
            </a:r>
            <a:r>
              <a:rPr lang="zh-CN" altLang="en-US" dirty="0">
                <a:solidFill>
                  <a:srgbClr val="000000"/>
                </a:solidFill>
                <a:latin typeface="宋体" panose="02010600030101010101" pitchFamily="2" charset="-122"/>
                <a:ea typeface="宋体" panose="02010600030101010101" pitchFamily="2" charset="-122"/>
              </a:rPr>
              <a:t>中没有匹配的项，要有至少</a:t>
            </a:r>
            <a:r>
              <a:rPr lang="en-US" altLang="zh-CN" dirty="0">
                <a:solidFill>
                  <a:srgbClr val="000000"/>
                </a:solidFill>
                <a:latin typeface="宋体" panose="02010600030101010101" pitchFamily="2" charset="-122"/>
                <a:ea typeface="宋体" panose="02010600030101010101" pitchFamily="2" charset="-122"/>
              </a:rPr>
              <a:t>2</a:t>
            </a:r>
            <a:r>
              <a:rPr lang="zh-CN" altLang="en-US" dirty="0">
                <a:solidFill>
                  <a:srgbClr val="000000"/>
                </a:solidFill>
                <a:latin typeface="宋体" panose="02010600030101010101" pitchFamily="2" charset="-122"/>
                <a:ea typeface="宋体" panose="02010600030101010101" pitchFamily="2" charset="-122"/>
              </a:rPr>
              <a:t>个时钟周期的开销。</a:t>
            </a:r>
            <a:endParaRPr lang="en-US" altLang="zh-CN" dirty="0">
              <a:solidFill>
                <a:srgbClr val="000000"/>
              </a:solidFill>
              <a:latin typeface="宋体" panose="02010600030101010101" pitchFamily="2" charset="-122"/>
              <a:ea typeface="宋体" panose="02010600030101010101" pitchFamily="2" charset="-122"/>
            </a:endParaRPr>
          </a:p>
          <a:p>
            <a:r>
              <a:rPr lang="en-US" altLang="zh-CN" dirty="0">
                <a:solidFill>
                  <a:srgbClr val="000000"/>
                </a:solidFill>
                <a:latin typeface="宋体" panose="02010600030101010101" pitchFamily="2" charset="-122"/>
                <a:ea typeface="宋体" panose="02010600030101010101" pitchFamily="2" charset="-122"/>
              </a:rPr>
              <a:t>   </a:t>
            </a:r>
            <a:r>
              <a:rPr lang="zh-CN" altLang="en-US" dirty="0">
                <a:solidFill>
                  <a:srgbClr val="000000"/>
                </a:solidFill>
                <a:latin typeface="宋体" panose="02010600030101010101" pitchFamily="2" charset="-122"/>
                <a:ea typeface="宋体" panose="02010600030101010101" pitchFamily="2" charset="-122"/>
              </a:rPr>
              <a:t>因为：</a:t>
            </a:r>
            <a:endParaRPr lang="en-US" altLang="zh-CN" dirty="0">
              <a:solidFill>
                <a:srgbClr val="000000"/>
              </a:solidFill>
              <a:latin typeface="宋体" panose="02010600030101010101" pitchFamily="2" charset="-122"/>
              <a:ea typeface="宋体" panose="02010600030101010101" pitchFamily="2" charset="-122"/>
            </a:endParaRPr>
          </a:p>
          <a:p>
            <a:pPr marL="1079500" indent="-365125"/>
            <a:r>
              <a:rPr lang="en-US" altLang="zh-CN" dirty="0">
                <a:solidFill>
                  <a:srgbClr val="000000"/>
                </a:solidFill>
                <a:latin typeface="宋体" panose="02010600030101010101" pitchFamily="2" charset="-122"/>
                <a:ea typeface="宋体" panose="02010600030101010101" pitchFamily="2" charset="-122"/>
              </a:rPr>
              <a:t>① </a:t>
            </a:r>
            <a:r>
              <a:rPr lang="zh-CN" altLang="en-US" dirty="0">
                <a:solidFill>
                  <a:srgbClr val="000000"/>
                </a:solidFill>
                <a:latin typeface="宋体" panose="02010600030101010101" pitchFamily="2" charset="-122"/>
                <a:ea typeface="宋体" panose="02010600030101010101" pitchFamily="2" charset="-122"/>
              </a:rPr>
              <a:t>需要更新</a:t>
            </a:r>
            <a:r>
              <a:rPr lang="en-US" altLang="zh-CN" dirty="0">
                <a:solidFill>
                  <a:srgbClr val="000000"/>
                </a:solidFill>
                <a:latin typeface="宋体" panose="02010600030101010101" pitchFamily="2" charset="-122"/>
                <a:ea typeface="宋体" panose="02010600030101010101" pitchFamily="2" charset="-122"/>
              </a:rPr>
              <a:t>BTB</a:t>
            </a:r>
            <a:r>
              <a:rPr lang="zh-CN" altLang="en-US" dirty="0">
                <a:solidFill>
                  <a:srgbClr val="000000"/>
                </a:solidFill>
                <a:latin typeface="宋体" panose="02010600030101010101" pitchFamily="2" charset="-122"/>
                <a:ea typeface="宋体" panose="02010600030101010101" pitchFamily="2" charset="-122"/>
              </a:rPr>
              <a:t>中的项，要花费一个时钟周期；</a:t>
            </a:r>
            <a:endParaRPr lang="en-US" altLang="zh-CN" dirty="0">
              <a:solidFill>
                <a:srgbClr val="000000"/>
              </a:solidFill>
              <a:latin typeface="宋体" panose="02010600030101010101" pitchFamily="2" charset="-122"/>
              <a:ea typeface="宋体" panose="02010600030101010101" pitchFamily="2" charset="-122"/>
            </a:endParaRPr>
          </a:p>
          <a:p>
            <a:pPr marL="1079500" indent="-365125"/>
            <a:r>
              <a:rPr lang="zh-CN" altLang="en-US" dirty="0">
                <a:solidFill>
                  <a:srgbClr val="000000"/>
                </a:solidFill>
                <a:latin typeface="宋体" panose="02010600030101010101" pitchFamily="2" charset="-122"/>
                <a:ea typeface="宋体" panose="02010600030101010101" pitchFamily="2" charset="-122"/>
              </a:rPr>
              <a:t>② 在更新</a:t>
            </a:r>
            <a:r>
              <a:rPr lang="en-US" altLang="zh-CN" dirty="0">
                <a:solidFill>
                  <a:srgbClr val="000000"/>
                </a:solidFill>
                <a:latin typeface="宋体" panose="02010600030101010101" pitchFamily="2" charset="-122"/>
                <a:ea typeface="宋体" panose="02010600030101010101" pitchFamily="2" charset="-122"/>
              </a:rPr>
              <a:t>BTB </a:t>
            </a:r>
            <a:r>
              <a:rPr lang="zh-CN" altLang="en-US" dirty="0">
                <a:solidFill>
                  <a:srgbClr val="000000"/>
                </a:solidFill>
                <a:latin typeface="宋体" panose="02010600030101010101" pitchFamily="2" charset="-122"/>
                <a:ea typeface="宋体" panose="02010600030101010101" pitchFamily="2" charset="-122"/>
              </a:rPr>
              <a:t>中的项时，要停止取指令，那么取新的   指令又要花费一个时钟周期。 </a:t>
            </a:r>
          </a:p>
        </p:txBody>
      </p:sp>
    </p:spTree>
    <p:extLst>
      <p:ext uri="{BB962C8B-B14F-4D97-AF65-F5344CB8AC3E}">
        <p14:creationId xmlns:p14="http://schemas.microsoft.com/office/powerpoint/2010/main" val="3287197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p:cTn id="7" dur="500" fill="hold"/>
                                        <p:tgtEl>
                                          <p:spTgt spid="84"/>
                                        </p:tgtEl>
                                        <p:attrNameLst>
                                          <p:attrName>ppt_w</p:attrName>
                                        </p:attrNameLst>
                                      </p:cBhvr>
                                      <p:tavLst>
                                        <p:tav tm="0">
                                          <p:val>
                                            <p:fltVal val="0"/>
                                          </p:val>
                                        </p:tav>
                                        <p:tav tm="100000">
                                          <p:val>
                                            <p:strVal val="#ppt_w"/>
                                          </p:val>
                                        </p:tav>
                                      </p:tavLst>
                                    </p:anim>
                                    <p:anim calcmode="lin" valueType="num">
                                      <p:cBhvr>
                                        <p:cTn id="8" dur="500" fill="hold"/>
                                        <p:tgtEl>
                                          <p:spTgt spid="84"/>
                                        </p:tgtEl>
                                        <p:attrNameLst>
                                          <p:attrName>ppt_h</p:attrName>
                                        </p:attrNameLst>
                                      </p:cBhvr>
                                      <p:tavLst>
                                        <p:tav tm="0">
                                          <p:val>
                                            <p:fltVal val="0"/>
                                          </p:val>
                                        </p:tav>
                                        <p:tav tm="100000">
                                          <p:val>
                                            <p:strVal val="#ppt_h"/>
                                          </p:val>
                                        </p:tav>
                                      </p:tavLst>
                                    </p:anim>
                                    <p:animEffect transition="in" filter="fade">
                                      <p:cBhvr>
                                        <p:cTn id="9" dur="500"/>
                                        <p:tgtEl>
                                          <p:spTgt spid="84"/>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xit" presetSubtype="4" fill="hold" grpId="1" nodeType="clickEffect">
                                  <p:stCondLst>
                                    <p:cond delay="0"/>
                                  </p:stCondLst>
                                  <p:childTnLst>
                                    <p:animEffect transition="out" filter="wipe(down)">
                                      <p:cBhvr>
                                        <p:cTn id="13" dur="500"/>
                                        <p:tgtEl>
                                          <p:spTgt spid="84"/>
                                        </p:tgtEl>
                                      </p:cBhvr>
                                    </p:animEffect>
                                    <p:set>
                                      <p:cBhvr>
                                        <p:cTn id="14" dur="1" fill="hold">
                                          <p:stCondLst>
                                            <p:cond delay="499"/>
                                          </p:stCondLst>
                                        </p:cTn>
                                        <p:tgtEl>
                                          <p:spTgt spid="8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4" grpId="1" animBg="1"/>
    </p:bld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文本占位符 2" descr="Rectangle: Click to edit Master text styles&#10;Second level&#10;Third level&#10;Fourth level&#10;Fifth level"/>
          <p:cNvSpPr>
            <a:spLocks noGrp="1"/>
          </p:cNvSpPr>
          <p:nvPr>
            <p:ph type="body" sz="half" idx="1"/>
          </p:nvPr>
        </p:nvSpPr>
        <p:spPr>
          <a:xfrm>
            <a:off x="817549" y="643131"/>
            <a:ext cx="9488679" cy="4953000"/>
          </a:xfrm>
        </p:spPr>
        <p:txBody>
          <a:bodyPr/>
          <a:lstStyle/>
          <a:p>
            <a:pPr marL="0" indent="0">
              <a:buNone/>
              <a:defRPr/>
            </a:pPr>
            <a:r>
              <a:rPr lang="en-US" altLang="zh-CN" sz="2400" dirty="0" smtClean="0">
                <a:latin typeface="宋体" panose="02010600030101010101" pitchFamily="2" charset="-122"/>
                <a:ea typeface="宋体" panose="02010600030101010101" pitchFamily="2" charset="-122"/>
              </a:rPr>
              <a:t>4. </a:t>
            </a:r>
            <a:r>
              <a:rPr lang="zh-CN" altLang="en-US" sz="2400" dirty="0" smtClean="0">
                <a:latin typeface="宋体" panose="02010600030101010101" pitchFamily="2" charset="-122"/>
                <a:ea typeface="宋体" panose="02010600030101010101" pitchFamily="2" charset="-122"/>
              </a:rPr>
              <a:t>举例：</a:t>
            </a:r>
            <a:endParaRPr lang="en-US" altLang="zh-CN" sz="2400" dirty="0" smtClean="0">
              <a:latin typeface="宋体" panose="02010600030101010101" pitchFamily="2" charset="-122"/>
              <a:ea typeface="宋体" panose="02010600030101010101" pitchFamily="2" charset="-122"/>
            </a:endParaRPr>
          </a:p>
          <a:p>
            <a:pPr marL="0" indent="0">
              <a:buNone/>
              <a:defRPr/>
            </a:pPr>
            <a:r>
              <a:rPr lang="zh-CN" altLang="en-US" sz="2400" dirty="0" smtClean="0">
                <a:latin typeface="宋体" panose="02010600030101010101" pitchFamily="2" charset="-122"/>
                <a:ea typeface="宋体" panose="02010600030101010101" pitchFamily="2" charset="-122"/>
              </a:rPr>
              <a:t>    假设有一条长流水线，仅仅对条件转移指令使用分支目标缓冲。假设分支预测错误的开销为</a:t>
            </a:r>
            <a:r>
              <a:rPr lang="en-US" altLang="zh-CN" sz="2400" dirty="0" smtClean="0">
                <a:latin typeface="宋体" panose="02010600030101010101" pitchFamily="2" charset="-122"/>
                <a:ea typeface="宋体" panose="02010600030101010101" pitchFamily="2" charset="-122"/>
              </a:rPr>
              <a:t>4</a:t>
            </a:r>
            <a:r>
              <a:rPr lang="zh-CN" altLang="en-US" sz="2400" dirty="0" smtClean="0">
                <a:latin typeface="宋体" panose="02010600030101010101" pitchFamily="2" charset="-122"/>
                <a:ea typeface="宋体" panose="02010600030101010101" pitchFamily="2" charset="-122"/>
              </a:rPr>
              <a:t>个时钟周期，缓冲不命中的开销为</a:t>
            </a:r>
            <a:r>
              <a:rPr lang="en-US" altLang="zh-CN" sz="2400" dirty="0" smtClean="0">
                <a:latin typeface="宋体" panose="02010600030101010101" pitchFamily="2" charset="-122"/>
                <a:ea typeface="宋体" panose="02010600030101010101" pitchFamily="2" charset="-122"/>
              </a:rPr>
              <a:t>3</a:t>
            </a:r>
            <a:r>
              <a:rPr lang="zh-CN" altLang="en-US" sz="2400" dirty="0" smtClean="0">
                <a:latin typeface="宋体" panose="02010600030101010101" pitchFamily="2" charset="-122"/>
                <a:ea typeface="宋体" panose="02010600030101010101" pitchFamily="2" charset="-122"/>
              </a:rPr>
              <a:t>个时钟周期。假设：命中率为</a:t>
            </a:r>
            <a:r>
              <a:rPr lang="en-US" altLang="zh-CN" sz="2400" dirty="0" smtClean="0">
                <a:latin typeface="宋体" panose="02010600030101010101" pitchFamily="2" charset="-122"/>
                <a:ea typeface="宋体" panose="02010600030101010101" pitchFamily="2" charset="-122"/>
              </a:rPr>
              <a:t>90%</a:t>
            </a:r>
            <a:r>
              <a:rPr lang="zh-CN" altLang="en-US" sz="2400" dirty="0" smtClean="0">
                <a:latin typeface="宋体" panose="02010600030101010101" pitchFamily="2" charset="-122"/>
                <a:ea typeface="宋体" panose="02010600030101010101" pitchFamily="2" charset="-122"/>
              </a:rPr>
              <a:t>，预测精度为</a:t>
            </a:r>
            <a:r>
              <a:rPr lang="en-US" altLang="zh-CN" sz="2400" dirty="0" smtClean="0">
                <a:latin typeface="宋体" panose="02010600030101010101" pitchFamily="2" charset="-122"/>
                <a:ea typeface="宋体" panose="02010600030101010101" pitchFamily="2" charset="-122"/>
              </a:rPr>
              <a:t>90%</a:t>
            </a:r>
            <a:r>
              <a:rPr lang="zh-CN" altLang="en-US" sz="2400" dirty="0" smtClean="0">
                <a:latin typeface="宋体" panose="02010600030101010101" pitchFamily="2" charset="-122"/>
                <a:ea typeface="宋体" panose="02010600030101010101" pitchFamily="2" charset="-122"/>
              </a:rPr>
              <a:t>，分支频率为</a:t>
            </a:r>
            <a:r>
              <a:rPr lang="en-US" altLang="zh-CN" sz="2400" dirty="0" smtClean="0">
                <a:latin typeface="宋体" panose="02010600030101010101" pitchFamily="2" charset="-122"/>
                <a:ea typeface="宋体" panose="02010600030101010101" pitchFamily="2" charset="-122"/>
              </a:rPr>
              <a:t>15%</a:t>
            </a:r>
            <a:r>
              <a:rPr lang="zh-CN" altLang="en-US" sz="2400" dirty="0" smtClean="0">
                <a:latin typeface="宋体" panose="02010600030101010101" pitchFamily="2" charset="-122"/>
                <a:ea typeface="宋体" panose="02010600030101010101" pitchFamily="2" charset="-122"/>
              </a:rPr>
              <a:t>，没有分支的基本</a:t>
            </a:r>
            <a:r>
              <a:rPr lang="en-US" altLang="zh-CN" sz="2400" dirty="0" smtClean="0">
                <a:latin typeface="宋体" panose="02010600030101010101" pitchFamily="2" charset="-122"/>
                <a:ea typeface="宋体" panose="02010600030101010101" pitchFamily="2" charset="-122"/>
              </a:rPr>
              <a:t>CPI</a:t>
            </a:r>
            <a:r>
              <a:rPr lang="zh-CN" altLang="en-US" sz="2400" dirty="0" smtClean="0">
                <a:latin typeface="宋体" panose="02010600030101010101" pitchFamily="2" charset="-122"/>
                <a:ea typeface="宋体" panose="02010600030101010101" pitchFamily="2" charset="-122"/>
              </a:rPr>
              <a:t>为</a:t>
            </a:r>
            <a:r>
              <a:rPr lang="en-US" altLang="zh-CN" sz="2400" dirty="0" smtClean="0">
                <a:latin typeface="宋体" panose="02010600030101010101" pitchFamily="2" charset="-122"/>
                <a:ea typeface="宋体" panose="02010600030101010101" pitchFamily="2" charset="-122"/>
              </a:rPr>
              <a:t>1</a:t>
            </a:r>
            <a:r>
              <a:rPr lang="zh-CN" altLang="en-US" sz="2400" dirty="0" smtClean="0">
                <a:latin typeface="宋体" panose="02010600030101010101" pitchFamily="2" charset="-122"/>
                <a:ea typeface="宋体" panose="02010600030101010101" pitchFamily="2" charset="-122"/>
              </a:rPr>
              <a:t>。</a:t>
            </a:r>
          </a:p>
          <a:p>
            <a:pPr marL="0" indent="627063">
              <a:buNone/>
              <a:defRPr/>
            </a:pPr>
            <a:r>
              <a:rPr lang="zh-CN" altLang="en-US" sz="2400" dirty="0" smtClean="0">
                <a:latin typeface="宋体" panose="02010600030101010101" pitchFamily="2" charset="-122"/>
                <a:ea typeface="宋体" panose="02010600030101010101" pitchFamily="2" charset="-122"/>
              </a:rPr>
              <a:t>（</a:t>
            </a:r>
            <a:r>
              <a:rPr lang="en-US" altLang="zh-CN" sz="2400" dirty="0" smtClean="0">
                <a:latin typeface="宋体" panose="02010600030101010101" pitchFamily="2" charset="-122"/>
                <a:ea typeface="宋体" panose="02010600030101010101" pitchFamily="2" charset="-122"/>
              </a:rPr>
              <a:t>1</a:t>
            </a:r>
            <a:r>
              <a:rPr lang="zh-CN" altLang="en-US" sz="2400" dirty="0" smtClean="0">
                <a:latin typeface="宋体" panose="02010600030101010101" pitchFamily="2" charset="-122"/>
                <a:ea typeface="宋体" panose="02010600030101010101" pitchFamily="2" charset="-122"/>
              </a:rPr>
              <a:t>）求程序执行的</a:t>
            </a:r>
            <a:r>
              <a:rPr lang="en-US" altLang="zh-CN" sz="2400" dirty="0" smtClean="0">
                <a:latin typeface="宋体" panose="02010600030101010101" pitchFamily="2" charset="-122"/>
                <a:ea typeface="宋体" panose="02010600030101010101" pitchFamily="2" charset="-122"/>
              </a:rPr>
              <a:t>CPI</a:t>
            </a:r>
            <a:r>
              <a:rPr lang="zh-CN" altLang="en-US" sz="2400" dirty="0" smtClean="0">
                <a:latin typeface="宋体" panose="02010600030101010101" pitchFamily="2" charset="-122"/>
                <a:ea typeface="宋体" panose="02010600030101010101" pitchFamily="2" charset="-122"/>
              </a:rPr>
              <a:t>。</a:t>
            </a:r>
          </a:p>
          <a:p>
            <a:pPr marL="0" indent="627063">
              <a:buNone/>
              <a:defRPr/>
            </a:pPr>
            <a:r>
              <a:rPr lang="zh-CN" altLang="en-US" sz="2400" dirty="0" smtClean="0">
                <a:latin typeface="宋体" panose="02010600030101010101" pitchFamily="2" charset="-122"/>
                <a:ea typeface="宋体" panose="02010600030101010101" pitchFamily="2" charset="-122"/>
              </a:rPr>
              <a:t>（</a:t>
            </a:r>
            <a:r>
              <a:rPr lang="en-US" altLang="zh-CN" sz="2400" dirty="0" smtClean="0">
                <a:latin typeface="宋体" panose="02010600030101010101" pitchFamily="2" charset="-122"/>
                <a:ea typeface="宋体" panose="02010600030101010101" pitchFamily="2" charset="-122"/>
              </a:rPr>
              <a:t>2</a:t>
            </a:r>
            <a:r>
              <a:rPr lang="zh-CN" altLang="en-US" sz="2400" dirty="0" smtClean="0">
                <a:latin typeface="宋体" panose="02010600030101010101" pitchFamily="2" charset="-122"/>
                <a:ea typeface="宋体" panose="02010600030101010101" pitchFamily="2" charset="-122"/>
              </a:rPr>
              <a:t>）相对于采用固定的</a:t>
            </a:r>
            <a:r>
              <a:rPr lang="en-US" altLang="zh-CN" sz="2400" dirty="0" smtClean="0">
                <a:latin typeface="宋体" panose="02010600030101010101" pitchFamily="2" charset="-122"/>
                <a:ea typeface="宋体" panose="02010600030101010101" pitchFamily="2" charset="-122"/>
              </a:rPr>
              <a:t>2</a:t>
            </a:r>
            <a:r>
              <a:rPr lang="zh-CN" altLang="en-US" sz="2400" dirty="0" smtClean="0">
                <a:latin typeface="宋体" panose="02010600030101010101" pitchFamily="2" charset="-122"/>
                <a:ea typeface="宋体" panose="02010600030101010101" pitchFamily="2" charset="-122"/>
              </a:rPr>
              <a:t>个时钟周期延迟的分支处理，哪种方法程序执行速度更快？</a:t>
            </a:r>
          </a:p>
          <a:p>
            <a:pPr>
              <a:defRPr/>
            </a:pPr>
            <a:endParaRPr lang="zh-CN" altLang="en-US" dirty="0"/>
          </a:p>
        </p:txBody>
      </p:sp>
    </p:spTree>
    <p:extLst>
      <p:ext uri="{BB962C8B-B14F-4D97-AF65-F5344CB8AC3E}">
        <p14:creationId xmlns:p14="http://schemas.microsoft.com/office/powerpoint/2010/main" val="3847634766"/>
      </p:ext>
    </p:extLst>
  </p:cSld>
  <p:clrMapOvr>
    <a:masterClrMapping/>
  </p:clrMapOvr>
  <p:transition>
    <p:pull dir="rd"/>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a:srcRect l="5756" t="-229" r="40436" b="43934"/>
          <a:stretch/>
        </p:blipFill>
        <p:spPr>
          <a:xfrm>
            <a:off x="267203" y="1094256"/>
            <a:ext cx="6560288" cy="2614971"/>
          </a:xfrm>
          <a:prstGeom prst="rect">
            <a:avLst/>
          </a:prstGeom>
        </p:spPr>
      </p:pic>
      <p:sp>
        <p:nvSpPr>
          <p:cNvPr id="5" name="圆角矩形 4"/>
          <p:cNvSpPr/>
          <p:nvPr/>
        </p:nvSpPr>
        <p:spPr bwMode="auto">
          <a:xfrm>
            <a:off x="1693928" y="5481351"/>
            <a:ext cx="2332062" cy="576064"/>
          </a:xfrm>
          <a:prstGeom prst="roundRect">
            <a:avLst/>
          </a:prstGeom>
          <a:solidFill>
            <a:srgbClr val="FF66FF"/>
          </a:solidFill>
          <a:ln w="9525" cap="flat" cmpd="sng" algn="ctr">
            <a:solidFill>
              <a:schemeClr val="tx1"/>
            </a:solidFill>
            <a:prstDash val="solid"/>
            <a:round/>
            <a:headEnd type="none" w="med" len="med"/>
            <a:tailEnd type="none" w="med" len="med"/>
          </a:ln>
          <a:effectLst/>
          <a:extLst/>
        </p:spPr>
        <p:txBody>
          <a:bodyPr wrap="none"/>
          <a:lstStyle/>
          <a:p>
            <a:pPr fontAlgn="base">
              <a:spcBef>
                <a:spcPct val="0"/>
              </a:spcBef>
              <a:spcAft>
                <a:spcPct val="0"/>
              </a:spcAft>
              <a:defRPr/>
            </a:pPr>
            <a:r>
              <a:rPr kumimoji="1" lang="zh-CN" altLang="en-US" sz="2400" dirty="0">
                <a:solidFill>
                  <a:srgbClr val="40458C"/>
                </a:solidFill>
                <a:effectLst>
                  <a:glow rad="228600">
                    <a:srgbClr val="353A77">
                      <a:satMod val="175000"/>
                      <a:alpha val="40000"/>
                    </a:srgbClr>
                  </a:glow>
                </a:effectLst>
                <a:latin typeface="Tahoma" panose="020B0604030504040204" pitchFamily="34" charset="0"/>
                <a:ea typeface="黑体" pitchFamily="2" charset="-122"/>
              </a:rPr>
              <a:t>       </a:t>
            </a:r>
            <a:r>
              <a:rPr kumimoji="1" lang="zh-CN" altLang="en-US" sz="2400" dirty="0">
                <a:solidFill>
                  <a:srgbClr val="00B050"/>
                </a:solidFill>
                <a:effectLst>
                  <a:glow rad="228600">
                    <a:srgbClr val="353A77">
                      <a:satMod val="175000"/>
                      <a:alpha val="40000"/>
                    </a:srgbClr>
                  </a:glow>
                </a:effectLst>
                <a:latin typeface="Tahoma" panose="020B0604030504040204" pitchFamily="34" charset="0"/>
                <a:ea typeface="黑体" pitchFamily="2" charset="-122"/>
              </a:rPr>
              <a:t>有延迟</a:t>
            </a:r>
          </a:p>
        </p:txBody>
      </p:sp>
      <p:sp>
        <p:nvSpPr>
          <p:cNvPr id="283652" name="上箭头 5"/>
          <p:cNvSpPr>
            <a:spLocks noChangeArrowheads="1"/>
          </p:cNvSpPr>
          <p:nvPr/>
        </p:nvSpPr>
        <p:spPr bwMode="auto">
          <a:xfrm>
            <a:off x="2109308" y="3967906"/>
            <a:ext cx="287338" cy="1513446"/>
          </a:xfrm>
          <a:prstGeom prst="upArrow">
            <a:avLst>
              <a:gd name="adj1" fmla="val 50000"/>
              <a:gd name="adj2" fmla="val 50041"/>
            </a:avLst>
          </a:prstGeom>
          <a:solidFill>
            <a:schemeClr val="accent1">
              <a:lumMod val="20000"/>
              <a:lumOff val="80000"/>
            </a:schemeClr>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endParaRPr lang="zh-CN" altLang="en-US">
              <a:solidFill>
                <a:srgbClr val="40458C"/>
              </a:solidFill>
            </a:endParaRPr>
          </a:p>
        </p:txBody>
      </p:sp>
      <p:sp>
        <p:nvSpPr>
          <p:cNvPr id="283653" name="上箭头 6"/>
          <p:cNvSpPr>
            <a:spLocks noChangeArrowheads="1"/>
          </p:cNvSpPr>
          <p:nvPr/>
        </p:nvSpPr>
        <p:spPr bwMode="auto">
          <a:xfrm>
            <a:off x="3268144" y="3967906"/>
            <a:ext cx="260350" cy="1513445"/>
          </a:xfrm>
          <a:prstGeom prst="upArrow">
            <a:avLst>
              <a:gd name="adj1" fmla="val 50000"/>
              <a:gd name="adj2" fmla="val 49878"/>
            </a:avLst>
          </a:prstGeom>
          <a:solidFill>
            <a:schemeClr val="accent1">
              <a:lumMod val="20000"/>
              <a:lumOff val="80000"/>
            </a:schemeClr>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lnSpc>
                <a:spcPct val="100000"/>
              </a:lnSpc>
              <a:spcBef>
                <a:spcPct val="0"/>
              </a:spcBef>
              <a:spcAft>
                <a:spcPct val="0"/>
              </a:spcAft>
              <a:buClrTx/>
              <a:buNone/>
            </a:pPr>
            <a:endParaRPr lang="zh-CN" altLang="en-US">
              <a:solidFill>
                <a:srgbClr val="40458C"/>
              </a:solidFill>
            </a:endParaRPr>
          </a:p>
        </p:txBody>
      </p:sp>
      <p:sp>
        <p:nvSpPr>
          <p:cNvPr id="3" name="矩形 2"/>
          <p:cNvSpPr/>
          <p:nvPr/>
        </p:nvSpPr>
        <p:spPr>
          <a:xfrm>
            <a:off x="3987479" y="1696054"/>
            <a:ext cx="1871663" cy="338138"/>
          </a:xfrm>
          <a:prstGeom prst="rect">
            <a:avLst/>
          </a:prstGeom>
        </p:spPr>
        <p:txBody>
          <a:bodyPr>
            <a:spAutoFit/>
          </a:bodyPr>
          <a:lstStyle/>
          <a:p>
            <a:pPr eaLnBrk="0" fontAlgn="base" hangingPunct="0">
              <a:spcBef>
                <a:spcPct val="0"/>
              </a:spcBef>
              <a:spcAft>
                <a:spcPct val="0"/>
              </a:spcAft>
              <a:defRPr/>
            </a:pPr>
            <a:r>
              <a:rPr kumimoji="1" lang="zh-CN" altLang="en-US" sz="1600" kern="0" dirty="0">
                <a:solidFill>
                  <a:srgbClr val="CC00FF"/>
                </a:solidFill>
                <a:latin typeface="Tahoma"/>
                <a:ea typeface="黑体"/>
              </a:rPr>
              <a:t>命中率为</a:t>
            </a:r>
            <a:r>
              <a:rPr kumimoji="1" lang="en-US" altLang="zh-CN" sz="1600" kern="0" dirty="0">
                <a:solidFill>
                  <a:srgbClr val="CC00FF"/>
                </a:solidFill>
                <a:latin typeface="Tahoma"/>
                <a:ea typeface="黑体"/>
              </a:rPr>
              <a:t>90%</a:t>
            </a:r>
            <a:endParaRPr kumimoji="1" lang="zh-CN" altLang="en-US" sz="1600" dirty="0">
              <a:solidFill>
                <a:srgbClr val="CC00FF"/>
              </a:solidFill>
              <a:latin typeface="Tahoma" panose="020B0604030504040204" pitchFamily="34" charset="0"/>
              <a:ea typeface="黑体" panose="02010609060101010101" pitchFamily="49" charset="-122"/>
            </a:endParaRPr>
          </a:p>
        </p:txBody>
      </p:sp>
      <p:sp>
        <p:nvSpPr>
          <p:cNvPr id="4" name="矩形 3"/>
          <p:cNvSpPr/>
          <p:nvPr/>
        </p:nvSpPr>
        <p:spPr>
          <a:xfrm>
            <a:off x="4861718" y="3646819"/>
            <a:ext cx="1636712" cy="339725"/>
          </a:xfrm>
          <a:prstGeom prst="rect">
            <a:avLst/>
          </a:prstGeom>
        </p:spPr>
        <p:txBody>
          <a:bodyPr>
            <a:spAutoFit/>
          </a:bodyPr>
          <a:lstStyle/>
          <a:p>
            <a:pPr eaLnBrk="0" fontAlgn="base" hangingPunct="0">
              <a:spcBef>
                <a:spcPct val="0"/>
              </a:spcBef>
              <a:spcAft>
                <a:spcPct val="0"/>
              </a:spcAft>
              <a:defRPr/>
            </a:pPr>
            <a:r>
              <a:rPr kumimoji="1" lang="zh-CN" altLang="en-US" sz="1600" kern="0" dirty="0">
                <a:solidFill>
                  <a:srgbClr val="CC00FF"/>
                </a:solidFill>
                <a:latin typeface="Tahoma"/>
                <a:ea typeface="黑体"/>
              </a:rPr>
              <a:t>预测精度为</a:t>
            </a:r>
            <a:r>
              <a:rPr kumimoji="1" lang="en-US" altLang="zh-CN" sz="1600" kern="0" dirty="0">
                <a:solidFill>
                  <a:srgbClr val="CC00FF"/>
                </a:solidFill>
                <a:latin typeface="Tahoma"/>
                <a:ea typeface="黑体"/>
              </a:rPr>
              <a:t>90%</a:t>
            </a:r>
            <a:endParaRPr kumimoji="1" lang="zh-CN" altLang="en-US" sz="1600" dirty="0">
              <a:solidFill>
                <a:srgbClr val="CC00FF"/>
              </a:solidFill>
              <a:latin typeface="Tahoma" panose="020B0604030504040204" pitchFamily="34" charset="0"/>
              <a:ea typeface="黑体" panose="02010609060101010101" pitchFamily="49" charset="-122"/>
            </a:endParaRPr>
          </a:p>
        </p:txBody>
      </p:sp>
      <p:sp>
        <p:nvSpPr>
          <p:cNvPr id="6" name="矩形 5"/>
          <p:cNvSpPr/>
          <p:nvPr/>
        </p:nvSpPr>
        <p:spPr>
          <a:xfrm>
            <a:off x="267203" y="1526986"/>
            <a:ext cx="1635125" cy="338137"/>
          </a:xfrm>
          <a:prstGeom prst="rect">
            <a:avLst/>
          </a:prstGeom>
        </p:spPr>
        <p:txBody>
          <a:bodyPr wrap="none">
            <a:spAutoFit/>
          </a:bodyPr>
          <a:lstStyle/>
          <a:p>
            <a:pPr eaLnBrk="0" fontAlgn="base" hangingPunct="0">
              <a:spcBef>
                <a:spcPct val="0"/>
              </a:spcBef>
              <a:spcAft>
                <a:spcPct val="0"/>
              </a:spcAft>
              <a:defRPr/>
            </a:pPr>
            <a:r>
              <a:rPr kumimoji="1" lang="zh-CN" altLang="en-US" sz="1600" kern="0" dirty="0">
                <a:solidFill>
                  <a:srgbClr val="CC00FF"/>
                </a:solidFill>
                <a:latin typeface="Tahoma"/>
                <a:ea typeface="黑体"/>
              </a:rPr>
              <a:t>不命中率为</a:t>
            </a:r>
            <a:r>
              <a:rPr kumimoji="1" lang="en-US" altLang="zh-CN" sz="1600" kern="0" dirty="0">
                <a:solidFill>
                  <a:srgbClr val="CC00FF"/>
                </a:solidFill>
                <a:latin typeface="Tahoma"/>
                <a:ea typeface="黑体"/>
              </a:rPr>
              <a:t>10%</a:t>
            </a:r>
            <a:endParaRPr kumimoji="1" lang="zh-CN" altLang="en-US" sz="1600" dirty="0">
              <a:solidFill>
                <a:srgbClr val="CC00FF"/>
              </a:solidFill>
              <a:latin typeface="Tahoma" panose="020B0604030504040204" pitchFamily="34" charset="0"/>
              <a:ea typeface="黑体" panose="02010609060101010101" pitchFamily="49" charset="-122"/>
            </a:endParaRPr>
          </a:p>
        </p:txBody>
      </p:sp>
      <p:sp>
        <p:nvSpPr>
          <p:cNvPr id="8" name="矩形 7"/>
          <p:cNvSpPr/>
          <p:nvPr/>
        </p:nvSpPr>
        <p:spPr>
          <a:xfrm>
            <a:off x="2859959" y="3646820"/>
            <a:ext cx="1635125" cy="339725"/>
          </a:xfrm>
          <a:prstGeom prst="rect">
            <a:avLst/>
          </a:prstGeom>
        </p:spPr>
        <p:txBody>
          <a:bodyPr wrap="none">
            <a:spAutoFit/>
          </a:bodyPr>
          <a:lstStyle/>
          <a:p>
            <a:pPr eaLnBrk="0" fontAlgn="base" hangingPunct="0">
              <a:spcBef>
                <a:spcPct val="0"/>
              </a:spcBef>
              <a:spcAft>
                <a:spcPct val="0"/>
              </a:spcAft>
              <a:defRPr/>
            </a:pPr>
            <a:r>
              <a:rPr kumimoji="1" lang="zh-CN" altLang="en-US" sz="1600" kern="0" dirty="0">
                <a:solidFill>
                  <a:srgbClr val="CC00FF"/>
                </a:solidFill>
                <a:latin typeface="Tahoma"/>
                <a:ea typeface="黑体"/>
              </a:rPr>
              <a:t>预测错误为</a:t>
            </a:r>
            <a:r>
              <a:rPr kumimoji="1" lang="en-US" altLang="zh-CN" sz="1600" kern="0" dirty="0">
                <a:solidFill>
                  <a:srgbClr val="CC00FF"/>
                </a:solidFill>
                <a:latin typeface="Tahoma"/>
                <a:ea typeface="黑体"/>
              </a:rPr>
              <a:t>10%</a:t>
            </a:r>
            <a:endParaRPr kumimoji="1" lang="zh-CN" altLang="en-US" sz="1600" dirty="0">
              <a:solidFill>
                <a:srgbClr val="CC00FF"/>
              </a:solidFill>
              <a:latin typeface="Tahoma" panose="020B0604030504040204" pitchFamily="34" charset="0"/>
              <a:ea typeface="黑体" panose="02010609060101010101" pitchFamily="49" charset="-122"/>
            </a:endParaRPr>
          </a:p>
        </p:txBody>
      </p:sp>
      <p:sp>
        <p:nvSpPr>
          <p:cNvPr id="87" name="文本占位符 2" descr="Rectangle: Click to edit Master text styles&#10;Second level&#10;Third level&#10;Fourth level&#10;Fifth level"/>
          <p:cNvSpPr txBox="1">
            <a:spLocks/>
          </p:cNvSpPr>
          <p:nvPr/>
        </p:nvSpPr>
        <p:spPr>
          <a:xfrm>
            <a:off x="6498430" y="456404"/>
            <a:ext cx="5643214" cy="49530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just">
              <a:buFont typeface="Arial" panose="020B0604020202020204" pitchFamily="34" charset="0"/>
              <a:buNone/>
              <a:defRPr/>
            </a:pPr>
            <a:r>
              <a:rPr lang="zh-CN" altLang="zh-CN" sz="1800" kern="100" dirty="0" smtClean="0">
                <a:solidFill>
                  <a:srgbClr val="000000"/>
                </a:solidFill>
                <a:latin typeface="宋体" panose="02010600030101010101" pitchFamily="2" charset="-122"/>
                <a:ea typeface="宋体" panose="02010600030101010101" pitchFamily="2" charset="-122"/>
              </a:rPr>
              <a:t>解：</a:t>
            </a:r>
            <a:endParaRPr lang="en-US" altLang="zh-CN" sz="1800" kern="100" dirty="0" smtClean="0">
              <a:solidFill>
                <a:srgbClr val="000000"/>
              </a:solidFill>
              <a:latin typeface="宋体" panose="02010600030101010101" pitchFamily="2" charset="-122"/>
              <a:ea typeface="宋体" panose="02010600030101010101" pitchFamily="2" charset="-122"/>
            </a:endParaRPr>
          </a:p>
          <a:p>
            <a:pPr indent="0" algn="just">
              <a:buFont typeface="Arial" panose="020B0604020202020204" pitchFamily="34" charset="0"/>
              <a:buNone/>
              <a:defRPr/>
            </a:pPr>
            <a:r>
              <a:rPr lang="zh-CN" altLang="zh-CN" sz="1800" kern="100" dirty="0" smtClean="0">
                <a:solidFill>
                  <a:srgbClr val="000000"/>
                </a:solidFill>
                <a:latin typeface="宋体" panose="02010600030101010101" pitchFamily="2" charset="-122"/>
                <a:ea typeface="宋体" panose="02010600030101010101" pitchFamily="2" charset="-122"/>
              </a:rPr>
              <a:t>（</a:t>
            </a:r>
            <a:r>
              <a:rPr lang="en-US" altLang="zh-CN" sz="1800" kern="100" dirty="0" smtClean="0">
                <a:solidFill>
                  <a:srgbClr val="000000"/>
                </a:solidFill>
                <a:latin typeface="宋体" panose="02010600030101010101" pitchFamily="2" charset="-122"/>
                <a:ea typeface="宋体" panose="02010600030101010101" pitchFamily="2" charset="-122"/>
              </a:rPr>
              <a:t>1</a:t>
            </a:r>
            <a:r>
              <a:rPr lang="zh-CN" altLang="zh-CN" sz="1800" kern="100" dirty="0" smtClean="0">
                <a:solidFill>
                  <a:srgbClr val="000000"/>
                </a:solidFill>
                <a:latin typeface="宋体" panose="02010600030101010101" pitchFamily="2" charset="-122"/>
                <a:ea typeface="宋体" panose="02010600030101010101" pitchFamily="2" charset="-122"/>
              </a:rPr>
              <a:t>）程序执行的</a:t>
            </a:r>
            <a:r>
              <a:rPr lang="en-US" altLang="zh-CN" sz="1800" kern="100" dirty="0" smtClean="0">
                <a:solidFill>
                  <a:srgbClr val="000000"/>
                </a:solidFill>
                <a:latin typeface="宋体" panose="02010600030101010101" pitchFamily="2" charset="-122"/>
                <a:ea typeface="宋体" panose="02010600030101010101" pitchFamily="2" charset="-122"/>
              </a:rPr>
              <a:t>CPI = </a:t>
            </a:r>
            <a:r>
              <a:rPr lang="zh-CN" altLang="zh-CN" sz="1800" kern="100" dirty="0" smtClean="0">
                <a:solidFill>
                  <a:srgbClr val="000000"/>
                </a:solidFill>
                <a:latin typeface="宋体" panose="02010600030101010101" pitchFamily="2" charset="-122"/>
                <a:ea typeface="宋体" panose="02010600030101010101" pitchFamily="2" charset="-122"/>
              </a:rPr>
              <a:t>没有分支的基本</a:t>
            </a:r>
            <a:r>
              <a:rPr lang="en-US" altLang="zh-CN" sz="1800" kern="100" dirty="0" smtClean="0">
                <a:solidFill>
                  <a:srgbClr val="000000"/>
                </a:solidFill>
                <a:latin typeface="宋体" panose="02010600030101010101" pitchFamily="2" charset="-122"/>
                <a:ea typeface="宋体" panose="02010600030101010101" pitchFamily="2" charset="-122"/>
              </a:rPr>
              <a:t>CPI</a:t>
            </a:r>
            <a:r>
              <a:rPr lang="zh-CN" altLang="zh-CN" sz="1800" kern="100" dirty="0" smtClean="0">
                <a:solidFill>
                  <a:srgbClr val="000000"/>
                </a:solidFill>
                <a:latin typeface="宋体" panose="02010600030101010101" pitchFamily="2" charset="-122"/>
                <a:ea typeface="宋体" panose="02010600030101010101" pitchFamily="2" charset="-122"/>
              </a:rPr>
              <a:t>（</a:t>
            </a:r>
            <a:r>
              <a:rPr lang="en-US" altLang="zh-CN" sz="1800" kern="100" dirty="0" smtClean="0">
                <a:solidFill>
                  <a:srgbClr val="000000"/>
                </a:solidFill>
                <a:latin typeface="宋体" panose="02010600030101010101" pitchFamily="2" charset="-122"/>
                <a:ea typeface="宋体" panose="02010600030101010101" pitchFamily="2" charset="-122"/>
              </a:rPr>
              <a:t>1</a:t>
            </a:r>
            <a:r>
              <a:rPr lang="zh-CN" altLang="zh-CN" sz="1800" kern="100" dirty="0" smtClean="0">
                <a:solidFill>
                  <a:srgbClr val="000000"/>
                </a:solidFill>
                <a:latin typeface="宋体" panose="02010600030101010101" pitchFamily="2" charset="-122"/>
                <a:ea typeface="宋体" panose="02010600030101010101" pitchFamily="2" charset="-122"/>
              </a:rPr>
              <a:t>）</a:t>
            </a:r>
            <a:r>
              <a:rPr lang="en-US" altLang="zh-CN" sz="1800" kern="100" dirty="0" smtClean="0">
                <a:solidFill>
                  <a:srgbClr val="000000"/>
                </a:solidFill>
                <a:latin typeface="宋体" panose="02010600030101010101" pitchFamily="2" charset="-122"/>
                <a:ea typeface="宋体" panose="02010600030101010101" pitchFamily="2" charset="-122"/>
              </a:rPr>
              <a:t> </a:t>
            </a:r>
          </a:p>
          <a:p>
            <a:pPr indent="0" algn="just">
              <a:buFont typeface="Arial" panose="020B0604020202020204" pitchFamily="34" charset="0"/>
              <a:buNone/>
              <a:defRPr/>
            </a:pPr>
            <a:r>
              <a:rPr lang="en-US" altLang="zh-CN" sz="1800" kern="100" dirty="0">
                <a:solidFill>
                  <a:srgbClr val="000000"/>
                </a:solidFill>
                <a:latin typeface="宋体" panose="02010600030101010101" pitchFamily="2" charset="-122"/>
                <a:ea typeface="宋体" panose="02010600030101010101" pitchFamily="2" charset="-122"/>
              </a:rPr>
              <a:t> </a:t>
            </a:r>
            <a:r>
              <a:rPr lang="en-US" altLang="zh-CN" sz="1800" kern="100" dirty="0" smtClean="0">
                <a:solidFill>
                  <a:srgbClr val="000000"/>
                </a:solidFill>
                <a:latin typeface="宋体" panose="02010600030101010101" pitchFamily="2" charset="-122"/>
                <a:ea typeface="宋体" panose="02010600030101010101" pitchFamily="2" charset="-122"/>
              </a:rPr>
              <a:t>                    + </a:t>
            </a:r>
            <a:r>
              <a:rPr lang="zh-CN" altLang="zh-CN" sz="1800" kern="100" dirty="0" smtClean="0">
                <a:solidFill>
                  <a:srgbClr val="000000"/>
                </a:solidFill>
                <a:latin typeface="宋体" panose="02010600030101010101" pitchFamily="2" charset="-122"/>
                <a:ea typeface="宋体" panose="02010600030101010101" pitchFamily="2" charset="-122"/>
              </a:rPr>
              <a:t>分支带来的额外开销</a:t>
            </a:r>
            <a:endParaRPr lang="zh-CN" altLang="zh-CN" sz="1800" kern="100" dirty="0" smtClean="0">
              <a:latin typeface="宋体" panose="02010600030101010101" pitchFamily="2" charset="-122"/>
              <a:ea typeface="宋体" panose="02010600030101010101" pitchFamily="2" charset="-122"/>
            </a:endParaRPr>
          </a:p>
          <a:p>
            <a:pPr indent="0" algn="just">
              <a:buFont typeface="Arial" panose="020B0604020202020204" pitchFamily="34" charset="0"/>
              <a:buNone/>
              <a:defRPr/>
            </a:pPr>
            <a:r>
              <a:rPr lang="en-US" altLang="zh-CN" sz="1800" kern="100" dirty="0" smtClean="0">
                <a:solidFill>
                  <a:srgbClr val="000000"/>
                </a:solidFill>
                <a:latin typeface="宋体" panose="02010600030101010101" pitchFamily="2" charset="-122"/>
                <a:ea typeface="宋体" panose="02010600030101010101" pitchFamily="2" charset="-122"/>
              </a:rPr>
              <a:t>    </a:t>
            </a:r>
            <a:r>
              <a:rPr lang="zh-CN" altLang="zh-CN" sz="1800" kern="100" dirty="0" smtClean="0">
                <a:solidFill>
                  <a:srgbClr val="000000"/>
                </a:solidFill>
                <a:latin typeface="宋体" panose="02010600030101010101" pitchFamily="2" charset="-122"/>
                <a:ea typeface="宋体" panose="02010600030101010101" pitchFamily="2" charset="-122"/>
              </a:rPr>
              <a:t>分支带来的额外开销是指在分支指令中，缓冲命中但预测错误带来的开销与缓冲没有命中带来的开销之和。</a:t>
            </a:r>
            <a:endParaRPr lang="zh-CN" altLang="zh-CN" sz="1800" kern="100" dirty="0" smtClean="0">
              <a:latin typeface="宋体" panose="02010600030101010101" pitchFamily="2" charset="-122"/>
              <a:ea typeface="宋体" panose="02010600030101010101" pitchFamily="2" charset="-122"/>
            </a:endParaRPr>
          </a:p>
          <a:p>
            <a:pPr indent="0" algn="just">
              <a:buFont typeface="Arial" panose="020B0604020202020204" pitchFamily="34" charset="0"/>
              <a:buNone/>
              <a:defRPr/>
            </a:pPr>
            <a:r>
              <a:rPr lang="en-US" altLang="zh-CN" sz="1800" kern="100" dirty="0" smtClean="0">
                <a:solidFill>
                  <a:srgbClr val="000000"/>
                </a:solidFill>
                <a:latin typeface="宋体" panose="02010600030101010101" pitchFamily="2" charset="-122"/>
                <a:ea typeface="宋体" panose="02010600030101010101" pitchFamily="2" charset="-122"/>
              </a:rPr>
              <a:t>    </a:t>
            </a:r>
            <a:r>
              <a:rPr lang="zh-CN" altLang="zh-CN" sz="1800" kern="100" dirty="0" smtClean="0">
                <a:solidFill>
                  <a:srgbClr val="000000"/>
                </a:solidFill>
                <a:latin typeface="宋体" panose="02010600030101010101" pitchFamily="2" charset="-122"/>
                <a:ea typeface="宋体" panose="02010600030101010101" pitchFamily="2" charset="-122"/>
              </a:rPr>
              <a:t>分支带来的额外开销</a:t>
            </a:r>
            <a:r>
              <a:rPr lang="en-US" altLang="zh-CN" sz="1800" kern="100" dirty="0" smtClean="0">
                <a:solidFill>
                  <a:srgbClr val="000000"/>
                </a:solidFill>
                <a:latin typeface="宋体" panose="02010600030101010101" pitchFamily="2" charset="-122"/>
                <a:ea typeface="宋体" panose="02010600030101010101" pitchFamily="2" charset="-122"/>
              </a:rPr>
              <a:t>= 15% * (90%</a:t>
            </a:r>
            <a:r>
              <a:rPr lang="zh-CN" altLang="zh-CN" sz="1800" kern="100" dirty="0" smtClean="0">
                <a:solidFill>
                  <a:srgbClr val="000000"/>
                </a:solidFill>
                <a:latin typeface="宋体" panose="02010600030101010101" pitchFamily="2" charset="-122"/>
                <a:ea typeface="宋体" panose="02010600030101010101" pitchFamily="2" charset="-122"/>
              </a:rPr>
              <a:t>命中×</a:t>
            </a:r>
            <a:r>
              <a:rPr lang="en-US" altLang="zh-CN" sz="1800" kern="100" dirty="0" smtClean="0">
                <a:solidFill>
                  <a:srgbClr val="000000"/>
                </a:solidFill>
                <a:latin typeface="宋体" panose="02010600030101010101" pitchFamily="2" charset="-122"/>
                <a:ea typeface="宋体" panose="02010600030101010101" pitchFamily="2" charset="-122"/>
              </a:rPr>
              <a:t>10%</a:t>
            </a:r>
            <a:r>
              <a:rPr lang="zh-CN" altLang="zh-CN" sz="1800" kern="100" dirty="0" smtClean="0">
                <a:solidFill>
                  <a:srgbClr val="000000"/>
                </a:solidFill>
                <a:latin typeface="宋体" panose="02010600030101010101" pitchFamily="2" charset="-122"/>
                <a:ea typeface="宋体" panose="02010600030101010101" pitchFamily="2" charset="-122"/>
              </a:rPr>
              <a:t>预测错误×</a:t>
            </a:r>
            <a:r>
              <a:rPr lang="en-US" altLang="zh-CN" sz="1800" kern="100" dirty="0" smtClean="0">
                <a:solidFill>
                  <a:srgbClr val="000000"/>
                </a:solidFill>
                <a:latin typeface="宋体" panose="02010600030101010101" pitchFamily="2" charset="-122"/>
                <a:ea typeface="宋体" panose="02010600030101010101" pitchFamily="2" charset="-122"/>
              </a:rPr>
              <a:t>4 + 10</a:t>
            </a:r>
            <a:r>
              <a:rPr lang="zh-CN" altLang="zh-CN" sz="1800" kern="100" dirty="0" smtClean="0">
                <a:solidFill>
                  <a:srgbClr val="000000"/>
                </a:solidFill>
                <a:latin typeface="宋体" panose="02010600030101010101" pitchFamily="2" charset="-122"/>
                <a:ea typeface="宋体" panose="02010600030101010101" pitchFamily="2" charset="-122"/>
              </a:rPr>
              <a:t>％没命中×</a:t>
            </a:r>
            <a:r>
              <a:rPr lang="en-US" altLang="zh-CN" sz="1800" kern="100" dirty="0" smtClean="0">
                <a:solidFill>
                  <a:srgbClr val="000000"/>
                </a:solidFill>
                <a:latin typeface="宋体" panose="02010600030101010101" pitchFamily="2" charset="-122"/>
                <a:ea typeface="宋体" panose="02010600030101010101" pitchFamily="2" charset="-122"/>
              </a:rPr>
              <a:t>3)= 0.099</a:t>
            </a:r>
            <a:endParaRPr lang="zh-CN" altLang="zh-CN" sz="1800" kern="100" dirty="0" smtClean="0">
              <a:latin typeface="宋体" panose="02010600030101010101" pitchFamily="2" charset="-122"/>
              <a:ea typeface="宋体" panose="02010600030101010101" pitchFamily="2" charset="-122"/>
            </a:endParaRPr>
          </a:p>
          <a:p>
            <a:pPr indent="0" algn="just">
              <a:buFont typeface="Arial" panose="020B0604020202020204" pitchFamily="34" charset="0"/>
              <a:buNone/>
              <a:defRPr/>
            </a:pPr>
            <a:r>
              <a:rPr lang="en-US" altLang="zh-CN" sz="1800" kern="100" dirty="0" smtClean="0">
                <a:solidFill>
                  <a:srgbClr val="000000"/>
                </a:solidFill>
                <a:latin typeface="宋体" panose="02010600030101010101" pitchFamily="2" charset="-122"/>
                <a:ea typeface="宋体" panose="02010600030101010101" pitchFamily="2" charset="-122"/>
              </a:rPr>
              <a:t>    </a:t>
            </a:r>
            <a:r>
              <a:rPr lang="zh-CN" altLang="zh-CN" sz="1800" kern="100" dirty="0" smtClean="0">
                <a:solidFill>
                  <a:srgbClr val="000000"/>
                </a:solidFill>
                <a:latin typeface="宋体" panose="02010600030101010101" pitchFamily="2" charset="-122"/>
                <a:ea typeface="宋体" panose="02010600030101010101" pitchFamily="2" charset="-122"/>
              </a:rPr>
              <a:t>所以，程序执行的</a:t>
            </a:r>
            <a:r>
              <a:rPr lang="en-US" altLang="zh-CN" sz="1800" kern="100" dirty="0" smtClean="0">
                <a:solidFill>
                  <a:srgbClr val="000000"/>
                </a:solidFill>
                <a:latin typeface="宋体" panose="02010600030101010101" pitchFamily="2" charset="-122"/>
                <a:ea typeface="宋体" panose="02010600030101010101" pitchFamily="2" charset="-122"/>
              </a:rPr>
              <a:t>CPI </a:t>
            </a:r>
            <a:r>
              <a:rPr lang="zh-CN" altLang="zh-CN" sz="1800" kern="100" dirty="0" smtClean="0">
                <a:solidFill>
                  <a:srgbClr val="000000"/>
                </a:solidFill>
                <a:latin typeface="宋体" panose="02010600030101010101" pitchFamily="2" charset="-122"/>
                <a:ea typeface="宋体" panose="02010600030101010101" pitchFamily="2" charset="-122"/>
              </a:rPr>
              <a:t>＝</a:t>
            </a:r>
            <a:r>
              <a:rPr lang="en-US" altLang="zh-CN" sz="1800" kern="100" dirty="0" smtClean="0">
                <a:solidFill>
                  <a:srgbClr val="000000"/>
                </a:solidFill>
                <a:latin typeface="宋体" panose="02010600030101010101" pitchFamily="2" charset="-122"/>
                <a:ea typeface="宋体" panose="02010600030101010101" pitchFamily="2" charset="-122"/>
              </a:rPr>
              <a:t> 1 </a:t>
            </a:r>
            <a:r>
              <a:rPr lang="zh-CN" altLang="zh-CN" sz="1800" kern="100" dirty="0" smtClean="0">
                <a:solidFill>
                  <a:srgbClr val="000000"/>
                </a:solidFill>
                <a:latin typeface="宋体" panose="02010600030101010101" pitchFamily="2" charset="-122"/>
                <a:ea typeface="宋体" panose="02010600030101010101" pitchFamily="2" charset="-122"/>
              </a:rPr>
              <a:t>＋</a:t>
            </a:r>
            <a:r>
              <a:rPr lang="en-US" altLang="zh-CN" sz="1800" kern="100" dirty="0" smtClean="0">
                <a:solidFill>
                  <a:srgbClr val="000000"/>
                </a:solidFill>
                <a:latin typeface="宋体" panose="02010600030101010101" pitchFamily="2" charset="-122"/>
                <a:ea typeface="宋体" panose="02010600030101010101" pitchFamily="2" charset="-122"/>
              </a:rPr>
              <a:t> 0.099 = 1.099</a:t>
            </a:r>
          </a:p>
          <a:p>
            <a:pPr indent="0" algn="just">
              <a:buFont typeface="Arial" panose="020B0604020202020204" pitchFamily="34" charset="0"/>
              <a:buNone/>
              <a:defRPr/>
            </a:pPr>
            <a:endParaRPr lang="zh-CN" altLang="zh-CN" sz="1800" kern="100" dirty="0" smtClean="0">
              <a:latin typeface="宋体" panose="02010600030101010101" pitchFamily="2" charset="-122"/>
              <a:ea typeface="宋体" panose="02010600030101010101" pitchFamily="2" charset="-122"/>
            </a:endParaRPr>
          </a:p>
          <a:p>
            <a:pPr indent="0" algn="just">
              <a:buFont typeface="Arial" panose="020B0604020202020204" pitchFamily="34" charset="0"/>
              <a:buNone/>
              <a:defRPr/>
            </a:pPr>
            <a:r>
              <a:rPr lang="zh-CN" altLang="zh-CN" sz="1800" kern="100" dirty="0" smtClean="0">
                <a:solidFill>
                  <a:srgbClr val="000000"/>
                </a:solidFill>
                <a:latin typeface="宋体" panose="02010600030101010101" pitchFamily="2" charset="-122"/>
                <a:ea typeface="宋体" panose="02010600030101010101" pitchFamily="2" charset="-122"/>
              </a:rPr>
              <a:t>（</a:t>
            </a:r>
            <a:r>
              <a:rPr lang="en-US" altLang="zh-CN" sz="1800" kern="100" dirty="0" smtClean="0">
                <a:solidFill>
                  <a:srgbClr val="000000"/>
                </a:solidFill>
                <a:latin typeface="宋体" panose="02010600030101010101" pitchFamily="2" charset="-122"/>
                <a:ea typeface="宋体" panose="02010600030101010101" pitchFamily="2" charset="-122"/>
              </a:rPr>
              <a:t>2</a:t>
            </a:r>
            <a:r>
              <a:rPr lang="zh-CN" altLang="zh-CN" sz="1800" kern="100" dirty="0" smtClean="0">
                <a:solidFill>
                  <a:srgbClr val="000000"/>
                </a:solidFill>
                <a:latin typeface="宋体" panose="02010600030101010101" pitchFamily="2" charset="-122"/>
                <a:ea typeface="宋体" panose="02010600030101010101" pitchFamily="2" charset="-122"/>
              </a:rPr>
              <a:t>）采用固定的</a:t>
            </a:r>
            <a:r>
              <a:rPr lang="en-US" altLang="zh-CN" sz="1800" kern="100" dirty="0" smtClean="0">
                <a:solidFill>
                  <a:srgbClr val="000000"/>
                </a:solidFill>
                <a:latin typeface="宋体" panose="02010600030101010101" pitchFamily="2" charset="-122"/>
                <a:ea typeface="宋体" panose="02010600030101010101" pitchFamily="2" charset="-122"/>
              </a:rPr>
              <a:t>2 </a:t>
            </a:r>
            <a:r>
              <a:rPr lang="zh-CN" altLang="zh-CN" sz="1800" kern="100" dirty="0" smtClean="0">
                <a:solidFill>
                  <a:srgbClr val="000000"/>
                </a:solidFill>
                <a:latin typeface="宋体" panose="02010600030101010101" pitchFamily="2" charset="-122"/>
                <a:ea typeface="宋体" panose="02010600030101010101" pitchFamily="2" charset="-122"/>
              </a:rPr>
              <a:t>个时钟周期延迟的分支处理</a:t>
            </a:r>
            <a:endParaRPr lang="en-US" altLang="zh-CN" sz="1800" kern="100" dirty="0" smtClean="0">
              <a:solidFill>
                <a:srgbClr val="000000"/>
              </a:solidFill>
              <a:latin typeface="宋体" panose="02010600030101010101" pitchFamily="2" charset="-122"/>
              <a:ea typeface="宋体" panose="02010600030101010101" pitchFamily="2" charset="-122"/>
            </a:endParaRPr>
          </a:p>
          <a:p>
            <a:pPr indent="0" algn="just">
              <a:buFont typeface="Arial" panose="020B0604020202020204" pitchFamily="34" charset="0"/>
              <a:buNone/>
              <a:defRPr/>
            </a:pPr>
            <a:r>
              <a:rPr lang="en-US" altLang="zh-CN" sz="1800" kern="100" dirty="0" smtClean="0">
                <a:solidFill>
                  <a:srgbClr val="000000"/>
                </a:solidFill>
                <a:latin typeface="宋体" panose="02010600030101010101" pitchFamily="2" charset="-122"/>
                <a:ea typeface="宋体" panose="02010600030101010101" pitchFamily="2" charset="-122"/>
              </a:rPr>
              <a:t>CPI = 1 + 15%</a:t>
            </a:r>
            <a:r>
              <a:rPr lang="zh-CN" altLang="zh-CN" sz="1800" kern="100" dirty="0" smtClean="0">
                <a:solidFill>
                  <a:srgbClr val="000000"/>
                </a:solidFill>
                <a:latin typeface="宋体" panose="02010600030101010101" pitchFamily="2" charset="-122"/>
                <a:ea typeface="宋体" panose="02010600030101010101" pitchFamily="2" charset="-122"/>
              </a:rPr>
              <a:t>×</a:t>
            </a:r>
            <a:r>
              <a:rPr lang="en-US" altLang="zh-CN" sz="1800" kern="100" dirty="0" smtClean="0">
                <a:solidFill>
                  <a:srgbClr val="000000"/>
                </a:solidFill>
                <a:latin typeface="宋体" panose="02010600030101010101" pitchFamily="2" charset="-122"/>
                <a:ea typeface="宋体" panose="02010600030101010101" pitchFamily="2" charset="-122"/>
              </a:rPr>
              <a:t>2 = 1.3</a:t>
            </a:r>
            <a:endParaRPr lang="zh-CN" altLang="zh-CN" sz="1800" kern="100" dirty="0" smtClean="0">
              <a:latin typeface="宋体" panose="02010600030101010101" pitchFamily="2" charset="-122"/>
              <a:ea typeface="宋体" panose="02010600030101010101" pitchFamily="2" charset="-122"/>
            </a:endParaRPr>
          </a:p>
          <a:p>
            <a:pPr indent="0" algn="just">
              <a:buFont typeface="Arial" panose="020B0604020202020204" pitchFamily="34" charset="0"/>
              <a:buNone/>
              <a:defRPr/>
            </a:pPr>
            <a:endParaRPr lang="en-US" altLang="zh-CN" sz="1800" kern="100" dirty="0" smtClean="0">
              <a:solidFill>
                <a:srgbClr val="000000"/>
              </a:solidFill>
              <a:latin typeface="宋体" panose="02010600030101010101" pitchFamily="2" charset="-122"/>
              <a:ea typeface="宋体" panose="02010600030101010101" pitchFamily="2" charset="-122"/>
            </a:endParaRPr>
          </a:p>
          <a:p>
            <a:pPr indent="0" algn="just">
              <a:buFont typeface="Arial" panose="020B0604020202020204" pitchFamily="34" charset="0"/>
              <a:buNone/>
              <a:defRPr/>
            </a:pPr>
            <a:r>
              <a:rPr lang="zh-CN" altLang="zh-CN" sz="1800" kern="100" dirty="0" smtClean="0">
                <a:solidFill>
                  <a:srgbClr val="000000"/>
                </a:solidFill>
                <a:latin typeface="宋体" panose="02010600030101010101" pitchFamily="2" charset="-122"/>
                <a:ea typeface="宋体" panose="02010600030101010101" pitchFamily="2" charset="-122"/>
              </a:rPr>
              <a:t>由（</a:t>
            </a:r>
            <a:r>
              <a:rPr lang="en-US" altLang="zh-CN" sz="1800" kern="100" dirty="0" smtClean="0">
                <a:solidFill>
                  <a:srgbClr val="000000"/>
                </a:solidFill>
                <a:latin typeface="宋体" panose="02010600030101010101" pitchFamily="2" charset="-122"/>
                <a:ea typeface="宋体" panose="02010600030101010101" pitchFamily="2" charset="-122"/>
              </a:rPr>
              <a:t>1</a:t>
            </a:r>
            <a:r>
              <a:rPr lang="zh-CN" altLang="zh-CN" sz="1800" kern="100" dirty="0" smtClean="0">
                <a:solidFill>
                  <a:srgbClr val="000000"/>
                </a:solidFill>
                <a:latin typeface="宋体" panose="02010600030101010101" pitchFamily="2" charset="-122"/>
                <a:ea typeface="宋体" panose="02010600030101010101" pitchFamily="2" charset="-122"/>
              </a:rPr>
              <a:t>）（</a:t>
            </a:r>
            <a:r>
              <a:rPr lang="en-US" altLang="zh-CN" sz="1800" kern="100" dirty="0" smtClean="0">
                <a:solidFill>
                  <a:srgbClr val="000000"/>
                </a:solidFill>
                <a:latin typeface="宋体" panose="02010600030101010101" pitchFamily="2" charset="-122"/>
                <a:ea typeface="宋体" panose="02010600030101010101" pitchFamily="2" charset="-122"/>
              </a:rPr>
              <a:t>2</a:t>
            </a:r>
            <a:r>
              <a:rPr lang="zh-CN" altLang="zh-CN" sz="1800" kern="100" dirty="0" smtClean="0">
                <a:solidFill>
                  <a:srgbClr val="000000"/>
                </a:solidFill>
                <a:latin typeface="宋体" panose="02010600030101010101" pitchFamily="2" charset="-122"/>
                <a:ea typeface="宋体" panose="02010600030101010101" pitchFamily="2" charset="-122"/>
              </a:rPr>
              <a:t>）可知分支目标缓冲方法执行速度快。</a:t>
            </a:r>
            <a:endParaRPr lang="zh-CN" altLang="zh-CN" sz="1800" kern="100" dirty="0" smtClean="0">
              <a:latin typeface="宋体" panose="02010600030101010101" pitchFamily="2" charset="-122"/>
              <a:ea typeface="宋体" panose="02010600030101010101" pitchFamily="2" charset="-122"/>
            </a:endParaRPr>
          </a:p>
          <a:p>
            <a:pPr marL="0" indent="0">
              <a:buFont typeface="Arial" panose="020B0604020202020204" pitchFamily="34" charset="0"/>
              <a:buNone/>
              <a:defRPr/>
            </a:pPr>
            <a:endParaRPr lang="zh-CN" altLang="en-US" sz="2200" dirty="0" smtClean="0">
              <a:latin typeface="宋体" panose="02010600030101010101" pitchFamily="2" charset="-122"/>
              <a:ea typeface="宋体" panose="02010600030101010101" pitchFamily="2" charset="-122"/>
            </a:endParaRPr>
          </a:p>
          <a:p>
            <a:pPr>
              <a:defRPr/>
            </a:pPr>
            <a:endParaRPr lang="zh-CN" altLang="en-US" sz="2200" dirty="0">
              <a:latin typeface="宋体" panose="02010600030101010101" pitchFamily="2" charset="-122"/>
              <a:ea typeface="宋体" panose="02010600030101010101" pitchFamily="2" charset="-122"/>
            </a:endParaRPr>
          </a:p>
        </p:txBody>
      </p:sp>
      <p:sp>
        <p:nvSpPr>
          <p:cNvPr id="89" name="矩形 88"/>
          <p:cNvSpPr/>
          <p:nvPr/>
        </p:nvSpPr>
        <p:spPr>
          <a:xfrm>
            <a:off x="2976222" y="4905287"/>
            <a:ext cx="1011257" cy="339725"/>
          </a:xfrm>
          <a:prstGeom prst="rect">
            <a:avLst/>
          </a:prstGeom>
        </p:spPr>
        <p:txBody>
          <a:bodyPr wrap="square">
            <a:spAutoFit/>
          </a:bodyPr>
          <a:lstStyle/>
          <a:p>
            <a:pPr eaLnBrk="0" fontAlgn="base" hangingPunct="0">
              <a:spcBef>
                <a:spcPct val="0"/>
              </a:spcBef>
              <a:spcAft>
                <a:spcPct val="0"/>
              </a:spcAft>
              <a:defRPr/>
            </a:pPr>
            <a:r>
              <a:rPr kumimoji="1" lang="zh-CN" altLang="en-US" sz="1600" dirty="0" smtClean="0">
                <a:solidFill>
                  <a:srgbClr val="CC00FF"/>
                </a:solidFill>
                <a:latin typeface="Tahoma" panose="020B0604030504040204" pitchFamily="34" charset="0"/>
                <a:ea typeface="黑体" panose="02010609060101010101" pitchFamily="49" charset="-122"/>
              </a:rPr>
              <a:t>延迟为</a:t>
            </a:r>
            <a:r>
              <a:rPr kumimoji="1" lang="en-US" altLang="zh-CN" sz="1600" dirty="0" smtClean="0">
                <a:solidFill>
                  <a:srgbClr val="CC00FF"/>
                </a:solidFill>
                <a:latin typeface="Tahoma" panose="020B0604030504040204" pitchFamily="34" charset="0"/>
                <a:ea typeface="黑体" panose="02010609060101010101" pitchFamily="49" charset="-122"/>
              </a:rPr>
              <a:t>4</a:t>
            </a:r>
            <a:endParaRPr kumimoji="1" lang="zh-CN" altLang="en-US" sz="1600" dirty="0">
              <a:solidFill>
                <a:srgbClr val="CC00FF"/>
              </a:solidFill>
              <a:latin typeface="Tahoma" panose="020B0604030504040204" pitchFamily="34" charset="0"/>
              <a:ea typeface="黑体" panose="02010609060101010101" pitchFamily="49" charset="-122"/>
            </a:endParaRPr>
          </a:p>
        </p:txBody>
      </p:sp>
      <p:sp>
        <p:nvSpPr>
          <p:cNvPr id="90" name="矩形 89"/>
          <p:cNvSpPr/>
          <p:nvPr/>
        </p:nvSpPr>
        <p:spPr>
          <a:xfrm>
            <a:off x="1852320" y="4913351"/>
            <a:ext cx="1011257" cy="339725"/>
          </a:xfrm>
          <a:prstGeom prst="rect">
            <a:avLst/>
          </a:prstGeom>
        </p:spPr>
        <p:txBody>
          <a:bodyPr wrap="square">
            <a:spAutoFit/>
          </a:bodyPr>
          <a:lstStyle/>
          <a:p>
            <a:pPr eaLnBrk="0" fontAlgn="base" hangingPunct="0">
              <a:spcBef>
                <a:spcPct val="0"/>
              </a:spcBef>
              <a:spcAft>
                <a:spcPct val="0"/>
              </a:spcAft>
              <a:defRPr/>
            </a:pPr>
            <a:r>
              <a:rPr kumimoji="1" lang="zh-CN" altLang="en-US" sz="1600" dirty="0" smtClean="0">
                <a:solidFill>
                  <a:srgbClr val="CC00FF"/>
                </a:solidFill>
                <a:latin typeface="Tahoma" panose="020B0604030504040204" pitchFamily="34" charset="0"/>
                <a:ea typeface="黑体" panose="02010609060101010101" pitchFamily="49" charset="-122"/>
              </a:rPr>
              <a:t>延迟为</a:t>
            </a:r>
            <a:r>
              <a:rPr kumimoji="1" lang="en-US" altLang="zh-CN" sz="1600" dirty="0" smtClean="0">
                <a:solidFill>
                  <a:srgbClr val="CC00FF"/>
                </a:solidFill>
                <a:latin typeface="Tahoma" panose="020B0604030504040204" pitchFamily="34" charset="0"/>
                <a:ea typeface="黑体" panose="02010609060101010101" pitchFamily="49" charset="-122"/>
              </a:rPr>
              <a:t>3</a:t>
            </a:r>
            <a:endParaRPr kumimoji="1" lang="zh-CN" altLang="en-US" sz="1600" dirty="0">
              <a:solidFill>
                <a:srgbClr val="CC00FF"/>
              </a:solidFill>
              <a:latin typeface="Tahoma" panose="020B0604030504040204" pitchFamily="34" charset="0"/>
              <a:ea typeface="黑体" panose="02010609060101010101" pitchFamily="49" charset="-122"/>
            </a:endParaRPr>
          </a:p>
        </p:txBody>
      </p:sp>
    </p:spTree>
    <p:extLst>
      <p:ext uri="{BB962C8B-B14F-4D97-AF65-F5344CB8AC3E}">
        <p14:creationId xmlns:p14="http://schemas.microsoft.com/office/powerpoint/2010/main" val="641418972"/>
      </p:ext>
    </p:extLst>
  </p:cSld>
  <p:clrMapOvr>
    <a:masterClrMapping/>
  </p:clrMapOvr>
  <p:transition>
    <p:pull dir="rd"/>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zh-CN" dirty="0" smtClean="0">
                <a:latin typeface="黑体" panose="02010609060101010101" pitchFamily="49" charset="-122"/>
              </a:rPr>
              <a:t> </a:t>
            </a:r>
            <a:endParaRPr lang="zh-CN" altLang="en-US" dirty="0" smtClean="0">
              <a:latin typeface="黑体" panose="02010609060101010101" pitchFamily="49" charset="-122"/>
            </a:endParaRPr>
          </a:p>
        </p:txBody>
      </p:sp>
      <p:sp>
        <p:nvSpPr>
          <p:cNvPr id="9219" name="Rectangle 3" descr="Rectangle: Click to edit Master text styles&#10;Second level&#10;Third level&#10;Fourth level&#10;Fifth level"/>
          <p:cNvSpPr>
            <a:spLocks noGrp="1" noChangeArrowheads="1"/>
          </p:cNvSpPr>
          <p:nvPr>
            <p:ph type="body" idx="1"/>
          </p:nvPr>
        </p:nvSpPr>
        <p:spPr>
          <a:xfrm>
            <a:off x="838200" y="219847"/>
            <a:ext cx="10515600" cy="4351338"/>
          </a:xfrm>
        </p:spPr>
        <p:txBody>
          <a:bodyPr>
            <a:normAutofit/>
          </a:bodyPr>
          <a:lstStyle/>
          <a:p>
            <a:pPr marL="0" indent="0" eaLnBrk="1" hangingPunct="1">
              <a:buNone/>
            </a:pPr>
            <a:r>
              <a:rPr lang="en-US" altLang="zh-CN" sz="2200" dirty="0" smtClean="0">
                <a:latin typeface="宋体" panose="02010600030101010101" pitchFamily="2" charset="-122"/>
                <a:ea typeface="宋体" panose="02010600030101010101" pitchFamily="2" charset="-122"/>
              </a:rPr>
              <a:t>5.BTB</a:t>
            </a:r>
            <a:r>
              <a:rPr lang="zh-CN" altLang="en-US" sz="2200" dirty="0" smtClean="0">
                <a:latin typeface="宋体" panose="02010600030101010101" pitchFamily="2" charset="-122"/>
                <a:ea typeface="宋体" panose="02010600030101010101" pitchFamily="2" charset="-122"/>
              </a:rPr>
              <a:t>的另一种形式</a:t>
            </a:r>
          </a:p>
          <a:p>
            <a:pPr marL="1085850" lvl="1" indent="-457200" eaLnBrk="1" hangingPunct="1">
              <a:buNone/>
            </a:pPr>
            <a:r>
              <a:rPr lang="zh-CN" altLang="en-US" sz="2200" dirty="0" smtClean="0">
                <a:latin typeface="宋体" panose="02010600030101010101" pitchFamily="2" charset="-122"/>
                <a:ea typeface="宋体" panose="02010600030101010101" pitchFamily="2" charset="-122"/>
              </a:rPr>
              <a:t>在分支目标缓冲器中存放一条或者多条分支目标处的指令。</a:t>
            </a:r>
          </a:p>
          <a:p>
            <a:pPr marL="803275" lvl="1" indent="-174625" eaLnBrk="1" hangingPunct="1"/>
            <a:r>
              <a:rPr lang="zh-CN" altLang="en-US" sz="2200" dirty="0" smtClean="0">
                <a:latin typeface="宋体" panose="02010600030101010101" pitchFamily="2" charset="-122"/>
                <a:ea typeface="宋体" panose="02010600030101010101" pitchFamily="2" charset="-122"/>
              </a:rPr>
              <a:t>有三个潜在的好处：</a:t>
            </a:r>
          </a:p>
          <a:p>
            <a:pPr lvl="2" eaLnBrk="1" hangingPunct="1"/>
            <a:r>
              <a:rPr lang="zh-CN" altLang="en-US" sz="2200" dirty="0" smtClean="0">
                <a:latin typeface="宋体" panose="02010600030101010101" pitchFamily="2" charset="-122"/>
                <a:ea typeface="宋体" panose="02010600030101010101" pitchFamily="2" charset="-122"/>
              </a:rPr>
              <a:t>更快地获得分支目标处的指令；</a:t>
            </a:r>
          </a:p>
          <a:p>
            <a:pPr lvl="2" eaLnBrk="1" hangingPunct="1"/>
            <a:r>
              <a:rPr lang="zh-CN" altLang="en-US" sz="2200" dirty="0" smtClean="0">
                <a:latin typeface="宋体" panose="02010600030101010101" pitchFamily="2" charset="-122"/>
                <a:ea typeface="宋体" panose="02010600030101010101" pitchFamily="2" charset="-122"/>
              </a:rPr>
              <a:t>可以一次提供分支目标处的多条指令，这对于多流出处理器是很有必要的；</a:t>
            </a:r>
          </a:p>
          <a:p>
            <a:pPr lvl="2" eaLnBrk="1" hangingPunct="1"/>
            <a:r>
              <a:rPr lang="zh-CN" altLang="en-US" sz="2200" dirty="0" smtClean="0">
                <a:latin typeface="宋体" panose="02010600030101010101" pitchFamily="2" charset="-122"/>
                <a:ea typeface="宋体" panose="02010600030101010101" pitchFamily="2" charset="-122"/>
              </a:rPr>
              <a:t>使我们可以进行称为</a:t>
            </a:r>
            <a:r>
              <a:rPr lang="zh-CN" altLang="en-US" sz="2200" dirty="0" smtClean="0">
                <a:solidFill>
                  <a:srgbClr val="FF0000"/>
                </a:solidFill>
                <a:latin typeface="宋体" panose="02010600030101010101" pitchFamily="2" charset="-122"/>
                <a:ea typeface="宋体" panose="02010600030101010101" pitchFamily="2" charset="-122"/>
              </a:rPr>
              <a:t>分支折叠</a:t>
            </a:r>
            <a:r>
              <a:rPr lang="zh-CN" altLang="en-US" sz="2200" dirty="0" smtClean="0">
                <a:solidFill>
                  <a:srgbClr val="9933FF"/>
                </a:solidFill>
                <a:latin typeface="宋体" panose="02010600030101010101" pitchFamily="2" charset="-122"/>
                <a:ea typeface="宋体" panose="02010600030101010101" pitchFamily="2" charset="-122"/>
              </a:rPr>
              <a:t>（</a:t>
            </a:r>
            <a:r>
              <a:rPr lang="en-US" altLang="zh-CN" sz="2200" dirty="0" smtClean="0">
                <a:solidFill>
                  <a:srgbClr val="9933FF"/>
                </a:solidFill>
                <a:latin typeface="宋体" panose="02010600030101010101" pitchFamily="2" charset="-122"/>
                <a:ea typeface="宋体" panose="02010600030101010101" pitchFamily="2" charset="-122"/>
              </a:rPr>
              <a:t>branch folding</a:t>
            </a:r>
            <a:r>
              <a:rPr lang="zh-CN" altLang="en-US" sz="2200" dirty="0" smtClean="0">
                <a:solidFill>
                  <a:srgbClr val="9933FF"/>
                </a:solidFill>
                <a:latin typeface="宋体" panose="02010600030101010101" pitchFamily="2" charset="-122"/>
                <a:ea typeface="宋体" panose="02010600030101010101" pitchFamily="2" charset="-122"/>
              </a:rPr>
              <a:t>）</a:t>
            </a:r>
            <a:r>
              <a:rPr lang="zh-CN" altLang="en-US" sz="2200" dirty="0" smtClean="0">
                <a:latin typeface="宋体" panose="02010600030101010101" pitchFamily="2" charset="-122"/>
                <a:ea typeface="宋体" panose="02010600030101010101" pitchFamily="2" charset="-122"/>
              </a:rPr>
              <a:t>的优化。</a:t>
            </a:r>
          </a:p>
          <a:p>
            <a:pPr lvl="3" eaLnBrk="1" hangingPunct="1">
              <a:buFont typeface="Wingdings" panose="05000000000000000000" pitchFamily="2" charset="2"/>
              <a:buNone/>
            </a:pPr>
            <a:r>
              <a:rPr lang="zh-CN" altLang="en-US" sz="2200" dirty="0" smtClean="0">
                <a:latin typeface="宋体" panose="02010600030101010101" pitchFamily="2" charset="-122"/>
                <a:ea typeface="宋体" panose="02010600030101010101" pitchFamily="2" charset="-122"/>
              </a:rPr>
              <a:t>    实现零延迟无条件分支，甚至有时还可以做到</a:t>
            </a:r>
          </a:p>
          <a:p>
            <a:pPr lvl="3" eaLnBrk="1" hangingPunct="1">
              <a:buFont typeface="Wingdings" panose="05000000000000000000" pitchFamily="2" charset="2"/>
              <a:buNone/>
            </a:pPr>
            <a:r>
              <a:rPr lang="zh-CN" altLang="en-US" sz="2200" dirty="0" smtClean="0">
                <a:latin typeface="宋体" panose="02010600030101010101" pitchFamily="2" charset="-122"/>
                <a:ea typeface="宋体" panose="02010600030101010101" pitchFamily="2" charset="-122"/>
              </a:rPr>
              <a:t>零延迟条件分支。</a:t>
            </a:r>
          </a:p>
        </p:txBody>
      </p:sp>
      <p:graphicFrame>
        <p:nvGraphicFramePr>
          <p:cNvPr id="4" name="Object 2"/>
          <p:cNvGraphicFramePr>
            <a:graphicFrameLocks noChangeAspect="1"/>
          </p:cNvGraphicFramePr>
          <p:nvPr>
            <p:extLst>
              <p:ext uri="{D42A27DB-BD31-4B8C-83A1-F6EECF244321}">
                <p14:modId xmlns:p14="http://schemas.microsoft.com/office/powerpoint/2010/main" val="267613395"/>
              </p:ext>
            </p:extLst>
          </p:nvPr>
        </p:nvGraphicFramePr>
        <p:xfrm>
          <a:off x="838200" y="3321573"/>
          <a:ext cx="8407400" cy="3286125"/>
        </p:xfrm>
        <a:graphic>
          <a:graphicData uri="http://schemas.openxmlformats.org/presentationml/2006/ole">
            <mc:AlternateContent xmlns:mc="http://schemas.openxmlformats.org/markup-compatibility/2006">
              <mc:Choice xmlns:v="urn:schemas-microsoft-com:vml" Requires="v">
                <p:oleObj spid="_x0000_s66722" name="Picture" r:id="rId3" imgW="4673600" imgH="1670756" progId="Word.Picture.8">
                  <p:embed/>
                </p:oleObj>
              </mc:Choice>
              <mc:Fallback>
                <p:oleObj name="Picture" r:id="rId3" imgW="4673600" imgH="1670756"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3321573"/>
                        <a:ext cx="84074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994807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39671" y="232777"/>
            <a:ext cx="4586653" cy="684334"/>
          </a:xfrm>
        </p:spPr>
        <p:txBody>
          <a:bodyPr>
            <a:noAutofit/>
          </a:bodyPr>
          <a:lstStyle/>
          <a:p>
            <a:r>
              <a:rPr kumimoji="0" lang="en-US" altLang="zh-CN" sz="2800" kern="1200" dirty="0" smtClean="0">
                <a:solidFill>
                  <a:srgbClr val="0000CC"/>
                </a:solidFill>
                <a:latin typeface="宋体" panose="02010600030101010101" pitchFamily="2" charset="-122"/>
                <a:ea typeface="宋体" panose="02010600030101010101" pitchFamily="2" charset="-122"/>
                <a:cs typeface="+mn-cs"/>
              </a:rPr>
              <a:t>4.3 </a:t>
            </a:r>
            <a:r>
              <a:rPr kumimoji="0" lang="zh-CN" altLang="en-US" sz="2800" kern="1200" dirty="0">
                <a:solidFill>
                  <a:srgbClr val="0000CC"/>
                </a:solidFill>
                <a:latin typeface="宋体" panose="02010600030101010101" pitchFamily="2" charset="-122"/>
                <a:ea typeface="宋体" panose="02010600030101010101" pitchFamily="2" charset="-122"/>
                <a:cs typeface="+mn-cs"/>
              </a:rPr>
              <a:t>基于硬件的前</a:t>
            </a:r>
            <a:r>
              <a:rPr kumimoji="0" lang="zh-CN" altLang="en-US" sz="2800" kern="1200" dirty="0" smtClean="0">
                <a:solidFill>
                  <a:srgbClr val="0000CC"/>
                </a:solidFill>
                <a:latin typeface="宋体" panose="02010600030101010101" pitchFamily="2" charset="-122"/>
                <a:ea typeface="宋体" panose="02010600030101010101" pitchFamily="2" charset="-122"/>
                <a:cs typeface="+mn-cs"/>
              </a:rPr>
              <a:t>瞻</a:t>
            </a:r>
            <a:r>
              <a:rPr kumimoji="0" lang="zh-CN" altLang="en-US" sz="2800" kern="1200" dirty="0">
                <a:solidFill>
                  <a:srgbClr val="0000CC"/>
                </a:solidFill>
                <a:latin typeface="宋体" panose="02010600030101010101" pitchFamily="2" charset="-122"/>
                <a:ea typeface="宋体" panose="02010600030101010101" pitchFamily="2" charset="-122"/>
                <a:cs typeface="+mn-cs"/>
              </a:rPr>
              <a:t>执行</a:t>
            </a:r>
            <a:br>
              <a:rPr kumimoji="0" lang="zh-CN" altLang="en-US" sz="2800" kern="1200" dirty="0">
                <a:solidFill>
                  <a:srgbClr val="0000CC"/>
                </a:solidFill>
                <a:latin typeface="宋体" panose="02010600030101010101" pitchFamily="2" charset="-122"/>
                <a:ea typeface="宋体" panose="02010600030101010101" pitchFamily="2" charset="-122"/>
                <a:cs typeface="+mn-cs"/>
              </a:rPr>
            </a:br>
            <a:endParaRPr lang="zh-CN" altLang="en-US" sz="2800" dirty="0">
              <a:solidFill>
                <a:srgbClr val="0000CC"/>
              </a:solidFill>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885312" y="1096574"/>
            <a:ext cx="9455100" cy="4953000"/>
          </a:xfrm>
        </p:spPr>
        <p:txBody>
          <a:bodyPr/>
          <a:lstStyle/>
          <a:p>
            <a:pPr marL="457200" lvl="0" indent="-457200" eaLnBrk="1" hangingPunct="1">
              <a:buClr>
                <a:srgbClr val="40458C"/>
              </a:buClr>
              <a:buNone/>
            </a:pPr>
            <a:r>
              <a:rPr lang="zh-CN" altLang="en-US" sz="2400" dirty="0" smtClean="0">
                <a:solidFill>
                  <a:srgbClr val="000000"/>
                </a:solidFill>
                <a:latin typeface="宋体" panose="02010600030101010101" pitchFamily="2" charset="-122"/>
                <a:ea typeface="宋体" panose="02010600030101010101" pitchFamily="2" charset="-122"/>
              </a:rPr>
              <a:t>过程要点</a:t>
            </a:r>
            <a:r>
              <a:rPr lang="zh-CN" altLang="en-US" sz="2400" dirty="0">
                <a:solidFill>
                  <a:srgbClr val="000000"/>
                </a:solidFill>
                <a:latin typeface="宋体" panose="02010600030101010101" pitchFamily="2" charset="-122"/>
                <a:ea typeface="宋体" panose="02010600030101010101" pitchFamily="2" charset="-122"/>
              </a:rPr>
              <a:t>：</a:t>
            </a:r>
          </a:p>
          <a:p>
            <a:pPr marL="457200" lvl="0" indent="-12700" eaLnBrk="1" hangingPunct="1">
              <a:buClr>
                <a:srgbClr val="40458C"/>
              </a:buClr>
              <a:buNone/>
            </a:pPr>
            <a:r>
              <a:rPr lang="en-US" altLang="zh-CN" sz="2400" dirty="0">
                <a:solidFill>
                  <a:srgbClr val="000000"/>
                </a:solidFill>
                <a:latin typeface="宋体" panose="02010600030101010101" pitchFamily="2" charset="-122"/>
                <a:ea typeface="宋体" panose="02010600030101010101" pitchFamily="2" charset="-122"/>
              </a:rPr>
              <a:t>1. </a:t>
            </a:r>
            <a:r>
              <a:rPr lang="zh-CN" altLang="en-US" sz="2400" dirty="0" smtClean="0">
                <a:solidFill>
                  <a:srgbClr val="000000"/>
                </a:solidFill>
                <a:latin typeface="宋体" panose="02010600030101010101" pitchFamily="2" charset="-122"/>
                <a:ea typeface="宋体" panose="02010600030101010101" pitchFamily="2" charset="-122"/>
              </a:rPr>
              <a:t>流出</a:t>
            </a:r>
            <a:r>
              <a:rPr lang="zh-CN" altLang="en-US" sz="2400" dirty="0">
                <a:solidFill>
                  <a:srgbClr val="000000"/>
                </a:solidFill>
                <a:latin typeface="宋体" panose="02010600030101010101" pitchFamily="2" charset="-122"/>
                <a:ea typeface="宋体" panose="02010600030101010101" pitchFamily="2" charset="-122"/>
              </a:rPr>
              <a:t>、执行、写结果、确认四个阶段</a:t>
            </a:r>
          </a:p>
          <a:p>
            <a:pPr marL="457200" lvl="0" indent="-12700" eaLnBrk="1" hangingPunct="1">
              <a:buClr>
                <a:srgbClr val="40458C"/>
              </a:buClr>
              <a:buNone/>
            </a:pPr>
            <a:r>
              <a:rPr lang="en-US" altLang="zh-CN" sz="2400" dirty="0">
                <a:solidFill>
                  <a:srgbClr val="000000"/>
                </a:solidFill>
                <a:latin typeface="宋体" panose="02010600030101010101" pitchFamily="2" charset="-122"/>
                <a:ea typeface="宋体" panose="02010600030101010101" pitchFamily="2" charset="-122"/>
              </a:rPr>
              <a:t>2. </a:t>
            </a:r>
            <a:r>
              <a:rPr lang="zh-CN" altLang="en-US" sz="2400" dirty="0">
                <a:solidFill>
                  <a:srgbClr val="000000"/>
                </a:solidFill>
                <a:latin typeface="宋体" panose="02010600030101010101" pitchFamily="2" charset="-122"/>
                <a:ea typeface="宋体" panose="02010600030101010101" pitchFamily="2" charset="-122"/>
              </a:rPr>
              <a:t>顺序流出、准备好的先执行（乱序执行），顺序确认</a:t>
            </a:r>
          </a:p>
          <a:p>
            <a:pPr marL="457200" lvl="0" indent="-12700" eaLnBrk="1" hangingPunct="1">
              <a:buClr>
                <a:srgbClr val="40458C"/>
              </a:buClr>
              <a:buNone/>
            </a:pPr>
            <a:r>
              <a:rPr lang="en-US" altLang="zh-CN" sz="2400" dirty="0">
                <a:solidFill>
                  <a:srgbClr val="000000"/>
                </a:solidFill>
                <a:latin typeface="宋体" panose="02010600030101010101" pitchFamily="2" charset="-122"/>
                <a:ea typeface="宋体" panose="02010600030101010101" pitchFamily="2" charset="-122"/>
              </a:rPr>
              <a:t>3. </a:t>
            </a:r>
            <a:r>
              <a:rPr lang="zh-CN" altLang="en-US" sz="2400" dirty="0">
                <a:solidFill>
                  <a:srgbClr val="000000"/>
                </a:solidFill>
                <a:latin typeface="宋体" panose="02010600030101010101" pitchFamily="2" charset="-122"/>
                <a:ea typeface="宋体" panose="02010600030101010101" pitchFamily="2" charset="-122"/>
              </a:rPr>
              <a:t>分支预测错误，刷新</a:t>
            </a:r>
            <a:r>
              <a:rPr lang="en-US" altLang="zh-CN" sz="2400" dirty="0">
                <a:solidFill>
                  <a:srgbClr val="000000"/>
                </a:solidFill>
                <a:latin typeface="宋体" panose="02010600030101010101" pitchFamily="2" charset="-122"/>
                <a:ea typeface="宋体" panose="02010600030101010101" pitchFamily="2" charset="-122"/>
              </a:rPr>
              <a:t>ROB</a:t>
            </a:r>
          </a:p>
          <a:p>
            <a:pPr marL="457200" lvl="0" indent="-12700" eaLnBrk="1" hangingPunct="1">
              <a:buClr>
                <a:srgbClr val="40458C"/>
              </a:buClr>
              <a:buNone/>
            </a:pPr>
            <a:r>
              <a:rPr lang="en-US" altLang="zh-CN" sz="2400" dirty="0">
                <a:solidFill>
                  <a:srgbClr val="000000"/>
                </a:solidFill>
                <a:latin typeface="宋体" panose="02010600030101010101" pitchFamily="2" charset="-122"/>
                <a:ea typeface="宋体" panose="02010600030101010101" pitchFamily="2" charset="-122"/>
              </a:rPr>
              <a:t>4. </a:t>
            </a:r>
            <a:r>
              <a:rPr lang="zh-CN" altLang="en-US" sz="2400" dirty="0">
                <a:solidFill>
                  <a:srgbClr val="000000"/>
                </a:solidFill>
                <a:latin typeface="宋体" panose="02010600030101010101" pitchFamily="2" charset="-122"/>
                <a:ea typeface="宋体" panose="02010600030101010101" pitchFamily="2" charset="-122"/>
              </a:rPr>
              <a:t>异常指令到达</a:t>
            </a:r>
            <a:r>
              <a:rPr lang="en-US" altLang="zh-CN" sz="2400" dirty="0">
                <a:solidFill>
                  <a:srgbClr val="000000"/>
                </a:solidFill>
                <a:latin typeface="宋体" panose="02010600030101010101" pitchFamily="2" charset="-122"/>
                <a:ea typeface="宋体" panose="02010600030101010101" pitchFamily="2" charset="-122"/>
              </a:rPr>
              <a:t>ROB</a:t>
            </a:r>
            <a:r>
              <a:rPr lang="zh-CN" altLang="en-US" sz="2400" dirty="0">
                <a:solidFill>
                  <a:srgbClr val="000000"/>
                </a:solidFill>
                <a:latin typeface="宋体" panose="02010600030101010101" pitchFamily="2" charset="-122"/>
                <a:ea typeface="宋体" panose="02010600030101010101" pitchFamily="2" charset="-122"/>
              </a:rPr>
              <a:t>头部，刷新</a:t>
            </a:r>
            <a:r>
              <a:rPr lang="en-US" altLang="zh-CN" sz="2400" dirty="0">
                <a:solidFill>
                  <a:srgbClr val="000000"/>
                </a:solidFill>
                <a:latin typeface="宋体" panose="02010600030101010101" pitchFamily="2" charset="-122"/>
                <a:ea typeface="宋体" panose="02010600030101010101" pitchFamily="2" charset="-122"/>
              </a:rPr>
              <a:t>ROB</a:t>
            </a:r>
            <a:endParaRPr lang="zh-CN" altLang="en-US" sz="2400" dirty="0">
              <a:solidFill>
                <a:srgbClr val="000000"/>
              </a:solidFill>
              <a:latin typeface="宋体" panose="02010600030101010101" pitchFamily="2" charset="-122"/>
              <a:ea typeface="宋体" panose="02010600030101010101" pitchFamily="2" charset="-122"/>
            </a:endParaRPr>
          </a:p>
          <a:p>
            <a:endParaRPr lang="zh-CN" altLang="en-US" dirty="0"/>
          </a:p>
        </p:txBody>
      </p:sp>
    </p:spTree>
    <p:extLst>
      <p:ext uri="{BB962C8B-B14F-4D97-AF65-F5344CB8AC3E}">
        <p14:creationId xmlns:p14="http://schemas.microsoft.com/office/powerpoint/2010/main" val="9164821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88771" name="内容占位符 2" descr="Rectangle: Click to edit Master text styles&#10;Second level&#10;Third level&#10;Fourth level&#10;Fifth level"/>
          <p:cNvSpPr>
            <a:spLocks noGrp="1"/>
          </p:cNvSpPr>
          <p:nvPr>
            <p:ph idx="1"/>
          </p:nvPr>
        </p:nvSpPr>
        <p:spPr>
          <a:xfrm>
            <a:off x="791198" y="783366"/>
            <a:ext cx="7772400" cy="5335423"/>
          </a:xfrm>
        </p:spPr>
        <p:txBody>
          <a:bodyPr>
            <a:normAutofit/>
          </a:bodyPr>
          <a:lstStyle/>
          <a:p>
            <a:pPr marL="0" indent="0">
              <a:lnSpc>
                <a:spcPts val="3000"/>
              </a:lnSpc>
              <a:spcBef>
                <a:spcPts val="600"/>
              </a:spcBef>
              <a:buNone/>
            </a:pPr>
            <a:r>
              <a:rPr lang="en-US" altLang="zh-CN" dirty="0" smtClean="0">
                <a:solidFill>
                  <a:schemeClr val="tx1"/>
                </a:solidFill>
              </a:rPr>
              <a:t>   </a:t>
            </a:r>
            <a:r>
              <a:rPr lang="en-US" altLang="zh-CN" sz="2200" dirty="0" err="1" smtClean="0">
                <a:solidFill>
                  <a:srgbClr val="FF0000"/>
                </a:solidFill>
                <a:latin typeface="宋体" panose="02010600030101010101" pitchFamily="2" charset="-122"/>
                <a:ea typeface="宋体" panose="02010600030101010101" pitchFamily="2" charset="-122"/>
              </a:rPr>
              <a:t>Tomasulo</a:t>
            </a:r>
            <a:r>
              <a:rPr lang="zh-CN" altLang="en-US" sz="2200" dirty="0" smtClean="0">
                <a:solidFill>
                  <a:srgbClr val="FF0000"/>
                </a:solidFill>
                <a:latin typeface="宋体" panose="02010600030101010101" pitchFamily="2" charset="-122"/>
                <a:ea typeface="宋体" panose="02010600030101010101" pitchFamily="2" charset="-122"/>
              </a:rPr>
              <a:t>算法能够做什么？不能够做什么？</a:t>
            </a:r>
            <a:endParaRPr lang="en-US" altLang="zh-CN" sz="2200" dirty="0" smtClean="0">
              <a:solidFill>
                <a:srgbClr val="FF0000"/>
              </a:solidFill>
              <a:latin typeface="宋体" panose="02010600030101010101" pitchFamily="2" charset="-122"/>
              <a:ea typeface="宋体" panose="02010600030101010101" pitchFamily="2" charset="-122"/>
            </a:endParaRPr>
          </a:p>
          <a:p>
            <a:pPr marL="0" indent="0">
              <a:lnSpc>
                <a:spcPts val="3000"/>
              </a:lnSpc>
              <a:spcBef>
                <a:spcPts val="600"/>
              </a:spcBef>
              <a:buNone/>
            </a:pPr>
            <a:r>
              <a:rPr lang="zh-CN" altLang="en-US" sz="2200" dirty="0" smtClean="0">
                <a:solidFill>
                  <a:schemeClr val="tx1"/>
                </a:solidFill>
                <a:latin typeface="宋体" panose="02010600030101010101" pitchFamily="2" charset="-122"/>
                <a:ea typeface="宋体" panose="02010600030101010101" pitchFamily="2" charset="-122"/>
              </a:rPr>
              <a:t>     能做：</a:t>
            </a:r>
            <a:endParaRPr lang="en-US" altLang="zh-CN" sz="2200" dirty="0" smtClean="0">
              <a:solidFill>
                <a:schemeClr val="tx1"/>
              </a:solidFill>
              <a:latin typeface="宋体" panose="02010600030101010101" pitchFamily="2" charset="-122"/>
              <a:ea typeface="宋体" panose="02010600030101010101" pitchFamily="2" charset="-122"/>
            </a:endParaRPr>
          </a:p>
          <a:p>
            <a:pPr marL="1255713" indent="358775">
              <a:lnSpc>
                <a:spcPts val="3000"/>
              </a:lnSpc>
              <a:spcBef>
                <a:spcPts val="600"/>
              </a:spcBef>
            </a:pPr>
            <a:r>
              <a:rPr lang="zh-CN" altLang="en-US" sz="2200" dirty="0">
                <a:latin typeface="宋体" panose="02010600030101010101" pitchFamily="2" charset="-122"/>
                <a:ea typeface="宋体" panose="02010600030101010101" pitchFamily="2" charset="-122"/>
              </a:rPr>
              <a:t>解决</a:t>
            </a:r>
            <a:r>
              <a:rPr lang="en-US" altLang="zh-CN" sz="2200" dirty="0">
                <a:latin typeface="宋体" panose="02010600030101010101" pitchFamily="2" charset="-122"/>
                <a:ea typeface="宋体" panose="02010600030101010101" pitchFamily="2" charset="-122"/>
              </a:rPr>
              <a:t>RAW</a:t>
            </a:r>
            <a:r>
              <a:rPr lang="zh-CN" altLang="en-US" sz="2200" dirty="0">
                <a:latin typeface="宋体" panose="02010600030101010101" pitchFamily="2" charset="-122"/>
                <a:ea typeface="宋体" panose="02010600030101010101" pitchFamily="2" charset="-122"/>
              </a:rPr>
              <a:t>冲突 （</a:t>
            </a:r>
            <a:r>
              <a:rPr lang="en-US" altLang="zh-CN" sz="2200" dirty="0">
                <a:latin typeface="宋体" panose="02010600030101010101" pitchFamily="2" charset="-122"/>
                <a:ea typeface="宋体" panose="02010600030101010101" pitchFamily="2" charset="-122"/>
              </a:rPr>
              <a:t>CDB</a:t>
            </a:r>
            <a:r>
              <a:rPr lang="zh-CN" altLang="en-US"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marL="1255713" indent="358775">
              <a:lnSpc>
                <a:spcPts val="3000"/>
              </a:lnSpc>
              <a:spcBef>
                <a:spcPts val="600"/>
              </a:spcBef>
            </a:pPr>
            <a:r>
              <a:rPr lang="zh-CN" altLang="en-US" sz="2200" dirty="0">
                <a:latin typeface="宋体" panose="02010600030101010101" pitchFamily="2" charset="-122"/>
                <a:ea typeface="宋体" panose="02010600030101010101" pitchFamily="2" charset="-122"/>
              </a:rPr>
              <a:t>消除</a:t>
            </a:r>
            <a:r>
              <a:rPr lang="en-US" altLang="zh-CN" sz="2200" dirty="0">
                <a:latin typeface="宋体" panose="02010600030101010101" pitchFamily="2" charset="-122"/>
                <a:ea typeface="宋体" panose="02010600030101010101" pitchFamily="2" charset="-122"/>
              </a:rPr>
              <a:t>WAW</a:t>
            </a:r>
            <a:r>
              <a:rPr lang="zh-CN" altLang="en-US" sz="2200" dirty="0">
                <a:latin typeface="宋体" panose="02010600030101010101" pitchFamily="2" charset="-122"/>
                <a:ea typeface="宋体" panose="02010600030101010101" pitchFamily="2" charset="-122"/>
              </a:rPr>
              <a:t>和</a:t>
            </a:r>
            <a:r>
              <a:rPr lang="en-US" altLang="zh-CN" sz="2200" dirty="0">
                <a:latin typeface="宋体" panose="02010600030101010101" pitchFamily="2" charset="-122"/>
                <a:ea typeface="宋体" panose="02010600030101010101" pitchFamily="2" charset="-122"/>
              </a:rPr>
              <a:t>WAR</a:t>
            </a:r>
            <a:r>
              <a:rPr lang="zh-CN" altLang="en-US" sz="2200" dirty="0">
                <a:latin typeface="宋体" panose="02010600030101010101" pitchFamily="2" charset="-122"/>
                <a:ea typeface="宋体" panose="02010600030101010101" pitchFamily="2" charset="-122"/>
              </a:rPr>
              <a:t>冲突</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换名</a:t>
            </a:r>
            <a:r>
              <a:rPr lang="en-US" altLang="zh-CN" sz="2200" dirty="0">
                <a:latin typeface="宋体" panose="02010600030101010101" pitchFamily="2" charset="-122"/>
                <a:ea typeface="宋体" panose="02010600030101010101" pitchFamily="2" charset="-122"/>
              </a:rPr>
              <a:t>)</a:t>
            </a:r>
          </a:p>
          <a:p>
            <a:pPr marL="1255713" indent="358775">
              <a:lnSpc>
                <a:spcPts val="3000"/>
              </a:lnSpc>
              <a:spcBef>
                <a:spcPts val="600"/>
              </a:spcBef>
            </a:pPr>
            <a:r>
              <a:rPr lang="zh-CN" altLang="en-US" sz="2200" dirty="0">
                <a:latin typeface="宋体" panose="02010600030101010101" pitchFamily="2" charset="-122"/>
                <a:ea typeface="宋体" panose="02010600030101010101" pitchFamily="2" charset="-122"/>
              </a:rPr>
              <a:t>浮点运算，</a:t>
            </a:r>
            <a:r>
              <a:rPr lang="en-US" altLang="zh-CN" sz="2200" dirty="0">
                <a:latin typeface="宋体" panose="02010600030101010101" pitchFamily="2" charset="-122"/>
                <a:ea typeface="宋体" panose="02010600030101010101" pitchFamily="2" charset="-122"/>
              </a:rPr>
              <a:t>load/store</a:t>
            </a:r>
            <a:r>
              <a:rPr lang="zh-CN" altLang="en-US" sz="2200" dirty="0">
                <a:latin typeface="宋体" panose="02010600030101010101" pitchFamily="2" charset="-122"/>
                <a:ea typeface="宋体" panose="02010600030101010101" pitchFamily="2" charset="-122"/>
              </a:rPr>
              <a:t>运算</a:t>
            </a:r>
            <a:endParaRPr lang="en-US" altLang="zh-CN" sz="2200" dirty="0">
              <a:latin typeface="宋体" panose="02010600030101010101" pitchFamily="2" charset="-122"/>
              <a:ea typeface="宋体" panose="02010600030101010101" pitchFamily="2" charset="-122"/>
            </a:endParaRPr>
          </a:p>
          <a:p>
            <a:pPr marL="0" indent="0">
              <a:lnSpc>
                <a:spcPts val="3000"/>
              </a:lnSpc>
              <a:spcBef>
                <a:spcPts val="600"/>
              </a:spcBef>
              <a:buNone/>
            </a:pPr>
            <a:r>
              <a:rPr lang="zh-CN" altLang="en-US" sz="2200" dirty="0" smtClean="0">
                <a:solidFill>
                  <a:schemeClr val="tx1"/>
                </a:solidFill>
                <a:latin typeface="宋体" panose="02010600030101010101" pitchFamily="2" charset="-122"/>
                <a:ea typeface="宋体" panose="02010600030101010101" pitchFamily="2" charset="-122"/>
              </a:rPr>
              <a:t>     不能做：</a:t>
            </a:r>
            <a:endParaRPr lang="en-US" altLang="zh-CN" sz="2200" dirty="0" smtClean="0">
              <a:solidFill>
                <a:schemeClr val="tx1"/>
              </a:solidFill>
              <a:latin typeface="宋体" panose="02010600030101010101" pitchFamily="2" charset="-122"/>
              <a:ea typeface="宋体" panose="02010600030101010101" pitchFamily="2" charset="-122"/>
            </a:endParaRPr>
          </a:p>
          <a:p>
            <a:pPr marL="1255713" indent="358775">
              <a:lnSpc>
                <a:spcPts val="3000"/>
              </a:lnSpc>
              <a:spcBef>
                <a:spcPts val="600"/>
              </a:spcBef>
            </a:pPr>
            <a:r>
              <a:rPr lang="zh-CN" altLang="en-US" sz="2200" dirty="0" smtClean="0">
                <a:latin typeface="宋体" panose="02010600030101010101" pitchFamily="2" charset="-122"/>
                <a:ea typeface="宋体" panose="02010600030101010101" pitchFamily="2" charset="-122"/>
              </a:rPr>
              <a:t>分支</a:t>
            </a:r>
            <a:r>
              <a:rPr lang="zh-CN" altLang="en-US" sz="2200" dirty="0">
                <a:latin typeface="宋体" panose="02010600030101010101" pitchFamily="2" charset="-122"/>
                <a:ea typeface="宋体" panose="02010600030101010101" pitchFamily="2" charset="-122"/>
              </a:rPr>
              <a:t>预测 </a:t>
            </a:r>
            <a:endParaRPr lang="en-US" altLang="zh-CN" sz="2200" dirty="0">
              <a:latin typeface="宋体" panose="02010600030101010101" pitchFamily="2" charset="-122"/>
              <a:ea typeface="宋体" panose="02010600030101010101" pitchFamily="2" charset="-122"/>
            </a:endParaRPr>
          </a:p>
          <a:p>
            <a:pPr marL="1255713" indent="358775">
              <a:lnSpc>
                <a:spcPts val="3000"/>
              </a:lnSpc>
              <a:spcBef>
                <a:spcPts val="600"/>
              </a:spcBef>
            </a:pPr>
            <a:r>
              <a:rPr lang="zh-CN" altLang="en-US" sz="2200" dirty="0" smtClean="0">
                <a:latin typeface="宋体" panose="02010600030101010101" pitchFamily="2" charset="-122"/>
                <a:ea typeface="宋体" panose="02010600030101010101" pitchFamily="2" charset="-122"/>
              </a:rPr>
              <a:t>处理</a:t>
            </a:r>
            <a:r>
              <a:rPr lang="zh-CN" altLang="en-US" sz="2200" dirty="0">
                <a:latin typeface="宋体" panose="02010600030101010101" pitchFamily="2" charset="-122"/>
                <a:ea typeface="宋体" panose="02010600030101010101" pitchFamily="2" charset="-122"/>
              </a:rPr>
              <a:t>异常</a:t>
            </a:r>
            <a:endParaRPr lang="en-US" altLang="zh-CN" sz="2200" dirty="0">
              <a:latin typeface="宋体" panose="02010600030101010101" pitchFamily="2" charset="-122"/>
              <a:ea typeface="宋体" panose="02010600030101010101" pitchFamily="2" charset="-122"/>
            </a:endParaRPr>
          </a:p>
          <a:p>
            <a:pPr marL="1255713" indent="0">
              <a:lnSpc>
                <a:spcPts val="3000"/>
              </a:lnSpc>
              <a:spcBef>
                <a:spcPts val="600"/>
              </a:spcBef>
              <a:buNone/>
            </a:pPr>
            <a:r>
              <a:rPr lang="en-US" altLang="zh-CN" sz="2200" dirty="0">
                <a:latin typeface="宋体" panose="02010600030101010101" pitchFamily="2" charset="-122"/>
                <a:ea typeface="宋体" panose="02010600030101010101" pitchFamily="2" charset="-122"/>
              </a:rPr>
              <a:t> </a:t>
            </a:r>
            <a:endParaRPr lang="zh-CN" altLang="en-US" sz="2200" dirty="0">
              <a:latin typeface="宋体" panose="02010600030101010101" pitchFamily="2" charset="-122"/>
              <a:ea typeface="宋体" panose="02010600030101010101" pitchFamily="2" charset="-122"/>
            </a:endParaRPr>
          </a:p>
          <a:p>
            <a:pPr marL="0" indent="0">
              <a:buNone/>
            </a:pPr>
            <a:endParaRPr lang="zh-CN" altLang="en-US" dirty="0" smtClean="0"/>
          </a:p>
        </p:txBody>
      </p:sp>
    </p:spTree>
    <p:extLst>
      <p:ext uri="{BB962C8B-B14F-4D97-AF65-F5344CB8AC3E}">
        <p14:creationId xmlns:p14="http://schemas.microsoft.com/office/powerpoint/2010/main" val="7417339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a:xfrm>
            <a:off x="846746" y="536041"/>
            <a:ext cx="10515600" cy="1325563"/>
          </a:xfrm>
        </p:spPr>
        <p:txBody>
          <a:bodyPr/>
          <a:lstStyle/>
          <a:p>
            <a:pPr eaLnBrk="1" hangingPunct="1"/>
            <a:r>
              <a:rPr lang="en-US" altLang="zh-CN" dirty="0" smtClean="0">
                <a:latin typeface="黑体" panose="02010609060101010101" pitchFamily="49" charset="-122"/>
              </a:rPr>
              <a:t> </a:t>
            </a:r>
            <a:endParaRPr lang="zh-CN" altLang="en-US" dirty="0" smtClean="0">
              <a:latin typeface="黑体" panose="02010609060101010101" pitchFamily="49" charset="-122"/>
            </a:endParaRPr>
          </a:p>
        </p:txBody>
      </p:sp>
      <p:sp>
        <p:nvSpPr>
          <p:cNvPr id="289795" name="Rectangle 3" descr="Rectangle: Click to edit Master text styles&#10;Second level&#10;Third level&#10;Fourth level&#10;Fifth level"/>
          <p:cNvSpPr>
            <a:spLocks noGrp="1" noChangeArrowheads="1"/>
          </p:cNvSpPr>
          <p:nvPr>
            <p:ph idx="1"/>
          </p:nvPr>
        </p:nvSpPr>
        <p:spPr>
          <a:xfrm>
            <a:off x="311046" y="365125"/>
            <a:ext cx="11148864" cy="5260975"/>
          </a:xfrm>
        </p:spPr>
        <p:txBody>
          <a:bodyPr>
            <a:normAutofit/>
          </a:bodyPr>
          <a:lstStyle/>
          <a:p>
            <a:pPr marL="457200" indent="-457200" eaLnBrk="1" hangingPunct="1">
              <a:buNone/>
            </a:pPr>
            <a:r>
              <a:rPr lang="zh-CN" altLang="en-US" sz="2400" dirty="0" smtClean="0">
                <a:solidFill>
                  <a:srgbClr val="FF0000"/>
                </a:solidFill>
                <a:latin typeface="宋体" panose="02010600030101010101" pitchFamily="2" charset="-122"/>
                <a:ea typeface="宋体" panose="02010600030101010101" pitchFamily="2" charset="-122"/>
              </a:rPr>
              <a:t>前瞻执行（</a:t>
            </a:r>
            <a:r>
              <a:rPr lang="en-US" altLang="zh-CN" sz="2400" dirty="0" smtClean="0">
                <a:solidFill>
                  <a:srgbClr val="FF0000"/>
                </a:solidFill>
                <a:latin typeface="宋体" panose="02010600030101010101" pitchFamily="2" charset="-122"/>
                <a:ea typeface="宋体" panose="02010600030101010101" pitchFamily="2" charset="-122"/>
              </a:rPr>
              <a:t>speculation</a:t>
            </a:r>
            <a:r>
              <a:rPr lang="zh-CN" altLang="en-US" sz="2400" dirty="0" smtClean="0">
                <a:solidFill>
                  <a:srgbClr val="FF0000"/>
                </a:solidFill>
                <a:latin typeface="宋体" panose="02010600030101010101" pitchFamily="2" charset="-122"/>
                <a:ea typeface="宋体" panose="02010600030101010101" pitchFamily="2" charset="-122"/>
              </a:rPr>
              <a:t>）的基本思想：</a:t>
            </a:r>
          </a:p>
          <a:p>
            <a:pPr marL="457200" indent="-457200" eaLnBrk="1" hangingPunct="1">
              <a:buNone/>
            </a:pPr>
            <a:r>
              <a:rPr lang="zh-CN" altLang="en-US" sz="2400" dirty="0" smtClean="0">
                <a:solidFill>
                  <a:srgbClr val="000000"/>
                </a:solidFill>
                <a:latin typeface="宋体" panose="02010600030101010101" pitchFamily="2" charset="-122"/>
                <a:ea typeface="宋体" panose="02010600030101010101" pitchFamily="2" charset="-122"/>
              </a:rPr>
              <a:t>   对分支指令的</a:t>
            </a:r>
            <a:r>
              <a:rPr lang="zh-CN" altLang="en-US" sz="2400" dirty="0" smtClean="0">
                <a:solidFill>
                  <a:srgbClr val="0000CC"/>
                </a:solidFill>
                <a:latin typeface="宋体" panose="02010600030101010101" pitchFamily="2" charset="-122"/>
                <a:ea typeface="宋体" panose="02010600030101010101" pitchFamily="2" charset="-122"/>
              </a:rPr>
              <a:t>结果</a:t>
            </a:r>
            <a:r>
              <a:rPr lang="zh-CN" altLang="en-US" sz="2400" dirty="0" smtClean="0">
                <a:solidFill>
                  <a:srgbClr val="000000"/>
                </a:solidFill>
                <a:latin typeface="宋体" panose="02010600030101010101" pitchFamily="2" charset="-122"/>
                <a:ea typeface="宋体" panose="02010600030101010101" pitchFamily="2" charset="-122"/>
              </a:rPr>
              <a:t>进行猜测，并假设这个猜测总是对的，然后按这个猜测结果继续取出、流出和执行后续的指令。只是执行指令的结果不是写回到寄存器或存储器，而是放到一个称为</a:t>
            </a:r>
            <a:r>
              <a:rPr lang="en-US" altLang="zh-CN" sz="2400" dirty="0" smtClean="0">
                <a:solidFill>
                  <a:srgbClr val="000000"/>
                </a:solidFill>
                <a:latin typeface="宋体" panose="02010600030101010101" pitchFamily="2" charset="-122"/>
                <a:ea typeface="宋体" panose="02010600030101010101" pitchFamily="2" charset="-122"/>
              </a:rPr>
              <a:t>ROB</a:t>
            </a:r>
            <a:r>
              <a:rPr lang="zh-CN" altLang="en-US" sz="2400" dirty="0" smtClean="0">
                <a:solidFill>
                  <a:srgbClr val="000000"/>
                </a:solidFill>
                <a:latin typeface="宋体" panose="02010600030101010101" pitchFamily="2" charset="-122"/>
                <a:ea typeface="宋体" panose="02010600030101010101" pitchFamily="2" charset="-122"/>
              </a:rPr>
              <a:t>（</a:t>
            </a:r>
            <a:r>
              <a:rPr lang="en-US" altLang="zh-CN" sz="2400" dirty="0" err="1" smtClean="0">
                <a:solidFill>
                  <a:srgbClr val="000000"/>
                </a:solidFill>
                <a:latin typeface="宋体" panose="02010600030101010101" pitchFamily="2" charset="-122"/>
                <a:ea typeface="宋体" panose="02010600030101010101" pitchFamily="2" charset="-122"/>
              </a:rPr>
              <a:t>ReOrder</a:t>
            </a:r>
            <a:r>
              <a:rPr lang="en-US" altLang="zh-CN" sz="2400" dirty="0" smtClean="0">
                <a:solidFill>
                  <a:srgbClr val="000000"/>
                </a:solidFill>
                <a:latin typeface="宋体" panose="02010600030101010101" pitchFamily="2" charset="-122"/>
                <a:ea typeface="宋体" panose="02010600030101010101" pitchFamily="2" charset="-122"/>
              </a:rPr>
              <a:t> Buffer</a:t>
            </a:r>
            <a:r>
              <a:rPr lang="zh-CN" altLang="en-US" sz="2400" dirty="0" smtClean="0">
                <a:solidFill>
                  <a:srgbClr val="000000"/>
                </a:solidFill>
                <a:latin typeface="宋体" panose="02010600030101010101" pitchFamily="2" charset="-122"/>
                <a:ea typeface="宋体" panose="02010600030101010101" pitchFamily="2" charset="-122"/>
              </a:rPr>
              <a:t>）的缓冲器中。等到相应的指令得到</a:t>
            </a:r>
            <a:r>
              <a:rPr lang="zh-CN" altLang="en-US" sz="2400" dirty="0" smtClean="0">
                <a:solidFill>
                  <a:srgbClr val="D60093"/>
                </a:solidFill>
                <a:latin typeface="宋体" panose="02010600030101010101" pitchFamily="2" charset="-122"/>
                <a:ea typeface="宋体" panose="02010600030101010101" pitchFamily="2" charset="-122"/>
              </a:rPr>
              <a:t>“确认”</a:t>
            </a:r>
            <a:r>
              <a:rPr lang="zh-CN" altLang="en-US" sz="2400" dirty="0" smtClean="0">
                <a:solidFill>
                  <a:srgbClr val="9933FF"/>
                </a:solidFill>
                <a:latin typeface="宋体" panose="02010600030101010101" pitchFamily="2" charset="-122"/>
                <a:ea typeface="宋体" panose="02010600030101010101" pitchFamily="2" charset="-122"/>
              </a:rPr>
              <a:t>（</a:t>
            </a:r>
            <a:r>
              <a:rPr lang="en-US" altLang="zh-CN" sz="2400" dirty="0" smtClean="0">
                <a:solidFill>
                  <a:srgbClr val="9933FF"/>
                </a:solidFill>
                <a:latin typeface="宋体" panose="02010600030101010101" pitchFamily="2" charset="-122"/>
                <a:ea typeface="宋体" panose="02010600030101010101" pitchFamily="2" charset="-122"/>
              </a:rPr>
              <a:t>commit</a:t>
            </a:r>
            <a:r>
              <a:rPr lang="zh-CN" altLang="en-US" sz="2400" dirty="0" smtClean="0">
                <a:solidFill>
                  <a:srgbClr val="000000"/>
                </a:solidFill>
                <a:latin typeface="宋体" panose="02010600030101010101" pitchFamily="2" charset="-122"/>
                <a:ea typeface="宋体" panose="02010600030101010101" pitchFamily="2" charset="-122"/>
              </a:rPr>
              <a:t>）（即确实是应该执行的）之后，才将结果写入寄存器或存储器。</a:t>
            </a:r>
            <a:endParaRPr lang="en-US" altLang="zh-CN" sz="2400" dirty="0" smtClean="0">
              <a:solidFill>
                <a:srgbClr val="000000"/>
              </a:solidFill>
              <a:latin typeface="宋体" panose="02010600030101010101" pitchFamily="2" charset="-122"/>
              <a:ea typeface="宋体" panose="02010600030101010101" pitchFamily="2" charset="-122"/>
            </a:endParaRPr>
          </a:p>
          <a:p>
            <a:pPr marL="457200" indent="-457200" eaLnBrk="1" hangingPunct="1">
              <a:buNone/>
            </a:pPr>
            <a:endParaRPr lang="en-US" altLang="zh-CN" sz="2400" dirty="0" smtClean="0">
              <a:solidFill>
                <a:srgbClr val="FF0000"/>
              </a:solidFill>
              <a:latin typeface="宋体" panose="02010600030101010101" pitchFamily="2" charset="-122"/>
              <a:ea typeface="宋体" panose="02010600030101010101" pitchFamily="2" charset="-122"/>
            </a:endParaRPr>
          </a:p>
          <a:p>
            <a:pPr marL="457200" indent="-457200" eaLnBrk="1" hangingPunct="1">
              <a:buNone/>
            </a:pPr>
            <a:r>
              <a:rPr lang="zh-CN" altLang="en-US" sz="2400" dirty="0" smtClean="0">
                <a:solidFill>
                  <a:srgbClr val="FF0000"/>
                </a:solidFill>
                <a:latin typeface="宋体" panose="02010600030101010101" pitchFamily="2" charset="-122"/>
                <a:ea typeface="宋体" panose="02010600030101010101" pitchFamily="2" charset="-122"/>
              </a:rPr>
              <a:t>目的：</a:t>
            </a:r>
            <a:r>
              <a:rPr lang="zh-CN" altLang="en-US" sz="2400" dirty="0" smtClean="0">
                <a:solidFill>
                  <a:srgbClr val="000000"/>
                </a:solidFill>
                <a:latin typeface="宋体" panose="02010600030101010101" pitchFamily="2" charset="-122"/>
                <a:ea typeface="宋体" panose="02010600030101010101" pitchFamily="2" charset="-122"/>
              </a:rPr>
              <a:t>在猜测错误时能够恢复现场（即没有进行不可恢复的写操作）</a:t>
            </a:r>
            <a:endParaRPr lang="en-US" altLang="zh-CN" sz="2400" dirty="0" smtClean="0">
              <a:solidFill>
                <a:srgbClr val="000000"/>
              </a:solidFill>
              <a:latin typeface="宋体" panose="02010600030101010101" pitchFamily="2" charset="-122"/>
              <a:ea typeface="宋体" panose="02010600030101010101" pitchFamily="2" charset="-122"/>
            </a:endParaRPr>
          </a:p>
          <a:p>
            <a:pPr marL="457200" indent="-457200" eaLnBrk="1" hangingPunct="1">
              <a:buNone/>
            </a:pPr>
            <a:r>
              <a:rPr lang="zh-CN" altLang="en-US" sz="2400" dirty="0" smtClean="0">
                <a:solidFill>
                  <a:srgbClr val="000000"/>
                </a:solidFill>
                <a:latin typeface="宋体" panose="02010600030101010101" pitchFamily="2" charset="-122"/>
                <a:ea typeface="宋体" panose="02010600030101010101" pitchFamily="2" charset="-122"/>
              </a:rPr>
              <a:t>         </a:t>
            </a:r>
            <a:r>
              <a:rPr lang="zh-CN" altLang="en-US" sz="2400" dirty="0" smtClean="0">
                <a:solidFill>
                  <a:srgbClr val="C705CC"/>
                </a:solidFill>
                <a:latin typeface="宋体" panose="02010600030101010101" pitchFamily="2" charset="-122"/>
                <a:ea typeface="宋体" panose="02010600030101010101" pitchFamily="2" charset="-122"/>
              </a:rPr>
              <a:t>动态预测</a:t>
            </a:r>
            <a:r>
              <a:rPr lang="en-US" altLang="zh-CN" sz="2400" dirty="0" smtClean="0">
                <a:solidFill>
                  <a:srgbClr val="C705CC"/>
                </a:solidFill>
                <a:latin typeface="宋体" panose="02010600030101010101" pitchFamily="2" charset="-122"/>
                <a:ea typeface="宋体" panose="02010600030101010101" pitchFamily="2" charset="-122"/>
              </a:rPr>
              <a:t>+</a:t>
            </a:r>
            <a:r>
              <a:rPr lang="zh-CN" altLang="en-US" sz="2400" dirty="0" smtClean="0">
                <a:solidFill>
                  <a:srgbClr val="C705CC"/>
                </a:solidFill>
                <a:latin typeface="宋体" panose="02010600030101010101" pitchFamily="2" charset="-122"/>
                <a:ea typeface="宋体" panose="02010600030101010101" pitchFamily="2" charset="-122"/>
              </a:rPr>
              <a:t>猜测执行</a:t>
            </a:r>
            <a:r>
              <a:rPr lang="en-US" altLang="zh-CN" sz="2400" dirty="0" smtClean="0">
                <a:solidFill>
                  <a:srgbClr val="C705CC"/>
                </a:solidFill>
                <a:latin typeface="宋体" panose="02010600030101010101" pitchFamily="2" charset="-122"/>
                <a:ea typeface="宋体" panose="02010600030101010101" pitchFamily="2" charset="-122"/>
              </a:rPr>
              <a:t>+</a:t>
            </a:r>
            <a:r>
              <a:rPr lang="zh-CN" altLang="en-US" sz="2400" dirty="0" smtClean="0">
                <a:solidFill>
                  <a:srgbClr val="C705CC"/>
                </a:solidFill>
                <a:latin typeface="宋体" panose="02010600030101010101" pitchFamily="2" charset="-122"/>
                <a:ea typeface="宋体" panose="02010600030101010101" pitchFamily="2" charset="-122"/>
              </a:rPr>
              <a:t>保留站技术</a:t>
            </a:r>
            <a:endParaRPr lang="en-US" altLang="zh-CN" sz="2400" dirty="0" smtClean="0">
              <a:solidFill>
                <a:srgbClr val="C705CC"/>
              </a:solidFill>
              <a:latin typeface="宋体" panose="02010600030101010101" pitchFamily="2" charset="-122"/>
              <a:ea typeface="宋体" panose="02010600030101010101" pitchFamily="2" charset="-122"/>
            </a:endParaRPr>
          </a:p>
          <a:p>
            <a:pPr marL="457200" indent="-457200" eaLnBrk="1" hangingPunct="1">
              <a:buNone/>
            </a:pPr>
            <a:r>
              <a:rPr lang="zh-CN" altLang="en-US" b="1" dirty="0" smtClean="0">
                <a:latin typeface="黑体" panose="02010609060101010101" pitchFamily="49" charset="-122"/>
              </a:rPr>
              <a:t> </a:t>
            </a:r>
          </a:p>
        </p:txBody>
      </p:sp>
      <p:sp>
        <p:nvSpPr>
          <p:cNvPr id="2" name="矩形 1"/>
          <p:cNvSpPr/>
          <p:nvPr/>
        </p:nvSpPr>
        <p:spPr>
          <a:xfrm>
            <a:off x="846746" y="4595857"/>
            <a:ext cx="9579124" cy="1631216"/>
          </a:xfrm>
          <a:prstGeom prst="rect">
            <a:avLst/>
          </a:prstGeom>
        </p:spPr>
        <p:txBody>
          <a:bodyPr wrap="square">
            <a:spAutoFit/>
          </a:bodyPr>
          <a:lstStyle/>
          <a:p>
            <a:pPr>
              <a:lnSpc>
                <a:spcPts val="3000"/>
              </a:lnSpc>
              <a:spcBef>
                <a:spcPts val="600"/>
              </a:spcBef>
            </a:pPr>
            <a:r>
              <a:rPr lang="zh-CN" altLang="en-US" dirty="0" smtClean="0">
                <a:solidFill>
                  <a:srgbClr val="080808"/>
                </a:solidFill>
                <a:latin typeface="宋体" panose="02010600030101010101" pitchFamily="2" charset="-122"/>
                <a:ea typeface="宋体" panose="02010600030101010101" pitchFamily="2" charset="-122"/>
              </a:rPr>
              <a:t>    </a:t>
            </a:r>
            <a:r>
              <a:rPr lang="zh-CN" altLang="en-US" i="1" dirty="0" smtClean="0">
                <a:solidFill>
                  <a:srgbClr val="080808"/>
                </a:solidFill>
                <a:latin typeface="宋体" panose="02010600030101010101" pitchFamily="2" charset="-122"/>
                <a:ea typeface="宋体" panose="02010600030101010101" pitchFamily="2" charset="-122"/>
              </a:rPr>
              <a:t>为了</a:t>
            </a:r>
            <a:r>
              <a:rPr lang="zh-CN" altLang="en-US" i="1" dirty="0">
                <a:solidFill>
                  <a:srgbClr val="080808"/>
                </a:solidFill>
                <a:latin typeface="宋体" panose="02010600030101010101" pitchFamily="2" charset="-122"/>
                <a:ea typeface="宋体" panose="02010600030101010101" pitchFamily="2" charset="-122"/>
              </a:rPr>
              <a:t>得到更高的并行性，将动态转移预测技术与</a:t>
            </a:r>
            <a:r>
              <a:rPr lang="en-US" altLang="zh-CN" i="1" dirty="0" err="1">
                <a:solidFill>
                  <a:srgbClr val="080808"/>
                </a:solidFill>
                <a:latin typeface="宋体" panose="02010600030101010101" pitchFamily="2" charset="-122"/>
                <a:ea typeface="宋体" panose="02010600030101010101" pitchFamily="2" charset="-122"/>
              </a:rPr>
              <a:t>Tomasulo</a:t>
            </a:r>
            <a:r>
              <a:rPr lang="zh-CN" altLang="en-US" i="1" dirty="0">
                <a:solidFill>
                  <a:srgbClr val="080808"/>
                </a:solidFill>
                <a:latin typeface="宋体" panose="02010600030101010101" pitchFamily="2" charset="-122"/>
                <a:ea typeface="宋体" panose="02010600030101010101" pitchFamily="2" charset="-122"/>
              </a:rPr>
              <a:t>结合，设计出了前瞻执行方法：处理器按转移预测方向，乱序执行推测的指令序列，如果预测正确，就能够消除控制相关的延迟。也解决了数据相关和消除名相关。如果预测错误，则废弃已经执行的指令序列，从另一个分支处重新开始执行。</a:t>
            </a:r>
          </a:p>
        </p:txBody>
      </p:sp>
    </p:spTree>
    <p:extLst>
      <p:ext uri="{BB962C8B-B14F-4D97-AF65-F5344CB8AC3E}">
        <p14:creationId xmlns:p14="http://schemas.microsoft.com/office/powerpoint/2010/main" val="39356315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11619" name="Rectangle 3" descr="Rectangle: Click to edit Master text styles&#10;Second level&#10;Third level&#10;Fourth level&#10;Fifth level"/>
          <p:cNvSpPr>
            <a:spLocks noGrp="1" noChangeArrowheads="1"/>
          </p:cNvSpPr>
          <p:nvPr>
            <p:ph idx="1"/>
          </p:nvPr>
        </p:nvSpPr>
        <p:spPr>
          <a:xfrm>
            <a:off x="781065" y="1338550"/>
            <a:ext cx="10465200" cy="2374135"/>
          </a:xfrm>
        </p:spPr>
        <p:txBody>
          <a:bodyPr>
            <a:normAutofit fontScale="92500" lnSpcReduction="20000"/>
          </a:bodyPr>
          <a:lstStyle/>
          <a:p>
            <a:pPr marL="0" indent="0" eaLnBrk="1" hangingPunct="1">
              <a:lnSpc>
                <a:spcPct val="110000"/>
              </a:lnSpc>
              <a:buNone/>
              <a:defRPr/>
            </a:pPr>
            <a:r>
              <a:rPr lang="zh-CN" altLang="en-US" sz="2200" dirty="0">
                <a:latin typeface="宋体" panose="02010600030101010101" pitchFamily="2" charset="-122"/>
                <a:ea typeface="宋体" panose="02010600030101010101" pitchFamily="2" charset="-122"/>
              </a:rPr>
              <a:t>基于硬件的前瞻执行结合了</a:t>
            </a:r>
            <a:r>
              <a:rPr lang="zh-CN" altLang="en-US" sz="2200" dirty="0">
                <a:solidFill>
                  <a:srgbClr val="000000"/>
                </a:solidFill>
                <a:latin typeface="宋体" panose="02010600030101010101" pitchFamily="2" charset="-122"/>
                <a:ea typeface="宋体" panose="02010600030101010101" pitchFamily="2" charset="-122"/>
              </a:rPr>
              <a:t>三种思想</a:t>
            </a:r>
            <a:r>
              <a:rPr lang="zh-CN" altLang="en-US" sz="2200" dirty="0">
                <a:solidFill>
                  <a:srgbClr val="D60093"/>
                </a:solidFill>
                <a:latin typeface="宋体" panose="02010600030101010101" pitchFamily="2" charset="-122"/>
                <a:ea typeface="宋体" panose="02010600030101010101" pitchFamily="2" charset="-122"/>
              </a:rPr>
              <a:t>：</a:t>
            </a:r>
          </a:p>
          <a:p>
            <a:pPr marL="804863" lvl="1" indent="-352425" eaLnBrk="1" hangingPunct="1">
              <a:lnSpc>
                <a:spcPct val="110000"/>
              </a:lnSpc>
              <a:buNone/>
              <a:defRPr/>
            </a:pPr>
            <a:r>
              <a:rPr lang="zh-CN" altLang="en-US" sz="2200" dirty="0" smtClean="0">
                <a:latin typeface="宋体" panose="02010600030101010101" pitchFamily="2" charset="-122"/>
                <a:ea typeface="宋体" panose="02010600030101010101" pitchFamily="2" charset="-122"/>
              </a:rPr>
              <a:t>① 动态</a:t>
            </a:r>
            <a:r>
              <a:rPr lang="zh-CN" altLang="en-US" sz="2200" dirty="0">
                <a:latin typeface="宋体" panose="02010600030101010101" pitchFamily="2" charset="-122"/>
                <a:ea typeface="宋体" panose="02010600030101010101" pitchFamily="2" charset="-122"/>
              </a:rPr>
              <a:t>分支预测。用来选择后续执行的指令。</a:t>
            </a:r>
          </a:p>
          <a:p>
            <a:pPr marL="804863" lvl="1" indent="-352425" eaLnBrk="1" hangingPunct="1">
              <a:lnSpc>
                <a:spcPct val="110000"/>
              </a:lnSpc>
              <a:buNone/>
              <a:defRPr/>
            </a:pPr>
            <a:r>
              <a:rPr lang="zh-CN" altLang="en-US" sz="2200" dirty="0" smtClean="0">
                <a:latin typeface="宋体" panose="02010600030101010101" pitchFamily="2" charset="-122"/>
                <a:ea typeface="宋体" panose="02010600030101010101" pitchFamily="2" charset="-122"/>
              </a:rPr>
              <a:t>② 在</a:t>
            </a:r>
            <a:r>
              <a:rPr lang="zh-CN" altLang="en-US" sz="2200" dirty="0">
                <a:latin typeface="宋体" panose="02010600030101010101" pitchFamily="2" charset="-122"/>
                <a:ea typeface="宋体" panose="02010600030101010101" pitchFamily="2" charset="-122"/>
              </a:rPr>
              <a:t>控制相关的结果尚未出来之前，前瞻地执行后续指令。</a:t>
            </a:r>
          </a:p>
          <a:p>
            <a:pPr marL="804863" lvl="1" indent="-352425" eaLnBrk="1" hangingPunct="1">
              <a:lnSpc>
                <a:spcPct val="110000"/>
              </a:lnSpc>
              <a:buNone/>
              <a:defRPr/>
            </a:pPr>
            <a:r>
              <a:rPr lang="zh-CN" altLang="en-US" sz="2200" dirty="0" smtClean="0">
                <a:latin typeface="宋体" panose="02010600030101010101" pitchFamily="2" charset="-122"/>
                <a:ea typeface="宋体" panose="02010600030101010101" pitchFamily="2" charset="-122"/>
              </a:rPr>
              <a:t>③ 用</a:t>
            </a:r>
            <a:r>
              <a:rPr lang="zh-CN" altLang="en-US" sz="2200" dirty="0">
                <a:latin typeface="宋体" panose="02010600030101010101" pitchFamily="2" charset="-122"/>
                <a:ea typeface="宋体" panose="02010600030101010101" pitchFamily="2" charset="-122"/>
              </a:rPr>
              <a:t>动态调度对基本块的各种组合进行跨基本块的调度。（基本程序块：</a:t>
            </a:r>
            <a:r>
              <a:rPr lang="zh-CN" altLang="en-US" sz="2200" dirty="0" smtClean="0">
                <a:latin typeface="宋体" panose="02010600030101010101" pitchFamily="2" charset="-122"/>
                <a:ea typeface="宋体" panose="02010600030101010101" pitchFamily="2" charset="-122"/>
              </a:rPr>
              <a:t>如果 一</a:t>
            </a:r>
            <a:r>
              <a:rPr lang="zh-CN" altLang="en-US" sz="2200" dirty="0">
                <a:latin typeface="宋体" panose="02010600030101010101" pitchFamily="2" charset="-122"/>
                <a:ea typeface="宋体" panose="02010600030101010101" pitchFamily="2" charset="-122"/>
              </a:rPr>
              <a:t>串连续的代码除了入口和出口以外，不包含其他分支指令和转入点。）</a:t>
            </a:r>
            <a:endParaRPr lang="en-US" altLang="zh-CN" sz="2200" dirty="0">
              <a:latin typeface="宋体" panose="02010600030101010101" pitchFamily="2" charset="-122"/>
              <a:ea typeface="宋体" panose="02010600030101010101" pitchFamily="2" charset="-122"/>
            </a:endParaRPr>
          </a:p>
          <a:p>
            <a:pPr marL="1085850" lvl="1" indent="-457200" eaLnBrk="1" hangingPunct="1">
              <a:lnSpc>
                <a:spcPct val="110000"/>
              </a:lnSpc>
              <a:buNone/>
              <a:defRPr/>
            </a:pPr>
            <a:endParaRPr lang="zh-CN" altLang="en-US" b="1" dirty="0" smtClean="0">
              <a:latin typeface="黑体" pitchFamily="49" charset="-122"/>
            </a:endParaRPr>
          </a:p>
          <a:p>
            <a:pPr lvl="2" eaLnBrk="1" hangingPunct="1">
              <a:lnSpc>
                <a:spcPct val="110000"/>
              </a:lnSpc>
              <a:buFont typeface="Wingdings" panose="05000000000000000000" pitchFamily="2" charset="2"/>
              <a:buNone/>
              <a:defRPr/>
            </a:pPr>
            <a:r>
              <a:rPr lang="zh-CN" altLang="en-US" dirty="0" smtClean="0"/>
              <a:t>     </a:t>
            </a:r>
            <a:endParaRPr lang="zh-CN" altLang="en-US" dirty="0" smtClean="0">
              <a:solidFill>
                <a:srgbClr val="C705CC"/>
              </a:solidFill>
            </a:endParaRPr>
          </a:p>
        </p:txBody>
      </p:sp>
      <p:sp>
        <p:nvSpPr>
          <p:cNvPr id="2" name="矩形 1"/>
          <p:cNvSpPr/>
          <p:nvPr/>
        </p:nvSpPr>
        <p:spPr>
          <a:xfrm>
            <a:off x="585462" y="301627"/>
            <a:ext cx="7007046" cy="540725"/>
          </a:xfrm>
          <a:prstGeom prst="rect">
            <a:avLst/>
          </a:prstGeom>
        </p:spPr>
        <p:txBody>
          <a:bodyPr wrap="none">
            <a:spAutoFit/>
          </a:bodyPr>
          <a:lstStyle/>
          <a:p>
            <a:pPr marL="457200" indent="-457200" fontAlgn="base">
              <a:lnSpc>
                <a:spcPct val="120000"/>
              </a:lnSpc>
              <a:spcBef>
                <a:spcPct val="20000"/>
              </a:spcBef>
              <a:spcAft>
                <a:spcPct val="0"/>
              </a:spcAft>
              <a:buClr>
                <a:srgbClr val="40458C"/>
              </a:buClr>
              <a:defRPr/>
            </a:pPr>
            <a:r>
              <a:rPr kumimoji="1" lang="zh-CN" altLang="en-US" sz="2800" kern="0" dirty="0" smtClean="0">
                <a:latin typeface="宋体" panose="02010600030101010101" pitchFamily="2" charset="-122"/>
                <a:ea typeface="宋体" panose="02010600030101010101" pitchFamily="2" charset="-122"/>
              </a:rPr>
              <a:t>基本要点：动态</a:t>
            </a:r>
            <a:r>
              <a:rPr kumimoji="1" lang="zh-CN" altLang="en-US" sz="2800" kern="0" dirty="0">
                <a:latin typeface="宋体" panose="02010600030101010101" pitchFamily="2" charset="-122"/>
                <a:ea typeface="宋体" panose="02010600030101010101" pitchFamily="2" charset="-122"/>
              </a:rPr>
              <a:t>预测</a:t>
            </a:r>
            <a:r>
              <a:rPr kumimoji="1" lang="en-US" altLang="zh-CN" sz="2800" kern="0" dirty="0">
                <a:latin typeface="宋体" panose="02010600030101010101" pitchFamily="2" charset="-122"/>
                <a:ea typeface="宋体" panose="02010600030101010101" pitchFamily="2" charset="-122"/>
              </a:rPr>
              <a:t>+</a:t>
            </a:r>
            <a:r>
              <a:rPr kumimoji="1" lang="zh-CN" altLang="en-US" sz="2800" kern="0" dirty="0">
                <a:latin typeface="宋体" panose="02010600030101010101" pitchFamily="2" charset="-122"/>
                <a:ea typeface="宋体" panose="02010600030101010101" pitchFamily="2" charset="-122"/>
              </a:rPr>
              <a:t>猜测执行</a:t>
            </a:r>
            <a:r>
              <a:rPr kumimoji="1" lang="en-US" altLang="zh-CN" sz="2800" kern="0" dirty="0">
                <a:latin typeface="宋体" panose="02010600030101010101" pitchFamily="2" charset="-122"/>
                <a:ea typeface="宋体" panose="02010600030101010101" pitchFamily="2" charset="-122"/>
              </a:rPr>
              <a:t>+</a:t>
            </a:r>
            <a:r>
              <a:rPr kumimoji="1" lang="zh-CN" altLang="en-US" sz="2800" kern="0" dirty="0">
                <a:latin typeface="宋体" panose="02010600030101010101" pitchFamily="2" charset="-122"/>
                <a:ea typeface="宋体" panose="02010600030101010101" pitchFamily="2" charset="-122"/>
              </a:rPr>
              <a:t>保留站技术</a:t>
            </a:r>
            <a:endParaRPr kumimoji="1" lang="en-US" altLang="zh-CN" sz="2800" kern="0" dirty="0">
              <a:latin typeface="宋体" panose="02010600030101010101" pitchFamily="2" charset="-122"/>
              <a:ea typeface="宋体" panose="02010600030101010101" pitchFamily="2" charset="-122"/>
            </a:endParaRPr>
          </a:p>
        </p:txBody>
      </p:sp>
      <p:sp>
        <p:nvSpPr>
          <p:cNvPr id="3" name="矩形 2"/>
          <p:cNvSpPr/>
          <p:nvPr/>
        </p:nvSpPr>
        <p:spPr>
          <a:xfrm>
            <a:off x="150563" y="3989414"/>
            <a:ext cx="10734101" cy="430887"/>
          </a:xfrm>
          <a:prstGeom prst="rect">
            <a:avLst/>
          </a:prstGeom>
        </p:spPr>
        <p:txBody>
          <a:bodyPr wrap="square">
            <a:spAutoFit/>
          </a:bodyPr>
          <a:lstStyle/>
          <a:p>
            <a:pPr marL="628650" lvl="1">
              <a:lnSpc>
                <a:spcPct val="110000"/>
              </a:lnSpc>
              <a:defRPr/>
            </a:pPr>
            <a:r>
              <a:rPr lang="zh-CN" altLang="en-US" sz="2000" b="1" dirty="0">
                <a:solidFill>
                  <a:srgbClr val="FF0000"/>
                </a:solidFill>
                <a:latin typeface="宋体" panose="02010600030101010101" pitchFamily="2" charset="-122"/>
                <a:ea typeface="宋体" panose="02010600030101010101" pitchFamily="2" charset="-122"/>
              </a:rPr>
              <a:t>实质是</a:t>
            </a:r>
            <a:r>
              <a:rPr lang="zh-CN" altLang="en-US" sz="2000" b="1" dirty="0">
                <a:latin typeface="宋体" panose="02010600030101010101" pitchFamily="2" charset="-122"/>
                <a:ea typeface="宋体" panose="02010600030101010101" pitchFamily="2" charset="-122"/>
              </a:rPr>
              <a:t>数据流执行</a:t>
            </a:r>
            <a:r>
              <a:rPr lang="en-US" altLang="zh-CN" sz="2000" b="1" dirty="0">
                <a:latin typeface="宋体" panose="02010600030101010101" pitchFamily="2" charset="-122"/>
                <a:ea typeface="宋体" panose="02010600030101010101" pitchFamily="2" charset="-122"/>
              </a:rPr>
              <a:t>(data flow execution)</a:t>
            </a:r>
            <a:r>
              <a:rPr lang="zh-CN" altLang="en-US" sz="2000" b="1" dirty="0">
                <a:latin typeface="宋体" panose="02010600030101010101" pitchFamily="2" charset="-122"/>
                <a:ea typeface="宋体" panose="02010600030101010101" pitchFamily="2" charset="-122"/>
              </a:rPr>
              <a:t>：只要操作数有效，指令就执行</a:t>
            </a:r>
          </a:p>
        </p:txBody>
      </p:sp>
    </p:spTree>
    <p:extLst>
      <p:ext uri="{BB962C8B-B14F-4D97-AF65-F5344CB8AC3E}">
        <p14:creationId xmlns:p14="http://schemas.microsoft.com/office/powerpoint/2010/main" val="24307172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pPr eaLnBrk="1" hangingPunct="1"/>
            <a:r>
              <a:rPr lang="en-US" altLang="zh-CN" dirty="0" smtClean="0">
                <a:latin typeface="黑体" panose="02010609060101010101" pitchFamily="49" charset="-122"/>
              </a:rPr>
              <a:t> </a:t>
            </a:r>
            <a:endParaRPr lang="zh-CN" altLang="en-US" dirty="0" smtClean="0">
              <a:latin typeface="黑体" panose="02010609060101010101" pitchFamily="49" charset="-122"/>
            </a:endParaRPr>
          </a:p>
        </p:txBody>
      </p:sp>
      <p:sp>
        <p:nvSpPr>
          <p:cNvPr id="303107" name="Rectangle 3" descr="Rectangle: Click to edit Master text styles&#10;Second level&#10;Third level&#10;Fourth level&#10;Fifth level"/>
          <p:cNvSpPr>
            <a:spLocks noGrp="1" noChangeArrowheads="1"/>
          </p:cNvSpPr>
          <p:nvPr>
            <p:ph idx="1"/>
          </p:nvPr>
        </p:nvSpPr>
        <p:spPr>
          <a:xfrm>
            <a:off x="1096635" y="1915420"/>
            <a:ext cx="9611245" cy="5472113"/>
          </a:xfrm>
        </p:spPr>
        <p:txBody>
          <a:bodyPr>
            <a:normAutofit/>
          </a:bodyPr>
          <a:lstStyle/>
          <a:p>
            <a:pPr marL="628650" lvl="1" indent="0" eaLnBrk="1" hangingPunct="1">
              <a:buNone/>
            </a:pPr>
            <a:r>
              <a:rPr lang="zh-CN" altLang="en-US" sz="2200" dirty="0" smtClean="0">
                <a:solidFill>
                  <a:srgbClr val="9900CC"/>
                </a:solidFill>
                <a:latin typeface="宋体" panose="02010600030101010101" pitchFamily="2" charset="-122"/>
                <a:ea typeface="宋体" panose="02010600030101010101" pitchFamily="2" charset="-122"/>
              </a:rPr>
              <a:t>①写结果段</a:t>
            </a:r>
          </a:p>
          <a:p>
            <a:pPr lvl="2" eaLnBrk="1" hangingPunct="1"/>
            <a:r>
              <a:rPr lang="zh-CN" altLang="en-US" sz="2200" dirty="0" smtClean="0">
                <a:latin typeface="宋体" panose="02010600030101010101" pitchFamily="2" charset="-122"/>
                <a:ea typeface="宋体" panose="02010600030101010101" pitchFamily="2" charset="-122"/>
              </a:rPr>
              <a:t>把前瞻执行的结果写到</a:t>
            </a:r>
            <a:r>
              <a:rPr lang="en-US" altLang="zh-CN" sz="2200" dirty="0" smtClean="0">
                <a:solidFill>
                  <a:srgbClr val="9933FF"/>
                </a:solidFill>
                <a:latin typeface="宋体" panose="02010600030101010101" pitchFamily="2" charset="-122"/>
                <a:ea typeface="宋体" panose="02010600030101010101" pitchFamily="2" charset="-122"/>
              </a:rPr>
              <a:t>ROB</a:t>
            </a:r>
            <a:r>
              <a:rPr lang="zh-CN" altLang="en-US" sz="2200" dirty="0" smtClean="0">
                <a:latin typeface="宋体" panose="02010600030101010101" pitchFamily="2" charset="-122"/>
                <a:ea typeface="宋体" panose="02010600030101010101" pitchFamily="2" charset="-122"/>
              </a:rPr>
              <a:t>中；</a:t>
            </a:r>
          </a:p>
          <a:p>
            <a:pPr lvl="2" eaLnBrk="1" hangingPunct="1"/>
            <a:r>
              <a:rPr lang="zh-CN" altLang="en-US" sz="2200" dirty="0" smtClean="0">
                <a:latin typeface="宋体" panose="02010600030101010101" pitchFamily="2" charset="-122"/>
                <a:ea typeface="宋体" panose="02010600030101010101" pitchFamily="2" charset="-122"/>
              </a:rPr>
              <a:t>通过</a:t>
            </a:r>
            <a:r>
              <a:rPr lang="en-US" altLang="zh-CN" sz="2200" dirty="0" smtClean="0">
                <a:solidFill>
                  <a:srgbClr val="9933FF"/>
                </a:solidFill>
                <a:latin typeface="宋体" panose="02010600030101010101" pitchFamily="2" charset="-122"/>
                <a:ea typeface="宋体" panose="02010600030101010101" pitchFamily="2" charset="-122"/>
              </a:rPr>
              <a:t>CDB</a:t>
            </a:r>
            <a:r>
              <a:rPr lang="zh-CN" altLang="en-US" sz="2200" dirty="0" smtClean="0">
                <a:latin typeface="宋体" panose="02010600030101010101" pitchFamily="2" charset="-122"/>
                <a:ea typeface="宋体" panose="02010600030101010101" pitchFamily="2" charset="-122"/>
              </a:rPr>
              <a:t>在指令之间传送结果，供需要用到这些结果的指令使用。</a:t>
            </a:r>
          </a:p>
          <a:p>
            <a:pPr marL="628650" lvl="1" indent="0" eaLnBrk="1" hangingPunct="1">
              <a:buNone/>
            </a:pPr>
            <a:r>
              <a:rPr lang="zh-CN" altLang="en-US" sz="2200" dirty="0" smtClean="0">
                <a:solidFill>
                  <a:srgbClr val="9900CC"/>
                </a:solidFill>
                <a:latin typeface="宋体" panose="02010600030101010101" pitchFamily="2" charset="-122"/>
                <a:ea typeface="宋体" panose="02010600030101010101" pitchFamily="2" charset="-122"/>
              </a:rPr>
              <a:t>②指令确认段 </a:t>
            </a:r>
          </a:p>
          <a:p>
            <a:pPr lvl="2" eaLnBrk="1" hangingPunct="1">
              <a:buFont typeface="Wingdings" panose="05000000000000000000" pitchFamily="2" charset="2"/>
              <a:buNone/>
            </a:pPr>
            <a:r>
              <a:rPr lang="zh-CN" altLang="en-US" sz="2200" dirty="0" smtClean="0">
                <a:latin typeface="宋体" panose="02010600030101010101" pitchFamily="2" charset="-122"/>
                <a:ea typeface="宋体" panose="02010600030101010101" pitchFamily="2" charset="-122"/>
              </a:rPr>
              <a:t>    在分支指令的结果出来后，对相应指令的前瞻执行</a:t>
            </a:r>
          </a:p>
          <a:p>
            <a:pPr lvl="2" eaLnBrk="1" hangingPunct="1">
              <a:buFont typeface="Wingdings" panose="05000000000000000000" pitchFamily="2" charset="2"/>
              <a:buNone/>
            </a:pPr>
            <a:r>
              <a:rPr lang="zh-CN" altLang="en-US" sz="2200" dirty="0" smtClean="0">
                <a:latin typeface="宋体" panose="02010600030101010101" pitchFamily="2" charset="-122"/>
                <a:ea typeface="宋体" panose="02010600030101010101" pitchFamily="2" charset="-122"/>
              </a:rPr>
              <a:t>给予确认。</a:t>
            </a:r>
          </a:p>
          <a:p>
            <a:pPr lvl="2" eaLnBrk="1" hangingPunct="1"/>
            <a:r>
              <a:rPr lang="zh-CN" altLang="en-US" sz="2200" dirty="0" smtClean="0">
                <a:latin typeface="宋体" panose="02010600030101010101" pitchFamily="2" charset="-122"/>
                <a:ea typeface="宋体" panose="02010600030101010101" pitchFamily="2" charset="-122"/>
              </a:rPr>
              <a:t>如果前面所做的猜测是对的，把在</a:t>
            </a:r>
            <a:r>
              <a:rPr lang="en-US" altLang="zh-CN" sz="2200" dirty="0" smtClean="0">
                <a:solidFill>
                  <a:srgbClr val="9933FF"/>
                </a:solidFill>
                <a:latin typeface="宋体" panose="02010600030101010101" pitchFamily="2" charset="-122"/>
                <a:ea typeface="宋体" panose="02010600030101010101" pitchFamily="2" charset="-122"/>
              </a:rPr>
              <a:t>ROB</a:t>
            </a:r>
            <a:r>
              <a:rPr lang="zh-CN" altLang="en-US" sz="2200" dirty="0" smtClean="0">
                <a:latin typeface="宋体" panose="02010600030101010101" pitchFamily="2" charset="-122"/>
                <a:ea typeface="宋体" panose="02010600030101010101" pitchFamily="2" charset="-122"/>
              </a:rPr>
              <a:t>中的结果写到</a:t>
            </a:r>
            <a:r>
              <a:rPr lang="zh-CN" altLang="en-US" sz="2200" dirty="0" smtClean="0">
                <a:solidFill>
                  <a:srgbClr val="FF0000"/>
                </a:solidFill>
                <a:latin typeface="宋体" panose="02010600030101010101" pitchFamily="2" charset="-122"/>
                <a:ea typeface="宋体" panose="02010600030101010101" pitchFamily="2" charset="-122"/>
              </a:rPr>
              <a:t>寄存器</a:t>
            </a:r>
            <a:r>
              <a:rPr lang="zh-CN" altLang="en-US" sz="2200" dirty="0" smtClean="0">
                <a:latin typeface="宋体" panose="02010600030101010101" pitchFamily="2" charset="-122"/>
                <a:ea typeface="宋体" panose="02010600030101010101" pitchFamily="2" charset="-122"/>
              </a:rPr>
              <a:t>或</a:t>
            </a:r>
            <a:r>
              <a:rPr lang="zh-CN" altLang="en-US" sz="2200" dirty="0" smtClean="0">
                <a:solidFill>
                  <a:srgbClr val="FF0000"/>
                </a:solidFill>
                <a:latin typeface="宋体" panose="02010600030101010101" pitchFamily="2" charset="-122"/>
                <a:ea typeface="宋体" panose="02010600030101010101" pitchFamily="2" charset="-122"/>
              </a:rPr>
              <a:t>存储器</a:t>
            </a:r>
            <a:r>
              <a:rPr lang="zh-CN" altLang="en-US" sz="2200" dirty="0" smtClean="0">
                <a:latin typeface="宋体" panose="02010600030101010101" pitchFamily="2" charset="-122"/>
                <a:ea typeface="宋体" panose="02010600030101010101" pitchFamily="2" charset="-122"/>
              </a:rPr>
              <a:t>。</a:t>
            </a:r>
          </a:p>
          <a:p>
            <a:pPr lvl="2" eaLnBrk="1" hangingPunct="1"/>
            <a:r>
              <a:rPr lang="zh-CN" altLang="en-US" sz="2200" dirty="0" smtClean="0">
                <a:latin typeface="宋体" panose="02010600030101010101" pitchFamily="2" charset="-122"/>
                <a:ea typeface="宋体" panose="02010600030101010101" pitchFamily="2" charset="-122"/>
              </a:rPr>
              <a:t>如果发现前面对分支结果的猜测是错误的，那就不予以确认，并从那条分支指令的另一条路径开始重新执行。  </a:t>
            </a:r>
          </a:p>
        </p:txBody>
      </p:sp>
      <p:sp>
        <p:nvSpPr>
          <p:cNvPr id="2" name="矩形 1"/>
          <p:cNvSpPr/>
          <p:nvPr/>
        </p:nvSpPr>
        <p:spPr>
          <a:xfrm>
            <a:off x="735651" y="473908"/>
            <a:ext cx="9420313" cy="1164101"/>
          </a:xfrm>
          <a:prstGeom prst="rect">
            <a:avLst/>
          </a:prstGeom>
        </p:spPr>
        <p:txBody>
          <a:bodyPr wrap="square">
            <a:spAutoFit/>
          </a:bodyPr>
          <a:lstStyle/>
          <a:p>
            <a:pPr marL="457200" indent="-457200">
              <a:lnSpc>
                <a:spcPct val="110000"/>
              </a:lnSpc>
              <a:defRPr/>
            </a:pPr>
            <a:r>
              <a:rPr lang="zh-CN" altLang="en-US" sz="2200" b="1" dirty="0" smtClean="0">
                <a:latin typeface="宋体" panose="02010600030101010101" pitchFamily="2" charset="-122"/>
                <a:ea typeface="宋体" panose="02010600030101010101" pitchFamily="2" charset="-122"/>
              </a:rPr>
              <a:t>    </a:t>
            </a:r>
            <a:r>
              <a:rPr lang="zh-CN" altLang="en-US" sz="2200" dirty="0" smtClean="0">
                <a:latin typeface="宋体" panose="02010600030101010101" pitchFamily="2" charset="-122"/>
                <a:ea typeface="宋体" panose="02010600030101010101" pitchFamily="2" charset="-122"/>
              </a:rPr>
              <a:t>对</a:t>
            </a:r>
            <a:r>
              <a:rPr lang="en-US" altLang="zh-CN" sz="2200" dirty="0" err="1">
                <a:latin typeface="宋体" panose="02010600030101010101" pitchFamily="2" charset="-122"/>
                <a:ea typeface="宋体" panose="02010600030101010101" pitchFamily="2" charset="-122"/>
              </a:rPr>
              <a:t>Tomasulo</a:t>
            </a:r>
            <a:r>
              <a:rPr lang="zh-CN" altLang="en-US" sz="2200" dirty="0">
                <a:latin typeface="宋体" panose="02010600030101010101" pitchFamily="2" charset="-122"/>
                <a:ea typeface="宋体" panose="02010600030101010101" pitchFamily="2" charset="-122"/>
              </a:rPr>
              <a:t>算法加以扩充，就可以支持前瞻执行。</a:t>
            </a:r>
          </a:p>
          <a:p>
            <a:pPr marL="538163" lvl="1" indent="90488">
              <a:lnSpc>
                <a:spcPct val="110000"/>
              </a:lnSpc>
              <a:defRPr/>
            </a:pPr>
            <a:r>
              <a:rPr lang="zh-CN" altLang="en-US" sz="2200" dirty="0">
                <a:latin typeface="宋体" panose="02010600030101010101" pitchFamily="2" charset="-122"/>
                <a:ea typeface="宋体" panose="02010600030101010101" pitchFamily="2" charset="-122"/>
              </a:rPr>
              <a:t>   </a:t>
            </a:r>
            <a:r>
              <a:rPr lang="en-US" altLang="zh-CN" sz="2200" dirty="0" err="1">
                <a:latin typeface="宋体" panose="02010600030101010101" pitchFamily="2" charset="-122"/>
                <a:ea typeface="宋体" panose="02010600030101010101" pitchFamily="2" charset="-122"/>
              </a:rPr>
              <a:t>Tomasulo</a:t>
            </a:r>
            <a:r>
              <a:rPr lang="zh-CN" altLang="en-US" sz="2200" dirty="0">
                <a:latin typeface="宋体" panose="02010600030101010101" pitchFamily="2" charset="-122"/>
                <a:ea typeface="宋体" panose="02010600030101010101" pitchFamily="2" charset="-122"/>
              </a:rPr>
              <a:t>算法的写结果和指令完成都在“写结果”段完成，而在前瞻执行中加以区分，分成两个不同的段</a:t>
            </a:r>
            <a:r>
              <a:rPr lang="zh-CN" altLang="en-US" sz="2200" dirty="0" smtClean="0">
                <a:latin typeface="宋体" panose="02010600030101010101" pitchFamily="2" charset="-122"/>
                <a:ea typeface="宋体" panose="02010600030101010101" pitchFamily="2" charset="-122"/>
              </a:rPr>
              <a:t>：</a:t>
            </a:r>
            <a:endParaRPr lang="zh-CN" altLang="en-US" sz="2200" dirty="0">
              <a:solidFill>
                <a:srgbClr val="C705CC"/>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824647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306178" name="Object 4"/>
          <p:cNvGraphicFramePr>
            <a:graphicFrameLocks noGrp="1" noChangeAspect="1"/>
          </p:cNvGraphicFramePr>
          <p:nvPr>
            <p:ph/>
          </p:nvPr>
        </p:nvGraphicFramePr>
        <p:xfrm>
          <a:off x="1849439" y="20639"/>
          <a:ext cx="7627937" cy="6378575"/>
        </p:xfrm>
        <a:graphic>
          <a:graphicData uri="http://schemas.openxmlformats.org/presentationml/2006/ole">
            <mc:AlternateContent xmlns:mc="http://schemas.openxmlformats.org/markup-compatibility/2006">
              <mc:Choice xmlns:v="urn:schemas-microsoft-com:vml" Requires="v">
                <p:oleObj spid="_x0000_s56619" name="Picture2" r:id="rId3" imgW="4942332" imgH="4131564" progId="Word.Picture.8">
                  <p:embed/>
                </p:oleObj>
              </mc:Choice>
              <mc:Fallback>
                <p:oleObj name="Picture2" r:id="rId3" imgW="4942332" imgH="4131564" progId="Word.Picture.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9439" y="20639"/>
                        <a:ext cx="7627937" cy="6378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07817853"/>
      </p:ext>
    </p:extLst>
  </p:cSld>
  <p:clrMapOvr>
    <a:masterClrMapping/>
  </p:clrMapOvr>
  <p:transition>
    <p:pull dir="rd"/>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306178" name="Object 4"/>
          <p:cNvGraphicFramePr>
            <a:graphicFrameLocks noGrp="1" noChangeAspect="1"/>
          </p:cNvGraphicFramePr>
          <p:nvPr>
            <p:ph/>
            <p:extLst>
              <p:ext uri="{D42A27DB-BD31-4B8C-83A1-F6EECF244321}">
                <p14:modId xmlns:p14="http://schemas.microsoft.com/office/powerpoint/2010/main" val="3195339882"/>
              </p:ext>
            </p:extLst>
          </p:nvPr>
        </p:nvGraphicFramePr>
        <p:xfrm>
          <a:off x="1849439" y="450302"/>
          <a:ext cx="7627937" cy="6378575"/>
        </p:xfrm>
        <a:graphic>
          <a:graphicData uri="http://schemas.openxmlformats.org/presentationml/2006/ole">
            <mc:AlternateContent xmlns:mc="http://schemas.openxmlformats.org/markup-compatibility/2006">
              <mc:Choice xmlns:v="urn:schemas-microsoft-com:vml" Requires="v">
                <p:oleObj spid="_x0000_s92223" name="Picture2" r:id="rId3" imgW="4942332" imgH="4131564" progId="Word.Picture.8">
                  <p:embed/>
                </p:oleObj>
              </mc:Choice>
              <mc:Fallback>
                <p:oleObj name="Picture2" r:id="rId3" imgW="4942332" imgH="4131564" progId="Word.Picture.8">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9439" y="450302"/>
                        <a:ext cx="7627937" cy="6378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椭圆 1"/>
          <p:cNvSpPr/>
          <p:nvPr/>
        </p:nvSpPr>
        <p:spPr>
          <a:xfrm>
            <a:off x="1849439" y="2412694"/>
            <a:ext cx="3272010" cy="319489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标注 2"/>
          <p:cNvSpPr/>
          <p:nvPr/>
        </p:nvSpPr>
        <p:spPr>
          <a:xfrm>
            <a:off x="88135" y="1800045"/>
            <a:ext cx="1983036" cy="1229593"/>
          </a:xfrm>
          <a:prstGeom prst="wedgeRectCallout">
            <a:avLst>
              <a:gd name="adj1" fmla="val 67842"/>
              <a:gd name="adj2" fmla="val 26894"/>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将</a:t>
            </a:r>
            <a:r>
              <a:rPr lang="en-US" altLang="zh-CN" dirty="0" smtClean="0">
                <a:solidFill>
                  <a:srgbClr val="000000"/>
                </a:solidFill>
              </a:rPr>
              <a:t>store</a:t>
            </a:r>
            <a:r>
              <a:rPr lang="zh-CN" altLang="en-US" dirty="0" smtClean="0">
                <a:solidFill>
                  <a:srgbClr val="000000"/>
                </a:solidFill>
              </a:rPr>
              <a:t>缓冲区并入</a:t>
            </a:r>
            <a:r>
              <a:rPr lang="en-US" altLang="zh-CN" dirty="0" smtClean="0">
                <a:solidFill>
                  <a:srgbClr val="000000"/>
                </a:solidFill>
              </a:rPr>
              <a:t>ROB</a:t>
            </a:r>
            <a:endParaRPr lang="zh-CN" altLang="en-US" dirty="0">
              <a:solidFill>
                <a:srgbClr val="000000"/>
              </a:solidFill>
            </a:endParaRPr>
          </a:p>
        </p:txBody>
      </p:sp>
      <p:sp>
        <p:nvSpPr>
          <p:cNvPr id="5" name="椭圆 4"/>
          <p:cNvSpPr/>
          <p:nvPr/>
        </p:nvSpPr>
        <p:spPr>
          <a:xfrm>
            <a:off x="6357911" y="-200140"/>
            <a:ext cx="2195588" cy="2198489"/>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标注 5"/>
          <p:cNvSpPr/>
          <p:nvPr/>
        </p:nvSpPr>
        <p:spPr>
          <a:xfrm>
            <a:off x="9477376" y="162428"/>
            <a:ext cx="1983036" cy="1229593"/>
          </a:xfrm>
          <a:prstGeom prst="wedgeRectCallout">
            <a:avLst>
              <a:gd name="adj1" fmla="val -93825"/>
              <a:gd name="adj2" fmla="val -881"/>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再定序缓存，数据实际写入寄存器和存储器前保存数据。</a:t>
            </a:r>
            <a:endParaRPr lang="zh-CN" altLang="en-US" dirty="0">
              <a:solidFill>
                <a:srgbClr val="000000"/>
              </a:solidFill>
            </a:endParaRPr>
          </a:p>
        </p:txBody>
      </p:sp>
      <p:sp>
        <p:nvSpPr>
          <p:cNvPr id="7" name="AutoShape 5"/>
          <p:cNvSpPr>
            <a:spLocks noChangeArrowheads="1"/>
          </p:cNvSpPr>
          <p:nvPr/>
        </p:nvSpPr>
        <p:spPr bwMode="auto">
          <a:xfrm>
            <a:off x="9567230" y="2761701"/>
            <a:ext cx="2366791" cy="1755775"/>
          </a:xfrm>
          <a:prstGeom prst="wedgeRoundRectCallout">
            <a:avLst>
              <a:gd name="adj1" fmla="val -163780"/>
              <a:gd name="adj2" fmla="val 86243"/>
              <a:gd name="adj3" fmla="val 16667"/>
            </a:avLst>
          </a:prstGeom>
          <a:noFill/>
          <a:ln w="19050" algn="ctr">
            <a:solidFill>
              <a:srgbClr val="FF3399"/>
            </a:solidFill>
            <a:miter lim="800000"/>
            <a:headEnd/>
            <a:tailEnd/>
          </a:ln>
          <a:effectLst/>
          <a:extLst/>
        </p:spPr>
        <p:txBody>
          <a:bodyPr/>
          <a:lstStyle>
            <a:lvl1pPr marL="185738" indent="-185738">
              <a:lnSpc>
                <a:spcPct val="120000"/>
              </a:lnSpc>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宋体" panose="02010600030101010101" pitchFamily="2" charset="-122"/>
              </a:defRPr>
            </a:lvl1pPr>
            <a:lvl2pPr marL="365125">
              <a:lnSpc>
                <a:spcPct val="120000"/>
              </a:lnSpc>
              <a:spcBef>
                <a:spcPct val="20000"/>
              </a:spcBef>
              <a:buClr>
                <a:schemeClr val="hlink"/>
              </a:buClr>
              <a:buSzPct val="55000"/>
              <a:buFont typeface="Wingdings" panose="05000000000000000000" pitchFamily="2" charset="2"/>
              <a:buChar char="n"/>
              <a:defRPr sz="2200" b="1">
                <a:solidFill>
                  <a:schemeClr val="tx1"/>
                </a:solidFill>
                <a:latin typeface="Tahoma" panose="020B0604030504040204" pitchFamily="34" charset="0"/>
                <a:ea typeface="宋体" panose="02010600030101010101" pitchFamily="2" charset="-122"/>
              </a:defRPr>
            </a:lvl2pPr>
            <a:lvl3pPr marL="1143000" indent="-228600">
              <a:lnSpc>
                <a:spcPct val="120000"/>
              </a:lnSpc>
              <a:spcBef>
                <a:spcPct val="20000"/>
              </a:spcBef>
              <a:buClr>
                <a:schemeClr val="folHlink"/>
              </a:buClr>
              <a:buSzPct val="50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indent="0" fontAlgn="base">
              <a:spcAft>
                <a:spcPct val="0"/>
              </a:spcAft>
              <a:buClr>
                <a:srgbClr val="FF0000"/>
              </a:buClr>
              <a:buNone/>
            </a:pPr>
            <a:r>
              <a:rPr kumimoji="1" lang="zh-CN" altLang="en-US" sz="2000" b="0" dirty="0" smtClean="0">
                <a:solidFill>
                  <a:srgbClr val="000000"/>
                </a:solidFill>
                <a:latin typeface="宋体" panose="02010600030101010101" pitchFamily="2" charset="-122"/>
              </a:rPr>
              <a:t>使用</a:t>
            </a:r>
            <a:r>
              <a:rPr kumimoji="1" lang="en-US" altLang="zh-CN" sz="2000" b="0" dirty="0" smtClean="0">
                <a:solidFill>
                  <a:srgbClr val="000000"/>
                </a:solidFill>
                <a:latin typeface="宋体" panose="02010600030101010101" pitchFamily="2" charset="-122"/>
              </a:rPr>
              <a:t>ROB</a:t>
            </a:r>
            <a:r>
              <a:rPr kumimoji="1" lang="zh-CN" altLang="en-US" sz="2000" b="0" dirty="0" smtClean="0">
                <a:solidFill>
                  <a:srgbClr val="000000"/>
                </a:solidFill>
                <a:latin typeface="宋体" panose="02010600030101010101" pitchFamily="2" charset="-122"/>
              </a:rPr>
              <a:t>编号进行换名和目标寄存器预约。</a:t>
            </a:r>
            <a:endParaRPr kumimoji="1" lang="zh-CN" altLang="en-US" sz="2000" b="0" dirty="0">
              <a:solidFill>
                <a:srgbClr val="000000"/>
              </a:solidFill>
              <a:latin typeface="宋体" panose="02010600030101010101" pitchFamily="2" charset="-122"/>
            </a:endParaRPr>
          </a:p>
        </p:txBody>
      </p:sp>
    </p:spTree>
    <p:extLst>
      <p:ext uri="{BB962C8B-B14F-4D97-AF65-F5344CB8AC3E}">
        <p14:creationId xmlns:p14="http://schemas.microsoft.com/office/powerpoint/2010/main" val="2655476760"/>
      </p:ext>
    </p:extLst>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graphicFrame>
        <p:nvGraphicFramePr>
          <p:cNvPr id="76802" name="Object 4"/>
          <p:cNvGraphicFramePr>
            <a:graphicFrameLocks noGrp="1" noChangeAspect="1"/>
          </p:cNvGraphicFramePr>
          <p:nvPr>
            <p:ph/>
            <p:extLst>
              <p:ext uri="{D42A27DB-BD31-4B8C-83A1-F6EECF244321}">
                <p14:modId xmlns:p14="http://schemas.microsoft.com/office/powerpoint/2010/main" val="2889730988"/>
              </p:ext>
            </p:extLst>
          </p:nvPr>
        </p:nvGraphicFramePr>
        <p:xfrm>
          <a:off x="68455" y="404813"/>
          <a:ext cx="7345362" cy="6138863"/>
        </p:xfrm>
        <a:graphic>
          <a:graphicData uri="http://schemas.openxmlformats.org/presentationml/2006/ole">
            <mc:AlternateContent xmlns:mc="http://schemas.openxmlformats.org/markup-compatibility/2006">
              <mc:Choice xmlns:v="urn:schemas-microsoft-com:vml" Requires="v">
                <p:oleObj spid="_x0000_s94268" name="Picture2" r:id="rId3" imgW="4942332" imgH="4131564" progId="Word.Picture.8">
                  <p:embed/>
                </p:oleObj>
              </mc:Choice>
              <mc:Fallback>
                <p:oleObj name="Picture2" r:id="rId3" imgW="4942332" imgH="4131564"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55" y="404813"/>
                        <a:ext cx="7345362" cy="6138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3" name="矩形标注 1"/>
          <p:cNvSpPr>
            <a:spLocks noChangeArrowheads="1"/>
          </p:cNvSpPr>
          <p:nvPr/>
        </p:nvSpPr>
        <p:spPr bwMode="auto">
          <a:xfrm>
            <a:off x="6289905" y="625150"/>
            <a:ext cx="936625" cy="1079500"/>
          </a:xfrm>
          <a:prstGeom prst="wedgeRectCallout">
            <a:avLst>
              <a:gd name="adj1" fmla="val -72056"/>
              <a:gd name="adj2" fmla="val 15134"/>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400">
                <a:solidFill>
                  <a:schemeClr val="tx1"/>
                </a:solidFill>
                <a:latin typeface="Tahoma" panose="020B0604030504040204" pitchFamily="34" charset="0"/>
                <a:ea typeface="黑体" panose="02010609060101010101" pitchFamily="49" charset="-122"/>
              </a:defRPr>
            </a:lvl1pPr>
            <a:lvl2pPr marL="742950" indent="-285750">
              <a:defRPr kumimoji="1" sz="2400">
                <a:solidFill>
                  <a:schemeClr val="tx1"/>
                </a:solidFill>
                <a:latin typeface="Tahoma" panose="020B0604030504040204" pitchFamily="34" charset="0"/>
                <a:ea typeface="黑体" panose="02010609060101010101" pitchFamily="49" charset="-122"/>
              </a:defRPr>
            </a:lvl2pPr>
            <a:lvl3pPr marL="1143000" indent="-228600">
              <a:defRPr kumimoji="1" sz="2400">
                <a:solidFill>
                  <a:schemeClr val="tx1"/>
                </a:solidFill>
                <a:latin typeface="Tahoma" panose="020B0604030504040204" pitchFamily="34" charset="0"/>
                <a:ea typeface="黑体" panose="02010609060101010101" pitchFamily="49" charset="-122"/>
              </a:defRPr>
            </a:lvl3pPr>
            <a:lvl4pPr marL="1600200" indent="-228600">
              <a:defRPr kumimoji="1" sz="2400">
                <a:solidFill>
                  <a:schemeClr val="tx1"/>
                </a:solidFill>
                <a:latin typeface="Tahoma" panose="020B0604030504040204" pitchFamily="34" charset="0"/>
                <a:ea typeface="黑体" panose="02010609060101010101" pitchFamily="49" charset="-122"/>
              </a:defRPr>
            </a:lvl4pPr>
            <a:lvl5pPr marL="2057400" indent="-228600">
              <a:defRPr kumimoji="1" sz="24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黑体" panose="02010609060101010101" pitchFamily="49" charset="-122"/>
              </a:defRPr>
            </a:lvl9pPr>
          </a:lstStyle>
          <a:p>
            <a:pPr eaLnBrk="1" hangingPunct="1"/>
            <a:r>
              <a:rPr lang="zh-CN" altLang="en-US" sz="1600" dirty="0"/>
              <a:t>指令类型</a:t>
            </a:r>
            <a:endParaRPr lang="en-US" altLang="zh-CN" sz="1600" dirty="0"/>
          </a:p>
          <a:p>
            <a:pPr eaLnBrk="1" hangingPunct="1"/>
            <a:r>
              <a:rPr lang="zh-CN" altLang="en-US" sz="1600" dirty="0"/>
              <a:t>目标地址</a:t>
            </a:r>
            <a:endParaRPr lang="en-US" altLang="zh-CN" sz="1600" dirty="0"/>
          </a:p>
          <a:p>
            <a:pPr eaLnBrk="1" hangingPunct="1"/>
            <a:r>
              <a:rPr lang="zh-CN" altLang="en-US" sz="1600" dirty="0"/>
              <a:t>数据值</a:t>
            </a:r>
            <a:endParaRPr lang="en-US" altLang="zh-CN" sz="1600" dirty="0"/>
          </a:p>
          <a:p>
            <a:pPr eaLnBrk="1" hangingPunct="1"/>
            <a:r>
              <a:rPr lang="zh-CN" altLang="en-US" sz="1600" dirty="0"/>
              <a:t>就绪状态</a:t>
            </a:r>
          </a:p>
        </p:txBody>
      </p:sp>
      <p:sp>
        <p:nvSpPr>
          <p:cNvPr id="4" name="Rectangle 3" descr="Rectangle: Click to edit Master text styles&#10;Second level&#10;Third level&#10;Fourth level&#10;Fifth level"/>
          <p:cNvSpPr txBox="1">
            <a:spLocks noChangeArrowheads="1"/>
          </p:cNvSpPr>
          <p:nvPr/>
        </p:nvSpPr>
        <p:spPr>
          <a:xfrm>
            <a:off x="7541581" y="509052"/>
            <a:ext cx="4562284" cy="62549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altLang="zh-CN" sz="2200" b="1" dirty="0" smtClean="0">
                <a:solidFill>
                  <a:srgbClr val="9933FF"/>
                </a:solidFill>
                <a:latin typeface="宋体" panose="02010600030101010101" pitchFamily="2" charset="-122"/>
                <a:ea typeface="宋体" panose="02010600030101010101" pitchFamily="2" charset="-122"/>
              </a:rPr>
              <a:t>ROB</a:t>
            </a:r>
            <a:r>
              <a:rPr lang="zh-CN" altLang="en-US" sz="2200" b="1" dirty="0" smtClean="0">
                <a:latin typeface="宋体" panose="02010600030101010101" pitchFamily="2" charset="-122"/>
                <a:ea typeface="宋体" panose="02010600030101010101" pitchFamily="2" charset="-122"/>
              </a:rPr>
              <a:t>中的每一项由以下</a:t>
            </a:r>
            <a:r>
              <a:rPr lang="en-US" altLang="zh-CN" sz="2200" b="1" dirty="0" smtClean="0">
                <a:solidFill>
                  <a:srgbClr val="9933FF"/>
                </a:solidFill>
                <a:latin typeface="宋体" panose="02010600030101010101" pitchFamily="2" charset="-122"/>
                <a:ea typeface="宋体" panose="02010600030101010101" pitchFamily="2" charset="-122"/>
              </a:rPr>
              <a:t>4</a:t>
            </a:r>
            <a:r>
              <a:rPr lang="zh-CN" altLang="en-US" sz="2200" b="1" dirty="0" smtClean="0">
                <a:latin typeface="宋体" panose="02010600030101010101" pitchFamily="2" charset="-122"/>
                <a:ea typeface="宋体" panose="02010600030101010101" pitchFamily="2" charset="-122"/>
              </a:rPr>
              <a:t>个字段组成：</a:t>
            </a:r>
          </a:p>
          <a:p>
            <a:pPr marL="176213" lvl="2" indent="-176213">
              <a:spcBef>
                <a:spcPts val="1200"/>
              </a:spcBef>
            </a:pPr>
            <a:r>
              <a:rPr lang="zh-CN" altLang="en-US" sz="2200" dirty="0" smtClean="0">
                <a:solidFill>
                  <a:srgbClr val="D60093"/>
                </a:solidFill>
                <a:latin typeface="宋体" panose="02010600030101010101" pitchFamily="2" charset="-122"/>
                <a:ea typeface="宋体" panose="02010600030101010101" pitchFamily="2" charset="-122"/>
              </a:rPr>
              <a:t>指令类型</a:t>
            </a:r>
          </a:p>
          <a:p>
            <a:pPr marL="176213" lvl="2" indent="539750">
              <a:spcBef>
                <a:spcPts val="1200"/>
              </a:spcBef>
              <a:buFont typeface="Wingdings" panose="05000000000000000000" pitchFamily="2" charset="2"/>
              <a:buNone/>
            </a:pPr>
            <a:r>
              <a:rPr lang="zh-CN" altLang="en-US" sz="2200" dirty="0" smtClean="0">
                <a:latin typeface="宋体" panose="02010600030101010101" pitchFamily="2" charset="-122"/>
                <a:ea typeface="宋体" panose="02010600030101010101" pitchFamily="2" charset="-122"/>
              </a:rPr>
              <a:t>指出该指令是分支指令</a:t>
            </a:r>
            <a:r>
              <a:rPr lang="zh-CN" altLang="en-US" sz="2200" dirty="0">
                <a:latin typeface="宋体" panose="02010600030101010101" pitchFamily="2" charset="-122"/>
                <a:ea typeface="宋体" panose="02010600030101010101" pitchFamily="2" charset="-122"/>
              </a:rPr>
              <a:t>、</a:t>
            </a:r>
            <a:r>
              <a:rPr lang="en-US" altLang="zh-CN" sz="2200" dirty="0" smtClean="0">
                <a:solidFill>
                  <a:srgbClr val="9933FF"/>
                </a:solidFill>
                <a:latin typeface="宋体" panose="02010600030101010101" pitchFamily="2" charset="-122"/>
                <a:ea typeface="宋体" panose="02010600030101010101" pitchFamily="2" charset="-122"/>
              </a:rPr>
              <a:t>store</a:t>
            </a:r>
            <a:r>
              <a:rPr lang="zh-CN" altLang="en-US" sz="2200" dirty="0" smtClean="0">
                <a:latin typeface="宋体" panose="02010600030101010101" pitchFamily="2" charset="-122"/>
                <a:ea typeface="宋体" panose="02010600030101010101" pitchFamily="2" charset="-122"/>
              </a:rPr>
              <a:t>指令或寄存器操作指令。</a:t>
            </a:r>
          </a:p>
          <a:p>
            <a:pPr marL="176213" lvl="2" indent="-176213">
              <a:spcBef>
                <a:spcPts val="1200"/>
              </a:spcBef>
            </a:pPr>
            <a:r>
              <a:rPr lang="zh-CN" altLang="en-US" sz="2200" dirty="0" smtClean="0">
                <a:solidFill>
                  <a:srgbClr val="D60093"/>
                </a:solidFill>
                <a:latin typeface="宋体" panose="02010600030101010101" pitchFamily="2" charset="-122"/>
                <a:ea typeface="宋体" panose="02010600030101010101" pitchFamily="2" charset="-122"/>
              </a:rPr>
              <a:t>目标地址</a:t>
            </a:r>
          </a:p>
          <a:p>
            <a:pPr marL="176213" lvl="2" indent="452438">
              <a:spcBef>
                <a:spcPts val="1200"/>
              </a:spcBef>
              <a:buFont typeface="Wingdings" panose="05000000000000000000" pitchFamily="2" charset="2"/>
              <a:buNone/>
            </a:pPr>
            <a:r>
              <a:rPr lang="zh-CN" altLang="en-US" sz="2200" dirty="0" smtClean="0">
                <a:latin typeface="宋体" panose="02010600030101010101" pitchFamily="2" charset="-122"/>
                <a:ea typeface="宋体" panose="02010600030101010101" pitchFamily="2" charset="-122"/>
              </a:rPr>
              <a:t>给出指令</a:t>
            </a:r>
            <a:r>
              <a:rPr lang="zh-CN" altLang="en-US" sz="2200" dirty="0" smtClean="0">
                <a:solidFill>
                  <a:srgbClr val="339933"/>
                </a:solidFill>
                <a:latin typeface="宋体" panose="02010600030101010101" pitchFamily="2" charset="-122"/>
                <a:ea typeface="宋体" panose="02010600030101010101" pitchFamily="2" charset="-122"/>
              </a:rPr>
              <a:t>执行结果</a:t>
            </a:r>
            <a:r>
              <a:rPr lang="zh-CN" altLang="en-US" sz="2200" dirty="0" smtClean="0">
                <a:latin typeface="宋体" panose="02010600030101010101" pitchFamily="2" charset="-122"/>
                <a:ea typeface="宋体" panose="02010600030101010101" pitchFamily="2" charset="-122"/>
              </a:rPr>
              <a:t>应写入的目标寄存器号（如果是</a:t>
            </a:r>
            <a:r>
              <a:rPr lang="en-US" altLang="zh-CN" sz="2200" dirty="0" smtClean="0">
                <a:solidFill>
                  <a:srgbClr val="9933FF"/>
                </a:solidFill>
                <a:latin typeface="宋体" panose="02010600030101010101" pitchFamily="2" charset="-122"/>
                <a:ea typeface="宋体" panose="02010600030101010101" pitchFamily="2" charset="-122"/>
              </a:rPr>
              <a:t>load</a:t>
            </a:r>
            <a:r>
              <a:rPr lang="zh-CN" altLang="en-US" sz="2200" dirty="0" smtClean="0">
                <a:latin typeface="宋体" panose="02010600030101010101" pitchFamily="2" charset="-122"/>
                <a:ea typeface="宋体" panose="02010600030101010101" pitchFamily="2" charset="-122"/>
              </a:rPr>
              <a:t>和</a:t>
            </a:r>
            <a:r>
              <a:rPr lang="en-US" altLang="zh-CN" sz="2200" dirty="0" smtClean="0">
                <a:solidFill>
                  <a:srgbClr val="9933FF"/>
                </a:solidFill>
                <a:latin typeface="宋体" panose="02010600030101010101" pitchFamily="2" charset="-122"/>
                <a:ea typeface="宋体" panose="02010600030101010101" pitchFamily="2" charset="-122"/>
              </a:rPr>
              <a:t>ALU</a:t>
            </a:r>
            <a:r>
              <a:rPr lang="zh-CN" altLang="en-US" sz="2200" dirty="0" smtClean="0">
                <a:latin typeface="宋体" panose="02010600030101010101" pitchFamily="2" charset="-122"/>
                <a:ea typeface="宋体" panose="02010600030101010101" pitchFamily="2" charset="-122"/>
              </a:rPr>
              <a:t>指令）或存储器单元的地址（如果是</a:t>
            </a:r>
            <a:r>
              <a:rPr lang="en-US" altLang="zh-CN" sz="2200" dirty="0" smtClean="0">
                <a:solidFill>
                  <a:srgbClr val="9933FF"/>
                </a:solidFill>
                <a:latin typeface="宋体" panose="02010600030101010101" pitchFamily="2" charset="-122"/>
                <a:ea typeface="宋体" panose="02010600030101010101" pitchFamily="2" charset="-122"/>
              </a:rPr>
              <a:t>store</a:t>
            </a:r>
            <a:r>
              <a:rPr lang="zh-CN" altLang="en-US" sz="2200" dirty="0" smtClean="0">
                <a:latin typeface="宋体" panose="02010600030101010101" pitchFamily="2" charset="-122"/>
                <a:ea typeface="宋体" panose="02010600030101010101" pitchFamily="2" charset="-122"/>
              </a:rPr>
              <a:t>指令）。</a:t>
            </a:r>
          </a:p>
          <a:p>
            <a:pPr marL="176213" lvl="2" indent="-176213">
              <a:spcBef>
                <a:spcPts val="1200"/>
              </a:spcBef>
            </a:pPr>
            <a:r>
              <a:rPr lang="zh-CN" altLang="en-US" sz="2200" dirty="0" smtClean="0">
                <a:solidFill>
                  <a:srgbClr val="D60093"/>
                </a:solidFill>
                <a:latin typeface="宋体" panose="02010600030101010101" pitchFamily="2" charset="-122"/>
                <a:ea typeface="宋体" panose="02010600030101010101" pitchFamily="2" charset="-122"/>
              </a:rPr>
              <a:t>数据值字段</a:t>
            </a:r>
          </a:p>
          <a:p>
            <a:pPr marL="176213" lvl="2" indent="452438">
              <a:spcBef>
                <a:spcPts val="1200"/>
              </a:spcBef>
              <a:buFont typeface="Wingdings" panose="05000000000000000000" pitchFamily="2" charset="2"/>
              <a:buNone/>
            </a:pPr>
            <a:r>
              <a:rPr lang="zh-CN" altLang="en-US" sz="2200" dirty="0" smtClean="0">
                <a:latin typeface="宋体" panose="02010600030101010101" pitchFamily="2" charset="-122"/>
                <a:ea typeface="宋体" panose="02010600030101010101" pitchFamily="2" charset="-122"/>
              </a:rPr>
              <a:t>用来保存指令前瞻执行的结果，直到指令得到确认。</a:t>
            </a:r>
          </a:p>
          <a:p>
            <a:pPr marL="176213" lvl="2" indent="-176213">
              <a:spcBef>
                <a:spcPts val="1200"/>
              </a:spcBef>
            </a:pPr>
            <a:r>
              <a:rPr lang="zh-CN" altLang="en-US" sz="2200" dirty="0" smtClean="0">
                <a:solidFill>
                  <a:srgbClr val="D60093"/>
                </a:solidFill>
                <a:latin typeface="宋体" panose="02010600030101010101" pitchFamily="2" charset="-122"/>
                <a:ea typeface="宋体" panose="02010600030101010101" pitchFamily="2" charset="-122"/>
              </a:rPr>
              <a:t>就绪字段</a:t>
            </a:r>
          </a:p>
          <a:p>
            <a:pPr marL="176213" lvl="2" indent="452438">
              <a:spcBef>
                <a:spcPts val="1200"/>
              </a:spcBef>
              <a:buFont typeface="Wingdings" panose="05000000000000000000" pitchFamily="2" charset="2"/>
              <a:buNone/>
            </a:pPr>
            <a:r>
              <a:rPr lang="zh-CN" altLang="en-US" sz="2200" dirty="0" smtClean="0">
                <a:latin typeface="宋体" panose="02010600030101010101" pitchFamily="2" charset="-122"/>
                <a:ea typeface="宋体" panose="02010600030101010101" pitchFamily="2" charset="-122"/>
              </a:rPr>
              <a:t>指出指令是否已经完成执行并且数据已就绪。</a:t>
            </a:r>
            <a:endParaRPr lang="zh-CN" altLang="en-US" sz="2200" dirty="0" smtClean="0">
              <a:solidFill>
                <a:srgbClr val="D60093"/>
              </a:solidFill>
              <a:latin typeface="宋体" panose="02010600030101010101" pitchFamily="2" charset="-122"/>
              <a:ea typeface="宋体" panose="02010600030101010101" pitchFamily="2" charset="-122"/>
            </a:endParaRPr>
          </a:p>
          <a:p>
            <a:pPr lvl="2">
              <a:buFont typeface="Wingdings" panose="05000000000000000000" pitchFamily="2" charset="2"/>
              <a:buNone/>
            </a:pPr>
            <a:r>
              <a:rPr lang="zh-CN" altLang="en-US" sz="2200" dirty="0" smtClean="0">
                <a:latin typeface="宋体" panose="02010600030101010101" pitchFamily="2" charset="-122"/>
                <a:ea typeface="宋体" panose="02010600030101010101" pitchFamily="2" charset="-122"/>
              </a:rPr>
              <a:t>   </a:t>
            </a:r>
            <a:endParaRPr lang="zh-CN" altLang="en-US" sz="2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17243109"/>
      </p:ext>
    </p:extLst>
  </p:cSld>
  <p:clrMapOvr>
    <a:masterClrMapping/>
  </p:clrMapOvr>
  <p:transition>
    <p:pull dir="rd"/>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78851" name="Rectangle 3" descr="Rectangle: Click to edit Master text styles&#10;Second level&#10;Third level&#10;Fourth level&#10;Fifth level"/>
          <p:cNvSpPr>
            <a:spLocks noGrp="1" noChangeArrowheads="1"/>
          </p:cNvSpPr>
          <p:nvPr>
            <p:ph type="body" idx="1"/>
          </p:nvPr>
        </p:nvSpPr>
        <p:spPr>
          <a:xfrm>
            <a:off x="280166" y="0"/>
            <a:ext cx="7772400" cy="1657350"/>
          </a:xfrm>
        </p:spPr>
        <p:txBody>
          <a:bodyPr/>
          <a:lstStyle/>
          <a:p>
            <a:pPr marL="628650" lvl="1" indent="0">
              <a:buNone/>
            </a:pPr>
            <a:r>
              <a:rPr lang="zh-CN" altLang="en-US" dirty="0" smtClean="0">
                <a:latin typeface="黑体" panose="02010609060101010101" pitchFamily="49" charset="-122"/>
              </a:rPr>
              <a:t> </a:t>
            </a:r>
          </a:p>
          <a:p>
            <a:pPr marL="0" indent="0">
              <a:buNone/>
            </a:pPr>
            <a:r>
              <a:rPr lang="zh-CN" altLang="en-US" dirty="0" smtClean="0"/>
              <a:t>采用前瞻执行机制后，指令的执行步骤：</a:t>
            </a:r>
          </a:p>
          <a:p>
            <a:pPr lvl="2" eaLnBrk="1" hangingPunct="1">
              <a:buFont typeface="Wingdings" pitchFamily="2" charset="2"/>
              <a:buNone/>
            </a:pPr>
            <a:r>
              <a:rPr lang="zh-CN" altLang="en-US" dirty="0" smtClean="0">
                <a:latin typeface="宋体" panose="02010600030101010101" pitchFamily="2" charset="-122"/>
              </a:rPr>
              <a:t>（在</a:t>
            </a:r>
            <a:r>
              <a:rPr lang="en-US" altLang="zh-CN" dirty="0" smtClean="0">
                <a:latin typeface="宋体" panose="02010600030101010101" pitchFamily="2" charset="-122"/>
              </a:rPr>
              <a:t>Tomasulo</a:t>
            </a:r>
            <a:r>
              <a:rPr lang="zh-CN" altLang="en-US" dirty="0" smtClean="0">
                <a:latin typeface="宋体" panose="02010600030101010101" pitchFamily="2" charset="-122"/>
              </a:rPr>
              <a:t>算法的基础上改造的</a:t>
            </a:r>
            <a:r>
              <a:rPr lang="zh-CN" altLang="en-US" dirty="0" smtClean="0"/>
              <a:t> ）</a:t>
            </a:r>
          </a:p>
        </p:txBody>
      </p:sp>
      <p:sp>
        <p:nvSpPr>
          <p:cNvPr id="4" name="Rectangle 3" descr="Rectangle: Click to edit Master text styles&#10;Second level&#10;Third level&#10;Fourth level&#10;Fifth level"/>
          <p:cNvSpPr txBox="1">
            <a:spLocks noChangeArrowheads="1"/>
          </p:cNvSpPr>
          <p:nvPr/>
        </p:nvSpPr>
        <p:spPr bwMode="auto">
          <a:xfrm>
            <a:off x="114913" y="1501776"/>
            <a:ext cx="4748213"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9263" indent="-449263" algn="l" rtl="0" eaLnBrk="0" fontAlgn="base" hangingPunct="0">
              <a:lnSpc>
                <a:spcPct val="120000"/>
              </a:lnSpc>
              <a:spcBef>
                <a:spcPct val="20000"/>
              </a:spcBef>
              <a:spcAft>
                <a:spcPct val="0"/>
              </a:spcAft>
              <a:buClr>
                <a:schemeClr val="tx1"/>
              </a:buClr>
              <a:buFont typeface="Wingdings" panose="05000000000000000000" pitchFamily="2" charset="2"/>
              <a:buAutoNum type="arabicPeriod"/>
              <a:defRPr kumimoji="1" sz="2400">
                <a:solidFill>
                  <a:srgbClr val="E24C05"/>
                </a:solidFill>
                <a:latin typeface="+mn-lt"/>
                <a:ea typeface="+mn-ea"/>
                <a:cs typeface="+mn-cs"/>
              </a:defRPr>
            </a:lvl1pPr>
            <a:lvl2pPr marL="900113" indent="-271463" algn="l" rtl="0" eaLnBrk="0" fontAlgn="base" hangingPunct="0">
              <a:lnSpc>
                <a:spcPct val="120000"/>
              </a:lnSpc>
              <a:spcBef>
                <a:spcPct val="20000"/>
              </a:spcBef>
              <a:spcAft>
                <a:spcPct val="0"/>
              </a:spcAft>
              <a:buClr>
                <a:schemeClr val="tx1"/>
              </a:buClr>
              <a:buSzPct val="90000"/>
              <a:buFont typeface="Wingdings" pitchFamily="2" charset="2"/>
              <a:buChar char="Ø"/>
              <a:defRPr kumimoji="1" sz="2400">
                <a:solidFill>
                  <a:schemeClr val="tx1"/>
                </a:solidFill>
                <a:latin typeface="+mn-lt"/>
                <a:ea typeface="+mn-ea"/>
              </a:defRPr>
            </a:lvl2pPr>
            <a:lvl3pPr marL="1714500" indent="-457200" algn="l" rtl="0" eaLnBrk="0" fontAlgn="base" hangingPunct="0">
              <a:lnSpc>
                <a:spcPct val="120000"/>
              </a:lnSpc>
              <a:spcBef>
                <a:spcPct val="20000"/>
              </a:spcBef>
              <a:spcAft>
                <a:spcPct val="0"/>
              </a:spcAft>
              <a:buClr>
                <a:schemeClr val="hlink"/>
              </a:buClr>
              <a:buSzPct val="60000"/>
              <a:buFont typeface="Wingdings" pitchFamily="2" charset="2"/>
              <a:buChar char="q"/>
              <a:defRPr kumimoji="1" sz="2000" b="1">
                <a:solidFill>
                  <a:srgbClr val="000000"/>
                </a:solidFill>
                <a:latin typeface="+mn-lt"/>
                <a:ea typeface="宋体" pitchFamily="2" charset="-122"/>
              </a:defRPr>
            </a:lvl3pPr>
            <a:lvl4pPr marL="2274888" indent="-381000" algn="l" rtl="0" eaLnBrk="0" fontAlgn="base" hangingPunct="0">
              <a:lnSpc>
                <a:spcPct val="120000"/>
              </a:lnSpc>
              <a:spcBef>
                <a:spcPct val="20000"/>
              </a:spcBef>
              <a:spcAft>
                <a:spcPct val="0"/>
              </a:spcAft>
              <a:buClr>
                <a:srgbClr val="006600"/>
              </a:buClr>
              <a:buSzPct val="65000"/>
              <a:buFont typeface="Wingdings" pitchFamily="2" charset="2"/>
              <a:buChar char="n"/>
              <a:defRPr kumimoji="1" sz="2000" b="1">
                <a:solidFill>
                  <a:schemeClr val="tx1"/>
                </a:solidFill>
                <a:latin typeface="+mn-lt"/>
                <a:ea typeface="宋体" pitchFamily="2" charset="-122"/>
              </a:defRPr>
            </a:lvl4pPr>
            <a:lvl5pPr marL="2835275" indent="-381000" algn="l" rtl="0" eaLnBrk="0" fontAlgn="base" hangingPunct="0">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5pPr>
            <a:lvl6pPr marL="32924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6pPr>
            <a:lvl7pPr marL="37496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7pPr>
            <a:lvl8pPr marL="42068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8pPr>
            <a:lvl9pPr marL="46640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9pPr>
          </a:lstStyle>
          <a:p>
            <a:pPr marL="177800" indent="0" eaLnBrk="1" hangingPunct="1">
              <a:buNone/>
              <a:defRPr/>
            </a:pPr>
            <a:r>
              <a:rPr lang="zh-CN" altLang="en-US" sz="1900" kern="0" dirty="0">
                <a:solidFill>
                  <a:srgbClr val="FF0000"/>
                </a:solidFill>
              </a:rPr>
              <a:t>流出 </a:t>
            </a:r>
          </a:p>
          <a:p>
            <a:pPr lvl="1" eaLnBrk="1" hangingPunct="1">
              <a:defRPr/>
            </a:pPr>
            <a:r>
              <a:rPr lang="zh-CN" altLang="en-US" sz="1900" kern="0" dirty="0"/>
              <a:t>从浮点指令队列的头部取一条指令。</a:t>
            </a:r>
          </a:p>
          <a:p>
            <a:pPr lvl="1" eaLnBrk="1" hangingPunct="1">
              <a:defRPr/>
            </a:pPr>
            <a:r>
              <a:rPr lang="zh-CN" altLang="en-US" sz="1900" kern="0" dirty="0">
                <a:latin typeface="宋体" panose="02010600030101010101" pitchFamily="2" charset="-122"/>
              </a:rPr>
              <a:t>如果有空闲的保留站（设为</a:t>
            </a:r>
            <a:r>
              <a:rPr lang="en-US" altLang="zh-CN" sz="1900" kern="0" dirty="0">
                <a:solidFill>
                  <a:srgbClr val="CC3300"/>
                </a:solidFill>
                <a:latin typeface="宋体" panose="02010600030101010101" pitchFamily="2" charset="-122"/>
              </a:rPr>
              <a:t>r</a:t>
            </a:r>
            <a:r>
              <a:rPr lang="zh-CN" altLang="en-US" sz="1900" kern="0" dirty="0">
                <a:latin typeface="宋体" panose="02010600030101010101" pitchFamily="2" charset="-122"/>
              </a:rPr>
              <a:t>）</a:t>
            </a:r>
            <a:r>
              <a:rPr lang="zh-CN" altLang="en-US" sz="1900" kern="0" dirty="0">
                <a:solidFill>
                  <a:srgbClr val="FF0000"/>
                </a:solidFill>
                <a:latin typeface="宋体" panose="02010600030101010101" pitchFamily="2" charset="-122"/>
              </a:rPr>
              <a:t>且有空闲的</a:t>
            </a:r>
            <a:r>
              <a:rPr lang="en-US" altLang="zh-CN" sz="1900" kern="0" dirty="0">
                <a:solidFill>
                  <a:srgbClr val="FF0000"/>
                </a:solidFill>
                <a:latin typeface="宋体" panose="02010600030101010101" pitchFamily="2" charset="-122"/>
              </a:rPr>
              <a:t>ROB</a:t>
            </a:r>
            <a:r>
              <a:rPr lang="zh-CN" altLang="en-US" sz="1900" kern="0" dirty="0">
                <a:solidFill>
                  <a:srgbClr val="FF0000"/>
                </a:solidFill>
                <a:latin typeface="宋体" panose="02010600030101010101" pitchFamily="2" charset="-122"/>
              </a:rPr>
              <a:t>项（设为</a:t>
            </a:r>
            <a:r>
              <a:rPr lang="en-US" altLang="zh-CN" sz="1900" kern="0" dirty="0">
                <a:solidFill>
                  <a:srgbClr val="FF0000"/>
                </a:solidFill>
                <a:latin typeface="宋体" panose="02010600030101010101" pitchFamily="2" charset="-122"/>
              </a:rPr>
              <a:t>b</a:t>
            </a:r>
            <a:r>
              <a:rPr lang="zh-CN" altLang="en-US" sz="1900" kern="0" dirty="0">
                <a:solidFill>
                  <a:srgbClr val="FF0000"/>
                </a:solidFill>
                <a:latin typeface="宋体" panose="02010600030101010101" pitchFamily="2" charset="-122"/>
              </a:rPr>
              <a:t>）</a:t>
            </a:r>
            <a:r>
              <a:rPr lang="zh-CN" altLang="en-US" sz="1900" kern="0" dirty="0">
                <a:latin typeface="宋体" panose="02010600030101010101" pitchFamily="2" charset="-122"/>
              </a:rPr>
              <a:t>，就流出该指令。</a:t>
            </a:r>
            <a:endParaRPr lang="en-US" altLang="zh-CN" sz="1900" kern="0" dirty="0">
              <a:solidFill>
                <a:srgbClr val="C00000"/>
              </a:solidFill>
              <a:latin typeface="宋体" panose="02010600030101010101" pitchFamily="2" charset="-122"/>
            </a:endParaRPr>
          </a:p>
          <a:p>
            <a:pPr lvl="1" eaLnBrk="1" hangingPunct="1">
              <a:defRPr/>
            </a:pPr>
            <a:r>
              <a:rPr lang="zh-CN" altLang="en-US" sz="1900" kern="0" dirty="0">
                <a:latin typeface="宋体" panose="02010600030101010101" pitchFamily="2" charset="-122"/>
              </a:rPr>
              <a:t>如果该指令需要的操作数在寄存器</a:t>
            </a:r>
            <a:r>
              <a:rPr lang="zh-CN" altLang="en-US" sz="1900" kern="0" dirty="0">
                <a:solidFill>
                  <a:srgbClr val="FF0000"/>
                </a:solidFill>
                <a:latin typeface="宋体" panose="02010600030101010101" pitchFamily="2" charset="-122"/>
              </a:rPr>
              <a:t>或者</a:t>
            </a:r>
            <a:r>
              <a:rPr lang="en-US" altLang="zh-CN" sz="1900" kern="0" dirty="0">
                <a:solidFill>
                  <a:srgbClr val="FF0000"/>
                </a:solidFill>
                <a:latin typeface="宋体" panose="02010600030101010101" pitchFamily="2" charset="-122"/>
              </a:rPr>
              <a:t>ROB</a:t>
            </a:r>
            <a:r>
              <a:rPr lang="zh-CN" altLang="en-US" sz="1900" kern="0" dirty="0">
                <a:solidFill>
                  <a:srgbClr val="FF0000"/>
                </a:solidFill>
                <a:latin typeface="宋体" panose="02010600030101010101" pitchFamily="2" charset="-122"/>
              </a:rPr>
              <a:t>中就绪</a:t>
            </a:r>
            <a:r>
              <a:rPr lang="zh-CN" altLang="en-US" sz="1900" kern="0" dirty="0">
                <a:latin typeface="宋体" panose="02010600030101010101" pitchFamily="2" charset="-122"/>
              </a:rPr>
              <a:t>，就将其值取到保留站</a:t>
            </a:r>
            <a:r>
              <a:rPr lang="en-US" altLang="zh-CN" sz="1900" kern="0" dirty="0">
                <a:latin typeface="宋体" panose="02010600030101010101" pitchFamily="2" charset="-122"/>
              </a:rPr>
              <a:t>r</a:t>
            </a:r>
            <a:r>
              <a:rPr lang="zh-CN" altLang="en-US" sz="1900" kern="0" dirty="0">
                <a:latin typeface="宋体" panose="02010600030101010101" pitchFamily="2" charset="-122"/>
              </a:rPr>
              <a:t>中；否则，</a:t>
            </a:r>
            <a:r>
              <a:rPr lang="zh-CN" altLang="en-US" sz="1900" kern="0" dirty="0">
                <a:solidFill>
                  <a:srgbClr val="FF0000"/>
                </a:solidFill>
                <a:latin typeface="宋体" panose="02010600030101010101" pitchFamily="2" charset="-122"/>
              </a:rPr>
              <a:t>将产生其值的</a:t>
            </a:r>
            <a:r>
              <a:rPr lang="en-US" altLang="zh-CN" sz="1900" kern="0" dirty="0">
                <a:solidFill>
                  <a:srgbClr val="FF0000"/>
                </a:solidFill>
                <a:latin typeface="宋体" panose="02010600030101010101" pitchFamily="2" charset="-122"/>
              </a:rPr>
              <a:t>ROB</a:t>
            </a:r>
            <a:r>
              <a:rPr lang="zh-CN" altLang="en-US" sz="1900" kern="0" dirty="0">
                <a:solidFill>
                  <a:srgbClr val="FF0000"/>
                </a:solidFill>
                <a:latin typeface="宋体" panose="02010600030101010101" pitchFamily="2" charset="-122"/>
              </a:rPr>
              <a:t>编号写入</a:t>
            </a:r>
            <a:r>
              <a:rPr lang="zh-CN" altLang="en-US" sz="1900" kern="0" dirty="0">
                <a:latin typeface="宋体" panose="02010600030101010101" pitchFamily="2" charset="-122"/>
              </a:rPr>
              <a:t>。</a:t>
            </a:r>
            <a:endParaRPr lang="en-US" altLang="zh-CN" sz="1900" kern="0" dirty="0">
              <a:latin typeface="宋体" panose="02010600030101010101" pitchFamily="2" charset="-122"/>
            </a:endParaRPr>
          </a:p>
          <a:p>
            <a:pPr lvl="1" eaLnBrk="1" hangingPunct="1">
              <a:defRPr/>
            </a:pPr>
            <a:r>
              <a:rPr lang="en-US" altLang="zh-CN" sz="1900" kern="0" dirty="0">
                <a:solidFill>
                  <a:srgbClr val="FF0000"/>
                </a:solidFill>
                <a:latin typeface="宋体" panose="02010600030101010101" pitchFamily="2" charset="-122"/>
              </a:rPr>
              <a:t>ROB</a:t>
            </a:r>
            <a:r>
              <a:rPr lang="zh-CN" altLang="en-US" sz="1900" kern="0" dirty="0">
                <a:solidFill>
                  <a:srgbClr val="FF0000"/>
                </a:solidFill>
                <a:latin typeface="宋体" panose="02010600030101010101" pitchFamily="2" charset="-122"/>
              </a:rPr>
              <a:t>的编号写入</a:t>
            </a:r>
            <a:r>
              <a:rPr lang="en-US" altLang="zh-CN" sz="1900" kern="0" dirty="0">
                <a:solidFill>
                  <a:srgbClr val="FF0000"/>
                </a:solidFill>
                <a:latin typeface="宋体" panose="02010600030101010101" pitchFamily="2" charset="-122"/>
              </a:rPr>
              <a:t>r</a:t>
            </a:r>
            <a:r>
              <a:rPr lang="zh-CN" altLang="en-US" sz="1900" kern="0" dirty="0">
                <a:latin typeface="宋体" panose="02010600030101010101" pitchFamily="2" charset="-122"/>
              </a:rPr>
              <a:t>。</a:t>
            </a:r>
          </a:p>
          <a:p>
            <a:pPr lvl="1" eaLnBrk="1" hangingPunct="1">
              <a:defRPr/>
            </a:pPr>
            <a:r>
              <a:rPr lang="zh-CN" altLang="en-US" sz="1900" kern="0" dirty="0">
                <a:solidFill>
                  <a:srgbClr val="FF0000"/>
                </a:solidFill>
                <a:latin typeface="宋体" panose="02010600030101010101" pitchFamily="2" charset="-122"/>
              </a:rPr>
              <a:t>用对应的</a:t>
            </a:r>
            <a:r>
              <a:rPr lang="en-US" altLang="zh-CN" sz="1900" kern="0" dirty="0">
                <a:solidFill>
                  <a:srgbClr val="FF0000"/>
                </a:solidFill>
                <a:latin typeface="宋体" panose="02010600030101010101" pitchFamily="2" charset="-122"/>
              </a:rPr>
              <a:t>ROB</a:t>
            </a:r>
            <a:r>
              <a:rPr lang="zh-CN" altLang="en-US" sz="1900" kern="0" dirty="0">
                <a:solidFill>
                  <a:srgbClr val="FF0000"/>
                </a:solidFill>
                <a:latin typeface="宋体" panose="02010600030101010101" pitchFamily="2" charset="-122"/>
              </a:rPr>
              <a:t>编号对目标寄存器进行预约</a:t>
            </a:r>
            <a:r>
              <a:rPr lang="zh-CN" altLang="en-US" sz="1900" kern="0" dirty="0">
                <a:latin typeface="宋体" panose="02010600030101010101" pitchFamily="2" charset="-122"/>
              </a:rPr>
              <a:t>。  </a:t>
            </a:r>
          </a:p>
        </p:txBody>
      </p:sp>
      <p:sp>
        <p:nvSpPr>
          <p:cNvPr id="2" name="矩形 1"/>
          <p:cNvSpPr/>
          <p:nvPr/>
        </p:nvSpPr>
        <p:spPr>
          <a:xfrm>
            <a:off x="6410825" y="1657350"/>
            <a:ext cx="4464050" cy="4225925"/>
          </a:xfrm>
          <a:prstGeom prst="rect">
            <a:avLst/>
          </a:prstGeom>
          <a:solidFill>
            <a:schemeClr val="accent1">
              <a:lumMod val="20000"/>
              <a:lumOff val="80000"/>
            </a:schemeClr>
          </a:solidFill>
        </p:spPr>
        <p:txBody>
          <a:bodyPr>
            <a:spAutoFit/>
          </a:bodyPr>
          <a:lstStyle/>
          <a:p>
            <a:pPr marL="177800" lvl="1">
              <a:lnSpc>
                <a:spcPct val="120000"/>
              </a:lnSpc>
              <a:spcBef>
                <a:spcPct val="20000"/>
              </a:spcBef>
              <a:buClr>
                <a:schemeClr val="tx1"/>
              </a:buClr>
              <a:defRPr/>
            </a:pPr>
            <a:r>
              <a:rPr lang="zh-CN" altLang="en-US" sz="1900" kern="0" dirty="0">
                <a:solidFill>
                  <a:srgbClr val="E24C05"/>
                </a:solidFill>
              </a:rPr>
              <a:t>流出（</a:t>
            </a:r>
            <a:r>
              <a:rPr lang="en-US" altLang="zh-CN" sz="1900" kern="0" dirty="0" err="1">
                <a:solidFill>
                  <a:srgbClr val="E24C05"/>
                </a:solidFill>
              </a:rPr>
              <a:t>Tomasulo</a:t>
            </a:r>
            <a:r>
              <a:rPr lang="zh-CN" altLang="en-US" sz="1900" kern="0" dirty="0">
                <a:solidFill>
                  <a:srgbClr val="E24C05"/>
                </a:solidFill>
              </a:rPr>
              <a:t>算法）</a:t>
            </a:r>
            <a:endParaRPr lang="en-US" altLang="zh-CN" sz="1900" kern="0" dirty="0">
              <a:solidFill>
                <a:srgbClr val="E24C05"/>
              </a:solidFill>
            </a:endParaRPr>
          </a:p>
          <a:p>
            <a:pPr marL="900113" lvl="1" indent="-271463">
              <a:lnSpc>
                <a:spcPct val="120000"/>
              </a:lnSpc>
              <a:spcBef>
                <a:spcPct val="20000"/>
              </a:spcBef>
              <a:buClr>
                <a:schemeClr val="tx1"/>
              </a:buClr>
              <a:buSzPct val="90000"/>
              <a:buFont typeface="Wingdings" pitchFamily="2" charset="2"/>
              <a:buChar char="Ø"/>
              <a:defRPr/>
            </a:pPr>
            <a:r>
              <a:rPr lang="zh-CN" altLang="en-US" sz="1900" kern="0" dirty="0"/>
              <a:t>从指令队列的头部取一条指令。</a:t>
            </a:r>
          </a:p>
          <a:p>
            <a:pPr marL="900113" lvl="1" indent="-271463">
              <a:lnSpc>
                <a:spcPct val="120000"/>
              </a:lnSpc>
              <a:spcBef>
                <a:spcPct val="20000"/>
              </a:spcBef>
              <a:buClr>
                <a:schemeClr val="tx1"/>
              </a:buClr>
              <a:buSzPct val="90000"/>
              <a:buFont typeface="Wingdings" pitchFamily="2" charset="2"/>
              <a:buChar char="Ø"/>
              <a:defRPr/>
            </a:pPr>
            <a:r>
              <a:rPr lang="zh-CN" altLang="en-US" sz="1900" kern="0" dirty="0"/>
              <a:t>如果该指令的操作所要求的保留站有空闲的，就把该指令送到该保留站</a:t>
            </a:r>
            <a:r>
              <a:rPr lang="en-US" altLang="zh-CN" sz="1900" kern="0" dirty="0"/>
              <a:t>r</a:t>
            </a:r>
            <a:r>
              <a:rPr lang="zh-CN" altLang="en-US" sz="1900" kern="0" dirty="0"/>
              <a:t>。</a:t>
            </a:r>
            <a:endParaRPr lang="en-US" altLang="zh-CN" sz="1900" kern="0" dirty="0"/>
          </a:p>
          <a:p>
            <a:pPr marL="900113" lvl="1" indent="-271463">
              <a:lnSpc>
                <a:spcPct val="120000"/>
              </a:lnSpc>
              <a:spcBef>
                <a:spcPct val="20000"/>
              </a:spcBef>
              <a:buClr>
                <a:schemeClr val="tx1"/>
              </a:buClr>
              <a:buSzPct val="90000"/>
              <a:buFont typeface="Wingdings" pitchFamily="2" charset="2"/>
              <a:buChar char="Ø"/>
              <a:defRPr/>
            </a:pPr>
            <a:r>
              <a:rPr lang="zh-CN" altLang="en-US" sz="1900" kern="0" dirty="0"/>
              <a:t>如果该指令需要的操作数在寄存器中就绪，就将值取到保留站</a:t>
            </a:r>
            <a:r>
              <a:rPr lang="en-US" altLang="zh-CN" sz="1900" kern="0" dirty="0"/>
              <a:t>r</a:t>
            </a:r>
            <a:r>
              <a:rPr lang="zh-CN" altLang="en-US" sz="1900" kern="0" dirty="0"/>
              <a:t>中；如果没就绪，将产生该操作数的保留站的标识送到保留站</a:t>
            </a:r>
            <a:r>
              <a:rPr lang="en-US" altLang="zh-CN" sz="1900" kern="0" dirty="0"/>
              <a:t>r</a:t>
            </a:r>
            <a:r>
              <a:rPr lang="zh-CN" altLang="en-US" sz="1900" kern="0" dirty="0"/>
              <a:t>。</a:t>
            </a:r>
            <a:endParaRPr lang="en-US" altLang="zh-CN" sz="1900" kern="0" dirty="0"/>
          </a:p>
          <a:p>
            <a:pPr marL="900113" lvl="1" indent="-271463">
              <a:lnSpc>
                <a:spcPct val="120000"/>
              </a:lnSpc>
              <a:spcBef>
                <a:spcPct val="20000"/>
              </a:spcBef>
              <a:buClr>
                <a:schemeClr val="tx1"/>
              </a:buClr>
              <a:buSzPct val="90000"/>
              <a:buFont typeface="Wingdings" pitchFamily="2" charset="2"/>
              <a:buChar char="Ø"/>
              <a:defRPr/>
            </a:pPr>
            <a:r>
              <a:rPr lang="zh-CN" altLang="en-US" sz="1900" kern="0" dirty="0"/>
              <a:t>完成对目标寄存器的预约工作。</a:t>
            </a:r>
          </a:p>
          <a:p>
            <a:pPr marL="628650" lvl="1">
              <a:lnSpc>
                <a:spcPct val="120000"/>
              </a:lnSpc>
              <a:spcBef>
                <a:spcPct val="20000"/>
              </a:spcBef>
              <a:buClr>
                <a:schemeClr val="tx1"/>
              </a:buClr>
              <a:buSzPct val="90000"/>
              <a:defRPr/>
            </a:pPr>
            <a:endParaRPr lang="zh-CN" altLang="en-US" sz="2000" kern="0" dirty="0"/>
          </a:p>
        </p:txBody>
      </p:sp>
    </p:spTree>
    <p:extLst>
      <p:ext uri="{BB962C8B-B14F-4D97-AF65-F5344CB8AC3E}">
        <p14:creationId xmlns:p14="http://schemas.microsoft.com/office/powerpoint/2010/main" val="11678988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79875" name="Rectangle 3" descr="Rectangle: Click to edit Master text styles&#10;Second level&#10;Third level&#10;Fourth level&#10;Fifth level"/>
          <p:cNvSpPr>
            <a:spLocks noGrp="1" noChangeArrowheads="1"/>
          </p:cNvSpPr>
          <p:nvPr>
            <p:ph type="body" idx="1"/>
          </p:nvPr>
        </p:nvSpPr>
        <p:spPr>
          <a:xfrm>
            <a:off x="353993" y="981075"/>
            <a:ext cx="4248150" cy="4089400"/>
          </a:xfrm>
        </p:spPr>
        <p:txBody>
          <a:bodyPr/>
          <a:lstStyle/>
          <a:p>
            <a:pPr marL="177800" indent="0">
              <a:buNone/>
              <a:defRPr/>
            </a:pPr>
            <a:r>
              <a:rPr lang="zh-CN" altLang="en-US" sz="1900" dirty="0">
                <a:solidFill>
                  <a:srgbClr val="FF0000"/>
                </a:solidFill>
              </a:rPr>
              <a:t>执行 </a:t>
            </a:r>
          </a:p>
          <a:p>
            <a:pPr lvl="1" eaLnBrk="1" hangingPunct="1">
              <a:spcBef>
                <a:spcPts val="1200"/>
              </a:spcBef>
              <a:buFont typeface="Wingdings" panose="05000000000000000000" pitchFamily="2" charset="2"/>
              <a:buChar char="Ø"/>
              <a:defRPr/>
            </a:pPr>
            <a:r>
              <a:rPr lang="zh-CN" altLang="en-US" sz="1900" dirty="0"/>
              <a:t>如果有操作数尚未就绪，就等待，并不断地监测</a:t>
            </a:r>
            <a:r>
              <a:rPr lang="en-US" altLang="zh-CN" sz="1900" dirty="0"/>
              <a:t>CDB</a:t>
            </a:r>
            <a:r>
              <a:rPr lang="zh-CN" altLang="en-US" sz="1900" dirty="0"/>
              <a:t>。</a:t>
            </a:r>
          </a:p>
          <a:p>
            <a:pPr lvl="1" eaLnBrk="1" hangingPunct="1">
              <a:spcBef>
                <a:spcPts val="1200"/>
              </a:spcBef>
              <a:buFont typeface="Wingdings" panose="05000000000000000000" pitchFamily="2" charset="2"/>
              <a:buChar char="Ø"/>
              <a:defRPr/>
            </a:pPr>
            <a:r>
              <a:rPr lang="zh-CN" altLang="en-US" sz="1900" dirty="0"/>
              <a:t>当两个操作数都已在保留站中就绪后，就可以执行该指令的操作。</a:t>
            </a:r>
            <a:endParaRPr lang="en-US" altLang="zh-CN" sz="1900" dirty="0"/>
          </a:p>
          <a:p>
            <a:pPr lvl="1" eaLnBrk="1" hangingPunct="1">
              <a:spcBef>
                <a:spcPts val="1200"/>
              </a:spcBef>
              <a:buFont typeface="Wingdings" panose="05000000000000000000" pitchFamily="2" charset="2"/>
              <a:buChar char="Ø"/>
              <a:defRPr/>
            </a:pPr>
            <a:r>
              <a:rPr lang="en-US" altLang="zh-CN" sz="1900" dirty="0"/>
              <a:t>Load</a:t>
            </a:r>
            <a:r>
              <a:rPr lang="zh-CN" altLang="en-US" sz="1900" dirty="0"/>
              <a:t>指令做有效地址运算和读取数据；</a:t>
            </a:r>
            <a:r>
              <a:rPr lang="en-US" altLang="zh-CN" sz="1900" dirty="0"/>
              <a:t>store</a:t>
            </a:r>
            <a:r>
              <a:rPr lang="zh-CN" altLang="en-US" sz="1900" dirty="0"/>
              <a:t>指令只做有效地址运算。</a:t>
            </a:r>
          </a:p>
        </p:txBody>
      </p:sp>
      <p:sp>
        <p:nvSpPr>
          <p:cNvPr id="4" name="Rectangle 3" descr="Rectangle: Click to edit Master text styles&#10;Second level&#10;Third level&#10;Fourth level&#10;Fifth level"/>
          <p:cNvSpPr txBox="1">
            <a:spLocks noChangeArrowheads="1"/>
          </p:cNvSpPr>
          <p:nvPr/>
        </p:nvSpPr>
        <p:spPr bwMode="auto">
          <a:xfrm>
            <a:off x="6311900" y="981075"/>
            <a:ext cx="4248150" cy="4089400"/>
          </a:xfrm>
          <a:prstGeom prst="rect">
            <a:avLst/>
          </a:prstGeom>
          <a:solidFill>
            <a:schemeClr val="accent1">
              <a:lumMod val="20000"/>
              <a:lumOff val="80000"/>
            </a:schemeClr>
          </a:solidFill>
          <a:ln>
            <a:noFill/>
          </a:ln>
          <a:effectLst/>
        </p:spPr>
        <p:txBody>
          <a:bodyPr/>
          <a:lstStyle>
            <a:lvl1pPr marL="449263" indent="-449263" algn="l" rtl="0" eaLnBrk="0" fontAlgn="base" hangingPunct="0">
              <a:lnSpc>
                <a:spcPct val="120000"/>
              </a:lnSpc>
              <a:spcBef>
                <a:spcPct val="20000"/>
              </a:spcBef>
              <a:spcAft>
                <a:spcPct val="0"/>
              </a:spcAft>
              <a:buClr>
                <a:schemeClr val="tx1"/>
              </a:buClr>
              <a:buFont typeface="Wingdings" panose="05000000000000000000" pitchFamily="2" charset="2"/>
              <a:buAutoNum type="arabicPeriod"/>
              <a:defRPr kumimoji="1" sz="2400">
                <a:solidFill>
                  <a:srgbClr val="E24C05"/>
                </a:solidFill>
                <a:latin typeface="+mn-lt"/>
                <a:ea typeface="+mn-ea"/>
                <a:cs typeface="+mn-cs"/>
              </a:defRPr>
            </a:lvl1pPr>
            <a:lvl2pPr marL="900113" indent="-271463" algn="l" rtl="0" eaLnBrk="0" fontAlgn="base" hangingPunct="0">
              <a:lnSpc>
                <a:spcPct val="120000"/>
              </a:lnSpc>
              <a:spcBef>
                <a:spcPct val="20000"/>
              </a:spcBef>
              <a:spcAft>
                <a:spcPct val="0"/>
              </a:spcAft>
              <a:buClr>
                <a:schemeClr val="tx1"/>
              </a:buClr>
              <a:buSzPct val="90000"/>
              <a:buFont typeface="Wingdings" pitchFamily="2" charset="2"/>
              <a:buChar char="Ø"/>
              <a:defRPr kumimoji="1" sz="2400">
                <a:solidFill>
                  <a:schemeClr val="tx1"/>
                </a:solidFill>
                <a:latin typeface="+mn-lt"/>
                <a:ea typeface="+mn-ea"/>
              </a:defRPr>
            </a:lvl2pPr>
            <a:lvl3pPr marL="1714500" indent="-457200" algn="l" rtl="0" eaLnBrk="0" fontAlgn="base" hangingPunct="0">
              <a:lnSpc>
                <a:spcPct val="120000"/>
              </a:lnSpc>
              <a:spcBef>
                <a:spcPct val="20000"/>
              </a:spcBef>
              <a:spcAft>
                <a:spcPct val="0"/>
              </a:spcAft>
              <a:buClr>
                <a:schemeClr val="hlink"/>
              </a:buClr>
              <a:buSzPct val="60000"/>
              <a:buFont typeface="Wingdings" pitchFamily="2" charset="2"/>
              <a:buChar char="q"/>
              <a:defRPr kumimoji="1" sz="2000" b="1">
                <a:solidFill>
                  <a:srgbClr val="000000"/>
                </a:solidFill>
                <a:latin typeface="+mn-lt"/>
                <a:ea typeface="宋体" pitchFamily="2" charset="-122"/>
              </a:defRPr>
            </a:lvl3pPr>
            <a:lvl4pPr marL="2274888" indent="-381000" algn="l" rtl="0" eaLnBrk="0" fontAlgn="base" hangingPunct="0">
              <a:lnSpc>
                <a:spcPct val="120000"/>
              </a:lnSpc>
              <a:spcBef>
                <a:spcPct val="20000"/>
              </a:spcBef>
              <a:spcAft>
                <a:spcPct val="0"/>
              </a:spcAft>
              <a:buClr>
                <a:srgbClr val="006600"/>
              </a:buClr>
              <a:buSzPct val="65000"/>
              <a:buFont typeface="Wingdings" pitchFamily="2" charset="2"/>
              <a:buChar char="n"/>
              <a:defRPr kumimoji="1" sz="2000" b="1">
                <a:solidFill>
                  <a:schemeClr val="tx1"/>
                </a:solidFill>
                <a:latin typeface="+mn-lt"/>
                <a:ea typeface="宋体" pitchFamily="2" charset="-122"/>
              </a:defRPr>
            </a:lvl4pPr>
            <a:lvl5pPr marL="2835275" indent="-381000" algn="l" rtl="0" eaLnBrk="0" fontAlgn="base" hangingPunct="0">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5pPr>
            <a:lvl6pPr marL="32924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6pPr>
            <a:lvl7pPr marL="37496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7pPr>
            <a:lvl8pPr marL="42068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8pPr>
            <a:lvl9pPr marL="46640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9pPr>
          </a:lstStyle>
          <a:p>
            <a:pPr marL="0" lvl="1" indent="0" eaLnBrk="1" hangingPunct="1">
              <a:buNone/>
              <a:defRPr/>
            </a:pPr>
            <a:r>
              <a:rPr lang="zh-CN" altLang="en-US" sz="1900" kern="0" dirty="0">
                <a:solidFill>
                  <a:srgbClr val="E24C05"/>
                </a:solidFill>
              </a:rPr>
              <a:t>执行（</a:t>
            </a:r>
            <a:r>
              <a:rPr lang="en-US" altLang="zh-CN" sz="1900" kern="0" dirty="0" err="1">
                <a:solidFill>
                  <a:srgbClr val="E24C05"/>
                </a:solidFill>
              </a:rPr>
              <a:t>Tomasulo</a:t>
            </a:r>
            <a:r>
              <a:rPr lang="zh-CN" altLang="en-US" sz="1900" kern="0" dirty="0">
                <a:solidFill>
                  <a:srgbClr val="E24C05"/>
                </a:solidFill>
              </a:rPr>
              <a:t>算法）</a:t>
            </a:r>
            <a:endParaRPr lang="en-US" altLang="zh-CN" sz="1900" kern="0" dirty="0">
              <a:solidFill>
                <a:srgbClr val="E24C05"/>
              </a:solidFill>
            </a:endParaRPr>
          </a:p>
          <a:p>
            <a:pPr lvl="1" eaLnBrk="1" hangingPunct="1">
              <a:defRPr/>
            </a:pPr>
            <a:r>
              <a:rPr lang="zh-CN" altLang="en-US" sz="1900" kern="0" dirty="0"/>
              <a:t>如果有操作数尚未就绪，就等待，并不断地监测</a:t>
            </a:r>
            <a:r>
              <a:rPr lang="en-US" altLang="zh-CN" sz="1900" kern="0" dirty="0"/>
              <a:t>CDB</a:t>
            </a:r>
            <a:r>
              <a:rPr lang="zh-CN" altLang="en-US" sz="1900" kern="0" dirty="0"/>
              <a:t>。</a:t>
            </a:r>
          </a:p>
          <a:p>
            <a:pPr lvl="1" eaLnBrk="1" hangingPunct="1">
              <a:defRPr/>
            </a:pPr>
            <a:r>
              <a:rPr lang="zh-CN" altLang="en-US" sz="1900" kern="0" dirty="0"/>
              <a:t>当两个操作数都已在保留站中就绪后，就可以执行该指令的操作。</a:t>
            </a:r>
            <a:endParaRPr lang="en-US" altLang="zh-CN" sz="1900" kern="0" dirty="0"/>
          </a:p>
          <a:p>
            <a:pPr lvl="1" eaLnBrk="1" hangingPunct="1">
              <a:defRPr/>
            </a:pPr>
            <a:r>
              <a:rPr lang="en-US" altLang="zh-CN" sz="1900" kern="0" dirty="0"/>
              <a:t>Load</a:t>
            </a:r>
            <a:r>
              <a:rPr lang="zh-CN" altLang="en-US" sz="1900" kern="0" dirty="0"/>
              <a:t>指令做有效地址运算和读取数据；</a:t>
            </a:r>
            <a:r>
              <a:rPr lang="en-US" altLang="zh-CN" sz="1900" kern="0" dirty="0"/>
              <a:t>store</a:t>
            </a:r>
            <a:r>
              <a:rPr lang="zh-CN" altLang="en-US" sz="1900" kern="0" dirty="0"/>
              <a:t>指令只做有效地址运算。</a:t>
            </a:r>
          </a:p>
        </p:txBody>
      </p:sp>
    </p:spTree>
    <p:extLst>
      <p:ext uri="{BB962C8B-B14F-4D97-AF65-F5344CB8AC3E}">
        <p14:creationId xmlns:p14="http://schemas.microsoft.com/office/powerpoint/2010/main" val="39249779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80899" name="Rectangle 3" descr="Rectangle: Click to edit Master text styles&#10;Second level&#10;Third level&#10;Fourth level&#10;Fifth level"/>
          <p:cNvSpPr>
            <a:spLocks noGrp="1" noChangeArrowheads="1"/>
          </p:cNvSpPr>
          <p:nvPr>
            <p:ph type="body" idx="1"/>
          </p:nvPr>
        </p:nvSpPr>
        <p:spPr>
          <a:xfrm>
            <a:off x="549811" y="765174"/>
            <a:ext cx="4681538" cy="5688013"/>
          </a:xfrm>
        </p:spPr>
        <p:txBody>
          <a:bodyPr/>
          <a:lstStyle/>
          <a:p>
            <a:pPr marL="177800" lvl="1" indent="0">
              <a:buNone/>
              <a:defRPr/>
            </a:pPr>
            <a:r>
              <a:rPr lang="zh-CN" altLang="en-US" sz="1900" dirty="0">
                <a:solidFill>
                  <a:srgbClr val="FF0000"/>
                </a:solidFill>
              </a:rPr>
              <a:t>写结果 </a:t>
            </a:r>
          </a:p>
          <a:p>
            <a:pPr lvl="1" eaLnBrk="1" hangingPunct="1">
              <a:lnSpc>
                <a:spcPct val="100000"/>
              </a:lnSpc>
              <a:spcBef>
                <a:spcPts val="1200"/>
              </a:spcBef>
              <a:defRPr/>
            </a:pPr>
            <a:r>
              <a:rPr lang="zh-CN" altLang="en-US" sz="1900" dirty="0"/>
              <a:t>当结果产生后，将该结果</a:t>
            </a:r>
            <a:r>
              <a:rPr lang="zh-CN" altLang="en-US" sz="1900" dirty="0">
                <a:solidFill>
                  <a:srgbClr val="FF0000"/>
                </a:solidFill>
              </a:rPr>
              <a:t>连同本指令在流出段所分配到的</a:t>
            </a:r>
            <a:r>
              <a:rPr lang="en-US" altLang="zh-CN" sz="1900" dirty="0">
                <a:solidFill>
                  <a:srgbClr val="FF0000"/>
                </a:solidFill>
              </a:rPr>
              <a:t>ROB</a:t>
            </a:r>
            <a:r>
              <a:rPr lang="zh-CN" altLang="en-US" sz="1900" dirty="0">
                <a:solidFill>
                  <a:srgbClr val="FF0000"/>
                </a:solidFill>
              </a:rPr>
              <a:t>项的编号</a:t>
            </a:r>
            <a:r>
              <a:rPr lang="zh-CN" altLang="en-US" sz="1900" dirty="0"/>
              <a:t>放到</a:t>
            </a:r>
            <a:r>
              <a:rPr lang="en-US" altLang="zh-CN" sz="1900" dirty="0"/>
              <a:t>CDB</a:t>
            </a:r>
            <a:r>
              <a:rPr lang="zh-CN" altLang="en-US" sz="1900" dirty="0"/>
              <a:t>上，经</a:t>
            </a:r>
            <a:r>
              <a:rPr lang="en-US" altLang="zh-CN" sz="1900" dirty="0"/>
              <a:t>CDB</a:t>
            </a:r>
            <a:r>
              <a:rPr lang="zh-CN" altLang="en-US" sz="1900" dirty="0"/>
              <a:t>写到</a:t>
            </a:r>
            <a:r>
              <a:rPr lang="en-US" altLang="zh-CN" sz="1900" dirty="0">
                <a:solidFill>
                  <a:srgbClr val="FF0000"/>
                </a:solidFill>
              </a:rPr>
              <a:t>ROB</a:t>
            </a:r>
            <a:r>
              <a:rPr lang="zh-CN" altLang="en-US" sz="1900" dirty="0"/>
              <a:t>以及所有等待该结果的保留站。</a:t>
            </a:r>
          </a:p>
          <a:p>
            <a:pPr lvl="1" eaLnBrk="1" hangingPunct="1">
              <a:lnSpc>
                <a:spcPct val="100000"/>
              </a:lnSpc>
              <a:spcBef>
                <a:spcPts val="1200"/>
              </a:spcBef>
              <a:defRPr/>
            </a:pPr>
            <a:r>
              <a:rPr lang="zh-CN" altLang="en-US" sz="1900" dirty="0"/>
              <a:t>释放产生该结果的保留站。</a:t>
            </a:r>
          </a:p>
          <a:p>
            <a:pPr lvl="1" eaLnBrk="1" hangingPunct="1">
              <a:lnSpc>
                <a:spcPct val="100000"/>
              </a:lnSpc>
              <a:spcBef>
                <a:spcPts val="1200"/>
              </a:spcBef>
              <a:defRPr/>
            </a:pPr>
            <a:r>
              <a:rPr lang="zh-CN" altLang="en-US" sz="1900" dirty="0"/>
              <a:t> </a:t>
            </a:r>
            <a:r>
              <a:rPr lang="en-US" altLang="zh-CN" sz="1900" dirty="0"/>
              <a:t>store</a:t>
            </a:r>
            <a:r>
              <a:rPr lang="zh-CN" altLang="en-US" sz="1900" dirty="0"/>
              <a:t>指令在本阶段完成，其操作为</a:t>
            </a:r>
            <a:r>
              <a:rPr lang="en-US" altLang="zh-CN" sz="1900" dirty="0"/>
              <a:t>:  </a:t>
            </a:r>
          </a:p>
          <a:p>
            <a:pPr lvl="2" eaLnBrk="1" hangingPunct="1">
              <a:lnSpc>
                <a:spcPct val="100000"/>
              </a:lnSpc>
              <a:spcBef>
                <a:spcPts val="1200"/>
              </a:spcBef>
              <a:defRPr/>
            </a:pPr>
            <a:r>
              <a:rPr lang="zh-CN" altLang="en-US" sz="1900" dirty="0"/>
              <a:t>如果要写入存储器的数据已经就绪，就把该数据</a:t>
            </a:r>
            <a:r>
              <a:rPr lang="zh-CN" altLang="en-US" sz="1900" dirty="0">
                <a:solidFill>
                  <a:srgbClr val="FF0000"/>
                </a:solidFill>
              </a:rPr>
              <a:t>写入分配给该</a:t>
            </a:r>
            <a:r>
              <a:rPr lang="en-US" altLang="zh-CN" sz="1900" dirty="0">
                <a:solidFill>
                  <a:srgbClr val="FF0000"/>
                </a:solidFill>
              </a:rPr>
              <a:t>store</a:t>
            </a:r>
            <a:r>
              <a:rPr lang="zh-CN" altLang="en-US" sz="1900" dirty="0">
                <a:solidFill>
                  <a:srgbClr val="FF0000"/>
                </a:solidFill>
              </a:rPr>
              <a:t>指令的</a:t>
            </a:r>
            <a:r>
              <a:rPr lang="en-US" altLang="zh-CN" sz="1900" dirty="0">
                <a:solidFill>
                  <a:srgbClr val="FF0000"/>
                </a:solidFill>
              </a:rPr>
              <a:t>ROB</a:t>
            </a:r>
            <a:r>
              <a:rPr lang="zh-CN" altLang="en-US" sz="1900" dirty="0">
                <a:solidFill>
                  <a:srgbClr val="FF0000"/>
                </a:solidFill>
              </a:rPr>
              <a:t>项</a:t>
            </a:r>
            <a:r>
              <a:rPr lang="zh-CN" altLang="en-US" sz="1900" dirty="0"/>
              <a:t>。</a:t>
            </a:r>
          </a:p>
          <a:p>
            <a:pPr lvl="2" eaLnBrk="1" hangingPunct="1">
              <a:lnSpc>
                <a:spcPct val="100000"/>
              </a:lnSpc>
              <a:spcBef>
                <a:spcPts val="1200"/>
              </a:spcBef>
              <a:defRPr/>
            </a:pPr>
            <a:r>
              <a:rPr lang="zh-CN" altLang="en-US" sz="1900" dirty="0"/>
              <a:t>否则，就监测</a:t>
            </a:r>
            <a:r>
              <a:rPr lang="en-US" altLang="zh-CN" sz="1900" dirty="0"/>
              <a:t>CDB</a:t>
            </a:r>
            <a:r>
              <a:rPr lang="zh-CN" altLang="en-US" sz="1900" dirty="0"/>
              <a:t>，直到那个数据在</a:t>
            </a:r>
            <a:r>
              <a:rPr lang="en-US" altLang="zh-CN" sz="1900" dirty="0"/>
              <a:t>CDB</a:t>
            </a:r>
            <a:r>
              <a:rPr lang="zh-CN" altLang="en-US" sz="1900" dirty="0"/>
              <a:t>上播送出来，这时才将之</a:t>
            </a:r>
            <a:r>
              <a:rPr lang="zh-CN" altLang="en-US" sz="1900" dirty="0">
                <a:solidFill>
                  <a:srgbClr val="FF0000"/>
                </a:solidFill>
              </a:rPr>
              <a:t>写入分配给该</a:t>
            </a:r>
            <a:r>
              <a:rPr lang="en-US" altLang="zh-CN" sz="1900" dirty="0">
                <a:solidFill>
                  <a:srgbClr val="FF0000"/>
                </a:solidFill>
              </a:rPr>
              <a:t>store</a:t>
            </a:r>
            <a:r>
              <a:rPr lang="zh-CN" altLang="en-US" sz="1900" dirty="0">
                <a:solidFill>
                  <a:srgbClr val="FF0000"/>
                </a:solidFill>
              </a:rPr>
              <a:t>指令的</a:t>
            </a:r>
            <a:r>
              <a:rPr lang="en-US" altLang="zh-CN" sz="1900" dirty="0">
                <a:solidFill>
                  <a:srgbClr val="FF0000"/>
                </a:solidFill>
              </a:rPr>
              <a:t>ROB</a:t>
            </a:r>
            <a:r>
              <a:rPr lang="zh-CN" altLang="en-US" sz="1900" dirty="0">
                <a:solidFill>
                  <a:srgbClr val="FF0000"/>
                </a:solidFill>
              </a:rPr>
              <a:t>项</a:t>
            </a:r>
            <a:r>
              <a:rPr lang="zh-CN" altLang="en-US" sz="1900" dirty="0"/>
              <a:t>。</a:t>
            </a:r>
          </a:p>
          <a:p>
            <a:pPr lvl="3" eaLnBrk="1" hangingPunct="1">
              <a:defRPr/>
            </a:pPr>
            <a:endParaRPr lang="en-US" altLang="zh-CN" dirty="0" smtClean="0">
              <a:latin typeface="宋体" panose="02010600030101010101" pitchFamily="2" charset="-122"/>
            </a:endParaRPr>
          </a:p>
        </p:txBody>
      </p:sp>
      <p:sp>
        <p:nvSpPr>
          <p:cNvPr id="4" name="Rectangle 3" descr="Rectangle: Click to edit Master text styles&#10;Second level&#10;Third level&#10;Fourth level&#10;Fifth level"/>
          <p:cNvSpPr txBox="1">
            <a:spLocks noChangeArrowheads="1"/>
          </p:cNvSpPr>
          <p:nvPr/>
        </p:nvSpPr>
        <p:spPr bwMode="auto">
          <a:xfrm>
            <a:off x="6410153" y="765175"/>
            <a:ext cx="4679950" cy="5688013"/>
          </a:xfrm>
          <a:prstGeom prst="rect">
            <a:avLst/>
          </a:prstGeom>
          <a:solidFill>
            <a:schemeClr val="accent1">
              <a:lumMod val="20000"/>
              <a:lumOff val="80000"/>
            </a:schemeClr>
          </a:solidFill>
          <a:ln>
            <a:noFill/>
          </a:ln>
          <a:effectLst/>
        </p:spPr>
        <p:txBody>
          <a:bodyPr/>
          <a:lstStyle>
            <a:lvl1pPr marL="449263" indent="-449263" algn="l" rtl="0" eaLnBrk="0" fontAlgn="base" hangingPunct="0">
              <a:lnSpc>
                <a:spcPct val="120000"/>
              </a:lnSpc>
              <a:spcBef>
                <a:spcPct val="20000"/>
              </a:spcBef>
              <a:spcAft>
                <a:spcPct val="0"/>
              </a:spcAft>
              <a:buClr>
                <a:schemeClr val="tx1"/>
              </a:buClr>
              <a:buFont typeface="Wingdings" panose="05000000000000000000" pitchFamily="2" charset="2"/>
              <a:buAutoNum type="arabicPeriod"/>
              <a:defRPr kumimoji="1" sz="2400">
                <a:solidFill>
                  <a:srgbClr val="E24C05"/>
                </a:solidFill>
                <a:latin typeface="+mn-lt"/>
                <a:ea typeface="+mn-ea"/>
                <a:cs typeface="+mn-cs"/>
              </a:defRPr>
            </a:lvl1pPr>
            <a:lvl2pPr marL="900113" indent="-271463" algn="l" rtl="0" eaLnBrk="0" fontAlgn="base" hangingPunct="0">
              <a:lnSpc>
                <a:spcPct val="120000"/>
              </a:lnSpc>
              <a:spcBef>
                <a:spcPct val="20000"/>
              </a:spcBef>
              <a:spcAft>
                <a:spcPct val="0"/>
              </a:spcAft>
              <a:buClr>
                <a:schemeClr val="tx1"/>
              </a:buClr>
              <a:buSzPct val="90000"/>
              <a:buFont typeface="Wingdings" pitchFamily="2" charset="2"/>
              <a:buChar char="Ø"/>
              <a:defRPr kumimoji="1" sz="2400">
                <a:solidFill>
                  <a:schemeClr val="tx1"/>
                </a:solidFill>
                <a:latin typeface="+mn-lt"/>
                <a:ea typeface="+mn-ea"/>
              </a:defRPr>
            </a:lvl2pPr>
            <a:lvl3pPr marL="1714500" indent="-457200" algn="l" rtl="0" eaLnBrk="0" fontAlgn="base" hangingPunct="0">
              <a:lnSpc>
                <a:spcPct val="120000"/>
              </a:lnSpc>
              <a:spcBef>
                <a:spcPct val="20000"/>
              </a:spcBef>
              <a:spcAft>
                <a:spcPct val="0"/>
              </a:spcAft>
              <a:buClr>
                <a:schemeClr val="hlink"/>
              </a:buClr>
              <a:buSzPct val="60000"/>
              <a:buFont typeface="Wingdings" pitchFamily="2" charset="2"/>
              <a:buChar char="q"/>
              <a:defRPr kumimoji="1" sz="2000" b="1">
                <a:solidFill>
                  <a:srgbClr val="000000"/>
                </a:solidFill>
                <a:latin typeface="+mn-lt"/>
                <a:ea typeface="宋体" pitchFamily="2" charset="-122"/>
              </a:defRPr>
            </a:lvl3pPr>
            <a:lvl4pPr marL="2274888" indent="-381000" algn="l" rtl="0" eaLnBrk="0" fontAlgn="base" hangingPunct="0">
              <a:lnSpc>
                <a:spcPct val="120000"/>
              </a:lnSpc>
              <a:spcBef>
                <a:spcPct val="20000"/>
              </a:spcBef>
              <a:spcAft>
                <a:spcPct val="0"/>
              </a:spcAft>
              <a:buClr>
                <a:srgbClr val="006600"/>
              </a:buClr>
              <a:buSzPct val="65000"/>
              <a:buFont typeface="Wingdings" pitchFamily="2" charset="2"/>
              <a:buChar char="n"/>
              <a:defRPr kumimoji="1" sz="2000" b="1">
                <a:solidFill>
                  <a:schemeClr val="tx1"/>
                </a:solidFill>
                <a:latin typeface="+mn-lt"/>
                <a:ea typeface="宋体" pitchFamily="2" charset="-122"/>
              </a:defRPr>
            </a:lvl4pPr>
            <a:lvl5pPr marL="2835275" indent="-381000" algn="l" rtl="0" eaLnBrk="0" fontAlgn="base" hangingPunct="0">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5pPr>
            <a:lvl6pPr marL="32924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6pPr>
            <a:lvl7pPr marL="37496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7pPr>
            <a:lvl8pPr marL="42068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8pPr>
            <a:lvl9pPr marL="46640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9pPr>
          </a:lstStyle>
          <a:p>
            <a:pPr marL="177800" lvl="1" indent="0" eaLnBrk="1" hangingPunct="1">
              <a:buNone/>
              <a:defRPr/>
            </a:pPr>
            <a:r>
              <a:rPr lang="zh-CN" altLang="en-US" sz="1900" kern="0" dirty="0">
                <a:solidFill>
                  <a:srgbClr val="E24C05"/>
                </a:solidFill>
              </a:rPr>
              <a:t>写结果（</a:t>
            </a:r>
            <a:r>
              <a:rPr lang="en-US" altLang="zh-CN" sz="1900" kern="0" dirty="0" err="1">
                <a:solidFill>
                  <a:srgbClr val="E24C05"/>
                </a:solidFill>
              </a:rPr>
              <a:t>tomasulo</a:t>
            </a:r>
            <a:r>
              <a:rPr lang="zh-CN" altLang="en-US" sz="1900" kern="0" dirty="0">
                <a:solidFill>
                  <a:srgbClr val="E24C05"/>
                </a:solidFill>
              </a:rPr>
              <a:t>算法） </a:t>
            </a:r>
          </a:p>
          <a:p>
            <a:pPr lvl="1" eaLnBrk="1" hangingPunct="1">
              <a:defRPr/>
            </a:pPr>
            <a:r>
              <a:rPr lang="zh-CN" altLang="en-US" sz="1900" kern="0" dirty="0"/>
              <a:t>当结果产生后，将该结果放到</a:t>
            </a:r>
            <a:r>
              <a:rPr lang="en-US" altLang="zh-CN" sz="1900" kern="0" dirty="0"/>
              <a:t>CDB</a:t>
            </a:r>
            <a:r>
              <a:rPr lang="zh-CN" altLang="en-US" sz="1900" kern="0" dirty="0"/>
              <a:t>上，经</a:t>
            </a:r>
            <a:r>
              <a:rPr lang="en-US" altLang="zh-CN" sz="1900" kern="0" dirty="0"/>
              <a:t>CDB</a:t>
            </a:r>
            <a:r>
              <a:rPr lang="zh-CN" altLang="en-US" sz="1900" kern="0" dirty="0"/>
              <a:t>写到所有等待该结果的寄存器和保留站中。</a:t>
            </a:r>
            <a:endParaRPr lang="en-US" altLang="zh-CN" sz="1900" kern="0" dirty="0"/>
          </a:p>
          <a:p>
            <a:pPr lvl="1" eaLnBrk="1" hangingPunct="1">
              <a:defRPr/>
            </a:pPr>
            <a:r>
              <a:rPr lang="zh-CN" altLang="en-US" sz="1900" kern="0" dirty="0"/>
              <a:t>当写入地址和数据齐备时，</a:t>
            </a:r>
            <a:r>
              <a:rPr lang="en-US" altLang="zh-CN" sz="1900" kern="0" dirty="0"/>
              <a:t>Store</a:t>
            </a:r>
            <a:r>
              <a:rPr lang="zh-CN" altLang="en-US" sz="1900" kern="0" dirty="0"/>
              <a:t>指令完成存储器的写入。</a:t>
            </a:r>
          </a:p>
          <a:p>
            <a:pPr lvl="1" eaLnBrk="1" hangingPunct="1">
              <a:defRPr/>
            </a:pPr>
            <a:r>
              <a:rPr lang="zh-CN" altLang="en-US" sz="1900" kern="0" dirty="0"/>
              <a:t>释放产生该结果的保留站。</a:t>
            </a:r>
          </a:p>
          <a:p>
            <a:pPr marL="1257300" lvl="2" indent="0" eaLnBrk="1" hangingPunct="1">
              <a:buNone/>
              <a:defRPr/>
            </a:pPr>
            <a:endParaRPr lang="en-US" altLang="zh-CN" kern="0" dirty="0">
              <a:latin typeface="宋体" panose="02010600030101010101" pitchFamily="2" charset="-122"/>
            </a:endParaRPr>
          </a:p>
        </p:txBody>
      </p:sp>
    </p:spTree>
    <p:extLst>
      <p:ext uri="{BB962C8B-B14F-4D97-AF65-F5344CB8AC3E}">
        <p14:creationId xmlns:p14="http://schemas.microsoft.com/office/powerpoint/2010/main" val="21744790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81923" name="Rectangle 3" descr="Rectangle: Click to edit Master text styles&#10;Second level&#10;Third level&#10;Fourth level&#10;Fifth level"/>
          <p:cNvSpPr>
            <a:spLocks noGrp="1" noChangeArrowheads="1"/>
          </p:cNvSpPr>
          <p:nvPr>
            <p:ph type="body" idx="1"/>
          </p:nvPr>
        </p:nvSpPr>
        <p:spPr>
          <a:xfrm>
            <a:off x="1189822" y="812060"/>
            <a:ext cx="9849636" cy="5852941"/>
          </a:xfrm>
        </p:spPr>
        <p:txBody>
          <a:bodyPr>
            <a:normAutofit/>
          </a:bodyPr>
          <a:lstStyle/>
          <a:p>
            <a:pPr marL="0" lvl="1" indent="0">
              <a:lnSpc>
                <a:spcPct val="100000"/>
              </a:lnSpc>
              <a:spcBef>
                <a:spcPts val="1200"/>
              </a:spcBef>
              <a:buNone/>
              <a:defRPr/>
            </a:pPr>
            <a:r>
              <a:rPr lang="zh-CN" altLang="en-US" sz="1900" dirty="0" smtClean="0">
                <a:latin typeface="黑体" panose="02010609060101010101" pitchFamily="49" charset="-122"/>
              </a:rPr>
              <a:t>对</a:t>
            </a:r>
            <a:r>
              <a:rPr lang="zh-CN" altLang="en-US" sz="1900" dirty="0">
                <a:solidFill>
                  <a:srgbClr val="D60093"/>
                </a:solidFill>
                <a:latin typeface="黑体" panose="02010609060101010101" pitchFamily="49" charset="-122"/>
              </a:rPr>
              <a:t>分支指令、</a:t>
            </a:r>
            <a:r>
              <a:rPr lang="en-US" altLang="zh-CN" sz="1900" b="1" dirty="0">
                <a:solidFill>
                  <a:srgbClr val="D60093"/>
                </a:solidFill>
                <a:latin typeface="黑体" panose="02010609060101010101" pitchFamily="49" charset="-122"/>
              </a:rPr>
              <a:t>store</a:t>
            </a:r>
            <a:r>
              <a:rPr lang="zh-CN" altLang="en-US" sz="1900" dirty="0">
                <a:solidFill>
                  <a:srgbClr val="D60093"/>
                </a:solidFill>
                <a:latin typeface="黑体" panose="02010609060101010101" pitchFamily="49" charset="-122"/>
              </a:rPr>
              <a:t>指令</a:t>
            </a:r>
            <a:r>
              <a:rPr lang="zh-CN" altLang="en-US" sz="1900" dirty="0">
                <a:latin typeface="黑体" panose="02010609060101010101" pitchFamily="49" charset="-122"/>
              </a:rPr>
              <a:t>以及</a:t>
            </a:r>
            <a:r>
              <a:rPr lang="zh-CN" altLang="en-US" sz="1900" dirty="0">
                <a:solidFill>
                  <a:srgbClr val="D60093"/>
                </a:solidFill>
                <a:latin typeface="黑体" panose="02010609060101010101" pitchFamily="49" charset="-122"/>
              </a:rPr>
              <a:t>其他指令</a:t>
            </a:r>
            <a:r>
              <a:rPr lang="zh-CN" altLang="en-US" sz="1900" dirty="0">
                <a:latin typeface="黑体" panose="02010609060101010101" pitchFamily="49" charset="-122"/>
              </a:rPr>
              <a:t>的处理不同：</a:t>
            </a:r>
          </a:p>
          <a:p>
            <a:pPr lvl="1" eaLnBrk="1" hangingPunct="1">
              <a:lnSpc>
                <a:spcPct val="100000"/>
              </a:lnSpc>
              <a:spcBef>
                <a:spcPts val="1200"/>
              </a:spcBef>
              <a:defRPr/>
            </a:pPr>
            <a:r>
              <a:rPr lang="zh-CN" altLang="en-US" sz="1900" dirty="0">
                <a:solidFill>
                  <a:srgbClr val="D60093"/>
                </a:solidFill>
                <a:latin typeface="黑体" panose="02010609060101010101" pitchFamily="49" charset="-122"/>
              </a:rPr>
              <a:t>其他指令</a:t>
            </a:r>
            <a:r>
              <a:rPr lang="zh-CN" altLang="en-US" sz="1900" dirty="0">
                <a:latin typeface="黑体" panose="02010609060101010101" pitchFamily="49" charset="-122"/>
              </a:rPr>
              <a:t>（</a:t>
            </a:r>
            <a:r>
              <a:rPr lang="zh-CN" altLang="en-US" sz="1900" dirty="0">
                <a:latin typeface="宋体" panose="02010600030101010101" pitchFamily="2" charset="-122"/>
              </a:rPr>
              <a:t>除分支指令和</a:t>
            </a:r>
            <a:r>
              <a:rPr lang="en-US" altLang="zh-CN" sz="1900" dirty="0">
                <a:latin typeface="宋体" panose="02010600030101010101" pitchFamily="2" charset="-122"/>
              </a:rPr>
              <a:t>store</a:t>
            </a:r>
            <a:r>
              <a:rPr lang="zh-CN" altLang="en-US" sz="1900" dirty="0">
                <a:latin typeface="宋体" panose="02010600030101010101" pitchFamily="2" charset="-122"/>
              </a:rPr>
              <a:t>指令）</a:t>
            </a:r>
          </a:p>
          <a:p>
            <a:pPr marL="628650" lvl="2" indent="539750" eaLnBrk="1" hangingPunct="1">
              <a:lnSpc>
                <a:spcPct val="100000"/>
              </a:lnSpc>
              <a:spcBef>
                <a:spcPts val="1200"/>
              </a:spcBef>
              <a:buFont typeface="Wingdings" pitchFamily="2" charset="2"/>
              <a:buNone/>
              <a:defRPr/>
            </a:pPr>
            <a:r>
              <a:rPr lang="zh-CN" altLang="en-US" sz="1900" dirty="0" smtClean="0">
                <a:latin typeface="宋体" panose="02010600030101010101" pitchFamily="2" charset="-122"/>
              </a:rPr>
              <a:t>当</a:t>
            </a:r>
            <a:r>
              <a:rPr lang="zh-CN" altLang="en-US" sz="1900" dirty="0">
                <a:latin typeface="宋体" panose="02010600030101010101" pitchFamily="2" charset="-122"/>
              </a:rPr>
              <a:t>该指令到达</a:t>
            </a:r>
            <a:r>
              <a:rPr lang="en-US" altLang="zh-CN" sz="1900" dirty="0">
                <a:solidFill>
                  <a:srgbClr val="9933FF"/>
                </a:solidFill>
                <a:latin typeface="宋体" panose="02010600030101010101" pitchFamily="2" charset="-122"/>
              </a:rPr>
              <a:t>ROB</a:t>
            </a:r>
            <a:r>
              <a:rPr lang="zh-CN" altLang="en-US" sz="1900" dirty="0">
                <a:latin typeface="宋体" panose="02010600030101010101" pitchFamily="2" charset="-122"/>
              </a:rPr>
              <a:t>队列的头部而且其结果已经就绪时，就把该结果写入该指令的目标寄存器，并从</a:t>
            </a:r>
            <a:r>
              <a:rPr lang="en-US" altLang="zh-CN" sz="1900" dirty="0">
                <a:solidFill>
                  <a:srgbClr val="9933FF"/>
                </a:solidFill>
                <a:latin typeface="宋体" panose="02010600030101010101" pitchFamily="2" charset="-122"/>
              </a:rPr>
              <a:t>ROB</a:t>
            </a:r>
            <a:r>
              <a:rPr lang="zh-CN" altLang="en-US" sz="1900" dirty="0">
                <a:latin typeface="宋体" panose="02010600030101010101" pitchFamily="2" charset="-122"/>
              </a:rPr>
              <a:t>中删除该指令。   </a:t>
            </a:r>
            <a:endParaRPr lang="en-US" altLang="zh-CN" sz="1900" dirty="0">
              <a:latin typeface="宋体" panose="02010600030101010101" pitchFamily="2" charset="-122"/>
            </a:endParaRPr>
          </a:p>
          <a:p>
            <a:pPr lvl="1" eaLnBrk="1" hangingPunct="1">
              <a:lnSpc>
                <a:spcPct val="100000"/>
              </a:lnSpc>
              <a:spcBef>
                <a:spcPts val="1200"/>
              </a:spcBef>
              <a:defRPr/>
            </a:pPr>
            <a:r>
              <a:rPr lang="en-US" altLang="zh-CN" sz="1900" dirty="0">
                <a:solidFill>
                  <a:srgbClr val="D60093"/>
                </a:solidFill>
                <a:latin typeface="宋体" panose="02010600030101010101" pitchFamily="2" charset="-122"/>
              </a:rPr>
              <a:t>store</a:t>
            </a:r>
            <a:r>
              <a:rPr lang="zh-CN" altLang="en-US" sz="1900" dirty="0">
                <a:solidFill>
                  <a:srgbClr val="D60093"/>
                </a:solidFill>
                <a:latin typeface="宋体" panose="02010600030101010101" pitchFamily="2" charset="-122"/>
              </a:rPr>
              <a:t>指令</a:t>
            </a:r>
          </a:p>
          <a:p>
            <a:pPr marL="715963" lvl="2" indent="452438" eaLnBrk="1" hangingPunct="1">
              <a:lnSpc>
                <a:spcPct val="100000"/>
              </a:lnSpc>
              <a:spcBef>
                <a:spcPts val="1200"/>
              </a:spcBef>
              <a:buFont typeface="Wingdings" pitchFamily="2" charset="2"/>
              <a:buNone/>
              <a:defRPr/>
            </a:pPr>
            <a:r>
              <a:rPr lang="zh-CN" altLang="en-US" sz="1900" dirty="0" smtClean="0">
                <a:latin typeface="宋体" panose="02010600030101010101" pitchFamily="2" charset="-122"/>
              </a:rPr>
              <a:t>处理</a:t>
            </a:r>
            <a:r>
              <a:rPr lang="zh-CN" altLang="en-US" sz="1900" dirty="0">
                <a:latin typeface="宋体" panose="02010600030101010101" pitchFamily="2" charset="-122"/>
              </a:rPr>
              <a:t>与上面类似，只是它把结果写入存储器。</a:t>
            </a:r>
          </a:p>
          <a:p>
            <a:pPr lvl="1" eaLnBrk="1" hangingPunct="1">
              <a:lnSpc>
                <a:spcPct val="100000"/>
              </a:lnSpc>
              <a:spcBef>
                <a:spcPts val="1200"/>
              </a:spcBef>
              <a:defRPr/>
            </a:pPr>
            <a:r>
              <a:rPr lang="zh-CN" altLang="en-US" sz="1900" dirty="0">
                <a:solidFill>
                  <a:srgbClr val="D60093"/>
                </a:solidFill>
              </a:rPr>
              <a:t>分支指令 </a:t>
            </a:r>
          </a:p>
          <a:p>
            <a:pPr lvl="2" eaLnBrk="1" hangingPunct="1">
              <a:lnSpc>
                <a:spcPct val="100000"/>
              </a:lnSpc>
              <a:spcBef>
                <a:spcPts val="1200"/>
              </a:spcBef>
              <a:defRPr/>
            </a:pPr>
            <a:r>
              <a:rPr lang="zh-CN" altLang="en-US" sz="1900" dirty="0">
                <a:latin typeface="宋体" panose="02010600030101010101" pitchFamily="2" charset="-122"/>
              </a:rPr>
              <a:t>当预测错误的分支指令到达</a:t>
            </a:r>
            <a:r>
              <a:rPr lang="en-US" altLang="zh-CN" sz="1900" dirty="0">
                <a:solidFill>
                  <a:srgbClr val="9933FF"/>
                </a:solidFill>
                <a:latin typeface="宋体" panose="02010600030101010101" pitchFamily="2" charset="-122"/>
              </a:rPr>
              <a:t>ROB</a:t>
            </a:r>
            <a:r>
              <a:rPr lang="zh-CN" altLang="en-US" sz="1900" dirty="0">
                <a:latin typeface="宋体" panose="02010600030101010101" pitchFamily="2" charset="-122"/>
              </a:rPr>
              <a:t>队列的头部时，清空</a:t>
            </a:r>
            <a:r>
              <a:rPr lang="en-US" altLang="zh-CN" sz="1900" dirty="0">
                <a:solidFill>
                  <a:srgbClr val="9933FF"/>
                </a:solidFill>
                <a:latin typeface="宋体" panose="02010600030101010101" pitchFamily="2" charset="-122"/>
              </a:rPr>
              <a:t>ROB</a:t>
            </a:r>
            <a:r>
              <a:rPr lang="zh-CN" altLang="en-US" sz="1900" dirty="0">
                <a:latin typeface="宋体" panose="02010600030101010101" pitchFamily="2" charset="-122"/>
              </a:rPr>
              <a:t>，并从分支指令的另一个分支重新开始执行。</a:t>
            </a:r>
            <a:r>
              <a:rPr lang="zh-CN" altLang="en-US" sz="1900" dirty="0">
                <a:solidFill>
                  <a:srgbClr val="0000CC"/>
                </a:solidFill>
                <a:latin typeface="宋体" panose="02010600030101010101" pitchFamily="2" charset="-122"/>
              </a:rPr>
              <a:t>（错误的前瞻执行）</a:t>
            </a:r>
          </a:p>
          <a:p>
            <a:pPr lvl="2" eaLnBrk="1" hangingPunct="1">
              <a:lnSpc>
                <a:spcPct val="100000"/>
              </a:lnSpc>
              <a:spcBef>
                <a:spcPts val="1200"/>
              </a:spcBef>
              <a:defRPr/>
            </a:pPr>
            <a:r>
              <a:rPr lang="zh-CN" altLang="en-US" sz="1900" dirty="0">
                <a:latin typeface="宋体" panose="02010600030101010101" pitchFamily="2" charset="-122"/>
              </a:rPr>
              <a:t>当预测正确的分支指令到达</a:t>
            </a:r>
            <a:r>
              <a:rPr lang="en-US" altLang="zh-CN" sz="1900" dirty="0">
                <a:solidFill>
                  <a:srgbClr val="9933FF"/>
                </a:solidFill>
                <a:latin typeface="宋体" panose="02010600030101010101" pitchFamily="2" charset="-122"/>
              </a:rPr>
              <a:t>ROB</a:t>
            </a:r>
            <a:r>
              <a:rPr lang="zh-CN" altLang="en-US" sz="1900" dirty="0">
                <a:latin typeface="宋体" panose="02010600030101010101" pitchFamily="2" charset="-122"/>
              </a:rPr>
              <a:t>队列的头部时，该指令执行完毕。</a:t>
            </a:r>
            <a:endParaRPr lang="en-US" altLang="zh-CN" sz="1900" dirty="0">
              <a:latin typeface="宋体" panose="02010600030101010101" pitchFamily="2" charset="-122"/>
            </a:endParaRPr>
          </a:p>
          <a:p>
            <a:pPr lvl="1" eaLnBrk="1" hangingPunct="1">
              <a:lnSpc>
                <a:spcPct val="100000"/>
              </a:lnSpc>
              <a:spcBef>
                <a:spcPts val="1200"/>
              </a:spcBef>
              <a:defRPr/>
            </a:pPr>
            <a:r>
              <a:rPr lang="zh-CN" altLang="en-US" sz="1900" dirty="0">
                <a:solidFill>
                  <a:srgbClr val="D60093"/>
                </a:solidFill>
              </a:rPr>
              <a:t>异常指令（实现精确异常） </a:t>
            </a:r>
            <a:endParaRPr lang="en-US" altLang="zh-CN" sz="1900" dirty="0">
              <a:solidFill>
                <a:srgbClr val="D60093"/>
              </a:solidFill>
            </a:endParaRPr>
          </a:p>
          <a:p>
            <a:pPr marL="628650" indent="539750">
              <a:lnSpc>
                <a:spcPct val="100000"/>
              </a:lnSpc>
              <a:spcBef>
                <a:spcPts val="1200"/>
              </a:spcBef>
              <a:buNone/>
              <a:defRPr/>
            </a:pPr>
            <a:r>
              <a:rPr lang="zh-CN" altLang="en-US" sz="2000" dirty="0">
                <a:latin typeface="宋体" panose="02010600030101010101" pitchFamily="2" charset="-122"/>
                <a:ea typeface="宋体" panose="02010600030101010101" pitchFamily="2" charset="-122"/>
              </a:rPr>
              <a:t>在该指令到达</a:t>
            </a:r>
            <a:r>
              <a:rPr lang="en-US" altLang="zh-CN" sz="2000" dirty="0">
                <a:latin typeface="宋体" panose="02010600030101010101" pitchFamily="2" charset="-122"/>
                <a:ea typeface="宋体" panose="02010600030101010101" pitchFamily="2" charset="-122"/>
              </a:rPr>
              <a:t>ROB</a:t>
            </a:r>
            <a:r>
              <a:rPr lang="zh-CN" altLang="en-US" sz="2000" dirty="0">
                <a:latin typeface="宋体" panose="02010600030101010101" pitchFamily="2" charset="-122"/>
                <a:ea typeface="宋体" panose="02010600030101010101" pitchFamily="2" charset="-122"/>
              </a:rPr>
              <a:t>头部前不处理，到达</a:t>
            </a:r>
            <a:r>
              <a:rPr lang="en-US" altLang="zh-CN" sz="2000" dirty="0">
                <a:latin typeface="宋体" panose="02010600030101010101" pitchFamily="2" charset="-122"/>
                <a:ea typeface="宋体" panose="02010600030101010101" pitchFamily="2" charset="-122"/>
              </a:rPr>
              <a:t>ROB</a:t>
            </a:r>
            <a:r>
              <a:rPr lang="zh-CN" altLang="en-US" sz="2000" dirty="0">
                <a:latin typeface="宋体" panose="02010600030101010101" pitchFamily="2" charset="-122"/>
                <a:ea typeface="宋体" panose="02010600030101010101" pitchFamily="2" charset="-122"/>
              </a:rPr>
              <a:t>头部时，产生中断，清空</a:t>
            </a:r>
            <a:r>
              <a:rPr lang="en-US" altLang="zh-CN" sz="2000" dirty="0">
                <a:latin typeface="宋体" panose="02010600030101010101" pitchFamily="2" charset="-122"/>
                <a:ea typeface="宋体" panose="02010600030101010101" pitchFamily="2" charset="-122"/>
              </a:rPr>
              <a:t>ROB</a:t>
            </a:r>
            <a:r>
              <a:rPr lang="zh-CN" altLang="en-US" sz="2000" dirty="0">
                <a:latin typeface="宋体" panose="02010600030101010101" pitchFamily="2" charset="-122"/>
                <a:ea typeface="宋体" panose="02010600030101010101" pitchFamily="2" charset="-122"/>
              </a:rPr>
              <a:t>，此操作能够完成精确的异常处理</a:t>
            </a:r>
            <a:r>
              <a:rPr lang="zh-CN" altLang="en-US" sz="2000" dirty="0" smtClean="0">
                <a:latin typeface="宋体" panose="02010600030101010101" pitchFamily="2" charset="-122"/>
                <a:ea typeface="宋体" panose="02010600030101010101" pitchFamily="2" charset="-122"/>
              </a:rPr>
              <a:t>。但凡</a:t>
            </a:r>
            <a:r>
              <a:rPr lang="zh-CN" altLang="en-US" sz="2000" dirty="0">
                <a:latin typeface="宋体" panose="02010600030101010101" pitchFamily="2" charset="-122"/>
                <a:ea typeface="宋体" panose="02010600030101010101" pitchFamily="2" charset="-122"/>
              </a:rPr>
              <a:t>刷新</a:t>
            </a:r>
            <a:r>
              <a:rPr lang="en-US" altLang="zh-CN" sz="2000" dirty="0">
                <a:latin typeface="宋体" panose="02010600030101010101" pitchFamily="2" charset="-122"/>
                <a:ea typeface="宋体" panose="02010600030101010101" pitchFamily="2" charset="-122"/>
              </a:rPr>
              <a:t>ROB</a:t>
            </a:r>
            <a:r>
              <a:rPr lang="zh-CN" altLang="en-US" sz="2000" dirty="0">
                <a:latin typeface="宋体" panose="02010600030101010101" pitchFamily="2" charset="-122"/>
                <a:ea typeface="宋体" panose="02010600030101010101" pitchFamily="2" charset="-122"/>
              </a:rPr>
              <a:t>，连同指令队列一起刷新，因为假如指令队列中有指令已经是有问题的指令流。</a:t>
            </a:r>
          </a:p>
        </p:txBody>
      </p:sp>
      <p:sp>
        <p:nvSpPr>
          <p:cNvPr id="2" name="矩形 1"/>
          <p:cNvSpPr/>
          <p:nvPr/>
        </p:nvSpPr>
        <p:spPr>
          <a:xfrm>
            <a:off x="847970" y="350221"/>
            <a:ext cx="3895618" cy="400110"/>
          </a:xfrm>
          <a:prstGeom prst="rect">
            <a:avLst/>
          </a:prstGeom>
        </p:spPr>
        <p:txBody>
          <a:bodyPr wrap="none">
            <a:spAutoFit/>
          </a:bodyPr>
          <a:lstStyle/>
          <a:p>
            <a:pPr marL="0" lvl="1" indent="0">
              <a:lnSpc>
                <a:spcPct val="100000"/>
              </a:lnSpc>
              <a:spcBef>
                <a:spcPts val="1200"/>
              </a:spcBef>
              <a:buNone/>
              <a:defRPr/>
            </a:pPr>
            <a:r>
              <a:rPr lang="zh-CN" altLang="en-US" sz="2000" dirty="0">
                <a:solidFill>
                  <a:srgbClr val="FF0000"/>
                </a:solidFill>
              </a:rPr>
              <a:t>确认 （</a:t>
            </a:r>
            <a:r>
              <a:rPr lang="en-US" altLang="zh-CN" sz="2000" dirty="0" err="1">
                <a:solidFill>
                  <a:srgbClr val="FF0000"/>
                </a:solidFill>
              </a:rPr>
              <a:t>Tomasulo</a:t>
            </a:r>
            <a:r>
              <a:rPr lang="zh-CN" altLang="en-US" sz="2000" dirty="0">
                <a:solidFill>
                  <a:srgbClr val="FF0000"/>
                </a:solidFill>
              </a:rPr>
              <a:t>算法无该阶段）</a:t>
            </a:r>
          </a:p>
        </p:txBody>
      </p:sp>
    </p:spTree>
    <p:extLst>
      <p:ext uri="{BB962C8B-B14F-4D97-AF65-F5344CB8AC3E}">
        <p14:creationId xmlns:p14="http://schemas.microsoft.com/office/powerpoint/2010/main" val="8910324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内容占位符 2" descr="Rectangle: Click to edit Master text styles&#10;Second level&#10;Third level&#10;Fourth level&#10;Fifth level"/>
          <p:cNvSpPr>
            <a:spLocks noGrp="1"/>
          </p:cNvSpPr>
          <p:nvPr>
            <p:ph idx="1"/>
          </p:nvPr>
        </p:nvSpPr>
        <p:spPr>
          <a:xfrm>
            <a:off x="922536" y="658545"/>
            <a:ext cx="6427177" cy="4953000"/>
          </a:xfrm>
        </p:spPr>
        <p:txBody>
          <a:bodyPr/>
          <a:lstStyle/>
          <a:p>
            <a:pPr marL="0" indent="0">
              <a:buNone/>
              <a:defRPr/>
            </a:pPr>
            <a:r>
              <a:rPr lang="zh-CN" altLang="en-US" sz="2000" dirty="0" smtClean="0">
                <a:solidFill>
                  <a:schemeClr val="tx1"/>
                </a:solidFill>
                <a:latin typeface="宋体" panose="02010600030101010101" pitchFamily="2" charset="-122"/>
                <a:ea typeface="宋体" panose="02010600030101010101" pitchFamily="2" charset="-122"/>
              </a:rPr>
              <a:t>要点汇总：</a:t>
            </a:r>
            <a:endParaRPr lang="en-US" altLang="zh-CN" sz="2000" dirty="0" smtClean="0">
              <a:solidFill>
                <a:schemeClr val="tx1"/>
              </a:solidFill>
              <a:latin typeface="宋体" panose="02010600030101010101" pitchFamily="2" charset="-122"/>
              <a:ea typeface="宋体" panose="02010600030101010101" pitchFamily="2" charset="-122"/>
            </a:endParaRPr>
          </a:p>
          <a:p>
            <a:pPr marL="358775" indent="179388">
              <a:defRPr/>
            </a:pPr>
            <a:r>
              <a:rPr lang="zh-CN" altLang="en-US" sz="2000" dirty="0">
                <a:latin typeface="宋体" panose="02010600030101010101" pitchFamily="2" charset="-122"/>
                <a:ea typeface="宋体" panose="02010600030101010101" pitchFamily="2" charset="-122"/>
              </a:rPr>
              <a:t>顺序流出指令队列；</a:t>
            </a:r>
          </a:p>
          <a:p>
            <a:pPr marL="358775" indent="179388">
              <a:defRPr/>
            </a:pPr>
            <a:r>
              <a:rPr lang="zh-CN" altLang="en-US" sz="2000" dirty="0">
                <a:latin typeface="宋体" panose="02010600030101010101" pitchFamily="2" charset="-122"/>
                <a:ea typeface="宋体" panose="02010600030101010101" pitchFamily="2" charset="-122"/>
              </a:rPr>
              <a:t>猜测路径和乱序执行；</a:t>
            </a:r>
          </a:p>
          <a:p>
            <a:pPr marL="358775" indent="179388">
              <a:defRPr/>
            </a:pPr>
            <a:r>
              <a:rPr lang="zh-CN" altLang="en-US" sz="2000" dirty="0">
                <a:latin typeface="宋体" panose="02010600030101010101" pitchFamily="2" charset="-122"/>
                <a:ea typeface="宋体" panose="02010600030101010101" pitchFamily="2" charset="-122"/>
              </a:rPr>
              <a:t>顺序确认（保证顺序写回）；</a:t>
            </a:r>
          </a:p>
          <a:p>
            <a:pPr marL="358775" indent="179388">
              <a:defRPr/>
            </a:pPr>
            <a:r>
              <a:rPr lang="zh-CN" altLang="en-US" sz="2000" dirty="0">
                <a:latin typeface="宋体" panose="02010600030101010101" pitchFamily="2" charset="-122"/>
                <a:ea typeface="宋体" panose="02010600030101010101" pitchFamily="2" charset="-122"/>
              </a:rPr>
              <a:t>猜错或发生异常，没写回的全部不算数。</a:t>
            </a:r>
          </a:p>
          <a:p>
            <a:pPr>
              <a:defRPr/>
            </a:pPr>
            <a:endParaRPr lang="zh-CN" altLang="en-US" dirty="0">
              <a:solidFill>
                <a:schemeClr val="tx1"/>
              </a:solidFill>
            </a:endParaRPr>
          </a:p>
        </p:txBody>
      </p:sp>
      <p:sp>
        <p:nvSpPr>
          <p:cNvPr id="2" name="矩形 1"/>
          <p:cNvSpPr/>
          <p:nvPr/>
        </p:nvSpPr>
        <p:spPr>
          <a:xfrm>
            <a:off x="326832" y="3135045"/>
            <a:ext cx="9995971" cy="2800767"/>
          </a:xfrm>
          <a:prstGeom prst="rect">
            <a:avLst/>
          </a:prstGeom>
        </p:spPr>
        <p:txBody>
          <a:bodyPr wrap="square">
            <a:spAutoFit/>
          </a:bodyPr>
          <a:lstStyle/>
          <a:p>
            <a:pPr marL="1085850" lvl="1" indent="-457200"/>
            <a:r>
              <a:rPr lang="zh-CN" altLang="en-US" sz="2200" dirty="0" smtClean="0">
                <a:latin typeface="宋体" panose="02010600030101010101" pitchFamily="2" charset="-122"/>
                <a:ea typeface="宋体" panose="02010600030101010101" pitchFamily="2" charset="-122"/>
              </a:rPr>
              <a:t>主要优点：</a:t>
            </a:r>
            <a:endParaRPr lang="en-US" altLang="zh-CN" sz="2200" dirty="0" smtClean="0">
              <a:latin typeface="宋体" panose="02010600030101010101" pitchFamily="2" charset="-122"/>
              <a:ea typeface="宋体" panose="02010600030101010101" pitchFamily="2" charset="-122"/>
            </a:endParaRPr>
          </a:p>
          <a:p>
            <a:pPr marL="1085850" lvl="1" indent="-457200"/>
            <a:r>
              <a:rPr lang="en-US" altLang="zh-CN" sz="2200" dirty="0">
                <a:latin typeface="宋体" panose="02010600030101010101" pitchFamily="2" charset="-122"/>
                <a:ea typeface="宋体" panose="02010600030101010101" pitchFamily="2" charset="-122"/>
              </a:rPr>
              <a:t> </a:t>
            </a:r>
            <a:r>
              <a:rPr lang="en-US" altLang="zh-CN" sz="2200" dirty="0" smtClean="0">
                <a:latin typeface="宋体" panose="02010600030101010101" pitchFamily="2" charset="-122"/>
                <a:ea typeface="宋体" panose="02010600030101010101" pitchFamily="2" charset="-122"/>
              </a:rPr>
              <a:t> 1. </a:t>
            </a:r>
            <a:r>
              <a:rPr lang="zh-CN" altLang="en-US" sz="2200" dirty="0" smtClean="0">
                <a:latin typeface="宋体" panose="02010600030101010101" pitchFamily="2" charset="-122"/>
                <a:ea typeface="宋体" panose="02010600030101010101" pitchFamily="2" charset="-122"/>
              </a:rPr>
              <a:t>动态调度；</a:t>
            </a:r>
            <a:endParaRPr lang="en-US" altLang="zh-CN" sz="2200" dirty="0" smtClean="0">
              <a:latin typeface="宋体" panose="02010600030101010101" pitchFamily="2" charset="-122"/>
              <a:ea typeface="宋体" panose="02010600030101010101" pitchFamily="2" charset="-122"/>
            </a:endParaRPr>
          </a:p>
          <a:p>
            <a:pPr marL="1085850" lvl="1" indent="-457200"/>
            <a:r>
              <a:rPr lang="en-US" altLang="zh-CN" sz="2200" dirty="0">
                <a:latin typeface="宋体" panose="02010600030101010101" pitchFamily="2" charset="-122"/>
                <a:ea typeface="宋体" panose="02010600030101010101" pitchFamily="2" charset="-122"/>
              </a:rPr>
              <a:t> </a:t>
            </a:r>
            <a:r>
              <a:rPr lang="en-US" altLang="zh-CN" sz="2200" dirty="0" smtClean="0">
                <a:latin typeface="宋体" panose="02010600030101010101" pitchFamily="2" charset="-122"/>
                <a:ea typeface="宋体" panose="02010600030101010101" pitchFamily="2" charset="-122"/>
              </a:rPr>
              <a:t> 2. </a:t>
            </a:r>
            <a:r>
              <a:rPr lang="zh-CN" altLang="en-US" sz="2200" dirty="0">
                <a:latin typeface="宋体" panose="02010600030101010101" pitchFamily="2" charset="-122"/>
                <a:ea typeface="宋体" panose="02010600030101010101" pitchFamily="2" charset="-122"/>
              </a:rPr>
              <a:t>前</a:t>
            </a:r>
            <a:r>
              <a:rPr lang="zh-CN" altLang="en-US" sz="2200" dirty="0" smtClean="0">
                <a:latin typeface="宋体" panose="02010600030101010101" pitchFamily="2" charset="-122"/>
                <a:ea typeface="宋体" panose="02010600030101010101" pitchFamily="2" charset="-122"/>
              </a:rPr>
              <a:t>瞻执行；</a:t>
            </a:r>
            <a:endParaRPr lang="en-US" altLang="zh-CN" sz="2200" dirty="0" smtClean="0">
              <a:latin typeface="宋体" panose="02010600030101010101" pitchFamily="2" charset="-122"/>
              <a:ea typeface="宋体" panose="02010600030101010101" pitchFamily="2" charset="-122"/>
            </a:endParaRPr>
          </a:p>
          <a:p>
            <a:pPr marL="1085850" lvl="1" indent="-457200"/>
            <a:r>
              <a:rPr lang="en-US" altLang="zh-CN" sz="2200" dirty="0">
                <a:latin typeface="宋体" panose="02010600030101010101" pitchFamily="2" charset="-122"/>
                <a:ea typeface="宋体" panose="02010600030101010101" pitchFamily="2" charset="-122"/>
              </a:rPr>
              <a:t> </a:t>
            </a:r>
            <a:r>
              <a:rPr lang="en-US" altLang="zh-CN" sz="2200" dirty="0" smtClean="0">
                <a:latin typeface="宋体" panose="02010600030101010101" pitchFamily="2" charset="-122"/>
                <a:ea typeface="宋体" panose="02010600030101010101" pitchFamily="2" charset="-122"/>
              </a:rPr>
              <a:t> 3. </a:t>
            </a:r>
            <a:r>
              <a:rPr lang="zh-CN" altLang="en-US" sz="2200" dirty="0" smtClean="0">
                <a:latin typeface="宋体" panose="02010600030101010101" pitchFamily="2" charset="-122"/>
                <a:ea typeface="宋体" panose="02010600030101010101" pitchFamily="2" charset="-122"/>
              </a:rPr>
              <a:t>很</a:t>
            </a:r>
            <a:r>
              <a:rPr lang="zh-CN" altLang="en-US" sz="2200" dirty="0">
                <a:latin typeface="宋体" panose="02010600030101010101" pitchFamily="2" charset="-122"/>
                <a:ea typeface="宋体" panose="02010600030101010101" pitchFamily="2" charset="-122"/>
              </a:rPr>
              <a:t>容易地推广到整数寄存器和整数功能单元上</a:t>
            </a:r>
            <a:r>
              <a:rPr lang="zh-CN" altLang="en-US" sz="2200" dirty="0" smtClean="0">
                <a:latin typeface="宋体" panose="02010600030101010101" pitchFamily="2" charset="-122"/>
                <a:ea typeface="宋体" panose="02010600030101010101" pitchFamily="2" charset="-122"/>
              </a:rPr>
              <a:t>。</a:t>
            </a:r>
            <a:endParaRPr lang="en-US" altLang="zh-CN" sz="2200" dirty="0" smtClean="0">
              <a:latin typeface="宋体" panose="02010600030101010101" pitchFamily="2" charset="-122"/>
              <a:ea typeface="宋体" panose="02010600030101010101" pitchFamily="2" charset="-122"/>
            </a:endParaRPr>
          </a:p>
          <a:p>
            <a:pPr marL="1085850" lvl="1" indent="-457200"/>
            <a:r>
              <a:rPr lang="zh-CN" altLang="en-US" sz="2200" dirty="0" smtClean="0">
                <a:latin typeface="宋体" panose="02010600030101010101" pitchFamily="2" charset="-122"/>
                <a:ea typeface="宋体" panose="02010600030101010101" pitchFamily="2" charset="-122"/>
              </a:rPr>
              <a:t> </a:t>
            </a:r>
            <a:endParaRPr lang="zh-CN" altLang="en-US" sz="2200" dirty="0">
              <a:latin typeface="宋体" panose="02010600030101010101" pitchFamily="2" charset="-122"/>
              <a:ea typeface="宋体" panose="02010600030101010101" pitchFamily="2" charset="-122"/>
            </a:endParaRPr>
          </a:p>
          <a:p>
            <a:pPr marL="1085850" lvl="1" indent="-457200"/>
            <a:endParaRPr lang="en-US" altLang="zh-CN" sz="2200" dirty="0" smtClean="0">
              <a:solidFill>
                <a:srgbClr val="D60093"/>
              </a:solidFill>
              <a:latin typeface="宋体" panose="02010600030101010101" pitchFamily="2" charset="-122"/>
              <a:ea typeface="宋体" panose="02010600030101010101" pitchFamily="2" charset="-122"/>
            </a:endParaRPr>
          </a:p>
          <a:p>
            <a:pPr marL="1085850" lvl="1" indent="-457200"/>
            <a:r>
              <a:rPr lang="zh-CN" altLang="en-US" sz="2200" dirty="0" smtClean="0">
                <a:latin typeface="宋体" panose="02010600030101010101" pitchFamily="2" charset="-122"/>
                <a:ea typeface="宋体" panose="02010600030101010101" pitchFamily="2" charset="-122"/>
              </a:rPr>
              <a:t>主要</a:t>
            </a:r>
            <a:r>
              <a:rPr lang="zh-CN" altLang="en-US" sz="2200" dirty="0">
                <a:latin typeface="宋体" panose="02010600030101010101" pitchFamily="2" charset="-122"/>
                <a:ea typeface="宋体" panose="02010600030101010101" pitchFamily="2" charset="-122"/>
              </a:rPr>
              <a:t>缺点</a:t>
            </a:r>
            <a:r>
              <a:rPr lang="zh-CN" altLang="en-US" sz="2200" dirty="0" smtClean="0">
                <a:latin typeface="宋体" panose="02010600030101010101" pitchFamily="2" charset="-122"/>
                <a:ea typeface="宋体" panose="02010600030101010101" pitchFamily="2" charset="-122"/>
              </a:rPr>
              <a:t>：</a:t>
            </a:r>
            <a:endParaRPr lang="en-US" altLang="zh-CN" sz="2200" dirty="0" smtClean="0">
              <a:latin typeface="宋体" panose="02010600030101010101" pitchFamily="2" charset="-122"/>
              <a:ea typeface="宋体" panose="02010600030101010101" pitchFamily="2" charset="-122"/>
            </a:endParaRPr>
          </a:p>
          <a:p>
            <a:pPr marL="1085850" lvl="1" indent="-457200"/>
            <a:r>
              <a:rPr lang="en-US" altLang="zh-CN" sz="2200" dirty="0">
                <a:solidFill>
                  <a:srgbClr val="D60093"/>
                </a:solidFill>
                <a:latin typeface="宋体" panose="02010600030101010101" pitchFamily="2" charset="-122"/>
                <a:ea typeface="宋体" panose="02010600030101010101" pitchFamily="2" charset="-122"/>
              </a:rPr>
              <a:t> </a:t>
            </a:r>
            <a:r>
              <a:rPr lang="en-US" altLang="zh-CN" sz="2200" dirty="0" smtClean="0">
                <a:solidFill>
                  <a:srgbClr val="D60093"/>
                </a:solidFill>
                <a:latin typeface="宋体" panose="02010600030101010101" pitchFamily="2" charset="-122"/>
                <a:ea typeface="宋体" panose="02010600030101010101" pitchFamily="2" charset="-122"/>
              </a:rPr>
              <a:t> </a:t>
            </a:r>
            <a:r>
              <a:rPr lang="zh-CN" altLang="en-US" sz="2200" dirty="0" smtClean="0">
                <a:latin typeface="宋体" panose="02010600030101010101" pitchFamily="2" charset="-122"/>
                <a:ea typeface="宋体" panose="02010600030101010101" pitchFamily="2" charset="-122"/>
              </a:rPr>
              <a:t>所</a:t>
            </a:r>
            <a:r>
              <a:rPr lang="zh-CN" altLang="en-US" sz="2200" dirty="0">
                <a:latin typeface="宋体" panose="02010600030101010101" pitchFamily="2" charset="-122"/>
                <a:ea typeface="宋体" panose="02010600030101010101" pitchFamily="2" charset="-122"/>
              </a:rPr>
              <a:t>需的硬件太复杂。</a:t>
            </a:r>
          </a:p>
        </p:txBody>
      </p:sp>
    </p:spTree>
    <p:extLst>
      <p:ext uri="{BB962C8B-B14F-4D97-AF65-F5344CB8AC3E}">
        <p14:creationId xmlns:p14="http://schemas.microsoft.com/office/powerpoint/2010/main" val="11291756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p:txBody>
          <a:bodyPr/>
          <a:lstStyle/>
          <a:p>
            <a:pPr eaLnBrk="1" hangingPunct="1"/>
            <a:r>
              <a:rPr lang="en-US" altLang="zh-CN" dirty="0" smtClean="0">
                <a:latin typeface="黑体" panose="02010609060101010101" pitchFamily="49" charset="-122"/>
              </a:rPr>
              <a:t> </a:t>
            </a:r>
            <a:endParaRPr lang="zh-CN" altLang="en-US" dirty="0" smtClean="0">
              <a:latin typeface="黑体" panose="02010609060101010101" pitchFamily="49" charset="-122"/>
            </a:endParaRPr>
          </a:p>
        </p:txBody>
      </p:sp>
      <p:sp>
        <p:nvSpPr>
          <p:cNvPr id="318467" name="Rectangle 3" descr="Rectangle: Click to edit Master text styles&#10;Second level&#10;Third level&#10;Fourth level&#10;Fifth level"/>
          <p:cNvSpPr>
            <a:spLocks noGrp="1" noChangeArrowheads="1"/>
          </p:cNvSpPr>
          <p:nvPr>
            <p:ph idx="1"/>
          </p:nvPr>
        </p:nvSpPr>
        <p:spPr>
          <a:xfrm>
            <a:off x="1415041" y="448654"/>
            <a:ext cx="7772400" cy="4953000"/>
          </a:xfrm>
        </p:spPr>
        <p:txBody>
          <a:bodyPr>
            <a:normAutofit/>
          </a:bodyPr>
          <a:lstStyle/>
          <a:p>
            <a:pPr marL="457200" indent="-457200" eaLnBrk="1" hangingPunct="1">
              <a:lnSpc>
                <a:spcPct val="140000"/>
              </a:lnSpc>
              <a:buNone/>
            </a:pPr>
            <a:r>
              <a:rPr lang="en-US" altLang="zh-CN" b="1" dirty="0" smtClean="0">
                <a:latin typeface="宋体" panose="02010600030101010101" pitchFamily="2" charset="-122"/>
                <a:ea typeface="宋体" panose="02010600030101010101" pitchFamily="2" charset="-122"/>
              </a:rPr>
              <a:t>      </a:t>
            </a:r>
            <a:r>
              <a:rPr lang="zh-CN" altLang="en-US" sz="2200" dirty="0" smtClean="0">
                <a:latin typeface="宋体" panose="02010600030101010101" pitchFamily="2" charset="-122"/>
                <a:ea typeface="宋体" panose="02010600030101010101" pitchFamily="2" charset="-122"/>
              </a:rPr>
              <a:t>例题：</a:t>
            </a:r>
            <a:r>
              <a:rPr lang="en-US" altLang="zh-CN" sz="2200" dirty="0" smtClean="0">
                <a:solidFill>
                  <a:srgbClr val="000000"/>
                </a:solidFill>
                <a:latin typeface="宋体" panose="02010600030101010101" pitchFamily="2" charset="-122"/>
                <a:ea typeface="宋体" panose="02010600030101010101" pitchFamily="2" charset="-122"/>
              </a:rPr>
              <a:t> </a:t>
            </a:r>
            <a:r>
              <a:rPr lang="zh-CN" altLang="en-US" sz="2200" dirty="0">
                <a:solidFill>
                  <a:srgbClr val="000000"/>
                </a:solidFill>
                <a:latin typeface="宋体" panose="02010600030101010101" pitchFamily="2" charset="-122"/>
                <a:ea typeface="宋体" panose="02010600030101010101" pitchFamily="2" charset="-122"/>
              </a:rPr>
              <a:t>假设浮点功能部件的延迟时间为：加法</a:t>
            </a:r>
            <a:r>
              <a:rPr lang="en-US" altLang="zh-CN" sz="2200" dirty="0">
                <a:solidFill>
                  <a:srgbClr val="9933FF"/>
                </a:solidFill>
                <a:latin typeface="宋体" panose="02010600030101010101" pitchFamily="2" charset="-122"/>
                <a:ea typeface="宋体" panose="02010600030101010101" pitchFamily="2" charset="-122"/>
              </a:rPr>
              <a:t>2</a:t>
            </a:r>
            <a:r>
              <a:rPr lang="zh-CN" altLang="en-US" sz="2200" dirty="0">
                <a:solidFill>
                  <a:srgbClr val="000000"/>
                </a:solidFill>
                <a:latin typeface="宋体" panose="02010600030101010101" pitchFamily="2" charset="-122"/>
                <a:ea typeface="宋体" panose="02010600030101010101" pitchFamily="2" charset="-122"/>
              </a:rPr>
              <a:t>个时钟周期，乘法</a:t>
            </a:r>
            <a:r>
              <a:rPr lang="en-US" altLang="zh-CN" sz="2200" dirty="0">
                <a:solidFill>
                  <a:srgbClr val="9933FF"/>
                </a:solidFill>
                <a:latin typeface="宋体" panose="02010600030101010101" pitchFamily="2" charset="-122"/>
                <a:ea typeface="宋体" panose="02010600030101010101" pitchFamily="2" charset="-122"/>
              </a:rPr>
              <a:t>10</a:t>
            </a:r>
            <a:r>
              <a:rPr lang="zh-CN" altLang="en-US" sz="2200" dirty="0">
                <a:solidFill>
                  <a:srgbClr val="000000"/>
                </a:solidFill>
                <a:latin typeface="宋体" panose="02010600030101010101" pitchFamily="2" charset="-122"/>
                <a:ea typeface="宋体" panose="02010600030101010101" pitchFamily="2" charset="-122"/>
              </a:rPr>
              <a:t>个时钟周期，除法</a:t>
            </a:r>
            <a:r>
              <a:rPr lang="en-US" altLang="zh-CN" sz="2200" dirty="0">
                <a:solidFill>
                  <a:srgbClr val="9933FF"/>
                </a:solidFill>
                <a:latin typeface="宋体" panose="02010600030101010101" pitchFamily="2" charset="-122"/>
                <a:ea typeface="宋体" panose="02010600030101010101" pitchFamily="2" charset="-122"/>
              </a:rPr>
              <a:t>40</a:t>
            </a:r>
            <a:r>
              <a:rPr lang="zh-CN" altLang="en-US" sz="2200" dirty="0">
                <a:solidFill>
                  <a:srgbClr val="000000"/>
                </a:solidFill>
                <a:latin typeface="宋体" panose="02010600030101010101" pitchFamily="2" charset="-122"/>
                <a:ea typeface="宋体" panose="02010600030101010101" pitchFamily="2" charset="-122"/>
              </a:rPr>
              <a:t>个时钟周期。对于下面的代码段，给出当指令</a:t>
            </a:r>
            <a:r>
              <a:rPr lang="en-US" altLang="zh-CN" sz="2200" dirty="0">
                <a:solidFill>
                  <a:srgbClr val="D60093"/>
                </a:solidFill>
                <a:latin typeface="宋体" panose="02010600030101010101" pitchFamily="2" charset="-122"/>
                <a:ea typeface="宋体" panose="02010600030101010101" pitchFamily="2" charset="-122"/>
              </a:rPr>
              <a:t>MUL.D</a:t>
            </a:r>
            <a:r>
              <a:rPr lang="zh-CN" altLang="en-US" sz="2200" dirty="0">
                <a:solidFill>
                  <a:srgbClr val="CC00CC"/>
                </a:solidFill>
                <a:latin typeface="宋体" panose="02010600030101010101" pitchFamily="2" charset="-122"/>
                <a:ea typeface="宋体" panose="02010600030101010101" pitchFamily="2" charset="-122"/>
              </a:rPr>
              <a:t>即将确认时</a:t>
            </a:r>
            <a:r>
              <a:rPr lang="zh-CN" altLang="en-US" sz="2200" dirty="0">
                <a:solidFill>
                  <a:srgbClr val="000000"/>
                </a:solidFill>
                <a:latin typeface="宋体" panose="02010600030101010101" pitchFamily="2" charset="-122"/>
                <a:ea typeface="宋体" panose="02010600030101010101" pitchFamily="2" charset="-122"/>
              </a:rPr>
              <a:t>的状态表内容。</a:t>
            </a:r>
            <a:endParaRPr lang="zh-CN" altLang="pt-BR" sz="2200" dirty="0">
              <a:solidFill>
                <a:srgbClr val="000000"/>
              </a:solidFill>
              <a:latin typeface="宋体" panose="02010600030101010101" pitchFamily="2" charset="-122"/>
              <a:ea typeface="宋体" panose="02010600030101010101" pitchFamily="2" charset="-122"/>
            </a:endParaRPr>
          </a:p>
          <a:p>
            <a:pPr marL="457200" indent="-457200" eaLnBrk="1" hangingPunct="1">
              <a:buNone/>
            </a:pPr>
            <a:r>
              <a:rPr lang="pt-BR" altLang="zh-CN" sz="2200" dirty="0">
                <a:solidFill>
                  <a:schemeClr val="tx1"/>
                </a:solidFill>
                <a:latin typeface="宋体" panose="02010600030101010101" pitchFamily="2" charset="-122"/>
                <a:ea typeface="宋体" panose="02010600030101010101" pitchFamily="2" charset="-122"/>
              </a:rPr>
              <a:t>                 L.D	F6,34</a:t>
            </a:r>
            <a:r>
              <a:rPr lang="zh-CN" altLang="pt-BR" sz="2200" dirty="0">
                <a:solidFill>
                  <a:schemeClr val="tx1"/>
                </a:solidFill>
                <a:latin typeface="宋体" panose="02010600030101010101" pitchFamily="2" charset="-122"/>
                <a:ea typeface="宋体" panose="02010600030101010101" pitchFamily="2" charset="-122"/>
              </a:rPr>
              <a:t>（</a:t>
            </a:r>
            <a:r>
              <a:rPr lang="pt-BR" altLang="zh-CN" sz="2200" dirty="0">
                <a:solidFill>
                  <a:schemeClr val="tx1"/>
                </a:solidFill>
                <a:latin typeface="宋体" panose="02010600030101010101" pitchFamily="2" charset="-122"/>
                <a:ea typeface="宋体" panose="02010600030101010101" pitchFamily="2" charset="-122"/>
              </a:rPr>
              <a:t>R2</a:t>
            </a:r>
            <a:r>
              <a:rPr lang="zh-CN" altLang="pt-BR" sz="2200" dirty="0">
                <a:solidFill>
                  <a:schemeClr val="tx1"/>
                </a:solidFill>
                <a:latin typeface="宋体" panose="02010600030101010101" pitchFamily="2" charset="-122"/>
                <a:ea typeface="宋体" panose="02010600030101010101" pitchFamily="2" charset="-122"/>
              </a:rPr>
              <a:t>）</a:t>
            </a:r>
          </a:p>
          <a:p>
            <a:pPr marL="457200" indent="-457200" eaLnBrk="1" hangingPunct="1">
              <a:buNone/>
            </a:pPr>
            <a:r>
              <a:rPr lang="pt-BR" altLang="zh-CN" sz="2200" dirty="0">
                <a:solidFill>
                  <a:schemeClr val="tx1"/>
                </a:solidFill>
                <a:latin typeface="宋体" panose="02010600030101010101" pitchFamily="2" charset="-122"/>
                <a:ea typeface="宋体" panose="02010600030101010101" pitchFamily="2" charset="-122"/>
              </a:rPr>
              <a:t>                 L.D	F2,45</a:t>
            </a:r>
            <a:r>
              <a:rPr lang="zh-CN" altLang="pt-BR" sz="2200" dirty="0">
                <a:solidFill>
                  <a:schemeClr val="tx1"/>
                </a:solidFill>
                <a:latin typeface="宋体" panose="02010600030101010101" pitchFamily="2" charset="-122"/>
                <a:ea typeface="宋体" panose="02010600030101010101" pitchFamily="2" charset="-122"/>
              </a:rPr>
              <a:t>（</a:t>
            </a:r>
            <a:r>
              <a:rPr lang="pt-BR" altLang="zh-CN" sz="2200" dirty="0">
                <a:solidFill>
                  <a:schemeClr val="tx1"/>
                </a:solidFill>
                <a:latin typeface="宋体" panose="02010600030101010101" pitchFamily="2" charset="-122"/>
                <a:ea typeface="宋体" panose="02010600030101010101" pitchFamily="2" charset="-122"/>
              </a:rPr>
              <a:t>R3</a:t>
            </a:r>
            <a:r>
              <a:rPr lang="zh-CN" altLang="pt-BR" sz="2200" dirty="0">
                <a:solidFill>
                  <a:schemeClr val="tx1"/>
                </a:solidFill>
                <a:latin typeface="宋体" panose="02010600030101010101" pitchFamily="2" charset="-122"/>
                <a:ea typeface="宋体" panose="02010600030101010101" pitchFamily="2" charset="-122"/>
              </a:rPr>
              <a:t>）</a:t>
            </a:r>
          </a:p>
          <a:p>
            <a:pPr marL="457200" indent="-457200" eaLnBrk="1" hangingPunct="1">
              <a:buNone/>
            </a:pPr>
            <a:r>
              <a:rPr lang="pt-BR" altLang="zh-CN" sz="2200" dirty="0">
                <a:solidFill>
                  <a:schemeClr val="tx1"/>
                </a:solidFill>
                <a:latin typeface="宋体" panose="02010600030101010101" pitchFamily="2" charset="-122"/>
                <a:ea typeface="宋体" panose="02010600030101010101" pitchFamily="2" charset="-122"/>
              </a:rPr>
              <a:t>                 MUL.D  </a:t>
            </a:r>
            <a:r>
              <a:rPr lang="pt-BR" altLang="zh-CN" sz="2200" dirty="0" smtClean="0">
                <a:solidFill>
                  <a:schemeClr val="tx1"/>
                </a:solidFill>
                <a:latin typeface="宋体" panose="02010600030101010101" pitchFamily="2" charset="-122"/>
                <a:ea typeface="宋体" panose="02010600030101010101" pitchFamily="2" charset="-122"/>
              </a:rPr>
              <a:t>  F0,F2,F4</a:t>
            </a:r>
            <a:endParaRPr lang="en-US" altLang="zh-CN" sz="2200" dirty="0">
              <a:solidFill>
                <a:schemeClr val="tx1"/>
              </a:solidFill>
              <a:latin typeface="宋体" panose="02010600030101010101" pitchFamily="2" charset="-122"/>
              <a:ea typeface="宋体" panose="02010600030101010101" pitchFamily="2" charset="-122"/>
            </a:endParaRPr>
          </a:p>
          <a:p>
            <a:pPr marL="457200" indent="-457200" eaLnBrk="1" hangingPunct="1">
              <a:buNone/>
            </a:pPr>
            <a:r>
              <a:rPr lang="en-US" altLang="zh-CN" sz="2200" dirty="0">
                <a:solidFill>
                  <a:schemeClr val="tx1"/>
                </a:solidFill>
                <a:latin typeface="宋体" panose="02010600030101010101" pitchFamily="2" charset="-122"/>
                <a:ea typeface="宋体" panose="02010600030101010101" pitchFamily="2" charset="-122"/>
              </a:rPr>
              <a:t>                 SUB.D  </a:t>
            </a:r>
            <a:r>
              <a:rPr lang="en-US" altLang="zh-CN" sz="2200" dirty="0" smtClean="0">
                <a:solidFill>
                  <a:schemeClr val="tx1"/>
                </a:solidFill>
                <a:latin typeface="宋体" panose="02010600030101010101" pitchFamily="2" charset="-122"/>
                <a:ea typeface="宋体" panose="02010600030101010101" pitchFamily="2" charset="-122"/>
              </a:rPr>
              <a:t>  F8,F6,F2</a:t>
            </a:r>
            <a:endParaRPr lang="en-US" altLang="zh-CN" sz="2200" dirty="0">
              <a:solidFill>
                <a:schemeClr val="tx1"/>
              </a:solidFill>
              <a:latin typeface="宋体" panose="02010600030101010101" pitchFamily="2" charset="-122"/>
              <a:ea typeface="宋体" panose="02010600030101010101" pitchFamily="2" charset="-122"/>
            </a:endParaRPr>
          </a:p>
          <a:p>
            <a:pPr marL="457200" indent="-457200" eaLnBrk="1" hangingPunct="1">
              <a:buNone/>
            </a:pPr>
            <a:r>
              <a:rPr lang="en-US" altLang="zh-CN" sz="2200" dirty="0">
                <a:solidFill>
                  <a:schemeClr val="tx1"/>
                </a:solidFill>
                <a:latin typeface="宋体" panose="02010600030101010101" pitchFamily="2" charset="-122"/>
                <a:ea typeface="宋体" panose="02010600030101010101" pitchFamily="2" charset="-122"/>
              </a:rPr>
              <a:t>                 DIV.D  </a:t>
            </a:r>
            <a:r>
              <a:rPr lang="en-US" altLang="zh-CN" sz="2200" dirty="0" smtClean="0">
                <a:solidFill>
                  <a:schemeClr val="tx1"/>
                </a:solidFill>
                <a:latin typeface="宋体" panose="02010600030101010101" pitchFamily="2" charset="-122"/>
                <a:ea typeface="宋体" panose="02010600030101010101" pitchFamily="2" charset="-122"/>
              </a:rPr>
              <a:t>  F10,F0,F6</a:t>
            </a:r>
            <a:endParaRPr lang="en-US" altLang="zh-CN" sz="2200" dirty="0">
              <a:solidFill>
                <a:schemeClr val="tx1"/>
              </a:solidFill>
              <a:latin typeface="宋体" panose="02010600030101010101" pitchFamily="2" charset="-122"/>
              <a:ea typeface="宋体" panose="02010600030101010101" pitchFamily="2" charset="-122"/>
            </a:endParaRPr>
          </a:p>
          <a:p>
            <a:pPr marL="457200" indent="-457200" eaLnBrk="1" hangingPunct="1">
              <a:buNone/>
            </a:pPr>
            <a:r>
              <a:rPr lang="en-US" altLang="zh-CN" sz="2200" dirty="0">
                <a:solidFill>
                  <a:schemeClr val="tx1"/>
                </a:solidFill>
                <a:latin typeface="宋体" panose="02010600030101010101" pitchFamily="2" charset="-122"/>
                <a:ea typeface="宋体" panose="02010600030101010101" pitchFamily="2" charset="-122"/>
              </a:rPr>
              <a:t>                 ADD.D  </a:t>
            </a:r>
            <a:r>
              <a:rPr lang="en-US" altLang="zh-CN" sz="2200" dirty="0" smtClean="0">
                <a:solidFill>
                  <a:schemeClr val="tx1"/>
                </a:solidFill>
                <a:latin typeface="宋体" panose="02010600030101010101" pitchFamily="2" charset="-122"/>
                <a:ea typeface="宋体" panose="02010600030101010101" pitchFamily="2" charset="-122"/>
              </a:rPr>
              <a:t>  F6,F8,F2</a:t>
            </a:r>
            <a:endParaRPr lang="en-US" altLang="zh-CN" sz="2200" dirty="0">
              <a:solidFill>
                <a:schemeClr val="tx1"/>
              </a:solidFill>
              <a:latin typeface="宋体" panose="02010600030101010101" pitchFamily="2" charset="-122"/>
              <a:ea typeface="宋体" panose="02010600030101010101" pitchFamily="2" charset="-122"/>
            </a:endParaRPr>
          </a:p>
        </p:txBody>
      </p:sp>
      <p:sp>
        <p:nvSpPr>
          <p:cNvPr id="2" name="矩形 1"/>
          <p:cNvSpPr/>
          <p:nvPr/>
        </p:nvSpPr>
        <p:spPr>
          <a:xfrm>
            <a:off x="3558448" y="2919470"/>
            <a:ext cx="3150824" cy="451691"/>
          </a:xfrm>
          <a:prstGeom prst="rect">
            <a:avLst/>
          </a:prstGeom>
          <a:noFill/>
          <a:ln w="190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639301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19567" name="Rectangle 547"/>
          <p:cNvSpPr>
            <a:spLocks noChangeArrowheads="1"/>
          </p:cNvSpPr>
          <p:nvPr/>
        </p:nvSpPr>
        <p:spPr bwMode="auto">
          <a:xfrm>
            <a:off x="132202" y="5988644"/>
            <a:ext cx="5933034" cy="387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fontAlgn="base">
              <a:spcAft>
                <a:spcPct val="0"/>
              </a:spcAft>
              <a:buClr>
                <a:srgbClr val="40458C"/>
              </a:buClr>
              <a:buNone/>
            </a:pPr>
            <a:r>
              <a:rPr lang="en-US" altLang="zh-CN" sz="1800" i="1" dirty="0" err="1">
                <a:solidFill>
                  <a:srgbClr val="9900CC"/>
                </a:solidFill>
              </a:rPr>
              <a:t>Dest</a:t>
            </a:r>
            <a:r>
              <a:rPr lang="zh-CN" altLang="en-US" sz="1800" i="1" dirty="0">
                <a:solidFill>
                  <a:srgbClr val="9900CC"/>
                </a:solidFill>
              </a:rPr>
              <a:t>字段指名是哪个</a:t>
            </a:r>
            <a:r>
              <a:rPr lang="en-US" altLang="zh-CN" sz="1800" i="1" dirty="0">
                <a:solidFill>
                  <a:srgbClr val="9900CC"/>
                </a:solidFill>
              </a:rPr>
              <a:t>ROB</a:t>
            </a:r>
            <a:r>
              <a:rPr lang="zh-CN" altLang="en-US" sz="1800" i="1" dirty="0">
                <a:solidFill>
                  <a:srgbClr val="9900CC"/>
                </a:solidFill>
              </a:rPr>
              <a:t>的项将接受该保留站产生的结果</a:t>
            </a:r>
          </a:p>
        </p:txBody>
      </p:sp>
      <p:pic>
        <p:nvPicPr>
          <p:cNvPr id="5" name="图片 4"/>
          <p:cNvPicPr>
            <a:picLocks noChangeAspect="1"/>
          </p:cNvPicPr>
          <p:nvPr/>
        </p:nvPicPr>
        <p:blipFill>
          <a:blip r:embed="rId2"/>
          <a:stretch>
            <a:fillRect/>
          </a:stretch>
        </p:blipFill>
        <p:spPr>
          <a:xfrm>
            <a:off x="132202" y="106212"/>
            <a:ext cx="6114363" cy="2860618"/>
          </a:xfrm>
          <a:prstGeom prst="rect">
            <a:avLst/>
          </a:prstGeom>
        </p:spPr>
      </p:pic>
      <p:pic>
        <p:nvPicPr>
          <p:cNvPr id="6" name="图片 5"/>
          <p:cNvPicPr>
            <a:picLocks noChangeAspect="1"/>
          </p:cNvPicPr>
          <p:nvPr/>
        </p:nvPicPr>
        <p:blipFill>
          <a:blip r:embed="rId3"/>
          <a:stretch>
            <a:fillRect/>
          </a:stretch>
        </p:blipFill>
        <p:spPr>
          <a:xfrm>
            <a:off x="6410752" y="133018"/>
            <a:ext cx="5781248" cy="2855846"/>
          </a:xfrm>
          <a:prstGeom prst="rect">
            <a:avLst/>
          </a:prstGeom>
        </p:spPr>
      </p:pic>
      <p:pic>
        <p:nvPicPr>
          <p:cNvPr id="7" name="图片 6"/>
          <p:cNvPicPr>
            <a:picLocks noChangeAspect="1"/>
          </p:cNvPicPr>
          <p:nvPr/>
        </p:nvPicPr>
        <p:blipFill>
          <a:blip r:embed="rId4"/>
          <a:stretch>
            <a:fillRect/>
          </a:stretch>
        </p:blipFill>
        <p:spPr>
          <a:xfrm>
            <a:off x="2955603" y="3434907"/>
            <a:ext cx="6910298" cy="1545983"/>
          </a:xfrm>
          <a:prstGeom prst="rect">
            <a:avLst/>
          </a:prstGeom>
        </p:spPr>
      </p:pic>
    </p:spTree>
    <p:extLst>
      <p:ext uri="{BB962C8B-B14F-4D97-AF65-F5344CB8AC3E}">
        <p14:creationId xmlns:p14="http://schemas.microsoft.com/office/powerpoint/2010/main" val="3683693121"/>
      </p:ext>
    </p:extLst>
  </p:cSld>
  <p:clrMapOvr>
    <a:masterClrMapping/>
  </p:clrMapOvr>
  <p:transition>
    <p:pull dir="rd"/>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8193" name="Rectangle 3" descr="Rectangle: Click to edit Master text styles&#10;Second level&#10;Third level&#10;Fourth level&#10;Fifth level"/>
          <p:cNvSpPr>
            <a:spLocks noChangeArrowheads="1"/>
          </p:cNvSpPr>
          <p:nvPr/>
        </p:nvSpPr>
        <p:spPr bwMode="auto">
          <a:xfrm>
            <a:off x="1308522" y="765176"/>
            <a:ext cx="9785464" cy="547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Tahoma" panose="020B0604030504040204" pitchFamily="34" charset="0"/>
                <a:ea typeface="黑体" panose="02010609060101010101" pitchFamily="49" charset="-122"/>
              </a:defRPr>
            </a:lvl1pPr>
            <a:lvl2pPr>
              <a:defRPr sz="2400">
                <a:solidFill>
                  <a:schemeClr val="tx1"/>
                </a:solidFill>
                <a:latin typeface="Tahoma" panose="020B0604030504040204" pitchFamily="34" charset="0"/>
                <a:ea typeface="黑体" panose="02010609060101010101" pitchFamily="49" charset="-122"/>
              </a:defRPr>
            </a:lvl2pPr>
            <a:lvl3pPr>
              <a:defRPr sz="2400">
                <a:solidFill>
                  <a:schemeClr val="tx1"/>
                </a:solidFill>
                <a:latin typeface="Tahoma" panose="020B0604030504040204" pitchFamily="34" charset="0"/>
                <a:ea typeface="黑体" panose="02010609060101010101" pitchFamily="49" charset="-122"/>
              </a:defRPr>
            </a:lvl3pPr>
            <a:lvl4pPr>
              <a:defRPr sz="2400">
                <a:solidFill>
                  <a:schemeClr val="tx1"/>
                </a:solidFill>
                <a:latin typeface="Tahoma" panose="020B0604030504040204" pitchFamily="34" charset="0"/>
                <a:ea typeface="黑体" panose="02010609060101010101" pitchFamily="49" charset="-122"/>
              </a:defRPr>
            </a:lvl4pPr>
            <a:lvl5pPr>
              <a:defRPr sz="2400">
                <a:solidFill>
                  <a:schemeClr val="tx1"/>
                </a:solidFill>
                <a:latin typeface="Tahoma" panose="020B0604030504040204" pitchFamily="34" charset="0"/>
                <a:ea typeface="黑体" panose="02010609060101010101" pitchFamily="49" charset="-122"/>
              </a:defRPr>
            </a:lvl5pPr>
            <a:lvl6pPr fontAlgn="base">
              <a:spcBef>
                <a:spcPct val="0"/>
              </a:spcBef>
              <a:spcAft>
                <a:spcPct val="0"/>
              </a:spcAft>
              <a:defRPr sz="2400">
                <a:solidFill>
                  <a:schemeClr val="tx1"/>
                </a:solidFill>
                <a:latin typeface="Tahoma" panose="020B0604030504040204" pitchFamily="34" charset="0"/>
                <a:ea typeface="黑体" panose="02010609060101010101" pitchFamily="49" charset="-122"/>
              </a:defRPr>
            </a:lvl6pPr>
            <a:lvl7pPr fontAlgn="base">
              <a:spcBef>
                <a:spcPct val="0"/>
              </a:spcBef>
              <a:spcAft>
                <a:spcPct val="0"/>
              </a:spcAft>
              <a:defRPr sz="2400">
                <a:solidFill>
                  <a:schemeClr val="tx1"/>
                </a:solidFill>
                <a:latin typeface="Tahoma" panose="020B0604030504040204" pitchFamily="34" charset="0"/>
                <a:ea typeface="黑体" panose="02010609060101010101" pitchFamily="49" charset="-122"/>
              </a:defRPr>
            </a:lvl7pPr>
            <a:lvl8pPr fontAlgn="base">
              <a:spcBef>
                <a:spcPct val="0"/>
              </a:spcBef>
              <a:spcAft>
                <a:spcPct val="0"/>
              </a:spcAft>
              <a:defRPr sz="2400">
                <a:solidFill>
                  <a:schemeClr val="tx1"/>
                </a:solidFill>
                <a:latin typeface="Tahoma" panose="020B0604030504040204" pitchFamily="34" charset="0"/>
                <a:ea typeface="黑体" panose="02010609060101010101" pitchFamily="49" charset="-122"/>
              </a:defRPr>
            </a:lvl8pPr>
            <a:lvl9pPr fontAlgn="base">
              <a:spcBef>
                <a:spcPct val="0"/>
              </a:spcBef>
              <a:spcAft>
                <a:spcPct val="0"/>
              </a:spcAft>
              <a:defRPr sz="2400">
                <a:solidFill>
                  <a:schemeClr val="tx1"/>
                </a:solidFill>
                <a:latin typeface="Tahoma" panose="020B0604030504040204" pitchFamily="34" charset="0"/>
                <a:ea typeface="黑体" panose="02010609060101010101" pitchFamily="49" charset="-122"/>
              </a:defRPr>
            </a:lvl9pPr>
          </a:lstStyle>
          <a:p>
            <a:pPr marL="0" indent="0">
              <a:lnSpc>
                <a:spcPct val="150000"/>
              </a:lnSpc>
              <a:spcBef>
                <a:spcPct val="20000"/>
              </a:spcBef>
              <a:buClr>
                <a:schemeClr val="tx1"/>
              </a:buClr>
            </a:pPr>
            <a:r>
              <a:rPr lang="zh-CN" altLang="en-US" sz="1800" dirty="0" smtClean="0">
                <a:solidFill>
                  <a:srgbClr val="E24C05"/>
                </a:solidFill>
                <a:latin typeface="宋体" panose="02010600030101010101" pitchFamily="2" charset="-122"/>
                <a:ea typeface="宋体" panose="02010600030101010101" pitchFamily="2" charset="-122"/>
              </a:rPr>
              <a:t>例 </a:t>
            </a:r>
            <a:r>
              <a:rPr lang="zh-CN" altLang="en-US" sz="1800" dirty="0">
                <a:latin typeface="宋体" panose="02010600030101010101" pitchFamily="2" charset="-122"/>
                <a:ea typeface="宋体" panose="02010600030101010101" pitchFamily="2" charset="-122"/>
              </a:rPr>
              <a:t>单流出处理器采用基于</a:t>
            </a:r>
            <a:r>
              <a:rPr lang="en-US" altLang="zh-CN" sz="1800" dirty="0" err="1">
                <a:latin typeface="宋体" panose="02010600030101010101" pitchFamily="2" charset="-122"/>
                <a:ea typeface="宋体" panose="02010600030101010101" pitchFamily="2" charset="-122"/>
              </a:rPr>
              <a:t>Tomasulo</a:t>
            </a:r>
            <a:r>
              <a:rPr lang="zh-CN" altLang="en-US" sz="1800" dirty="0">
                <a:latin typeface="宋体" panose="02010600030101010101" pitchFamily="2" charset="-122"/>
                <a:ea typeface="宋体" panose="02010600030101010101" pitchFamily="2" charset="-122"/>
              </a:rPr>
              <a:t>的</a:t>
            </a:r>
            <a:r>
              <a:rPr lang="en-US" altLang="zh-CN" sz="1800" dirty="0">
                <a:latin typeface="宋体" panose="02010600030101010101" pitchFamily="2" charset="-122"/>
                <a:ea typeface="宋体" panose="02010600030101010101" pitchFamily="2" charset="-122"/>
              </a:rPr>
              <a:t>IS</a:t>
            </a:r>
            <a:r>
              <a:rPr lang="zh-CN" altLang="en-US" sz="1800" dirty="0">
                <a:latin typeface="宋体" panose="02010600030101010101" pitchFamily="2" charset="-122"/>
                <a:ea typeface="宋体" panose="02010600030101010101" pitchFamily="2" charset="-122"/>
              </a:rPr>
              <a:t>算法进行指令调度。有一个</a:t>
            </a:r>
            <a:r>
              <a:rPr lang="en-US" altLang="zh-CN" sz="1800" dirty="0">
                <a:latin typeface="宋体" panose="02010600030101010101" pitchFamily="2" charset="-122"/>
                <a:ea typeface="宋体" panose="02010600030101010101" pitchFamily="2" charset="-122"/>
              </a:rPr>
              <a:t>LSU</a:t>
            </a:r>
            <a:r>
              <a:rPr lang="zh-CN" altLang="en-US" sz="1800" dirty="0">
                <a:latin typeface="宋体" panose="02010600030101010101" pitchFamily="2" charset="-122"/>
                <a:ea typeface="宋体" panose="02010600030101010101" pitchFamily="2" charset="-122"/>
              </a:rPr>
              <a:t>部件（内部自带加法器），</a:t>
            </a:r>
            <a:r>
              <a:rPr lang="en-US" altLang="zh-CN" sz="1800" dirty="0">
                <a:latin typeface="宋体" panose="02010600030101010101" pitchFamily="2" charset="-122"/>
                <a:ea typeface="宋体" panose="02010600030101010101" pitchFamily="2" charset="-122"/>
              </a:rPr>
              <a:t>2</a:t>
            </a:r>
            <a:r>
              <a:rPr lang="zh-CN" altLang="en-US" sz="1800" dirty="0">
                <a:latin typeface="宋体" panose="02010600030101010101" pitchFamily="2" charset="-122"/>
                <a:ea typeface="宋体" panose="02010600030101010101" pitchFamily="2" charset="-122"/>
              </a:rPr>
              <a:t>个</a:t>
            </a:r>
            <a:r>
              <a:rPr lang="en-US" altLang="zh-CN" sz="1800" dirty="0">
                <a:latin typeface="宋体" panose="02010600030101010101" pitchFamily="2" charset="-122"/>
                <a:ea typeface="宋体" panose="02010600030101010101" pitchFamily="2" charset="-122"/>
              </a:rPr>
              <a:t>LS</a:t>
            </a:r>
            <a:r>
              <a:rPr lang="zh-CN" altLang="en-US" sz="1800" dirty="0">
                <a:latin typeface="宋体" panose="02010600030101010101" pitchFamily="2" charset="-122"/>
                <a:ea typeface="宋体" panose="02010600030101010101" pitchFamily="2" charset="-122"/>
              </a:rPr>
              <a:t>缓冲器（私有时间戳实现</a:t>
            </a:r>
            <a:r>
              <a:rPr lang="en-US" altLang="zh-CN" sz="1800" dirty="0">
                <a:latin typeface="宋体" panose="02010600030101010101" pitchFamily="2" charset="-122"/>
                <a:ea typeface="宋体" panose="02010600030101010101" pitchFamily="2" charset="-122"/>
              </a:rPr>
              <a:t>FIFO</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sym typeface="黑体" panose="02010609060101010101" pitchFamily="49" charset="-122"/>
              </a:rPr>
              <a:t>1</a:t>
            </a:r>
            <a:r>
              <a:rPr lang="zh-CN" altLang="en-US" sz="1800" dirty="0">
                <a:latin typeface="宋体" panose="02010600030101010101" pitchFamily="2" charset="-122"/>
                <a:ea typeface="宋体" panose="02010600030101010101" pitchFamily="2" charset="-122"/>
                <a:sym typeface="黑体" panose="02010609060101010101" pitchFamily="49" charset="-122"/>
              </a:rPr>
              <a:t>个加法</a:t>
            </a:r>
            <a:r>
              <a:rPr lang="en-US" altLang="zh-CN" sz="1800" dirty="0">
                <a:latin typeface="宋体" panose="02010600030101010101" pitchFamily="2" charset="-122"/>
                <a:ea typeface="宋体" panose="02010600030101010101" pitchFamily="2" charset="-122"/>
                <a:sym typeface="黑体" panose="02010609060101010101" pitchFamily="49" charset="-122"/>
              </a:rPr>
              <a:t>ALU</a:t>
            </a:r>
            <a:r>
              <a:rPr lang="zh-CN" altLang="en-US" sz="1800" dirty="0">
                <a:latin typeface="宋体" panose="02010600030101010101" pitchFamily="2" charset="-122"/>
                <a:ea typeface="宋体" panose="02010600030101010101" pitchFamily="2" charset="-122"/>
                <a:sym typeface="黑体" panose="02010609060101010101" pitchFamily="49" charset="-122"/>
              </a:rPr>
              <a:t>部件，</a:t>
            </a:r>
            <a:r>
              <a:rPr lang="en-US" altLang="zh-CN" sz="1800" dirty="0">
                <a:latin typeface="宋体" panose="02010600030101010101" pitchFamily="2" charset="-122"/>
                <a:ea typeface="宋体" panose="02010600030101010101" pitchFamily="2" charset="-122"/>
                <a:sym typeface="黑体" panose="02010609060101010101" pitchFamily="49" charset="-122"/>
              </a:rPr>
              <a:t>1</a:t>
            </a:r>
            <a:r>
              <a:rPr lang="zh-CN" altLang="en-US" sz="1800" dirty="0">
                <a:latin typeface="宋体" panose="02010600030101010101" pitchFamily="2" charset="-122"/>
                <a:ea typeface="宋体" panose="02010600030101010101" pitchFamily="2" charset="-122"/>
                <a:sym typeface="黑体" panose="02010609060101010101" pitchFamily="49" charset="-122"/>
              </a:rPr>
              <a:t>个乘法</a:t>
            </a:r>
            <a:r>
              <a:rPr lang="en-US" altLang="zh-CN" sz="1800" dirty="0">
                <a:latin typeface="宋体" panose="02010600030101010101" pitchFamily="2" charset="-122"/>
                <a:ea typeface="宋体" panose="02010600030101010101" pitchFamily="2" charset="-122"/>
                <a:sym typeface="黑体" panose="02010609060101010101" pitchFamily="49" charset="-122"/>
              </a:rPr>
              <a:t>ALU</a:t>
            </a:r>
            <a:r>
              <a:rPr lang="zh-CN" altLang="en-US" sz="1800" dirty="0">
                <a:latin typeface="宋体" panose="02010600030101010101" pitchFamily="2" charset="-122"/>
                <a:ea typeface="宋体" panose="02010600030101010101" pitchFamily="2" charset="-122"/>
                <a:sym typeface="黑体" panose="02010609060101010101" pitchFamily="49" charset="-122"/>
              </a:rPr>
              <a:t>部件</a:t>
            </a: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2</a:t>
            </a:r>
            <a:r>
              <a:rPr lang="zh-CN" altLang="en-US" sz="1800" dirty="0">
                <a:latin typeface="宋体" panose="02010600030101010101" pitchFamily="2" charset="-122"/>
                <a:ea typeface="宋体" panose="02010600030101010101" pitchFamily="2" charset="-122"/>
              </a:rPr>
              <a:t>个</a:t>
            </a:r>
            <a:r>
              <a:rPr lang="en-US" altLang="zh-CN" sz="1800" dirty="0">
                <a:latin typeface="宋体" panose="02010600030101010101" pitchFamily="2" charset="-122"/>
                <a:ea typeface="宋体" panose="02010600030101010101" pitchFamily="2" charset="-122"/>
              </a:rPr>
              <a:t>ALU</a:t>
            </a:r>
            <a:r>
              <a:rPr lang="zh-CN" altLang="en-US" sz="1800" dirty="0">
                <a:latin typeface="宋体" panose="02010600030101010101" pitchFamily="2" charset="-122"/>
                <a:ea typeface="宋体" panose="02010600030101010101" pitchFamily="2" charset="-122"/>
              </a:rPr>
              <a:t>保留站。总是预测分支失败。指令序列执行前，指令均未流出，所有缓冲器</a:t>
            </a:r>
            <a:r>
              <a:rPr lang="en-US" altLang="zh-CN" sz="1800"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ea typeface="宋体" panose="02010600030101010101" pitchFamily="2" charset="-122"/>
              </a:rPr>
              <a:t>保留站均空闲。分支指令由加法</a:t>
            </a:r>
            <a:r>
              <a:rPr lang="en-US" altLang="zh-CN" sz="1800" dirty="0">
                <a:latin typeface="宋体" panose="02010600030101010101" pitchFamily="2" charset="-122"/>
                <a:ea typeface="宋体" panose="02010600030101010101" pitchFamily="2" charset="-122"/>
              </a:rPr>
              <a:t>ALU</a:t>
            </a:r>
            <a:r>
              <a:rPr lang="zh-CN" altLang="en-US" sz="1800" dirty="0">
                <a:latin typeface="宋体" panose="02010600030101010101" pitchFamily="2" charset="-122"/>
                <a:ea typeface="宋体" panose="02010600030101010101" pitchFamily="2" charset="-122"/>
              </a:rPr>
              <a:t>部件执行</a:t>
            </a:r>
            <a:r>
              <a:rPr lang="zh-CN" altLang="en-US" sz="1800" dirty="0" smtClean="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ROB</a:t>
            </a:r>
            <a:r>
              <a:rPr lang="zh-CN" altLang="en-US" sz="1800" dirty="0" smtClean="0">
                <a:latin typeface="宋体" panose="02010600030101010101" pitchFamily="2" charset="-122"/>
                <a:ea typeface="宋体" panose="02010600030101010101" pitchFamily="2" charset="-122"/>
              </a:rPr>
              <a:t>空间</a:t>
            </a:r>
            <a:r>
              <a:rPr lang="zh-CN" altLang="en-US" sz="1800" dirty="0">
                <a:latin typeface="宋体" panose="02010600030101010101" pitchFamily="2" charset="-122"/>
                <a:ea typeface="宋体" panose="02010600030101010101" pitchFamily="2" charset="-122"/>
              </a:rPr>
              <a:t>足够。</a:t>
            </a:r>
          </a:p>
          <a:p>
            <a:pPr>
              <a:lnSpc>
                <a:spcPct val="150000"/>
              </a:lnSpc>
              <a:spcBef>
                <a:spcPct val="20000"/>
              </a:spcBef>
              <a:buClr>
                <a:schemeClr val="tx1"/>
              </a:buClr>
            </a:pP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1</a:t>
            </a:r>
            <a:r>
              <a:rPr lang="zh-CN" altLang="en-US" sz="1800" dirty="0">
                <a:latin typeface="宋体" panose="02010600030101010101" pitchFamily="2" charset="-122"/>
                <a:ea typeface="宋体" panose="02010600030101010101" pitchFamily="2" charset="-122"/>
              </a:rPr>
              <a:t>）各个硬件操作及指令执行的时钟周期如下表</a:t>
            </a:r>
            <a:endParaRPr lang="en-US" altLang="zh-CN" sz="1800" dirty="0">
              <a:latin typeface="宋体" panose="02010600030101010101" pitchFamily="2" charset="-122"/>
              <a:ea typeface="宋体" panose="02010600030101010101" pitchFamily="2" charset="-122"/>
            </a:endParaRPr>
          </a:p>
          <a:p>
            <a:pPr>
              <a:lnSpc>
                <a:spcPct val="150000"/>
              </a:lnSpc>
              <a:spcBef>
                <a:spcPct val="20000"/>
              </a:spcBef>
              <a:buClr>
                <a:schemeClr val="tx1"/>
              </a:buClr>
            </a:pPr>
            <a:endParaRPr lang="en-US" altLang="zh-CN" sz="1800" dirty="0">
              <a:latin typeface="宋体" panose="02010600030101010101" pitchFamily="2" charset="-122"/>
              <a:ea typeface="宋体" panose="02010600030101010101" pitchFamily="2" charset="-122"/>
            </a:endParaRPr>
          </a:p>
          <a:p>
            <a:pPr>
              <a:lnSpc>
                <a:spcPct val="150000"/>
              </a:lnSpc>
              <a:spcBef>
                <a:spcPct val="20000"/>
              </a:spcBef>
              <a:buClr>
                <a:schemeClr val="tx1"/>
              </a:buClr>
            </a:pPr>
            <a:endParaRPr lang="en-US" altLang="zh-CN" sz="1800" dirty="0">
              <a:latin typeface="宋体" panose="02010600030101010101" pitchFamily="2" charset="-122"/>
              <a:ea typeface="宋体" panose="02010600030101010101" pitchFamily="2" charset="-122"/>
            </a:endParaRPr>
          </a:p>
          <a:p>
            <a:pPr>
              <a:lnSpc>
                <a:spcPct val="150000"/>
              </a:lnSpc>
              <a:spcBef>
                <a:spcPct val="20000"/>
              </a:spcBef>
              <a:buClr>
                <a:schemeClr val="tx1"/>
              </a:buClr>
            </a:pP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2</a:t>
            </a:r>
            <a:r>
              <a:rPr lang="zh-CN" altLang="zh-CN" sz="1800" dirty="0">
                <a:latin typeface="宋体" panose="02010600030101010101" pitchFamily="2" charset="-122"/>
                <a:ea typeface="宋体" panose="02010600030101010101" pitchFamily="2" charset="-122"/>
              </a:rPr>
              <a:t>）待执行指令序列如下：</a:t>
            </a:r>
          </a:p>
          <a:p>
            <a:pPr>
              <a:lnSpc>
                <a:spcPct val="150000"/>
              </a:lnSpc>
              <a:spcBef>
                <a:spcPct val="20000"/>
              </a:spcBef>
              <a:buClr>
                <a:schemeClr val="tx1"/>
              </a:buClr>
            </a:pPr>
            <a:r>
              <a:rPr lang="zh-CN" altLang="en-US" sz="1800" dirty="0">
                <a:latin typeface="宋体" panose="02010600030101010101" pitchFamily="2" charset="-122"/>
                <a:ea typeface="宋体" panose="02010600030101010101" pitchFamily="2" charset="-122"/>
              </a:rPr>
              <a:t>问：</a:t>
            </a:r>
          </a:p>
          <a:p>
            <a:pPr>
              <a:lnSpc>
                <a:spcPct val="150000"/>
              </a:lnSpc>
              <a:spcBef>
                <a:spcPct val="20000"/>
              </a:spcBef>
              <a:buClr>
                <a:schemeClr val="tx1"/>
              </a:buClr>
            </a:pP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1</a:t>
            </a:r>
            <a:r>
              <a:rPr lang="zh-CN" altLang="en-US" sz="1800" dirty="0">
                <a:latin typeface="宋体" panose="02010600030101010101" pitchFamily="2" charset="-122"/>
                <a:ea typeface="宋体" panose="02010600030101010101" pitchFamily="2" charset="-122"/>
              </a:rPr>
              <a:t>）请给出指令执行状态时钟周期表</a:t>
            </a:r>
          </a:p>
          <a:p>
            <a:pPr>
              <a:lnSpc>
                <a:spcPct val="150000"/>
              </a:lnSpc>
              <a:spcBef>
                <a:spcPct val="20000"/>
              </a:spcBef>
              <a:buClr>
                <a:schemeClr val="tx1"/>
              </a:buClr>
            </a:pPr>
            <a:r>
              <a:rPr lang="zh-CN" altLang="en-US"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2</a:t>
            </a:r>
            <a:r>
              <a:rPr lang="zh-CN" altLang="en-US" sz="1800" dirty="0">
                <a:latin typeface="宋体" panose="02010600030101010101" pitchFamily="2" charset="-122"/>
                <a:ea typeface="宋体" panose="02010600030101010101" pitchFamily="2" charset="-122"/>
              </a:rPr>
              <a:t>）给出第</a:t>
            </a:r>
            <a:r>
              <a:rPr lang="en-US" altLang="zh-CN" sz="1800" dirty="0">
                <a:latin typeface="宋体" panose="02010600030101010101" pitchFamily="2" charset="-122"/>
                <a:ea typeface="宋体" panose="02010600030101010101" pitchFamily="2" charset="-122"/>
              </a:rPr>
              <a:t>16</a:t>
            </a:r>
            <a:r>
              <a:rPr lang="zh-CN" altLang="en-US" sz="1800" dirty="0">
                <a:latin typeface="宋体" panose="02010600030101010101" pitchFamily="2" charset="-122"/>
                <a:ea typeface="宋体" panose="02010600030101010101" pitchFamily="2" charset="-122"/>
              </a:rPr>
              <a:t>周期末尾各状态表内容</a:t>
            </a:r>
          </a:p>
          <a:p>
            <a:pPr>
              <a:lnSpc>
                <a:spcPct val="150000"/>
              </a:lnSpc>
              <a:spcBef>
                <a:spcPct val="20000"/>
              </a:spcBef>
              <a:buClr>
                <a:schemeClr val="tx1"/>
              </a:buClr>
            </a:pPr>
            <a:endParaRPr lang="en-US" altLang="zh-CN" sz="1800" b="1" dirty="0">
              <a:solidFill>
                <a:srgbClr val="E24C05"/>
              </a:solidFill>
              <a:latin typeface="宋体" panose="02010600030101010101" pitchFamily="2" charset="-122"/>
              <a:ea typeface="宋体" panose="02010600030101010101" pitchFamily="2" charset="-122"/>
            </a:endParaRPr>
          </a:p>
          <a:p>
            <a:pPr>
              <a:lnSpc>
                <a:spcPct val="150000"/>
              </a:lnSpc>
              <a:spcBef>
                <a:spcPct val="20000"/>
              </a:spcBef>
              <a:buClr>
                <a:schemeClr val="tx1"/>
              </a:buClr>
            </a:pPr>
            <a:endParaRPr lang="en-US" altLang="zh-CN" sz="1800" b="1" dirty="0">
              <a:solidFill>
                <a:srgbClr val="E24C05"/>
              </a:solidFill>
              <a:latin typeface="宋体" panose="02010600030101010101" pitchFamily="2" charset="-122"/>
              <a:ea typeface="宋体" panose="02010600030101010101" pitchFamily="2" charset="-122"/>
            </a:endParaRPr>
          </a:p>
          <a:p>
            <a:pPr>
              <a:lnSpc>
                <a:spcPct val="150000"/>
              </a:lnSpc>
              <a:spcBef>
                <a:spcPct val="20000"/>
              </a:spcBef>
              <a:buClr>
                <a:schemeClr val="tx1"/>
              </a:buClr>
            </a:pPr>
            <a:endParaRPr lang="en-US" altLang="zh-CN" sz="1800" b="1" dirty="0">
              <a:solidFill>
                <a:srgbClr val="E24C05"/>
              </a:solidFill>
              <a:latin typeface="宋体" panose="02010600030101010101" pitchFamily="2" charset="-122"/>
              <a:ea typeface="宋体" panose="02010600030101010101" pitchFamily="2"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16062578"/>
              </p:ext>
            </p:extLst>
          </p:nvPr>
        </p:nvGraphicFramePr>
        <p:xfrm>
          <a:off x="1558930" y="2975931"/>
          <a:ext cx="9109071" cy="830266"/>
        </p:xfrm>
        <a:graphic>
          <a:graphicData uri="http://schemas.openxmlformats.org/drawingml/2006/table">
            <a:tbl>
              <a:tblPr firstRow="1" firstCol="1" lastRow="1" lastCol="1" bandRow="1" bandCol="1"/>
              <a:tblGrid>
                <a:gridCol w="589847"/>
                <a:gridCol w="902970"/>
                <a:gridCol w="1015377"/>
                <a:gridCol w="1021355"/>
                <a:gridCol w="929920"/>
                <a:gridCol w="929921"/>
                <a:gridCol w="929920"/>
                <a:gridCol w="929920"/>
                <a:gridCol w="929921"/>
                <a:gridCol w="929920"/>
              </a:tblGrid>
              <a:tr h="253363">
                <a:tc rowSpan="2">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Issue</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WtCDB</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buNone/>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Mem</a:t>
                      </a: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Commit</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Execute</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23538">
                <a:tc vMerge="1">
                  <a:txBody>
                    <a:bodyPr/>
                    <a:lstStyle/>
                    <a:p>
                      <a:endParaRPr lang="zh-CN"/>
                    </a:p>
                  </a:txBody>
                  <a:tcPr/>
                </a:tc>
                <a:tc vMerge="1">
                  <a:txBody>
                    <a:bodyPr/>
                    <a:lstStyle/>
                    <a:p>
                      <a:endParaRPr lang="zh-CN"/>
                    </a:p>
                  </a:txBody>
                  <a:tcPr/>
                </a:tc>
                <a:tc vMerge="1">
                  <a:txBody>
                    <a:bodyPr/>
                    <a:lstStyle/>
                    <a:p>
                      <a:endParaRPr lang="zh-CN"/>
                    </a:p>
                  </a:txBody>
                  <a:tcPr>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vMerge="1">
                  <a:txBody>
                    <a:bodyPr/>
                    <a:lstStyle/>
                    <a:p>
                      <a:endParaRPr lang="zh-CN"/>
                    </a:p>
                  </a:txBody>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LD</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ST</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SUB</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BNEZ</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ADD</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MUL</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3362">
                <a:tc>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None/>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3</a:t>
                      </a: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en-US"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en-US"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5" name="表格 4"/>
          <p:cNvGraphicFramePr>
            <a:graphicFrameLocks noGrp="1"/>
          </p:cNvGraphicFramePr>
          <p:nvPr/>
        </p:nvGraphicFramePr>
        <p:xfrm>
          <a:off x="6240463" y="4221164"/>
          <a:ext cx="4427538" cy="2151065"/>
        </p:xfrm>
        <a:graphic>
          <a:graphicData uri="http://schemas.openxmlformats.org/drawingml/2006/table">
            <a:tbl>
              <a:tblPr firstRow="1" firstCol="1" lastRow="1" lastCol="1" bandRow="1" bandCol="1"/>
              <a:tblGrid>
                <a:gridCol w="2213769"/>
                <a:gridCol w="2213769"/>
              </a:tblGrid>
              <a:tr h="307295">
                <a:tc>
                  <a:txBody>
                    <a:bodyPr/>
                    <a:lstStyle/>
                    <a:p>
                      <a:pPr algn="ctr">
                        <a:spcAft>
                          <a:spcPts val="0"/>
                        </a:spcAft>
                      </a:pPr>
                      <a:r>
                        <a:rPr lang="zh-CN"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指令</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对应变量</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295">
                <a:tc>
                  <a:txBody>
                    <a:bodyPr/>
                    <a:lstStyle/>
                    <a:p>
                      <a:pPr algn="ctr">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Loop:  LD  R2, (R1)</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Rt=R2, Rs=R1, Imm=0</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295">
                <a:tc>
                  <a:txBody>
                    <a:bodyPr/>
                    <a:lstStyle/>
                    <a:p>
                      <a:pPr algn="ctr">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MUL  R2, R2, #2</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Rd=R2, Rs=R2, Rt= #2</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295">
                <a:tc>
                  <a:txBody>
                    <a:bodyPr/>
                    <a:lstStyle/>
                    <a:p>
                      <a:pPr algn="ctr">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  R2, (R1)</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Rt=R2, Rs=R1, Imm=0</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295">
                <a:tc>
                  <a:txBody>
                    <a:bodyPr/>
                    <a:lstStyle/>
                    <a:p>
                      <a:pPr algn="ctr">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SUB  R1, R1, #4</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Rd=R1, Rs=R1, Rt= #4</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295">
                <a:tc>
                  <a:txBody>
                    <a:bodyPr/>
                    <a:lstStyle/>
                    <a:p>
                      <a:pPr algn="ctr">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BNEZ  R1, Loop</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Rt=Loop, Rs=R1</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7295">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sym typeface="+mn-ea"/>
                        </a:rPr>
                        <a:t>ADD  R5, R3, R4</a:t>
                      </a:r>
                      <a:endParaRPr lang="zh-CN" sz="16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Rd=R5, </a:t>
                      </a: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 </a:t>
                      </a:r>
                      <a:r>
                        <a:rPr lang="en-US" sz="1600" kern="100" dirty="0" err="1">
                          <a:effectLst/>
                          <a:latin typeface="Times New Roman" panose="02020603050405020304" pitchFamily="18" charset="0"/>
                          <a:ea typeface="宋体" panose="02010600030101010101" pitchFamily="2" charset="-122"/>
                          <a:cs typeface="Times New Roman" panose="02020603050405020304" pitchFamily="18" charset="0"/>
                          <a:sym typeface="+mn-ea"/>
                        </a:rPr>
                        <a:t>Rs</a:t>
                      </a: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=R3, </a:t>
                      </a:r>
                      <a:r>
                        <a:rPr lang="en-US" sz="1600" kern="10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Rt</a:t>
                      </a:r>
                      <a:r>
                        <a:rPr lang="en-US" sz="16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=R4</a:t>
                      </a:r>
                      <a:endParaRPr lang="zh-CN" sz="16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3" marR="68573" marT="952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808676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217" name="Rectangle 4"/>
          <p:cNvSpPr>
            <a:spLocks noChangeArrowheads="1"/>
          </p:cNvSpPr>
          <p:nvPr/>
        </p:nvSpPr>
        <p:spPr bwMode="auto">
          <a:xfrm>
            <a:off x="1524001" y="-8941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zh-CN">
              <a:latin typeface="Times New Roman" panose="02020603050405020304" pitchFamily="18" charset="0"/>
              <a:ea typeface="宋体" panose="02010600030101010101" pitchFamily="2" charset="-122"/>
            </a:endParaRPr>
          </a:p>
        </p:txBody>
      </p:sp>
      <p:sp>
        <p:nvSpPr>
          <p:cNvPr id="9218" name="Rectangle 5"/>
          <p:cNvSpPr>
            <a:spLocks noChangeArrowheads="1"/>
          </p:cNvSpPr>
          <p:nvPr/>
        </p:nvSpPr>
        <p:spPr bwMode="auto">
          <a:xfrm>
            <a:off x="1524001" y="209745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zh-CN">
              <a:latin typeface="Times New Roman" panose="02020603050405020304" pitchFamily="18" charset="0"/>
              <a:ea typeface="宋体" panose="02010600030101010101" pitchFamily="2" charset="-122"/>
            </a:endParaRPr>
          </a:p>
        </p:txBody>
      </p:sp>
      <p:sp>
        <p:nvSpPr>
          <p:cNvPr id="9219" name="Rectangle 6"/>
          <p:cNvSpPr>
            <a:spLocks noChangeArrowheads="1"/>
          </p:cNvSpPr>
          <p:nvPr/>
        </p:nvSpPr>
        <p:spPr bwMode="auto">
          <a:xfrm>
            <a:off x="1524001" y="684249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zh-CN">
              <a:latin typeface="Times New Roman" panose="02020603050405020304" pitchFamily="18" charset="0"/>
              <a:ea typeface="宋体" panose="02010600030101010101" pitchFamily="2"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428287111"/>
              </p:ext>
            </p:extLst>
          </p:nvPr>
        </p:nvGraphicFramePr>
        <p:xfrm>
          <a:off x="1590675" y="1421696"/>
          <a:ext cx="9015412" cy="2338388"/>
        </p:xfrm>
        <a:graphic>
          <a:graphicData uri="http://schemas.openxmlformats.org/drawingml/2006/table">
            <a:tbl>
              <a:tblPr firstRow="1" firstCol="1" lastRow="1" lastCol="1" bandRow="1" bandCol="1"/>
              <a:tblGrid>
                <a:gridCol w="2550070"/>
                <a:gridCol w="668631"/>
                <a:gridCol w="821661"/>
                <a:gridCol w="888334"/>
                <a:gridCol w="888334"/>
                <a:gridCol w="817851"/>
                <a:gridCol w="1339803"/>
                <a:gridCol w="1040728"/>
              </a:tblGrid>
              <a:tr h="553795">
                <a:tc>
                  <a:txBody>
                    <a:bodyPr/>
                    <a:lstStyle/>
                    <a:p>
                      <a:pPr algn="ctr">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指令</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IS</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EX</a:t>
                      </a:r>
                      <a:endParaRPr lang="en-US" alt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None/>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MEM</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WtCDB</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Cmt</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备注</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16</a:t>
                      </a: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末状态</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6424">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LD   R2, (R1)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2</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3-5</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6</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7</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已确认</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6424">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MUL  R2, R2, #2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7-16</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17</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18</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数据相关</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89">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ST   R2, (R1)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4</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20-22</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18</a:t>
                      </a:r>
                      <a:endParaRPr lang="en-US"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19</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数据相关</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5638">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SUB    R1, R1, #4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5-8</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9</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R1</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已换名</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已写结果</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4529">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BNEZ R1, Loop</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11-14</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15</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21</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分支失败</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已写结果</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89">
                <a:tc>
                  <a:txBody>
                    <a:bodyPr/>
                    <a:lstStyle/>
                    <a:p>
                      <a:pPr algn="ctr">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sym typeface="+mn-ea"/>
                        </a:rPr>
                        <a:t>ADD  R5, R3, R4</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16</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21</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22</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保留站冲突</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sym typeface="+mn-ea"/>
                        </a:rPr>
                        <a:t>已流出</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227610188"/>
              </p:ext>
            </p:extLst>
          </p:nvPr>
        </p:nvGraphicFramePr>
        <p:xfrm>
          <a:off x="1590675" y="4341108"/>
          <a:ext cx="8961438" cy="1968502"/>
        </p:xfrm>
        <a:graphic>
          <a:graphicData uri="http://schemas.openxmlformats.org/drawingml/2006/table">
            <a:tbl>
              <a:tblPr firstRow="1" firstCol="1" lastRow="1" lastCol="1" bandRow="1" bandCol="1"/>
              <a:tblGrid>
                <a:gridCol w="820318"/>
                <a:gridCol w="696444"/>
                <a:gridCol w="1481977"/>
                <a:gridCol w="984120"/>
                <a:gridCol w="996950"/>
                <a:gridCol w="809020"/>
                <a:gridCol w="864089"/>
                <a:gridCol w="1080111"/>
                <a:gridCol w="1228409"/>
              </a:tblGrid>
              <a:tr h="283937">
                <a:tc>
                  <a:txBody>
                    <a:bodyPr/>
                    <a:lstStyle/>
                    <a:p>
                      <a:pPr algn="just">
                        <a:spcAft>
                          <a:spcPts val="0"/>
                        </a:spcAft>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Label</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Busy</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Op</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Vj(rs)</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Vk(rt)</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Qj(rs)</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Qk(rt)</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A(Imm)</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Dest</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3937">
                <a:tc>
                  <a:txBody>
                    <a:bodyPr/>
                    <a:lstStyle/>
                    <a:p>
                      <a:pPr algn="just">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Load1</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zh-CN" sz="1800" kern="100">
                        <a:solidFill>
                          <a:schemeClr val="tx1"/>
                        </a:solidFill>
                        <a:effectLst/>
                        <a:latin typeface="Calibri" panose="020F0502020204030204" pitchFamily="34" charset="0"/>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3937">
                <a:tc>
                  <a:txBody>
                    <a:bodyPr/>
                    <a:lstStyle/>
                    <a:p>
                      <a:pPr algn="just">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Load2</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800" kern="0" dirty="0" err="1">
                          <a:effectLst/>
                          <a:latin typeface="Times New Roman" panose="02020603050405020304" pitchFamily="18" charset="0"/>
                          <a:ea typeface="宋体" panose="02010600030101010101" pitchFamily="2" charset="-122"/>
                          <a:cs typeface="Times New Roman" panose="02020603050405020304" pitchFamily="18" charset="0"/>
                          <a:sym typeface="+mn-ea"/>
                        </a:rPr>
                        <a:t>Reg</a:t>
                      </a:r>
                      <a:r>
                        <a:rPr lang="en-US" sz="1800" kern="0" dirty="0">
                          <a:effectLst/>
                          <a:latin typeface="Times New Roman" panose="02020603050405020304" pitchFamily="18" charset="0"/>
                          <a:ea typeface="宋体" panose="02010600030101010101" pitchFamily="2" charset="-122"/>
                          <a:cs typeface="Times New Roman" panose="02020603050405020304" pitchFamily="18" charset="0"/>
                          <a:sym typeface="+mn-ea"/>
                        </a:rPr>
                        <a:t>[R1]</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ROB2</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Reg</a:t>
                      </a:r>
                      <a:r>
                        <a:rPr lang="en-US" sz="18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[R1]</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ROB3</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3937">
                <a:tc>
                  <a:txBody>
                    <a:bodyPr/>
                    <a:lstStyle/>
                    <a:p>
                      <a:pPr algn="just">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ALU1</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MUL</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err="1">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Reg</a:t>
                      </a:r>
                      <a:r>
                        <a:rPr lang="en-US" sz="18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[R2]</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ROB2</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32754">
                <a:tc>
                  <a:txBody>
                    <a:bodyPr/>
                    <a:lstStyle/>
                    <a:p>
                      <a:pPr algn="just">
                        <a:spcAft>
                          <a:spcPts val="0"/>
                        </a:spcAft>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ALU2</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en-US"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SUB</a:t>
                      </a:r>
                    </a:p>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-&gt;BNEZ</a:t>
                      </a:r>
                    </a:p>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-&gt;ADD</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Reg[R3]</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sz="1800" kern="0">
                          <a:effectLst/>
                          <a:latin typeface="Times New Roman" panose="02020603050405020304" pitchFamily="18" charset="0"/>
                          <a:ea typeface="宋体" panose="02010600030101010101" pitchFamily="2" charset="-122"/>
                          <a:cs typeface="Times New Roman" panose="02020603050405020304" pitchFamily="18" charset="0"/>
                          <a:sym typeface="+mn-ea"/>
                        </a:rPr>
                        <a:t>Reg[R4]</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ROB4</a:t>
                      </a:r>
                    </a:p>
                    <a:p>
                      <a:pPr algn="ctr">
                        <a:spcAft>
                          <a:spcPts val="0"/>
                        </a:spcAft>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-&gt;ROB5</a:t>
                      </a:r>
                    </a:p>
                    <a:p>
                      <a:pPr algn="ctr">
                        <a:spcAft>
                          <a:spcPts val="0"/>
                        </a:spcAft>
                      </a:pPr>
                      <a:r>
                        <a:rPr lang="en-US"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-&gt;ROB6</a:t>
                      </a:r>
                      <a:endParaRPr 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79" marR="68579"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9357" name="Rectangle 1540"/>
          <p:cNvSpPr>
            <a:spLocks noChangeArrowheads="1"/>
          </p:cNvSpPr>
          <p:nvPr/>
        </p:nvSpPr>
        <p:spPr bwMode="auto">
          <a:xfrm>
            <a:off x="5006975" y="6309608"/>
            <a:ext cx="34559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E24C05"/>
                </a:solidFill>
              </a:rPr>
              <a:t>保留站状态表</a:t>
            </a:r>
          </a:p>
        </p:txBody>
      </p:sp>
      <p:graphicFrame>
        <p:nvGraphicFramePr>
          <p:cNvPr id="8" name="表格 7"/>
          <p:cNvGraphicFramePr>
            <a:graphicFrameLocks noGrp="1"/>
          </p:cNvGraphicFramePr>
          <p:nvPr>
            <p:extLst>
              <p:ext uri="{D42A27DB-BD31-4B8C-83A1-F6EECF244321}">
                <p14:modId xmlns:p14="http://schemas.microsoft.com/office/powerpoint/2010/main" val="3675034986"/>
              </p:ext>
            </p:extLst>
          </p:nvPr>
        </p:nvGraphicFramePr>
        <p:xfrm>
          <a:off x="1516858" y="300918"/>
          <a:ext cx="9109071" cy="830266"/>
        </p:xfrm>
        <a:graphic>
          <a:graphicData uri="http://schemas.openxmlformats.org/drawingml/2006/table">
            <a:tbl>
              <a:tblPr firstRow="1" firstCol="1" lastRow="1" lastCol="1" bandRow="1" bandCol="1"/>
              <a:tblGrid>
                <a:gridCol w="589847"/>
                <a:gridCol w="902970"/>
                <a:gridCol w="1015377"/>
                <a:gridCol w="1021355"/>
                <a:gridCol w="929920"/>
                <a:gridCol w="929921"/>
                <a:gridCol w="929920"/>
                <a:gridCol w="929920"/>
                <a:gridCol w="929921"/>
                <a:gridCol w="929920"/>
              </a:tblGrid>
              <a:tr h="253363">
                <a:tc rowSpan="2">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Issue</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WtCDB</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buNone/>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Mem</a:t>
                      </a: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Commit</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Execute</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23538">
                <a:tc vMerge="1">
                  <a:txBody>
                    <a:bodyPr/>
                    <a:lstStyle/>
                    <a:p>
                      <a:endParaRPr lang="zh-CN"/>
                    </a:p>
                  </a:txBody>
                  <a:tcPr/>
                </a:tc>
                <a:tc vMerge="1">
                  <a:txBody>
                    <a:bodyPr/>
                    <a:lstStyle/>
                    <a:p>
                      <a:endParaRPr lang="zh-CN"/>
                    </a:p>
                  </a:txBody>
                  <a:tcPr/>
                </a:tc>
                <a:tc vMerge="1">
                  <a:txBody>
                    <a:bodyPr/>
                    <a:lstStyle/>
                    <a:p>
                      <a:endParaRPr lang="zh-CN"/>
                    </a:p>
                  </a:txBody>
                  <a:tcPr>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vMerge="1">
                  <a:txBody>
                    <a:bodyPr/>
                    <a:lstStyle/>
                    <a:p>
                      <a:endParaRPr lang="zh-CN"/>
                    </a:p>
                  </a:txBody>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LD</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ST</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SUB</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BNEZ</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ADD</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MUL</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3362">
                <a:tc>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None/>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3</a:t>
                      </a: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1</a:t>
                      </a:r>
                      <a:endParaRPr lang="en-US"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en-US"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4" marR="68584" marT="95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 name="矩形标注 1"/>
          <p:cNvSpPr/>
          <p:nvPr/>
        </p:nvSpPr>
        <p:spPr>
          <a:xfrm>
            <a:off x="10857297" y="3133493"/>
            <a:ext cx="1334703" cy="2630016"/>
          </a:xfrm>
          <a:prstGeom prst="wedgeRectCallout">
            <a:avLst>
              <a:gd name="adj1" fmla="val -67156"/>
              <a:gd name="adj2" fmla="val -368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t>画圈部分说明：此处的设计，按照</a:t>
            </a:r>
            <a:r>
              <a:rPr lang="en-US" altLang="zh-CN" sz="1400" dirty="0" smtClean="0"/>
              <a:t>ST</a:t>
            </a:r>
            <a:r>
              <a:rPr lang="zh-CN" altLang="en-US" sz="1400" dirty="0" smtClean="0"/>
              <a:t>指令也进入保留站。</a:t>
            </a:r>
            <a:r>
              <a:rPr lang="en-US" altLang="zh-CN" sz="1400" dirty="0" smtClean="0"/>
              <a:t>ST</a:t>
            </a:r>
            <a:r>
              <a:rPr lang="zh-CN" altLang="en-US" sz="1400" dirty="0" smtClean="0"/>
              <a:t>监听</a:t>
            </a:r>
            <a:r>
              <a:rPr lang="en-US" altLang="zh-CN" sz="1400" dirty="0" smtClean="0"/>
              <a:t>CDB</a:t>
            </a:r>
            <a:r>
              <a:rPr lang="zh-CN" altLang="en-US" sz="1400" dirty="0" smtClean="0"/>
              <a:t>，第二个操作数就绪，先写回</a:t>
            </a:r>
            <a:r>
              <a:rPr lang="en-US" altLang="zh-CN" sz="1400" dirty="0" smtClean="0"/>
              <a:t>load2</a:t>
            </a:r>
            <a:r>
              <a:rPr lang="zh-CN" altLang="en-US" sz="1400" dirty="0" smtClean="0"/>
              <a:t>的</a:t>
            </a:r>
            <a:r>
              <a:rPr lang="en-US" altLang="zh-CN" sz="1400" dirty="0" err="1" smtClean="0"/>
              <a:t>Vk</a:t>
            </a:r>
            <a:r>
              <a:rPr lang="zh-CN" altLang="en-US" sz="1400" dirty="0" smtClean="0"/>
              <a:t>，在</a:t>
            </a:r>
            <a:r>
              <a:rPr lang="en-US" altLang="zh-CN" sz="1400" dirty="0" err="1" smtClean="0"/>
              <a:t>wtCDB</a:t>
            </a:r>
            <a:r>
              <a:rPr lang="zh-CN" altLang="en-US" sz="1400" dirty="0" smtClean="0"/>
              <a:t>阶段写入</a:t>
            </a:r>
            <a:r>
              <a:rPr lang="en-US" altLang="zh-CN" sz="1400" dirty="0" smtClean="0"/>
              <a:t>ROB3</a:t>
            </a:r>
            <a:r>
              <a:rPr lang="zh-CN" altLang="en-US" sz="1400" dirty="0" smtClean="0"/>
              <a:t>的</a:t>
            </a:r>
            <a:r>
              <a:rPr lang="en-US" altLang="zh-CN" sz="1400" dirty="0" smtClean="0"/>
              <a:t>value</a:t>
            </a:r>
            <a:r>
              <a:rPr lang="zh-CN" altLang="en-US" sz="1400" dirty="0" smtClean="0"/>
              <a:t>，然后清空保留站。</a:t>
            </a:r>
            <a:endParaRPr lang="zh-CN" altLang="en-US" sz="1400" dirty="0"/>
          </a:p>
        </p:txBody>
      </p:sp>
      <p:sp>
        <p:nvSpPr>
          <p:cNvPr id="4" name="椭圆 3"/>
          <p:cNvSpPr/>
          <p:nvPr/>
        </p:nvSpPr>
        <p:spPr>
          <a:xfrm>
            <a:off x="6734968" y="2575932"/>
            <a:ext cx="491021" cy="24532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685853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0241" name="Rectangle 4"/>
          <p:cNvSpPr>
            <a:spLocks noChangeArrowheads="1"/>
          </p:cNvSpPr>
          <p:nvPr/>
        </p:nvSpPr>
        <p:spPr bwMode="auto">
          <a:xfrm>
            <a:off x="1524001" y="-8941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zh-CN">
              <a:latin typeface="Times New Roman" panose="02020603050405020304" pitchFamily="18" charset="0"/>
              <a:ea typeface="宋体" panose="02010600030101010101" pitchFamily="2" charset="-122"/>
            </a:endParaRPr>
          </a:p>
        </p:txBody>
      </p:sp>
      <p:sp>
        <p:nvSpPr>
          <p:cNvPr id="10242" name="Rectangle 6"/>
          <p:cNvSpPr>
            <a:spLocks noChangeArrowheads="1"/>
          </p:cNvSpPr>
          <p:nvPr/>
        </p:nvSpPr>
        <p:spPr bwMode="auto">
          <a:xfrm>
            <a:off x="1524001" y="65780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zh-CN">
              <a:latin typeface="Times New Roman" panose="02020603050405020304" pitchFamily="18" charset="0"/>
              <a:ea typeface="宋体" panose="02010600030101010101" pitchFamily="2" charset="-122"/>
            </a:endParaRPr>
          </a:p>
        </p:txBody>
      </p:sp>
      <p:graphicFrame>
        <p:nvGraphicFramePr>
          <p:cNvPr id="4" name="表格 3"/>
          <p:cNvGraphicFramePr>
            <a:graphicFrameLocks noGrp="1"/>
          </p:cNvGraphicFramePr>
          <p:nvPr/>
        </p:nvGraphicFramePr>
        <p:xfrm>
          <a:off x="2135188" y="3860801"/>
          <a:ext cx="7921624" cy="2476501"/>
        </p:xfrm>
        <a:graphic>
          <a:graphicData uri="http://schemas.openxmlformats.org/drawingml/2006/table">
            <a:tbl>
              <a:tblPr firstRow="1" firstCol="1" lastRow="1" lastCol="1" bandRow="1" bandCol="1"/>
              <a:tblGrid>
                <a:gridCol w="872106"/>
                <a:gridCol w="799430"/>
                <a:gridCol w="1090132"/>
                <a:gridCol w="1623060"/>
                <a:gridCol w="2068830"/>
                <a:gridCol w="1468066"/>
              </a:tblGrid>
              <a:tr h="283900">
                <a:tc>
                  <a:txBody>
                    <a:bodyPr/>
                    <a:lstStyle/>
                    <a:p>
                      <a:pPr algn="just">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Label</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Busy</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Op</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Target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Value</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State</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3900">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ROB1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LD</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已确认</a:t>
                      </a:r>
                      <a:endPar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0075">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ROB2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MUL</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7086">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ROB3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Mem(Reg[R1])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8820">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ROB4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SUB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dirty="0" err="1">
                          <a:effectLst/>
                          <a:latin typeface="Times New Roman" panose="02020603050405020304" pitchFamily="18" charset="0"/>
                          <a:ea typeface="宋体" panose="02010600030101010101" pitchFamily="2" charset="-122"/>
                          <a:cs typeface="Times New Roman" panose="02020603050405020304" pitchFamily="18" charset="0"/>
                        </a:rPr>
                        <a:t>Reg</a:t>
                      </a: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[R1]-4</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sym typeface="+mn-ea"/>
                        </a:rPr>
                        <a:t>已写结果</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8820">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ROB5</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BNEZ</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0">
                          <a:effectLst/>
                          <a:latin typeface="Times New Roman" panose="02020603050405020304" pitchFamily="18" charset="0"/>
                          <a:ea typeface="宋体" panose="02010600030101010101" pitchFamily="2" charset="-122"/>
                          <a:cs typeface="Times New Roman" panose="02020603050405020304" pitchFamily="18" charset="0"/>
                        </a:rPr>
                        <a:t>#Loop</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Reg[R1]-4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已写结果</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3900">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ROB6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ADD</a:t>
                      </a:r>
                      <a:endParaRPr lang="en-US"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R5</a:t>
                      </a:r>
                      <a:endParaRPr lang="en-US"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已流出</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6" marR="68586"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302" name="Rectangle 169"/>
          <p:cNvSpPr>
            <a:spLocks noChangeArrowheads="1"/>
          </p:cNvSpPr>
          <p:nvPr/>
        </p:nvSpPr>
        <p:spPr bwMode="auto">
          <a:xfrm>
            <a:off x="462708" y="3860801"/>
            <a:ext cx="17089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solidFill>
                  <a:srgbClr val="E24C05"/>
                </a:solidFill>
              </a:rPr>
              <a:t>ROB</a:t>
            </a:r>
            <a:r>
              <a:rPr lang="zh-CN" altLang="en-US" dirty="0">
                <a:solidFill>
                  <a:srgbClr val="E24C05"/>
                </a:solidFill>
              </a:rPr>
              <a:t>状态表</a:t>
            </a:r>
          </a:p>
        </p:txBody>
      </p:sp>
      <p:graphicFrame>
        <p:nvGraphicFramePr>
          <p:cNvPr id="3" name="表格 2"/>
          <p:cNvGraphicFramePr>
            <a:graphicFrameLocks noGrp="1"/>
          </p:cNvGraphicFramePr>
          <p:nvPr>
            <p:extLst>
              <p:ext uri="{D42A27DB-BD31-4B8C-83A1-F6EECF244321}">
                <p14:modId xmlns:p14="http://schemas.microsoft.com/office/powerpoint/2010/main" val="2673353030"/>
              </p:ext>
            </p:extLst>
          </p:nvPr>
        </p:nvGraphicFramePr>
        <p:xfrm>
          <a:off x="1590675" y="1157288"/>
          <a:ext cx="9015412" cy="2338388"/>
        </p:xfrm>
        <a:graphic>
          <a:graphicData uri="http://schemas.openxmlformats.org/drawingml/2006/table">
            <a:tbl>
              <a:tblPr firstRow="1" firstCol="1" lastRow="1" lastCol="1" bandRow="1" bandCol="1"/>
              <a:tblGrid>
                <a:gridCol w="2550070"/>
                <a:gridCol w="668631"/>
                <a:gridCol w="821661"/>
                <a:gridCol w="888334"/>
                <a:gridCol w="888334"/>
                <a:gridCol w="817851"/>
                <a:gridCol w="1339803"/>
                <a:gridCol w="1040728"/>
              </a:tblGrid>
              <a:tr h="553795">
                <a:tc>
                  <a:txBody>
                    <a:bodyPr/>
                    <a:lstStyle/>
                    <a:p>
                      <a:pPr algn="ctr">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指令</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IS</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EX</a:t>
                      </a:r>
                      <a:endParaRPr lang="en-US" alt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None/>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MEM</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WtCDB</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Cmt</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备注</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16</a:t>
                      </a: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末状态</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6424">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LD   R2, (R1)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2</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3-5</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6</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7</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已确认</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6424">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MUL  R2, R2, #2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7-16</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17</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18</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数据相关</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89">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ST   R2, (R1)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4</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20-22</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18</a:t>
                      </a:r>
                      <a:endParaRPr lang="en-US"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19</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数据相关</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5638">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SUB    R1, R1, #4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5-8</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9</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R1</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已换名</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已写结果</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4529">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BNEZ R1, Loop</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11-14</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15</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21</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分支失败</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已写结果</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89">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sym typeface="+mn-ea"/>
                        </a:rPr>
                        <a:t>ADD  R5, R3, R4</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16</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21</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22</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保留站冲突</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sym typeface="+mn-ea"/>
                        </a:rPr>
                        <a:t>已流出</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507603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1265" name="Rectangle 4"/>
          <p:cNvSpPr>
            <a:spLocks noChangeArrowheads="1"/>
          </p:cNvSpPr>
          <p:nvPr/>
        </p:nvSpPr>
        <p:spPr bwMode="auto">
          <a:xfrm>
            <a:off x="1524001" y="-8941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zh-CN">
              <a:latin typeface="Times New Roman" panose="02020603050405020304" pitchFamily="18" charset="0"/>
              <a:ea typeface="宋体" panose="02010600030101010101" pitchFamily="2" charset="-122"/>
            </a:endParaRPr>
          </a:p>
        </p:txBody>
      </p:sp>
      <p:sp>
        <p:nvSpPr>
          <p:cNvPr id="11266" name="Rectangle 5"/>
          <p:cNvSpPr>
            <a:spLocks noChangeArrowheads="1"/>
          </p:cNvSpPr>
          <p:nvPr/>
        </p:nvSpPr>
        <p:spPr bwMode="auto">
          <a:xfrm>
            <a:off x="1524001" y="18330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zh-CN">
              <a:latin typeface="Times New Roman" panose="02020603050405020304" pitchFamily="18" charset="0"/>
              <a:ea typeface="宋体" panose="02010600030101010101" pitchFamily="2" charset="-122"/>
            </a:endParaRPr>
          </a:p>
        </p:txBody>
      </p:sp>
      <p:sp>
        <p:nvSpPr>
          <p:cNvPr id="11267" name="Rectangle 6"/>
          <p:cNvSpPr>
            <a:spLocks noChangeArrowheads="1"/>
          </p:cNvSpPr>
          <p:nvPr/>
        </p:nvSpPr>
        <p:spPr bwMode="auto">
          <a:xfrm>
            <a:off x="1524001" y="65780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zh-CN">
              <a:latin typeface="Times New Roman" panose="02020603050405020304" pitchFamily="18" charset="0"/>
              <a:ea typeface="宋体" panose="02010600030101010101" pitchFamily="2"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3941333522"/>
              </p:ext>
            </p:extLst>
          </p:nvPr>
        </p:nvGraphicFramePr>
        <p:xfrm>
          <a:off x="3648075" y="4365625"/>
          <a:ext cx="4679950" cy="1371360"/>
        </p:xfrm>
        <a:graphic>
          <a:graphicData uri="http://schemas.openxmlformats.org/drawingml/2006/table">
            <a:tbl>
              <a:tblPr/>
              <a:tblGrid>
                <a:gridCol w="779992"/>
                <a:gridCol w="779991"/>
                <a:gridCol w="779992"/>
                <a:gridCol w="779992"/>
                <a:gridCol w="779991"/>
                <a:gridCol w="779992"/>
              </a:tblGrid>
              <a:tr h="365654">
                <a:tc>
                  <a:txBody>
                    <a:bodyPr/>
                    <a:lstStyle/>
                    <a:p>
                      <a:endParaRPr lang="zh-CN" sz="1800" kern="100" dirty="0">
                        <a:effectLst/>
                        <a:latin typeface="Calibri" panose="020F0502020204030204" pitchFamily="34" charset="0"/>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R1</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R2</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R4</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buNone/>
                      </a:pPr>
                      <a:r>
                        <a:rPr lang="en-US" altLang="zh-CN" sz="1800" kern="100">
                          <a:effectLst/>
                          <a:latin typeface="Calibri" panose="020F0502020204030204" pitchFamily="34" charset="0"/>
                          <a:ea typeface="宋体" panose="02010600030101010101" pitchFamily="2" charset="-122"/>
                          <a:cs typeface="Times New Roman" panose="02020603050405020304" pitchFamily="18" charset="0"/>
                        </a:rPr>
                        <a:t>R5</a:t>
                      </a: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5654">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ROB</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800" kern="1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ROB4</a:t>
                      </a:r>
                      <a:endParaRPr lang="zh-CN" altLang="zh-CN" sz="1800" kern="100" dirty="0" smtClean="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ROB2</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ROB6</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5654">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Busy</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dirty="0">
                        <a:solidFill>
                          <a:srgbClr val="FF0000"/>
                        </a:solidFill>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800" kern="100" dirty="0">
                          <a:effectLst/>
                          <a:latin typeface="Times New Roman" panose="02020603050405020304" pitchFamily="18" charset="0"/>
                          <a:ea typeface="宋体" panose="02010600030101010101" pitchFamily="2" charset="-122"/>
                          <a:cs typeface="Times New Roman" panose="02020603050405020304" pitchFamily="18" charset="0"/>
                        </a:rPr>
                        <a:t>Y</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91429" marR="91429" marT="45680" marB="456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1299" name="Rectangle 77"/>
          <p:cNvSpPr>
            <a:spLocks noChangeArrowheads="1"/>
          </p:cNvSpPr>
          <p:nvPr/>
        </p:nvSpPr>
        <p:spPr bwMode="auto">
          <a:xfrm>
            <a:off x="2765786" y="4159717"/>
            <a:ext cx="53975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dirty="0">
                <a:solidFill>
                  <a:srgbClr val="E24C05"/>
                </a:solidFill>
              </a:rPr>
              <a:t>寄存器状态表</a:t>
            </a:r>
          </a:p>
        </p:txBody>
      </p:sp>
      <p:graphicFrame>
        <p:nvGraphicFramePr>
          <p:cNvPr id="3" name="表格 2"/>
          <p:cNvGraphicFramePr>
            <a:graphicFrameLocks noGrp="1"/>
          </p:cNvGraphicFramePr>
          <p:nvPr>
            <p:extLst>
              <p:ext uri="{D42A27DB-BD31-4B8C-83A1-F6EECF244321}">
                <p14:modId xmlns:p14="http://schemas.microsoft.com/office/powerpoint/2010/main" val="103924152"/>
              </p:ext>
            </p:extLst>
          </p:nvPr>
        </p:nvGraphicFramePr>
        <p:xfrm>
          <a:off x="1590675" y="1157288"/>
          <a:ext cx="9015412" cy="2338388"/>
        </p:xfrm>
        <a:graphic>
          <a:graphicData uri="http://schemas.openxmlformats.org/drawingml/2006/table">
            <a:tbl>
              <a:tblPr firstRow="1" firstCol="1" lastRow="1" lastCol="1" bandRow="1" bandCol="1"/>
              <a:tblGrid>
                <a:gridCol w="2550070"/>
                <a:gridCol w="668631"/>
                <a:gridCol w="821661"/>
                <a:gridCol w="888334"/>
                <a:gridCol w="888334"/>
                <a:gridCol w="817851"/>
                <a:gridCol w="1339803"/>
                <a:gridCol w="1040728"/>
              </a:tblGrid>
              <a:tr h="553795">
                <a:tc>
                  <a:txBody>
                    <a:bodyPr/>
                    <a:lstStyle/>
                    <a:p>
                      <a:pPr algn="ctr">
                        <a:spcAft>
                          <a:spcPts val="0"/>
                        </a:spcAft>
                      </a:pPr>
                      <a:r>
                        <a:rPr 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指令</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IS</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EX</a:t>
                      </a:r>
                      <a:endParaRPr lang="en-US" alt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None/>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MEM</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WtCDB</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a:effectLst/>
                          <a:latin typeface="Times New Roman" panose="02020603050405020304" pitchFamily="18" charset="0"/>
                          <a:ea typeface="宋体" panose="02010600030101010101" pitchFamily="2" charset="-122"/>
                          <a:cs typeface="Times New Roman" panose="02020603050405020304" pitchFamily="18" charset="0"/>
                        </a:rPr>
                        <a:t>Cmt</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备注</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CN"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16</a:t>
                      </a:r>
                      <a:r>
                        <a:rPr lang="zh-CN" altLang="en-US" sz="1800" kern="100" dirty="0" smtClean="0">
                          <a:effectLst/>
                          <a:latin typeface="Times New Roman" panose="02020603050405020304" pitchFamily="18" charset="0"/>
                          <a:ea typeface="宋体" panose="02010600030101010101" pitchFamily="2" charset="-122"/>
                          <a:cs typeface="Times New Roman" panose="02020603050405020304" pitchFamily="18" charset="0"/>
                        </a:rPr>
                        <a:t>末状态</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6424">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LD   R2, (R1)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2</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3-5</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6</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7</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 </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已确认</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6424">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MUL  R2, R2, #2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2</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7-16</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17</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18</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数据相关</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89">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ST   R2, (R1)</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3</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4</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20-22</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18</a:t>
                      </a:r>
                      <a:endParaRPr lang="en-US"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19</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数据相关</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已执行</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5638">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SUB    R1, R1, #4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4</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5-8</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9</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R1</a:t>
                      </a: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已换名</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altLang="en-US" sz="1800" kern="100">
                          <a:effectLst/>
                          <a:latin typeface="Times New Roman" panose="02020603050405020304" pitchFamily="18" charset="0"/>
                          <a:ea typeface="宋体" panose="02010600030101010101" pitchFamily="2" charset="-122"/>
                          <a:cs typeface="Times New Roman" panose="02020603050405020304" pitchFamily="18" charset="0"/>
                        </a:rPr>
                        <a:t>已写结果</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4529">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BNEZ R1, Loop</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10</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11-14</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15</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21</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分支失败</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已写结果</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85789">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sym typeface="+mn-ea"/>
                        </a:rPr>
                        <a:t>ADD  R5, R3, R4</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7" marR="68587" marT="952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16</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buNone/>
                      </a:pPr>
                      <a:r>
                        <a:rPr lang="en-US" sz="1800" kern="100">
                          <a:effectLst/>
                          <a:latin typeface="Times New Roman" panose="02020603050405020304" pitchFamily="18" charset="0"/>
                          <a:ea typeface="宋体" panose="02010600030101010101" pitchFamily="2" charset="-122"/>
                          <a:cs typeface="Times New Roman" panose="02020603050405020304" pitchFamily="18" charset="0"/>
                        </a:rPr>
                        <a:t>Null</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21</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buClrTx/>
                        <a:buSzTx/>
                        <a:buFontTx/>
                      </a:pPr>
                      <a:r>
                        <a:rPr lang="en-US" sz="1800" kern="10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22</a:t>
                      </a:r>
                    </a:p>
                  </a:txBody>
                  <a:tcPr marL="68574" marR="68574" marT="952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rPr>
                        <a:t>保留站冲突</a:t>
                      </a:r>
                      <a:endParaRPr lang="zh-CN" sz="1400" kern="10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800" kern="100">
                          <a:effectLst/>
                          <a:latin typeface="Times New Roman" panose="02020603050405020304" pitchFamily="18" charset="0"/>
                          <a:ea typeface="宋体" panose="02010600030101010101" pitchFamily="2" charset="-122"/>
                          <a:cs typeface="Times New Roman" panose="02020603050405020304" pitchFamily="18" charset="0"/>
                          <a:sym typeface="+mn-ea"/>
                        </a:rPr>
                        <a:t>已流出</a:t>
                      </a:r>
                      <a:endParaRPr lang="zh-CN" sz="1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0449720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11649</TotalTime>
  <Words>10354</Words>
  <Application>Microsoft Office PowerPoint</Application>
  <PresentationFormat>宽屏</PresentationFormat>
  <Paragraphs>1527</Paragraphs>
  <Slides>121</Slides>
  <Notes>8</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5</vt:i4>
      </vt:variant>
      <vt:variant>
        <vt:lpstr>幻灯片标题</vt:lpstr>
      </vt:variant>
      <vt:variant>
        <vt:i4>121</vt:i4>
      </vt:variant>
    </vt:vector>
  </HeadingPairs>
  <TitlesOfParts>
    <vt:vector size="143" baseType="lpstr">
      <vt:lpstr>MicroSoft YaHei</vt:lpstr>
      <vt:lpstr>PingFangSC</vt:lpstr>
      <vt:lpstr>等线</vt:lpstr>
      <vt:lpstr>等线 Light</vt:lpstr>
      <vt:lpstr>黑体</vt:lpstr>
      <vt:lpstr>华文琥珀</vt:lpstr>
      <vt:lpstr>楷体_GB2312</vt:lpstr>
      <vt:lpstr>宋体</vt:lpstr>
      <vt:lpstr>Arial</vt:lpstr>
      <vt:lpstr>Calibri</vt:lpstr>
      <vt:lpstr>Calibri Light</vt:lpstr>
      <vt:lpstr>Symbol</vt:lpstr>
      <vt:lpstr>Tahoma</vt:lpstr>
      <vt:lpstr>Times New Roman</vt:lpstr>
      <vt:lpstr>Wingdings</vt:lpstr>
      <vt:lpstr>Wingdings 2</vt:lpstr>
      <vt:lpstr>Office 主题​​</vt:lpstr>
      <vt:lpstr>图片</vt:lpstr>
      <vt:lpstr>Worksheet</vt:lpstr>
      <vt:lpstr>工作表</vt:lpstr>
      <vt:lpstr>Picture</vt:lpstr>
      <vt:lpstr>Picture2</vt:lpstr>
      <vt:lpstr>PowerPoint 演示文稿</vt:lpstr>
      <vt:lpstr>一 指令流水线基础知识复习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3.3 Tomasulo算法 </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图3.2(b)</vt:lpstr>
      <vt:lpstr>图3.2(c)</vt:lpstr>
      <vt:lpstr>图3.2(d)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周期1：取出第一条指令L.D F6, 34(R2)，地址偏移量34,写入LOAD1，LOAD1名存入寄存器F6。</vt:lpstr>
      <vt:lpstr>PowerPoint 演示文稿</vt:lpstr>
      <vt:lpstr>PowerPoint 演示文稿</vt:lpstr>
      <vt:lpstr>PowerPoint 演示文稿</vt:lpstr>
      <vt:lpstr> 周期5：取出第五条指令DIV.D F10,F0,F6，第二条指令写结果M(A2)到寄存器F2，LOAD2清空。保留站中存入第五条指令的待运算操作数和操作</vt:lpstr>
      <vt:lpstr>PowerPoint 演示文稿</vt:lpstr>
      <vt:lpstr>PowerPoint 演示文稿</vt:lpstr>
      <vt:lpstr> 周期8：第四条指令写结果M-M到寄存器F8，保留站中存放第四条指令的位置清空，第三条指令继续执行。</vt:lpstr>
      <vt:lpstr> 周期9：第六条指令开始执行。第三条指令继续执行。</vt:lpstr>
      <vt:lpstr>PowerPoint 演示文稿</vt:lpstr>
      <vt:lpstr>PowerPoint 演示文稿</vt:lpstr>
      <vt:lpstr>周期12~15：第三条指令继续执行，直到完成。</vt:lpstr>
      <vt:lpstr>PowerPoint 演示文稿</vt:lpstr>
      <vt:lpstr>PowerPoint 演示文稿</vt:lpstr>
      <vt:lpstr>PowerPoint 演示文稿</vt:lpstr>
      <vt:lpstr>周期16：第三条指令写结果M*F4到寄存器F0，保留站中原来存放第三条指令的位置清空。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4.1 分支历史表 BHT </vt:lpstr>
      <vt:lpstr>PowerPoint 演示文稿</vt:lpstr>
      <vt:lpstr>PowerPoint 演示文稿</vt:lpstr>
      <vt:lpstr>PowerPoint 演示文稿</vt:lpstr>
      <vt:lpstr>PowerPoint 演示文稿</vt:lpstr>
      <vt:lpstr>PowerPoint 演示文稿</vt:lpstr>
      <vt:lpstr>PowerPoint 演示文稿</vt:lpstr>
      <vt:lpstr> 4.2 分支目标缓冲器BTB  </vt:lpstr>
      <vt:lpstr> </vt:lpstr>
      <vt:lpstr> </vt:lpstr>
      <vt:lpstr>PowerPoint 演示文稿</vt:lpstr>
      <vt:lpstr>PowerPoint 演示文稿</vt:lpstr>
      <vt:lpstr>PowerPoint 演示文稿</vt:lpstr>
      <vt:lpstr> </vt:lpstr>
      <vt:lpstr>4.3 基于硬件的前瞻执行 </vt:lpstr>
      <vt:lpstr>PowerPoint 演示文稿</vt:lpstr>
      <vt:lpstr> </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指令级并行</dc:title>
  <dc:creator>asus</dc:creator>
  <cp:lastModifiedBy>QU Guannan</cp:lastModifiedBy>
  <cp:revision>477</cp:revision>
  <dcterms:created xsi:type="dcterms:W3CDTF">2022-01-27T00:00:57Z</dcterms:created>
  <dcterms:modified xsi:type="dcterms:W3CDTF">2022-10-17T01:32:36Z</dcterms:modified>
</cp:coreProperties>
</file>