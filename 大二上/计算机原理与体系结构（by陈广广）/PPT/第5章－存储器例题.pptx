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0"/>
  </p:handoutMasterIdLst>
  <p:sldIdLst>
    <p:sldId id="315" r:id="rId3"/>
    <p:sldId id="302" r:id="rId4"/>
    <p:sldId id="303" r:id="rId5"/>
    <p:sldId id="307" r:id="rId6"/>
    <p:sldId id="308" r:id="rId7"/>
    <p:sldId id="310" r:id="rId8"/>
    <p:sldId id="309" r:id="rId9"/>
  </p:sldIdLst>
  <p:sldSz cx="9144000" cy="6858000" type="screen4x3"/>
  <p:notesSz cx="987234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9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224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28397-2D0E-4F20-8CD8-FE3299DF89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C0F0B-E239-40EB-9A54-C358730E48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0CAA0-7679-469F-88F4-E1578ED2B5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276DF-105B-4155-BE49-60C35DEFD8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内容占位符 2"/>
          <p:cNvSpPr>
            <a:spLocks noGrp="1" noChangeArrowheads="1"/>
          </p:cNvSpPr>
          <p:nvPr>
            <p:ph idx="1"/>
          </p:nvPr>
        </p:nvSpPr>
        <p:spPr>
          <a:xfrm>
            <a:off x="179512" y="116632"/>
            <a:ext cx="8647113" cy="1368152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1800" b="1" dirty="0" smtClean="0"/>
              <a:t>： </a:t>
            </a:r>
            <a:r>
              <a:rPr lang="zh-CN" altLang="zh-CN" sz="1800" dirty="0" smtClean="0"/>
              <a:t>某计算机存储器按字节编址，虚拟（逻辑）地址空间大小为</a:t>
            </a:r>
            <a:r>
              <a:rPr lang="en-US" altLang="zh-CN" sz="1800" dirty="0" smtClean="0"/>
              <a:t>256MB</a:t>
            </a:r>
            <a:r>
              <a:rPr lang="zh-CN" altLang="zh-CN" sz="1800" dirty="0" smtClean="0"/>
              <a:t>，主存（物理）地址空间大小为</a:t>
            </a:r>
            <a:r>
              <a:rPr lang="en-US" altLang="zh-CN" sz="1800" dirty="0" smtClean="0"/>
              <a:t>16MB</a:t>
            </a:r>
            <a:r>
              <a:rPr lang="zh-CN" altLang="zh-CN" sz="1800" dirty="0" smtClean="0"/>
              <a:t>，页面大小为</a:t>
            </a:r>
            <a:r>
              <a:rPr lang="en-US" altLang="zh-CN" sz="1800" dirty="0" smtClean="0"/>
              <a:t>64KB</a:t>
            </a:r>
            <a:r>
              <a:rPr lang="zh-CN" altLang="zh-CN" sz="1800" dirty="0" smtClean="0"/>
              <a:t>；</a:t>
            </a:r>
            <a:r>
              <a:rPr lang="en-US" altLang="zh-CN" sz="1800" dirty="0" smtClean="0"/>
              <a:t>Cache</a:t>
            </a:r>
            <a:r>
              <a:rPr lang="zh-CN" altLang="zh-CN" sz="1800" dirty="0" smtClean="0"/>
              <a:t>采用直接映射方式，共</a:t>
            </a:r>
            <a:r>
              <a:rPr lang="en-US" altLang="zh-CN" sz="1800" dirty="0" smtClean="0"/>
              <a:t>8</a:t>
            </a:r>
            <a:r>
              <a:rPr lang="zh-CN" altLang="zh-CN" sz="1800" dirty="0" smtClean="0"/>
              <a:t>块；主存与</a:t>
            </a:r>
            <a:r>
              <a:rPr lang="en-US" altLang="zh-CN" sz="1800" dirty="0" smtClean="0"/>
              <a:t>Cache</a:t>
            </a:r>
            <a:r>
              <a:rPr lang="zh-CN" altLang="zh-CN" sz="1800" dirty="0" smtClean="0"/>
              <a:t>之间交换的块大小为</a:t>
            </a:r>
            <a:r>
              <a:rPr lang="en-US" altLang="zh-CN" sz="1800" dirty="0" smtClean="0"/>
              <a:t>32B</a:t>
            </a:r>
            <a:r>
              <a:rPr lang="zh-CN" altLang="zh-CN" sz="1800" dirty="0" smtClean="0"/>
              <a:t>。系统运行到某一时刻时，页表的部分内容和</a:t>
            </a:r>
            <a:r>
              <a:rPr lang="en-US" altLang="zh-CN" sz="1800" dirty="0" smtClean="0"/>
              <a:t>Cache</a:t>
            </a:r>
            <a:r>
              <a:rPr lang="zh-CN" altLang="zh-CN" sz="1800" dirty="0" smtClean="0"/>
              <a:t>的部分内容分别如下图</a:t>
            </a:r>
            <a:r>
              <a:rPr lang="en-US" altLang="zh-CN" sz="1800" dirty="0" smtClean="0"/>
              <a:t>a</a:t>
            </a:r>
            <a:r>
              <a:rPr lang="zh-CN" altLang="zh-CN" sz="1800" dirty="0" smtClean="0"/>
              <a:t>和图</a:t>
            </a:r>
            <a:r>
              <a:rPr lang="en-US" altLang="zh-CN" sz="1800" dirty="0" smtClean="0"/>
              <a:t>b</a:t>
            </a:r>
            <a:r>
              <a:rPr lang="zh-CN" altLang="zh-CN" sz="1800" dirty="0" smtClean="0"/>
              <a:t>所示</a:t>
            </a:r>
            <a:endParaRPr lang="zh-CN" altLang="en-US" sz="1800" dirty="0" smtClean="0"/>
          </a:p>
        </p:txBody>
      </p:sp>
      <p:sp>
        <p:nvSpPr>
          <p:cNvPr id="6256" name="TextBox 6"/>
          <p:cNvSpPr txBox="1">
            <a:spLocks noChangeArrowheads="1"/>
          </p:cNvSpPr>
          <p:nvPr/>
        </p:nvSpPr>
        <p:spPr bwMode="auto">
          <a:xfrm>
            <a:off x="3851920" y="3652725"/>
            <a:ext cx="51613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5000"/>
              </a:spcBef>
              <a:spcAft>
                <a:spcPct val="1000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Ì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5000"/>
              </a:spcBef>
              <a:spcAft>
                <a:spcPct val="1000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£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5000"/>
              </a:spcBef>
              <a:spcAft>
                <a:spcPct val="1000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/>
              <a:t>（</a:t>
            </a:r>
            <a:r>
              <a:rPr lang="en-US" altLang="zh-CN" sz="1800" dirty="0"/>
              <a:t>a) </a:t>
            </a:r>
            <a:r>
              <a:rPr lang="zh-CN" altLang="en-US" sz="1800" dirty="0"/>
              <a:t>页表内容                     </a:t>
            </a:r>
            <a:r>
              <a:rPr lang="zh-CN" altLang="en-US" sz="1800" dirty="0" smtClean="0"/>
              <a:t> （</a:t>
            </a:r>
            <a:r>
              <a:rPr lang="en-US" altLang="zh-CN" sz="1800" dirty="0"/>
              <a:t>b)cache </a:t>
            </a:r>
            <a:r>
              <a:rPr lang="zh-CN" altLang="en-US" sz="1800" dirty="0"/>
              <a:t>部分内容</a:t>
            </a:r>
            <a:endParaRPr lang="zh-CN" altLang="en-US" sz="1800" dirty="0"/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117365" y="4141718"/>
            <a:ext cx="8853909" cy="1302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smtClean="0"/>
              <a:t>3</a:t>
            </a:r>
            <a:r>
              <a:rPr lang="zh-CN" altLang="en-US" sz="1800" dirty="0" smtClean="0"/>
              <a:t>）虚拟地址</a:t>
            </a:r>
            <a:r>
              <a:rPr lang="en-US" altLang="zh-CN" sz="1800" dirty="0" smtClean="0"/>
              <a:t>001C050H</a:t>
            </a:r>
            <a:r>
              <a:rPr lang="zh-CN" altLang="en-US" sz="1800" dirty="0" smtClean="0"/>
              <a:t>所在的页面是否在主存中？若在主存中，则该虚拟地址对应的物理地址是什么？访问该地址时是否</a:t>
            </a:r>
            <a:r>
              <a:rPr lang="en-US" altLang="zh-CN" sz="1800" dirty="0" smtClean="0"/>
              <a:t>Cache</a:t>
            </a:r>
            <a:r>
              <a:rPr lang="zh-CN" altLang="en-US" sz="1800" dirty="0" smtClean="0"/>
              <a:t>命中？要求说明理由。</a:t>
            </a:r>
            <a:endParaRPr lang="zh-CN" altLang="en-US" sz="1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smtClean="0"/>
              <a:t>4</a:t>
            </a:r>
            <a:r>
              <a:rPr lang="zh-CN" altLang="en-US" sz="1800" dirty="0" smtClean="0"/>
              <a:t>）假定为该机配置一个</a:t>
            </a:r>
            <a:r>
              <a:rPr lang="en-US" altLang="zh-CN" sz="1800" dirty="0" smtClean="0"/>
              <a:t>4</a:t>
            </a:r>
            <a:r>
              <a:rPr lang="zh-CN" altLang="en-US" sz="1800" dirty="0" smtClean="0"/>
              <a:t>路组相联的</a:t>
            </a:r>
            <a:r>
              <a:rPr lang="en-US" altLang="zh-CN" sz="1800" dirty="0" smtClean="0"/>
              <a:t>TLB</a:t>
            </a:r>
            <a:r>
              <a:rPr lang="zh-CN" altLang="en-US" sz="1800" dirty="0" smtClean="0"/>
              <a:t>，该</a:t>
            </a:r>
            <a:r>
              <a:rPr lang="en-US" altLang="zh-CN" sz="1800" dirty="0" smtClean="0"/>
              <a:t>TLB</a:t>
            </a:r>
            <a:r>
              <a:rPr lang="zh-CN" altLang="en-US" sz="1800" dirty="0" smtClean="0"/>
              <a:t>共可存放</a:t>
            </a:r>
            <a:r>
              <a:rPr lang="en-US" altLang="zh-CN" sz="1800" dirty="0" smtClean="0"/>
              <a:t>8</a:t>
            </a:r>
            <a:r>
              <a:rPr lang="zh-CN" altLang="en-US" sz="1800" dirty="0" smtClean="0"/>
              <a:t>个页表项，若其当前内容如下图所示，则此时虚拟地址</a:t>
            </a:r>
            <a:r>
              <a:rPr lang="en-US" altLang="zh-CN" sz="1800" dirty="0" smtClean="0"/>
              <a:t>027BAC6H</a:t>
            </a:r>
            <a:r>
              <a:rPr lang="zh-CN" altLang="en-US" sz="1800" dirty="0" smtClean="0"/>
              <a:t>所在的页面是否在主存中？是否在</a:t>
            </a:r>
            <a:r>
              <a:rPr lang="en-US" altLang="zh-CN" sz="1800" dirty="0" smtClean="0"/>
              <a:t>Cache</a:t>
            </a:r>
            <a:r>
              <a:rPr lang="zh-CN" altLang="en-US" sz="1800" dirty="0" smtClean="0"/>
              <a:t>中？要求说明理由。</a:t>
            </a:r>
            <a:endParaRPr lang="zh-CN" altLang="en-US" sz="1800" dirty="0" smtClean="0"/>
          </a:p>
        </p:txBody>
      </p:sp>
      <p:graphicFrame>
        <p:nvGraphicFramePr>
          <p:cNvPr id="6" name="内容占位符 4"/>
          <p:cNvGraphicFramePr/>
          <p:nvPr/>
        </p:nvGraphicFramePr>
        <p:xfrm>
          <a:off x="3131840" y="1375275"/>
          <a:ext cx="5829573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792088"/>
                <a:gridCol w="792088"/>
                <a:gridCol w="662608"/>
                <a:gridCol w="555514"/>
                <a:gridCol w="216818"/>
                <a:gridCol w="626309"/>
                <a:gridCol w="777932"/>
                <a:gridCol w="772332"/>
                <a:gridCol w="633884"/>
              </a:tblGrid>
              <a:tr h="2436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虚页号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有效</a:t>
                      </a:r>
                      <a:r>
                        <a:rPr lang="zh-CN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位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kern="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600" kern="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页号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kern="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kern="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块</a:t>
                      </a:r>
                      <a:r>
                        <a:rPr lang="zh-CN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号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有效位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kern="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kern="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标记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06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0200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04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---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15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0" dirty="0" smtClean="0">
                          <a:effectLst/>
                          <a:latin typeface="+mn-lt"/>
                          <a:ea typeface="+mn-ea"/>
                          <a:cs typeface="Times New Roman" panose="02020603050405020304"/>
                        </a:rPr>
                        <a:t>04C0</a:t>
                      </a:r>
                      <a:endParaRPr lang="zh-CN" altLang="zh-CN" sz="1600" kern="100" dirty="0" smtClean="0">
                        <a:effectLst/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0" dirty="0" smtClean="0">
                          <a:effectLst/>
                          <a:latin typeface="+mn-lt"/>
                          <a:ea typeface="+mn-ea"/>
                          <a:cs typeface="Times New Roman" panose="02020603050405020304"/>
                        </a:rPr>
                        <a:t>01D2</a:t>
                      </a:r>
                      <a:endParaRPr lang="zh-CN" altLang="zh-CN" sz="1600" kern="100" dirty="0" smtClean="0">
                        <a:effectLst/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---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0640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28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14DA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---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---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32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27AB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7" marR="685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内容占位符 2"/>
          <p:cNvSpPr txBox="1">
            <a:spLocks noChangeArrowheads="1"/>
          </p:cNvSpPr>
          <p:nvPr/>
        </p:nvSpPr>
        <p:spPr>
          <a:xfrm>
            <a:off x="179512" y="1371859"/>
            <a:ext cx="2897546" cy="2817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smtClean="0"/>
              <a:t>1</a:t>
            </a:r>
            <a:r>
              <a:rPr lang="zh-CN" altLang="en-US" sz="1800" dirty="0" smtClean="0"/>
              <a:t>）虚拟地址共有几位，那几位表示页号？物理地址共有几位，哪几位表示页号（物理页号）？</a:t>
            </a:r>
            <a:endParaRPr lang="zh-CN" altLang="en-US" sz="1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smtClean="0"/>
              <a:t>2</a:t>
            </a:r>
            <a:r>
              <a:rPr lang="zh-CN" altLang="en-US" sz="1800" dirty="0" smtClean="0"/>
              <a:t>）使用物理地址访问</a:t>
            </a:r>
            <a:r>
              <a:rPr lang="en-US" altLang="zh-CN" sz="1800" dirty="0" smtClean="0"/>
              <a:t>Cache</a:t>
            </a:r>
            <a:r>
              <a:rPr lang="zh-CN" altLang="en-US" sz="1800" dirty="0" smtClean="0"/>
              <a:t>时，物理地址应划分成哪几个字段？要求说明每个字段的位数及在物理地址中的位置。 </a:t>
            </a:r>
            <a:r>
              <a:rPr lang="en-US" altLang="zh-CN" sz="1800" dirty="0" smtClean="0"/>
              <a:t>Cache</a:t>
            </a:r>
            <a:r>
              <a:rPr lang="zh-CN" altLang="en-US" sz="1800" dirty="0" smtClean="0"/>
              <a:t>容量是多大？</a:t>
            </a:r>
            <a:endParaRPr lang="zh-CN" altLang="en-US" sz="1800" dirty="0" smtClean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97450" y="5399677"/>
          <a:ext cx="8786826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856"/>
                <a:gridCol w="821401"/>
                <a:gridCol w="616050"/>
                <a:gridCol w="637666"/>
                <a:gridCol w="788977"/>
                <a:gridCol w="616051"/>
                <a:gridCol w="624368"/>
                <a:gridCol w="815949"/>
                <a:gridCol w="628068"/>
                <a:gridCol w="583712"/>
                <a:gridCol w="793628"/>
                <a:gridCol w="595011"/>
                <a:gridCol w="639089"/>
              </a:tblGrid>
              <a:tr h="26402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组号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有效位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smtClean="0">
                          <a:solidFill>
                            <a:schemeClr val="tx1"/>
                          </a:solidFill>
                        </a:rPr>
                        <a:t>标记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页号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有效位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标记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页号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有效位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标记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页号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有效位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标记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页号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6402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1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001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15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1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012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1F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6402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1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013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2D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1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008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7E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 smtClean="0"/>
                        <a:t>--</a:t>
                      </a:r>
                      <a:endParaRPr lang="zh-CN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" name="内容占位符 2"/>
          <p:cNvSpPr txBox="1">
            <a:spLocks noChangeArrowheads="1"/>
          </p:cNvSpPr>
          <p:nvPr/>
        </p:nvSpPr>
        <p:spPr>
          <a:xfrm>
            <a:off x="134133" y="6339695"/>
            <a:ext cx="8853909" cy="452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smtClean="0"/>
              <a:t>5</a:t>
            </a:r>
            <a:r>
              <a:rPr lang="zh-CN" altLang="en-US" sz="1800" dirty="0" smtClean="0"/>
              <a:t>）虚拟地址</a:t>
            </a:r>
            <a:r>
              <a:rPr lang="en-US" altLang="zh-CN" sz="1800" dirty="0" smtClean="0"/>
              <a:t>026BAC6H</a:t>
            </a:r>
            <a:r>
              <a:rPr lang="zh-CN" altLang="en-US" sz="1800" dirty="0" smtClean="0"/>
              <a:t>时，发生了什么？如何处理？</a:t>
            </a:r>
            <a:endParaRPr lang="zh-CN" altLang="en-US" sz="18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>
          <a:xfrm>
            <a:off x="1547813" y="188913"/>
            <a:ext cx="5329237" cy="608012"/>
          </a:xfrm>
        </p:spPr>
        <p:txBody>
          <a:bodyPr>
            <a:normAutofit fontScale="90000"/>
          </a:bodyPr>
          <a:lstStyle/>
          <a:p>
            <a:r>
              <a:rPr lang="zh-CN" altLang="en-US" smtClean="0"/>
              <a:t>解答</a:t>
            </a:r>
            <a:endParaRPr lang="zh-CN" altLang="en-US" smtClean="0"/>
          </a:p>
        </p:txBody>
      </p:sp>
      <p:sp>
        <p:nvSpPr>
          <p:cNvPr id="8195" name="内容占位符 1"/>
          <p:cNvSpPr>
            <a:spLocks noGrp="1"/>
          </p:cNvSpPr>
          <p:nvPr>
            <p:ph idx="1"/>
          </p:nvPr>
        </p:nvSpPr>
        <p:spPr>
          <a:xfrm>
            <a:off x="107950" y="1052513"/>
            <a:ext cx="8640763" cy="496877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sz="2400" dirty="0" smtClean="0"/>
              <a:t>页面大小</a:t>
            </a:r>
            <a:r>
              <a:rPr lang="en-US" altLang="zh-CN" sz="2400" dirty="0" smtClean="0"/>
              <a:t>64KB=2</a:t>
            </a:r>
            <a:r>
              <a:rPr lang="en-US" altLang="zh-CN" sz="2400" baseline="30000" dirty="0" smtClean="0"/>
              <a:t>16</a:t>
            </a:r>
            <a:r>
              <a:rPr lang="en-US" altLang="zh-CN" sz="2400" dirty="0" smtClean="0"/>
              <a:t>B, </a:t>
            </a:r>
            <a:r>
              <a:rPr lang="zh-CN" altLang="en-US" sz="2400" dirty="0" smtClean="0"/>
              <a:t>则页内地址为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虚拟地址空间大小为</a:t>
            </a:r>
            <a:r>
              <a:rPr lang="en-US" altLang="zh-CN" sz="2400" dirty="0" smtClean="0"/>
              <a:t>256MB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2</a:t>
            </a:r>
            <a:r>
              <a:rPr lang="en-US" altLang="zh-CN" sz="2400" baseline="30000" dirty="0" smtClean="0"/>
              <a:t>28</a:t>
            </a:r>
            <a:r>
              <a:rPr lang="en-US" altLang="zh-CN" sz="2400" dirty="0" smtClean="0"/>
              <a:t>B, </a:t>
            </a:r>
            <a:r>
              <a:rPr lang="zh-CN" altLang="en-US" sz="2400" dirty="0" smtClean="0"/>
              <a:t>则虚拟地址为</a:t>
            </a:r>
            <a:r>
              <a:rPr lang="en-US" altLang="zh-CN" sz="2400" dirty="0" smtClean="0"/>
              <a:t>28</a:t>
            </a:r>
            <a:r>
              <a:rPr lang="zh-CN" altLang="en-US" sz="2400" dirty="0" smtClean="0"/>
              <a:t>位，高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位表示虚页号。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主存地址空间大小为</a:t>
            </a:r>
            <a:r>
              <a:rPr lang="en-US" altLang="zh-CN" sz="2400" dirty="0" smtClean="0"/>
              <a:t>16MB= 2</a:t>
            </a:r>
            <a:r>
              <a:rPr lang="en-US" altLang="zh-CN" sz="2400" baseline="30000" dirty="0" smtClean="0"/>
              <a:t>24</a:t>
            </a:r>
            <a:r>
              <a:rPr lang="en-US" altLang="zh-CN" sz="2400" dirty="0" smtClean="0"/>
              <a:t>B,</a:t>
            </a:r>
            <a:r>
              <a:rPr lang="zh-CN" altLang="en-US" sz="2400" dirty="0" smtClean="0"/>
              <a:t>则实地址共</a:t>
            </a:r>
            <a:r>
              <a:rPr lang="en-US" altLang="zh-CN" sz="2400" dirty="0" smtClean="0"/>
              <a:t>24</a:t>
            </a:r>
            <a:r>
              <a:rPr lang="zh-CN" altLang="en-US" sz="2400" dirty="0" smtClean="0"/>
              <a:t>位，低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位页内地址，高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位为页号（物理页号）。</a:t>
            </a:r>
            <a:endParaRPr lang="en-US" altLang="zh-CN" sz="2400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sz="2400" dirty="0" smtClean="0"/>
              <a:t>主存与</a:t>
            </a:r>
            <a:r>
              <a:rPr lang="en-US" altLang="zh-CN" sz="2400" dirty="0" smtClean="0"/>
              <a:t>Cache</a:t>
            </a:r>
            <a:r>
              <a:rPr lang="zh-CN" altLang="en-US" sz="2400" dirty="0" smtClean="0"/>
              <a:t>之间交换的块大小为</a:t>
            </a:r>
            <a:r>
              <a:rPr lang="en-US" altLang="zh-CN" sz="2400" dirty="0" smtClean="0"/>
              <a:t>32B, Cache</a:t>
            </a:r>
            <a:r>
              <a:rPr lang="zh-CN" altLang="en-US" sz="2400" dirty="0" smtClean="0"/>
              <a:t>有</a:t>
            </a:r>
            <a:r>
              <a:rPr lang="en-US" altLang="zh-CN" sz="2400" dirty="0" smtClean="0"/>
              <a:t> 8</a:t>
            </a:r>
            <a:r>
              <a:rPr lang="zh-CN" altLang="en-US" sz="2400" dirty="0" smtClean="0"/>
              <a:t>行，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所以</a:t>
            </a:r>
            <a:r>
              <a:rPr lang="en-US" altLang="zh-CN" sz="2400" dirty="0" smtClean="0"/>
              <a:t>Cache</a:t>
            </a:r>
            <a:r>
              <a:rPr lang="zh-CN" altLang="en-US" sz="2400" dirty="0" smtClean="0"/>
              <a:t>大小为</a:t>
            </a:r>
            <a:r>
              <a:rPr lang="en-US" altLang="zh-CN" sz="2400" dirty="0" smtClean="0"/>
              <a:t>2</a:t>
            </a:r>
            <a:r>
              <a:rPr lang="en-US" altLang="zh-CN" sz="2400" baseline="30000" dirty="0" smtClean="0"/>
              <a:t>8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故</a:t>
            </a:r>
            <a:r>
              <a:rPr lang="en-US" altLang="zh-CN" sz="2400" dirty="0" smtClean="0"/>
              <a:t>Cache</a:t>
            </a:r>
            <a:r>
              <a:rPr lang="zh-CN" altLang="en-US" sz="2400" dirty="0" smtClean="0"/>
              <a:t>的地址共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位，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主存中的块数＝</a:t>
            </a:r>
            <a:r>
              <a:rPr lang="en-US" altLang="zh-CN" sz="2400" dirty="0" smtClean="0"/>
              <a:t>16M/2</a:t>
            </a:r>
            <a:r>
              <a:rPr lang="en-US" altLang="zh-CN" sz="2400" baseline="30000" dirty="0" smtClean="0"/>
              <a:t>8</a:t>
            </a:r>
            <a:r>
              <a:rPr lang="en-US" altLang="zh-CN" sz="2400" dirty="0" smtClean="0"/>
              <a:t>=2</a:t>
            </a:r>
            <a:r>
              <a:rPr lang="en-US" altLang="zh-CN" sz="2400" baseline="30000" dirty="0" smtClean="0"/>
              <a:t>16</a:t>
            </a:r>
            <a:endParaRPr lang="en-US" altLang="zh-CN" sz="2400" baseline="30000" dirty="0" smtClean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148064" y="5229200"/>
          <a:ext cx="3528392" cy="11886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34676"/>
                <a:gridCol w="1441713"/>
                <a:gridCol w="1252003"/>
              </a:tblGrid>
              <a:tr h="3960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Tag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Cache</a:t>
                      </a:r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块号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块内地址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</a:tr>
              <a:tr h="3960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16</a:t>
                      </a:r>
                      <a:endParaRPr lang="zh-CN" altLang="en-US" sz="2000" dirty="0"/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3</a:t>
                      </a:r>
                      <a:endParaRPr lang="zh-CN" altLang="en-US" sz="2000" dirty="0"/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5</a:t>
                      </a:r>
                      <a:endParaRPr lang="zh-CN" altLang="en-US" sz="2000" dirty="0"/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</a:tr>
              <a:tr h="3960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23~8</a:t>
                      </a:r>
                      <a:endParaRPr lang="zh-CN" altLang="en-US" sz="2000" dirty="0"/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7~5</a:t>
                      </a:r>
                      <a:endParaRPr lang="zh-CN" altLang="en-US" sz="2000" dirty="0"/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4~0</a:t>
                      </a:r>
                      <a:endParaRPr lang="zh-CN" altLang="en-US" sz="2000" dirty="0"/>
                    </a:p>
                  </a:txBody>
                  <a:tcPr marL="91452" marR="91452" marT="45702" marB="45702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476672"/>
            <a:ext cx="8642350" cy="59046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答</a:t>
            </a:r>
            <a:r>
              <a:rPr lang="zh-CN" altLang="en-US" sz="2400" kern="100" dirty="0" smtClean="0">
                <a:latin typeface="Calibri" panose="020F0502020204030204"/>
                <a:cs typeface="Times New Roman" panose="02020603050405020304"/>
                <a:sym typeface="Wingdings" panose="05000000000000000000" pitchFamily="2" charset="2"/>
              </a:rPr>
              <a:t>（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Wingdings" panose="05000000000000000000" pitchFamily="2" charset="2"/>
              </a:rPr>
              <a:t>3</a:t>
            </a:r>
            <a:r>
              <a:rPr lang="zh-CN" altLang="en-US" sz="2400" kern="100" dirty="0" smtClean="0">
                <a:latin typeface="Calibri" panose="020F0502020204030204"/>
                <a:cs typeface="Times New Roman" panose="02020603050405020304"/>
                <a:sym typeface="Wingdings" panose="05000000000000000000" pitchFamily="2" charset="2"/>
              </a:rPr>
              <a:t>）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虚地址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001C050H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，高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12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位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001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为</a:t>
            </a:r>
            <a:r>
              <a:rPr lang="zh-CN" altLang="en-US" sz="2400" kern="100" dirty="0">
                <a:latin typeface="Calibri" panose="020F0502020204030204"/>
                <a:cs typeface="Times New Roman" panose="02020603050405020304"/>
                <a:sym typeface="+mn-ea"/>
              </a:rPr>
              <a:t>虚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页号，查页表，得主存页号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04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，转换成主存地址为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04C050H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。其中</a:t>
            </a:r>
            <a:r>
              <a:rPr lang="zh-CN" altLang="en-US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低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8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位的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50H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对应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Cache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的块号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2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和块内地址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10000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，查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b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表，第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2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块的有效位为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1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，标记</a:t>
            </a:r>
            <a:r>
              <a:rPr lang="en-US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04C0H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，恰好命中。</a:t>
            </a:r>
            <a:endParaRPr lang="en-US" altLang="zh-CN" sz="2400" kern="100" dirty="0" smtClean="0">
              <a:latin typeface="Calibri" panose="020F0502020204030204"/>
              <a:cs typeface="Times New Roman" panose="02020603050405020304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zh-CN" sz="2000" kern="100" dirty="0" smtClean="0">
              <a:latin typeface="Calibri" panose="020F0502020204030204"/>
              <a:cs typeface="Times New Roman" panose="02020603050405020304"/>
              <a:sym typeface="+mn-ea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2400" kern="100" dirty="0">
                <a:latin typeface="Calibri" panose="020F0502020204030204"/>
                <a:cs typeface="Times New Roman" panose="02020603050405020304"/>
                <a:sym typeface="+mn-ea"/>
              </a:rPr>
              <a:t>（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4</a:t>
            </a:r>
            <a:r>
              <a:rPr lang="zh-CN" altLang="en-US" sz="2400" kern="100" dirty="0">
                <a:latin typeface="Calibri" panose="020F0502020204030204"/>
                <a:cs typeface="Times New Roman" panose="02020603050405020304"/>
                <a:sym typeface="+mn-ea"/>
              </a:rPr>
              <a:t>）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4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路组相联的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TLB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，共有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8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个页表项，故分成两组，每组存放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4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个页表项。虚存地址高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12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位为虚页号，最低位为组号，高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11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位为标记。</a:t>
            </a:r>
            <a:endParaRPr lang="zh-CN" altLang="zh-CN" sz="2400" kern="100" dirty="0">
              <a:latin typeface="Calibri" panose="020F0502020204030204"/>
              <a:cs typeface="Times New Roman" panose="02020603050405020304"/>
              <a:sym typeface="+mn-ea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2400" kern="100" dirty="0" smtClean="0">
              <a:latin typeface="Calibri" panose="020F0502020204030204"/>
              <a:cs typeface="Times New Roman" panose="02020603050405020304"/>
              <a:sym typeface="+mn-ea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虚拟地址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027BAC6H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的虚页号位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027H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，</a:t>
            </a:r>
            <a:endParaRPr lang="en-US" altLang="zh-CN" sz="2400" kern="100" dirty="0" smtClean="0">
              <a:latin typeface="Calibri" panose="020F0502020204030204"/>
              <a:cs typeface="Times New Roman" panose="02020603050405020304"/>
              <a:sym typeface="+mn-ea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cs typeface="Times New Roman" panose="02020603050405020304"/>
                <a:sym typeface="+mn-ea"/>
              </a:rPr>
              <a:t>027H= </a:t>
            </a:r>
            <a:r>
              <a:rPr lang="en-US" altLang="zh-CN" sz="2400" u="sng" kern="100" dirty="0">
                <a:cs typeface="Times New Roman" panose="02020603050405020304"/>
                <a:sym typeface="+mn-ea"/>
              </a:rPr>
              <a:t>0000  0010  011 </a:t>
            </a: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/>
                <a:sym typeface="+mn-ea"/>
              </a:rPr>
              <a:t>1</a:t>
            </a:r>
            <a:r>
              <a:rPr lang="en-US" altLang="zh-CN" sz="2400" kern="100" dirty="0">
                <a:cs typeface="Times New Roman" panose="02020603050405020304"/>
                <a:sym typeface="+mn-ea"/>
              </a:rPr>
              <a:t> B</a:t>
            </a:r>
            <a:endParaRPr lang="en-US" altLang="zh-CN" sz="2400" kern="100" dirty="0">
              <a:cs typeface="Times New Roman" panose="02020603050405020304"/>
              <a:sym typeface="+mn-ea"/>
            </a:endParaRPr>
          </a:p>
          <a:p>
            <a:pPr marL="0" indent="0" algn="just">
              <a:spcAft>
                <a:spcPts val="0"/>
              </a:spcAft>
              <a:buNone/>
              <a:defRPr/>
            </a:pPr>
            <a:r>
              <a:rPr lang="en-US" altLang="zh-CN" sz="2400" kern="100" dirty="0">
                <a:cs typeface="Times New Roman" panose="02020603050405020304"/>
                <a:sym typeface="+mn-ea"/>
              </a:rPr>
              <a:t>                       </a:t>
            </a:r>
            <a:r>
              <a:rPr lang="zh-CN" altLang="zh-CN" sz="2400" kern="100" dirty="0">
                <a:cs typeface="Times New Roman" panose="02020603050405020304"/>
                <a:sym typeface="+mn-ea"/>
              </a:rPr>
              <a:t>其中组号为</a:t>
            </a:r>
            <a:r>
              <a:rPr lang="en-US" altLang="zh-CN" sz="2400" kern="100" dirty="0">
                <a:cs typeface="Times New Roman" panose="02020603050405020304"/>
                <a:sym typeface="+mn-ea"/>
              </a:rPr>
              <a:t>1</a:t>
            </a:r>
            <a:r>
              <a:rPr lang="zh-CN" altLang="zh-CN" sz="2400" kern="100" dirty="0">
                <a:cs typeface="Times New Roman" panose="02020603050405020304"/>
                <a:sym typeface="+mn-ea"/>
              </a:rPr>
              <a:t>，标记为</a:t>
            </a:r>
            <a:r>
              <a:rPr lang="en-US" altLang="zh-CN" sz="2400" kern="100" dirty="0">
                <a:cs typeface="Times New Roman" panose="02020603050405020304"/>
                <a:sym typeface="+mn-ea"/>
              </a:rPr>
              <a:t>013H</a:t>
            </a:r>
            <a:endParaRPr lang="en-US" altLang="zh-CN" sz="2400" kern="100" dirty="0">
              <a:latin typeface="Calibri" panose="020F0502020204030204"/>
              <a:cs typeface="Times New Roman" panose="02020603050405020304"/>
              <a:sym typeface="+mn-ea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在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TLB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的第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1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组，第一项标记为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013H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，有效位为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1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，说明该地址所在的页面在主存中，其</a:t>
            </a:r>
            <a:r>
              <a:rPr lang="zh-CN" altLang="zh-CN" sz="2400" kern="100" dirty="0" smtClean="0">
                <a:latin typeface="Calibri" panose="020F0502020204030204"/>
                <a:cs typeface="Times New Roman" panose="02020603050405020304"/>
                <a:sym typeface="+mn-ea"/>
              </a:rPr>
              <a:t>页号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为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2D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，故实地址为</a:t>
            </a:r>
            <a:r>
              <a:rPr lang="en-US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2DBAC6H</a:t>
            </a:r>
            <a:r>
              <a:rPr lang="zh-CN" altLang="zh-CN" sz="2400" kern="100" dirty="0">
                <a:latin typeface="Calibri" panose="020F0502020204030204"/>
                <a:cs typeface="Times New Roman" panose="02020603050405020304"/>
                <a:sym typeface="+mn-ea"/>
              </a:rPr>
              <a:t>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3"/>
          <p:cNvSpPr txBox="1">
            <a:spLocks noChangeArrowheads="1"/>
          </p:cNvSpPr>
          <p:nvPr/>
        </p:nvSpPr>
        <p:spPr bwMode="auto">
          <a:xfrm>
            <a:off x="251520" y="260648"/>
            <a:ext cx="8712968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5000"/>
              </a:spcBef>
              <a:spcAft>
                <a:spcPct val="1000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Ì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5000"/>
              </a:spcBef>
              <a:spcAft>
                <a:spcPct val="1000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£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5000"/>
              </a:spcBef>
              <a:spcAft>
                <a:spcPct val="1000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</a:t>
            </a:r>
            <a:r>
              <a:rPr lang="zh-CN" altLang="zh-CN" sz="2400" dirty="0" smtClean="0"/>
              <a:t>假定</a:t>
            </a:r>
            <a:r>
              <a:rPr lang="zh-CN" altLang="zh-CN" sz="2400" dirty="0"/>
              <a:t>计算机系统主存空间大小为</a:t>
            </a:r>
            <a:r>
              <a:rPr lang="en-US" altLang="zh-CN" sz="2400" dirty="0"/>
              <a:t>32Kx16</a:t>
            </a:r>
            <a:r>
              <a:rPr lang="zh-CN" altLang="zh-CN" sz="2400" dirty="0"/>
              <a:t>位（按字编址</a:t>
            </a:r>
            <a:r>
              <a:rPr lang="en-US" altLang="zh-CN" sz="2400" dirty="0"/>
              <a:t>,</a:t>
            </a:r>
            <a:r>
              <a:rPr lang="zh-CN" altLang="zh-CN" sz="2400" dirty="0"/>
              <a:t>每字</a:t>
            </a:r>
            <a:r>
              <a:rPr lang="en-US" altLang="zh-CN" sz="2400" dirty="0"/>
              <a:t>16</a:t>
            </a:r>
            <a:r>
              <a:rPr lang="zh-CN" altLang="zh-CN" sz="2400" dirty="0"/>
              <a:t>位），且有一个</a:t>
            </a:r>
            <a:r>
              <a:rPr lang="en-US" altLang="zh-CN" sz="2400" dirty="0"/>
              <a:t>4K</a:t>
            </a:r>
            <a:r>
              <a:rPr lang="zh-CN" altLang="zh-CN" sz="2400" dirty="0"/>
              <a:t>字的</a:t>
            </a:r>
            <a:r>
              <a:rPr lang="en-US" altLang="zh-CN" sz="2400" dirty="0"/>
              <a:t>4</a:t>
            </a:r>
            <a:r>
              <a:rPr lang="zh-CN" altLang="zh-CN" sz="2400" dirty="0"/>
              <a:t>路组相联</a:t>
            </a:r>
            <a:r>
              <a:rPr lang="en-US" altLang="zh-CN" sz="2400" dirty="0"/>
              <a:t>Cache</a:t>
            </a:r>
            <a:r>
              <a:rPr lang="zh-CN" altLang="zh-CN" sz="2400" dirty="0"/>
              <a:t>，主存和</a:t>
            </a:r>
            <a:r>
              <a:rPr lang="en-US" altLang="zh-CN" sz="2400" dirty="0"/>
              <a:t>Cache</a:t>
            </a:r>
            <a:r>
              <a:rPr lang="zh-CN" altLang="zh-CN" sz="2400" dirty="0"/>
              <a:t>之间的数据交换块的大小为</a:t>
            </a:r>
            <a:r>
              <a:rPr lang="en-US" altLang="zh-CN" sz="2400" dirty="0"/>
              <a:t>64</a:t>
            </a:r>
            <a:r>
              <a:rPr lang="zh-CN" altLang="zh-CN" sz="2400" dirty="0"/>
              <a:t>字。假定</a:t>
            </a:r>
            <a:r>
              <a:rPr lang="en-US" altLang="zh-CN" sz="2400" dirty="0"/>
              <a:t>Cache</a:t>
            </a:r>
            <a:r>
              <a:rPr lang="zh-CN" altLang="zh-CN" sz="2400" dirty="0"/>
              <a:t>开始为空，处理器顺序地从存储单元</a:t>
            </a:r>
            <a:r>
              <a:rPr lang="en-US" altLang="zh-CN" sz="2400" dirty="0"/>
              <a:t>0</a:t>
            </a:r>
            <a:r>
              <a:rPr lang="zh-CN" altLang="zh-CN" sz="2400" dirty="0"/>
              <a:t>、</a:t>
            </a:r>
            <a:r>
              <a:rPr lang="en-US" altLang="zh-CN" sz="2400" dirty="0"/>
              <a:t>1</a:t>
            </a:r>
            <a:r>
              <a:rPr lang="zh-CN" altLang="zh-CN" sz="2400" dirty="0"/>
              <a:t>、…、</a:t>
            </a:r>
            <a:r>
              <a:rPr lang="en-US" altLang="zh-CN" sz="2400" dirty="0"/>
              <a:t>4351</a:t>
            </a:r>
            <a:r>
              <a:rPr lang="zh-CN" altLang="zh-CN" sz="2400" dirty="0"/>
              <a:t>中取数，一共重复</a:t>
            </a:r>
            <a:r>
              <a:rPr lang="en-US" altLang="zh-CN" sz="2400" dirty="0"/>
              <a:t>10</a:t>
            </a:r>
            <a:r>
              <a:rPr lang="zh-CN" altLang="zh-CN" sz="2400" dirty="0"/>
              <a:t>次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400" dirty="0" smtClean="0"/>
              <a:t>设</a:t>
            </a:r>
            <a:r>
              <a:rPr lang="en-US" altLang="zh-CN" sz="2400" dirty="0"/>
              <a:t>Cache</a:t>
            </a:r>
            <a:r>
              <a:rPr lang="zh-CN" altLang="zh-CN" sz="2400" dirty="0"/>
              <a:t>比主存快</a:t>
            </a:r>
            <a:r>
              <a:rPr lang="en-US" altLang="zh-CN" sz="2400" dirty="0"/>
              <a:t>10</a:t>
            </a:r>
            <a:r>
              <a:rPr lang="zh-CN" altLang="zh-CN" sz="2400" dirty="0"/>
              <a:t>倍，采用</a:t>
            </a:r>
            <a:r>
              <a:rPr lang="en-US" altLang="zh-CN" sz="2400" dirty="0"/>
              <a:t>LRU</a:t>
            </a:r>
            <a:r>
              <a:rPr lang="zh-CN" altLang="zh-CN" sz="2400" dirty="0"/>
              <a:t>算法。请给出</a:t>
            </a:r>
            <a:r>
              <a:rPr lang="en-US" altLang="zh-CN" sz="2400" dirty="0"/>
              <a:t>Cache</a:t>
            </a:r>
            <a:r>
              <a:rPr lang="zh-CN" altLang="zh-CN" sz="2400" dirty="0"/>
              <a:t>的结构和主存地址的划分，并计算出采用</a:t>
            </a:r>
            <a:r>
              <a:rPr lang="en-US" altLang="zh-CN" sz="2400" dirty="0"/>
              <a:t>Cache</a:t>
            </a:r>
            <a:r>
              <a:rPr lang="zh-CN" altLang="zh-CN" sz="2400" dirty="0"/>
              <a:t>后速度提高了多少倍</a:t>
            </a:r>
            <a:r>
              <a:rPr lang="zh-CN" altLang="zh-CN" sz="2400" dirty="0" smtClean="0"/>
              <a:t>？</a:t>
            </a:r>
            <a:endParaRPr lang="en-US" altLang="zh-CN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83768" y="3212976"/>
          <a:ext cx="6515356" cy="3384433"/>
        </p:xfrm>
        <a:graphic>
          <a:graphicData uri="http://schemas.openxmlformats.org/drawingml/2006/table">
            <a:tbl>
              <a:tblPr/>
              <a:tblGrid>
                <a:gridCol w="504056"/>
                <a:gridCol w="504056"/>
                <a:gridCol w="576064"/>
                <a:gridCol w="512396"/>
                <a:gridCol w="552348"/>
                <a:gridCol w="552348"/>
                <a:gridCol w="552348"/>
                <a:gridCol w="552348"/>
                <a:gridCol w="552348"/>
                <a:gridCol w="552348"/>
                <a:gridCol w="552348"/>
                <a:gridCol w="552348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有效位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标记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有效位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标记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有效位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标记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有效位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标记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179512" y="3284984"/>
            <a:ext cx="1728192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5000"/>
              </a:spcBef>
              <a:spcAft>
                <a:spcPct val="1000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Ì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5000"/>
              </a:spcBef>
              <a:spcAft>
                <a:spcPct val="1000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£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5000"/>
              </a:spcBef>
              <a:spcAft>
                <a:spcPct val="1000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 smtClean="0"/>
              <a:t>解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/>
              <a:t>Cache</a:t>
            </a:r>
            <a:r>
              <a:rPr lang="zh-CN" altLang="en-US" sz="2400" dirty="0"/>
              <a:t>结构</a:t>
            </a:r>
            <a:endParaRPr lang="en-US" altLang="zh-CN" sz="2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CN" sz="2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 smtClean="0"/>
              <a:t>4096/64x4</a:t>
            </a:r>
            <a:endParaRPr lang="en-US" altLang="zh-CN" sz="2400" dirty="0" smtClean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=16</a:t>
            </a:r>
            <a:r>
              <a:rPr lang="zh-CN" altLang="zh-CN" sz="2400" dirty="0" smtClean="0"/>
              <a:t>组</a:t>
            </a:r>
            <a:endParaRPr lang="zh-CN" altLang="zh-CN" sz="2400" dirty="0" smtClean="0"/>
          </a:p>
        </p:txBody>
      </p:sp>
      <p:sp>
        <p:nvSpPr>
          <p:cNvPr id="2" name="矩形 1"/>
          <p:cNvSpPr/>
          <p:nvPr/>
        </p:nvSpPr>
        <p:spPr>
          <a:xfrm>
            <a:off x="1835696" y="4005064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/>
              <a:t>0000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835696" y="4365104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/>
              <a:t>0001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1907704" y="6237312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/>
              <a:t>1111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"/>
          <p:cNvSpPr txBox="1">
            <a:spLocks noChangeArrowheads="1"/>
          </p:cNvSpPr>
          <p:nvPr/>
        </p:nvSpPr>
        <p:spPr bwMode="auto">
          <a:xfrm>
            <a:off x="254948" y="116503"/>
            <a:ext cx="835342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1000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Ì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5000"/>
              </a:spcBef>
              <a:spcAft>
                <a:spcPct val="1000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£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5000"/>
              </a:spcBef>
              <a:spcAft>
                <a:spcPct val="1000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、主存</a:t>
            </a:r>
            <a:r>
              <a:rPr lang="zh-CN" altLang="en-US" sz="2400" dirty="0"/>
              <a:t>地址划分：主存地址</a:t>
            </a:r>
            <a:r>
              <a:rPr lang="en-US" altLang="zh-CN" sz="2400" dirty="0"/>
              <a:t>15</a:t>
            </a:r>
            <a:r>
              <a:rPr lang="zh-CN" altLang="en-US" sz="2400" dirty="0"/>
              <a:t>位</a:t>
            </a:r>
            <a:r>
              <a:rPr lang="en-US" altLang="zh-CN" sz="2400" dirty="0"/>
              <a:t>=log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[32k]</a:t>
            </a:r>
            <a:r>
              <a:rPr lang="zh-CN" altLang="en-US" sz="2400" dirty="0"/>
              <a:t>，</a:t>
            </a:r>
            <a:r>
              <a:rPr lang="zh-CN" altLang="en-US" sz="2400" dirty="0"/>
              <a:t>块内地址</a:t>
            </a:r>
            <a:r>
              <a:rPr lang="en-US" altLang="zh-CN" sz="2400" dirty="0"/>
              <a:t>=6</a:t>
            </a:r>
            <a:r>
              <a:rPr lang="zh-CN" altLang="en-US" sz="2400" dirty="0"/>
              <a:t>位，</a:t>
            </a:r>
            <a:endParaRPr lang="en-US" altLang="zh-CN" sz="2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/>
              <a:t>       组地址</a:t>
            </a:r>
            <a:r>
              <a:rPr lang="en-US" altLang="zh-CN" sz="2400" dirty="0"/>
              <a:t>=4</a:t>
            </a:r>
            <a:r>
              <a:rPr lang="zh-CN" altLang="en-US" sz="2400" dirty="0"/>
              <a:t>位</a:t>
            </a:r>
            <a:endParaRPr lang="zh-CN" altLang="en-US" sz="2400" dirty="0"/>
          </a:p>
        </p:txBody>
      </p:sp>
      <p:grpSp>
        <p:nvGrpSpPr>
          <p:cNvPr id="2" name="组合 1"/>
          <p:cNvGrpSpPr/>
          <p:nvPr/>
        </p:nvGrpSpPr>
        <p:grpSpPr>
          <a:xfrm>
            <a:off x="2064410" y="1124491"/>
            <a:ext cx="5387910" cy="1108447"/>
            <a:chOff x="2019464" y="1556618"/>
            <a:chExt cx="5387910" cy="1108447"/>
          </a:xfrm>
        </p:grpSpPr>
        <p:sp>
          <p:nvSpPr>
            <p:cNvPr id="14339" name="Rectangle 3"/>
            <p:cNvSpPr>
              <a:spLocks noChangeArrowheads="1"/>
            </p:cNvSpPr>
            <p:nvPr/>
          </p:nvSpPr>
          <p:spPr bwMode="auto">
            <a:xfrm>
              <a:off x="2019464" y="1556618"/>
              <a:ext cx="2006600" cy="648335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50000">
                  <a:srgbClr val="FFFFFF"/>
                </a:gs>
                <a:gs pos="100000">
                  <a:srgbClr val="FFCC00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10000"/>
                </a:spcAft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Ì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5000"/>
                </a:spcBef>
                <a:spcAft>
                  <a:spcPct val="1000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£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5000"/>
                </a:spcBef>
                <a:spcAft>
                  <a:spcPct val="1000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主存标记</a:t>
              </a:r>
              <a:r>
                <a:rPr lang="en-US" altLang="zh-CN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ag</a:t>
              </a:r>
              <a:endPara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4026064" y="1556618"/>
              <a:ext cx="1724660" cy="647700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2000" b="1" dirty="0">
                  <a:ea typeface="华文中宋" panose="02010600040101010101" pitchFamily="2" charset="-122"/>
                  <a:sym typeface="+mn-ea"/>
                </a:rPr>
                <a:t>组号</a:t>
              </a:r>
              <a:r>
                <a:rPr lang="en-US" altLang="zh-CN" sz="2000" b="1" dirty="0">
                  <a:ea typeface="华文中宋" panose="02010600040101010101" pitchFamily="2" charset="-122"/>
                  <a:sym typeface="+mn-ea"/>
                </a:rPr>
                <a:t>Index</a:t>
              </a:r>
              <a:endParaRPr lang="en-US" altLang="zh-CN" sz="2000" b="1" dirty="0">
                <a:ea typeface="华文中宋" panose="02010600040101010101" pitchFamily="2" charset="-122"/>
                <a:sym typeface="+mn-ea"/>
              </a:endParaRPr>
            </a:p>
          </p:txBody>
        </p:sp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5751190" y="1556618"/>
              <a:ext cx="1656184" cy="647700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50000">
                  <a:srgbClr val="FFFFFF"/>
                </a:gs>
                <a:gs pos="100000">
                  <a:srgbClr val="FFFF99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10000"/>
                </a:spcAft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Ì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5000"/>
                </a:spcBef>
                <a:spcAft>
                  <a:spcPct val="1000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£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5000"/>
                </a:spcBef>
                <a:spcAft>
                  <a:spcPct val="1000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块内地址</a:t>
              </a:r>
              <a:endParaRPr lang="zh-CN" altLang="en-US" sz="2400" b="1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342" name="Text Box 119"/>
            <p:cNvSpPr txBox="1">
              <a:spLocks noChangeArrowheads="1"/>
            </p:cNvSpPr>
            <p:nvPr/>
          </p:nvSpPr>
          <p:spPr bwMode="auto">
            <a:xfrm>
              <a:off x="4311030" y="2204690"/>
              <a:ext cx="1008062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10000"/>
                </a:spcAft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Ì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5000"/>
                </a:spcBef>
                <a:spcAft>
                  <a:spcPct val="1000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£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5000"/>
                </a:spcBef>
                <a:spcAft>
                  <a:spcPct val="1000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 b="1" dirty="0" smtClean="0">
                  <a:latin typeface="Times New Roman" panose="02020603050405020304" pitchFamily="18" charset="0"/>
                  <a:ea typeface="华文中宋" panose="02010600040101010101" pitchFamily="2" charset="-122"/>
                </a:rPr>
                <a:t>4</a:t>
              </a:r>
              <a:r>
                <a:rPr lang="zh-CN" altLang="en-US" sz="2400" b="1" dirty="0" smtClean="0">
                  <a:latin typeface="Times New Roman" panose="02020603050405020304" pitchFamily="18" charset="0"/>
                  <a:ea typeface="华文中宋" panose="02010600040101010101" pitchFamily="2" charset="-122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343" name="Text Box 120"/>
            <p:cNvSpPr txBox="1">
              <a:spLocks noChangeArrowheads="1"/>
            </p:cNvSpPr>
            <p:nvPr/>
          </p:nvSpPr>
          <p:spPr bwMode="auto">
            <a:xfrm>
              <a:off x="5967214" y="2204690"/>
              <a:ext cx="12239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10000"/>
                </a:spcAft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Ì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5000"/>
                </a:spcBef>
                <a:spcAft>
                  <a:spcPct val="1000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£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5000"/>
                </a:spcBef>
                <a:spcAft>
                  <a:spcPct val="1000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6</a:t>
              </a:r>
              <a:r>
                <a:rPr lang="zh-CN" altLang="en-US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344" name="Text Box 119"/>
            <p:cNvSpPr txBox="1">
              <a:spLocks noChangeArrowheads="1"/>
            </p:cNvSpPr>
            <p:nvPr/>
          </p:nvSpPr>
          <p:spPr bwMode="auto">
            <a:xfrm>
              <a:off x="2870870" y="2204690"/>
              <a:ext cx="93821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10000"/>
                </a:spcAft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Ì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5000"/>
                </a:spcBef>
                <a:spcAft>
                  <a:spcPct val="1000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£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5000"/>
                </a:spcBef>
                <a:spcAft>
                  <a:spcPct val="1000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 b="1" dirty="0" smtClean="0">
                  <a:latin typeface="Times New Roman" panose="02020603050405020304" pitchFamily="18" charset="0"/>
                  <a:ea typeface="华文中宋" panose="02010600040101010101" pitchFamily="2" charset="-122"/>
                </a:rPr>
                <a:t>5 </a:t>
              </a:r>
              <a:r>
                <a:rPr lang="zh-CN" altLang="en-US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4345" name="TextBox 9"/>
          <p:cNvSpPr txBox="1">
            <a:spLocks noChangeArrowheads="1"/>
          </p:cNvSpPr>
          <p:nvPr/>
        </p:nvSpPr>
        <p:spPr bwMode="auto">
          <a:xfrm>
            <a:off x="179512" y="2349133"/>
            <a:ext cx="5544616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5000"/>
              </a:spcBef>
              <a:spcAft>
                <a:spcPct val="1000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Ì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5000"/>
              </a:spcBef>
              <a:spcAft>
                <a:spcPct val="1000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£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5000"/>
              </a:spcBef>
              <a:spcAft>
                <a:spcPct val="1000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dirty="0" smtClean="0"/>
              <a:t>3</a:t>
            </a:r>
            <a:r>
              <a:rPr lang="zh-CN" altLang="en-US" sz="2000" dirty="0" smtClean="0"/>
              <a:t>、 </a:t>
            </a:r>
            <a:r>
              <a:rPr lang="en-US" altLang="zh-CN" sz="2000" dirty="0" smtClean="0"/>
              <a:t>4352/ (16x4)=68</a:t>
            </a:r>
            <a:endParaRPr lang="en-US" altLang="zh-CN" sz="2000" dirty="0" smtClean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sz="2000" dirty="0" smtClean="0"/>
              <a:t>       涉及</a:t>
            </a:r>
            <a:r>
              <a:rPr lang="zh-CN" altLang="en-US" sz="2000" dirty="0"/>
              <a:t>到的主存块号：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1</a:t>
            </a:r>
            <a:r>
              <a:rPr lang="zh-CN" altLang="en-US" sz="2000" dirty="0"/>
              <a:t>，</a:t>
            </a:r>
            <a:r>
              <a:rPr lang="en-US" altLang="zh-CN" sz="2000" dirty="0" smtClean="0"/>
              <a:t>2………..67</a:t>
            </a:r>
            <a:endParaRPr lang="en-US" altLang="zh-CN" sz="2000" dirty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</a:t>
            </a:r>
            <a:r>
              <a:rPr lang="zh-CN" altLang="en-US" sz="2000" dirty="0"/>
              <a:t>第一次取数时间（设访问</a:t>
            </a:r>
            <a:r>
              <a:rPr lang="en-US" altLang="zh-CN" sz="2000" dirty="0"/>
              <a:t>Cache</a:t>
            </a:r>
            <a:r>
              <a:rPr lang="zh-CN" altLang="en-US" sz="2000" dirty="0"/>
              <a:t>时间为</a:t>
            </a:r>
            <a:r>
              <a:rPr lang="en-US" altLang="zh-CN" sz="2000" dirty="0" smtClean="0"/>
              <a:t>1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dirty="0"/>
              <a:t>        </a:t>
            </a:r>
            <a:r>
              <a:rPr lang="zh-CN" altLang="en-US" sz="2000" dirty="0">
                <a:sym typeface="+mn-ea"/>
              </a:rPr>
              <a:t>全部缺失：</a:t>
            </a:r>
            <a:r>
              <a:rPr lang="en-US" altLang="zh-CN" sz="2000" dirty="0"/>
              <a:t> 68x10+4352=5032</a:t>
            </a:r>
            <a:endParaRPr lang="en-US" altLang="zh-CN" sz="2000" dirty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dirty="0"/>
              <a:t>     </a:t>
            </a:r>
            <a:r>
              <a:rPr lang="zh-CN" altLang="en-US" sz="2000" dirty="0" smtClean="0"/>
              <a:t>第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，</a:t>
            </a:r>
            <a:r>
              <a:rPr lang="en-US" altLang="zh-CN" sz="2000" smtClean="0"/>
              <a:t>3……10</a:t>
            </a:r>
            <a:r>
              <a:rPr lang="zh-CN" altLang="en-US" sz="2000" smtClean="0"/>
              <a:t>次</a:t>
            </a:r>
            <a:r>
              <a:rPr lang="zh-CN" altLang="en-US" sz="2000" dirty="0"/>
              <a:t>取数时间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</a:t>
            </a:r>
            <a:r>
              <a:rPr lang="en-US" altLang="zh-CN" sz="2000" dirty="0">
                <a:sym typeface="+mn-ea"/>
              </a:rPr>
              <a:t>    </a:t>
            </a:r>
            <a:r>
              <a:rPr lang="en-US" altLang="zh-CN" sz="2000" dirty="0" smtClean="0">
                <a:sym typeface="+mn-ea"/>
              </a:rPr>
              <a:t> </a:t>
            </a:r>
            <a:r>
              <a:rPr lang="zh-CN" altLang="en-US" sz="2000" dirty="0" smtClean="0">
                <a:sym typeface="+mn-ea"/>
              </a:rPr>
              <a:t>涉及</a:t>
            </a:r>
            <a:r>
              <a:rPr lang="zh-CN" altLang="en-US" sz="2000" dirty="0">
                <a:sym typeface="+mn-ea"/>
              </a:rPr>
              <a:t>到替换</a:t>
            </a:r>
            <a:r>
              <a:rPr lang="zh-CN" altLang="en-US" sz="2000" dirty="0" smtClean="0">
                <a:sym typeface="+mn-ea"/>
              </a:rPr>
              <a:t>的</a:t>
            </a:r>
            <a:r>
              <a:rPr lang="zh-CN" altLang="en-US" sz="2000" dirty="0">
                <a:sym typeface="+mn-ea"/>
              </a:rPr>
              <a:t>组</a:t>
            </a:r>
            <a:r>
              <a:rPr lang="zh-CN" altLang="en-US" sz="2000" dirty="0" smtClean="0">
                <a:sym typeface="+mn-ea"/>
              </a:rPr>
              <a:t>号</a:t>
            </a:r>
            <a:r>
              <a:rPr lang="zh-CN" altLang="en-US" sz="2000" dirty="0">
                <a:sym typeface="+mn-ea"/>
              </a:rPr>
              <a:t>：</a:t>
            </a:r>
            <a:r>
              <a:rPr lang="en-US" altLang="zh-CN" sz="2000" dirty="0">
                <a:sym typeface="+mn-ea"/>
              </a:rPr>
              <a:t>0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 smtClean="0">
                <a:sym typeface="+mn-ea"/>
              </a:rPr>
              <a:t>3</a:t>
            </a:r>
            <a:endParaRPr lang="en-US" altLang="zh-CN" sz="2000" dirty="0" smtClean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dirty="0">
                <a:sym typeface="+mn-ea"/>
              </a:rPr>
              <a:t> </a:t>
            </a:r>
            <a:r>
              <a:rPr lang="en-US" altLang="zh-CN" sz="2000" dirty="0" smtClean="0">
                <a:sym typeface="+mn-ea"/>
              </a:rPr>
              <a:t>       </a:t>
            </a:r>
            <a:r>
              <a:rPr lang="zh-CN" altLang="en-US" sz="2000" dirty="0" smtClean="0">
                <a:sym typeface="+mn-ea"/>
              </a:rPr>
              <a:t>替换次数：</a:t>
            </a:r>
            <a:r>
              <a:rPr lang="en-US" altLang="zh-CN" sz="2000" dirty="0" smtClean="0">
                <a:sym typeface="+mn-ea"/>
              </a:rPr>
              <a:t>4*5=20</a:t>
            </a:r>
            <a:r>
              <a:rPr lang="zh-CN" altLang="en-US" sz="2000" dirty="0" smtClean="0">
                <a:sym typeface="+mn-ea"/>
              </a:rPr>
              <a:t>次</a:t>
            </a:r>
            <a:endParaRPr lang="en-US" altLang="zh-CN" sz="2000" dirty="0" smtClean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dirty="0" smtClean="0"/>
              <a:t>        9x</a:t>
            </a:r>
            <a:r>
              <a:rPr lang="zh-CN" altLang="en-US" sz="2000" dirty="0"/>
              <a:t>（</a:t>
            </a:r>
            <a:r>
              <a:rPr lang="en-US" altLang="zh-CN" sz="2000" dirty="0"/>
              <a:t>20x10+4352</a:t>
            </a:r>
            <a:r>
              <a:rPr lang="zh-CN" altLang="en-US" sz="2000" dirty="0"/>
              <a:t>）</a:t>
            </a:r>
            <a:r>
              <a:rPr lang="en-US" altLang="zh-CN" sz="2000" dirty="0"/>
              <a:t>= 40968</a:t>
            </a:r>
            <a:endParaRPr lang="en-US" altLang="zh-CN" sz="2000" dirty="0"/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sz="2000" dirty="0" smtClean="0"/>
              <a:t>    提速</a:t>
            </a:r>
            <a:r>
              <a:rPr lang="zh-CN" altLang="en-US" sz="2000" dirty="0"/>
              <a:t>比：</a:t>
            </a:r>
            <a:r>
              <a:rPr lang="en-US" altLang="zh-CN" sz="2000" dirty="0"/>
              <a:t>4352x10x10/46000=9.46</a:t>
            </a:r>
            <a:endParaRPr lang="zh-CN" altLang="en-US" sz="20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96136" y="2708920"/>
          <a:ext cx="3169445" cy="3293271"/>
        </p:xfrm>
        <a:graphic>
          <a:graphicData uri="http://schemas.openxmlformats.org/drawingml/2006/table">
            <a:tbl>
              <a:tblPr/>
              <a:tblGrid>
                <a:gridCol w="515956"/>
                <a:gridCol w="737080"/>
                <a:gridCol w="663372"/>
                <a:gridCol w="619148"/>
                <a:gridCol w="633889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块</a:t>
                      </a: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块</a:t>
                      </a: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块</a:t>
                      </a: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块</a:t>
                      </a: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0/64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48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1/65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33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2/66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3/67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51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36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6F7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.…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47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63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40" marB="457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99592" y="1268760"/>
          <a:ext cx="7704858" cy="13681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2485"/>
                <a:gridCol w="2260791"/>
                <a:gridCol w="2260791"/>
                <a:gridCol w="2260791"/>
              </a:tblGrid>
              <a:tr h="456051">
                <a:tc>
                  <a:txBody>
                    <a:bodyPr/>
                    <a:lstStyle/>
                    <a:p>
                      <a:endParaRPr lang="zh-CN" sz="20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</a:t>
                      </a:r>
                      <a:r>
                        <a:rPr lang="zh-CN" sz="2000" kern="100">
                          <a:effectLst/>
                        </a:rPr>
                        <a:t>一级</a:t>
                      </a:r>
                      <a:r>
                        <a:rPr lang="en-US" sz="2000" kern="100">
                          <a:effectLst/>
                        </a:rPr>
                        <a:t>cache</a:t>
                      </a:r>
                      <a:r>
                        <a:rPr lang="zh-CN" sz="2000" kern="100">
                          <a:effectLst/>
                        </a:rPr>
                        <a:t>容量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zh-CN" sz="2000" kern="100" dirty="0">
                          <a:effectLst/>
                        </a:rPr>
                        <a:t>一级</a:t>
                      </a:r>
                      <a:r>
                        <a:rPr lang="en-US" sz="2000" kern="100" dirty="0">
                          <a:effectLst/>
                        </a:rPr>
                        <a:t>cache</a:t>
                      </a:r>
                      <a:r>
                        <a:rPr lang="zh-CN" sz="2000" kern="100" dirty="0">
                          <a:effectLst/>
                        </a:rPr>
                        <a:t>缺失率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一级</a:t>
                      </a:r>
                      <a:r>
                        <a:rPr lang="en-US" sz="2000" kern="100">
                          <a:effectLst/>
                        </a:rPr>
                        <a:t>cache</a:t>
                      </a:r>
                      <a:r>
                        <a:rPr lang="zh-CN" sz="2000" kern="100">
                          <a:effectLst/>
                        </a:rPr>
                        <a:t>命中时间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</a:tr>
              <a:tr h="4560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P1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1KB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2.5%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0.2ns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</a:tr>
              <a:tr h="456051">
                <a:tc>
                  <a:txBody>
                    <a:bodyPr/>
                    <a:lstStyle/>
                    <a:p>
                      <a:pPr indent="762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P2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2KB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2%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0.25ns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71600" y="5805264"/>
          <a:ext cx="7200799" cy="628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0716"/>
                <a:gridCol w="2260716"/>
                <a:gridCol w="2679367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二级</a:t>
                      </a:r>
                      <a:r>
                        <a:rPr lang="en-US" sz="2000" kern="100">
                          <a:effectLst/>
                        </a:rPr>
                        <a:t>cache</a:t>
                      </a:r>
                      <a:r>
                        <a:rPr lang="zh-CN" sz="2000" kern="100">
                          <a:effectLst/>
                        </a:rPr>
                        <a:t>容量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二级</a:t>
                      </a:r>
                      <a:r>
                        <a:rPr lang="en-US" sz="2000" kern="100" dirty="0">
                          <a:effectLst/>
                        </a:rPr>
                        <a:t>cache</a:t>
                      </a:r>
                      <a:r>
                        <a:rPr lang="zh-CN" sz="2000" kern="100" dirty="0">
                          <a:effectLst/>
                        </a:rPr>
                        <a:t>缺失率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二级</a:t>
                      </a:r>
                      <a:r>
                        <a:rPr lang="en-US" sz="2000" kern="100" dirty="0">
                          <a:effectLst/>
                        </a:rPr>
                        <a:t>cache</a:t>
                      </a:r>
                      <a:r>
                        <a:rPr lang="zh-CN" sz="2000" kern="100" dirty="0">
                          <a:effectLst/>
                        </a:rPr>
                        <a:t>访问时间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212090"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512KB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0.5%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57175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5ns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9512" y="260648"/>
            <a:ext cx="849694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3 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设主存访问时间需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100ns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，下表是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的处理器一级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的数据： 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2924944"/>
            <a:ext cx="856895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问题：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1).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假设一级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的命中时间决定了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的周期时间，他们各自的时钟频率是多少？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各自的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AMAT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（平均存储器访问时间）分别是多少？假定基本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CPI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1.0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各自总的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CPI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分别是多少？ 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2).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中增加二级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，以弥补一级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容量的限制。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增加二级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后，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CPI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是多少？性能提升了多少？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5536" y="260648"/>
            <a:ext cx="8136904" cy="6109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答：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）时钟频率：   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fp1=1/0.2=5GHZ;  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			 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fp2=1/0.25=4GHZ.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AMAT:    P1:  0.2+2.5%*100=2.7ns;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P2:   0.25+2%*100=2.25ns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CPI: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P1: CPI=1.0+2.5%*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100/0.2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=13.5;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P2: CPI=1.0+2%*(100/0.25)=9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）增加二级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后， 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AMAT=0.2+2.5%*5+0.5%*100=8ns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CPI=1.0+2.5%*5/0.2+0.5%*100/0.2=4.125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性能比：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13.5/4.125=3.273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，提升了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3.273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倍。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a3ce24d0-8d59-4caf-8d4f-cf06c3bb52a6}"/>
</p:tagLst>
</file>

<file path=ppt/tags/tag2.xml><?xml version="1.0" encoding="utf-8"?>
<p:tagLst xmlns:p="http://schemas.openxmlformats.org/presentationml/2006/main">
  <p:tag name="KSO_WM_UNIT_TABLE_BEAUTIFY" val="smartTable{6ad2902e-7649-4a3b-8154-61f42bbb491a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2573</Words>
  <Application>WPS 演示</Application>
  <PresentationFormat>全屏显示(4:3)</PresentationFormat>
  <Paragraphs>488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Wingdings 2</vt:lpstr>
      <vt:lpstr>Calibri</vt:lpstr>
      <vt:lpstr>Times New Roman</vt:lpstr>
      <vt:lpstr>Times New Roman</vt:lpstr>
      <vt:lpstr>华文中宋</vt:lpstr>
      <vt:lpstr>Calibri</vt:lpstr>
      <vt:lpstr>微软雅黑</vt:lpstr>
      <vt:lpstr>Arial Unicode MS</vt:lpstr>
      <vt:lpstr>等线</vt:lpstr>
      <vt:lpstr>Office 主题</vt:lpstr>
      <vt:lpstr>PowerPoint 演示文稿</vt:lpstr>
      <vt:lpstr>解答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习题课</dc:title>
  <dc:creator>wangkp</dc:creator>
  <cp:lastModifiedBy>Ningsj</cp:lastModifiedBy>
  <cp:revision>71</cp:revision>
  <cp:lastPrinted>2019-11-19T22:47:00Z</cp:lastPrinted>
  <dcterms:created xsi:type="dcterms:W3CDTF">2018-12-20T15:16:00Z</dcterms:created>
  <dcterms:modified xsi:type="dcterms:W3CDTF">2020-11-27T01:22:57Z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