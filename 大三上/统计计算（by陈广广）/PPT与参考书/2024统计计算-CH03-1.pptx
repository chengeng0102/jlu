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764" r:id="rId1"/>
    <p:sldMasterId id="2147484864" r:id="rId2"/>
    <p:sldMasterId id="2147484852" r:id="rId3"/>
    <p:sldMasterId id="2147484840" r:id="rId4"/>
  </p:sldMasterIdLst>
  <p:notesMasterIdLst>
    <p:notesMasterId r:id="rId136"/>
  </p:notesMasterIdLst>
  <p:handoutMasterIdLst>
    <p:handoutMasterId r:id="rId137"/>
  </p:handoutMasterIdLst>
  <p:sldIdLst>
    <p:sldId id="686" r:id="rId5"/>
    <p:sldId id="573" r:id="rId6"/>
    <p:sldId id="524" r:id="rId7"/>
    <p:sldId id="553" r:id="rId8"/>
    <p:sldId id="554" r:id="rId9"/>
    <p:sldId id="557" r:id="rId10"/>
    <p:sldId id="603" r:id="rId11"/>
    <p:sldId id="604" r:id="rId12"/>
    <p:sldId id="713" r:id="rId13"/>
    <p:sldId id="706" r:id="rId14"/>
    <p:sldId id="714" r:id="rId15"/>
    <p:sldId id="695" r:id="rId16"/>
    <p:sldId id="715" r:id="rId17"/>
    <p:sldId id="602" r:id="rId18"/>
    <p:sldId id="601" r:id="rId19"/>
    <p:sldId id="702" r:id="rId20"/>
    <p:sldId id="556" r:id="rId21"/>
    <p:sldId id="579" r:id="rId22"/>
    <p:sldId id="580" r:id="rId23"/>
    <p:sldId id="581" r:id="rId24"/>
    <p:sldId id="555" r:id="rId25"/>
    <p:sldId id="574" r:id="rId26"/>
    <p:sldId id="582" r:id="rId27"/>
    <p:sldId id="698" r:id="rId28"/>
    <p:sldId id="697" r:id="rId29"/>
    <p:sldId id="696" r:id="rId30"/>
    <p:sldId id="583" r:id="rId31"/>
    <p:sldId id="588" r:id="rId32"/>
    <p:sldId id="589" r:id="rId33"/>
    <p:sldId id="605" r:id="rId34"/>
    <p:sldId id="587" r:id="rId35"/>
    <p:sldId id="590" r:id="rId36"/>
    <p:sldId id="584" r:id="rId37"/>
    <p:sldId id="606" r:id="rId38"/>
    <p:sldId id="591" r:id="rId39"/>
    <p:sldId id="607" r:id="rId40"/>
    <p:sldId id="694" r:id="rId41"/>
    <p:sldId id="594" r:id="rId42"/>
    <p:sldId id="593" r:id="rId43"/>
    <p:sldId id="585" r:id="rId44"/>
    <p:sldId id="595" r:id="rId45"/>
    <p:sldId id="597" r:id="rId46"/>
    <p:sldId id="598" r:id="rId47"/>
    <p:sldId id="599" r:id="rId48"/>
    <p:sldId id="596" r:id="rId49"/>
    <p:sldId id="586" r:id="rId50"/>
    <p:sldId id="600" r:id="rId51"/>
    <p:sldId id="609" r:id="rId52"/>
    <p:sldId id="610" r:id="rId53"/>
    <p:sldId id="611" r:id="rId54"/>
    <p:sldId id="719" r:id="rId55"/>
    <p:sldId id="613" r:id="rId56"/>
    <p:sldId id="614" r:id="rId57"/>
    <p:sldId id="615" r:id="rId58"/>
    <p:sldId id="720" r:id="rId59"/>
    <p:sldId id="616" r:id="rId60"/>
    <p:sldId id="617" r:id="rId61"/>
    <p:sldId id="618" r:id="rId62"/>
    <p:sldId id="661" r:id="rId63"/>
    <p:sldId id="575" r:id="rId64"/>
    <p:sldId id="619" r:id="rId65"/>
    <p:sldId id="642" r:id="rId66"/>
    <p:sldId id="620" r:id="rId67"/>
    <p:sldId id="621" r:id="rId68"/>
    <p:sldId id="622" r:id="rId69"/>
    <p:sldId id="623" r:id="rId70"/>
    <p:sldId id="625" r:id="rId71"/>
    <p:sldId id="716" r:id="rId72"/>
    <p:sldId id="624" r:id="rId73"/>
    <p:sldId id="627" r:id="rId74"/>
    <p:sldId id="643" r:id="rId75"/>
    <p:sldId id="628" r:id="rId76"/>
    <p:sldId id="662" r:id="rId77"/>
    <p:sldId id="664" r:id="rId78"/>
    <p:sldId id="663" r:id="rId79"/>
    <p:sldId id="665" r:id="rId80"/>
    <p:sldId id="717" r:id="rId81"/>
    <p:sldId id="629" r:id="rId82"/>
    <p:sldId id="718" r:id="rId83"/>
    <p:sldId id="667" r:id="rId84"/>
    <p:sldId id="668" r:id="rId85"/>
    <p:sldId id="576" r:id="rId86"/>
    <p:sldId id="631" r:id="rId87"/>
    <p:sldId id="633" r:id="rId88"/>
    <p:sldId id="634" r:id="rId89"/>
    <p:sldId id="635" r:id="rId90"/>
    <p:sldId id="632" r:id="rId91"/>
    <p:sldId id="636" r:id="rId92"/>
    <p:sldId id="637" r:id="rId93"/>
    <p:sldId id="638" r:id="rId94"/>
    <p:sldId id="639" r:id="rId95"/>
    <p:sldId id="640" r:id="rId96"/>
    <p:sldId id="641" r:id="rId97"/>
    <p:sldId id="577" r:id="rId98"/>
    <p:sldId id="648" r:id="rId99"/>
    <p:sldId id="644" r:id="rId100"/>
    <p:sldId id="649" r:id="rId101"/>
    <p:sldId id="650" r:id="rId102"/>
    <p:sldId id="651" r:id="rId103"/>
    <p:sldId id="677" r:id="rId104"/>
    <p:sldId id="678" r:id="rId105"/>
    <p:sldId id="654" r:id="rId106"/>
    <p:sldId id="680" r:id="rId107"/>
    <p:sldId id="679" r:id="rId108"/>
    <p:sldId id="645" r:id="rId109"/>
    <p:sldId id="687" r:id="rId110"/>
    <p:sldId id="655" r:id="rId111"/>
    <p:sldId id="656" r:id="rId112"/>
    <p:sldId id="681" r:id="rId113"/>
    <p:sldId id="682" r:id="rId114"/>
    <p:sldId id="683" r:id="rId115"/>
    <p:sldId id="657" r:id="rId116"/>
    <p:sldId id="684" r:id="rId117"/>
    <p:sldId id="685" r:id="rId118"/>
    <p:sldId id="646" r:id="rId119"/>
    <p:sldId id="658" r:id="rId120"/>
    <p:sldId id="688" r:id="rId121"/>
    <p:sldId id="689" r:id="rId122"/>
    <p:sldId id="659" r:id="rId123"/>
    <p:sldId id="690" r:id="rId124"/>
    <p:sldId id="691" r:id="rId125"/>
    <p:sldId id="692" r:id="rId126"/>
    <p:sldId id="693" r:id="rId127"/>
    <p:sldId id="647" r:id="rId128"/>
    <p:sldId id="672" r:id="rId129"/>
    <p:sldId id="673" r:id="rId130"/>
    <p:sldId id="674" r:id="rId131"/>
    <p:sldId id="670" r:id="rId132"/>
    <p:sldId id="671" r:id="rId133"/>
    <p:sldId id="675" r:id="rId134"/>
    <p:sldId id="676" r:id="rId135"/>
  </p:sldIdLst>
  <p:sldSz cx="9144000" cy="6858000" type="screen4x3"/>
  <p:notesSz cx="7099300" cy="10234613"/>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100AF6"/>
    <a:srgbClr val="00E4A8"/>
    <a:srgbClr val="05FF76"/>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1" autoAdjust="0"/>
    <p:restoredTop sz="79926" autoAdjust="0"/>
  </p:normalViewPr>
  <p:slideViewPr>
    <p:cSldViewPr>
      <p:cViewPr varScale="1">
        <p:scale>
          <a:sx n="62" d="100"/>
          <a:sy n="62" d="100"/>
        </p:scale>
        <p:origin x="1862" y="31"/>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846"/>
    </p:cViewPr>
  </p:sorterViewPr>
  <p:notesViewPr>
    <p:cSldViewPr>
      <p:cViewPr varScale="1">
        <p:scale>
          <a:sx n="53" d="100"/>
          <a:sy n="53" d="100"/>
        </p:scale>
        <p:origin x="-1926" y="-96"/>
      </p:cViewPr>
      <p:guideLst>
        <p:guide orient="horz" pos="3224"/>
        <p:guide pos="2236"/>
      </p:guideLst>
    </p:cSldViewPr>
  </p:notesViewPr>
  <p:gridSpacing cx="45005" cy="45005"/>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presProps" Target="presProps.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slide" Target="slides/slide130.xml"/><Relationship Id="rId139" Type="http://schemas.openxmlformats.org/officeDocument/2006/relationships/viewProps" Target="viewProp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notesMaster" Target="notesMasters/notesMaster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4.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6"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B107B2A-DAC5-4416-974E-078E8DBB782B}"/>
              </a:ext>
            </a:extLst>
          </p:cNvPr>
          <p:cNvSpPr>
            <a:spLocks noGrp="1" noChangeArrowheads="1"/>
          </p:cNvSpPr>
          <p:nvPr>
            <p:ph type="hdr" sz="quarter"/>
          </p:nvPr>
        </p:nvSpPr>
        <p:spPr bwMode="auto">
          <a:xfrm>
            <a:off x="0"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ea typeface="宋体" pitchFamily="2" charset="-122"/>
              </a:defRPr>
            </a:lvl1pPr>
          </a:lstStyle>
          <a:p>
            <a:pPr>
              <a:defRPr/>
            </a:pPr>
            <a:endParaRPr lang="en-US" altLang="zh-CN"/>
          </a:p>
        </p:txBody>
      </p:sp>
      <p:sp>
        <p:nvSpPr>
          <p:cNvPr id="28675" name="Rectangle 3">
            <a:extLst>
              <a:ext uri="{FF2B5EF4-FFF2-40B4-BE49-F238E27FC236}">
                <a16:creationId xmlns:a16="http://schemas.microsoft.com/office/drawing/2014/main" id="{F8823D40-50F4-4203-B225-423B948F35BD}"/>
              </a:ext>
            </a:extLst>
          </p:cNvPr>
          <p:cNvSpPr>
            <a:spLocks noGrp="1" noChangeArrowheads="1"/>
          </p:cNvSpPr>
          <p:nvPr>
            <p:ph type="dt" sz="quarter" idx="1"/>
          </p:nvPr>
        </p:nvSpPr>
        <p:spPr bwMode="auto">
          <a:xfrm>
            <a:off x="4021138"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ea typeface="宋体" pitchFamily="2" charset="-122"/>
              </a:defRPr>
            </a:lvl1pPr>
          </a:lstStyle>
          <a:p>
            <a:pPr>
              <a:defRPr/>
            </a:pPr>
            <a:endParaRPr lang="en-US" altLang="zh-CN"/>
          </a:p>
        </p:txBody>
      </p:sp>
      <p:sp>
        <p:nvSpPr>
          <p:cNvPr id="28676" name="Rectangle 4">
            <a:extLst>
              <a:ext uri="{FF2B5EF4-FFF2-40B4-BE49-F238E27FC236}">
                <a16:creationId xmlns:a16="http://schemas.microsoft.com/office/drawing/2014/main" id="{DA6B86F3-BAD2-4843-9058-D4A47376990D}"/>
              </a:ext>
            </a:extLst>
          </p:cNvPr>
          <p:cNvSpPr>
            <a:spLocks noGrp="1" noChangeArrowheads="1"/>
          </p:cNvSpPr>
          <p:nvPr>
            <p:ph type="ftr" sz="quarter" idx="2"/>
          </p:nvPr>
        </p:nvSpPr>
        <p:spPr bwMode="auto">
          <a:xfrm>
            <a:off x="0"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ea typeface="宋体" pitchFamily="2" charset="-122"/>
              </a:defRPr>
            </a:lvl1pPr>
          </a:lstStyle>
          <a:p>
            <a:pPr>
              <a:defRPr/>
            </a:pPr>
            <a:endParaRPr lang="en-US" altLang="zh-CN"/>
          </a:p>
        </p:txBody>
      </p:sp>
      <p:sp>
        <p:nvSpPr>
          <p:cNvPr id="28677" name="Rectangle 5">
            <a:extLst>
              <a:ext uri="{FF2B5EF4-FFF2-40B4-BE49-F238E27FC236}">
                <a16:creationId xmlns:a16="http://schemas.microsoft.com/office/drawing/2014/main" id="{EEE122FC-8C0E-435B-8E52-C01A804A9B37}"/>
              </a:ext>
            </a:extLst>
          </p:cNvPr>
          <p:cNvSpPr>
            <a:spLocks noGrp="1" noChangeArrowheads="1"/>
          </p:cNvSpPr>
          <p:nvPr>
            <p:ph type="sldNum" sz="quarter" idx="3"/>
          </p:nvPr>
        </p:nvSpPr>
        <p:spPr bwMode="auto">
          <a:xfrm>
            <a:off x="4021138"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algn="r" eaLnBrk="1" hangingPunct="1">
              <a:defRPr sz="1300" smtClean="0"/>
            </a:lvl1pPr>
          </a:lstStyle>
          <a:p>
            <a:pPr>
              <a:defRPr/>
            </a:pPr>
            <a:fld id="{43E1ABD5-734C-45E3-8E59-EA2CFC9A04A5}"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1E04FAA8-1251-4724-A213-F4314383DCCE}"/>
              </a:ext>
            </a:extLst>
          </p:cNvPr>
          <p:cNvSpPr>
            <a:spLocks noGrp="1" noChangeArrowheads="1"/>
          </p:cNvSpPr>
          <p:nvPr>
            <p:ph type="hdr" sz="quarter"/>
          </p:nvPr>
        </p:nvSpPr>
        <p:spPr bwMode="auto">
          <a:xfrm>
            <a:off x="0"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ea typeface="宋体" pitchFamily="2" charset="-122"/>
              </a:defRPr>
            </a:lvl1pPr>
          </a:lstStyle>
          <a:p>
            <a:pPr>
              <a:defRPr/>
            </a:pPr>
            <a:endParaRPr lang="en-US" altLang="zh-CN"/>
          </a:p>
        </p:txBody>
      </p:sp>
      <p:sp>
        <p:nvSpPr>
          <p:cNvPr id="32771" name="Rectangle 3">
            <a:extLst>
              <a:ext uri="{FF2B5EF4-FFF2-40B4-BE49-F238E27FC236}">
                <a16:creationId xmlns:a16="http://schemas.microsoft.com/office/drawing/2014/main" id="{C7FE1E47-3890-4A19-BF22-ABD056D1609A}"/>
              </a:ext>
            </a:extLst>
          </p:cNvPr>
          <p:cNvSpPr>
            <a:spLocks noGrp="1" noChangeArrowheads="1"/>
          </p:cNvSpPr>
          <p:nvPr>
            <p:ph type="dt" idx="1"/>
          </p:nvPr>
        </p:nvSpPr>
        <p:spPr bwMode="auto">
          <a:xfrm>
            <a:off x="4021138"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ea typeface="宋体" pitchFamily="2" charset="-122"/>
              </a:defRPr>
            </a:lvl1pPr>
          </a:lstStyle>
          <a:p>
            <a:pPr>
              <a:defRPr/>
            </a:pPr>
            <a:endParaRPr lang="en-US" altLang="zh-CN"/>
          </a:p>
        </p:txBody>
      </p:sp>
      <p:sp>
        <p:nvSpPr>
          <p:cNvPr id="28676" name="Rectangle 4">
            <a:extLst>
              <a:ext uri="{FF2B5EF4-FFF2-40B4-BE49-F238E27FC236}">
                <a16:creationId xmlns:a16="http://schemas.microsoft.com/office/drawing/2014/main" id="{C360BA55-EA8A-4F4B-84B3-69CF6A8F7EA3}"/>
              </a:ext>
            </a:extLst>
          </p:cNvPr>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3" name="Rectangle 5">
            <a:extLst>
              <a:ext uri="{FF2B5EF4-FFF2-40B4-BE49-F238E27FC236}">
                <a16:creationId xmlns:a16="http://schemas.microsoft.com/office/drawing/2014/main" id="{CFB93E25-B75C-4792-AFE7-5CBE769FE4B0}"/>
              </a:ext>
            </a:extLst>
          </p:cNvPr>
          <p:cNvSpPr>
            <a:spLocks noGrp="1" noChangeArrowheads="1"/>
          </p:cNvSpPr>
          <p:nvPr>
            <p:ph type="body" sz="quarter" idx="3"/>
          </p:nvPr>
        </p:nvSpPr>
        <p:spPr bwMode="auto">
          <a:xfrm>
            <a:off x="709613" y="4860925"/>
            <a:ext cx="5680075" cy="4605338"/>
          </a:xfrm>
          <a:prstGeom prst="rect">
            <a:avLst/>
          </a:prstGeom>
          <a:noFill/>
          <a:ln>
            <a:noFill/>
          </a:ln>
          <a:effectLst/>
        </p:spPr>
        <p:txBody>
          <a:bodyPr vert="horz" wrap="square" lIns="99048" tIns="49524" rIns="99048" bIns="49524"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2774" name="Rectangle 6">
            <a:extLst>
              <a:ext uri="{FF2B5EF4-FFF2-40B4-BE49-F238E27FC236}">
                <a16:creationId xmlns:a16="http://schemas.microsoft.com/office/drawing/2014/main" id="{D790EB04-C85D-4D5C-A1A5-0531589EE258}"/>
              </a:ext>
            </a:extLst>
          </p:cNvPr>
          <p:cNvSpPr>
            <a:spLocks noGrp="1" noChangeArrowheads="1"/>
          </p:cNvSpPr>
          <p:nvPr>
            <p:ph type="ftr" sz="quarter" idx="4"/>
          </p:nvPr>
        </p:nvSpPr>
        <p:spPr bwMode="auto">
          <a:xfrm>
            <a:off x="0"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ea typeface="宋体" pitchFamily="2" charset="-122"/>
              </a:defRPr>
            </a:lvl1pPr>
          </a:lstStyle>
          <a:p>
            <a:pPr>
              <a:defRPr/>
            </a:pPr>
            <a:endParaRPr lang="en-US" altLang="zh-CN"/>
          </a:p>
        </p:txBody>
      </p:sp>
      <p:sp>
        <p:nvSpPr>
          <p:cNvPr id="32775" name="Rectangle 7">
            <a:extLst>
              <a:ext uri="{FF2B5EF4-FFF2-40B4-BE49-F238E27FC236}">
                <a16:creationId xmlns:a16="http://schemas.microsoft.com/office/drawing/2014/main" id="{3953FBA4-B32F-45E3-99B1-1CBCA21ED888}"/>
              </a:ext>
            </a:extLst>
          </p:cNvPr>
          <p:cNvSpPr>
            <a:spLocks noGrp="1" noChangeArrowheads="1"/>
          </p:cNvSpPr>
          <p:nvPr>
            <p:ph type="sldNum" sz="quarter" idx="5"/>
          </p:nvPr>
        </p:nvSpPr>
        <p:spPr bwMode="auto">
          <a:xfrm>
            <a:off x="4021138"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algn="r" eaLnBrk="1" hangingPunct="1">
              <a:defRPr sz="1300" smtClean="0"/>
            </a:lvl1pPr>
          </a:lstStyle>
          <a:p>
            <a:pPr>
              <a:defRPr/>
            </a:pPr>
            <a:fld id="{614EFBFF-6306-4FE3-969F-1673B60D762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199B7588-F61D-4FBF-BD50-AEEE32F421A6}"/>
              </a:ext>
            </a:extLst>
          </p:cNvPr>
          <p:cNvCxnSpPr/>
          <p:nvPr/>
        </p:nvCxnSpPr>
        <p:spPr>
          <a:xfrm>
            <a:off x="0" y="857250"/>
            <a:ext cx="9144000" cy="1588"/>
          </a:xfrm>
          <a:prstGeom prst="line">
            <a:avLst/>
          </a:prstGeom>
          <a:ln w="63500" cap="flat" cmpd="thickThi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9336F078-05E8-4905-BDCC-FC8A529469EC}"/>
              </a:ext>
            </a:extLst>
          </p:cNvPr>
          <p:cNvCxnSpPr/>
          <p:nvPr/>
        </p:nvCxnSpPr>
        <p:spPr>
          <a:xfrm>
            <a:off x="0" y="6286500"/>
            <a:ext cx="9144000" cy="1588"/>
          </a:xfrm>
          <a:prstGeom prst="line">
            <a:avLst/>
          </a:prstGeom>
          <a:ln w="63500" cmpd="thinThick"/>
        </p:spPr>
        <p:style>
          <a:lnRef idx="1">
            <a:schemeClr val="accent1"/>
          </a:lnRef>
          <a:fillRef idx="0">
            <a:schemeClr val="accent1"/>
          </a:fillRef>
          <a:effectRef idx="0">
            <a:schemeClr val="accent1"/>
          </a:effectRef>
          <a:fontRef idx="minor">
            <a:schemeClr val="tx1"/>
          </a:fontRef>
        </p:style>
      </p:cxnSp>
      <p:pic>
        <p:nvPicPr>
          <p:cNvPr id="6" name="图片 10" descr="0691001310289278.jpg">
            <a:extLst>
              <a:ext uri="{FF2B5EF4-FFF2-40B4-BE49-F238E27FC236}">
                <a16:creationId xmlns:a16="http://schemas.microsoft.com/office/drawing/2014/main" id="{87A677AA-60BD-4CEE-BDB4-F2111884B9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9688"/>
            <a:ext cx="4000500"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1" y="2130441"/>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1" y="3886203"/>
            <a:ext cx="6400800" cy="175260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zh-CN" altLang="en-US"/>
              <a:t>单击此处编辑母版副标题样式</a:t>
            </a:r>
          </a:p>
        </p:txBody>
      </p:sp>
      <p:sp>
        <p:nvSpPr>
          <p:cNvPr id="7" name="日期占位符 3">
            <a:extLst>
              <a:ext uri="{FF2B5EF4-FFF2-40B4-BE49-F238E27FC236}">
                <a16:creationId xmlns:a16="http://schemas.microsoft.com/office/drawing/2014/main" id="{C52C1BED-A9D5-487F-B245-D82DB0F65121}"/>
              </a:ext>
            </a:extLst>
          </p:cNvPr>
          <p:cNvSpPr>
            <a:spLocks noGrp="1"/>
          </p:cNvSpPr>
          <p:nvPr>
            <p:ph type="dt" sz="half" idx="10"/>
          </p:nvPr>
        </p:nvSpPr>
        <p:spPr/>
        <p:txBody>
          <a:bodyPr/>
          <a:lstStyle>
            <a:lvl1pPr algn="l" defTabSz="914400">
              <a:defRPr sz="675">
                <a:solidFill>
                  <a:prstClr val="black">
                    <a:tint val="75000"/>
                  </a:prstClr>
                </a:solidFill>
              </a:defRPr>
            </a:lvl1pPr>
          </a:lstStyle>
          <a:p>
            <a:pPr>
              <a:defRPr/>
            </a:pPr>
            <a:fld id="{91F8C692-78CC-4A5C-8E3A-3B26FFA232EB}" type="datetime3">
              <a:rPr lang="zh-CN" altLang="en-US"/>
              <a:pPr>
                <a:defRPr/>
              </a:pPr>
              <a:t>2024年11月7日星期四</a:t>
            </a:fld>
            <a:endParaRPr lang="zh-CN" altLang="en-US"/>
          </a:p>
        </p:txBody>
      </p:sp>
      <p:sp>
        <p:nvSpPr>
          <p:cNvPr id="8" name="页脚占位符 4">
            <a:extLst>
              <a:ext uri="{FF2B5EF4-FFF2-40B4-BE49-F238E27FC236}">
                <a16:creationId xmlns:a16="http://schemas.microsoft.com/office/drawing/2014/main" id="{ADFCEED8-F8D6-4C1A-9326-78157CD41178}"/>
              </a:ext>
            </a:extLst>
          </p:cNvPr>
          <p:cNvSpPr>
            <a:spLocks noGrp="1"/>
          </p:cNvSpPr>
          <p:nvPr>
            <p:ph type="ftr" sz="quarter" idx="11"/>
          </p:nvPr>
        </p:nvSpPr>
        <p:spPr/>
        <p:txBody>
          <a:bodyPr/>
          <a:lstStyle>
            <a:lvl1pPr marL="0" marR="0" indent="0" algn="ctr" defTabSz="513715" rtl="0" eaLnBrk="1" fontAlgn="auto" latinLnBrk="0" hangingPunct="1">
              <a:lnSpc>
                <a:spcPct val="100000"/>
              </a:lnSpc>
              <a:spcBef>
                <a:spcPts val="0"/>
              </a:spcBef>
              <a:spcAft>
                <a:spcPts val="0"/>
              </a:spcAft>
              <a:buClrTx/>
              <a:buSzTx/>
              <a:buFontTx/>
              <a:buNone/>
              <a:defRPr sz="675">
                <a:solidFill>
                  <a:prstClr val="black">
                    <a:tint val="75000"/>
                  </a:prstClr>
                </a:solidFill>
              </a:defRPr>
            </a:lvl1pPr>
          </a:lstStyle>
          <a:p>
            <a:pPr>
              <a:defRPr/>
            </a:pPr>
            <a:endParaRPr lang="zh-CN" altLang="en-US"/>
          </a:p>
        </p:txBody>
      </p:sp>
      <p:sp>
        <p:nvSpPr>
          <p:cNvPr id="9" name="灯片编号占位符 5">
            <a:extLst>
              <a:ext uri="{FF2B5EF4-FFF2-40B4-BE49-F238E27FC236}">
                <a16:creationId xmlns:a16="http://schemas.microsoft.com/office/drawing/2014/main" id="{E2DB5669-4509-450F-9BA5-7E020A67A3F2}"/>
              </a:ext>
            </a:extLst>
          </p:cNvPr>
          <p:cNvSpPr>
            <a:spLocks noGrp="1"/>
          </p:cNvSpPr>
          <p:nvPr>
            <p:ph type="sldNum" sz="quarter" idx="12"/>
          </p:nvPr>
        </p:nvSpPr>
        <p:spPr/>
        <p:txBody>
          <a:bodyPr/>
          <a:lstStyle>
            <a:lvl1pPr defTabSz="914400">
              <a:defRPr sz="600" smtClean="0"/>
            </a:lvl1pPr>
          </a:lstStyle>
          <a:p>
            <a:pPr>
              <a:defRPr/>
            </a:pPr>
            <a:fld id="{BBD64506-A720-4F77-BB14-E2358CD98F74}" type="slidenum">
              <a:rPr lang="zh-CN" altLang="en-US"/>
              <a:pPr>
                <a:defRPr/>
              </a:pPr>
              <a:t>‹#›</a:t>
            </a:fld>
            <a:endParaRPr lang="zh-CN" altLang="en-US"/>
          </a:p>
        </p:txBody>
      </p:sp>
    </p:spTree>
    <p:extLst>
      <p:ext uri="{BB962C8B-B14F-4D97-AF65-F5344CB8AC3E}">
        <p14:creationId xmlns:p14="http://schemas.microsoft.com/office/powerpoint/2010/main" val="3746429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marL="0" marR="0" indent="0" algn="ctr" defTabSz="513715" rtl="0" eaLnBrk="1" fontAlgn="auto" latinLnBrk="0" hangingPunct="1">
              <a:lnSpc>
                <a:spcPct val="100000"/>
              </a:lnSpc>
              <a:spcBef>
                <a:spcPct val="0"/>
              </a:spcBef>
              <a:spcAft>
                <a:spcPts val="0"/>
              </a:spcAft>
              <a:buClrTx/>
              <a:buSzTx/>
              <a:buFontTx/>
              <a:buNone/>
              <a:defRPr sz="3600"/>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defRPr sz="2800"/>
            </a:lvl1pPr>
            <a:lvl2pPr>
              <a:defRPr sz="2000"/>
            </a:lvl2pPr>
            <a:lvl3pPr>
              <a:defRPr sz="1800"/>
            </a:lvl3pPr>
            <a:lvl4pPr>
              <a:defRPr sz="1600"/>
            </a:lvl4pPr>
            <a:lvl5pPr>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889EA28C-2B03-44EC-A5A1-E0F94F3899A1}"/>
              </a:ext>
            </a:extLst>
          </p:cNvPr>
          <p:cNvSpPr>
            <a:spLocks noGrp="1"/>
          </p:cNvSpPr>
          <p:nvPr>
            <p:ph type="dt" sz="half" idx="10"/>
          </p:nvPr>
        </p:nvSpPr>
        <p:spPr/>
        <p:txBody>
          <a:bodyPr/>
          <a:lstStyle>
            <a:lvl1pPr defTabSz="914400">
              <a:defRPr/>
            </a:lvl1pPr>
          </a:lstStyle>
          <a:p>
            <a:pPr>
              <a:defRPr/>
            </a:pPr>
            <a:fld id="{190714F0-0A52-4543-921E-29D684DC90F9}" type="datetime3">
              <a:rPr lang="zh-CN" altLang="en-US"/>
              <a:pPr>
                <a:defRPr/>
              </a:pPr>
              <a:t>2024年11月7日星期四</a:t>
            </a:fld>
            <a:endParaRPr lang="zh-CN" altLang="en-US"/>
          </a:p>
        </p:txBody>
      </p:sp>
      <p:sp>
        <p:nvSpPr>
          <p:cNvPr id="5" name="页脚占位符 4">
            <a:extLst>
              <a:ext uri="{FF2B5EF4-FFF2-40B4-BE49-F238E27FC236}">
                <a16:creationId xmlns:a16="http://schemas.microsoft.com/office/drawing/2014/main" id="{6E8C1009-EE1C-4451-B851-10BDB25F7A9D}"/>
              </a:ext>
            </a:extLst>
          </p:cNvPr>
          <p:cNvSpPr>
            <a:spLocks noGrp="1"/>
          </p:cNvSpPr>
          <p:nvPr>
            <p:ph type="ftr" sz="quarter" idx="11"/>
          </p:nvPr>
        </p:nvSpPr>
        <p:spPr/>
        <p:txBody>
          <a:bodyPr/>
          <a:lstStyle>
            <a:lvl1pPr defTabSz="914400">
              <a:defRPr/>
            </a:lvl1pPr>
          </a:lstStyle>
          <a:p>
            <a:pPr>
              <a:defRPr/>
            </a:pPr>
            <a:endParaRPr lang="zh-CN" altLang="en-US"/>
          </a:p>
        </p:txBody>
      </p:sp>
      <p:sp>
        <p:nvSpPr>
          <p:cNvPr id="6" name="灯片编号占位符 5">
            <a:extLst>
              <a:ext uri="{FF2B5EF4-FFF2-40B4-BE49-F238E27FC236}">
                <a16:creationId xmlns:a16="http://schemas.microsoft.com/office/drawing/2014/main" id="{431C439A-DE39-41CC-A007-2783D0C1D080}"/>
              </a:ext>
            </a:extLst>
          </p:cNvPr>
          <p:cNvSpPr>
            <a:spLocks noGrp="1"/>
          </p:cNvSpPr>
          <p:nvPr>
            <p:ph type="sldNum" sz="quarter" idx="12"/>
          </p:nvPr>
        </p:nvSpPr>
        <p:spPr/>
        <p:txBody>
          <a:bodyPr/>
          <a:lstStyle>
            <a:lvl1pPr defTabSz="914400">
              <a:defRPr smtClean="0"/>
            </a:lvl1pPr>
          </a:lstStyle>
          <a:p>
            <a:pPr>
              <a:defRPr/>
            </a:pPr>
            <a:fld id="{F2B8B70F-C0AF-4288-9A78-E3AF0CF2610D}" type="slidenum">
              <a:rPr lang="zh-CN" altLang="en-US"/>
              <a:pPr>
                <a:defRPr/>
              </a:pPr>
              <a:t>‹#›</a:t>
            </a:fld>
            <a:endParaRPr lang="zh-CN" altLang="en-US"/>
          </a:p>
        </p:txBody>
      </p:sp>
    </p:spTree>
    <p:extLst>
      <p:ext uri="{BB962C8B-B14F-4D97-AF65-F5344CB8AC3E}">
        <p14:creationId xmlns:p14="http://schemas.microsoft.com/office/powerpoint/2010/main" val="1383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AFB8D77-F557-44E2-AF66-400251FA7100}"/>
              </a:ext>
            </a:extLst>
          </p:cNvPr>
          <p:cNvSpPr txBox="1">
            <a:spLocks noChangeArrowheads="1"/>
          </p:cNvSpPr>
          <p:nvPr userDrawn="1"/>
        </p:nvSpPr>
        <p:spPr bwMode="auto">
          <a:xfrm>
            <a:off x="0" y="549275"/>
            <a:ext cx="9144000" cy="765175"/>
          </a:xfrm>
          <a:prstGeom prst="rect">
            <a:avLst/>
          </a:prstGeom>
          <a:solidFill>
            <a:schemeClr val="bg1"/>
          </a:solid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a:p>
        </p:txBody>
      </p:sp>
      <p:sp>
        <p:nvSpPr>
          <p:cNvPr id="5" name="文本框 4">
            <a:extLst>
              <a:ext uri="{FF2B5EF4-FFF2-40B4-BE49-F238E27FC236}">
                <a16:creationId xmlns:a16="http://schemas.microsoft.com/office/drawing/2014/main" id="{87D39AC3-A9D3-4C8F-A909-778BEB73A75D}"/>
              </a:ext>
            </a:extLst>
          </p:cNvPr>
          <p:cNvSpPr txBox="1">
            <a:spLocks noChangeArrowheads="1"/>
          </p:cNvSpPr>
          <p:nvPr userDrawn="1"/>
        </p:nvSpPr>
        <p:spPr bwMode="auto">
          <a:xfrm>
            <a:off x="0" y="5768975"/>
            <a:ext cx="9144000" cy="765175"/>
          </a:xfrm>
          <a:prstGeom prst="rect">
            <a:avLst/>
          </a:prstGeom>
          <a:solidFill>
            <a:schemeClr val="bg1"/>
          </a:solid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a:p>
        </p:txBody>
      </p:sp>
      <p:cxnSp>
        <p:nvCxnSpPr>
          <p:cNvPr id="6" name="直接连接符 5">
            <a:extLst>
              <a:ext uri="{FF2B5EF4-FFF2-40B4-BE49-F238E27FC236}">
                <a16:creationId xmlns:a16="http://schemas.microsoft.com/office/drawing/2014/main" id="{23BCCB5E-52A0-44D9-9A29-B48BB2EA53BD}"/>
              </a:ext>
            </a:extLst>
          </p:cNvPr>
          <p:cNvCxnSpPr/>
          <p:nvPr userDrawn="1"/>
        </p:nvCxnSpPr>
        <p:spPr>
          <a:xfrm>
            <a:off x="0" y="3294063"/>
            <a:ext cx="9144000" cy="0"/>
          </a:xfrm>
          <a:prstGeom prst="line">
            <a:avLst/>
          </a:prstGeom>
          <a:ln w="63500" cmpd="thickThin">
            <a:tailEnd type="none"/>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791580" y="3963097"/>
            <a:ext cx="7772400" cy="1362076"/>
          </a:xfrm>
        </p:spPr>
        <p:txBody>
          <a:bodyPr anchor="t"/>
          <a:lstStyle>
            <a:lvl1pPr algn="l">
              <a:defRPr sz="2250" b="1" cap="all"/>
            </a:lvl1pPr>
          </a:lstStyle>
          <a:p>
            <a:r>
              <a:rPr lang="zh-CN" altLang="en-US"/>
              <a:t>单击此处编辑母版标题样式</a:t>
            </a:r>
          </a:p>
        </p:txBody>
      </p:sp>
      <p:sp>
        <p:nvSpPr>
          <p:cNvPr id="3" name="文本占位符 2"/>
          <p:cNvSpPr>
            <a:spLocks noGrp="1"/>
          </p:cNvSpPr>
          <p:nvPr>
            <p:ph type="body" idx="1"/>
          </p:nvPr>
        </p:nvSpPr>
        <p:spPr>
          <a:xfrm>
            <a:off x="721519" y="1553781"/>
            <a:ext cx="7772400" cy="1500187"/>
          </a:xfrm>
        </p:spPr>
        <p:txBody>
          <a:bodyPr anchor="b"/>
          <a:lstStyle>
            <a:lvl1pPr marL="0" indent="0">
              <a:buNone/>
              <a:defRPr sz="1125">
                <a:solidFill>
                  <a:schemeClr val="tx1">
                    <a:tint val="75000"/>
                  </a:schemeClr>
                </a:solidFill>
              </a:defRPr>
            </a:lvl1pPr>
            <a:lvl2pPr marL="257175" indent="0">
              <a:buNone/>
              <a:defRPr sz="1015">
                <a:solidFill>
                  <a:schemeClr val="tx1">
                    <a:tint val="75000"/>
                  </a:schemeClr>
                </a:solidFill>
              </a:defRPr>
            </a:lvl2pPr>
            <a:lvl3pPr marL="514350" indent="0">
              <a:buNone/>
              <a:defRPr sz="900">
                <a:solidFill>
                  <a:schemeClr val="tx1">
                    <a:tint val="75000"/>
                  </a:schemeClr>
                </a:solidFill>
              </a:defRPr>
            </a:lvl3pPr>
            <a:lvl4pPr marL="771525" indent="0">
              <a:buNone/>
              <a:defRPr sz="790">
                <a:solidFill>
                  <a:schemeClr val="tx1">
                    <a:tint val="75000"/>
                  </a:schemeClr>
                </a:solidFill>
              </a:defRPr>
            </a:lvl4pPr>
            <a:lvl5pPr marL="1028700" indent="0">
              <a:buNone/>
              <a:defRPr sz="790">
                <a:solidFill>
                  <a:schemeClr val="tx1">
                    <a:tint val="75000"/>
                  </a:schemeClr>
                </a:solidFill>
              </a:defRPr>
            </a:lvl5pPr>
            <a:lvl6pPr marL="1285875" indent="0">
              <a:buNone/>
              <a:defRPr sz="790">
                <a:solidFill>
                  <a:schemeClr val="tx1">
                    <a:tint val="75000"/>
                  </a:schemeClr>
                </a:solidFill>
              </a:defRPr>
            </a:lvl6pPr>
            <a:lvl7pPr marL="1543050" indent="0">
              <a:buNone/>
              <a:defRPr sz="790">
                <a:solidFill>
                  <a:schemeClr val="tx1">
                    <a:tint val="75000"/>
                  </a:schemeClr>
                </a:solidFill>
              </a:defRPr>
            </a:lvl7pPr>
            <a:lvl8pPr marL="1800225" indent="0">
              <a:buNone/>
              <a:defRPr sz="790">
                <a:solidFill>
                  <a:schemeClr val="tx1">
                    <a:tint val="75000"/>
                  </a:schemeClr>
                </a:solidFill>
              </a:defRPr>
            </a:lvl8pPr>
            <a:lvl9pPr marL="2057400" indent="0">
              <a:buNone/>
              <a:defRPr sz="790">
                <a:solidFill>
                  <a:schemeClr val="tx1">
                    <a:tint val="75000"/>
                  </a:schemeClr>
                </a:solidFill>
              </a:defRPr>
            </a:lvl9pPr>
          </a:lstStyle>
          <a:p>
            <a:pPr lvl="0"/>
            <a:r>
              <a:rPr lang="zh-CN" altLang="en-US"/>
              <a:t>单击此处编辑母版文本样式</a:t>
            </a:r>
          </a:p>
        </p:txBody>
      </p:sp>
      <p:sp>
        <p:nvSpPr>
          <p:cNvPr id="7" name="日期占位符 3">
            <a:extLst>
              <a:ext uri="{FF2B5EF4-FFF2-40B4-BE49-F238E27FC236}">
                <a16:creationId xmlns:a16="http://schemas.microsoft.com/office/drawing/2014/main" id="{B222140A-53D5-4AEA-A851-215B07C8BF96}"/>
              </a:ext>
            </a:extLst>
          </p:cNvPr>
          <p:cNvSpPr>
            <a:spLocks noGrp="1"/>
          </p:cNvSpPr>
          <p:nvPr>
            <p:ph type="dt" sz="half" idx="10"/>
          </p:nvPr>
        </p:nvSpPr>
        <p:spPr/>
        <p:txBody>
          <a:bodyPr/>
          <a:lstStyle>
            <a:lvl1pPr defTabSz="914400">
              <a:defRPr/>
            </a:lvl1pPr>
          </a:lstStyle>
          <a:p>
            <a:pPr>
              <a:defRPr/>
            </a:pPr>
            <a:fld id="{B3A1E49F-3F5C-4EB8-B440-B70F45292FCD}" type="datetime3">
              <a:rPr lang="zh-CN" altLang="en-US"/>
              <a:pPr>
                <a:defRPr/>
              </a:pPr>
              <a:t>2024年11月7日星期四</a:t>
            </a:fld>
            <a:endParaRPr lang="zh-CN" altLang="en-US" dirty="0"/>
          </a:p>
        </p:txBody>
      </p:sp>
      <p:sp>
        <p:nvSpPr>
          <p:cNvPr id="8" name="页脚占位符 4">
            <a:extLst>
              <a:ext uri="{FF2B5EF4-FFF2-40B4-BE49-F238E27FC236}">
                <a16:creationId xmlns:a16="http://schemas.microsoft.com/office/drawing/2014/main" id="{6BBBF34C-B3BA-497F-A823-C0996FD443D5}"/>
              </a:ext>
            </a:extLst>
          </p:cNvPr>
          <p:cNvSpPr>
            <a:spLocks noGrp="1"/>
          </p:cNvSpPr>
          <p:nvPr>
            <p:ph type="ftr" sz="quarter" idx="11"/>
          </p:nvPr>
        </p:nvSpPr>
        <p:spPr/>
        <p:txBody>
          <a:bodyPr/>
          <a:lstStyle>
            <a:lvl1pPr defTabSz="914400">
              <a:defRPr/>
            </a:lvl1pPr>
          </a:lstStyle>
          <a:p>
            <a:pPr>
              <a:defRPr/>
            </a:pPr>
            <a:endParaRPr lang="zh-CN" altLang="en-US"/>
          </a:p>
        </p:txBody>
      </p:sp>
      <p:sp>
        <p:nvSpPr>
          <p:cNvPr id="9" name="灯片编号占位符 5">
            <a:extLst>
              <a:ext uri="{FF2B5EF4-FFF2-40B4-BE49-F238E27FC236}">
                <a16:creationId xmlns:a16="http://schemas.microsoft.com/office/drawing/2014/main" id="{9C951869-CCF7-4012-B19F-989FAC63EAF0}"/>
              </a:ext>
            </a:extLst>
          </p:cNvPr>
          <p:cNvSpPr>
            <a:spLocks noGrp="1"/>
          </p:cNvSpPr>
          <p:nvPr>
            <p:ph type="sldNum" sz="quarter" idx="12"/>
          </p:nvPr>
        </p:nvSpPr>
        <p:spPr/>
        <p:txBody>
          <a:bodyPr/>
          <a:lstStyle>
            <a:lvl1pPr defTabSz="914400">
              <a:defRPr smtClean="0"/>
            </a:lvl1pPr>
          </a:lstStyle>
          <a:p>
            <a:pPr>
              <a:defRPr/>
            </a:pPr>
            <a:fld id="{08D58DA5-E232-42F2-88E3-F4284D350D37}" type="slidenum">
              <a:rPr lang="zh-CN" altLang="en-US"/>
              <a:pPr>
                <a:defRPr/>
              </a:pPr>
              <a:t>‹#›</a:t>
            </a:fld>
            <a:endParaRPr lang="zh-CN" altLang="en-US"/>
          </a:p>
        </p:txBody>
      </p:sp>
    </p:spTree>
    <p:extLst>
      <p:ext uri="{BB962C8B-B14F-4D97-AF65-F5344CB8AC3E}">
        <p14:creationId xmlns:p14="http://schemas.microsoft.com/office/powerpoint/2010/main" val="3587544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dirty="0"/>
              <a:t>单击此处编辑母版标题样式</a:t>
            </a:r>
          </a:p>
        </p:txBody>
      </p:sp>
      <p:sp>
        <p:nvSpPr>
          <p:cNvPr id="3" name="内容占位符 2"/>
          <p:cNvSpPr>
            <a:spLocks noGrp="1"/>
          </p:cNvSpPr>
          <p:nvPr>
            <p:ph sz="half" idx="1"/>
          </p:nvPr>
        </p:nvSpPr>
        <p:spPr>
          <a:xfrm>
            <a:off x="457201" y="973667"/>
            <a:ext cx="4038600" cy="5152503"/>
          </a:xfrm>
        </p:spPr>
        <p:txBody>
          <a:bodyPr>
            <a:normAutofit/>
          </a:bodyPr>
          <a:lstStyle>
            <a:lvl1pPr>
              <a:defRPr sz="2000"/>
            </a:lvl1pPr>
            <a:lvl2pPr>
              <a:defRPr sz="1800"/>
            </a:lvl2pPr>
            <a:lvl3pPr>
              <a:defRPr sz="1600"/>
            </a:lvl3pPr>
            <a:lvl4pPr>
              <a:defRPr sz="1200"/>
            </a:lvl4pPr>
            <a:lvl5pPr>
              <a:defRPr sz="1200"/>
            </a:lvl5pPr>
            <a:lvl6pPr>
              <a:defRPr sz="1015"/>
            </a:lvl6pPr>
            <a:lvl7pPr>
              <a:defRPr sz="1015"/>
            </a:lvl7pPr>
            <a:lvl8pPr>
              <a:defRPr sz="1015"/>
            </a:lvl8pPr>
            <a:lvl9pPr>
              <a:defRPr sz="1015"/>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1" y="973667"/>
            <a:ext cx="4038600" cy="5152503"/>
          </a:xfrm>
        </p:spPr>
        <p:txBody>
          <a:bodyPr>
            <a:normAutofit/>
          </a:bodyPr>
          <a:lstStyle>
            <a:lvl1pPr>
              <a:defRPr sz="2000"/>
            </a:lvl1pPr>
            <a:lvl2pPr>
              <a:defRPr sz="1800"/>
            </a:lvl2pPr>
            <a:lvl3pPr>
              <a:defRPr sz="1600"/>
            </a:lvl3pPr>
            <a:lvl4pPr>
              <a:defRPr sz="1200"/>
            </a:lvl4pPr>
            <a:lvl5pPr>
              <a:defRPr sz="1200"/>
            </a:lvl5pPr>
            <a:lvl6pPr>
              <a:defRPr sz="1015"/>
            </a:lvl6pPr>
            <a:lvl7pPr>
              <a:defRPr sz="1015"/>
            </a:lvl7pPr>
            <a:lvl8pPr>
              <a:defRPr sz="1015"/>
            </a:lvl8pPr>
            <a:lvl9pPr>
              <a:defRPr sz="1015"/>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a:extLst>
              <a:ext uri="{FF2B5EF4-FFF2-40B4-BE49-F238E27FC236}">
                <a16:creationId xmlns:a16="http://schemas.microsoft.com/office/drawing/2014/main" id="{D802E7AE-C1E8-4C47-9179-DDFAC68263B1}"/>
              </a:ext>
            </a:extLst>
          </p:cNvPr>
          <p:cNvSpPr>
            <a:spLocks noGrp="1"/>
          </p:cNvSpPr>
          <p:nvPr>
            <p:ph type="dt" sz="half" idx="10"/>
          </p:nvPr>
        </p:nvSpPr>
        <p:spPr/>
        <p:txBody>
          <a:bodyPr/>
          <a:lstStyle>
            <a:lvl1pPr defTabSz="914400">
              <a:defRPr/>
            </a:lvl1pPr>
          </a:lstStyle>
          <a:p>
            <a:pPr>
              <a:defRPr/>
            </a:pPr>
            <a:fld id="{20627A07-DE92-4294-8CED-C8D0C812451B}" type="datetime3">
              <a:rPr lang="zh-CN" altLang="en-US"/>
              <a:pPr>
                <a:defRPr/>
              </a:pPr>
              <a:t>2024年11月7日星期四</a:t>
            </a:fld>
            <a:endParaRPr lang="zh-CN" altLang="en-US"/>
          </a:p>
        </p:txBody>
      </p:sp>
      <p:sp>
        <p:nvSpPr>
          <p:cNvPr id="6" name="页脚占位符 5">
            <a:extLst>
              <a:ext uri="{FF2B5EF4-FFF2-40B4-BE49-F238E27FC236}">
                <a16:creationId xmlns:a16="http://schemas.microsoft.com/office/drawing/2014/main" id="{2FD07632-9899-4FAD-B326-82D52BE36604}"/>
              </a:ext>
            </a:extLst>
          </p:cNvPr>
          <p:cNvSpPr>
            <a:spLocks noGrp="1"/>
          </p:cNvSpPr>
          <p:nvPr>
            <p:ph type="ftr" sz="quarter" idx="11"/>
          </p:nvPr>
        </p:nvSpPr>
        <p:spPr/>
        <p:txBody>
          <a:bodyPr/>
          <a:lstStyle>
            <a:lvl1pPr defTabSz="914400">
              <a:defRPr/>
            </a:lvl1pPr>
          </a:lstStyle>
          <a:p>
            <a:pPr>
              <a:defRPr/>
            </a:pPr>
            <a:endParaRPr lang="zh-CN" altLang="en-US"/>
          </a:p>
        </p:txBody>
      </p:sp>
      <p:sp>
        <p:nvSpPr>
          <p:cNvPr id="7" name="灯片编号占位符 6">
            <a:extLst>
              <a:ext uri="{FF2B5EF4-FFF2-40B4-BE49-F238E27FC236}">
                <a16:creationId xmlns:a16="http://schemas.microsoft.com/office/drawing/2014/main" id="{98F49870-1F38-4C81-BA09-B9F343680306}"/>
              </a:ext>
            </a:extLst>
          </p:cNvPr>
          <p:cNvSpPr>
            <a:spLocks noGrp="1"/>
          </p:cNvSpPr>
          <p:nvPr>
            <p:ph type="sldNum" sz="quarter" idx="12"/>
          </p:nvPr>
        </p:nvSpPr>
        <p:spPr/>
        <p:txBody>
          <a:bodyPr/>
          <a:lstStyle>
            <a:lvl1pPr defTabSz="914400">
              <a:defRPr smtClean="0"/>
            </a:lvl1pPr>
          </a:lstStyle>
          <a:p>
            <a:pPr>
              <a:defRPr/>
            </a:pPr>
            <a:fld id="{AE760AA2-1141-4C1B-A925-C1EBF4CEDFD2}" type="slidenum">
              <a:rPr lang="zh-CN" altLang="en-US"/>
              <a:pPr>
                <a:defRPr/>
              </a:pPr>
              <a:t>‹#›</a:t>
            </a:fld>
            <a:endParaRPr lang="zh-CN" altLang="en-US"/>
          </a:p>
        </p:txBody>
      </p:sp>
    </p:spTree>
    <p:extLst>
      <p:ext uri="{BB962C8B-B14F-4D97-AF65-F5344CB8AC3E}">
        <p14:creationId xmlns:p14="http://schemas.microsoft.com/office/powerpoint/2010/main" val="352558762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dirty="0"/>
              <a:t>单击此处编辑母版标题样式</a:t>
            </a:r>
          </a:p>
        </p:txBody>
      </p:sp>
      <p:sp>
        <p:nvSpPr>
          <p:cNvPr id="3" name="日期占位符 2">
            <a:extLst>
              <a:ext uri="{FF2B5EF4-FFF2-40B4-BE49-F238E27FC236}">
                <a16:creationId xmlns:a16="http://schemas.microsoft.com/office/drawing/2014/main" id="{9076733B-6547-44A7-B608-CEB9D17A1286}"/>
              </a:ext>
            </a:extLst>
          </p:cNvPr>
          <p:cNvSpPr>
            <a:spLocks noGrp="1"/>
          </p:cNvSpPr>
          <p:nvPr>
            <p:ph type="dt" sz="half" idx="10"/>
          </p:nvPr>
        </p:nvSpPr>
        <p:spPr/>
        <p:txBody>
          <a:bodyPr/>
          <a:lstStyle>
            <a:lvl1pPr defTabSz="914400">
              <a:defRPr/>
            </a:lvl1pPr>
          </a:lstStyle>
          <a:p>
            <a:pPr>
              <a:defRPr/>
            </a:pPr>
            <a:fld id="{CE42BBF5-BC2F-4E43-BF7B-41B4CC4E56E3}" type="datetime3">
              <a:rPr lang="zh-CN" altLang="en-US"/>
              <a:pPr>
                <a:defRPr/>
              </a:pPr>
              <a:t>2024年11月7日星期四</a:t>
            </a:fld>
            <a:endParaRPr lang="zh-CN" altLang="en-US"/>
          </a:p>
        </p:txBody>
      </p:sp>
      <p:sp>
        <p:nvSpPr>
          <p:cNvPr id="4" name="页脚占位符 3">
            <a:extLst>
              <a:ext uri="{FF2B5EF4-FFF2-40B4-BE49-F238E27FC236}">
                <a16:creationId xmlns:a16="http://schemas.microsoft.com/office/drawing/2014/main" id="{5F280BD1-74FF-4CB5-84CE-5C491B701162}"/>
              </a:ext>
            </a:extLst>
          </p:cNvPr>
          <p:cNvSpPr>
            <a:spLocks noGrp="1"/>
          </p:cNvSpPr>
          <p:nvPr>
            <p:ph type="ftr" sz="quarter" idx="11"/>
          </p:nvPr>
        </p:nvSpPr>
        <p:spPr/>
        <p:txBody>
          <a:bodyPr/>
          <a:lstStyle>
            <a:lvl1pPr defTabSz="914400">
              <a:defRPr/>
            </a:lvl1pPr>
          </a:lstStyle>
          <a:p>
            <a:pPr>
              <a:defRPr/>
            </a:pPr>
            <a:endParaRPr lang="zh-CN" altLang="en-US"/>
          </a:p>
        </p:txBody>
      </p:sp>
      <p:sp>
        <p:nvSpPr>
          <p:cNvPr id="5" name="灯片编号占位符 4">
            <a:extLst>
              <a:ext uri="{FF2B5EF4-FFF2-40B4-BE49-F238E27FC236}">
                <a16:creationId xmlns:a16="http://schemas.microsoft.com/office/drawing/2014/main" id="{EF6E1661-3E1E-4B9A-A5C9-C020361CBF75}"/>
              </a:ext>
            </a:extLst>
          </p:cNvPr>
          <p:cNvSpPr>
            <a:spLocks noGrp="1"/>
          </p:cNvSpPr>
          <p:nvPr>
            <p:ph type="sldNum" sz="quarter" idx="12"/>
          </p:nvPr>
        </p:nvSpPr>
        <p:spPr/>
        <p:txBody>
          <a:bodyPr/>
          <a:lstStyle>
            <a:lvl1pPr defTabSz="914400">
              <a:defRPr smtClean="0"/>
            </a:lvl1pPr>
          </a:lstStyle>
          <a:p>
            <a:pPr>
              <a:defRPr/>
            </a:pPr>
            <a:fld id="{1ECD70D9-16E4-4FE9-833B-8BFCF9EDA198}" type="slidenum">
              <a:rPr lang="zh-CN" altLang="en-US"/>
              <a:pPr>
                <a:defRPr/>
              </a:pPr>
              <a:t>‹#›</a:t>
            </a:fld>
            <a:endParaRPr lang="zh-CN" altLang="en-US"/>
          </a:p>
        </p:txBody>
      </p:sp>
    </p:spTree>
    <p:extLst>
      <p:ext uri="{BB962C8B-B14F-4D97-AF65-F5344CB8AC3E}">
        <p14:creationId xmlns:p14="http://schemas.microsoft.com/office/powerpoint/2010/main" val="1533221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745205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049728CE-7CE6-47BA-853F-D959469092E9}"/>
              </a:ext>
            </a:extLst>
          </p:cNvPr>
          <p:cNvSpPr>
            <a:spLocks noGrp="1"/>
          </p:cNvSpPr>
          <p:nvPr>
            <p:ph type="dt" sz="half" idx="10"/>
          </p:nvPr>
        </p:nvSpPr>
        <p:spPr/>
        <p:txBody>
          <a:bodyPr/>
          <a:lstStyle>
            <a:lvl1pPr>
              <a:defRPr/>
            </a:lvl1pPr>
          </a:lstStyle>
          <a:p>
            <a:pPr>
              <a:defRPr/>
            </a:pPr>
            <a:fld id="{77C5E40D-24BA-4E15-BD41-499559628162}" type="datetime3">
              <a:rPr lang="zh-CN" altLang="en-US"/>
              <a:pPr>
                <a:defRPr/>
              </a:pPr>
              <a:t>2024年11月7日星期四</a:t>
            </a:fld>
            <a:endParaRPr lang="zh-CN" altLang="en-US"/>
          </a:p>
        </p:txBody>
      </p:sp>
      <p:sp>
        <p:nvSpPr>
          <p:cNvPr id="4" name="页脚占位符 4">
            <a:extLst>
              <a:ext uri="{FF2B5EF4-FFF2-40B4-BE49-F238E27FC236}">
                <a16:creationId xmlns:a16="http://schemas.microsoft.com/office/drawing/2014/main" id="{6AD406E9-4CF5-4597-B0F6-DB1FD12F5D07}"/>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597181E3-9186-4707-AEF2-62DB7780BC2B}"/>
              </a:ext>
            </a:extLst>
          </p:cNvPr>
          <p:cNvSpPr>
            <a:spLocks noGrp="1"/>
          </p:cNvSpPr>
          <p:nvPr>
            <p:ph type="sldNum" sz="quarter" idx="12"/>
          </p:nvPr>
        </p:nvSpPr>
        <p:spPr/>
        <p:txBody>
          <a:bodyPr/>
          <a:lstStyle>
            <a:lvl1pPr>
              <a:defRPr/>
            </a:lvl1pPr>
          </a:lstStyle>
          <a:p>
            <a:pPr>
              <a:defRPr/>
            </a:pPr>
            <a:fld id="{ED28D15B-FD18-4205-96D0-BFA47647FE9A}" type="slidenum">
              <a:rPr lang="zh-CN" altLang="en-US"/>
              <a:pPr>
                <a:defRPr/>
              </a:pPr>
              <a:t>‹#›</a:t>
            </a:fld>
            <a:endParaRPr lang="zh-CN" altLang="en-US"/>
          </a:p>
        </p:txBody>
      </p:sp>
    </p:spTree>
    <p:extLst>
      <p:ext uri="{BB962C8B-B14F-4D97-AF65-F5344CB8AC3E}">
        <p14:creationId xmlns:p14="http://schemas.microsoft.com/office/powerpoint/2010/main" val="3405301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7" y="273051"/>
            <a:ext cx="3008313" cy="1162050"/>
          </a:xfrm>
        </p:spPr>
        <p:txBody>
          <a:bodyPr anchor="b"/>
          <a:lstStyle>
            <a:lvl1pPr algn="l">
              <a:defRPr sz="1125" b="1"/>
            </a:lvl1pPr>
          </a:lstStyle>
          <a:p>
            <a:r>
              <a:rPr lang="zh-CN" altLang="en-US"/>
              <a:t>单击此处编辑母版标题样式</a:t>
            </a:r>
          </a:p>
        </p:txBody>
      </p:sp>
      <p:sp>
        <p:nvSpPr>
          <p:cNvPr id="3" name="内容占位符 2"/>
          <p:cNvSpPr>
            <a:spLocks noGrp="1"/>
          </p:cNvSpPr>
          <p:nvPr>
            <p:ph idx="1"/>
          </p:nvPr>
        </p:nvSpPr>
        <p:spPr>
          <a:xfrm>
            <a:off x="3575050" y="273063"/>
            <a:ext cx="5111750"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7" y="1435104"/>
            <a:ext cx="3008313" cy="4691063"/>
          </a:xfrm>
        </p:spPr>
        <p:txBody>
          <a:bodyPr/>
          <a:lstStyle>
            <a:lvl1pPr marL="0" indent="0">
              <a:buNone/>
              <a:defRPr sz="790"/>
            </a:lvl1pPr>
            <a:lvl2pPr marL="257175" indent="0">
              <a:buNone/>
              <a:defRPr sz="675"/>
            </a:lvl2pPr>
            <a:lvl3pPr marL="514350" indent="0">
              <a:buNone/>
              <a:defRPr sz="565"/>
            </a:lvl3pPr>
            <a:lvl4pPr marL="771525" indent="0">
              <a:buNone/>
              <a:defRPr sz="505"/>
            </a:lvl4pPr>
            <a:lvl5pPr marL="1028700" indent="0">
              <a:buNone/>
              <a:defRPr sz="505"/>
            </a:lvl5pPr>
            <a:lvl6pPr marL="1285875" indent="0">
              <a:buNone/>
              <a:defRPr sz="505"/>
            </a:lvl6pPr>
            <a:lvl7pPr marL="1543050" indent="0">
              <a:buNone/>
              <a:defRPr sz="505"/>
            </a:lvl7pPr>
            <a:lvl8pPr marL="1800225" indent="0">
              <a:buNone/>
              <a:defRPr sz="505"/>
            </a:lvl8pPr>
            <a:lvl9pPr marL="2057400" indent="0">
              <a:buNone/>
              <a:defRPr sz="505"/>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63C7F3E-A740-476F-9EA6-D3A82668A826}"/>
              </a:ext>
            </a:extLst>
          </p:cNvPr>
          <p:cNvSpPr>
            <a:spLocks noGrp="1"/>
          </p:cNvSpPr>
          <p:nvPr>
            <p:ph type="dt" sz="half" idx="10"/>
          </p:nvPr>
        </p:nvSpPr>
        <p:spPr/>
        <p:txBody>
          <a:bodyPr/>
          <a:lstStyle>
            <a:lvl1pPr defTabSz="914400">
              <a:defRPr/>
            </a:lvl1pPr>
          </a:lstStyle>
          <a:p>
            <a:pPr>
              <a:defRPr/>
            </a:pPr>
            <a:fld id="{DC9F1015-6586-4D57-87A6-BA5FB8061056}" type="datetime3">
              <a:rPr lang="zh-CN" altLang="en-US"/>
              <a:pPr>
                <a:defRPr/>
              </a:pPr>
              <a:t>2024年11月7日星期四</a:t>
            </a:fld>
            <a:endParaRPr lang="zh-CN" altLang="en-US"/>
          </a:p>
        </p:txBody>
      </p:sp>
      <p:sp>
        <p:nvSpPr>
          <p:cNvPr id="6" name="页脚占位符 5">
            <a:extLst>
              <a:ext uri="{FF2B5EF4-FFF2-40B4-BE49-F238E27FC236}">
                <a16:creationId xmlns:a16="http://schemas.microsoft.com/office/drawing/2014/main" id="{F1A016B3-6882-47BC-A79A-2109F9F46C62}"/>
              </a:ext>
            </a:extLst>
          </p:cNvPr>
          <p:cNvSpPr>
            <a:spLocks noGrp="1"/>
          </p:cNvSpPr>
          <p:nvPr>
            <p:ph type="ftr" sz="quarter" idx="11"/>
          </p:nvPr>
        </p:nvSpPr>
        <p:spPr/>
        <p:txBody>
          <a:bodyPr/>
          <a:lstStyle>
            <a:lvl1pPr defTabSz="914400">
              <a:defRPr/>
            </a:lvl1pPr>
          </a:lstStyle>
          <a:p>
            <a:pPr>
              <a:defRPr/>
            </a:pPr>
            <a:endParaRPr lang="zh-CN" altLang="en-US"/>
          </a:p>
        </p:txBody>
      </p:sp>
      <p:sp>
        <p:nvSpPr>
          <p:cNvPr id="7" name="灯片编号占位符 6">
            <a:extLst>
              <a:ext uri="{FF2B5EF4-FFF2-40B4-BE49-F238E27FC236}">
                <a16:creationId xmlns:a16="http://schemas.microsoft.com/office/drawing/2014/main" id="{34F796CB-9ABF-42E1-9B02-1A823DE3FA82}"/>
              </a:ext>
            </a:extLst>
          </p:cNvPr>
          <p:cNvSpPr>
            <a:spLocks noGrp="1"/>
          </p:cNvSpPr>
          <p:nvPr>
            <p:ph type="sldNum" sz="quarter" idx="12"/>
          </p:nvPr>
        </p:nvSpPr>
        <p:spPr/>
        <p:txBody>
          <a:bodyPr/>
          <a:lstStyle>
            <a:lvl1pPr defTabSz="914400">
              <a:defRPr smtClean="0"/>
            </a:lvl1pPr>
          </a:lstStyle>
          <a:p>
            <a:pPr>
              <a:defRPr/>
            </a:pPr>
            <a:fld id="{DAB4FB95-A800-481C-B74F-FBF028691E53}" type="slidenum">
              <a:rPr lang="zh-CN" altLang="en-US"/>
              <a:pPr>
                <a:defRPr/>
              </a:pPr>
              <a:t>‹#›</a:t>
            </a:fld>
            <a:endParaRPr lang="zh-CN" altLang="en-US"/>
          </a:p>
        </p:txBody>
      </p:sp>
    </p:spTree>
    <p:extLst>
      <p:ext uri="{BB962C8B-B14F-4D97-AF65-F5344CB8AC3E}">
        <p14:creationId xmlns:p14="http://schemas.microsoft.com/office/powerpoint/2010/main" val="1136261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2"/>
            <a:ext cx="5486400" cy="566738"/>
          </a:xfrm>
        </p:spPr>
        <p:txBody>
          <a:bodyPr anchor="b"/>
          <a:lstStyle>
            <a:lvl1pPr algn="l">
              <a:defRPr sz="14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24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normAutofit/>
          </a:bodyPr>
          <a:lstStyle>
            <a:lvl1pPr marL="0" indent="0">
              <a:buNone/>
              <a:defRPr sz="900"/>
            </a:lvl1pPr>
            <a:lvl2pPr marL="257175" indent="0">
              <a:buNone/>
              <a:defRPr sz="675"/>
            </a:lvl2pPr>
            <a:lvl3pPr marL="514350" indent="0">
              <a:buNone/>
              <a:defRPr sz="565"/>
            </a:lvl3pPr>
            <a:lvl4pPr marL="771525" indent="0">
              <a:buNone/>
              <a:defRPr sz="505"/>
            </a:lvl4pPr>
            <a:lvl5pPr marL="1028700" indent="0">
              <a:buNone/>
              <a:defRPr sz="505"/>
            </a:lvl5pPr>
            <a:lvl6pPr marL="1285875" indent="0">
              <a:buNone/>
              <a:defRPr sz="505"/>
            </a:lvl6pPr>
            <a:lvl7pPr marL="1543050" indent="0">
              <a:buNone/>
              <a:defRPr sz="505"/>
            </a:lvl7pPr>
            <a:lvl8pPr marL="1800225" indent="0">
              <a:buNone/>
              <a:defRPr sz="505"/>
            </a:lvl8pPr>
            <a:lvl9pPr marL="2057400" indent="0">
              <a:buNone/>
              <a:defRPr sz="505"/>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5640433-328B-4B0A-A9B7-07FA292AC282}"/>
              </a:ext>
            </a:extLst>
          </p:cNvPr>
          <p:cNvSpPr>
            <a:spLocks noGrp="1"/>
          </p:cNvSpPr>
          <p:nvPr>
            <p:ph type="dt" sz="half" idx="10"/>
          </p:nvPr>
        </p:nvSpPr>
        <p:spPr/>
        <p:txBody>
          <a:bodyPr/>
          <a:lstStyle>
            <a:lvl1pPr defTabSz="914400">
              <a:defRPr/>
            </a:lvl1pPr>
          </a:lstStyle>
          <a:p>
            <a:pPr>
              <a:defRPr/>
            </a:pPr>
            <a:fld id="{4E13F777-3DAF-4980-B2BE-5DF4D9261F87}" type="datetime3">
              <a:rPr lang="zh-CN" altLang="en-US"/>
              <a:pPr>
                <a:defRPr/>
              </a:pPr>
              <a:t>2024年11月7日星期四</a:t>
            </a:fld>
            <a:endParaRPr lang="zh-CN" altLang="en-US"/>
          </a:p>
        </p:txBody>
      </p:sp>
      <p:sp>
        <p:nvSpPr>
          <p:cNvPr id="6" name="页脚占位符 5">
            <a:extLst>
              <a:ext uri="{FF2B5EF4-FFF2-40B4-BE49-F238E27FC236}">
                <a16:creationId xmlns:a16="http://schemas.microsoft.com/office/drawing/2014/main" id="{6D8CBEB9-0FE3-40A1-AD0A-72F01AE317CC}"/>
              </a:ext>
            </a:extLst>
          </p:cNvPr>
          <p:cNvSpPr>
            <a:spLocks noGrp="1"/>
          </p:cNvSpPr>
          <p:nvPr>
            <p:ph type="ftr" sz="quarter" idx="11"/>
          </p:nvPr>
        </p:nvSpPr>
        <p:spPr/>
        <p:txBody>
          <a:bodyPr/>
          <a:lstStyle>
            <a:lvl1pPr defTabSz="914400">
              <a:defRPr/>
            </a:lvl1pPr>
          </a:lstStyle>
          <a:p>
            <a:pPr>
              <a:defRPr/>
            </a:pPr>
            <a:endParaRPr lang="zh-CN" altLang="en-US"/>
          </a:p>
        </p:txBody>
      </p:sp>
      <p:sp>
        <p:nvSpPr>
          <p:cNvPr id="7" name="灯片编号占位符 6">
            <a:extLst>
              <a:ext uri="{FF2B5EF4-FFF2-40B4-BE49-F238E27FC236}">
                <a16:creationId xmlns:a16="http://schemas.microsoft.com/office/drawing/2014/main" id="{97AFAF30-AFF2-4B56-A34C-AB78759B053A}"/>
              </a:ext>
            </a:extLst>
          </p:cNvPr>
          <p:cNvSpPr>
            <a:spLocks noGrp="1"/>
          </p:cNvSpPr>
          <p:nvPr>
            <p:ph type="sldNum" sz="quarter" idx="12"/>
          </p:nvPr>
        </p:nvSpPr>
        <p:spPr/>
        <p:txBody>
          <a:bodyPr/>
          <a:lstStyle>
            <a:lvl1pPr defTabSz="914400">
              <a:defRPr smtClean="0"/>
            </a:lvl1pPr>
          </a:lstStyle>
          <a:p>
            <a:pPr>
              <a:defRPr/>
            </a:pPr>
            <a:fld id="{989EE299-5CD5-47D5-86A0-1455F51845A2}" type="slidenum">
              <a:rPr lang="zh-CN" altLang="en-US"/>
              <a:pPr>
                <a:defRPr/>
              </a:pPr>
              <a:t>‹#›</a:t>
            </a:fld>
            <a:endParaRPr lang="zh-CN" altLang="en-US"/>
          </a:p>
        </p:txBody>
      </p:sp>
    </p:spTree>
    <p:extLst>
      <p:ext uri="{BB962C8B-B14F-4D97-AF65-F5344CB8AC3E}">
        <p14:creationId xmlns:p14="http://schemas.microsoft.com/office/powerpoint/2010/main" val="2910197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dirty="0"/>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1ED1C37-E44D-442F-A524-2B0CC91626CA}"/>
              </a:ext>
            </a:extLst>
          </p:cNvPr>
          <p:cNvSpPr>
            <a:spLocks noGrp="1"/>
          </p:cNvSpPr>
          <p:nvPr>
            <p:ph type="dt" sz="half" idx="10"/>
          </p:nvPr>
        </p:nvSpPr>
        <p:spPr/>
        <p:txBody>
          <a:bodyPr/>
          <a:lstStyle>
            <a:lvl1pPr defTabSz="914400">
              <a:defRPr/>
            </a:lvl1pPr>
          </a:lstStyle>
          <a:p>
            <a:pPr>
              <a:defRPr/>
            </a:pPr>
            <a:fld id="{2D9EDD0A-F19E-4B68-845E-06AD1900E8C7}" type="datetime3">
              <a:rPr lang="zh-CN" altLang="en-US"/>
              <a:pPr>
                <a:defRPr/>
              </a:pPr>
              <a:t>2024年11月7日星期四</a:t>
            </a:fld>
            <a:endParaRPr lang="zh-CN" altLang="en-US"/>
          </a:p>
        </p:txBody>
      </p:sp>
      <p:sp>
        <p:nvSpPr>
          <p:cNvPr id="5" name="页脚占位符 4">
            <a:extLst>
              <a:ext uri="{FF2B5EF4-FFF2-40B4-BE49-F238E27FC236}">
                <a16:creationId xmlns:a16="http://schemas.microsoft.com/office/drawing/2014/main" id="{DF180729-F4B8-40E4-B08B-7ACB3226009B}"/>
              </a:ext>
            </a:extLst>
          </p:cNvPr>
          <p:cNvSpPr>
            <a:spLocks noGrp="1"/>
          </p:cNvSpPr>
          <p:nvPr>
            <p:ph type="ftr" sz="quarter" idx="11"/>
          </p:nvPr>
        </p:nvSpPr>
        <p:spPr/>
        <p:txBody>
          <a:bodyPr/>
          <a:lstStyle>
            <a:lvl1pPr defTabSz="914400">
              <a:defRPr/>
            </a:lvl1pPr>
          </a:lstStyle>
          <a:p>
            <a:pPr>
              <a:defRPr/>
            </a:pPr>
            <a:endParaRPr lang="zh-CN" altLang="en-US"/>
          </a:p>
        </p:txBody>
      </p:sp>
      <p:sp>
        <p:nvSpPr>
          <p:cNvPr id="6" name="灯片编号占位符 5">
            <a:extLst>
              <a:ext uri="{FF2B5EF4-FFF2-40B4-BE49-F238E27FC236}">
                <a16:creationId xmlns:a16="http://schemas.microsoft.com/office/drawing/2014/main" id="{746DAB40-5DA0-4B06-93AA-9DD10C8D70E3}"/>
              </a:ext>
            </a:extLst>
          </p:cNvPr>
          <p:cNvSpPr>
            <a:spLocks noGrp="1"/>
          </p:cNvSpPr>
          <p:nvPr>
            <p:ph type="sldNum" sz="quarter" idx="12"/>
          </p:nvPr>
        </p:nvSpPr>
        <p:spPr/>
        <p:txBody>
          <a:bodyPr/>
          <a:lstStyle>
            <a:lvl1pPr defTabSz="914400">
              <a:defRPr smtClean="0"/>
            </a:lvl1pPr>
          </a:lstStyle>
          <a:p>
            <a:pPr>
              <a:defRPr/>
            </a:pPr>
            <a:fld id="{CC901749-B3AA-4CF1-8517-5C9AAF68D0BA}" type="slidenum">
              <a:rPr lang="zh-CN" altLang="en-US"/>
              <a:pPr>
                <a:defRPr/>
              </a:pPr>
              <a:t>‹#›</a:t>
            </a:fld>
            <a:endParaRPr lang="zh-CN" altLang="en-US"/>
          </a:p>
        </p:txBody>
      </p:sp>
    </p:spTree>
    <p:extLst>
      <p:ext uri="{BB962C8B-B14F-4D97-AF65-F5344CB8AC3E}">
        <p14:creationId xmlns:p14="http://schemas.microsoft.com/office/powerpoint/2010/main" val="3593373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53"/>
            <a:ext cx="2057400" cy="5851525"/>
          </a:xfrm>
        </p:spPr>
        <p:txBody>
          <a:bodyPr vert="eaVert"/>
          <a:lstStyle>
            <a:lvl1pPr>
              <a:defRPr sz="3600"/>
            </a:lvl1pPr>
          </a:lstStyle>
          <a:p>
            <a:r>
              <a:rPr lang="zh-CN" altLang="en-US" dirty="0"/>
              <a:t>单击此处编辑母版标题样式</a:t>
            </a:r>
          </a:p>
        </p:txBody>
      </p:sp>
      <p:sp>
        <p:nvSpPr>
          <p:cNvPr id="3" name="竖排文字占位符 2"/>
          <p:cNvSpPr>
            <a:spLocks noGrp="1"/>
          </p:cNvSpPr>
          <p:nvPr>
            <p:ph type="body" orient="vert" idx="1"/>
          </p:nvPr>
        </p:nvSpPr>
        <p:spPr>
          <a:xfrm>
            <a:off x="457202" y="274653"/>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07EAFEE-2AED-4036-B26B-3E98E7F8E0E2}"/>
              </a:ext>
            </a:extLst>
          </p:cNvPr>
          <p:cNvSpPr>
            <a:spLocks noGrp="1"/>
          </p:cNvSpPr>
          <p:nvPr>
            <p:ph type="dt" sz="half" idx="10"/>
          </p:nvPr>
        </p:nvSpPr>
        <p:spPr/>
        <p:txBody>
          <a:bodyPr/>
          <a:lstStyle>
            <a:lvl1pPr defTabSz="914400">
              <a:defRPr/>
            </a:lvl1pPr>
          </a:lstStyle>
          <a:p>
            <a:pPr>
              <a:defRPr/>
            </a:pPr>
            <a:fld id="{D2C9375E-6690-4556-ACFD-6BDFB3EA1D3F}" type="datetime3">
              <a:rPr lang="zh-CN" altLang="en-US"/>
              <a:pPr>
                <a:defRPr/>
              </a:pPr>
              <a:t>2024年11月7日星期四</a:t>
            </a:fld>
            <a:endParaRPr lang="zh-CN" altLang="en-US"/>
          </a:p>
        </p:txBody>
      </p:sp>
      <p:sp>
        <p:nvSpPr>
          <p:cNvPr id="5" name="页脚占位符 4">
            <a:extLst>
              <a:ext uri="{FF2B5EF4-FFF2-40B4-BE49-F238E27FC236}">
                <a16:creationId xmlns:a16="http://schemas.microsoft.com/office/drawing/2014/main" id="{91C2A883-DF10-4966-B647-50E3C652979F}"/>
              </a:ext>
            </a:extLst>
          </p:cNvPr>
          <p:cNvSpPr>
            <a:spLocks noGrp="1"/>
          </p:cNvSpPr>
          <p:nvPr>
            <p:ph type="ftr" sz="quarter" idx="11"/>
          </p:nvPr>
        </p:nvSpPr>
        <p:spPr/>
        <p:txBody>
          <a:bodyPr/>
          <a:lstStyle>
            <a:lvl1pPr defTabSz="914400">
              <a:defRPr/>
            </a:lvl1pPr>
          </a:lstStyle>
          <a:p>
            <a:pPr>
              <a:defRPr/>
            </a:pPr>
            <a:endParaRPr lang="zh-CN" altLang="en-US"/>
          </a:p>
        </p:txBody>
      </p:sp>
      <p:sp>
        <p:nvSpPr>
          <p:cNvPr id="6" name="灯片编号占位符 5">
            <a:extLst>
              <a:ext uri="{FF2B5EF4-FFF2-40B4-BE49-F238E27FC236}">
                <a16:creationId xmlns:a16="http://schemas.microsoft.com/office/drawing/2014/main" id="{E6E39B4D-11DB-4679-AAD6-935072A522CA}"/>
              </a:ext>
            </a:extLst>
          </p:cNvPr>
          <p:cNvSpPr>
            <a:spLocks noGrp="1"/>
          </p:cNvSpPr>
          <p:nvPr>
            <p:ph type="sldNum" sz="quarter" idx="12"/>
          </p:nvPr>
        </p:nvSpPr>
        <p:spPr/>
        <p:txBody>
          <a:bodyPr/>
          <a:lstStyle>
            <a:lvl1pPr defTabSz="914400">
              <a:defRPr smtClean="0"/>
            </a:lvl1pPr>
          </a:lstStyle>
          <a:p>
            <a:pPr>
              <a:defRPr/>
            </a:pPr>
            <a:fld id="{3ABE0CA0-36AA-41A8-B719-90D21FD379D3}" type="slidenum">
              <a:rPr lang="zh-CN" altLang="en-US"/>
              <a:pPr>
                <a:defRPr/>
              </a:pPr>
              <a:t>‹#›</a:t>
            </a:fld>
            <a:endParaRPr lang="zh-CN" altLang="en-US"/>
          </a:p>
        </p:txBody>
      </p:sp>
    </p:spTree>
    <p:extLst>
      <p:ext uri="{BB962C8B-B14F-4D97-AF65-F5344CB8AC3E}">
        <p14:creationId xmlns:p14="http://schemas.microsoft.com/office/powerpoint/2010/main" val="12384920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924800" cy="1143000"/>
          </a:xfrm>
        </p:spPr>
        <p:txBody>
          <a:bodyPr/>
          <a:lstStyle/>
          <a:p>
            <a:r>
              <a:rPr lang="zh-CN" altLang="en-US"/>
              <a:t>单击此处编辑母版标题样式</a:t>
            </a:r>
          </a:p>
        </p:txBody>
      </p:sp>
      <p:sp>
        <p:nvSpPr>
          <p:cNvPr id="3" name="表格占位符 2"/>
          <p:cNvSpPr>
            <a:spLocks noGrp="1"/>
          </p:cNvSpPr>
          <p:nvPr>
            <p:ph type="tbl" idx="1"/>
          </p:nvPr>
        </p:nvSpPr>
        <p:spPr>
          <a:xfrm>
            <a:off x="744538" y="1943100"/>
            <a:ext cx="8013700" cy="4132263"/>
          </a:xfrm>
        </p:spPr>
        <p:txBody>
          <a:bodyPr rtlCol="0">
            <a:normAutofit/>
          </a:bodyPr>
          <a:lstStyle/>
          <a:p>
            <a:pPr lvl="0"/>
            <a:endParaRPr lang="zh-CN" altLang="en-US" noProof="0"/>
          </a:p>
        </p:txBody>
      </p:sp>
      <p:sp>
        <p:nvSpPr>
          <p:cNvPr id="4" name="Rectangle 10">
            <a:extLst>
              <a:ext uri="{FF2B5EF4-FFF2-40B4-BE49-F238E27FC236}">
                <a16:creationId xmlns:a16="http://schemas.microsoft.com/office/drawing/2014/main" id="{4AFE91BA-F00D-4AD4-B0BA-3DD924CF58E0}"/>
              </a:ext>
            </a:extLst>
          </p:cNvPr>
          <p:cNvSpPr>
            <a:spLocks noGrp="1" noChangeArrowheads="1"/>
          </p:cNvSpPr>
          <p:nvPr>
            <p:ph type="dt" sz="half" idx="10"/>
          </p:nvPr>
        </p:nvSpPr>
        <p:spPr/>
        <p:txBody>
          <a:bodyPr/>
          <a:lstStyle>
            <a:lvl1pPr defTabSz="914400">
              <a:defRPr/>
            </a:lvl1pPr>
          </a:lstStyle>
          <a:p>
            <a:pPr>
              <a:defRPr/>
            </a:pPr>
            <a:fld id="{1E2A2476-27F5-4020-B096-A51AF3BE902A}" type="datetime3">
              <a:rPr lang="zh-CN" altLang="en-US"/>
              <a:pPr>
                <a:defRPr/>
              </a:pPr>
              <a:t>2024年11月7日星期四</a:t>
            </a:fld>
            <a:endParaRPr lang="en-US" altLang="zh-CN"/>
          </a:p>
        </p:txBody>
      </p:sp>
      <p:sp>
        <p:nvSpPr>
          <p:cNvPr id="5" name="Rectangle 11">
            <a:extLst>
              <a:ext uri="{FF2B5EF4-FFF2-40B4-BE49-F238E27FC236}">
                <a16:creationId xmlns:a16="http://schemas.microsoft.com/office/drawing/2014/main" id="{A144ED91-250A-4121-A971-42F29F3CCA1A}"/>
              </a:ext>
            </a:extLst>
          </p:cNvPr>
          <p:cNvSpPr>
            <a:spLocks noGrp="1" noChangeArrowheads="1"/>
          </p:cNvSpPr>
          <p:nvPr>
            <p:ph type="ftr" sz="quarter" idx="11"/>
          </p:nvPr>
        </p:nvSpPr>
        <p:spPr/>
        <p:txBody>
          <a:bodyPr/>
          <a:lstStyle>
            <a:lvl1pPr defTabSz="914400">
              <a:defRPr/>
            </a:lvl1pPr>
          </a:lstStyle>
          <a:p>
            <a:pPr>
              <a:defRPr/>
            </a:pPr>
            <a:endParaRPr lang="en-US" altLang="zh-CN"/>
          </a:p>
        </p:txBody>
      </p:sp>
      <p:sp>
        <p:nvSpPr>
          <p:cNvPr id="6" name="Rectangle 12">
            <a:extLst>
              <a:ext uri="{FF2B5EF4-FFF2-40B4-BE49-F238E27FC236}">
                <a16:creationId xmlns:a16="http://schemas.microsoft.com/office/drawing/2014/main" id="{66F7EBAB-EC2E-4AD3-9972-DB20B0E0718C}"/>
              </a:ext>
            </a:extLst>
          </p:cNvPr>
          <p:cNvSpPr>
            <a:spLocks noGrp="1" noChangeArrowheads="1"/>
          </p:cNvSpPr>
          <p:nvPr>
            <p:ph type="sldNum" sz="quarter" idx="12"/>
          </p:nvPr>
        </p:nvSpPr>
        <p:spPr/>
        <p:txBody>
          <a:bodyPr/>
          <a:lstStyle>
            <a:lvl1pPr defTabSz="914400">
              <a:defRPr smtClean="0"/>
            </a:lvl1pPr>
          </a:lstStyle>
          <a:p>
            <a:pPr>
              <a:defRPr/>
            </a:pPr>
            <a:fld id="{7233D89C-9E50-400E-9713-24DCDF395A0D}" type="slidenum">
              <a:rPr lang="en-US" altLang="zh-CN"/>
              <a:pPr>
                <a:defRPr/>
              </a:pPr>
              <a:t>‹#›</a:t>
            </a:fld>
            <a:endParaRPr lang="en-US" altLang="zh-CN"/>
          </a:p>
        </p:txBody>
      </p:sp>
    </p:spTree>
    <p:extLst>
      <p:ext uri="{BB962C8B-B14F-4D97-AF65-F5344CB8AC3E}">
        <p14:creationId xmlns:p14="http://schemas.microsoft.com/office/powerpoint/2010/main" val="5019369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Rectangle 47">
            <a:extLst>
              <a:ext uri="{FF2B5EF4-FFF2-40B4-BE49-F238E27FC236}">
                <a16:creationId xmlns:a16="http://schemas.microsoft.com/office/drawing/2014/main" id="{6A6CEE1C-B1E6-49A4-AC1B-9746BD606974}"/>
              </a:ext>
            </a:extLst>
          </p:cNvPr>
          <p:cNvSpPr>
            <a:spLocks noGrp="1" noChangeArrowheads="1"/>
          </p:cNvSpPr>
          <p:nvPr>
            <p:ph type="dt" sz="half" idx="10"/>
          </p:nvPr>
        </p:nvSpPr>
        <p:spPr/>
        <p:txBody>
          <a:bodyPr/>
          <a:lstStyle>
            <a:lvl1pPr>
              <a:defRPr/>
            </a:lvl1pPr>
          </a:lstStyle>
          <a:p>
            <a:pPr>
              <a:defRPr/>
            </a:pPr>
            <a:endParaRPr lang="en-US" altLang="zh-CN"/>
          </a:p>
        </p:txBody>
      </p:sp>
      <p:sp>
        <p:nvSpPr>
          <p:cNvPr id="3" name="Rectangle 48">
            <a:extLst>
              <a:ext uri="{FF2B5EF4-FFF2-40B4-BE49-F238E27FC236}">
                <a16:creationId xmlns:a16="http://schemas.microsoft.com/office/drawing/2014/main" id="{04AD1090-538A-42E2-8FC2-8DCBA1DFD92F}"/>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 name="Rectangle 49">
            <a:extLst>
              <a:ext uri="{FF2B5EF4-FFF2-40B4-BE49-F238E27FC236}">
                <a16:creationId xmlns:a16="http://schemas.microsoft.com/office/drawing/2014/main" id="{E0EE0D81-301B-4484-91BA-B0B58E6F66B5}"/>
              </a:ext>
            </a:extLst>
          </p:cNvPr>
          <p:cNvSpPr>
            <a:spLocks noGrp="1" noChangeArrowheads="1"/>
          </p:cNvSpPr>
          <p:nvPr>
            <p:ph type="sldNum" sz="quarter" idx="12"/>
          </p:nvPr>
        </p:nvSpPr>
        <p:spPr/>
        <p:txBody>
          <a:bodyPr/>
          <a:lstStyle>
            <a:lvl1pPr>
              <a:defRPr smtClean="0"/>
            </a:lvl1pPr>
          </a:lstStyle>
          <a:p>
            <a:pPr>
              <a:defRPr/>
            </a:pPr>
            <a:fld id="{2E8A795D-5C57-46AB-9338-ADE1E384A567}" type="slidenum">
              <a:rPr lang="en-US" altLang="zh-CN"/>
              <a:pPr>
                <a:defRPr/>
              </a:pPr>
              <a:t>‹#›</a:t>
            </a:fld>
            <a:endParaRPr lang="en-US" altLang="zh-CN"/>
          </a:p>
        </p:txBody>
      </p:sp>
    </p:spTree>
    <p:extLst>
      <p:ext uri="{BB962C8B-B14F-4D97-AF65-F5344CB8AC3E}">
        <p14:creationId xmlns:p14="http://schemas.microsoft.com/office/powerpoint/2010/main" val="5353241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158B3CC-6795-4F44-AB2B-EF39075C6D5E}"/>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2024/11/7</a:t>
            </a:fld>
            <a:endParaRPr lang="zh-CN" altLang="en-US"/>
          </a:p>
        </p:txBody>
      </p:sp>
      <p:sp>
        <p:nvSpPr>
          <p:cNvPr id="5" name="页脚占位符 4">
            <a:extLst>
              <a:ext uri="{FF2B5EF4-FFF2-40B4-BE49-F238E27FC236}">
                <a16:creationId xmlns:a16="http://schemas.microsoft.com/office/drawing/2014/main" id="{E6B3E752-8151-48B2-8C0B-00E64A6707D8}"/>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5B973A4-BE0F-4B75-8849-400ABD700CCE}"/>
              </a:ext>
            </a:extLst>
          </p:cNvPr>
          <p:cNvSpPr>
            <a:spLocks noGrp="1"/>
          </p:cNvSpPr>
          <p:nvPr>
            <p:ph type="sldNum" sz="quarter" idx="12"/>
          </p:nvPr>
        </p:nvSpPr>
        <p:spPr/>
        <p:txBody>
          <a:bodyPr/>
          <a:lstStyle>
            <a:lvl1pPr>
              <a:defRPr/>
            </a:lvl1pPr>
          </a:lstStyle>
          <a:p>
            <a:pPr>
              <a:defRPr/>
            </a:pPr>
            <a:fld id="{F57BE183-248B-4D9E-8942-24EA97F5B21D}" type="slidenum">
              <a:rPr lang="zh-CN" altLang="en-US"/>
              <a:pPr>
                <a:defRPr/>
              </a:pPr>
              <a:t>‹#›</a:t>
            </a:fld>
            <a:endParaRPr lang="zh-CN" altLang="en-US"/>
          </a:p>
        </p:txBody>
      </p:sp>
    </p:spTree>
    <p:extLst>
      <p:ext uri="{BB962C8B-B14F-4D97-AF65-F5344CB8AC3E}">
        <p14:creationId xmlns:p14="http://schemas.microsoft.com/office/powerpoint/2010/main" val="22300916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42AC035-2DB8-4CB7-BB2A-B0851A312F2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2024/11/7</a:t>
            </a:fld>
            <a:endParaRPr lang="zh-CN" altLang="en-US"/>
          </a:p>
        </p:txBody>
      </p:sp>
      <p:sp>
        <p:nvSpPr>
          <p:cNvPr id="5" name="页脚占位符 4">
            <a:extLst>
              <a:ext uri="{FF2B5EF4-FFF2-40B4-BE49-F238E27FC236}">
                <a16:creationId xmlns:a16="http://schemas.microsoft.com/office/drawing/2014/main" id="{09AD3E43-E6DF-4C11-8258-B6A8B17612F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9AE69F1-9B60-42D2-9C03-FA85C8681E81}"/>
              </a:ext>
            </a:extLst>
          </p:cNvPr>
          <p:cNvSpPr>
            <a:spLocks noGrp="1"/>
          </p:cNvSpPr>
          <p:nvPr>
            <p:ph type="sldNum" sz="quarter" idx="12"/>
          </p:nvPr>
        </p:nvSpPr>
        <p:spPr/>
        <p:txBody>
          <a:bodyPr/>
          <a:lstStyle>
            <a:lvl1pPr>
              <a:defRPr/>
            </a:lvl1pPr>
          </a:lstStyle>
          <a:p>
            <a:pPr>
              <a:defRPr/>
            </a:pPr>
            <a:fld id="{50ECFE8E-F2CA-46AB-BA39-C7BD0A8C1E25}" type="slidenum">
              <a:rPr lang="zh-CN" altLang="en-US"/>
              <a:pPr>
                <a:defRPr/>
              </a:pPr>
              <a:t>‹#›</a:t>
            </a:fld>
            <a:endParaRPr lang="zh-CN" altLang="en-US"/>
          </a:p>
        </p:txBody>
      </p:sp>
    </p:spTree>
    <p:extLst>
      <p:ext uri="{BB962C8B-B14F-4D97-AF65-F5344CB8AC3E}">
        <p14:creationId xmlns:p14="http://schemas.microsoft.com/office/powerpoint/2010/main" val="35661340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377DCC0-2397-46C3-81CC-4C83BDE520B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2024/11/7</a:t>
            </a:fld>
            <a:endParaRPr lang="zh-CN" altLang="en-US"/>
          </a:p>
        </p:txBody>
      </p:sp>
      <p:sp>
        <p:nvSpPr>
          <p:cNvPr id="5" name="页脚占位符 4">
            <a:extLst>
              <a:ext uri="{FF2B5EF4-FFF2-40B4-BE49-F238E27FC236}">
                <a16:creationId xmlns:a16="http://schemas.microsoft.com/office/drawing/2014/main" id="{85115C91-F4BE-46A0-8D29-9165C0C40C7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628ADCED-787C-41B1-9819-99349E5413AD}"/>
              </a:ext>
            </a:extLst>
          </p:cNvPr>
          <p:cNvSpPr>
            <a:spLocks noGrp="1"/>
          </p:cNvSpPr>
          <p:nvPr>
            <p:ph type="sldNum" sz="quarter" idx="12"/>
          </p:nvPr>
        </p:nvSpPr>
        <p:spPr/>
        <p:txBody>
          <a:bodyPr/>
          <a:lstStyle>
            <a:lvl1pPr>
              <a:defRPr/>
            </a:lvl1pPr>
          </a:lstStyle>
          <a:p>
            <a:pPr>
              <a:defRPr/>
            </a:pPr>
            <a:fld id="{AE36448D-9006-43B5-A3D0-A5356A070ECE}" type="slidenum">
              <a:rPr lang="zh-CN" altLang="en-US"/>
              <a:pPr>
                <a:defRPr/>
              </a:pPr>
              <a:t>‹#›</a:t>
            </a:fld>
            <a:endParaRPr lang="zh-CN" altLang="en-US"/>
          </a:p>
        </p:txBody>
      </p:sp>
    </p:spTree>
    <p:extLst>
      <p:ext uri="{BB962C8B-B14F-4D97-AF65-F5344CB8AC3E}">
        <p14:creationId xmlns:p14="http://schemas.microsoft.com/office/powerpoint/2010/main" val="16007498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3">
            <a:extLst>
              <a:ext uri="{FF2B5EF4-FFF2-40B4-BE49-F238E27FC236}">
                <a16:creationId xmlns:a16="http://schemas.microsoft.com/office/drawing/2014/main" id="{CA7C9172-E754-46B3-9862-027CD6CBAF52}"/>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2024/11/7</a:t>
            </a:fld>
            <a:endParaRPr lang="zh-CN" altLang="en-US"/>
          </a:p>
        </p:txBody>
      </p:sp>
      <p:sp>
        <p:nvSpPr>
          <p:cNvPr id="6" name="页脚占位符 4">
            <a:extLst>
              <a:ext uri="{FF2B5EF4-FFF2-40B4-BE49-F238E27FC236}">
                <a16:creationId xmlns:a16="http://schemas.microsoft.com/office/drawing/2014/main" id="{6CF5896A-7A40-4D87-A83C-172336D2204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74E7C822-A520-4673-86FC-4FF954DFE46C}"/>
              </a:ext>
            </a:extLst>
          </p:cNvPr>
          <p:cNvSpPr>
            <a:spLocks noGrp="1"/>
          </p:cNvSpPr>
          <p:nvPr>
            <p:ph type="sldNum" sz="quarter" idx="12"/>
          </p:nvPr>
        </p:nvSpPr>
        <p:spPr/>
        <p:txBody>
          <a:bodyPr/>
          <a:lstStyle>
            <a:lvl1pPr>
              <a:defRPr/>
            </a:lvl1pPr>
          </a:lstStyle>
          <a:p>
            <a:pPr>
              <a:defRPr/>
            </a:pPr>
            <a:fld id="{53BA27EC-D108-4FB0-82DA-68AC0A38782F}" type="slidenum">
              <a:rPr lang="zh-CN" altLang="en-US"/>
              <a:pPr>
                <a:defRPr/>
              </a:pPr>
              <a:t>‹#›</a:t>
            </a:fld>
            <a:endParaRPr lang="zh-CN" altLang="en-US"/>
          </a:p>
        </p:txBody>
      </p:sp>
    </p:spTree>
    <p:extLst>
      <p:ext uri="{BB962C8B-B14F-4D97-AF65-F5344CB8AC3E}">
        <p14:creationId xmlns:p14="http://schemas.microsoft.com/office/powerpoint/2010/main" val="18342313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a:extLst>
              <a:ext uri="{FF2B5EF4-FFF2-40B4-BE49-F238E27FC236}">
                <a16:creationId xmlns:a16="http://schemas.microsoft.com/office/drawing/2014/main" id="{76DAB10C-6B6B-41DC-87B8-E0EC684B48E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2024/11/7</a:t>
            </a:fld>
            <a:endParaRPr lang="zh-CN" altLang="en-US"/>
          </a:p>
        </p:txBody>
      </p:sp>
      <p:sp>
        <p:nvSpPr>
          <p:cNvPr id="8" name="页脚占位符 4">
            <a:extLst>
              <a:ext uri="{FF2B5EF4-FFF2-40B4-BE49-F238E27FC236}">
                <a16:creationId xmlns:a16="http://schemas.microsoft.com/office/drawing/2014/main" id="{4ACDF288-E0D7-449D-BE80-342AAD48DEC5}"/>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209A8A68-13BC-4A82-96AD-3F8A86B59BF2}"/>
              </a:ext>
            </a:extLst>
          </p:cNvPr>
          <p:cNvSpPr>
            <a:spLocks noGrp="1"/>
          </p:cNvSpPr>
          <p:nvPr>
            <p:ph type="sldNum" sz="quarter" idx="12"/>
          </p:nvPr>
        </p:nvSpPr>
        <p:spPr/>
        <p:txBody>
          <a:bodyPr/>
          <a:lstStyle>
            <a:lvl1pPr>
              <a:defRPr/>
            </a:lvl1pPr>
          </a:lstStyle>
          <a:p>
            <a:pPr>
              <a:defRPr/>
            </a:pPr>
            <a:fld id="{10856861-FF12-48EA-A19C-676DD159F9D2}" type="slidenum">
              <a:rPr lang="zh-CN" altLang="en-US"/>
              <a:pPr>
                <a:defRPr/>
              </a:pPr>
              <a:t>‹#›</a:t>
            </a:fld>
            <a:endParaRPr lang="zh-CN" altLang="en-US"/>
          </a:p>
        </p:txBody>
      </p:sp>
    </p:spTree>
    <p:extLst>
      <p:ext uri="{BB962C8B-B14F-4D97-AF65-F5344CB8AC3E}">
        <p14:creationId xmlns:p14="http://schemas.microsoft.com/office/powerpoint/2010/main" val="376550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00389697-5FB3-496E-AA61-6C01BA5B1B60}"/>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2024/11/7</a:t>
            </a:fld>
            <a:endParaRPr lang="zh-CN" altLang="en-US"/>
          </a:p>
        </p:txBody>
      </p:sp>
      <p:sp>
        <p:nvSpPr>
          <p:cNvPr id="4" name="页脚占位符 4">
            <a:extLst>
              <a:ext uri="{FF2B5EF4-FFF2-40B4-BE49-F238E27FC236}">
                <a16:creationId xmlns:a16="http://schemas.microsoft.com/office/drawing/2014/main" id="{0605EFCB-3CD5-4190-BB78-0F90DE36844D}"/>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D0437A9D-921D-4043-B26E-BAF99C6D6FD3}"/>
              </a:ext>
            </a:extLst>
          </p:cNvPr>
          <p:cNvSpPr>
            <a:spLocks noGrp="1"/>
          </p:cNvSpPr>
          <p:nvPr>
            <p:ph type="sldNum" sz="quarter" idx="12"/>
          </p:nvPr>
        </p:nvSpPr>
        <p:spPr/>
        <p:txBody>
          <a:bodyPr/>
          <a:lstStyle>
            <a:lvl1pPr>
              <a:defRPr/>
            </a:lvl1pPr>
          </a:lstStyle>
          <a:p>
            <a:pPr>
              <a:defRPr/>
            </a:pPr>
            <a:fld id="{844F80E0-400C-499B-A427-98DB4A7BA1C7}" type="slidenum">
              <a:rPr lang="zh-CN" altLang="en-US"/>
              <a:pPr>
                <a:defRPr/>
              </a:pPr>
              <a:t>‹#›</a:t>
            </a:fld>
            <a:endParaRPr lang="zh-CN" altLang="en-US"/>
          </a:p>
        </p:txBody>
      </p:sp>
    </p:spTree>
    <p:extLst>
      <p:ext uri="{BB962C8B-B14F-4D97-AF65-F5344CB8AC3E}">
        <p14:creationId xmlns:p14="http://schemas.microsoft.com/office/powerpoint/2010/main" val="8339473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85D7DCE3-2289-433C-BD8E-8FE5967736F3}"/>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2024/11/7</a:t>
            </a:fld>
            <a:endParaRPr lang="zh-CN" altLang="en-US"/>
          </a:p>
        </p:txBody>
      </p:sp>
      <p:sp>
        <p:nvSpPr>
          <p:cNvPr id="3" name="页脚占位符 4">
            <a:extLst>
              <a:ext uri="{FF2B5EF4-FFF2-40B4-BE49-F238E27FC236}">
                <a16:creationId xmlns:a16="http://schemas.microsoft.com/office/drawing/2014/main" id="{199B300C-79F4-46F2-992F-200EDC7A71F7}"/>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C3F90469-0D83-4E9F-912E-7196E7EA13D1}"/>
              </a:ext>
            </a:extLst>
          </p:cNvPr>
          <p:cNvSpPr>
            <a:spLocks noGrp="1"/>
          </p:cNvSpPr>
          <p:nvPr>
            <p:ph type="sldNum" sz="quarter" idx="12"/>
          </p:nvPr>
        </p:nvSpPr>
        <p:spPr/>
        <p:txBody>
          <a:bodyPr/>
          <a:lstStyle>
            <a:lvl1pPr>
              <a:defRPr/>
            </a:lvl1pPr>
          </a:lstStyle>
          <a:p>
            <a:pPr>
              <a:defRPr/>
            </a:pPr>
            <a:fld id="{98A9AD10-3D4B-4D13-B801-58E3E5240C74}" type="slidenum">
              <a:rPr lang="zh-CN" altLang="en-US"/>
              <a:pPr>
                <a:defRPr/>
              </a:pPr>
              <a:t>‹#›</a:t>
            </a:fld>
            <a:endParaRPr lang="zh-CN" altLang="en-US"/>
          </a:p>
        </p:txBody>
      </p:sp>
    </p:spTree>
    <p:extLst>
      <p:ext uri="{BB962C8B-B14F-4D97-AF65-F5344CB8AC3E}">
        <p14:creationId xmlns:p14="http://schemas.microsoft.com/office/powerpoint/2010/main" val="41213573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45D111E9-B7E2-49A0-AE3F-E675B023EC17}"/>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2024/11/7</a:t>
            </a:fld>
            <a:endParaRPr lang="zh-CN" altLang="en-US"/>
          </a:p>
        </p:txBody>
      </p:sp>
      <p:sp>
        <p:nvSpPr>
          <p:cNvPr id="6" name="页脚占位符 4">
            <a:extLst>
              <a:ext uri="{FF2B5EF4-FFF2-40B4-BE49-F238E27FC236}">
                <a16:creationId xmlns:a16="http://schemas.microsoft.com/office/drawing/2014/main" id="{4CA9B249-3677-4487-8A03-60E048D38C0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133748C-044C-4671-A451-818B6526AAD2}"/>
              </a:ext>
            </a:extLst>
          </p:cNvPr>
          <p:cNvSpPr>
            <a:spLocks noGrp="1"/>
          </p:cNvSpPr>
          <p:nvPr>
            <p:ph type="sldNum" sz="quarter" idx="12"/>
          </p:nvPr>
        </p:nvSpPr>
        <p:spPr/>
        <p:txBody>
          <a:bodyPr/>
          <a:lstStyle>
            <a:lvl1pPr>
              <a:defRPr/>
            </a:lvl1pPr>
          </a:lstStyle>
          <a:p>
            <a:pPr>
              <a:defRPr/>
            </a:pPr>
            <a:fld id="{B6C3BF1C-49AD-465B-B394-F465E1932659}" type="slidenum">
              <a:rPr lang="zh-CN" altLang="en-US"/>
              <a:pPr>
                <a:defRPr/>
              </a:pPr>
              <a:t>‹#›</a:t>
            </a:fld>
            <a:endParaRPr lang="zh-CN" altLang="en-US"/>
          </a:p>
        </p:txBody>
      </p:sp>
    </p:spTree>
    <p:extLst>
      <p:ext uri="{BB962C8B-B14F-4D97-AF65-F5344CB8AC3E}">
        <p14:creationId xmlns:p14="http://schemas.microsoft.com/office/powerpoint/2010/main" val="41757819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5FF20DEE-CF98-4A87-94F5-F9D2693EC7B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2024/11/7</a:t>
            </a:fld>
            <a:endParaRPr lang="zh-CN" altLang="en-US"/>
          </a:p>
        </p:txBody>
      </p:sp>
      <p:sp>
        <p:nvSpPr>
          <p:cNvPr id="6" name="页脚占位符 4">
            <a:extLst>
              <a:ext uri="{FF2B5EF4-FFF2-40B4-BE49-F238E27FC236}">
                <a16:creationId xmlns:a16="http://schemas.microsoft.com/office/drawing/2014/main" id="{87899822-5070-4369-AA3C-BEE42237BF2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EA37F12-F519-4F34-9C62-1D0BA1C4BC09}"/>
              </a:ext>
            </a:extLst>
          </p:cNvPr>
          <p:cNvSpPr>
            <a:spLocks noGrp="1"/>
          </p:cNvSpPr>
          <p:nvPr>
            <p:ph type="sldNum" sz="quarter" idx="12"/>
          </p:nvPr>
        </p:nvSpPr>
        <p:spPr/>
        <p:txBody>
          <a:bodyPr/>
          <a:lstStyle>
            <a:lvl1pPr>
              <a:defRPr/>
            </a:lvl1pPr>
          </a:lstStyle>
          <a:p>
            <a:pPr>
              <a:defRPr/>
            </a:pPr>
            <a:fld id="{4ACF7598-3DFE-45FD-A427-1CB8AA817E3D}" type="slidenum">
              <a:rPr lang="zh-CN" altLang="en-US"/>
              <a:pPr>
                <a:defRPr/>
              </a:pPr>
              <a:t>‹#›</a:t>
            </a:fld>
            <a:endParaRPr lang="zh-CN" altLang="en-US"/>
          </a:p>
        </p:txBody>
      </p:sp>
    </p:spTree>
    <p:extLst>
      <p:ext uri="{BB962C8B-B14F-4D97-AF65-F5344CB8AC3E}">
        <p14:creationId xmlns:p14="http://schemas.microsoft.com/office/powerpoint/2010/main" val="14274079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B8E2355-638B-4FF3-94E1-962889102FE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2024/11/7</a:t>
            </a:fld>
            <a:endParaRPr lang="zh-CN" altLang="en-US"/>
          </a:p>
        </p:txBody>
      </p:sp>
      <p:sp>
        <p:nvSpPr>
          <p:cNvPr id="5" name="页脚占位符 4">
            <a:extLst>
              <a:ext uri="{FF2B5EF4-FFF2-40B4-BE49-F238E27FC236}">
                <a16:creationId xmlns:a16="http://schemas.microsoft.com/office/drawing/2014/main" id="{B850D44C-D1E2-400D-B7FF-DBAF130A43F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F3921039-F1A5-474F-8774-C13F5626C470}"/>
              </a:ext>
            </a:extLst>
          </p:cNvPr>
          <p:cNvSpPr>
            <a:spLocks noGrp="1"/>
          </p:cNvSpPr>
          <p:nvPr>
            <p:ph type="sldNum" sz="quarter" idx="12"/>
          </p:nvPr>
        </p:nvSpPr>
        <p:spPr/>
        <p:txBody>
          <a:bodyPr/>
          <a:lstStyle>
            <a:lvl1pPr>
              <a:defRPr/>
            </a:lvl1pPr>
          </a:lstStyle>
          <a:p>
            <a:pPr>
              <a:defRPr/>
            </a:pPr>
            <a:fld id="{D7B7429E-E955-441D-991C-C9295A2D7225}" type="slidenum">
              <a:rPr lang="zh-CN" altLang="en-US"/>
              <a:pPr>
                <a:defRPr/>
              </a:pPr>
              <a:t>‹#›</a:t>
            </a:fld>
            <a:endParaRPr lang="zh-CN" altLang="en-US"/>
          </a:p>
        </p:txBody>
      </p:sp>
    </p:spTree>
    <p:extLst>
      <p:ext uri="{BB962C8B-B14F-4D97-AF65-F5344CB8AC3E}">
        <p14:creationId xmlns:p14="http://schemas.microsoft.com/office/powerpoint/2010/main" val="24010923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A2D3E4C-4F3F-435F-9CAA-3562E5166A99}"/>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2024/11/7</a:t>
            </a:fld>
            <a:endParaRPr lang="zh-CN" altLang="en-US"/>
          </a:p>
        </p:txBody>
      </p:sp>
      <p:sp>
        <p:nvSpPr>
          <p:cNvPr id="5" name="页脚占位符 4">
            <a:extLst>
              <a:ext uri="{FF2B5EF4-FFF2-40B4-BE49-F238E27FC236}">
                <a16:creationId xmlns:a16="http://schemas.microsoft.com/office/drawing/2014/main" id="{B0A12F98-D6B9-4892-8E78-EECC2397476F}"/>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2FF1D329-21A2-4267-9563-79DC215A231C}"/>
              </a:ext>
            </a:extLst>
          </p:cNvPr>
          <p:cNvSpPr>
            <a:spLocks noGrp="1"/>
          </p:cNvSpPr>
          <p:nvPr>
            <p:ph type="sldNum" sz="quarter" idx="12"/>
          </p:nvPr>
        </p:nvSpPr>
        <p:spPr/>
        <p:txBody>
          <a:bodyPr/>
          <a:lstStyle>
            <a:lvl1pPr>
              <a:defRPr/>
            </a:lvl1pPr>
          </a:lstStyle>
          <a:p>
            <a:pPr>
              <a:defRPr/>
            </a:pPr>
            <a:fld id="{3FD70E83-0C45-46DD-B498-CD49EC40E2F2}" type="slidenum">
              <a:rPr lang="zh-CN" altLang="en-US"/>
              <a:pPr>
                <a:defRPr/>
              </a:pPr>
              <a:t>‹#›</a:t>
            </a:fld>
            <a:endParaRPr lang="zh-CN" altLang="en-US"/>
          </a:p>
        </p:txBody>
      </p:sp>
    </p:spTree>
    <p:extLst>
      <p:ext uri="{BB962C8B-B14F-4D97-AF65-F5344CB8AC3E}">
        <p14:creationId xmlns:p14="http://schemas.microsoft.com/office/powerpoint/2010/main" val="7776209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BDE278F-03BE-4D8C-9D85-5D41242C6FD5}"/>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2024/11/7</a:t>
            </a:fld>
            <a:endParaRPr lang="zh-CN" altLang="en-US"/>
          </a:p>
        </p:txBody>
      </p:sp>
      <p:sp>
        <p:nvSpPr>
          <p:cNvPr id="5" name="页脚占位符 4">
            <a:extLst>
              <a:ext uri="{FF2B5EF4-FFF2-40B4-BE49-F238E27FC236}">
                <a16:creationId xmlns:a16="http://schemas.microsoft.com/office/drawing/2014/main" id="{36487FF3-C6F4-458D-9601-147C00ABA722}"/>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009E32A5-6DE6-42AB-85DC-44220855887B}"/>
              </a:ext>
            </a:extLst>
          </p:cNvPr>
          <p:cNvSpPr>
            <a:spLocks noGrp="1"/>
          </p:cNvSpPr>
          <p:nvPr>
            <p:ph type="sldNum" sz="quarter" idx="12"/>
          </p:nvPr>
        </p:nvSpPr>
        <p:spPr/>
        <p:txBody>
          <a:bodyPr/>
          <a:lstStyle>
            <a:lvl1pPr>
              <a:defRPr/>
            </a:lvl1pPr>
          </a:lstStyle>
          <a:p>
            <a:pPr>
              <a:defRPr/>
            </a:pPr>
            <a:fld id="{26A132D5-C2AE-468B-B1E4-0B2C01F61FE9}" type="slidenum">
              <a:rPr lang="zh-CN" altLang="en-US"/>
              <a:pPr>
                <a:defRPr/>
              </a:pPr>
              <a:t>‹#›</a:t>
            </a:fld>
            <a:endParaRPr lang="zh-CN" altLang="en-US"/>
          </a:p>
        </p:txBody>
      </p:sp>
    </p:spTree>
    <p:extLst>
      <p:ext uri="{BB962C8B-B14F-4D97-AF65-F5344CB8AC3E}">
        <p14:creationId xmlns:p14="http://schemas.microsoft.com/office/powerpoint/2010/main" val="17425305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366D8E8-7188-465F-98B5-7DC202401696}"/>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2024/11/7</a:t>
            </a:fld>
            <a:endParaRPr lang="zh-CN" altLang="en-US"/>
          </a:p>
        </p:txBody>
      </p:sp>
      <p:sp>
        <p:nvSpPr>
          <p:cNvPr id="5" name="页脚占位符 4">
            <a:extLst>
              <a:ext uri="{FF2B5EF4-FFF2-40B4-BE49-F238E27FC236}">
                <a16:creationId xmlns:a16="http://schemas.microsoft.com/office/drawing/2014/main" id="{08110A72-8C69-47F1-A644-59242129545E}"/>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1CAF5CA-ECAF-4904-ABEE-6BE6863FBA7B}"/>
              </a:ext>
            </a:extLst>
          </p:cNvPr>
          <p:cNvSpPr>
            <a:spLocks noGrp="1"/>
          </p:cNvSpPr>
          <p:nvPr>
            <p:ph type="sldNum" sz="quarter" idx="12"/>
          </p:nvPr>
        </p:nvSpPr>
        <p:spPr/>
        <p:txBody>
          <a:bodyPr/>
          <a:lstStyle>
            <a:lvl1pPr>
              <a:defRPr/>
            </a:lvl1pPr>
          </a:lstStyle>
          <a:p>
            <a:pPr>
              <a:defRPr/>
            </a:pPr>
            <a:fld id="{9CDD9E8D-F988-4B62-8448-EB7931818387}" type="slidenum">
              <a:rPr lang="zh-CN" altLang="en-US"/>
              <a:pPr>
                <a:defRPr/>
              </a:pPr>
              <a:t>‹#›</a:t>
            </a:fld>
            <a:endParaRPr lang="zh-CN" altLang="en-US"/>
          </a:p>
        </p:txBody>
      </p:sp>
    </p:spTree>
    <p:extLst>
      <p:ext uri="{BB962C8B-B14F-4D97-AF65-F5344CB8AC3E}">
        <p14:creationId xmlns:p14="http://schemas.microsoft.com/office/powerpoint/2010/main" val="39739979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2B15ADC-3184-4730-893D-EEA9C209D3C4}"/>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2024/11/7</a:t>
            </a:fld>
            <a:endParaRPr lang="zh-CN" altLang="en-US"/>
          </a:p>
        </p:txBody>
      </p:sp>
      <p:sp>
        <p:nvSpPr>
          <p:cNvPr id="5" name="页脚占位符 4">
            <a:extLst>
              <a:ext uri="{FF2B5EF4-FFF2-40B4-BE49-F238E27FC236}">
                <a16:creationId xmlns:a16="http://schemas.microsoft.com/office/drawing/2014/main" id="{0BAFE647-3285-45AF-882A-2840F7F9198C}"/>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9B9878C9-36E3-4003-8229-50D5DD9AF594}"/>
              </a:ext>
            </a:extLst>
          </p:cNvPr>
          <p:cNvSpPr>
            <a:spLocks noGrp="1"/>
          </p:cNvSpPr>
          <p:nvPr>
            <p:ph type="sldNum" sz="quarter" idx="12"/>
          </p:nvPr>
        </p:nvSpPr>
        <p:spPr/>
        <p:txBody>
          <a:bodyPr/>
          <a:lstStyle>
            <a:lvl1pPr>
              <a:defRPr/>
            </a:lvl1pPr>
          </a:lstStyle>
          <a:p>
            <a:pPr>
              <a:defRPr/>
            </a:pPr>
            <a:fld id="{66115898-3A35-473F-9976-A28C4DA5048E}" type="slidenum">
              <a:rPr lang="zh-CN" altLang="en-US"/>
              <a:pPr>
                <a:defRPr/>
              </a:pPr>
              <a:t>‹#›</a:t>
            </a:fld>
            <a:endParaRPr lang="zh-CN" altLang="en-US"/>
          </a:p>
        </p:txBody>
      </p:sp>
    </p:spTree>
    <p:extLst>
      <p:ext uri="{BB962C8B-B14F-4D97-AF65-F5344CB8AC3E}">
        <p14:creationId xmlns:p14="http://schemas.microsoft.com/office/powerpoint/2010/main" val="27655722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3">
            <a:extLst>
              <a:ext uri="{FF2B5EF4-FFF2-40B4-BE49-F238E27FC236}">
                <a16:creationId xmlns:a16="http://schemas.microsoft.com/office/drawing/2014/main" id="{FB1ACDF3-216C-498F-B8F8-6E4FAB993345}"/>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2024/11/7</a:t>
            </a:fld>
            <a:endParaRPr lang="zh-CN" altLang="en-US"/>
          </a:p>
        </p:txBody>
      </p:sp>
      <p:sp>
        <p:nvSpPr>
          <p:cNvPr id="6" name="页脚占位符 4">
            <a:extLst>
              <a:ext uri="{FF2B5EF4-FFF2-40B4-BE49-F238E27FC236}">
                <a16:creationId xmlns:a16="http://schemas.microsoft.com/office/drawing/2014/main" id="{D06C142E-A280-4DB3-9C09-A10AC29B746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9F3B19F1-5045-470A-8BFA-3E0C1EB498A4}"/>
              </a:ext>
            </a:extLst>
          </p:cNvPr>
          <p:cNvSpPr>
            <a:spLocks noGrp="1"/>
          </p:cNvSpPr>
          <p:nvPr>
            <p:ph type="sldNum" sz="quarter" idx="12"/>
          </p:nvPr>
        </p:nvSpPr>
        <p:spPr/>
        <p:txBody>
          <a:bodyPr/>
          <a:lstStyle>
            <a:lvl1pPr>
              <a:defRPr/>
            </a:lvl1pPr>
          </a:lstStyle>
          <a:p>
            <a:pPr>
              <a:defRPr/>
            </a:pPr>
            <a:fld id="{304CE68C-4CB1-4902-8189-16DC8FCA6ED2}" type="slidenum">
              <a:rPr lang="zh-CN" altLang="en-US"/>
              <a:pPr>
                <a:defRPr/>
              </a:pPr>
              <a:t>‹#›</a:t>
            </a:fld>
            <a:endParaRPr lang="zh-CN" altLang="en-US"/>
          </a:p>
        </p:txBody>
      </p:sp>
    </p:spTree>
    <p:extLst>
      <p:ext uri="{BB962C8B-B14F-4D97-AF65-F5344CB8AC3E}">
        <p14:creationId xmlns:p14="http://schemas.microsoft.com/office/powerpoint/2010/main" val="36070310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a:extLst>
              <a:ext uri="{FF2B5EF4-FFF2-40B4-BE49-F238E27FC236}">
                <a16:creationId xmlns:a16="http://schemas.microsoft.com/office/drawing/2014/main" id="{82BA98D4-892C-4B76-8F5D-DF0ED95A8258}"/>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2024/11/7</a:t>
            </a:fld>
            <a:endParaRPr lang="zh-CN" altLang="en-US"/>
          </a:p>
        </p:txBody>
      </p:sp>
      <p:sp>
        <p:nvSpPr>
          <p:cNvPr id="8" name="页脚占位符 4">
            <a:extLst>
              <a:ext uri="{FF2B5EF4-FFF2-40B4-BE49-F238E27FC236}">
                <a16:creationId xmlns:a16="http://schemas.microsoft.com/office/drawing/2014/main" id="{AEEE9D08-55C3-471D-9BD2-F7F52885531F}"/>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63C928D7-CAA7-40D1-815B-E31C62DCE36F}"/>
              </a:ext>
            </a:extLst>
          </p:cNvPr>
          <p:cNvSpPr>
            <a:spLocks noGrp="1"/>
          </p:cNvSpPr>
          <p:nvPr>
            <p:ph type="sldNum" sz="quarter" idx="12"/>
          </p:nvPr>
        </p:nvSpPr>
        <p:spPr/>
        <p:txBody>
          <a:bodyPr/>
          <a:lstStyle>
            <a:lvl1pPr>
              <a:defRPr/>
            </a:lvl1pPr>
          </a:lstStyle>
          <a:p>
            <a:pPr>
              <a:defRPr/>
            </a:pPr>
            <a:fld id="{9DBCCEF3-0AFE-46E2-AB7C-5F4E51D265FB}" type="slidenum">
              <a:rPr lang="zh-CN" altLang="en-US"/>
              <a:pPr>
                <a:defRPr/>
              </a:pPr>
              <a:t>‹#›</a:t>
            </a:fld>
            <a:endParaRPr lang="zh-CN" altLang="en-US"/>
          </a:p>
        </p:txBody>
      </p:sp>
    </p:spTree>
    <p:extLst>
      <p:ext uri="{BB962C8B-B14F-4D97-AF65-F5344CB8AC3E}">
        <p14:creationId xmlns:p14="http://schemas.microsoft.com/office/powerpoint/2010/main" val="39221059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E6E57879-B456-4042-AB68-88F24B2E8FC6}"/>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2024/11/7</a:t>
            </a:fld>
            <a:endParaRPr lang="zh-CN" altLang="en-US"/>
          </a:p>
        </p:txBody>
      </p:sp>
      <p:sp>
        <p:nvSpPr>
          <p:cNvPr id="4" name="页脚占位符 4">
            <a:extLst>
              <a:ext uri="{FF2B5EF4-FFF2-40B4-BE49-F238E27FC236}">
                <a16:creationId xmlns:a16="http://schemas.microsoft.com/office/drawing/2014/main" id="{6330E91E-5B48-4F52-BDC6-71262DE83C33}"/>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00C72200-3A16-4807-B56B-32B464BB1B88}"/>
              </a:ext>
            </a:extLst>
          </p:cNvPr>
          <p:cNvSpPr>
            <a:spLocks noGrp="1"/>
          </p:cNvSpPr>
          <p:nvPr>
            <p:ph type="sldNum" sz="quarter" idx="12"/>
          </p:nvPr>
        </p:nvSpPr>
        <p:spPr/>
        <p:txBody>
          <a:bodyPr/>
          <a:lstStyle>
            <a:lvl1pPr>
              <a:defRPr/>
            </a:lvl1pPr>
          </a:lstStyle>
          <a:p>
            <a:pPr>
              <a:defRPr/>
            </a:pPr>
            <a:fld id="{0BE448F3-4B52-483B-8C5D-0B7E860C5A86}" type="slidenum">
              <a:rPr lang="zh-CN" altLang="en-US"/>
              <a:pPr>
                <a:defRPr/>
              </a:pPr>
              <a:t>‹#›</a:t>
            </a:fld>
            <a:endParaRPr lang="zh-CN" altLang="en-US"/>
          </a:p>
        </p:txBody>
      </p:sp>
    </p:spTree>
    <p:extLst>
      <p:ext uri="{BB962C8B-B14F-4D97-AF65-F5344CB8AC3E}">
        <p14:creationId xmlns:p14="http://schemas.microsoft.com/office/powerpoint/2010/main" val="18911595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B0B1BBC0-ED9E-4564-A4D3-5BD425A8EF45}"/>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2024/11/7</a:t>
            </a:fld>
            <a:endParaRPr lang="zh-CN" altLang="en-US"/>
          </a:p>
        </p:txBody>
      </p:sp>
      <p:sp>
        <p:nvSpPr>
          <p:cNvPr id="3" name="页脚占位符 4">
            <a:extLst>
              <a:ext uri="{FF2B5EF4-FFF2-40B4-BE49-F238E27FC236}">
                <a16:creationId xmlns:a16="http://schemas.microsoft.com/office/drawing/2014/main" id="{C71891AB-3972-45E4-A97B-EF961F3D4EFC}"/>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E8C58131-0FF9-4816-93B7-EF588F64F29F}"/>
              </a:ext>
            </a:extLst>
          </p:cNvPr>
          <p:cNvSpPr>
            <a:spLocks noGrp="1"/>
          </p:cNvSpPr>
          <p:nvPr>
            <p:ph type="sldNum" sz="quarter" idx="12"/>
          </p:nvPr>
        </p:nvSpPr>
        <p:spPr/>
        <p:txBody>
          <a:bodyPr/>
          <a:lstStyle>
            <a:lvl1pPr>
              <a:defRPr/>
            </a:lvl1pPr>
          </a:lstStyle>
          <a:p>
            <a:pPr>
              <a:defRPr/>
            </a:pPr>
            <a:fld id="{D78E5027-E3A6-444E-86B4-D5FF5718D52D}" type="slidenum">
              <a:rPr lang="zh-CN" altLang="en-US"/>
              <a:pPr>
                <a:defRPr/>
              </a:pPr>
              <a:t>‹#›</a:t>
            </a:fld>
            <a:endParaRPr lang="zh-CN" altLang="en-US"/>
          </a:p>
        </p:txBody>
      </p:sp>
    </p:spTree>
    <p:extLst>
      <p:ext uri="{BB962C8B-B14F-4D97-AF65-F5344CB8AC3E}">
        <p14:creationId xmlns:p14="http://schemas.microsoft.com/office/powerpoint/2010/main" val="3864494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D00D7530-F098-4066-A62F-B3A755662673}"/>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2024/11/7</a:t>
            </a:fld>
            <a:endParaRPr lang="zh-CN" altLang="en-US"/>
          </a:p>
        </p:txBody>
      </p:sp>
      <p:sp>
        <p:nvSpPr>
          <p:cNvPr id="6" name="页脚占位符 4">
            <a:extLst>
              <a:ext uri="{FF2B5EF4-FFF2-40B4-BE49-F238E27FC236}">
                <a16:creationId xmlns:a16="http://schemas.microsoft.com/office/drawing/2014/main" id="{A6479886-B568-4B9A-ABE6-B87E8703060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2F8A0DE3-7EAA-45D7-92A3-3AF97DF375CC}"/>
              </a:ext>
            </a:extLst>
          </p:cNvPr>
          <p:cNvSpPr>
            <a:spLocks noGrp="1"/>
          </p:cNvSpPr>
          <p:nvPr>
            <p:ph type="sldNum" sz="quarter" idx="12"/>
          </p:nvPr>
        </p:nvSpPr>
        <p:spPr/>
        <p:txBody>
          <a:bodyPr/>
          <a:lstStyle>
            <a:lvl1pPr>
              <a:defRPr/>
            </a:lvl1pPr>
          </a:lstStyle>
          <a:p>
            <a:pPr>
              <a:defRPr/>
            </a:pPr>
            <a:fld id="{559946A7-9CB0-4FC9-BF96-450377A79923}" type="slidenum">
              <a:rPr lang="zh-CN" altLang="en-US"/>
              <a:pPr>
                <a:defRPr/>
              </a:pPr>
              <a:t>‹#›</a:t>
            </a:fld>
            <a:endParaRPr lang="zh-CN" altLang="en-US"/>
          </a:p>
        </p:txBody>
      </p:sp>
    </p:spTree>
    <p:extLst>
      <p:ext uri="{BB962C8B-B14F-4D97-AF65-F5344CB8AC3E}">
        <p14:creationId xmlns:p14="http://schemas.microsoft.com/office/powerpoint/2010/main" val="31167881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9D032F32-0BE6-4AB3-ACD2-144B28DB6EB8}"/>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2024/11/7</a:t>
            </a:fld>
            <a:endParaRPr lang="zh-CN" altLang="en-US"/>
          </a:p>
        </p:txBody>
      </p:sp>
      <p:sp>
        <p:nvSpPr>
          <p:cNvPr id="6" name="页脚占位符 4">
            <a:extLst>
              <a:ext uri="{FF2B5EF4-FFF2-40B4-BE49-F238E27FC236}">
                <a16:creationId xmlns:a16="http://schemas.microsoft.com/office/drawing/2014/main" id="{DD35E2EF-B16B-4C86-973E-10B1F1FBE0E2}"/>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CF855144-64AB-4D9B-A01B-A9BFDCCA0A67}"/>
              </a:ext>
            </a:extLst>
          </p:cNvPr>
          <p:cNvSpPr>
            <a:spLocks noGrp="1"/>
          </p:cNvSpPr>
          <p:nvPr>
            <p:ph type="sldNum" sz="quarter" idx="12"/>
          </p:nvPr>
        </p:nvSpPr>
        <p:spPr/>
        <p:txBody>
          <a:bodyPr/>
          <a:lstStyle>
            <a:lvl1pPr>
              <a:defRPr/>
            </a:lvl1pPr>
          </a:lstStyle>
          <a:p>
            <a:pPr>
              <a:defRPr/>
            </a:pPr>
            <a:fld id="{4F8D564F-0369-4BAC-8435-22D292AEDE58}" type="slidenum">
              <a:rPr lang="zh-CN" altLang="en-US"/>
              <a:pPr>
                <a:defRPr/>
              </a:pPr>
              <a:t>‹#›</a:t>
            </a:fld>
            <a:endParaRPr lang="zh-CN" altLang="en-US"/>
          </a:p>
        </p:txBody>
      </p:sp>
    </p:spTree>
    <p:extLst>
      <p:ext uri="{BB962C8B-B14F-4D97-AF65-F5344CB8AC3E}">
        <p14:creationId xmlns:p14="http://schemas.microsoft.com/office/powerpoint/2010/main" val="26384452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CAC827-B3E6-4371-8156-0D37982E6D62}"/>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2024/11/7</a:t>
            </a:fld>
            <a:endParaRPr lang="zh-CN" altLang="en-US"/>
          </a:p>
        </p:txBody>
      </p:sp>
      <p:sp>
        <p:nvSpPr>
          <p:cNvPr id="5" name="页脚占位符 4">
            <a:extLst>
              <a:ext uri="{FF2B5EF4-FFF2-40B4-BE49-F238E27FC236}">
                <a16:creationId xmlns:a16="http://schemas.microsoft.com/office/drawing/2014/main" id="{1CF80222-F63E-48FF-AC3A-ACD693F42EB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6003096C-9215-4B25-8ACB-3AD73834CCA7}"/>
              </a:ext>
            </a:extLst>
          </p:cNvPr>
          <p:cNvSpPr>
            <a:spLocks noGrp="1"/>
          </p:cNvSpPr>
          <p:nvPr>
            <p:ph type="sldNum" sz="quarter" idx="12"/>
          </p:nvPr>
        </p:nvSpPr>
        <p:spPr/>
        <p:txBody>
          <a:bodyPr/>
          <a:lstStyle>
            <a:lvl1pPr>
              <a:defRPr/>
            </a:lvl1pPr>
          </a:lstStyle>
          <a:p>
            <a:pPr>
              <a:defRPr/>
            </a:pPr>
            <a:fld id="{94B21B8E-9565-42FC-8610-4FE100101868}" type="slidenum">
              <a:rPr lang="zh-CN" altLang="en-US"/>
              <a:pPr>
                <a:defRPr/>
              </a:pPr>
              <a:t>‹#›</a:t>
            </a:fld>
            <a:endParaRPr lang="zh-CN" altLang="en-US"/>
          </a:p>
        </p:txBody>
      </p:sp>
    </p:spTree>
    <p:extLst>
      <p:ext uri="{BB962C8B-B14F-4D97-AF65-F5344CB8AC3E}">
        <p14:creationId xmlns:p14="http://schemas.microsoft.com/office/powerpoint/2010/main" val="122928677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62CB637-797A-4E67-A8EE-E8B2629D718F}"/>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2024/11/7</a:t>
            </a:fld>
            <a:endParaRPr lang="zh-CN" altLang="en-US"/>
          </a:p>
        </p:txBody>
      </p:sp>
      <p:sp>
        <p:nvSpPr>
          <p:cNvPr id="5" name="页脚占位符 4">
            <a:extLst>
              <a:ext uri="{FF2B5EF4-FFF2-40B4-BE49-F238E27FC236}">
                <a16:creationId xmlns:a16="http://schemas.microsoft.com/office/drawing/2014/main" id="{58F11FDC-FED6-4C8F-85AE-1AA82EB790A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3CB3265A-93FB-49B3-B392-6F76A17EEAD2}"/>
              </a:ext>
            </a:extLst>
          </p:cNvPr>
          <p:cNvSpPr>
            <a:spLocks noGrp="1"/>
          </p:cNvSpPr>
          <p:nvPr>
            <p:ph type="sldNum" sz="quarter" idx="12"/>
          </p:nvPr>
        </p:nvSpPr>
        <p:spPr/>
        <p:txBody>
          <a:bodyPr/>
          <a:lstStyle>
            <a:lvl1pPr>
              <a:defRPr/>
            </a:lvl1pPr>
          </a:lstStyle>
          <a:p>
            <a:pPr>
              <a:defRPr/>
            </a:pPr>
            <a:fld id="{2CD5DF0E-4B27-4C19-B9A0-01CBAF73C4C4}" type="slidenum">
              <a:rPr lang="zh-CN" altLang="en-US"/>
              <a:pPr>
                <a:defRPr/>
              </a:pPr>
              <a:t>‹#›</a:t>
            </a:fld>
            <a:endParaRPr lang="zh-CN" altLang="en-US"/>
          </a:p>
        </p:txBody>
      </p:sp>
    </p:spTree>
    <p:extLst>
      <p:ext uri="{BB962C8B-B14F-4D97-AF65-F5344CB8AC3E}">
        <p14:creationId xmlns:p14="http://schemas.microsoft.com/office/powerpoint/2010/main" val="37139518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4530"/>
            <a:ext cx="6858000" cy="2387600"/>
          </a:xfrm>
        </p:spPr>
        <p:txBody>
          <a:bodyPr anchor="b">
            <a:normAutofit/>
          </a:bodyPr>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zh-CN" altLang="en-US"/>
              <a:t>单击此处编辑母版副标题样式</a:t>
            </a:r>
            <a:endParaRPr lang="en-US" dirty="0"/>
          </a:p>
        </p:txBody>
      </p:sp>
      <p:sp>
        <p:nvSpPr>
          <p:cNvPr id="4" name="Date Placeholder 3">
            <a:extLst>
              <a:ext uri="{FF2B5EF4-FFF2-40B4-BE49-F238E27FC236}">
                <a16:creationId xmlns:a16="http://schemas.microsoft.com/office/drawing/2014/main" id="{5699E5CB-995B-4D77-891F-212E447DA9C3}"/>
              </a:ext>
            </a:extLst>
          </p:cNvPr>
          <p:cNvSpPr>
            <a:spLocks noGrp="1"/>
          </p:cNvSpPr>
          <p:nvPr>
            <p:ph type="dt" sz="half" idx="10"/>
          </p:nvPr>
        </p:nvSpPr>
        <p:spPr/>
        <p:txBody>
          <a:bodyPr/>
          <a:lstStyle>
            <a:lvl1pPr>
              <a:defRPr/>
            </a:lvl1pPr>
          </a:lstStyle>
          <a:p>
            <a:pPr>
              <a:defRPr/>
            </a:pPr>
            <a:fld id="{1977BACB-2D23-4B73-AF87-3642E0E97D6D}" type="datetimeFigureOut">
              <a:rPr lang="en-US"/>
              <a:pPr>
                <a:defRPr/>
              </a:pPr>
              <a:t>11/7/2024</a:t>
            </a:fld>
            <a:endParaRPr lang="en-US"/>
          </a:p>
        </p:txBody>
      </p:sp>
      <p:sp>
        <p:nvSpPr>
          <p:cNvPr id="5" name="Footer Placeholder 4">
            <a:extLst>
              <a:ext uri="{FF2B5EF4-FFF2-40B4-BE49-F238E27FC236}">
                <a16:creationId xmlns:a16="http://schemas.microsoft.com/office/drawing/2014/main" id="{ABC9EADA-9033-4B0F-8A2F-6B9740789E6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4DCA340-B27F-4D13-8D31-07B36190590C}"/>
              </a:ext>
            </a:extLst>
          </p:cNvPr>
          <p:cNvSpPr>
            <a:spLocks noGrp="1"/>
          </p:cNvSpPr>
          <p:nvPr>
            <p:ph type="sldNum" sz="quarter" idx="12"/>
          </p:nvPr>
        </p:nvSpPr>
        <p:spPr/>
        <p:txBody>
          <a:bodyPr/>
          <a:lstStyle>
            <a:lvl1pPr>
              <a:defRPr smtClean="0"/>
            </a:lvl1pPr>
          </a:lstStyle>
          <a:p>
            <a:pPr>
              <a:defRPr/>
            </a:pPr>
            <a:fld id="{27322659-8111-4AAB-B1F5-FF14D496601D}" type="slidenum">
              <a:rPr lang="en-US" altLang="zh-CN"/>
              <a:pPr>
                <a:defRPr/>
              </a:pPr>
              <a:t>‹#›</a:t>
            </a:fld>
            <a:endParaRPr lang="en-US" altLang="zh-CN"/>
          </a:p>
        </p:txBody>
      </p:sp>
    </p:spTree>
    <p:extLst>
      <p:ext uri="{BB962C8B-B14F-4D97-AF65-F5344CB8AC3E}">
        <p14:creationId xmlns:p14="http://schemas.microsoft.com/office/powerpoint/2010/main" val="5556082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B02D746C-EC3A-4A11-B191-DF23299C8DD8}"/>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624DBFFE-F4A3-49A0-980E-4B4273E86AB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5324EF4-FC77-4C8A-A372-998E09C1AE66}"/>
              </a:ext>
            </a:extLst>
          </p:cNvPr>
          <p:cNvSpPr>
            <a:spLocks noGrp="1"/>
          </p:cNvSpPr>
          <p:nvPr>
            <p:ph type="sldNum" sz="quarter" idx="12"/>
          </p:nvPr>
        </p:nvSpPr>
        <p:spPr/>
        <p:txBody>
          <a:bodyPr/>
          <a:lstStyle>
            <a:lvl1pPr>
              <a:defRPr smtClean="0"/>
            </a:lvl1pPr>
          </a:lstStyle>
          <a:p>
            <a:pPr>
              <a:defRPr/>
            </a:pPr>
            <a:fld id="{72962A2B-38DE-4A0F-928B-4B8CC60D56E3}" type="slidenum">
              <a:rPr lang="en-US" altLang="zh-CN"/>
              <a:pPr>
                <a:defRPr/>
              </a:pPr>
              <a:t>‹#›</a:t>
            </a:fld>
            <a:endParaRPr lang="en-US" altLang="zh-CN"/>
          </a:p>
        </p:txBody>
      </p:sp>
    </p:spTree>
    <p:extLst>
      <p:ext uri="{BB962C8B-B14F-4D97-AF65-F5344CB8AC3E}">
        <p14:creationId xmlns:p14="http://schemas.microsoft.com/office/powerpoint/2010/main" val="12634872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12423"/>
            <a:ext cx="7886700" cy="2851208"/>
          </a:xfrm>
        </p:spPr>
        <p:txBody>
          <a:bodyPr anchor="b">
            <a:normAutofit/>
          </a:bodyPr>
          <a:lstStyle>
            <a:lvl1pPr>
              <a:defRPr sz="45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52634"/>
            <a:ext cx="7886700" cy="1500187"/>
          </a:xfrm>
        </p:spPr>
        <p:txBody>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p>
        </p:txBody>
      </p:sp>
      <p:sp>
        <p:nvSpPr>
          <p:cNvPr id="4" name="Date Placeholder 3">
            <a:extLst>
              <a:ext uri="{FF2B5EF4-FFF2-40B4-BE49-F238E27FC236}">
                <a16:creationId xmlns:a16="http://schemas.microsoft.com/office/drawing/2014/main" id="{9EEB28FA-0C40-4D8B-B6A5-01C45B83C154}"/>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7CD05B9B-346F-4EE8-9E9D-0EEBEB7CBE6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87339AA-499E-421B-9AF3-08653456ADED}"/>
              </a:ext>
            </a:extLst>
          </p:cNvPr>
          <p:cNvSpPr>
            <a:spLocks noGrp="1"/>
          </p:cNvSpPr>
          <p:nvPr>
            <p:ph type="sldNum" sz="quarter" idx="12"/>
          </p:nvPr>
        </p:nvSpPr>
        <p:spPr/>
        <p:txBody>
          <a:bodyPr/>
          <a:lstStyle>
            <a:lvl1pPr>
              <a:defRPr smtClean="0"/>
            </a:lvl1pPr>
          </a:lstStyle>
          <a:p>
            <a:pPr>
              <a:defRPr/>
            </a:pPr>
            <a:fld id="{B9DA0385-217C-427B-A260-208E556E7765}" type="slidenum">
              <a:rPr lang="en-US" altLang="zh-CN"/>
              <a:pPr>
                <a:defRPr/>
              </a:pPr>
              <a:t>‹#›</a:t>
            </a:fld>
            <a:endParaRPr lang="en-US" altLang="zh-CN"/>
          </a:p>
        </p:txBody>
      </p:sp>
    </p:spTree>
    <p:extLst>
      <p:ext uri="{BB962C8B-B14F-4D97-AF65-F5344CB8AC3E}">
        <p14:creationId xmlns:p14="http://schemas.microsoft.com/office/powerpoint/2010/main" val="27423443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33845" y="1828801"/>
            <a:ext cx="3886200" cy="435133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8801"/>
            <a:ext cx="3886200" cy="435133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a:extLst>
              <a:ext uri="{FF2B5EF4-FFF2-40B4-BE49-F238E27FC236}">
                <a16:creationId xmlns:a16="http://schemas.microsoft.com/office/drawing/2014/main" id="{0502A75A-5183-4CD7-B473-CB1B5F042FBF}"/>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5">
            <a:extLst>
              <a:ext uri="{FF2B5EF4-FFF2-40B4-BE49-F238E27FC236}">
                <a16:creationId xmlns:a16="http://schemas.microsoft.com/office/drawing/2014/main" id="{13E39325-2020-4B68-9903-E81D9FA6694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5C928518-271C-48E1-8054-EFD63D3CAE78}"/>
              </a:ext>
            </a:extLst>
          </p:cNvPr>
          <p:cNvSpPr>
            <a:spLocks noGrp="1"/>
          </p:cNvSpPr>
          <p:nvPr>
            <p:ph type="sldNum" sz="quarter" idx="12"/>
          </p:nvPr>
        </p:nvSpPr>
        <p:spPr/>
        <p:txBody>
          <a:bodyPr/>
          <a:lstStyle>
            <a:lvl1pPr>
              <a:defRPr smtClean="0"/>
            </a:lvl1pPr>
          </a:lstStyle>
          <a:p>
            <a:pPr>
              <a:defRPr/>
            </a:pPr>
            <a:fld id="{4F0E2534-3CC9-4FA6-B58C-CCC38E170BBB}" type="slidenum">
              <a:rPr lang="en-US" altLang="zh-CN"/>
              <a:pPr>
                <a:defRPr/>
              </a:pPr>
              <a:t>‹#›</a:t>
            </a:fld>
            <a:endParaRPr lang="en-US" altLang="zh-CN"/>
          </a:p>
        </p:txBody>
      </p:sp>
    </p:spTree>
    <p:extLst>
      <p:ext uri="{BB962C8B-B14F-4D97-AF65-F5344CB8AC3E}">
        <p14:creationId xmlns:p14="http://schemas.microsoft.com/office/powerpoint/2010/main" val="27723043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681851"/>
            <a:ext cx="3867150" cy="825699"/>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33845" y="2507551"/>
            <a:ext cx="3867150" cy="36805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2507551"/>
            <a:ext cx="3886201" cy="36805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0" name="Title 9"/>
          <p:cNvSpPr>
            <a:spLocks noGrp="1"/>
          </p:cNvSpPr>
          <p:nvPr>
            <p:ph type="title"/>
          </p:nvPr>
        </p:nvSpPr>
        <p:spPr/>
        <p:txBody>
          <a:bodyPr/>
          <a:lstStyle/>
          <a:p>
            <a:r>
              <a:rPr lang="zh-CN" altLang="en-US"/>
              <a:t>单击此处编辑母版标题样式</a:t>
            </a:r>
            <a:endParaRPr lang="en-US" dirty="0"/>
          </a:p>
        </p:txBody>
      </p:sp>
      <p:sp>
        <p:nvSpPr>
          <p:cNvPr id="7" name="Date Placeholder 6">
            <a:extLst>
              <a:ext uri="{FF2B5EF4-FFF2-40B4-BE49-F238E27FC236}">
                <a16:creationId xmlns:a16="http://schemas.microsoft.com/office/drawing/2014/main" id="{65CE221F-09A0-4A0A-960A-F02096F257C6}"/>
              </a:ext>
            </a:extLst>
          </p:cNvPr>
          <p:cNvSpPr>
            <a:spLocks noGrp="1"/>
          </p:cNvSpPr>
          <p:nvPr>
            <p:ph type="dt" sz="half" idx="10"/>
          </p:nvPr>
        </p:nvSpPr>
        <p:spPr/>
        <p:txBody>
          <a:bodyPr/>
          <a:lstStyle>
            <a:lvl1pPr>
              <a:defRPr/>
            </a:lvl1pPr>
          </a:lstStyle>
          <a:p>
            <a:pPr>
              <a:defRPr/>
            </a:pPr>
            <a:endParaRPr lang="en-US" altLang="zh-CN"/>
          </a:p>
        </p:txBody>
      </p:sp>
      <p:sp>
        <p:nvSpPr>
          <p:cNvPr id="8" name="Footer Placeholder 7">
            <a:extLst>
              <a:ext uri="{FF2B5EF4-FFF2-40B4-BE49-F238E27FC236}">
                <a16:creationId xmlns:a16="http://schemas.microsoft.com/office/drawing/2014/main" id="{A75F6C4F-F484-4887-8B47-6410A014DE93}"/>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8">
            <a:extLst>
              <a:ext uri="{FF2B5EF4-FFF2-40B4-BE49-F238E27FC236}">
                <a16:creationId xmlns:a16="http://schemas.microsoft.com/office/drawing/2014/main" id="{6ADBA3BE-A306-4801-9498-4A0FC089AED9}"/>
              </a:ext>
            </a:extLst>
          </p:cNvPr>
          <p:cNvSpPr>
            <a:spLocks noGrp="1"/>
          </p:cNvSpPr>
          <p:nvPr>
            <p:ph type="sldNum" sz="quarter" idx="12"/>
          </p:nvPr>
        </p:nvSpPr>
        <p:spPr/>
        <p:txBody>
          <a:bodyPr/>
          <a:lstStyle>
            <a:lvl1pPr>
              <a:defRPr smtClean="0"/>
            </a:lvl1pPr>
          </a:lstStyle>
          <a:p>
            <a:pPr>
              <a:defRPr/>
            </a:pPr>
            <a:fld id="{BC00BC91-16DF-45F1-805D-0FDA0E902C7E}" type="slidenum">
              <a:rPr lang="en-US" altLang="zh-CN"/>
              <a:pPr>
                <a:defRPr/>
              </a:pPr>
              <a:t>‹#›</a:t>
            </a:fld>
            <a:endParaRPr lang="en-US" altLang="zh-CN"/>
          </a:p>
        </p:txBody>
      </p:sp>
    </p:spTree>
    <p:extLst>
      <p:ext uri="{BB962C8B-B14F-4D97-AF65-F5344CB8AC3E}">
        <p14:creationId xmlns:p14="http://schemas.microsoft.com/office/powerpoint/2010/main" val="416395712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a:t>单击此处编辑母版标题样式</a:t>
            </a:r>
            <a:endParaRPr lang="en-US"/>
          </a:p>
        </p:txBody>
      </p:sp>
      <p:sp>
        <p:nvSpPr>
          <p:cNvPr id="3" name="Date Placeholder 2">
            <a:extLst>
              <a:ext uri="{FF2B5EF4-FFF2-40B4-BE49-F238E27FC236}">
                <a16:creationId xmlns:a16="http://schemas.microsoft.com/office/drawing/2014/main" id="{B8D8D5D6-8048-4E15-B676-2E8515CAA070}"/>
              </a:ext>
            </a:extLst>
          </p:cNvPr>
          <p:cNvSpPr>
            <a:spLocks noGrp="1"/>
          </p:cNvSpPr>
          <p:nvPr>
            <p:ph type="dt" sz="half" idx="10"/>
          </p:nvPr>
        </p:nvSpPr>
        <p:spPr/>
        <p:txBody>
          <a:bodyPr/>
          <a:lstStyle>
            <a:lvl1pPr>
              <a:defRPr/>
            </a:lvl1pPr>
          </a:lstStyle>
          <a:p>
            <a:pPr>
              <a:defRPr/>
            </a:pPr>
            <a:endParaRPr lang="en-US" altLang="zh-CN"/>
          </a:p>
        </p:txBody>
      </p:sp>
      <p:sp>
        <p:nvSpPr>
          <p:cNvPr id="4" name="Footer Placeholder 3">
            <a:extLst>
              <a:ext uri="{FF2B5EF4-FFF2-40B4-BE49-F238E27FC236}">
                <a16:creationId xmlns:a16="http://schemas.microsoft.com/office/drawing/2014/main" id="{5D811439-C18F-4A42-AE40-3CE20AF44F3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83900575-C2AA-420D-AEE0-4F101EFB7037}"/>
              </a:ext>
            </a:extLst>
          </p:cNvPr>
          <p:cNvSpPr>
            <a:spLocks noGrp="1"/>
          </p:cNvSpPr>
          <p:nvPr>
            <p:ph type="sldNum" sz="quarter" idx="12"/>
          </p:nvPr>
        </p:nvSpPr>
        <p:spPr/>
        <p:txBody>
          <a:bodyPr/>
          <a:lstStyle>
            <a:lvl1pPr>
              <a:defRPr smtClean="0"/>
            </a:lvl1pPr>
          </a:lstStyle>
          <a:p>
            <a:pPr>
              <a:defRPr/>
            </a:pPr>
            <a:fld id="{37C4C301-68E4-4B47-AE96-A2BDB53892B5}" type="slidenum">
              <a:rPr lang="en-US" altLang="zh-CN"/>
              <a:pPr>
                <a:defRPr/>
              </a:pPr>
              <a:t>‹#›</a:t>
            </a:fld>
            <a:endParaRPr lang="en-US" altLang="zh-CN"/>
          </a:p>
        </p:txBody>
      </p:sp>
    </p:spTree>
    <p:extLst>
      <p:ext uri="{BB962C8B-B14F-4D97-AF65-F5344CB8AC3E}">
        <p14:creationId xmlns:p14="http://schemas.microsoft.com/office/powerpoint/2010/main" val="16608197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C932AC-AD48-4B89-80D4-4E7BF13C33C5}"/>
              </a:ext>
            </a:extLst>
          </p:cNvPr>
          <p:cNvSpPr>
            <a:spLocks noGrp="1"/>
          </p:cNvSpPr>
          <p:nvPr>
            <p:ph type="dt" sz="half" idx="10"/>
          </p:nvPr>
        </p:nvSpPr>
        <p:spPr/>
        <p:txBody>
          <a:bodyPr/>
          <a:lstStyle>
            <a:lvl1pPr>
              <a:defRPr/>
            </a:lvl1pPr>
          </a:lstStyle>
          <a:p>
            <a:pPr>
              <a:defRPr/>
            </a:pPr>
            <a:endParaRPr lang="en-US" altLang="zh-CN"/>
          </a:p>
        </p:txBody>
      </p:sp>
      <p:sp>
        <p:nvSpPr>
          <p:cNvPr id="3" name="Footer Placeholder 2">
            <a:extLst>
              <a:ext uri="{FF2B5EF4-FFF2-40B4-BE49-F238E27FC236}">
                <a16:creationId xmlns:a16="http://schemas.microsoft.com/office/drawing/2014/main" id="{087BD01A-6944-424F-A2FD-7E76BC3D4CB8}"/>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3">
            <a:extLst>
              <a:ext uri="{FF2B5EF4-FFF2-40B4-BE49-F238E27FC236}">
                <a16:creationId xmlns:a16="http://schemas.microsoft.com/office/drawing/2014/main" id="{251727D5-0AD0-4864-9E16-C8931B7D3BC5}"/>
              </a:ext>
            </a:extLst>
          </p:cNvPr>
          <p:cNvSpPr>
            <a:spLocks noGrp="1"/>
          </p:cNvSpPr>
          <p:nvPr>
            <p:ph type="sldNum" sz="quarter" idx="12"/>
          </p:nvPr>
        </p:nvSpPr>
        <p:spPr/>
        <p:txBody>
          <a:bodyPr/>
          <a:lstStyle>
            <a:lvl1pPr>
              <a:defRPr smtClean="0"/>
            </a:lvl1pPr>
          </a:lstStyle>
          <a:p>
            <a:pPr>
              <a:defRPr/>
            </a:pPr>
            <a:fld id="{FF2ACD71-9DE8-4767-A023-64C61BA85513}" type="slidenum">
              <a:rPr lang="en-US" altLang="zh-CN"/>
              <a:pPr>
                <a:defRPr/>
              </a:pPr>
              <a:t>‹#›</a:t>
            </a:fld>
            <a:endParaRPr lang="en-US" altLang="zh-CN"/>
          </a:p>
        </p:txBody>
      </p:sp>
    </p:spTree>
    <p:extLst>
      <p:ext uri="{BB962C8B-B14F-4D97-AF65-F5344CB8AC3E}">
        <p14:creationId xmlns:p14="http://schemas.microsoft.com/office/powerpoint/2010/main" val="22813798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948940" cy="1600197"/>
          </a:xfrm>
        </p:spPr>
        <p:txBody>
          <a:bodyPr anchor="b">
            <a:normAutofit/>
          </a:bodyPr>
          <a:lstStyle>
            <a:lvl1pPr>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30936" y="2057399"/>
            <a:ext cx="2948940" cy="3810001"/>
          </a:xfrm>
        </p:spPr>
        <p:txBody>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Date Placeholder 4">
            <a:extLst>
              <a:ext uri="{FF2B5EF4-FFF2-40B4-BE49-F238E27FC236}">
                <a16:creationId xmlns:a16="http://schemas.microsoft.com/office/drawing/2014/main" id="{10F9EA5D-772B-4328-B61E-36BB93C08DF3}"/>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5">
            <a:extLst>
              <a:ext uri="{FF2B5EF4-FFF2-40B4-BE49-F238E27FC236}">
                <a16:creationId xmlns:a16="http://schemas.microsoft.com/office/drawing/2014/main" id="{D7EAB421-DDD2-4C83-BF74-DB8F37D8DD7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02863037-CDED-4AF8-B2CF-3C3BD8572C0D}"/>
              </a:ext>
            </a:extLst>
          </p:cNvPr>
          <p:cNvSpPr>
            <a:spLocks noGrp="1"/>
          </p:cNvSpPr>
          <p:nvPr>
            <p:ph type="sldNum" sz="quarter" idx="12"/>
          </p:nvPr>
        </p:nvSpPr>
        <p:spPr/>
        <p:txBody>
          <a:bodyPr/>
          <a:lstStyle>
            <a:lvl1pPr>
              <a:defRPr smtClean="0"/>
            </a:lvl1pPr>
          </a:lstStyle>
          <a:p>
            <a:pPr>
              <a:defRPr/>
            </a:pPr>
            <a:fld id="{CC68359B-9610-4188-BE23-6772B2F81205}" type="slidenum">
              <a:rPr lang="en-US" altLang="zh-CN"/>
              <a:pPr>
                <a:defRPr/>
              </a:pPr>
              <a:t>‹#›</a:t>
            </a:fld>
            <a:endParaRPr lang="en-US" altLang="zh-CN"/>
          </a:p>
        </p:txBody>
      </p:sp>
    </p:spTree>
    <p:extLst>
      <p:ext uri="{BB962C8B-B14F-4D97-AF65-F5344CB8AC3E}">
        <p14:creationId xmlns:p14="http://schemas.microsoft.com/office/powerpoint/2010/main" val="31356455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3886200" y="990600"/>
            <a:ext cx="4629150" cy="4876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30936" y="2057400"/>
            <a:ext cx="2948940" cy="3810000"/>
          </a:xfrm>
        </p:spPr>
        <p:txBody>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Date Placeholder 4">
            <a:extLst>
              <a:ext uri="{FF2B5EF4-FFF2-40B4-BE49-F238E27FC236}">
                <a16:creationId xmlns:a16="http://schemas.microsoft.com/office/drawing/2014/main" id="{EA2EB7FF-96EE-440A-93ED-23D0895E3943}"/>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5">
            <a:extLst>
              <a:ext uri="{FF2B5EF4-FFF2-40B4-BE49-F238E27FC236}">
                <a16:creationId xmlns:a16="http://schemas.microsoft.com/office/drawing/2014/main" id="{5D1DBC76-06F7-4B45-9A71-2520815C65D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F8E11C2D-0DEA-408E-ADEB-ECACC5AB155E}"/>
              </a:ext>
            </a:extLst>
          </p:cNvPr>
          <p:cNvSpPr>
            <a:spLocks noGrp="1"/>
          </p:cNvSpPr>
          <p:nvPr>
            <p:ph type="sldNum" sz="quarter" idx="12"/>
          </p:nvPr>
        </p:nvSpPr>
        <p:spPr/>
        <p:txBody>
          <a:bodyPr/>
          <a:lstStyle>
            <a:lvl1pPr>
              <a:defRPr smtClean="0"/>
            </a:lvl1pPr>
          </a:lstStyle>
          <a:p>
            <a:pPr>
              <a:defRPr/>
            </a:pPr>
            <a:fld id="{D680B30B-D817-4D08-A2D4-B112932B7220}" type="slidenum">
              <a:rPr lang="en-US" altLang="zh-CN"/>
              <a:pPr>
                <a:defRPr/>
              </a:pPr>
              <a:t>‹#›</a:t>
            </a:fld>
            <a:endParaRPr lang="en-US" altLang="zh-CN"/>
          </a:p>
        </p:txBody>
      </p:sp>
    </p:spTree>
    <p:extLst>
      <p:ext uri="{BB962C8B-B14F-4D97-AF65-F5344CB8AC3E}">
        <p14:creationId xmlns:p14="http://schemas.microsoft.com/office/powerpoint/2010/main" val="219925761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4207EC77-A460-4770-B260-720A6C8A38BB}"/>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C5791093-D137-4DA1-BAAD-DCFEBBB91A1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99617AC-4C68-4275-9D2E-C10D0D6BF9DE}"/>
              </a:ext>
            </a:extLst>
          </p:cNvPr>
          <p:cNvSpPr>
            <a:spLocks noGrp="1"/>
          </p:cNvSpPr>
          <p:nvPr>
            <p:ph type="sldNum" sz="quarter" idx="12"/>
          </p:nvPr>
        </p:nvSpPr>
        <p:spPr/>
        <p:txBody>
          <a:bodyPr/>
          <a:lstStyle>
            <a:lvl1pPr>
              <a:defRPr smtClean="0"/>
            </a:lvl1pPr>
          </a:lstStyle>
          <a:p>
            <a:pPr>
              <a:defRPr/>
            </a:pPr>
            <a:fld id="{224BA8E7-E9D2-4B20-9F10-495278E1502B}" type="slidenum">
              <a:rPr lang="en-US" altLang="zh-CN"/>
              <a:pPr>
                <a:defRPr/>
              </a:pPr>
              <a:t>‹#›</a:t>
            </a:fld>
            <a:endParaRPr lang="en-US" altLang="zh-CN"/>
          </a:p>
        </p:txBody>
      </p:sp>
    </p:spTree>
    <p:extLst>
      <p:ext uri="{BB962C8B-B14F-4D97-AF65-F5344CB8AC3E}">
        <p14:creationId xmlns:p14="http://schemas.microsoft.com/office/powerpoint/2010/main" val="3053699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0363"/>
            <a:ext cx="5800725" cy="581183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a:extLst>
              <a:ext uri="{FF2B5EF4-FFF2-40B4-BE49-F238E27FC236}">
                <a16:creationId xmlns:a16="http://schemas.microsoft.com/office/drawing/2014/main" id="{0C55F969-EDC5-4474-8BFB-A9537FD161D9}"/>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9D32356E-143E-47E5-871B-5C6A987F038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8D28847-7C60-477F-9A1D-8495BDD0C0E7}"/>
              </a:ext>
            </a:extLst>
          </p:cNvPr>
          <p:cNvSpPr>
            <a:spLocks noGrp="1"/>
          </p:cNvSpPr>
          <p:nvPr>
            <p:ph type="sldNum" sz="quarter" idx="12"/>
          </p:nvPr>
        </p:nvSpPr>
        <p:spPr/>
        <p:txBody>
          <a:bodyPr/>
          <a:lstStyle>
            <a:lvl1pPr>
              <a:defRPr smtClean="0"/>
            </a:lvl1pPr>
          </a:lstStyle>
          <a:p>
            <a:pPr>
              <a:defRPr/>
            </a:pPr>
            <a:fld id="{0D00F23A-DB89-4E0B-AE76-FF440A598F9C}" type="slidenum">
              <a:rPr lang="en-US" altLang="zh-CN"/>
              <a:pPr>
                <a:defRPr/>
              </a:pPr>
              <a:t>‹#›</a:t>
            </a:fld>
            <a:endParaRPr lang="en-US" altLang="zh-CN"/>
          </a:p>
        </p:txBody>
      </p:sp>
    </p:spTree>
    <p:extLst>
      <p:ext uri="{BB962C8B-B14F-4D97-AF65-F5344CB8AC3E}">
        <p14:creationId xmlns:p14="http://schemas.microsoft.com/office/powerpoint/2010/main" val="3747056154"/>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2D37A657-DEF8-4A78-B0A2-137EE7E376FA}"/>
              </a:ext>
            </a:extLst>
          </p:cNvPr>
          <p:cNvSpPr>
            <a:spLocks noGrp="1" noChangeArrowheads="1"/>
          </p:cNvSpPr>
          <p:nvPr>
            <p:ph type="title"/>
          </p:nvPr>
        </p:nvSpPr>
        <p:spPr bwMode="auto">
          <a:xfrm>
            <a:off x="457200" y="142875"/>
            <a:ext cx="82296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4FA7415D-2A90-442A-B3F8-4EDBE792D668}"/>
              </a:ext>
            </a:extLst>
          </p:cNvPr>
          <p:cNvSpPr>
            <a:spLocks noGrp="1" noChangeArrowheads="1"/>
          </p:cNvSpPr>
          <p:nvPr>
            <p:ph type="body" idx="1"/>
          </p:nvPr>
        </p:nvSpPr>
        <p:spPr bwMode="auto">
          <a:xfrm>
            <a:off x="457200" y="1000125"/>
            <a:ext cx="8229600" cy="512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0CE9570-2725-44A5-85F1-85E7D53BF42D}"/>
              </a:ext>
            </a:extLst>
          </p:cNvPr>
          <p:cNvSpPr>
            <a:spLocks noGrp="1"/>
          </p:cNvSpPr>
          <p:nvPr>
            <p:ph type="dt" sz="half" idx="2"/>
          </p:nvPr>
        </p:nvSpPr>
        <p:spPr>
          <a:xfrm>
            <a:off x="457200" y="6391275"/>
            <a:ext cx="2133600" cy="365125"/>
          </a:xfrm>
          <a:prstGeom prst="rect">
            <a:avLst/>
          </a:prstGeom>
        </p:spPr>
        <p:txBody>
          <a:bodyPr vert="horz" lIns="91440" tIns="45720" rIns="91440" bIns="45720" rtlCol="0" anchor="ctr"/>
          <a:lstStyle>
            <a:lvl1pPr algn="l" defTabSz="913765">
              <a:defRPr sz="1000">
                <a:solidFill>
                  <a:prstClr val="black">
                    <a:tint val="75000"/>
                  </a:prstClr>
                </a:solidFill>
              </a:defRPr>
            </a:lvl1pPr>
          </a:lstStyle>
          <a:p>
            <a:pPr>
              <a:defRPr/>
            </a:pPr>
            <a:fld id="{21B27286-9A5A-4D22-A475-629F75BBB11E}" type="datetime3">
              <a:rPr lang="zh-CN" altLang="en-US"/>
              <a:pPr>
                <a:defRPr/>
              </a:pPr>
              <a:t>2024年11月7日星期四</a:t>
            </a:fld>
            <a:endParaRPr lang="zh-CN" altLang="en-US"/>
          </a:p>
        </p:txBody>
      </p:sp>
      <p:sp>
        <p:nvSpPr>
          <p:cNvPr id="5" name="页脚占位符 4">
            <a:extLst>
              <a:ext uri="{FF2B5EF4-FFF2-40B4-BE49-F238E27FC236}">
                <a16:creationId xmlns:a16="http://schemas.microsoft.com/office/drawing/2014/main" id="{7F1B649F-F52E-4CA9-A59B-1CF15EB18800}"/>
              </a:ext>
            </a:extLst>
          </p:cNvPr>
          <p:cNvSpPr>
            <a:spLocks noGrp="1"/>
          </p:cNvSpPr>
          <p:nvPr>
            <p:ph type="ftr" sz="quarter" idx="3"/>
          </p:nvPr>
        </p:nvSpPr>
        <p:spPr>
          <a:xfrm>
            <a:off x="2928938" y="6391275"/>
            <a:ext cx="3357562" cy="365125"/>
          </a:xfrm>
          <a:prstGeom prst="rect">
            <a:avLst/>
          </a:prstGeom>
        </p:spPr>
        <p:txBody>
          <a:bodyPr vert="horz" lIns="91440" tIns="46800" rIns="91440" bIns="45720" rtlCol="0" anchor="ctr"/>
          <a:lstStyle>
            <a:lvl1pPr algn="ctr" defTabSz="913765">
              <a:defRPr sz="1000">
                <a:solidFill>
                  <a:prstClr val="black">
                    <a:tint val="75000"/>
                  </a:prstClr>
                </a:solidFill>
              </a:defRPr>
            </a:lvl1pPr>
          </a:lstStyle>
          <a:p>
            <a:pPr>
              <a:defRPr/>
            </a:pPr>
            <a:endParaRPr lang="zh-CN" altLang="en-US"/>
          </a:p>
        </p:txBody>
      </p:sp>
      <p:sp>
        <p:nvSpPr>
          <p:cNvPr id="6" name="灯片编号占位符 5">
            <a:extLst>
              <a:ext uri="{FF2B5EF4-FFF2-40B4-BE49-F238E27FC236}">
                <a16:creationId xmlns:a16="http://schemas.microsoft.com/office/drawing/2014/main" id="{DFCEDEC4-0BBC-4269-8355-5F53D77F6E35}"/>
              </a:ext>
            </a:extLst>
          </p:cNvPr>
          <p:cNvSpPr>
            <a:spLocks noGrp="1"/>
          </p:cNvSpPr>
          <p:nvPr>
            <p:ph type="sldNum" sz="quarter" idx="4"/>
          </p:nvPr>
        </p:nvSpPr>
        <p:spPr>
          <a:xfrm>
            <a:off x="6553200" y="6391275"/>
            <a:ext cx="2133600" cy="365125"/>
          </a:xfrm>
          <a:prstGeom prst="rect">
            <a:avLst/>
          </a:prstGeom>
        </p:spPr>
        <p:txBody>
          <a:bodyPr vert="horz" wrap="square" lIns="91440" tIns="45720" rIns="91440" bIns="45720" numCol="1" anchor="ctr" anchorCtr="0" compatLnSpc="1">
            <a:prstTxWarp prst="textNoShape">
              <a:avLst/>
            </a:prstTxWarp>
          </a:bodyPr>
          <a:lstStyle>
            <a:lvl1pPr algn="r" defTabSz="912813">
              <a:defRPr sz="1000" smtClean="0">
                <a:solidFill>
                  <a:srgbClr val="898989"/>
                </a:solidFill>
              </a:defRPr>
            </a:lvl1pPr>
          </a:lstStyle>
          <a:p>
            <a:pPr>
              <a:defRPr/>
            </a:pPr>
            <a:fld id="{4BD7DFA0-CB83-4959-B82E-BF26DAC20941}" type="slidenum">
              <a:rPr lang="zh-CN" altLang="en-US"/>
              <a:pPr>
                <a:defRPr/>
              </a:pPr>
              <a:t>‹#›</a:t>
            </a:fld>
            <a:endParaRPr lang="zh-CN" altLang="en-US"/>
          </a:p>
        </p:txBody>
      </p:sp>
      <p:cxnSp>
        <p:nvCxnSpPr>
          <p:cNvPr id="7" name="直接连接符 6">
            <a:extLst>
              <a:ext uri="{FF2B5EF4-FFF2-40B4-BE49-F238E27FC236}">
                <a16:creationId xmlns:a16="http://schemas.microsoft.com/office/drawing/2014/main" id="{F7E5A205-0377-42C1-906C-8461D7620A2C}"/>
              </a:ext>
            </a:extLst>
          </p:cNvPr>
          <p:cNvCxnSpPr/>
          <p:nvPr/>
        </p:nvCxnSpPr>
        <p:spPr>
          <a:xfrm>
            <a:off x="0" y="857250"/>
            <a:ext cx="9144000" cy="1588"/>
          </a:xfrm>
          <a:prstGeom prst="line">
            <a:avLst/>
          </a:prstGeom>
          <a:ln w="63500" cap="flat" cmpd="thickThi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E38B1EDF-EEDA-4138-91B5-309D103EA451}"/>
              </a:ext>
            </a:extLst>
          </p:cNvPr>
          <p:cNvCxnSpPr/>
          <p:nvPr/>
        </p:nvCxnSpPr>
        <p:spPr>
          <a:xfrm>
            <a:off x="0" y="6286500"/>
            <a:ext cx="9144000" cy="1588"/>
          </a:xfrm>
          <a:prstGeom prst="line">
            <a:avLst/>
          </a:prstGeom>
          <a:ln w="63500" cmpd="thinThick"/>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5057" r:id="rId1"/>
    <p:sldLayoutId id="2147485058" r:id="rId2"/>
    <p:sldLayoutId id="2147485059" r:id="rId3"/>
    <p:sldLayoutId id="2147485060" r:id="rId4"/>
    <p:sldLayoutId id="2147485061" r:id="rId5"/>
    <p:sldLayoutId id="2147485062" r:id="rId6"/>
    <p:sldLayoutId id="2147485034" r:id="rId7"/>
    <p:sldLayoutId id="2147485063" r:id="rId8"/>
    <p:sldLayoutId id="2147485064" r:id="rId9"/>
    <p:sldLayoutId id="2147485065" r:id="rId10"/>
    <p:sldLayoutId id="2147485066" r:id="rId11"/>
    <p:sldLayoutId id="2147485067" r:id="rId12"/>
    <p:sldLayoutId id="2147485068" r:id="rId13"/>
  </p:sldLayoutIdLst>
  <p:hf sldNum="0" hdr="0" ftr="0" dt="0"/>
  <p:txStyles>
    <p:titleStyle>
      <a:lvl1pPr algn="ctr" defTabSz="512763" rtl="0" eaLnBrk="0" fontAlgn="base" hangingPunct="0">
        <a:spcBef>
          <a:spcPct val="0"/>
        </a:spcBef>
        <a:spcAft>
          <a:spcPct val="0"/>
        </a:spcAft>
        <a:defRPr sz="2400" kern="1200">
          <a:solidFill>
            <a:schemeClr val="tx1"/>
          </a:solidFill>
          <a:latin typeface="+mj-lt"/>
          <a:ea typeface="+mj-ea"/>
          <a:cs typeface="+mj-cs"/>
        </a:defRPr>
      </a:lvl1pPr>
      <a:lvl2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2pPr>
      <a:lvl3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3pPr>
      <a:lvl4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4pPr>
      <a:lvl5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5pPr>
      <a:lvl6pPr marL="4572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6pPr>
      <a:lvl7pPr marL="9144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7pPr>
      <a:lvl8pPr marL="13716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8pPr>
      <a:lvl9pPr marL="18288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9pPr>
    </p:titleStyle>
    <p:bodyStyle>
      <a:lvl1pPr marL="192088" indent="-192088" algn="l" defTabSz="512763"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417513" indent="-160338" algn="l" defTabSz="512763" rtl="0" eaLnBrk="0" fontAlgn="base"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2pPr>
      <a:lvl3pPr marL="641350" indent="-127000" algn="l" defTabSz="512763" rtl="0" eaLnBrk="0" fontAlgn="base" hangingPunct="0">
        <a:spcBef>
          <a:spcPct val="20000"/>
        </a:spcBef>
        <a:spcAft>
          <a:spcPct val="0"/>
        </a:spcAft>
        <a:buFont typeface="Arial" panose="020B0604020202020204" pitchFamily="34" charset="0"/>
        <a:buChar char="•"/>
        <a:defRPr sz="1600" kern="1200">
          <a:solidFill>
            <a:schemeClr val="tx1"/>
          </a:solidFill>
          <a:latin typeface="+mn-lt"/>
          <a:ea typeface="+mn-ea"/>
          <a:cs typeface="+mn-cs"/>
        </a:defRPr>
      </a:lvl3pPr>
      <a:lvl4pPr marL="898525" indent="-127000" algn="l" defTabSz="512763" rtl="0" eaLnBrk="0" fontAlgn="base" hangingPunct="0">
        <a:spcBef>
          <a:spcPct val="20000"/>
        </a:spcBef>
        <a:spcAft>
          <a:spcPct val="0"/>
        </a:spcAft>
        <a:buFont typeface="Arial" panose="020B0604020202020204" pitchFamily="34" charset="0"/>
        <a:buChar char="–"/>
        <a:defRPr sz="1400" kern="1200">
          <a:solidFill>
            <a:schemeClr val="tx1"/>
          </a:solidFill>
          <a:latin typeface="+mn-lt"/>
          <a:ea typeface="+mn-ea"/>
          <a:cs typeface="+mn-cs"/>
        </a:defRPr>
      </a:lvl4pPr>
      <a:lvl5pPr marL="1155700" indent="-127000" algn="l" defTabSz="512763" rtl="0" eaLnBrk="0" fontAlgn="base" hangingPunct="0">
        <a:spcBef>
          <a:spcPct val="20000"/>
        </a:spcBef>
        <a:spcAft>
          <a:spcPct val="0"/>
        </a:spcAft>
        <a:buFont typeface="Arial" panose="020B0604020202020204" pitchFamily="34" charset="0"/>
        <a:buChar char="»"/>
        <a:defRPr sz="1400" kern="1200">
          <a:solidFill>
            <a:schemeClr val="tx1"/>
          </a:solidFill>
          <a:latin typeface="+mn-lt"/>
          <a:ea typeface="+mn-ea"/>
          <a:cs typeface="+mn-cs"/>
        </a:defRPr>
      </a:lvl5pPr>
      <a:lvl6pPr marL="1414145" indent="-128270" algn="l" defTabSz="513715"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6pPr>
      <a:lvl7pPr marL="1671320" indent="-128270" algn="l" defTabSz="513715"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7pPr>
      <a:lvl8pPr marL="1928495" indent="-128270" algn="l" defTabSz="513715"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8pPr>
      <a:lvl9pPr marL="2185670" indent="-128270" algn="l" defTabSz="513715"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9pPr>
    </p:bodyStyle>
    <p:otherStyle>
      <a:defPPr>
        <a:defRPr lang="zh-CN"/>
      </a:defPPr>
      <a:lvl1pPr marL="0" algn="l" defTabSz="513715" rtl="0" eaLnBrk="1" latinLnBrk="0" hangingPunct="1">
        <a:defRPr sz="1015" kern="1200">
          <a:solidFill>
            <a:schemeClr val="tx1"/>
          </a:solidFill>
          <a:latin typeface="+mn-lt"/>
          <a:ea typeface="+mn-ea"/>
          <a:cs typeface="+mn-cs"/>
        </a:defRPr>
      </a:lvl1pPr>
      <a:lvl2pPr marL="257175" algn="l" defTabSz="513715" rtl="0" eaLnBrk="1" latinLnBrk="0" hangingPunct="1">
        <a:defRPr sz="1015" kern="1200">
          <a:solidFill>
            <a:schemeClr val="tx1"/>
          </a:solidFill>
          <a:latin typeface="+mn-lt"/>
          <a:ea typeface="+mn-ea"/>
          <a:cs typeface="+mn-cs"/>
        </a:defRPr>
      </a:lvl2pPr>
      <a:lvl3pPr marL="514350" algn="l" defTabSz="513715" rtl="0" eaLnBrk="1" latinLnBrk="0" hangingPunct="1">
        <a:defRPr sz="1015" kern="1200">
          <a:solidFill>
            <a:schemeClr val="tx1"/>
          </a:solidFill>
          <a:latin typeface="+mn-lt"/>
          <a:ea typeface="+mn-ea"/>
          <a:cs typeface="+mn-cs"/>
        </a:defRPr>
      </a:lvl3pPr>
      <a:lvl4pPr marL="771525" algn="l" defTabSz="513715" rtl="0" eaLnBrk="1" latinLnBrk="0" hangingPunct="1">
        <a:defRPr sz="1015" kern="1200">
          <a:solidFill>
            <a:schemeClr val="tx1"/>
          </a:solidFill>
          <a:latin typeface="+mn-lt"/>
          <a:ea typeface="+mn-ea"/>
          <a:cs typeface="+mn-cs"/>
        </a:defRPr>
      </a:lvl4pPr>
      <a:lvl5pPr marL="1028700" algn="l" defTabSz="513715" rtl="0" eaLnBrk="1" latinLnBrk="0" hangingPunct="1">
        <a:defRPr sz="1015" kern="1200">
          <a:solidFill>
            <a:schemeClr val="tx1"/>
          </a:solidFill>
          <a:latin typeface="+mn-lt"/>
          <a:ea typeface="+mn-ea"/>
          <a:cs typeface="+mn-cs"/>
        </a:defRPr>
      </a:lvl5pPr>
      <a:lvl6pPr marL="1285875" algn="l" defTabSz="513715" rtl="0" eaLnBrk="1" latinLnBrk="0" hangingPunct="1">
        <a:defRPr sz="1015" kern="1200">
          <a:solidFill>
            <a:schemeClr val="tx1"/>
          </a:solidFill>
          <a:latin typeface="+mn-lt"/>
          <a:ea typeface="+mn-ea"/>
          <a:cs typeface="+mn-cs"/>
        </a:defRPr>
      </a:lvl6pPr>
      <a:lvl7pPr marL="1543050" algn="l" defTabSz="513715" rtl="0" eaLnBrk="1" latinLnBrk="0" hangingPunct="1">
        <a:defRPr sz="1015" kern="1200">
          <a:solidFill>
            <a:schemeClr val="tx1"/>
          </a:solidFill>
          <a:latin typeface="+mn-lt"/>
          <a:ea typeface="+mn-ea"/>
          <a:cs typeface="+mn-cs"/>
        </a:defRPr>
      </a:lvl7pPr>
      <a:lvl8pPr marL="1800225" algn="l" defTabSz="513715" rtl="0" eaLnBrk="1" latinLnBrk="0" hangingPunct="1">
        <a:defRPr sz="1015" kern="1200">
          <a:solidFill>
            <a:schemeClr val="tx1"/>
          </a:solidFill>
          <a:latin typeface="+mn-lt"/>
          <a:ea typeface="+mn-ea"/>
          <a:cs typeface="+mn-cs"/>
        </a:defRPr>
      </a:lvl8pPr>
      <a:lvl9pPr marL="2057400" algn="l" defTabSz="513715" rtl="0" eaLnBrk="1" latinLnBrk="0" hangingPunct="1">
        <a:defRPr sz="10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标题占位符 1">
            <a:extLst>
              <a:ext uri="{FF2B5EF4-FFF2-40B4-BE49-F238E27FC236}">
                <a16:creationId xmlns:a16="http://schemas.microsoft.com/office/drawing/2014/main" id="{FFD39F70-0BB0-4AC2-A90C-E6C64EADCC90}"/>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文本占位符 2">
            <a:extLst>
              <a:ext uri="{FF2B5EF4-FFF2-40B4-BE49-F238E27FC236}">
                <a16:creationId xmlns:a16="http://schemas.microsoft.com/office/drawing/2014/main" id="{6636DB0A-85E2-4055-B3CE-96C3B7C66DCD}"/>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1099ACD-5484-4664-8010-F901F8885EDA}"/>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69522F3-4E8F-46C6-809E-E2A66B821E09}" type="datetimeFigureOut">
              <a:rPr lang="zh-CN" altLang="en-US"/>
              <a:pPr>
                <a:defRPr/>
              </a:pPr>
              <a:t>2024/11/7</a:t>
            </a:fld>
            <a:endParaRPr lang="zh-CN" altLang="en-US"/>
          </a:p>
        </p:txBody>
      </p:sp>
      <p:sp>
        <p:nvSpPr>
          <p:cNvPr id="5" name="页脚占位符 4">
            <a:extLst>
              <a:ext uri="{FF2B5EF4-FFF2-40B4-BE49-F238E27FC236}">
                <a16:creationId xmlns:a16="http://schemas.microsoft.com/office/drawing/2014/main" id="{A9ABCC43-AF1B-4E5E-A12F-999B3CE4B53D}"/>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a:extLst>
              <a:ext uri="{FF2B5EF4-FFF2-40B4-BE49-F238E27FC236}">
                <a16:creationId xmlns:a16="http://schemas.microsoft.com/office/drawing/2014/main" id="{4AD7DE29-F9B3-4C85-A707-B5D35972BCBA}"/>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defRPr>
            </a:lvl1pPr>
          </a:lstStyle>
          <a:p>
            <a:pPr>
              <a:defRPr/>
            </a:pPr>
            <a:fld id="{A76952D7-EF9B-4A41-BF2E-379404780C76}"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5035" r:id="rId1"/>
    <p:sldLayoutId id="2147485036" r:id="rId2"/>
    <p:sldLayoutId id="2147485037" r:id="rId3"/>
    <p:sldLayoutId id="2147485038" r:id="rId4"/>
    <p:sldLayoutId id="2147485039" r:id="rId5"/>
    <p:sldLayoutId id="2147485040" r:id="rId6"/>
    <p:sldLayoutId id="2147485041" r:id="rId7"/>
    <p:sldLayoutId id="2147485042" r:id="rId8"/>
    <p:sldLayoutId id="2147485043" r:id="rId9"/>
    <p:sldLayoutId id="2147485044" r:id="rId10"/>
    <p:sldLayoutId id="2147485045"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标题占位符 1">
            <a:extLst>
              <a:ext uri="{FF2B5EF4-FFF2-40B4-BE49-F238E27FC236}">
                <a16:creationId xmlns:a16="http://schemas.microsoft.com/office/drawing/2014/main" id="{37325569-1B1B-4B17-B328-4712ED632871}"/>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文本占位符 2">
            <a:extLst>
              <a:ext uri="{FF2B5EF4-FFF2-40B4-BE49-F238E27FC236}">
                <a16:creationId xmlns:a16="http://schemas.microsoft.com/office/drawing/2014/main" id="{2A64365C-8E96-4F73-88BC-BDB5830226B7}"/>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F5FCD62-AC2E-43C2-BE76-D287AC30A5C9}"/>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AA1BA76D-D034-4490-A9E2-343D9DF6B426}" type="datetimeFigureOut">
              <a:rPr lang="zh-CN" altLang="en-US"/>
              <a:pPr>
                <a:defRPr/>
              </a:pPr>
              <a:t>2024/11/7</a:t>
            </a:fld>
            <a:endParaRPr lang="zh-CN" altLang="en-US"/>
          </a:p>
        </p:txBody>
      </p:sp>
      <p:sp>
        <p:nvSpPr>
          <p:cNvPr id="5" name="页脚占位符 4">
            <a:extLst>
              <a:ext uri="{FF2B5EF4-FFF2-40B4-BE49-F238E27FC236}">
                <a16:creationId xmlns:a16="http://schemas.microsoft.com/office/drawing/2014/main" id="{876A6EFD-1465-4335-BB27-48965E1FE739}"/>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a:extLst>
              <a:ext uri="{FF2B5EF4-FFF2-40B4-BE49-F238E27FC236}">
                <a16:creationId xmlns:a16="http://schemas.microsoft.com/office/drawing/2014/main" id="{203D60C0-4DDC-4625-9AB7-A26C57DDE680}"/>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defRPr>
            </a:lvl1pPr>
          </a:lstStyle>
          <a:p>
            <a:pPr>
              <a:defRPr/>
            </a:pPr>
            <a:fld id="{31BD40D6-595B-47D3-879E-A122AF10D237}"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5046" r:id="rId1"/>
    <p:sldLayoutId id="2147485047" r:id="rId2"/>
    <p:sldLayoutId id="2147485048" r:id="rId3"/>
    <p:sldLayoutId id="2147485049" r:id="rId4"/>
    <p:sldLayoutId id="2147485050" r:id="rId5"/>
    <p:sldLayoutId id="2147485051" r:id="rId6"/>
    <p:sldLayoutId id="2147485052" r:id="rId7"/>
    <p:sldLayoutId id="2147485053" r:id="rId8"/>
    <p:sldLayoutId id="2147485054" r:id="rId9"/>
    <p:sldLayoutId id="2147485055" r:id="rId10"/>
    <p:sldLayoutId id="2147485056"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Title Placeholder 1">
            <a:extLst>
              <a:ext uri="{FF2B5EF4-FFF2-40B4-BE49-F238E27FC236}">
                <a16:creationId xmlns:a16="http://schemas.microsoft.com/office/drawing/2014/main" id="{EEDA3903-E769-4A98-B2AC-6A1876D4D00E}"/>
              </a:ext>
            </a:extLst>
          </p:cNvPr>
          <p:cNvSpPr>
            <a:spLocks noGrp="1" noChangeArrowheads="1"/>
          </p:cNvSpPr>
          <p:nvPr>
            <p:ph type="title"/>
          </p:nvPr>
        </p:nvSpPr>
        <p:spPr bwMode="auto">
          <a:xfrm>
            <a:off x="633413"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4099" name="Text Placeholder 2">
            <a:extLst>
              <a:ext uri="{FF2B5EF4-FFF2-40B4-BE49-F238E27FC236}">
                <a16:creationId xmlns:a16="http://schemas.microsoft.com/office/drawing/2014/main" id="{BA018CC4-E6C3-409F-A47D-F932743FFF94}"/>
              </a:ext>
            </a:extLst>
          </p:cNvPr>
          <p:cNvSpPr>
            <a:spLocks noGrp="1" noChangeArrowheads="1"/>
          </p:cNvSpPr>
          <p:nvPr>
            <p:ph type="body" idx="1"/>
          </p:nvPr>
        </p:nvSpPr>
        <p:spPr bwMode="auto">
          <a:xfrm>
            <a:off x="633413" y="1828800"/>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4" name="Date Placeholder 3">
            <a:extLst>
              <a:ext uri="{FF2B5EF4-FFF2-40B4-BE49-F238E27FC236}">
                <a16:creationId xmlns:a16="http://schemas.microsoft.com/office/drawing/2014/main" id="{D68CCD12-EAFF-4F24-82AC-F30E3AE99810}"/>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pPr>
              <a:defRPr/>
            </a:pPr>
            <a:endParaRPr lang="en-US" altLang="zh-CN"/>
          </a:p>
        </p:txBody>
      </p:sp>
      <p:sp>
        <p:nvSpPr>
          <p:cNvPr id="5" name="Footer Placeholder 4">
            <a:extLst>
              <a:ext uri="{FF2B5EF4-FFF2-40B4-BE49-F238E27FC236}">
                <a16:creationId xmlns:a16="http://schemas.microsoft.com/office/drawing/2014/main" id="{86A6808D-1942-494C-8DF0-1089DDB9AD7B}"/>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pPr>
              <a:defRPr/>
            </a:pPr>
            <a:endParaRPr lang="en-US" altLang="zh-CN"/>
          </a:p>
        </p:txBody>
      </p:sp>
      <p:sp>
        <p:nvSpPr>
          <p:cNvPr id="6" name="Slide Number Placeholder 5">
            <a:extLst>
              <a:ext uri="{FF2B5EF4-FFF2-40B4-BE49-F238E27FC236}">
                <a16:creationId xmlns:a16="http://schemas.microsoft.com/office/drawing/2014/main" id="{02D995F8-4B68-415C-942E-E1A75C6DBCE7}"/>
              </a:ext>
            </a:extLst>
          </p:cNvPr>
          <p:cNvSpPr>
            <a:spLocks noGrp="1"/>
          </p:cNvSpPr>
          <p:nvPr>
            <p:ph type="sldNum" sz="quarter" idx="4"/>
          </p:nvPr>
        </p:nvSpPr>
        <p:spPr>
          <a:xfrm>
            <a:off x="6462713"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800" smtClean="0">
                <a:solidFill>
                  <a:srgbClr val="898989"/>
                </a:solidFill>
              </a:defRPr>
            </a:lvl1pPr>
          </a:lstStyle>
          <a:p>
            <a:pPr>
              <a:defRPr/>
            </a:pPr>
            <a:fld id="{1E2DC961-7D88-4FF7-89D1-D53EDDF2DB43}"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5069" r:id="rId1"/>
    <p:sldLayoutId id="2147485070" r:id="rId2"/>
    <p:sldLayoutId id="2147485071" r:id="rId3"/>
    <p:sldLayoutId id="2147485072" r:id="rId4"/>
    <p:sldLayoutId id="2147485073" r:id="rId5"/>
    <p:sldLayoutId id="2147485074" r:id="rId6"/>
    <p:sldLayoutId id="2147485075" r:id="rId7"/>
    <p:sldLayoutId id="2147485076" r:id="rId8"/>
    <p:sldLayoutId id="2147485077" r:id="rId9"/>
    <p:sldLayoutId id="2147485078" r:id="rId10"/>
    <p:sldLayoutId id="2147485079" r:id="rId11"/>
  </p:sldLayoutIdLst>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Wingdings 2" panose="05020102010507070707" pitchFamily="18" charset="2"/>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Wingdings 2" panose="05020102010507070707" pitchFamily="18" charset="2"/>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Wingdings 2" panose="05020102010507070707" pitchFamily="18" charset="2"/>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Wingdings 2" panose="05020102010507070707" pitchFamily="18" charset="2"/>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Wingdings 2" panose="05020102010507070707" pitchFamily="18" charset="2"/>
        <a:buChar char=""/>
        <a:defRPr sz="130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11.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10.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83.png"/></Relationships>
</file>

<file path=ppt/slides/_rels/slide1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1.png"/><Relationship Id="rId1" Type="http://schemas.openxmlformats.org/officeDocument/2006/relationships/slideLayout" Target="../slideLayouts/slideLayout2.xml"/><Relationship Id="rId4" Type="http://schemas.openxmlformats.org/officeDocument/2006/relationships/image" Target="../media/image150.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18.emf"/><Relationship Id="rId5" Type="http://schemas.openxmlformats.org/officeDocument/2006/relationships/image" Target="../media/image19.png"/><Relationship Id="rId4" Type="http://schemas.openxmlformats.org/officeDocument/2006/relationships/image" Target="../media/image17.emf"/></Relationships>
</file>

<file path=ppt/slides/_rels/slide29.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0.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8" Type="http://schemas.openxmlformats.org/officeDocument/2006/relationships/image" Target="../media/image26.png"/><Relationship Id="rId7" Type="http://schemas.openxmlformats.org/officeDocument/2006/relationships/image" Target="../media/image23.emf"/><Relationship Id="rId2" Type="http://schemas.openxmlformats.org/officeDocument/2006/relationships/image" Target="../media/image21.emf"/><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2.emf"/><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0.emf"/><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3.emf"/><Relationship Id="rId4" Type="http://schemas.openxmlformats.org/officeDocument/2006/relationships/image" Target="../media/image42.emf"/></Relationships>
</file>

<file path=ppt/slides/_rels/slide40.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Layout" Target="../slideLayouts/slideLayout2.xml"/><Relationship Id="rId6" Type="http://schemas.openxmlformats.org/officeDocument/2006/relationships/image" Target="../media/image48.emf"/><Relationship Id="rId5" Type="http://schemas.openxmlformats.org/officeDocument/2006/relationships/image" Target="../media/image47.emf"/><Relationship Id="rId4" Type="http://schemas.openxmlformats.org/officeDocument/2006/relationships/image" Target="../media/image46.emf"/></Relationships>
</file>

<file path=ppt/slides/_rels/slide41.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slideLayout" Target="../slideLayouts/slideLayout2.xml"/><Relationship Id="rId4" Type="http://schemas.openxmlformats.org/officeDocument/2006/relationships/image" Target="../media/image51.emf"/></Relationships>
</file>

<file path=ppt/slides/_rels/slide4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slideLayout" Target="../slideLayouts/slideLayout2.xml"/><Relationship Id="rId5" Type="http://schemas.openxmlformats.org/officeDocument/2006/relationships/image" Target="../media/image55.emf"/><Relationship Id="rId4" Type="http://schemas.openxmlformats.org/officeDocument/2006/relationships/image" Target="../media/image54.emf"/></Relationships>
</file>

<file path=ppt/slides/_rels/slide4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5" Type="http://schemas.openxmlformats.org/officeDocument/2006/relationships/image" Target="../media/image57.emf"/><Relationship Id="rId4" Type="http://schemas.openxmlformats.org/officeDocument/2006/relationships/image" Target="../media/image56.emf"/></Relationships>
</file>

<file path=ppt/slides/_rels/slide47.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emf"/><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0.emf"/></Relationships>
</file>

<file path=ppt/slides/_rels/slide48.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image" Target="../media/image58.emf"/><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5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1.emf"/><Relationship Id="rId1" Type="http://schemas.openxmlformats.org/officeDocument/2006/relationships/slideLayout" Target="../slideLayouts/slideLayout2.xml"/><Relationship Id="rId4" Type="http://schemas.openxmlformats.org/officeDocument/2006/relationships/image" Target="../media/image72.emf"/></Relationships>
</file>

<file path=ppt/slides/_rels/slide5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80.png"/></Relationships>
</file>

<file path=ppt/slides/_rels/slide5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74.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21.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61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671.png"/><Relationship Id="rId1" Type="http://schemas.openxmlformats.org/officeDocument/2006/relationships/slideLayout" Target="../slideLayouts/slideLayout2.xml"/><Relationship Id="rId4" Type="http://schemas.openxmlformats.org/officeDocument/2006/relationships/image" Target="../media/image821.png"/></Relationships>
</file>

<file path=ppt/slides/_rels/slide63.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image" Target="../media/image84.emf"/><Relationship Id="rId1" Type="http://schemas.openxmlformats.org/officeDocument/2006/relationships/slideLayout" Target="../slideLayouts/slideLayout2.xml"/><Relationship Id="rId4" Type="http://schemas.openxmlformats.org/officeDocument/2006/relationships/image" Target="../media/image85.emf"/></Relationships>
</file>

<file path=ppt/slides/_rels/slide64.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image" Target="../media/image670.png"/><Relationship Id="rId1" Type="http://schemas.openxmlformats.org/officeDocument/2006/relationships/slideLayout" Target="../slideLayouts/slideLayout2.xml"/><Relationship Id="rId5" Type="http://schemas.openxmlformats.org/officeDocument/2006/relationships/image" Target="../media/image730.png"/><Relationship Id="rId4" Type="http://schemas.openxmlformats.org/officeDocument/2006/relationships/image" Target="../media/image750.png"/></Relationships>
</file>

<file path=ppt/slides/_rels/slide65.xml.rels><?xml version="1.0" encoding="UTF-8" standalone="yes"?>
<Relationships xmlns="http://schemas.openxmlformats.org/package/2006/relationships"><Relationship Id="rId3" Type="http://schemas.openxmlformats.org/officeDocument/2006/relationships/image" Target="../media/image820.png"/><Relationship Id="rId2" Type="http://schemas.openxmlformats.org/officeDocument/2006/relationships/image" Target="../media/image770.png"/><Relationship Id="rId1" Type="http://schemas.openxmlformats.org/officeDocument/2006/relationships/slideLayout" Target="../slideLayouts/slideLayout2.xml"/><Relationship Id="rId4" Type="http://schemas.openxmlformats.org/officeDocument/2006/relationships/image" Target="../media/image840.png"/></Relationships>
</file>

<file path=ppt/slides/_rels/slide66.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6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92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94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960.png"/><Relationship Id="rId2" Type="http://schemas.openxmlformats.org/officeDocument/2006/relationships/image" Target="../media/image95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80.xml.rels><?xml version="1.0" encoding="UTF-8" standalone="yes"?>
<Relationships xmlns="http://schemas.openxmlformats.org/package/2006/relationships"><Relationship Id="rId3" Type="http://schemas.openxmlformats.org/officeDocument/2006/relationships/image" Target="../media/image111.png"/><Relationship Id="rId7" Type="http://schemas.openxmlformats.org/officeDocument/2006/relationships/image" Target="../media/image115.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s>
</file>

<file path=ppt/slides/_rels/slide8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 Id="rId5" Type="http://schemas.openxmlformats.org/officeDocument/2006/relationships/image" Target="../media/image119.png"/><Relationship Id="rId4" Type="http://schemas.openxmlformats.org/officeDocument/2006/relationships/image" Target="../media/image118.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image" Target="../media/image97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990.png"/><Relationship Id="rId2" Type="http://schemas.openxmlformats.org/officeDocument/2006/relationships/image" Target="../media/image98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95.emf"/><Relationship Id="rId2" Type="http://schemas.openxmlformats.org/officeDocument/2006/relationships/image" Target="../media/image1030.png"/><Relationship Id="rId1" Type="http://schemas.openxmlformats.org/officeDocument/2006/relationships/slideLayout" Target="../slideLayouts/slideLayout2.xml"/><Relationship Id="rId4" Type="http://schemas.openxmlformats.org/officeDocument/2006/relationships/image" Target="../media/image1051.png"/></Relationships>
</file>

<file path=ppt/slides/_rels/slide86.x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image" Target="../media/image104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070.png"/><Relationship Id="rId2" Type="http://schemas.openxmlformats.org/officeDocument/2006/relationships/image" Target="../media/image1060.png"/><Relationship Id="rId1" Type="http://schemas.openxmlformats.org/officeDocument/2006/relationships/slideLayout" Target="../slideLayouts/slideLayout2.xml"/><Relationship Id="rId4" Type="http://schemas.openxmlformats.org/officeDocument/2006/relationships/image" Target="../media/image97.emf"/></Relationships>
</file>

<file path=ppt/slides/_rels/slide88.xml.rels><?xml version="1.0" encoding="UTF-8" standalone="yes"?>
<Relationships xmlns="http://schemas.openxmlformats.org/package/2006/relationships"><Relationship Id="rId3" Type="http://schemas.openxmlformats.org/officeDocument/2006/relationships/image" Target="../media/image98.emf"/><Relationship Id="rId2" Type="http://schemas.openxmlformats.org/officeDocument/2006/relationships/image" Target="../media/image1090.png"/><Relationship Id="rId1" Type="http://schemas.openxmlformats.org/officeDocument/2006/relationships/slideLayout" Target="../slideLayouts/slideLayout2.xml"/><Relationship Id="rId5" Type="http://schemas.openxmlformats.org/officeDocument/2006/relationships/image" Target="../media/image99.emf"/><Relationship Id="rId4" Type="http://schemas.openxmlformats.org/officeDocument/2006/relationships/image" Target="../media/image1110.png"/></Relationships>
</file>

<file path=ppt/slides/_rels/slide89.xml.rels><?xml version="1.0" encoding="UTF-8" standalone="yes"?>
<Relationships xmlns="http://schemas.openxmlformats.org/package/2006/relationships"><Relationship Id="rId3" Type="http://schemas.openxmlformats.org/officeDocument/2006/relationships/image" Target="../media/image1140.png"/><Relationship Id="rId2" Type="http://schemas.openxmlformats.org/officeDocument/2006/relationships/image" Target="../media/image1130.png"/><Relationship Id="rId1" Type="http://schemas.openxmlformats.org/officeDocument/2006/relationships/slideLayout" Target="../slideLayouts/slideLayout2.xml"/><Relationship Id="rId6" Type="http://schemas.openxmlformats.org/officeDocument/2006/relationships/image" Target="../media/image1170.png"/><Relationship Id="rId5" Type="http://schemas.openxmlformats.org/officeDocument/2006/relationships/image" Target="../media/image1160.png"/><Relationship Id="rId4" Type="http://schemas.openxmlformats.org/officeDocument/2006/relationships/image" Target="../media/image100.emf"/></Relationships>
</file>

<file path=ppt/slides/_rels/slide90.xml.rels><?xml version="1.0" encoding="UTF-8" standalone="yes"?>
<Relationships xmlns="http://schemas.openxmlformats.org/package/2006/relationships"><Relationship Id="rId3" Type="http://schemas.openxmlformats.org/officeDocument/2006/relationships/image" Target="../media/image1190.png"/><Relationship Id="rId2" Type="http://schemas.openxmlformats.org/officeDocument/2006/relationships/image" Target="../media/image1180.png"/><Relationship Id="rId1" Type="http://schemas.openxmlformats.org/officeDocument/2006/relationships/slideLayout" Target="../slideLayouts/slideLayout2.xml"/><Relationship Id="rId4" Type="http://schemas.openxmlformats.org/officeDocument/2006/relationships/image" Target="../media/image1100.png"/></Relationships>
</file>

<file path=ppt/slides/_rels/slide9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120.png"/><Relationship Id="rId1" Type="http://schemas.openxmlformats.org/officeDocument/2006/relationships/slideLayout" Target="../slideLayouts/slideLayout2.xml"/><Relationship Id="rId6" Type="http://schemas.openxmlformats.org/officeDocument/2006/relationships/image" Target="../media/image101.emf"/><Relationship Id="rId5" Type="http://schemas.openxmlformats.org/officeDocument/2006/relationships/image" Target="../media/image1020.png"/></Relationships>
</file>

<file path=ppt/slides/_rels/slide92.xml.rels><?xml version="1.0" encoding="UTF-8" standalone="yes"?>
<Relationships xmlns="http://schemas.openxmlformats.org/package/2006/relationships"><Relationship Id="rId3" Type="http://schemas.openxmlformats.org/officeDocument/2006/relationships/image" Target="../media/image102.emf"/><Relationship Id="rId2" Type="http://schemas.openxmlformats.org/officeDocument/2006/relationships/image" Target="../media/image102.png"/><Relationship Id="rId1" Type="http://schemas.openxmlformats.org/officeDocument/2006/relationships/slideLayout" Target="../slideLayouts/slideLayout2.xml"/><Relationship Id="rId4" Type="http://schemas.openxmlformats.org/officeDocument/2006/relationships/image" Target="../media/image10200.png"/></Relationships>
</file>

<file path=ppt/slides/_rels/slide93.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03.emf"/><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05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05.emf"/><Relationship Id="rId2" Type="http://schemas.openxmlformats.org/officeDocument/2006/relationships/image" Target="../media/image104.emf"/><Relationship Id="rId1" Type="http://schemas.openxmlformats.org/officeDocument/2006/relationships/slideLayout" Target="../slideLayouts/slideLayout2.xml"/><Relationship Id="rId5" Type="http://schemas.openxmlformats.org/officeDocument/2006/relationships/image" Target="../media/image107.emf"/><Relationship Id="rId4" Type="http://schemas.openxmlformats.org/officeDocument/2006/relationships/image" Target="../media/image106.emf"/></Relationships>
</file>

<file path=ppt/slides/_rels/slide98.xml.rels><?xml version="1.0" encoding="UTF-8" standalone="yes"?>
<Relationships xmlns="http://schemas.openxmlformats.org/package/2006/relationships"><Relationship Id="rId3" Type="http://schemas.openxmlformats.org/officeDocument/2006/relationships/image" Target="../media/image109.emf"/><Relationship Id="rId2" Type="http://schemas.openxmlformats.org/officeDocument/2006/relationships/image" Target="../media/image108.emf"/><Relationship Id="rId1" Type="http://schemas.openxmlformats.org/officeDocument/2006/relationships/slideLayout" Target="../slideLayouts/slideLayout2.xml"/><Relationship Id="rId4" Type="http://schemas.openxmlformats.org/officeDocument/2006/relationships/image" Target="../media/image110.emf"/></Relationships>
</file>

<file path=ppt/slides/_rels/slide99.xml.rels><?xml version="1.0" encoding="UTF-8" standalone="yes"?>
<Relationships xmlns="http://schemas.openxmlformats.org/package/2006/relationships"><Relationship Id="rId3" Type="http://schemas.openxmlformats.org/officeDocument/2006/relationships/image" Target="../media/image111.emf"/><Relationship Id="rId7" Type="http://schemas.openxmlformats.org/officeDocument/2006/relationships/image" Target="../media/image132.png"/><Relationship Id="rId2" Type="http://schemas.openxmlformats.org/officeDocument/2006/relationships/image" Target="../media/image1150.png"/><Relationship Id="rId1" Type="http://schemas.openxmlformats.org/officeDocument/2006/relationships/slideLayout" Target="../slideLayouts/slideLayout2.xml"/><Relationship Id="rId6" Type="http://schemas.openxmlformats.org/officeDocument/2006/relationships/image" Target="../media/image112.emf"/><Relationship Id="rId5" Type="http://schemas.openxmlformats.org/officeDocument/2006/relationships/image" Target="../media/image1300.png"/><Relationship Id="rId4" Type="http://schemas.openxmlformats.org/officeDocument/2006/relationships/image" Target="../media/image1290.png"/></Relationships>
</file>

<file path=ppt/slides/_rels/slide100.xml.rels><?xml version="1.0" encoding="UTF-8" standalone="yes"?>
<Relationships xmlns="http://schemas.openxmlformats.org/package/2006/relationships"><Relationship Id="rId3" Type="http://schemas.openxmlformats.org/officeDocument/2006/relationships/image" Target="../media/image113.emf"/><Relationship Id="rId2" Type="http://schemas.openxmlformats.org/officeDocument/2006/relationships/image" Target="../media/image1320.png"/><Relationship Id="rId1" Type="http://schemas.openxmlformats.org/officeDocument/2006/relationships/slideLayout" Target="../slideLayouts/slideLayout2.xml"/><Relationship Id="rId6" Type="http://schemas.openxmlformats.org/officeDocument/2006/relationships/image" Target="../media/image136.png"/><Relationship Id="rId5" Type="http://schemas.openxmlformats.org/officeDocument/2006/relationships/image" Target="../media/image115.emf"/><Relationship Id="rId4" Type="http://schemas.openxmlformats.org/officeDocument/2006/relationships/image" Target="../media/image114.emf"/></Relationships>
</file>

<file path=ppt/slides/_rels/slide101.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16.emf"/><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102.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21.emf"/><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27.emf"/><Relationship Id="rId2" Type="http://schemas.openxmlformats.org/officeDocument/2006/relationships/image" Target="../media/image126.png"/><Relationship Id="rId1" Type="http://schemas.openxmlformats.org/officeDocument/2006/relationships/slideLayout" Target="../slideLayouts/slideLayout2.xml"/><Relationship Id="rId4" Type="http://schemas.openxmlformats.org/officeDocument/2006/relationships/image" Target="../media/image128.emf"/></Relationships>
</file>

<file path=ppt/slides/_rels/slide109.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46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470.png"/><Relationship Id="rId2" Type="http://schemas.openxmlformats.org/officeDocument/2006/relationships/image" Target="../media/image1460.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520.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42.emf"/><Relationship Id="rId2" Type="http://schemas.openxmlformats.org/officeDocument/2006/relationships/image" Target="../media/image141.emf"/><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52.emf"/><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360.png"/><Relationship Id="rId2" Type="http://schemas.openxmlformats.org/officeDocument/2006/relationships/image" Target="../media/image1350.png"/><Relationship Id="rId1" Type="http://schemas.openxmlformats.org/officeDocument/2006/relationships/slideLayout" Target="../slideLayouts/slideLayout2.xml"/><Relationship Id="rId4" Type="http://schemas.openxmlformats.org/officeDocument/2006/relationships/image" Target="../media/image1370.png"/></Relationships>
</file>

<file path=ppt/slides/_rels/slide129.xml.rels><?xml version="1.0" encoding="UTF-8" standalone="yes"?>
<Relationships xmlns="http://schemas.openxmlformats.org/package/2006/relationships"><Relationship Id="rId2" Type="http://schemas.openxmlformats.org/officeDocument/2006/relationships/image" Target="../media/image153.emf"/><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2.xml"/><Relationship Id="rId5" Type="http://schemas.openxmlformats.org/officeDocument/2006/relationships/image" Target="../media/image158.png"/><Relationship Id="rId4" Type="http://schemas.openxmlformats.org/officeDocument/2006/relationships/image" Target="../media/image15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3">
            <a:extLst>
              <a:ext uri="{FF2B5EF4-FFF2-40B4-BE49-F238E27FC236}">
                <a16:creationId xmlns:a16="http://schemas.microsoft.com/office/drawing/2014/main" id="{E6E024B2-E338-47D3-B952-17C8D3CA11A6}"/>
              </a:ext>
            </a:extLst>
          </p:cNvPr>
          <p:cNvSpPr>
            <a:spLocks noGrp="1"/>
          </p:cNvSpPr>
          <p:nvPr>
            <p:ph type="title" idx="4294967295"/>
          </p:nvPr>
        </p:nvSpPr>
        <p:spPr>
          <a:xfrm>
            <a:off x="623888" y="1709738"/>
            <a:ext cx="7886700" cy="2852737"/>
          </a:xfrm>
        </p:spPr>
        <p:txBody>
          <a:bodyPr/>
          <a:lstStyle/>
          <a:p>
            <a:pPr marL="457200" indent="-457200" eaLnBrk="1" hangingPunct="1">
              <a:defRPr/>
            </a:pPr>
            <a:br>
              <a:rPr lang="zh-CN" altLang="zh-CN" sz="6000">
                <a:effectLst>
                  <a:outerShdw blurRad="38100" dist="38100" dir="2700000" algn="tl">
                    <a:srgbClr val="C0C0C0"/>
                  </a:outerShdw>
                </a:effectLst>
              </a:rPr>
            </a:br>
            <a:endParaRPr lang="zh-CN" altLang="zh-CN" sz="6000">
              <a:effectLst>
                <a:outerShdw blurRad="38100" dist="38100" dir="2700000" algn="tl">
                  <a:srgbClr val="C0C0C0"/>
                </a:outerShdw>
              </a:effectLst>
            </a:endParaRPr>
          </a:p>
        </p:txBody>
      </p:sp>
      <p:sp>
        <p:nvSpPr>
          <p:cNvPr id="31747" name="文本占位符 4">
            <a:extLst>
              <a:ext uri="{FF2B5EF4-FFF2-40B4-BE49-F238E27FC236}">
                <a16:creationId xmlns:a16="http://schemas.microsoft.com/office/drawing/2014/main" id="{A3143DA6-CFC3-4C1F-8561-41F8006CA61A}"/>
              </a:ext>
            </a:extLst>
          </p:cNvPr>
          <p:cNvSpPr>
            <a:spLocks noGrp="1" noChangeArrowheads="1"/>
          </p:cNvSpPr>
          <p:nvPr>
            <p:ph type="body" idx="4294967295"/>
          </p:nvPr>
        </p:nvSpPr>
        <p:spPr>
          <a:xfrm>
            <a:off x="1029175" y="959644"/>
            <a:ext cx="6300700" cy="1500188"/>
          </a:xfrm>
        </p:spPr>
        <p:txBody>
          <a:bodyPr/>
          <a:lstStyle/>
          <a:p>
            <a:pPr marL="0" indent="0" eaLnBrk="1" hangingPunct="1">
              <a:buFontTx/>
              <a:buNone/>
            </a:pPr>
            <a:r>
              <a:rPr lang="zh-CN" altLang="en-US" sz="6600" dirty="0">
                <a:solidFill>
                  <a:srgbClr val="10181C"/>
                </a:solidFill>
              </a:rPr>
              <a:t>第</a:t>
            </a:r>
            <a:r>
              <a:rPr lang="en-US" altLang="zh-CN" sz="6600" dirty="0">
                <a:solidFill>
                  <a:srgbClr val="10181C"/>
                </a:solidFill>
              </a:rPr>
              <a:t>3</a:t>
            </a:r>
            <a:r>
              <a:rPr lang="zh-CN" altLang="en-US" sz="6600" dirty="0">
                <a:solidFill>
                  <a:srgbClr val="10181C"/>
                </a:solidFill>
              </a:rPr>
              <a:t>章 随机模拟</a:t>
            </a:r>
            <a:endParaRPr lang="zh-CN" altLang="zh-CN" sz="6600" dirty="0">
              <a:solidFill>
                <a:srgbClr val="10181C"/>
              </a:solidFill>
            </a:endParaRPr>
          </a:p>
        </p:txBody>
      </p:sp>
      <p:sp>
        <p:nvSpPr>
          <p:cNvPr id="31748" name="Rectangle 3">
            <a:extLst>
              <a:ext uri="{FF2B5EF4-FFF2-40B4-BE49-F238E27FC236}">
                <a16:creationId xmlns:a16="http://schemas.microsoft.com/office/drawing/2014/main" id="{6AB8C210-2E54-4F36-809C-4F77A4B7AC2A}"/>
              </a:ext>
            </a:extLst>
          </p:cNvPr>
          <p:cNvSpPr txBox="1">
            <a:spLocks noChangeArrowheads="1"/>
          </p:cNvSpPr>
          <p:nvPr/>
        </p:nvSpPr>
        <p:spPr bwMode="auto">
          <a:xfrm>
            <a:off x="1043850" y="2367208"/>
            <a:ext cx="6300700" cy="3842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marL="457200" indent="-457200">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marL="457200" marR="0" lvl="0" indent="-457200" algn="just" defTabSz="914400" rtl="0" eaLnBrk="1" fontAlgn="base" latinLnBrk="0" hangingPunct="1">
              <a:lnSpc>
                <a:spcPct val="100000"/>
              </a:lnSpc>
              <a:spcBef>
                <a:spcPct val="20000"/>
              </a:spcBef>
              <a:spcAft>
                <a:spcPct val="0"/>
              </a:spcAft>
              <a:buClr>
                <a:srgbClr val="800080"/>
              </a:buClr>
              <a:buSzPct val="60000"/>
              <a:buFont typeface="Wingdings" panose="05000000000000000000" pitchFamily="2" charset="2"/>
              <a:buChar char="n"/>
              <a:tabLst/>
              <a:defRPr/>
            </a:pPr>
            <a:r>
              <a:rPr kumimoji="0" lang="en-US" altLang="zh-CN"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3.1 </a:t>
            </a:r>
            <a:r>
              <a:rPr kumimoji="0" lang="zh-CN" altLang="en-US"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随机模拟介绍</a:t>
            </a:r>
            <a:endParaRPr kumimoji="0" lang="en-US" altLang="zh-CN"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457200" marR="0" lvl="0" indent="-457200" algn="just" defTabSz="914400" rtl="0" eaLnBrk="1" fontAlgn="base" latinLnBrk="0" hangingPunct="1">
              <a:lnSpc>
                <a:spcPct val="100000"/>
              </a:lnSpc>
              <a:spcBef>
                <a:spcPct val="20000"/>
              </a:spcBef>
              <a:spcAft>
                <a:spcPct val="0"/>
              </a:spcAft>
              <a:buClr>
                <a:srgbClr val="800080"/>
              </a:buClr>
              <a:buSzPct val="60000"/>
              <a:buFont typeface="Wingdings" panose="05000000000000000000" pitchFamily="2" charset="2"/>
              <a:buChar char="n"/>
              <a:tabLst/>
              <a:defRPr/>
            </a:pPr>
            <a:r>
              <a:rPr kumimoji="0" lang="en-US" altLang="zh-CN"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3.2 </a:t>
            </a:r>
            <a:r>
              <a:rPr kumimoji="0" lang="zh-CN" altLang="en-US"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随机模拟积分</a:t>
            </a:r>
            <a:endParaRPr kumimoji="0" lang="en-US" altLang="zh-CN"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457200" marR="0" lvl="0" indent="-457200" algn="just" defTabSz="914400" rtl="0" eaLnBrk="1" fontAlgn="base" latinLnBrk="0" hangingPunct="1">
              <a:lnSpc>
                <a:spcPct val="100000"/>
              </a:lnSpc>
              <a:spcBef>
                <a:spcPct val="20000"/>
              </a:spcBef>
              <a:spcAft>
                <a:spcPct val="0"/>
              </a:spcAft>
              <a:buClr>
                <a:srgbClr val="800080"/>
              </a:buClr>
              <a:buSzPct val="60000"/>
              <a:buFont typeface="Wingdings" panose="05000000000000000000" pitchFamily="2" charset="2"/>
              <a:buChar char="n"/>
              <a:tabLst/>
              <a:defRPr/>
            </a:pPr>
            <a:r>
              <a:rPr kumimoji="0" lang="en-US" altLang="zh-CN"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3.3 </a:t>
            </a:r>
            <a:r>
              <a:rPr kumimoji="0" lang="zh-CN" altLang="en-US"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重要抽样法</a:t>
            </a:r>
            <a:endParaRPr kumimoji="0" lang="en-US" altLang="zh-CN"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457200" marR="0" lvl="0" indent="-457200" algn="just" defTabSz="914400" rtl="0" eaLnBrk="1" fontAlgn="base" latinLnBrk="0" hangingPunct="1">
              <a:lnSpc>
                <a:spcPct val="100000"/>
              </a:lnSpc>
              <a:spcBef>
                <a:spcPct val="20000"/>
              </a:spcBef>
              <a:spcAft>
                <a:spcPct val="0"/>
              </a:spcAft>
              <a:buClr>
                <a:srgbClr val="800080"/>
              </a:buClr>
              <a:buSzPct val="60000"/>
              <a:buFont typeface="Wingdings" panose="05000000000000000000" pitchFamily="2" charset="2"/>
              <a:buChar char="n"/>
              <a:tabLst/>
              <a:defRPr/>
            </a:pPr>
            <a:r>
              <a:rPr kumimoji="0" lang="en-US" altLang="zh-CN"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3.4 </a:t>
            </a:r>
            <a:r>
              <a:rPr kumimoji="0" lang="zh-CN" altLang="en-US"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分层抽样法</a:t>
            </a:r>
            <a:endParaRPr kumimoji="0" lang="en-US" altLang="zh-CN"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457200" marR="0" lvl="0" indent="-457200" algn="just" defTabSz="914400" rtl="0" eaLnBrk="1" fontAlgn="base" latinLnBrk="0" hangingPunct="1">
              <a:lnSpc>
                <a:spcPct val="100000"/>
              </a:lnSpc>
              <a:spcBef>
                <a:spcPct val="20000"/>
              </a:spcBef>
              <a:spcAft>
                <a:spcPct val="0"/>
              </a:spcAft>
              <a:buClr>
                <a:srgbClr val="800080"/>
              </a:buClr>
              <a:buSzPct val="60000"/>
              <a:buFont typeface="Wingdings" panose="05000000000000000000" pitchFamily="2" charset="2"/>
              <a:buChar char="n"/>
              <a:tabLst/>
              <a:defRPr/>
            </a:pPr>
            <a:r>
              <a:rPr kumimoji="0" lang="en-US" altLang="zh-CN"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3.5 </a:t>
            </a:r>
            <a:r>
              <a:rPr kumimoji="0" lang="zh-CN" altLang="en-US"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方差缩减技术</a:t>
            </a:r>
            <a:endParaRPr kumimoji="0" lang="en-US" altLang="zh-CN"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457200" marR="0" lvl="0" indent="-457200" algn="just" defTabSz="914400" rtl="0" eaLnBrk="1" fontAlgn="base" latinLnBrk="0" hangingPunct="1">
              <a:lnSpc>
                <a:spcPct val="100000"/>
              </a:lnSpc>
              <a:spcBef>
                <a:spcPct val="20000"/>
              </a:spcBef>
              <a:spcAft>
                <a:spcPct val="0"/>
              </a:spcAft>
              <a:buClr>
                <a:srgbClr val="800080"/>
              </a:buClr>
              <a:buSzPct val="60000"/>
              <a:buFont typeface="Wingdings" panose="05000000000000000000" pitchFamily="2" charset="2"/>
              <a:buChar char="n"/>
              <a:tabLst/>
              <a:defRPr/>
            </a:pPr>
            <a:r>
              <a:rPr kumimoji="0" lang="en-US" altLang="zh-CN"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3.6 </a:t>
            </a:r>
            <a:r>
              <a:rPr kumimoji="0" lang="zh-CN" altLang="en-US"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随机服务系统模拟</a:t>
            </a:r>
            <a:endParaRPr kumimoji="0" lang="en-US" altLang="zh-CN"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457200" marR="0" lvl="0" indent="-457200" algn="just" defTabSz="914400" rtl="0" eaLnBrk="1" fontAlgn="base" latinLnBrk="0" hangingPunct="1">
              <a:lnSpc>
                <a:spcPct val="100000"/>
              </a:lnSpc>
              <a:spcBef>
                <a:spcPct val="20000"/>
              </a:spcBef>
              <a:spcAft>
                <a:spcPct val="0"/>
              </a:spcAft>
              <a:buClr>
                <a:srgbClr val="800080"/>
              </a:buClr>
              <a:buSzPct val="60000"/>
              <a:buFont typeface="Wingdings" panose="05000000000000000000" pitchFamily="2" charset="2"/>
              <a:buChar char="n"/>
              <a:tabLst/>
              <a:defRPr/>
            </a:pPr>
            <a:r>
              <a:rPr kumimoji="0" lang="en-US" altLang="zh-CN"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3.7 </a:t>
            </a:r>
            <a:r>
              <a:rPr kumimoji="0" lang="en-US" altLang="zh-CN" sz="2800" b="1" i="0" u="none" strike="noStrike" kern="1200" cap="none" spc="0" normalizeH="0" baseline="0" noProof="0" dirty="0">
                <a:ln>
                  <a:noFill/>
                </a:ln>
                <a:solidFill>
                  <a:prstClr val="black"/>
                </a:solidFill>
                <a:effectLst/>
                <a:uLnTx/>
                <a:uFillTx/>
                <a:latin typeface="Times New Roman"/>
                <a:ea typeface="宋体" panose="02010600030101010101" pitchFamily="2" charset="-122"/>
                <a:cs typeface="+mn-cs"/>
              </a:rPr>
              <a:t>Bootstrap</a:t>
            </a:r>
            <a:r>
              <a:rPr kumimoji="0" lang="zh-CN" altLang="en-US"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方法</a:t>
            </a:r>
            <a:endParaRPr kumimoji="0" lang="en-US" altLang="zh-CN"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a:p>
            <a:pPr marL="457200" marR="0" lvl="0" indent="-457200" algn="just" defTabSz="914400" rtl="0" eaLnBrk="1" fontAlgn="base" latinLnBrk="0" hangingPunct="1">
              <a:lnSpc>
                <a:spcPct val="100000"/>
              </a:lnSpc>
              <a:spcBef>
                <a:spcPct val="20000"/>
              </a:spcBef>
              <a:spcAft>
                <a:spcPct val="0"/>
              </a:spcAft>
              <a:buClr>
                <a:srgbClr val="800080"/>
              </a:buClr>
              <a:buSzPct val="60000"/>
              <a:buFont typeface="Wingdings" panose="05000000000000000000" pitchFamily="2" charset="2"/>
              <a:buChar char="n"/>
              <a:tabLst/>
              <a:defRPr/>
            </a:pPr>
            <a:r>
              <a:rPr kumimoji="0" lang="en-US" altLang="zh-CN" sz="28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3.8 </a:t>
            </a:r>
            <a:r>
              <a:rPr kumimoji="0" lang="en-US" altLang="zh-CN" sz="2800" b="1" i="0" u="none" strike="noStrike" kern="1200" cap="none" spc="0" normalizeH="0" baseline="0" noProof="0" dirty="0">
                <a:ln>
                  <a:noFill/>
                </a:ln>
                <a:solidFill>
                  <a:prstClr val="black"/>
                </a:solidFill>
                <a:effectLst/>
                <a:uLnTx/>
                <a:uFillTx/>
                <a:latin typeface="Times New Roman"/>
                <a:ea typeface="宋体" panose="02010600030101010101" pitchFamily="2" charset="-122"/>
                <a:cs typeface="+mn-cs"/>
              </a:rPr>
              <a:t>MCMC</a:t>
            </a:r>
            <a:endParaRPr kumimoji="0" lang="zh-CN" altLang="en-US" sz="2800" b="1" i="0" u="none" strike="noStrike" kern="1200" cap="none" spc="0" normalizeH="0" baseline="0" noProof="0" dirty="0">
              <a:ln>
                <a:noFill/>
              </a:ln>
              <a:solidFill>
                <a:prstClr val="black"/>
              </a:solidFill>
              <a:effectLst/>
              <a:uLnTx/>
              <a:uFillTx/>
              <a:latin typeface="Times New Roman"/>
              <a:ea typeface="宋体" panose="02010600030101010101" pitchFamily="2" charset="-122"/>
              <a:cs typeface="+mn-cs"/>
            </a:endParaRPr>
          </a:p>
        </p:txBody>
      </p:sp>
      <p:sp>
        <p:nvSpPr>
          <p:cNvPr id="9" name="灯片编号占位符 2">
            <a:extLst>
              <a:ext uri="{FF2B5EF4-FFF2-40B4-BE49-F238E27FC236}">
                <a16:creationId xmlns:a16="http://schemas.microsoft.com/office/drawing/2014/main" id="{4B439C33-1ACB-42C5-B117-0738C086CAC1}"/>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2813" rtl="0" eaLnBrk="0" fontAlgn="base" latinLnBrk="0" hangingPunct="0">
              <a:lnSpc>
                <a:spcPct val="100000"/>
              </a:lnSpc>
              <a:spcBef>
                <a:spcPct val="0"/>
              </a:spcBef>
              <a:spcAft>
                <a:spcPct val="0"/>
              </a:spcAft>
              <a:buClrTx/>
              <a:buSzTx/>
              <a:buFontTx/>
              <a:buNone/>
              <a:tabLst/>
              <a:defRPr/>
            </a:pPr>
            <a:fld id="{9FCE3FB9-BAC7-4293-A5BB-B8E090A183F8}" type="slidenum">
              <a:rPr kumimoji="0" lang="zh-CN" altLang="en-US" sz="10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pPr marL="0" marR="0" lvl="0" indent="0" algn="r" defTabSz="912813" rtl="0" eaLnBrk="0" fontAlgn="base" latinLnBrk="0" hangingPunct="0">
                <a:lnSpc>
                  <a:spcPct val="100000"/>
                </a:lnSpc>
                <a:spcBef>
                  <a:spcPct val="0"/>
                </a:spcBef>
                <a:spcAft>
                  <a:spcPct val="0"/>
                </a:spcAft>
                <a:buClrTx/>
                <a:buSzTx/>
                <a:buFontTx/>
                <a:buNone/>
                <a:tabLst/>
                <a:defRPr/>
              </a:pPr>
              <a:t>1</a:t>
            </a:fld>
            <a:endParaRPr kumimoji="0" lang="zh-CN" altLang="en-US" sz="10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876E711A-B3DA-459A-AF28-A432B77A449E}"/>
              </a:ext>
            </a:extLst>
          </p:cNvPr>
          <p:cNvSpPr>
            <a:spLocks noGrp="1"/>
          </p:cNvSpPr>
          <p:nvPr>
            <p:ph type="body" idx="1"/>
          </p:nvPr>
        </p:nvSpPr>
        <p:spPr>
          <a:xfrm>
            <a:off x="722313" y="1554163"/>
            <a:ext cx="7772400" cy="1500187"/>
          </a:xfrm>
        </p:spPr>
        <p:txBody>
          <a:bodyPr/>
          <a:lstStyle/>
          <a:p>
            <a:pPr>
              <a:defRPr/>
            </a:pPr>
            <a:r>
              <a:rPr lang="en-US" altLang="zh-CN" sz="4800" dirty="0">
                <a:solidFill>
                  <a:schemeClr val="tx1"/>
                </a:solidFill>
                <a:latin typeface="微软雅黑" panose="020B0503020204020204" pitchFamily="34" charset="-122"/>
                <a:ea typeface="微软雅黑" panose="020B0503020204020204" pitchFamily="34" charset="-122"/>
              </a:rPr>
              <a:t>3.1 </a:t>
            </a:r>
            <a:r>
              <a:rPr lang="zh-CN" altLang="en-US" sz="4800" dirty="0">
                <a:solidFill>
                  <a:schemeClr val="tx1"/>
                </a:solidFill>
                <a:latin typeface="微软雅黑" panose="020B0503020204020204" pitchFamily="34" charset="-122"/>
                <a:ea typeface="微软雅黑" panose="020B0503020204020204" pitchFamily="34" charset="-122"/>
              </a:rPr>
              <a:t>随机模拟介绍</a:t>
            </a:r>
          </a:p>
          <a:p>
            <a:pPr>
              <a:defRPr/>
            </a:pPr>
            <a:endParaRPr lang="zh-CN" altLang="en-US" dirty="0"/>
          </a:p>
        </p:txBody>
      </p:sp>
      <p:sp>
        <p:nvSpPr>
          <p:cNvPr id="46084" name="灯片编号占位符 2">
            <a:extLst>
              <a:ext uri="{FF2B5EF4-FFF2-40B4-BE49-F238E27FC236}">
                <a16:creationId xmlns:a16="http://schemas.microsoft.com/office/drawing/2014/main" id="{9BF0444B-A272-4A53-B7C2-16D6DFD262F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2</a:t>
            </a:fld>
            <a:endParaRPr lang="zh-CN" altLang="en-US">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数学建模</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476545" y="1268760"/>
            <a:ext cx="6930770" cy="4130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200" dirty="0">
                <a:solidFill>
                  <a:srgbClr val="006699"/>
                </a:solidFill>
                <a:latin typeface="Verdana" panose="020B0604030504040204" pitchFamily="34" charset="0"/>
              </a:rPr>
              <a:t>忽略许多细节</a:t>
            </a:r>
            <a:endParaRPr lang="en-US" altLang="zh-CN" sz="3200" dirty="0">
              <a:solidFill>
                <a:srgbClr val="006699"/>
              </a:solidFill>
              <a:latin typeface="Verdana" panose="020B0604030504040204" pitchFamily="34" charset="0"/>
            </a:endParaRPr>
          </a:p>
          <a:p>
            <a:pPr eaLnBrk="1" hangingPunct="1">
              <a:spcBef>
                <a:spcPct val="20000"/>
              </a:spcBef>
              <a:buFontTx/>
              <a:buChar char="•"/>
            </a:pP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增加一些可能很难验证的理论假设</a:t>
            </a:r>
            <a:endParaRPr lang="en-US" altLang="zh-CN" sz="3200" dirty="0">
              <a:solidFill>
                <a:srgbClr val="006699"/>
              </a:solidFill>
              <a:latin typeface="Verdana" panose="020B0604030504040204" pitchFamily="34" charset="0"/>
            </a:endParaRPr>
          </a:p>
          <a:p>
            <a:pPr eaLnBrk="1" hangingPunct="1">
              <a:spcBef>
                <a:spcPct val="20000"/>
              </a:spcBef>
              <a:buFontTx/>
              <a:buChar char="•"/>
            </a:pP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使得模型比较简单</a:t>
            </a:r>
            <a:endParaRPr lang="en-US" altLang="zh-CN" sz="3200" dirty="0">
              <a:solidFill>
                <a:srgbClr val="006699"/>
              </a:solidFill>
              <a:latin typeface="Verdana" panose="020B0604030504040204" pitchFamily="34" charset="0"/>
            </a:endParaRPr>
          </a:p>
          <a:p>
            <a:pPr eaLnBrk="1" hangingPunct="1">
              <a:spcBef>
                <a:spcPct val="20000"/>
              </a:spcBef>
              <a:buFontTx/>
              <a:buChar char="•"/>
            </a:pP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用数学理论进行分析研究</a:t>
            </a:r>
            <a:endParaRPr lang="en-US" altLang="zh-CN" sz="3200" dirty="0">
              <a:solidFill>
                <a:srgbClr val="006699"/>
              </a:solidFill>
              <a:latin typeface="Verdana" panose="020B0604030504040204" pitchFamily="34" charset="0"/>
            </a:endParaRPr>
          </a:p>
        </p:txBody>
      </p:sp>
      <p:sp>
        <p:nvSpPr>
          <p:cNvPr id="4" name="灯片编号占位符 2">
            <a:extLst>
              <a:ext uri="{FF2B5EF4-FFF2-40B4-BE49-F238E27FC236}">
                <a16:creationId xmlns:a16="http://schemas.microsoft.com/office/drawing/2014/main" id="{D7EA6216-EEBB-41D6-A224-BA870975A4A0}"/>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3</a:t>
            </a:fld>
            <a:endParaRPr lang="zh-CN" altLang="en-US">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数学建模缺点</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476545" y="1268760"/>
            <a:ext cx="7737180" cy="344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200" dirty="0">
                <a:solidFill>
                  <a:srgbClr val="006699"/>
                </a:solidFill>
                <a:latin typeface="Verdana" panose="020B0604030504040204" pitchFamily="34" charset="0"/>
              </a:rPr>
              <a:t>与实际情况有较大的差距</a:t>
            </a:r>
            <a:endParaRPr lang="en-US" altLang="zh-CN" sz="3200" dirty="0">
              <a:solidFill>
                <a:srgbClr val="006699"/>
              </a:solidFill>
              <a:latin typeface="Verdana" panose="020B0604030504040204" pitchFamily="34" charset="0"/>
            </a:endParaRPr>
          </a:p>
          <a:p>
            <a:pPr eaLnBrk="1" hangingPunct="1">
              <a:spcBef>
                <a:spcPct val="20000"/>
              </a:spcBef>
              <a:buFontTx/>
              <a:buChar char="•"/>
            </a:pP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即使我们对模型进行了完美的理论分析， 也不能保证分析结果是可信的</a:t>
            </a:r>
            <a:endParaRPr lang="en-US" altLang="zh-CN" sz="3200" dirty="0">
              <a:solidFill>
                <a:srgbClr val="006699"/>
              </a:solidFill>
              <a:latin typeface="Verdana" panose="020B0604030504040204" pitchFamily="34" charset="0"/>
            </a:endParaRPr>
          </a:p>
          <a:p>
            <a:pPr eaLnBrk="1" hangingPunct="1">
              <a:spcBef>
                <a:spcPct val="20000"/>
              </a:spcBef>
              <a:buFontTx/>
              <a:buChar char="•"/>
            </a:pP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用随机模拟的方法解决</a:t>
            </a:r>
            <a:endParaRPr lang="en-US" altLang="zh-CN" sz="3200" dirty="0">
              <a:solidFill>
                <a:srgbClr val="006699"/>
              </a:solidFill>
              <a:latin typeface="Verdana" panose="020B0604030504040204" pitchFamily="34" charset="0"/>
            </a:endParaRPr>
          </a:p>
        </p:txBody>
      </p:sp>
      <p:sp>
        <p:nvSpPr>
          <p:cNvPr id="4" name="灯片编号占位符 2">
            <a:extLst>
              <a:ext uri="{FF2B5EF4-FFF2-40B4-BE49-F238E27FC236}">
                <a16:creationId xmlns:a16="http://schemas.microsoft.com/office/drawing/2014/main" id="{0ADBAC8B-B3B9-4EA0-A6E2-A19B9F86D293}"/>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4</a:t>
            </a:fld>
            <a:endParaRPr lang="zh-CN" altLang="en-US">
              <a:solidFill>
                <a:srgbClr val="898989"/>
              </a:solidFill>
            </a:endParaRPr>
          </a:p>
        </p:txBody>
      </p:sp>
    </p:spTree>
    <p:extLst>
      <p:ext uri="{BB962C8B-B14F-4D97-AF65-F5344CB8AC3E}">
        <p14:creationId xmlns:p14="http://schemas.microsoft.com/office/powerpoint/2010/main" val="10364504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3.1 </a:t>
            </a:r>
            <a:r>
              <a:rPr lang="zh-CN" altLang="en-US" dirty="0"/>
              <a:t>随机模拟介绍</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5875" y="1268760"/>
            <a:ext cx="9159875" cy="432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b="1" dirty="0">
                <a:solidFill>
                  <a:srgbClr val="FF0000"/>
                </a:solidFill>
                <a:latin typeface="Verdana" panose="020B0604030504040204" pitchFamily="34" charset="0"/>
              </a:rPr>
              <a:t>模拟</a:t>
            </a:r>
            <a:endParaRPr lang="en-US" altLang="zh-CN" sz="3200" b="1" dirty="0">
              <a:solidFill>
                <a:srgbClr val="FF0000"/>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是指把某一现实的或抽象的系统的某种特征或部分状态， 用另一系统（称为模拟模型）来代替或模拟。 </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b="1" dirty="0">
                <a:solidFill>
                  <a:srgbClr val="FF0000"/>
                </a:solidFill>
                <a:latin typeface="Verdana" panose="020B0604030504040204" pitchFamily="34" charset="0"/>
              </a:rPr>
              <a:t>随机模拟法</a:t>
            </a:r>
            <a:r>
              <a:rPr lang="zh-CN" altLang="en-US" sz="3200" dirty="0">
                <a:solidFill>
                  <a:srgbClr val="006699"/>
                </a:solidFill>
                <a:latin typeface="Verdana" panose="020B0604030504040204" pitchFamily="34" charset="0"/>
              </a:rPr>
              <a:t>， </a:t>
            </a:r>
            <a:r>
              <a:rPr lang="zh-CN" altLang="en-US" sz="3200" b="1" dirty="0">
                <a:solidFill>
                  <a:srgbClr val="FF0000"/>
                </a:solidFill>
                <a:latin typeface="Verdana" panose="020B0604030504040204" pitchFamily="34" charset="0"/>
              </a:rPr>
              <a:t>蒙特卡洛</a:t>
            </a:r>
            <a:r>
              <a:rPr lang="en-US" altLang="zh-CN" sz="3200" b="1" dirty="0">
                <a:solidFill>
                  <a:srgbClr val="FF0000"/>
                </a:solidFill>
                <a:latin typeface="Verdana" panose="020B0604030504040204" pitchFamily="34" charset="0"/>
              </a:rPr>
              <a:t>(Monte Carlo)</a:t>
            </a:r>
            <a:r>
              <a:rPr lang="zh-CN" altLang="en-US" sz="3200" b="1" dirty="0">
                <a:solidFill>
                  <a:srgbClr val="FF0000"/>
                </a:solidFill>
                <a:latin typeface="Verdana" panose="020B0604030504040204" pitchFamily="34" charset="0"/>
              </a:rPr>
              <a:t> 法</a:t>
            </a:r>
            <a:endParaRPr lang="en-US" altLang="zh-CN" sz="3200" b="1" dirty="0">
              <a:solidFill>
                <a:srgbClr val="FF0000"/>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为了解决某问题， 把它变成一个</a:t>
            </a:r>
            <a:r>
              <a:rPr lang="zh-CN" altLang="en-US" sz="3200" b="1" dirty="0">
                <a:solidFill>
                  <a:srgbClr val="006699"/>
                </a:solidFill>
                <a:latin typeface="Verdana" panose="020B0604030504040204" pitchFamily="34" charset="0"/>
              </a:rPr>
              <a:t>概率模型</a:t>
            </a:r>
            <a:r>
              <a:rPr lang="zh-CN" altLang="en-US" sz="3200" dirty="0">
                <a:solidFill>
                  <a:srgbClr val="006699"/>
                </a:solidFill>
                <a:latin typeface="Verdana" panose="020B0604030504040204" pitchFamily="34" charset="0"/>
              </a:rPr>
              <a:t>的求解问题， 然后产生符合模型的大量随机数， 对产生的随机数进行分析从而求解问题。</a:t>
            </a:r>
            <a:endParaRPr lang="en-US" altLang="zh-CN" sz="3200" dirty="0">
              <a:solidFill>
                <a:srgbClr val="006699"/>
              </a:solidFill>
              <a:latin typeface="Verdana" panose="020B0604030504040204" pitchFamily="34" charset="0"/>
            </a:endParaRPr>
          </a:p>
        </p:txBody>
      </p:sp>
      <p:sp>
        <p:nvSpPr>
          <p:cNvPr id="4" name="灯片编号占位符 2">
            <a:extLst>
              <a:ext uri="{FF2B5EF4-FFF2-40B4-BE49-F238E27FC236}">
                <a16:creationId xmlns:a16="http://schemas.microsoft.com/office/drawing/2014/main" id="{EB34B7F3-96C6-4B6B-8324-B719098C5F11}"/>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5</a:t>
            </a:fld>
            <a:endParaRPr lang="zh-CN" altLang="en-US">
              <a:solidFill>
                <a:srgbClr val="898989"/>
              </a:solidFill>
            </a:endParaRPr>
          </a:p>
        </p:txBody>
      </p:sp>
    </p:spTree>
    <p:extLst>
      <p:ext uri="{BB962C8B-B14F-4D97-AF65-F5344CB8AC3E}">
        <p14:creationId xmlns:p14="http://schemas.microsoft.com/office/powerpoint/2010/main" val="25896981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771">
                                            <p:txEl>
                                              <p:pRg st="2" end="2"/>
                                            </p:txEl>
                                          </p:spTgt>
                                        </p:tgtEl>
                                        <p:attrNameLst>
                                          <p:attrName>style.visibility</p:attrName>
                                        </p:attrNameLst>
                                      </p:cBhvr>
                                      <p:to>
                                        <p:strVal val="visible"/>
                                      </p:to>
                                    </p:set>
                                    <p:anim calcmode="lin" valueType="num">
                                      <p:cBhvr additive="base">
                                        <p:cTn id="7" dur="500" fill="hold"/>
                                        <p:tgtEl>
                                          <p:spTgt spid="3277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1">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2771">
                                            <p:txEl>
                                              <p:pRg st="3" end="3"/>
                                            </p:txEl>
                                          </p:spTgt>
                                        </p:tgtEl>
                                        <p:attrNameLst>
                                          <p:attrName>style.visibility</p:attrName>
                                        </p:attrNameLst>
                                      </p:cBhvr>
                                      <p:to>
                                        <p:strVal val="visible"/>
                                      </p:to>
                                    </p:set>
                                    <p:anim calcmode="lin" valueType="num">
                                      <p:cBhvr additive="base">
                                        <p:cTn id="11" dur="500" fill="hold"/>
                                        <p:tgtEl>
                                          <p:spTgt spid="32771">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277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例 红绿灯信号最优控制</a:t>
            </a:r>
          </a:p>
        </p:txBody>
      </p:sp>
      <p:sp>
        <p:nvSpPr>
          <p:cNvPr id="4" name="灯片编号占位符 2">
            <a:extLst>
              <a:ext uri="{FF2B5EF4-FFF2-40B4-BE49-F238E27FC236}">
                <a16:creationId xmlns:a16="http://schemas.microsoft.com/office/drawing/2014/main" id="{E3B5E12E-ABE4-451B-836D-4770A57E4B4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6</a:t>
            </a:fld>
            <a:endParaRPr lang="zh-CN" altLang="en-US">
              <a:solidFill>
                <a:srgbClr val="898989"/>
              </a:solidFill>
            </a:endParaRPr>
          </a:p>
        </p:txBody>
      </p:sp>
      <p:sp>
        <p:nvSpPr>
          <p:cNvPr id="6" name="文本框 5">
            <a:extLst>
              <a:ext uri="{FF2B5EF4-FFF2-40B4-BE49-F238E27FC236}">
                <a16:creationId xmlns:a16="http://schemas.microsoft.com/office/drawing/2014/main" id="{C0908162-4289-4534-A09B-FB5E69CEF8DE}"/>
              </a:ext>
            </a:extLst>
          </p:cNvPr>
          <p:cNvSpPr txBox="1"/>
          <p:nvPr/>
        </p:nvSpPr>
        <p:spPr>
          <a:xfrm>
            <a:off x="148262" y="1088740"/>
            <a:ext cx="8847475" cy="2062103"/>
          </a:xfrm>
          <a:prstGeom prst="rect">
            <a:avLst/>
          </a:prstGeom>
          <a:noFill/>
          <a:ln w="25400">
            <a:noFill/>
          </a:ln>
        </p:spPr>
        <p:txBody>
          <a:bodyPr wrap="square">
            <a:spAutoFit/>
          </a:bodyPr>
          <a:lstStyle/>
          <a:p>
            <a:pPr algn="just"/>
            <a:r>
              <a:rPr lang="zh-CN" altLang="en-US" sz="3200" dirty="0">
                <a:solidFill>
                  <a:srgbClr val="006699"/>
                </a:solidFill>
                <a:latin typeface="Verdana" panose="020B0604030504040204" pitchFamily="34" charset="0"/>
              </a:rPr>
              <a:t>交通路口要找到一种</a:t>
            </a:r>
            <a:r>
              <a:rPr lang="zh-CN" altLang="en-US" sz="3200" b="1" dirty="0">
                <a:solidFill>
                  <a:srgbClr val="006699"/>
                </a:solidFill>
                <a:latin typeface="Verdana" panose="020B0604030504040204" pitchFamily="34" charset="0"/>
              </a:rPr>
              <a:t>最优</a:t>
            </a:r>
            <a:r>
              <a:rPr lang="zh-CN" altLang="en-US" sz="3200" dirty="0">
                <a:solidFill>
                  <a:srgbClr val="006699"/>
                </a:solidFill>
                <a:latin typeface="Verdana" panose="020B0604030504040204" pitchFamily="34" charset="0"/>
              </a:rPr>
              <a:t>的控制红绿灯信号的办法，使得：通过路口的汽车耽搁的平均时间最短，而行人等候过路的时间不超过某一给定的心理极限值</a:t>
            </a:r>
            <a:endParaRPr lang="en-US" altLang="zh-CN" sz="3200" dirty="0">
              <a:solidFill>
                <a:srgbClr val="006699"/>
              </a:solidFill>
              <a:latin typeface="Verdana" panose="020B0604030504040204" pitchFamily="34" charset="0"/>
            </a:endParaRPr>
          </a:p>
        </p:txBody>
      </p:sp>
      <p:sp>
        <p:nvSpPr>
          <p:cNvPr id="8" name="文本框 7">
            <a:extLst>
              <a:ext uri="{FF2B5EF4-FFF2-40B4-BE49-F238E27FC236}">
                <a16:creationId xmlns:a16="http://schemas.microsoft.com/office/drawing/2014/main" id="{6427D57E-A17D-46FF-8978-B266690D5357}"/>
              </a:ext>
            </a:extLst>
          </p:cNvPr>
          <p:cNvSpPr txBox="1"/>
          <p:nvPr/>
        </p:nvSpPr>
        <p:spPr>
          <a:xfrm>
            <a:off x="148262" y="3293985"/>
            <a:ext cx="8339173" cy="3046988"/>
          </a:xfrm>
          <a:prstGeom prst="rect">
            <a:avLst/>
          </a:prstGeom>
          <a:noFill/>
          <a:ln w="25400">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解：</a:t>
            </a:r>
            <a:endParaRPr kumimoji="0" lang="en-US" altLang="zh-CN"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用随机模拟方法</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 </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模拟汽车和行人到来的过程， </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通过统计比较找出最优的控制方案</a:t>
            </a:r>
          </a:p>
        </p:txBody>
      </p:sp>
    </p:spTree>
    <p:extLst>
      <p:ext uri="{BB962C8B-B14F-4D97-AF65-F5344CB8AC3E}">
        <p14:creationId xmlns:p14="http://schemas.microsoft.com/office/powerpoint/2010/main" val="22662999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例 蒙提霍尔问题</a:t>
            </a:r>
          </a:p>
        </p:txBody>
      </p:sp>
      <p:sp>
        <p:nvSpPr>
          <p:cNvPr id="4" name="灯片编号占位符 2">
            <a:extLst>
              <a:ext uri="{FF2B5EF4-FFF2-40B4-BE49-F238E27FC236}">
                <a16:creationId xmlns:a16="http://schemas.microsoft.com/office/drawing/2014/main" id="{E3B5E12E-ABE4-451B-836D-4770A57E4B4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7</a:t>
            </a:fld>
            <a:endParaRPr lang="zh-CN" altLang="en-US">
              <a:solidFill>
                <a:srgbClr val="898989"/>
              </a:solidFill>
            </a:endParaRPr>
          </a:p>
        </p:txBody>
      </p:sp>
      <p:sp>
        <p:nvSpPr>
          <p:cNvPr id="6" name="文本框 5">
            <a:extLst>
              <a:ext uri="{FF2B5EF4-FFF2-40B4-BE49-F238E27FC236}">
                <a16:creationId xmlns:a16="http://schemas.microsoft.com/office/drawing/2014/main" id="{C0908162-4289-4534-A09B-FB5E69CEF8DE}"/>
              </a:ext>
            </a:extLst>
          </p:cNvPr>
          <p:cNvSpPr txBox="1"/>
          <p:nvPr/>
        </p:nvSpPr>
        <p:spPr>
          <a:xfrm>
            <a:off x="-15874" y="1088740"/>
            <a:ext cx="9159874" cy="1077218"/>
          </a:xfrm>
          <a:prstGeom prst="rect">
            <a:avLst/>
          </a:prstGeom>
          <a:noFill/>
          <a:ln w="25400">
            <a:noFill/>
          </a:ln>
        </p:spPr>
        <p:txBody>
          <a:bodyPr wrap="square">
            <a:spAutoFit/>
          </a:bodyPr>
          <a:lstStyle/>
          <a:p>
            <a:pPr marL="457200" indent="-457200" algn="just">
              <a:buFont typeface="Arial" panose="020B0604020202020204" pitchFamily="34" charset="0"/>
              <a:buChar char="•"/>
            </a:pPr>
            <a:r>
              <a:rPr lang="zh-CN" altLang="en-US" sz="3200" dirty="0">
                <a:solidFill>
                  <a:srgbClr val="006699"/>
                </a:solidFill>
                <a:latin typeface="Verdana" panose="020B0604030504040204" pitchFamily="34" charset="0"/>
              </a:rPr>
              <a:t>蒙提霍尔问题</a:t>
            </a:r>
            <a:r>
              <a:rPr lang="en-US" altLang="zh-CN" sz="3200" dirty="0">
                <a:solidFill>
                  <a:srgbClr val="006699"/>
                </a:solidFill>
                <a:latin typeface="Verdana" panose="020B0604030504040204" pitchFamily="34" charset="0"/>
              </a:rPr>
              <a:t>(Monty Hall problem)</a:t>
            </a:r>
          </a:p>
          <a:p>
            <a:pPr marL="457200" indent="-457200" algn="just">
              <a:buFont typeface="Arial" panose="020B0604020202020204" pitchFamily="34" charset="0"/>
              <a:buChar char="•"/>
            </a:pPr>
            <a:r>
              <a:rPr lang="zh-CN" altLang="en-US" sz="3200" dirty="0">
                <a:solidFill>
                  <a:srgbClr val="006699"/>
                </a:solidFill>
                <a:latin typeface="Verdana" panose="020B0604030504040204" pitchFamily="34" charset="0"/>
              </a:rPr>
              <a:t>也称为三门问题</a:t>
            </a:r>
            <a:endParaRPr lang="en-US" altLang="zh-CN" sz="3200" dirty="0">
              <a:solidFill>
                <a:srgbClr val="006699"/>
              </a:solidFill>
              <a:latin typeface="Verdana" panose="020B0604030504040204" pitchFamily="34" charset="0"/>
            </a:endParaRPr>
          </a:p>
        </p:txBody>
      </p:sp>
      <p:pic>
        <p:nvPicPr>
          <p:cNvPr id="3" name="图片 2">
            <a:extLst>
              <a:ext uri="{FF2B5EF4-FFF2-40B4-BE49-F238E27FC236}">
                <a16:creationId xmlns:a16="http://schemas.microsoft.com/office/drawing/2014/main" id="{CD37D8A9-198F-486F-B596-6777CD3524F0}"/>
              </a:ext>
            </a:extLst>
          </p:cNvPr>
          <p:cNvPicPr>
            <a:picLocks noChangeAspect="1"/>
          </p:cNvPicPr>
          <p:nvPr/>
        </p:nvPicPr>
        <p:blipFill>
          <a:blip r:embed="rId2"/>
          <a:stretch>
            <a:fillRect/>
          </a:stretch>
        </p:blipFill>
        <p:spPr>
          <a:xfrm>
            <a:off x="1556665" y="2468885"/>
            <a:ext cx="5459852" cy="2970330"/>
          </a:xfrm>
          <a:prstGeom prst="rect">
            <a:avLst/>
          </a:prstGeom>
        </p:spPr>
      </p:pic>
    </p:spTree>
    <p:extLst>
      <p:ext uri="{BB962C8B-B14F-4D97-AF65-F5344CB8AC3E}">
        <p14:creationId xmlns:p14="http://schemas.microsoft.com/office/powerpoint/2010/main" val="19322964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例 蒙提霍尔问题</a:t>
            </a:r>
          </a:p>
        </p:txBody>
      </p:sp>
      <p:sp>
        <p:nvSpPr>
          <p:cNvPr id="4" name="灯片编号占位符 2">
            <a:extLst>
              <a:ext uri="{FF2B5EF4-FFF2-40B4-BE49-F238E27FC236}">
                <a16:creationId xmlns:a16="http://schemas.microsoft.com/office/drawing/2014/main" id="{E3B5E12E-ABE4-451B-836D-4770A57E4B4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8</a:t>
            </a:fld>
            <a:endParaRPr lang="zh-CN" altLang="en-US">
              <a:solidFill>
                <a:srgbClr val="898989"/>
              </a:solidFill>
            </a:endParaRPr>
          </a:p>
        </p:txBody>
      </p:sp>
      <p:sp>
        <p:nvSpPr>
          <p:cNvPr id="6" name="文本框 5">
            <a:extLst>
              <a:ext uri="{FF2B5EF4-FFF2-40B4-BE49-F238E27FC236}">
                <a16:creationId xmlns:a16="http://schemas.microsoft.com/office/drawing/2014/main" id="{C0908162-4289-4534-A09B-FB5E69CEF8DE}"/>
              </a:ext>
            </a:extLst>
          </p:cNvPr>
          <p:cNvSpPr txBox="1"/>
          <p:nvPr/>
        </p:nvSpPr>
        <p:spPr>
          <a:xfrm>
            <a:off x="-15874" y="1088740"/>
            <a:ext cx="9159874" cy="5016758"/>
          </a:xfrm>
          <a:prstGeom prst="rect">
            <a:avLst/>
          </a:prstGeom>
          <a:noFill/>
          <a:ln w="25400">
            <a:noFill/>
          </a:ln>
        </p:spPr>
        <p:txBody>
          <a:bodyPr wrap="square">
            <a:spAutoFit/>
          </a:bodyPr>
          <a:lstStyle/>
          <a:p>
            <a:pPr algn="just"/>
            <a:r>
              <a:rPr lang="zh-CN" altLang="en-US" sz="3200" dirty="0">
                <a:solidFill>
                  <a:srgbClr val="006699"/>
                </a:solidFill>
                <a:latin typeface="Verdana" panose="020B0604030504040204" pitchFamily="34" charset="0"/>
              </a:rPr>
              <a:t>参赛者面前有三扇关闭的门</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其中一扇门的后面藏有一辆汽车</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而另外两扇门的后面则各藏有一只山羊</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参赛者从三扇门中随机选取一扇</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若选中后面有车的那扇门就可以赢得该汽车</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当参赛者选定了一扇门</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但尚未开启它的时候</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节目主持人会从剩下两扇门中打开一扇藏有山羊的门</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然后问参赛者要不要更换自己的选择</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选取另一扇仍然关上的门</a:t>
            </a:r>
            <a:r>
              <a:rPr lang="en-US" altLang="zh-CN" sz="3200" dirty="0">
                <a:solidFill>
                  <a:srgbClr val="006699"/>
                </a:solidFill>
                <a:latin typeface="Verdana" panose="020B0604030504040204" pitchFamily="34" charset="0"/>
              </a:rPr>
              <a:t>.</a:t>
            </a:r>
          </a:p>
          <a:p>
            <a:pPr marL="457200" indent="-457200" algn="just">
              <a:buFont typeface="Arial" panose="020B0604020202020204" pitchFamily="34" charset="0"/>
              <a:buChar char="•"/>
            </a:pPr>
            <a:r>
              <a:rPr lang="zh-CN" altLang="en-US" sz="3200" dirty="0">
                <a:solidFill>
                  <a:srgbClr val="FF0000"/>
                </a:solidFill>
                <a:latin typeface="Verdana" panose="020B0604030504040204" pitchFamily="34" charset="0"/>
              </a:rPr>
              <a:t>这个游戏涉及的问题是</a:t>
            </a:r>
            <a:r>
              <a:rPr lang="en-US" altLang="zh-CN" sz="3200" dirty="0">
                <a:solidFill>
                  <a:srgbClr val="FF0000"/>
                </a:solidFill>
                <a:latin typeface="Verdana" panose="020B0604030504040204" pitchFamily="34" charset="0"/>
              </a:rPr>
              <a:t>: </a:t>
            </a:r>
            <a:r>
              <a:rPr lang="zh-CN" altLang="en-US" sz="3200" dirty="0">
                <a:solidFill>
                  <a:srgbClr val="006699"/>
                </a:solidFill>
                <a:latin typeface="Verdana" panose="020B0604030504040204" pitchFamily="34" charset="0"/>
              </a:rPr>
              <a:t>参赛者更换自己的选择是否会增加赢得汽车的概率</a:t>
            </a:r>
            <a:r>
              <a:rPr lang="en-US" altLang="zh-CN" sz="3200" dirty="0">
                <a:solidFill>
                  <a:srgbClr val="006699"/>
                </a:solidFill>
                <a:latin typeface="Verdana" panose="020B0604030504040204" pitchFamily="34" charset="0"/>
              </a:rPr>
              <a:t>?</a:t>
            </a:r>
          </a:p>
          <a:p>
            <a:endParaRPr lang="en-US" altLang="zh-CN" sz="32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32631637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例 蒙提霍尔问题</a:t>
            </a:r>
          </a:p>
        </p:txBody>
      </p:sp>
      <p:sp>
        <p:nvSpPr>
          <p:cNvPr id="4" name="灯片编号占位符 2">
            <a:extLst>
              <a:ext uri="{FF2B5EF4-FFF2-40B4-BE49-F238E27FC236}">
                <a16:creationId xmlns:a16="http://schemas.microsoft.com/office/drawing/2014/main" id="{E3B5E12E-ABE4-451B-836D-4770A57E4B4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9</a:t>
            </a:fld>
            <a:endParaRPr lang="zh-CN" altLang="en-US">
              <a:solidFill>
                <a:srgbClr val="898989"/>
              </a:solidFill>
            </a:endParaRPr>
          </a:p>
        </p:txBody>
      </p:sp>
      <p:sp>
        <p:nvSpPr>
          <p:cNvPr id="6" name="文本框 5">
            <a:extLst>
              <a:ext uri="{FF2B5EF4-FFF2-40B4-BE49-F238E27FC236}">
                <a16:creationId xmlns:a16="http://schemas.microsoft.com/office/drawing/2014/main" id="{7B763344-0C58-4380-B438-DC3E0730A56D}"/>
              </a:ext>
            </a:extLst>
          </p:cNvPr>
          <p:cNvSpPr txBox="1"/>
          <p:nvPr/>
        </p:nvSpPr>
        <p:spPr>
          <a:xfrm>
            <a:off x="34075" y="910888"/>
            <a:ext cx="9075849" cy="4739759"/>
          </a:xfrm>
          <a:prstGeom prst="rect">
            <a:avLst/>
          </a:prstGeom>
          <a:noFill/>
          <a:ln w="25400">
            <a:noFill/>
          </a:ln>
        </p:spPr>
        <p:txBody>
          <a:bodyPr wrap="square">
            <a:spAutoFit/>
          </a:bodyPr>
          <a:lstStyle/>
          <a:p>
            <a:r>
              <a:rPr lang="zh-CN" altLang="en-US" sz="3200" b="1" dirty="0">
                <a:solidFill>
                  <a:srgbClr val="FF0000"/>
                </a:solidFill>
              </a:rPr>
              <a:t>随机模拟法</a:t>
            </a:r>
            <a:endParaRPr lang="en-US" altLang="zh-CN" sz="3200" b="1" dirty="0">
              <a:solidFill>
                <a:srgbClr val="FF0000"/>
              </a:solidFill>
            </a:endParaRPr>
          </a:p>
          <a:p>
            <a:endParaRPr lang="en-US" altLang="zh-CN" sz="2800" b="1" dirty="0">
              <a:solidFill>
                <a:srgbClr val="FF0000"/>
              </a:solidFill>
            </a:endParaRPr>
          </a:p>
          <a:p>
            <a:pPr marL="285750" indent="-285750">
              <a:buFont typeface="Arial" panose="020B0604020202020204" pitchFamily="34" charset="0"/>
              <a:buChar char="•"/>
            </a:pPr>
            <a:endParaRPr lang="en-US" altLang="zh-CN" sz="2800" dirty="0"/>
          </a:p>
          <a:p>
            <a:pPr marL="285750" indent="-285750">
              <a:buFont typeface="Arial" panose="020B0604020202020204" pitchFamily="34" charset="0"/>
              <a:buChar char="•"/>
            </a:pPr>
            <a:r>
              <a:rPr lang="zh-CN" altLang="en-US" sz="2800" dirty="0"/>
              <a:t>研究参赛者采用更换选择的策略是否有利？</a:t>
            </a:r>
            <a:endParaRPr lang="en-US" altLang="zh-CN" sz="2800" dirty="0"/>
          </a:p>
          <a:p>
            <a:pPr marL="285750" indent="-285750">
              <a:buFont typeface="Arial" panose="020B0604020202020204" pitchFamily="34" charset="0"/>
              <a:buChar char="•"/>
            </a:pPr>
            <a:endParaRPr lang="en-US" altLang="zh-CN" sz="2800" dirty="0"/>
          </a:p>
          <a:p>
            <a:pPr marL="285750" indent="-285750">
              <a:buFont typeface="Arial" panose="020B0604020202020204" pitchFamily="34" charset="0"/>
              <a:buChar char="•"/>
            </a:pPr>
            <a:r>
              <a:rPr lang="zh-CN" altLang="en-US" sz="2800" dirty="0"/>
              <a:t>在该策略下赢得汽车的机会有多大？</a:t>
            </a:r>
            <a:endParaRPr lang="en-US" altLang="zh-CN" sz="2800" dirty="0"/>
          </a:p>
          <a:p>
            <a:pPr marL="285750" indent="-285750">
              <a:buFont typeface="Arial" panose="020B0604020202020204" pitchFamily="34" charset="0"/>
              <a:buChar char="•"/>
            </a:pPr>
            <a:endParaRPr lang="en-US" altLang="zh-CN" sz="2800" dirty="0"/>
          </a:p>
          <a:p>
            <a:pPr marL="285750" indent="-285750">
              <a:buFont typeface="Arial" panose="020B0604020202020204" pitchFamily="34" charset="0"/>
              <a:buChar char="•"/>
            </a:pPr>
            <a:r>
              <a:rPr lang="zh-CN" altLang="en-US" sz="2800" dirty="0"/>
              <a:t>将两只山羊分别编号为</a:t>
            </a:r>
            <a:r>
              <a:rPr lang="en-US" altLang="zh-CN" sz="2800" dirty="0"/>
              <a:t>"1"</a:t>
            </a:r>
            <a:r>
              <a:rPr lang="zh-CN" altLang="en-US" sz="2800" dirty="0"/>
              <a:t>和</a:t>
            </a:r>
            <a:r>
              <a:rPr lang="en-US" altLang="zh-CN" sz="2800" dirty="0"/>
              <a:t>"2", </a:t>
            </a:r>
          </a:p>
          <a:p>
            <a:pPr marL="285750" indent="-285750">
              <a:buFont typeface="Arial" panose="020B0604020202020204" pitchFamily="34" charset="0"/>
              <a:buChar char="•"/>
            </a:pPr>
            <a:endParaRPr lang="en-US" altLang="zh-CN" sz="2800" dirty="0"/>
          </a:p>
          <a:p>
            <a:pPr marL="285750" indent="-285750">
              <a:buFont typeface="Arial" panose="020B0604020202020204" pitchFamily="34" charset="0"/>
              <a:buChar char="•"/>
            </a:pPr>
            <a:r>
              <a:rPr lang="zh-CN" altLang="en-US" sz="2800" dirty="0"/>
              <a:t>将汽车编号为</a:t>
            </a:r>
            <a:r>
              <a:rPr lang="en-US" altLang="zh-CN" sz="2800" dirty="0"/>
              <a:t>"3".</a:t>
            </a:r>
          </a:p>
          <a:p>
            <a:endParaRPr lang="en-US" altLang="zh-CN" dirty="0"/>
          </a:p>
        </p:txBody>
      </p:sp>
    </p:spTree>
    <p:extLst>
      <p:ext uri="{BB962C8B-B14F-4D97-AF65-F5344CB8AC3E}">
        <p14:creationId xmlns:p14="http://schemas.microsoft.com/office/powerpoint/2010/main" val="14948569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例 蒙提霍尔问题</a:t>
            </a:r>
          </a:p>
        </p:txBody>
      </p:sp>
      <p:sp>
        <p:nvSpPr>
          <p:cNvPr id="4" name="灯片编号占位符 2">
            <a:extLst>
              <a:ext uri="{FF2B5EF4-FFF2-40B4-BE49-F238E27FC236}">
                <a16:creationId xmlns:a16="http://schemas.microsoft.com/office/drawing/2014/main" id="{E3B5E12E-ABE4-451B-836D-4770A57E4B4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10</a:t>
            </a:fld>
            <a:endParaRPr lang="zh-CN" altLang="en-US">
              <a:solidFill>
                <a:srgbClr val="898989"/>
              </a:solidFill>
            </a:endParaRPr>
          </a:p>
        </p:txBody>
      </p:sp>
      <p:sp>
        <p:nvSpPr>
          <p:cNvPr id="6" name="文本框 5">
            <a:extLst>
              <a:ext uri="{FF2B5EF4-FFF2-40B4-BE49-F238E27FC236}">
                <a16:creationId xmlns:a16="http://schemas.microsoft.com/office/drawing/2014/main" id="{7B763344-0C58-4380-B438-DC3E0730A56D}"/>
              </a:ext>
            </a:extLst>
          </p:cNvPr>
          <p:cNvSpPr txBox="1"/>
          <p:nvPr/>
        </p:nvSpPr>
        <p:spPr>
          <a:xfrm>
            <a:off x="34075" y="910888"/>
            <a:ext cx="9075849" cy="5170646"/>
          </a:xfrm>
          <a:prstGeom prst="rect">
            <a:avLst/>
          </a:prstGeom>
          <a:noFill/>
          <a:ln w="25400">
            <a:noFill/>
          </a:ln>
        </p:spPr>
        <p:txBody>
          <a:bodyPr wrap="square">
            <a:spAutoFit/>
          </a:bodyPr>
          <a:lstStyle/>
          <a:p>
            <a:r>
              <a:rPr lang="zh-CN" altLang="en-US" sz="3200" b="1" dirty="0">
                <a:solidFill>
                  <a:srgbClr val="FF0000"/>
                </a:solidFill>
              </a:rPr>
              <a:t>随机模拟法</a:t>
            </a:r>
            <a:endParaRPr lang="en-US" altLang="zh-CN" sz="3200" b="1" dirty="0">
              <a:solidFill>
                <a:srgbClr val="FF0000"/>
              </a:solidFill>
            </a:endParaRPr>
          </a:p>
          <a:p>
            <a:endParaRPr lang="en-US" altLang="zh-CN" sz="2800" dirty="0"/>
          </a:p>
          <a:p>
            <a:pPr marL="285750" indent="-285750">
              <a:buFont typeface="Arial" panose="020B0604020202020204" pitchFamily="34" charset="0"/>
              <a:buChar char="•"/>
            </a:pPr>
            <a:r>
              <a:rPr lang="zh-CN" altLang="en-US" sz="2800" dirty="0"/>
              <a:t>使用</a:t>
            </a:r>
            <a:r>
              <a:rPr lang="zh-CN" altLang="en-US" sz="2800" dirty="0">
                <a:solidFill>
                  <a:srgbClr val="FF0000"/>
                </a:solidFill>
              </a:rPr>
              <a:t>掷骰子</a:t>
            </a:r>
            <a:r>
              <a:rPr lang="zh-CN" altLang="en-US" sz="2800" dirty="0"/>
              <a:t>的方法从数字</a:t>
            </a:r>
            <a:r>
              <a:rPr lang="en-US" altLang="zh-CN" sz="2800" dirty="0"/>
              <a:t>1</a:t>
            </a:r>
            <a:r>
              <a:rPr lang="zh-CN" altLang="en-US" sz="2800" dirty="0"/>
              <a:t>、</a:t>
            </a:r>
            <a:r>
              <a:rPr lang="en-US" altLang="zh-CN" sz="2800" dirty="0"/>
              <a:t>2</a:t>
            </a:r>
            <a:r>
              <a:rPr lang="zh-CN" altLang="en-US" sz="2800" dirty="0"/>
              <a:t>、</a:t>
            </a:r>
            <a:r>
              <a:rPr lang="en-US" altLang="zh-CN" sz="2800" dirty="0"/>
              <a:t>3</a:t>
            </a:r>
            <a:r>
              <a:rPr lang="zh-CN" altLang="en-US" sz="2800" dirty="0"/>
              <a:t>中随机选取一个数字</a:t>
            </a:r>
            <a:r>
              <a:rPr lang="en-US" altLang="zh-CN" sz="2800" dirty="0"/>
              <a:t>.</a:t>
            </a:r>
          </a:p>
          <a:p>
            <a:endParaRPr lang="en-US" altLang="zh-CN" sz="2800" dirty="0"/>
          </a:p>
          <a:p>
            <a:pPr marL="457200" indent="-457200">
              <a:buFontTx/>
              <a:buChar char="-"/>
            </a:pPr>
            <a:r>
              <a:rPr lang="zh-CN" altLang="en-US" sz="2800" dirty="0"/>
              <a:t>骰子的点数为</a:t>
            </a:r>
            <a:r>
              <a:rPr lang="en-US" altLang="zh-CN" sz="2800" dirty="0"/>
              <a:t>1</a:t>
            </a:r>
            <a:r>
              <a:rPr lang="zh-CN" altLang="en-US" sz="2800" dirty="0"/>
              <a:t>和</a:t>
            </a:r>
            <a:r>
              <a:rPr lang="en-US" altLang="zh-CN" sz="2800" dirty="0"/>
              <a:t>2</a:t>
            </a:r>
            <a:r>
              <a:rPr lang="zh-CN" altLang="en-US" sz="2800" dirty="0"/>
              <a:t>的面对应于这里的数字</a:t>
            </a:r>
            <a:r>
              <a:rPr lang="en-US" altLang="zh-CN" sz="2800" dirty="0"/>
              <a:t>"1",</a:t>
            </a:r>
          </a:p>
          <a:p>
            <a:pPr marL="457200" indent="-457200">
              <a:buFontTx/>
              <a:buChar char="-"/>
            </a:pPr>
            <a:endParaRPr lang="en-US" altLang="zh-CN" sz="2800" dirty="0"/>
          </a:p>
          <a:p>
            <a:pPr marL="457200" indent="-457200">
              <a:buFontTx/>
              <a:buChar char="-"/>
            </a:pPr>
            <a:r>
              <a:rPr lang="zh-CN" altLang="en-US" sz="2800" dirty="0"/>
              <a:t>骰子的点数为</a:t>
            </a:r>
            <a:r>
              <a:rPr lang="en-US" altLang="zh-CN" sz="2800" dirty="0"/>
              <a:t>3</a:t>
            </a:r>
            <a:r>
              <a:rPr lang="zh-CN" altLang="en-US" sz="2800" dirty="0"/>
              <a:t>和</a:t>
            </a:r>
            <a:r>
              <a:rPr lang="en-US" altLang="zh-CN" sz="2800" dirty="0"/>
              <a:t>4</a:t>
            </a:r>
            <a:r>
              <a:rPr lang="zh-CN" altLang="en-US" sz="2800" dirty="0"/>
              <a:t>的面对应于这里的数字</a:t>
            </a:r>
            <a:r>
              <a:rPr lang="en-US" altLang="zh-CN" sz="2800" dirty="0"/>
              <a:t>"2",</a:t>
            </a:r>
          </a:p>
          <a:p>
            <a:pPr marL="457200" indent="-457200">
              <a:buFontTx/>
              <a:buChar char="-"/>
            </a:pPr>
            <a:endParaRPr lang="en-US" altLang="zh-CN" sz="2800" dirty="0"/>
          </a:p>
          <a:p>
            <a:pPr marL="457200" indent="-457200">
              <a:buFontTx/>
              <a:buChar char="-"/>
            </a:pPr>
            <a:r>
              <a:rPr lang="zh-CN" altLang="en-US" sz="2800" dirty="0"/>
              <a:t>骰子的点数为</a:t>
            </a:r>
            <a:r>
              <a:rPr lang="en-US" altLang="zh-CN" sz="2800" dirty="0"/>
              <a:t>5</a:t>
            </a:r>
            <a:r>
              <a:rPr lang="zh-CN" altLang="en-US" sz="2800" dirty="0"/>
              <a:t>和</a:t>
            </a:r>
            <a:r>
              <a:rPr lang="en-US" altLang="zh-CN" sz="2800" dirty="0"/>
              <a:t>6</a:t>
            </a:r>
            <a:r>
              <a:rPr lang="zh-CN" altLang="en-US" sz="2800" dirty="0"/>
              <a:t>的面对应于这里的数字</a:t>
            </a:r>
            <a:r>
              <a:rPr lang="en-US" altLang="zh-CN" sz="2800" dirty="0"/>
              <a:t>"3".</a:t>
            </a:r>
          </a:p>
          <a:p>
            <a:pPr marL="457200" indent="-457200">
              <a:buFontTx/>
              <a:buChar char="-"/>
            </a:pPr>
            <a:endParaRPr lang="en-US" altLang="zh-CN" sz="2800" dirty="0"/>
          </a:p>
          <a:p>
            <a:endParaRPr lang="en-US" altLang="zh-CN" sz="2800" dirty="0"/>
          </a:p>
          <a:p>
            <a:endParaRPr lang="en-US" altLang="zh-CN" dirty="0"/>
          </a:p>
        </p:txBody>
      </p:sp>
    </p:spTree>
    <p:extLst>
      <p:ext uri="{BB962C8B-B14F-4D97-AF65-F5344CB8AC3E}">
        <p14:creationId xmlns:p14="http://schemas.microsoft.com/office/powerpoint/2010/main" val="38401720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例 蒙提霍尔问题</a:t>
            </a:r>
          </a:p>
        </p:txBody>
      </p:sp>
      <p:sp>
        <p:nvSpPr>
          <p:cNvPr id="4" name="灯片编号占位符 2">
            <a:extLst>
              <a:ext uri="{FF2B5EF4-FFF2-40B4-BE49-F238E27FC236}">
                <a16:creationId xmlns:a16="http://schemas.microsoft.com/office/drawing/2014/main" id="{E3B5E12E-ABE4-451B-836D-4770A57E4B4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11</a:t>
            </a:fld>
            <a:endParaRPr lang="zh-CN" altLang="en-US">
              <a:solidFill>
                <a:srgbClr val="898989"/>
              </a:solidFill>
            </a:endParaRPr>
          </a:p>
        </p:txBody>
      </p:sp>
      <p:sp>
        <p:nvSpPr>
          <p:cNvPr id="8" name="文本框 7">
            <a:extLst>
              <a:ext uri="{FF2B5EF4-FFF2-40B4-BE49-F238E27FC236}">
                <a16:creationId xmlns:a16="http://schemas.microsoft.com/office/drawing/2014/main" id="{648662D8-EC54-40D4-9C4F-57662D08F993}"/>
              </a:ext>
            </a:extLst>
          </p:cNvPr>
          <p:cNvSpPr txBox="1"/>
          <p:nvPr/>
        </p:nvSpPr>
        <p:spPr>
          <a:xfrm>
            <a:off x="184012" y="1060667"/>
            <a:ext cx="8775975" cy="4401205"/>
          </a:xfrm>
          <a:prstGeom prst="rect">
            <a:avLst/>
          </a:prstGeom>
          <a:noFill/>
          <a:ln w="25400">
            <a:noFill/>
          </a:ln>
        </p:spPr>
        <p:txBody>
          <a:bodyPr wrap="square">
            <a:spAutoFit/>
          </a:bodyPr>
          <a:lstStyle/>
          <a:p>
            <a:r>
              <a:rPr lang="zh-CN" altLang="en-US" sz="2800" dirty="0"/>
              <a:t>每次试验如此进行</a:t>
            </a:r>
            <a:r>
              <a:rPr lang="en-US" altLang="zh-CN" sz="2800" dirty="0"/>
              <a:t>: </a:t>
            </a:r>
            <a:r>
              <a:rPr lang="zh-CN" altLang="en-US" sz="2800" dirty="0"/>
              <a:t>掷一次骰子</a:t>
            </a:r>
            <a:r>
              <a:rPr lang="en-US" altLang="zh-CN" sz="2800" dirty="0"/>
              <a:t>,</a:t>
            </a:r>
          </a:p>
          <a:p>
            <a:endParaRPr lang="en-US" altLang="zh-CN" sz="2800" dirty="0"/>
          </a:p>
          <a:p>
            <a:pPr marL="457200" indent="-457200">
              <a:buFontTx/>
              <a:buChar char="-"/>
            </a:pPr>
            <a:r>
              <a:rPr lang="zh-CN" altLang="en-US" sz="2800" dirty="0"/>
              <a:t>若掷出的骰子是点数为</a:t>
            </a:r>
            <a:r>
              <a:rPr lang="en-US" altLang="zh-CN" sz="2800" dirty="0"/>
              <a:t>1</a:t>
            </a:r>
            <a:r>
              <a:rPr lang="zh-CN" altLang="en-US" sz="2800" dirty="0"/>
              <a:t>到</a:t>
            </a:r>
            <a:r>
              <a:rPr lang="en-US" altLang="zh-CN" sz="2800" dirty="0"/>
              <a:t>4</a:t>
            </a:r>
            <a:r>
              <a:rPr lang="zh-CN" altLang="en-US" sz="2800" dirty="0"/>
              <a:t>的面之一。</a:t>
            </a:r>
            <a:endParaRPr lang="en-US" altLang="zh-CN" sz="2800" dirty="0"/>
          </a:p>
          <a:p>
            <a:r>
              <a:rPr lang="zh-CN" altLang="en-US" sz="2800" dirty="0"/>
              <a:t>表明参赛者选中了</a:t>
            </a:r>
            <a:r>
              <a:rPr lang="en-US" altLang="zh-CN" sz="2800" dirty="0"/>
              <a:t>1</a:t>
            </a:r>
            <a:r>
              <a:rPr lang="zh-CN" altLang="en-US" sz="2800" dirty="0"/>
              <a:t>或</a:t>
            </a:r>
            <a:r>
              <a:rPr lang="en-US" altLang="zh-CN" sz="2800" dirty="0"/>
              <a:t>2, </a:t>
            </a:r>
            <a:r>
              <a:rPr lang="zh-CN" altLang="en-US" sz="2800" dirty="0"/>
              <a:t>则采取</a:t>
            </a:r>
            <a:r>
              <a:rPr lang="zh-CN" altLang="en-US" sz="2800" dirty="0">
                <a:solidFill>
                  <a:srgbClr val="FF0000"/>
                </a:solidFill>
              </a:rPr>
              <a:t>更换</a:t>
            </a:r>
            <a:r>
              <a:rPr lang="zh-CN" altLang="en-US" sz="2800" dirty="0"/>
              <a:t>选择的策略就必选中</a:t>
            </a:r>
            <a:r>
              <a:rPr lang="en-US" altLang="zh-CN" sz="2800" dirty="0"/>
              <a:t>3, </a:t>
            </a:r>
            <a:r>
              <a:rPr lang="zh-CN" altLang="en-US" sz="2800" dirty="0"/>
              <a:t>即赢得汽车</a:t>
            </a:r>
            <a:r>
              <a:rPr lang="en-US" altLang="zh-CN" sz="2800" dirty="0"/>
              <a:t>;</a:t>
            </a:r>
          </a:p>
          <a:p>
            <a:pPr marL="457200" indent="-457200">
              <a:buFontTx/>
              <a:buChar char="-"/>
            </a:pPr>
            <a:endParaRPr lang="en-US" altLang="zh-CN" sz="2800" dirty="0"/>
          </a:p>
          <a:p>
            <a:pPr marL="457200" indent="-457200">
              <a:buFontTx/>
              <a:buChar char="-"/>
            </a:pPr>
            <a:endParaRPr lang="en-US" altLang="zh-CN" sz="2800" dirty="0"/>
          </a:p>
          <a:p>
            <a:pPr marL="457200" indent="-457200">
              <a:buFontTx/>
              <a:buChar char="-"/>
            </a:pPr>
            <a:r>
              <a:rPr lang="zh-CN" altLang="en-US" sz="2800" dirty="0"/>
              <a:t>若掷出的骰子是点数为</a:t>
            </a:r>
            <a:r>
              <a:rPr lang="en-US" altLang="zh-CN" sz="2800" dirty="0"/>
              <a:t>5</a:t>
            </a:r>
            <a:r>
              <a:rPr lang="zh-CN" altLang="en-US" sz="2800" dirty="0"/>
              <a:t>或</a:t>
            </a:r>
            <a:r>
              <a:rPr lang="en-US" altLang="zh-CN" sz="2800" dirty="0"/>
              <a:t>6</a:t>
            </a:r>
            <a:r>
              <a:rPr lang="zh-CN" altLang="en-US" sz="2800" dirty="0"/>
              <a:t>的面之一。</a:t>
            </a:r>
            <a:endParaRPr lang="en-US" altLang="zh-CN" sz="2800" dirty="0"/>
          </a:p>
          <a:p>
            <a:r>
              <a:rPr lang="zh-CN" altLang="en-US" sz="2800" dirty="0"/>
              <a:t>表示他选中了</a:t>
            </a:r>
            <a:r>
              <a:rPr lang="en-US" altLang="zh-CN" sz="2800" dirty="0"/>
              <a:t>3, </a:t>
            </a:r>
            <a:r>
              <a:rPr lang="zh-CN" altLang="en-US" sz="2800" dirty="0"/>
              <a:t>则采取</a:t>
            </a:r>
            <a:r>
              <a:rPr lang="zh-CN" altLang="en-US" sz="2800" dirty="0">
                <a:solidFill>
                  <a:srgbClr val="FF0000"/>
                </a:solidFill>
              </a:rPr>
              <a:t>更换</a:t>
            </a:r>
            <a:r>
              <a:rPr lang="zh-CN" altLang="en-US" sz="2800" dirty="0"/>
              <a:t>选择的策略使得他失去了赢得汽车的可能</a:t>
            </a:r>
            <a:r>
              <a:rPr lang="en-US" altLang="zh-CN" sz="2800" dirty="0"/>
              <a:t>.</a:t>
            </a:r>
          </a:p>
        </p:txBody>
      </p:sp>
    </p:spTree>
    <p:extLst>
      <p:ext uri="{BB962C8B-B14F-4D97-AF65-F5344CB8AC3E}">
        <p14:creationId xmlns:p14="http://schemas.microsoft.com/office/powerpoint/2010/main" val="5871301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例 蒙提霍尔问题</a:t>
            </a:r>
          </a:p>
        </p:txBody>
      </p:sp>
      <p:sp>
        <p:nvSpPr>
          <p:cNvPr id="4" name="灯片编号占位符 2">
            <a:extLst>
              <a:ext uri="{FF2B5EF4-FFF2-40B4-BE49-F238E27FC236}">
                <a16:creationId xmlns:a16="http://schemas.microsoft.com/office/drawing/2014/main" id="{E3B5E12E-ABE4-451B-836D-4770A57E4B4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12</a:t>
            </a:fld>
            <a:endParaRPr lang="zh-CN" altLang="en-US">
              <a:solidFill>
                <a:srgbClr val="898989"/>
              </a:solidFill>
            </a:endParaRPr>
          </a:p>
        </p:txBody>
      </p:sp>
      <p:pic>
        <p:nvPicPr>
          <p:cNvPr id="3" name="图片 2">
            <a:extLst>
              <a:ext uri="{FF2B5EF4-FFF2-40B4-BE49-F238E27FC236}">
                <a16:creationId xmlns:a16="http://schemas.microsoft.com/office/drawing/2014/main" id="{6139121A-BE86-4E65-9B77-584C24CAC40D}"/>
              </a:ext>
            </a:extLst>
          </p:cNvPr>
          <p:cNvPicPr>
            <a:picLocks noChangeAspect="1"/>
          </p:cNvPicPr>
          <p:nvPr/>
        </p:nvPicPr>
        <p:blipFill>
          <a:blip r:embed="rId2"/>
          <a:stretch>
            <a:fillRect/>
          </a:stretch>
        </p:blipFill>
        <p:spPr>
          <a:xfrm>
            <a:off x="71500" y="4509120"/>
            <a:ext cx="9144000" cy="752206"/>
          </a:xfrm>
          <a:prstGeom prst="rect">
            <a:avLst/>
          </a:prstGeom>
        </p:spPr>
      </p:pic>
      <p:sp>
        <p:nvSpPr>
          <p:cNvPr id="8" name="文本框 7">
            <a:extLst>
              <a:ext uri="{FF2B5EF4-FFF2-40B4-BE49-F238E27FC236}">
                <a16:creationId xmlns:a16="http://schemas.microsoft.com/office/drawing/2014/main" id="{648662D8-EC54-40D4-9C4F-57662D08F993}"/>
              </a:ext>
            </a:extLst>
          </p:cNvPr>
          <p:cNvSpPr txBox="1"/>
          <p:nvPr/>
        </p:nvSpPr>
        <p:spPr>
          <a:xfrm>
            <a:off x="184012" y="1060667"/>
            <a:ext cx="8775975" cy="2554545"/>
          </a:xfrm>
          <a:prstGeom prst="rect">
            <a:avLst/>
          </a:prstGeom>
          <a:noFill/>
          <a:ln w="25400">
            <a:noFill/>
          </a:ln>
        </p:spPr>
        <p:txBody>
          <a:bodyPr wrap="square">
            <a:spAutoFit/>
          </a:bodyPr>
          <a:lstStyle/>
          <a:p>
            <a:r>
              <a:rPr lang="en-US" altLang="zh-CN" sz="3200" dirty="0"/>
              <a:t>- </a:t>
            </a:r>
            <a:r>
              <a:rPr lang="zh-CN" altLang="en-US" sz="3200" dirty="0"/>
              <a:t>将这样的试验重复进行</a:t>
            </a:r>
            <a:r>
              <a:rPr lang="en-US" altLang="zh-CN" sz="3200" dirty="0">
                <a:solidFill>
                  <a:srgbClr val="FF0000"/>
                </a:solidFill>
              </a:rPr>
              <a:t>n</a:t>
            </a:r>
            <a:r>
              <a:rPr lang="zh-CN" altLang="en-US" sz="3200" dirty="0"/>
              <a:t>次</a:t>
            </a:r>
            <a:r>
              <a:rPr lang="en-US" altLang="zh-CN" sz="3200" dirty="0"/>
              <a:t>,</a:t>
            </a:r>
          </a:p>
          <a:p>
            <a:pPr marL="457200" indent="-457200">
              <a:buFontTx/>
              <a:buChar char="-"/>
            </a:pPr>
            <a:r>
              <a:rPr lang="zh-CN" altLang="en-US" sz="3200" dirty="0"/>
              <a:t>记录下在这些试验中掷出的骰子是点数为</a:t>
            </a:r>
            <a:r>
              <a:rPr lang="en-US" altLang="zh-CN" sz="3200" dirty="0"/>
              <a:t>1</a:t>
            </a:r>
            <a:r>
              <a:rPr lang="zh-CN" altLang="en-US" sz="3200" dirty="0"/>
              <a:t>到</a:t>
            </a:r>
            <a:r>
              <a:rPr lang="en-US" altLang="zh-CN" sz="3200" dirty="0"/>
              <a:t>4</a:t>
            </a:r>
            <a:r>
              <a:rPr lang="zh-CN" altLang="en-US" sz="3200" dirty="0"/>
              <a:t>的面的次数</a:t>
            </a:r>
            <a:r>
              <a:rPr lang="en-US" altLang="zh-CN" sz="3200" dirty="0">
                <a:solidFill>
                  <a:srgbClr val="FF0000"/>
                </a:solidFill>
              </a:rPr>
              <a:t>m</a:t>
            </a:r>
          </a:p>
          <a:p>
            <a:pPr marL="457200" indent="-457200">
              <a:buFontTx/>
              <a:buChar char="-"/>
            </a:pPr>
            <a:endParaRPr lang="en-US" altLang="zh-CN" sz="3200" dirty="0">
              <a:solidFill>
                <a:srgbClr val="FF0000"/>
              </a:solidFill>
            </a:endParaRPr>
          </a:p>
          <a:p>
            <a:pPr marL="457200" indent="-457200">
              <a:buFontTx/>
              <a:buChar char="-"/>
            </a:pPr>
            <a:r>
              <a:rPr lang="en-US" altLang="zh-CN" sz="3200" dirty="0">
                <a:solidFill>
                  <a:srgbClr val="FF0000"/>
                </a:solidFill>
              </a:rPr>
              <a:t>m</a:t>
            </a:r>
            <a:r>
              <a:rPr lang="zh-CN" altLang="en-US" sz="3200" dirty="0"/>
              <a:t>表示了采取更换选择策略而赢得汽车的次数</a:t>
            </a:r>
          </a:p>
        </p:txBody>
      </p:sp>
    </p:spTree>
    <p:extLst>
      <p:ext uri="{BB962C8B-B14F-4D97-AF65-F5344CB8AC3E}">
        <p14:creationId xmlns:p14="http://schemas.microsoft.com/office/powerpoint/2010/main" val="36574733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随机模拟方法一般思路</a:t>
            </a:r>
          </a:p>
        </p:txBody>
      </p:sp>
      <p:sp>
        <p:nvSpPr>
          <p:cNvPr id="4" name="灯片编号占位符 2">
            <a:extLst>
              <a:ext uri="{FF2B5EF4-FFF2-40B4-BE49-F238E27FC236}">
                <a16:creationId xmlns:a16="http://schemas.microsoft.com/office/drawing/2014/main" id="{E3B5E12E-ABE4-451B-836D-4770A57E4B4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13</a:t>
            </a:fld>
            <a:endParaRPr lang="zh-CN" altLang="en-US">
              <a:solidFill>
                <a:srgbClr val="898989"/>
              </a:solidFill>
            </a:endParaRPr>
          </a:p>
        </p:txBody>
      </p:sp>
      <p:sp>
        <p:nvSpPr>
          <p:cNvPr id="8" name="文本框 7">
            <a:extLst>
              <a:ext uri="{FF2B5EF4-FFF2-40B4-BE49-F238E27FC236}">
                <a16:creationId xmlns:a16="http://schemas.microsoft.com/office/drawing/2014/main" id="{648662D8-EC54-40D4-9C4F-57662D08F993}"/>
              </a:ext>
            </a:extLst>
          </p:cNvPr>
          <p:cNvSpPr txBox="1"/>
          <p:nvPr/>
        </p:nvSpPr>
        <p:spPr>
          <a:xfrm>
            <a:off x="184012" y="1076663"/>
            <a:ext cx="8775975" cy="4401205"/>
          </a:xfrm>
          <a:prstGeom prst="rect">
            <a:avLst/>
          </a:prstGeom>
          <a:noFill/>
          <a:ln w="25400">
            <a:noFill/>
          </a:ln>
        </p:spPr>
        <p:txBody>
          <a:bodyPr wrap="square">
            <a:spAutoFit/>
          </a:bodyPr>
          <a:lstStyle/>
          <a:p>
            <a:r>
              <a:rPr lang="zh-CN" altLang="en-US" sz="2400" dirty="0"/>
              <a:t>应用随机模拟方法的关键步骤就是构造该问题的模拟系统</a:t>
            </a:r>
            <a:endParaRPr lang="en-US" altLang="zh-CN" sz="2400" dirty="0"/>
          </a:p>
          <a:p>
            <a:endParaRPr lang="en-US" altLang="zh-CN" sz="3200" dirty="0"/>
          </a:p>
          <a:p>
            <a:pPr marL="457200" indent="-457200">
              <a:buFontTx/>
              <a:buChar char="-"/>
            </a:pPr>
            <a:r>
              <a:rPr lang="zh-CN" altLang="en-US" sz="3200" dirty="0"/>
              <a:t>确定该模拟系统的状态是什么</a:t>
            </a:r>
            <a:r>
              <a:rPr lang="en-US" altLang="zh-CN" sz="3200" dirty="0"/>
              <a:t>?</a:t>
            </a:r>
          </a:p>
          <a:p>
            <a:pPr marL="457200" indent="-457200">
              <a:buFontTx/>
              <a:buChar char="-"/>
            </a:pPr>
            <a:endParaRPr lang="en-US" altLang="zh-CN" sz="3200" dirty="0"/>
          </a:p>
          <a:p>
            <a:pPr marL="457200" indent="-457200">
              <a:buFontTx/>
              <a:buChar char="-"/>
            </a:pPr>
            <a:r>
              <a:rPr lang="zh-CN" altLang="en-US" sz="3200" dirty="0"/>
              <a:t>存在什么随机因素</a:t>
            </a:r>
            <a:r>
              <a:rPr lang="en-US" altLang="zh-CN" sz="3200" dirty="0"/>
              <a:t>?</a:t>
            </a:r>
          </a:p>
          <a:p>
            <a:pPr marL="457200" indent="-457200">
              <a:buFontTx/>
              <a:buChar char="-"/>
            </a:pPr>
            <a:endParaRPr lang="en-US" altLang="zh-CN" sz="3200" dirty="0"/>
          </a:p>
          <a:p>
            <a:pPr marL="457200" indent="-457200">
              <a:buFontTx/>
              <a:buChar char="-"/>
            </a:pPr>
            <a:r>
              <a:rPr lang="zh-CN" altLang="en-US" sz="3200" dirty="0"/>
              <a:t>系统会出现哪些可能的结果</a:t>
            </a:r>
            <a:r>
              <a:rPr lang="en-US" altLang="zh-CN" sz="3200" dirty="0"/>
              <a:t>?</a:t>
            </a:r>
          </a:p>
          <a:p>
            <a:pPr marL="457200" indent="-457200">
              <a:buFontTx/>
              <a:buChar char="-"/>
            </a:pPr>
            <a:endParaRPr lang="en-US" altLang="zh-CN" sz="3200" dirty="0"/>
          </a:p>
          <a:p>
            <a:r>
              <a:rPr lang="en-US" altLang="zh-CN" sz="3200" dirty="0"/>
              <a:t>- </a:t>
            </a:r>
            <a:r>
              <a:rPr lang="zh-CN" altLang="en-US" sz="3200" dirty="0"/>
              <a:t>需要计算的系统的性能指标是什么</a:t>
            </a:r>
            <a:r>
              <a:rPr lang="en-US" altLang="zh-CN" sz="3200" dirty="0"/>
              <a:t>?</a:t>
            </a:r>
            <a:endParaRPr lang="zh-CN" altLang="en-US" sz="3200" dirty="0"/>
          </a:p>
        </p:txBody>
      </p:sp>
    </p:spTree>
    <p:extLst>
      <p:ext uri="{BB962C8B-B14F-4D97-AF65-F5344CB8AC3E}">
        <p14:creationId xmlns:p14="http://schemas.microsoft.com/office/powerpoint/2010/main" val="63248812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例</a:t>
            </a:r>
            <a:r>
              <a:rPr lang="en-US" altLang="zh-CN" dirty="0"/>
              <a:t>10.1 (1</a:t>
            </a:r>
            <a:r>
              <a:rPr lang="zh-CN" altLang="en-US" dirty="0"/>
              <a:t>用蒲丰投针法求圆周率</a:t>
            </a:r>
            <a:r>
              <a:rPr lang="en-US" altLang="zh-CN" dirty="0"/>
              <a:t>)</a:t>
            </a:r>
            <a:endParaRPr lang="zh-CN" altLang="en-US" dirty="0"/>
          </a:p>
        </p:txBody>
      </p:sp>
      <p:sp>
        <p:nvSpPr>
          <p:cNvPr id="4" name="灯片编号占位符 2">
            <a:extLst>
              <a:ext uri="{FF2B5EF4-FFF2-40B4-BE49-F238E27FC236}">
                <a16:creationId xmlns:a16="http://schemas.microsoft.com/office/drawing/2014/main" id="{C27C162C-7E7E-4C70-B53F-15564590C7C6}"/>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14</a:t>
            </a:fld>
            <a:endParaRPr lang="zh-CN" altLang="en-US">
              <a:solidFill>
                <a:srgbClr val="898989"/>
              </a:solidFill>
            </a:endParaRPr>
          </a:p>
        </p:txBody>
      </p:sp>
      <p:sp>
        <p:nvSpPr>
          <p:cNvPr id="11" name="文本框 10">
            <a:extLst>
              <a:ext uri="{FF2B5EF4-FFF2-40B4-BE49-F238E27FC236}">
                <a16:creationId xmlns:a16="http://schemas.microsoft.com/office/drawing/2014/main" id="{B1604BBE-AE95-4C21-B4B3-0F78DA2595D8}"/>
              </a:ext>
            </a:extLst>
          </p:cNvPr>
          <p:cNvSpPr txBox="1"/>
          <p:nvPr/>
        </p:nvSpPr>
        <p:spPr>
          <a:xfrm>
            <a:off x="0" y="962933"/>
            <a:ext cx="9144000" cy="1569660"/>
          </a:xfrm>
          <a:prstGeom prst="rect">
            <a:avLst/>
          </a:prstGeom>
          <a:noFill/>
          <a:ln w="25400">
            <a:noFill/>
          </a:ln>
        </p:spPr>
        <p:txBody>
          <a:bodyPr wrap="square">
            <a:spAutoFit/>
          </a:bodyPr>
          <a:lstStyle/>
          <a:p>
            <a:r>
              <a:rPr lang="zh-CN" altLang="en-US" sz="3200" dirty="0">
                <a:solidFill>
                  <a:srgbClr val="006699"/>
                </a:solidFill>
                <a:latin typeface="Verdana" panose="020B0604030504040204" pitchFamily="34" charset="0"/>
              </a:rPr>
              <a:t>通过将针投到画有一组等间隔平行线的地面来统计针与线条相交的频率</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并运用已知的数学关系式计算出圆周率</a:t>
            </a:r>
            <a:r>
              <a:rPr lang="en-US" altLang="zh-CN" sz="3200" dirty="0">
                <a:solidFill>
                  <a:srgbClr val="006699"/>
                </a:solidFill>
                <a:latin typeface="+mn-lt"/>
              </a:rPr>
              <a:t>π</a:t>
            </a:r>
            <a:r>
              <a:rPr lang="zh-CN" altLang="en-US" sz="3200" dirty="0">
                <a:solidFill>
                  <a:srgbClr val="006699"/>
                </a:solidFill>
                <a:latin typeface="Verdana" panose="020B0604030504040204" pitchFamily="34" charset="0"/>
              </a:rPr>
              <a:t>的值</a:t>
            </a:r>
          </a:p>
        </p:txBody>
      </p:sp>
      <p:pic>
        <p:nvPicPr>
          <p:cNvPr id="3" name="图片 2">
            <a:extLst>
              <a:ext uri="{FF2B5EF4-FFF2-40B4-BE49-F238E27FC236}">
                <a16:creationId xmlns:a16="http://schemas.microsoft.com/office/drawing/2014/main" id="{71C69712-92D3-4341-9D79-A2DC575369AF}"/>
              </a:ext>
            </a:extLst>
          </p:cNvPr>
          <p:cNvPicPr>
            <a:picLocks noChangeAspect="1"/>
          </p:cNvPicPr>
          <p:nvPr/>
        </p:nvPicPr>
        <p:blipFill>
          <a:blip r:embed="rId2"/>
          <a:stretch>
            <a:fillRect/>
          </a:stretch>
        </p:blipFill>
        <p:spPr>
          <a:xfrm>
            <a:off x="0" y="2925176"/>
            <a:ext cx="9144000" cy="1719319"/>
          </a:xfrm>
          <a:prstGeom prst="rect">
            <a:avLst/>
          </a:prstGeom>
        </p:spPr>
      </p:pic>
    </p:spTree>
    <p:extLst>
      <p:ext uri="{BB962C8B-B14F-4D97-AF65-F5344CB8AC3E}">
        <p14:creationId xmlns:p14="http://schemas.microsoft.com/office/powerpoint/2010/main" val="34073163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例</a:t>
            </a:r>
            <a:r>
              <a:rPr lang="en-US" altLang="zh-CN" dirty="0"/>
              <a:t>10.1 (1</a:t>
            </a:r>
            <a:r>
              <a:rPr lang="zh-CN" altLang="en-US" dirty="0"/>
              <a:t>用蒲丰投针法求圆周率</a:t>
            </a:r>
            <a:r>
              <a:rPr lang="en-US" altLang="zh-CN" dirty="0"/>
              <a:t>)</a:t>
            </a:r>
            <a:endParaRPr lang="zh-CN" altLang="en-US" dirty="0"/>
          </a:p>
        </p:txBody>
      </p:sp>
      <p:sp>
        <p:nvSpPr>
          <p:cNvPr id="4" name="灯片编号占位符 2">
            <a:extLst>
              <a:ext uri="{FF2B5EF4-FFF2-40B4-BE49-F238E27FC236}">
                <a16:creationId xmlns:a16="http://schemas.microsoft.com/office/drawing/2014/main" id="{C27C162C-7E7E-4C70-B53F-15564590C7C6}"/>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15</a:t>
            </a:fld>
            <a:endParaRPr lang="zh-CN" altLang="en-US">
              <a:solidFill>
                <a:srgbClr val="898989"/>
              </a:solidFill>
            </a:endParaRPr>
          </a:p>
        </p:txBody>
      </p:sp>
      <p:sp>
        <p:nvSpPr>
          <p:cNvPr id="13" name="文本框 12">
            <a:extLst>
              <a:ext uri="{FF2B5EF4-FFF2-40B4-BE49-F238E27FC236}">
                <a16:creationId xmlns:a16="http://schemas.microsoft.com/office/drawing/2014/main" id="{E839A594-8386-47C9-A0DF-45A30786EF20}"/>
              </a:ext>
            </a:extLst>
          </p:cNvPr>
          <p:cNvSpPr txBox="1"/>
          <p:nvPr/>
        </p:nvSpPr>
        <p:spPr>
          <a:xfrm>
            <a:off x="-15876" y="5064609"/>
            <a:ext cx="9268395" cy="1077218"/>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用</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y</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表示针的中点与最近的一条线的距离</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用</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x</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表示针与此直线间的夹角</a:t>
            </a:r>
            <a:endParaRPr lang="zh-CN" altLang="en-US" dirty="0"/>
          </a:p>
        </p:txBody>
      </p:sp>
      <p:sp>
        <p:nvSpPr>
          <p:cNvPr id="16" name="文本框 15">
            <a:extLst>
              <a:ext uri="{FF2B5EF4-FFF2-40B4-BE49-F238E27FC236}">
                <a16:creationId xmlns:a16="http://schemas.microsoft.com/office/drawing/2014/main" id="{7CEDEC46-CDDF-44FE-8149-432C60974C70}"/>
              </a:ext>
            </a:extLst>
          </p:cNvPr>
          <p:cNvSpPr txBox="1"/>
          <p:nvPr/>
        </p:nvSpPr>
        <p:spPr>
          <a:xfrm>
            <a:off x="0" y="3245501"/>
            <a:ext cx="8745423" cy="1569660"/>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平面上画有间隔为</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d(d&gt;0)</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的等距平行线</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向平面内任意投掷一枚长为</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h(h&lt;d)</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的针，</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统计针与任一平行线发生相交的</a:t>
            </a:r>
            <a:r>
              <a:rPr kumimoji="0" lang="zh-CN" altLang="en-US" sz="3200" b="1"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频率</a:t>
            </a:r>
            <a:endParaRPr lang="zh-CN" altLang="en-US" b="1" dirty="0"/>
          </a:p>
        </p:txBody>
      </p:sp>
      <p:pic>
        <p:nvPicPr>
          <p:cNvPr id="5" name="图片 4">
            <a:extLst>
              <a:ext uri="{FF2B5EF4-FFF2-40B4-BE49-F238E27FC236}">
                <a16:creationId xmlns:a16="http://schemas.microsoft.com/office/drawing/2014/main" id="{8EFF5B4F-A866-4840-91F9-16BABF899BA1}"/>
              </a:ext>
            </a:extLst>
          </p:cNvPr>
          <p:cNvPicPr>
            <a:picLocks noChangeAspect="1"/>
          </p:cNvPicPr>
          <p:nvPr/>
        </p:nvPicPr>
        <p:blipFill>
          <a:blip r:embed="rId2"/>
          <a:stretch>
            <a:fillRect/>
          </a:stretch>
        </p:blipFill>
        <p:spPr>
          <a:xfrm>
            <a:off x="1875465" y="969311"/>
            <a:ext cx="5485714" cy="2276190"/>
          </a:xfrm>
          <a:prstGeom prst="rect">
            <a:avLst/>
          </a:prstGeom>
        </p:spPr>
      </p:pic>
    </p:spTree>
    <p:extLst>
      <p:ext uri="{BB962C8B-B14F-4D97-AF65-F5344CB8AC3E}">
        <p14:creationId xmlns:p14="http://schemas.microsoft.com/office/powerpoint/2010/main" val="36451047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例</a:t>
            </a:r>
            <a:r>
              <a:rPr lang="en-US" altLang="zh-CN" dirty="0"/>
              <a:t>10.1 (1</a:t>
            </a:r>
            <a:r>
              <a:rPr lang="zh-CN" altLang="en-US" dirty="0"/>
              <a:t>用蒲丰投针法求圆周率</a:t>
            </a:r>
            <a:r>
              <a:rPr lang="en-US" altLang="zh-CN" dirty="0"/>
              <a:t>)</a:t>
            </a:r>
            <a:endParaRPr lang="zh-CN" altLang="en-US" dirty="0"/>
          </a:p>
        </p:txBody>
      </p:sp>
      <p:sp>
        <p:nvSpPr>
          <p:cNvPr id="4" name="灯片编号占位符 2">
            <a:extLst>
              <a:ext uri="{FF2B5EF4-FFF2-40B4-BE49-F238E27FC236}">
                <a16:creationId xmlns:a16="http://schemas.microsoft.com/office/drawing/2014/main" id="{C27C162C-7E7E-4C70-B53F-15564590C7C6}"/>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16</a:t>
            </a:fld>
            <a:endParaRPr lang="zh-CN" altLang="en-US">
              <a:solidFill>
                <a:srgbClr val="898989"/>
              </a:solidFill>
            </a:endParaRPr>
          </a:p>
        </p:txBody>
      </p:sp>
      <p:sp>
        <p:nvSpPr>
          <p:cNvPr id="13" name="文本框 12">
            <a:extLst>
              <a:ext uri="{FF2B5EF4-FFF2-40B4-BE49-F238E27FC236}">
                <a16:creationId xmlns:a16="http://schemas.microsoft.com/office/drawing/2014/main" id="{E839A594-8386-47C9-A0DF-45A30786EF20}"/>
              </a:ext>
            </a:extLst>
          </p:cNvPr>
          <p:cNvSpPr txBox="1"/>
          <p:nvPr/>
        </p:nvSpPr>
        <p:spPr>
          <a:xfrm>
            <a:off x="-79065" y="4213830"/>
            <a:ext cx="6290889" cy="584775"/>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计算圆周率近似值为</a:t>
            </a:r>
            <a:endParaRPr lang="zh-CN" altLang="en-US" dirty="0"/>
          </a:p>
        </p:txBody>
      </p:sp>
      <p:pic>
        <p:nvPicPr>
          <p:cNvPr id="3" name="图片 2">
            <a:extLst>
              <a:ext uri="{FF2B5EF4-FFF2-40B4-BE49-F238E27FC236}">
                <a16:creationId xmlns:a16="http://schemas.microsoft.com/office/drawing/2014/main" id="{B3FA9222-766C-4CE7-BDF5-567E76550A54}"/>
              </a:ext>
            </a:extLst>
          </p:cNvPr>
          <p:cNvPicPr>
            <a:picLocks noChangeAspect="1"/>
          </p:cNvPicPr>
          <p:nvPr/>
        </p:nvPicPr>
        <p:blipFill>
          <a:blip r:embed="rId2"/>
          <a:stretch>
            <a:fillRect/>
          </a:stretch>
        </p:blipFill>
        <p:spPr>
          <a:xfrm>
            <a:off x="5413790" y="3429000"/>
            <a:ext cx="3730210" cy="2772646"/>
          </a:xfrm>
          <a:prstGeom prst="rect">
            <a:avLst/>
          </a:prstGeom>
        </p:spPr>
      </p:pic>
      <p:sp>
        <p:nvSpPr>
          <p:cNvPr id="10" name="文本框 9">
            <a:extLst>
              <a:ext uri="{FF2B5EF4-FFF2-40B4-BE49-F238E27FC236}">
                <a16:creationId xmlns:a16="http://schemas.microsoft.com/office/drawing/2014/main" id="{6362C743-3F1A-42E7-BC27-F90F712F41B2}"/>
              </a:ext>
            </a:extLst>
          </p:cNvPr>
          <p:cNvSpPr txBox="1"/>
          <p:nvPr/>
        </p:nvSpPr>
        <p:spPr>
          <a:xfrm>
            <a:off x="75595" y="991225"/>
            <a:ext cx="5981570"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针与平行线发生相交的</a:t>
            </a:r>
            <a:r>
              <a:rPr kumimoji="0" lang="zh-CN" altLang="en-US" sz="3200" b="1"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概率；</a:t>
            </a:r>
            <a:endParaRPr lang="zh-CN" altLang="en-US"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2BC8D29-E699-49FC-8491-A37D53E502BA}"/>
                  </a:ext>
                </a:extLst>
              </p:cNvPr>
              <p:cNvSpPr txBox="1"/>
              <p:nvPr/>
            </p:nvSpPr>
            <p:spPr>
              <a:xfrm>
                <a:off x="1753659" y="1503626"/>
                <a:ext cx="4690532" cy="1296060"/>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𝑅</m:t>
                      </m:r>
                      <m:r>
                        <a:rPr lang="zh-CN" altLang="en-US" sz="2400" i="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𝑆</m:t>
                              </m:r>
                            </m:e>
                            <m:sub>
                              <m:r>
                                <a:rPr lang="zh-CN" altLang="en-US" sz="2400" i="1">
                                  <a:latin typeface="Cambria Math" panose="02040503050406030204" pitchFamily="18" charset="0"/>
                                </a:rPr>
                                <m:t>𝐵</m:t>
                              </m:r>
                            </m:sub>
                          </m:sSub>
                        </m:num>
                        <m:den>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𝑆</m:t>
                              </m:r>
                            </m:e>
                            <m:sub>
                              <m:r>
                                <a:rPr lang="zh-CN" altLang="en-US" sz="2400" i="1">
                                  <a:latin typeface="Cambria Math" panose="02040503050406030204" pitchFamily="18" charset="0"/>
                                </a:rPr>
                                <m:t>𝐴</m:t>
                              </m:r>
                            </m:sub>
                          </m:sSub>
                        </m:den>
                      </m:f>
                      <m:r>
                        <a:rPr lang="zh-CN" altLang="en-US" sz="2400" i="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nary>
                            <m:naryPr>
                              <m:limLoc m:val="subSup"/>
                              <m:grow m:val="on"/>
                              <m:ctrlPr>
                                <a:rPr lang="zh-CN" altLang="en-US" sz="2400" i="1">
                                  <a:latin typeface="Cambria Math" panose="02040503050406030204" pitchFamily="18" charset="0"/>
                                </a:rPr>
                              </m:ctrlPr>
                            </m:naryPr>
                            <m:sub>
                              <m:r>
                                <a:rPr lang="zh-CN" altLang="en-US" sz="2400" i="0">
                                  <a:latin typeface="Cambria Math" panose="02040503050406030204" pitchFamily="18" charset="0"/>
                                </a:rPr>
                                <m:t>0</m:t>
                              </m:r>
                            </m:sub>
                            <m:sup>
                              <m:r>
                                <a:rPr lang="zh-CN" altLang="en-US" sz="2400" i="1">
                                  <a:latin typeface="Cambria Math" panose="02040503050406030204" pitchFamily="18" charset="0"/>
                                </a:rPr>
                                <m:t>𝜋</m:t>
                              </m:r>
                            </m:sup>
                            <m:e>
                              <m:f>
                                <m:fPr>
                                  <m:ctrlPr>
                                    <a:rPr lang="zh-CN" altLang="en-US" sz="2400" i="1">
                                      <a:solidFill>
                                        <a:srgbClr val="836967"/>
                                      </a:solidFill>
                                      <a:latin typeface="Cambria Math" panose="02040503050406030204" pitchFamily="18" charset="0"/>
                                    </a:rPr>
                                  </m:ctrlPr>
                                </m:fPr>
                                <m:num>
                                  <m:r>
                                    <a:rPr lang="zh-CN" altLang="en-US" sz="2400" i="1">
                                      <a:latin typeface="Cambria Math" panose="02040503050406030204" pitchFamily="18" charset="0"/>
                                    </a:rPr>
                                    <m:t>h</m:t>
                                  </m:r>
                                </m:num>
                                <m:den>
                                  <m:r>
                                    <a:rPr lang="zh-CN" altLang="en-US" sz="2400" i="0">
                                      <a:latin typeface="Cambria Math" panose="02040503050406030204" pitchFamily="18" charset="0"/>
                                    </a:rPr>
                                    <m:t>2</m:t>
                                  </m:r>
                                </m:den>
                              </m:f>
                              <m:r>
                                <m:rPr>
                                  <m:sty m:val="p"/>
                                </m:rPr>
                                <a:rPr lang="zh-CN" altLang="en-US" sz="2400" i="0">
                                  <a:latin typeface="Cambria Math" panose="02040503050406030204" pitchFamily="18" charset="0"/>
                                </a:rPr>
                                <m:t>sin</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𝑥</m:t>
                                  </m:r>
                                </m:e>
                              </m:d>
                              <m:r>
                                <a:rPr lang="zh-CN" altLang="en-US" sz="2400" i="1">
                                  <a:latin typeface="Cambria Math" panose="02040503050406030204" pitchFamily="18" charset="0"/>
                                </a:rPr>
                                <m:t>𝑑𝑥</m:t>
                              </m:r>
                            </m:e>
                          </m:nary>
                        </m:num>
                        <m:den>
                          <m:r>
                            <a:rPr lang="zh-CN" altLang="en-US" sz="2400" i="1">
                              <a:latin typeface="Cambria Math" panose="02040503050406030204" pitchFamily="18" charset="0"/>
                            </a:rPr>
                            <m:t>𝑑</m:t>
                          </m:r>
                          <m:f>
                            <m:fPr>
                              <m:type m:val="lin"/>
                              <m:ctrlPr>
                                <a:rPr lang="zh-CN" altLang="en-US" sz="2400" i="1">
                                  <a:latin typeface="Cambria Math" panose="02040503050406030204" pitchFamily="18" charset="0"/>
                                </a:rPr>
                              </m:ctrlPr>
                            </m:fPr>
                            <m:num>
                              <m:r>
                                <a:rPr lang="zh-CN" altLang="en-US" sz="2400" i="1">
                                  <a:latin typeface="Cambria Math" panose="02040503050406030204" pitchFamily="18" charset="0"/>
                                </a:rPr>
                                <m:t>𝜋</m:t>
                              </m:r>
                            </m:num>
                            <m:den>
                              <m:r>
                                <a:rPr lang="zh-CN" altLang="en-US" sz="2400" i="0">
                                  <a:latin typeface="Cambria Math" panose="02040503050406030204" pitchFamily="18" charset="0"/>
                                </a:rPr>
                                <m:t>2</m:t>
                              </m:r>
                            </m:den>
                          </m:f>
                        </m:den>
                      </m:f>
                      <m:r>
                        <a:rPr lang="zh-CN" altLang="en-US" sz="2400" i="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i="0">
                              <a:latin typeface="Cambria Math" panose="02040503050406030204" pitchFamily="18" charset="0"/>
                            </a:rPr>
                            <m:t>2</m:t>
                          </m:r>
                          <m:r>
                            <a:rPr lang="zh-CN" altLang="en-US" sz="2400" i="1">
                              <a:latin typeface="Cambria Math" panose="02040503050406030204" pitchFamily="18" charset="0"/>
                            </a:rPr>
                            <m:t>h</m:t>
                          </m:r>
                        </m:num>
                        <m:den>
                          <m:r>
                            <a:rPr lang="zh-CN" altLang="en-US" sz="2400" i="1">
                              <a:latin typeface="Cambria Math" panose="02040503050406030204" pitchFamily="18" charset="0"/>
                            </a:rPr>
                            <m:t>𝑑</m:t>
                          </m:r>
                          <m:r>
                            <a:rPr lang="zh-CN" altLang="en-US" sz="2400" i="1">
                              <a:latin typeface="Cambria Math" panose="02040503050406030204" pitchFamily="18" charset="0"/>
                            </a:rPr>
                            <m:t>𝜋</m:t>
                          </m:r>
                        </m:den>
                      </m:f>
                    </m:oMath>
                  </m:oMathPara>
                </a14:m>
                <a:endParaRPr lang="zh-CN" altLang="en-US" dirty="0"/>
              </a:p>
            </p:txBody>
          </p:sp>
        </mc:Choice>
        <mc:Fallback xmlns="">
          <p:sp>
            <p:nvSpPr>
              <p:cNvPr id="12" name="文本框 11">
                <a:extLst>
                  <a:ext uri="{FF2B5EF4-FFF2-40B4-BE49-F238E27FC236}">
                    <a16:creationId xmlns:a16="http://schemas.microsoft.com/office/drawing/2014/main" id="{E2BC8D29-E699-49FC-8491-A37D53E502BA}"/>
                  </a:ext>
                </a:extLst>
              </p:cNvPr>
              <p:cNvSpPr txBox="1">
                <a:spLocks noRot="1" noChangeAspect="1" noMove="1" noResize="1" noEditPoints="1" noAdjustHandles="1" noChangeArrowheads="1" noChangeShapeType="1" noTextEdit="1"/>
              </p:cNvSpPr>
              <p:nvPr/>
            </p:nvSpPr>
            <p:spPr>
              <a:xfrm>
                <a:off x="1753659" y="1503626"/>
                <a:ext cx="4690532" cy="1296060"/>
              </a:xfrm>
              <a:prstGeom prst="rect">
                <a:avLst/>
              </a:prstGeom>
              <a:blipFill>
                <a:blip r:embed="rId3"/>
                <a:stretch>
                  <a:fillRect/>
                </a:stretch>
              </a:blipFill>
              <a:ln w="25400">
                <a:noFill/>
              </a:ln>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DE4C6127-B4C9-4965-8824-0D637AA1FEBB}"/>
              </a:ext>
            </a:extLst>
          </p:cNvPr>
          <p:cNvSpPr txBox="1"/>
          <p:nvPr/>
        </p:nvSpPr>
        <p:spPr>
          <a:xfrm>
            <a:off x="75594" y="2921252"/>
            <a:ext cx="9068405" cy="1077218"/>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另一方面，设</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m</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为针与水平线相交的次数</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,N</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为投针的总次数，则</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R=m/N</a:t>
            </a:r>
            <a:endParaRPr lang="zh-CN" altLang="en-US" dirty="0"/>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9D3A4B28-6FD8-4220-98CF-E5E67889BE33}"/>
                  </a:ext>
                </a:extLst>
              </p:cNvPr>
              <p:cNvSpPr txBox="1"/>
              <p:nvPr/>
            </p:nvSpPr>
            <p:spPr>
              <a:xfrm>
                <a:off x="697858" y="5103318"/>
                <a:ext cx="4715932" cy="79361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𝜋</m:t>
                      </m:r>
                      <m:r>
                        <a:rPr lang="zh-CN" altLang="en-US" sz="2400" i="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i="0">
                              <a:latin typeface="Cambria Math" panose="02040503050406030204" pitchFamily="18" charset="0"/>
                            </a:rPr>
                            <m:t>2</m:t>
                          </m:r>
                          <m:r>
                            <a:rPr lang="zh-CN" altLang="en-US" sz="2400" i="1">
                              <a:latin typeface="Cambria Math" panose="02040503050406030204" pitchFamily="18" charset="0"/>
                            </a:rPr>
                            <m:t>h𝑁</m:t>
                          </m:r>
                        </m:num>
                        <m:den>
                          <m:r>
                            <a:rPr lang="zh-CN" altLang="en-US" sz="2400" i="1">
                              <a:latin typeface="Cambria Math" panose="02040503050406030204" pitchFamily="18" charset="0"/>
                            </a:rPr>
                            <m:t>𝑑𝑚</m:t>
                          </m:r>
                        </m:den>
                      </m:f>
                    </m:oMath>
                  </m:oMathPara>
                </a14:m>
                <a:endParaRPr lang="zh-CN" altLang="en-US" sz="2400" dirty="0"/>
              </a:p>
            </p:txBody>
          </p:sp>
        </mc:Choice>
        <mc:Fallback xmlns="">
          <p:sp>
            <p:nvSpPr>
              <p:cNvPr id="17" name="文本框 16">
                <a:extLst>
                  <a:ext uri="{FF2B5EF4-FFF2-40B4-BE49-F238E27FC236}">
                    <a16:creationId xmlns:a16="http://schemas.microsoft.com/office/drawing/2014/main" id="{9D3A4B28-6FD8-4220-98CF-E5E67889BE33}"/>
                  </a:ext>
                </a:extLst>
              </p:cNvPr>
              <p:cNvSpPr txBox="1">
                <a:spLocks noRot="1" noChangeAspect="1" noMove="1" noResize="1" noEditPoints="1" noAdjustHandles="1" noChangeArrowheads="1" noChangeShapeType="1" noTextEdit="1"/>
              </p:cNvSpPr>
              <p:nvPr/>
            </p:nvSpPr>
            <p:spPr>
              <a:xfrm>
                <a:off x="697858" y="5103318"/>
                <a:ext cx="4715932" cy="793615"/>
              </a:xfrm>
              <a:prstGeom prst="rect">
                <a:avLst/>
              </a:prstGeom>
              <a:blipFill>
                <a:blip r:embed="rId4"/>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8824130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例</a:t>
            </a:r>
            <a:r>
              <a:rPr lang="en-US" altLang="zh-CN" dirty="0"/>
              <a:t>10.1 (2</a:t>
            </a:r>
            <a:r>
              <a:rPr lang="zh-CN" altLang="en-US" dirty="0"/>
              <a:t>用随机模拟估计圆周率</a:t>
            </a:r>
            <a:r>
              <a:rPr lang="en-US" altLang="zh-CN" dirty="0"/>
              <a:t>)</a:t>
            </a:r>
            <a:endParaRPr lang="zh-CN" altLang="en-US" dirty="0"/>
          </a:p>
        </p:txBody>
      </p:sp>
      <p:sp>
        <p:nvSpPr>
          <p:cNvPr id="4" name="灯片编号占位符 2">
            <a:extLst>
              <a:ext uri="{FF2B5EF4-FFF2-40B4-BE49-F238E27FC236}">
                <a16:creationId xmlns:a16="http://schemas.microsoft.com/office/drawing/2014/main" id="{C27C162C-7E7E-4C70-B53F-15564590C7C6}"/>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17</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C785910-759B-462B-9D36-3EEE7F49553B}"/>
                  </a:ext>
                </a:extLst>
              </p:cNvPr>
              <p:cNvSpPr txBox="1"/>
              <p:nvPr/>
            </p:nvSpPr>
            <p:spPr>
              <a:xfrm>
                <a:off x="953480" y="1538790"/>
                <a:ext cx="6290889" cy="492443"/>
              </a:xfrm>
              <a:prstGeom prst="rect">
                <a:avLst/>
              </a:prstGeom>
              <a:noFill/>
              <a:ln w="25400">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3200" i="1" smtClean="0">
                          <a:latin typeface="Cambria Math" panose="02040503050406030204" pitchFamily="18" charset="0"/>
                        </a:rPr>
                        <m:t>D</m:t>
                      </m:r>
                      <m:r>
                        <a:rPr lang="en-US" altLang="zh-CN" sz="3200" i="1" smtClean="0">
                          <a:latin typeface="Cambria Math" panose="02040503050406030204" pitchFamily="18" charset="0"/>
                        </a:rPr>
                        <m:t>={</m:t>
                      </m:r>
                      <m:d>
                        <m:dPr>
                          <m:ctrlPr>
                            <a:rPr lang="en-US" altLang="zh-CN" sz="3200" b="0" i="1" smtClean="0">
                              <a:latin typeface="Cambria Math" panose="02040503050406030204" pitchFamily="18" charset="0"/>
                            </a:rPr>
                          </m:ctrlPr>
                        </m:dPr>
                        <m:e>
                          <m:r>
                            <a:rPr lang="en-US" altLang="zh-CN" sz="3200" b="0" i="1" smtClean="0">
                              <a:latin typeface="Cambria Math" panose="02040503050406030204" pitchFamily="18" charset="0"/>
                            </a:rPr>
                            <m:t>𝑥</m:t>
                          </m:r>
                          <m:r>
                            <a:rPr lang="en-US" altLang="zh-CN" sz="3200" b="0" i="1" smtClean="0">
                              <a:latin typeface="Cambria Math" panose="02040503050406030204" pitchFamily="18" charset="0"/>
                            </a:rPr>
                            <m:t>,</m:t>
                          </m:r>
                          <m:r>
                            <a:rPr lang="en-US" altLang="zh-CN" sz="3200" b="0" i="1" smtClean="0">
                              <a:latin typeface="Cambria Math" panose="02040503050406030204" pitchFamily="18" charset="0"/>
                            </a:rPr>
                            <m:t>𝑦</m:t>
                          </m:r>
                        </m:e>
                      </m:d>
                      <m:r>
                        <a:rPr lang="en-US" altLang="zh-CN" sz="3200" b="0" i="1" smtClean="0">
                          <a:latin typeface="Cambria Math" panose="02040503050406030204" pitchFamily="18" charset="0"/>
                        </a:rPr>
                        <m:t>:</m:t>
                      </m:r>
                      <m:r>
                        <a:rPr lang="en-US" altLang="zh-CN" sz="3200" b="0" i="1" smtClean="0">
                          <a:latin typeface="Cambria Math" panose="02040503050406030204" pitchFamily="18" charset="0"/>
                        </a:rPr>
                        <m:t>𝑥</m:t>
                      </m:r>
                      <m:r>
                        <a:rPr lang="en-US" altLang="zh-CN" sz="3200" b="0" i="1" smtClean="0">
                          <a:latin typeface="Cambria Math" panose="02040503050406030204" pitchFamily="18" charset="0"/>
                          <a:ea typeface="Cambria Math" panose="02040503050406030204" pitchFamily="18" charset="0"/>
                        </a:rPr>
                        <m:t>∈</m:t>
                      </m:r>
                      <m:d>
                        <m:dPr>
                          <m:begChr m:val="["/>
                          <m:endChr m:val="]"/>
                          <m:ctrlPr>
                            <a:rPr lang="en-US" altLang="zh-CN" sz="3200" b="0" i="1" smtClean="0">
                              <a:latin typeface="Cambria Math" panose="02040503050406030204" pitchFamily="18" charset="0"/>
                            </a:rPr>
                          </m:ctrlPr>
                        </m:dPr>
                        <m:e>
                          <m:r>
                            <a:rPr lang="en-US" altLang="zh-CN" sz="3200" b="0" i="1" smtClean="0">
                              <a:latin typeface="Cambria Math" panose="02040503050406030204" pitchFamily="18" charset="0"/>
                            </a:rPr>
                            <m:t>−1,1</m:t>
                          </m:r>
                        </m:e>
                      </m:d>
                      <m:r>
                        <a:rPr lang="en-US" altLang="zh-CN" sz="3200" i="1">
                          <a:latin typeface="Cambria Math" panose="02040503050406030204" pitchFamily="18" charset="0"/>
                        </a:rPr>
                        <m:t>,</m:t>
                      </m:r>
                      <m:r>
                        <a:rPr lang="en-US" altLang="zh-CN" sz="3200" b="0" i="1" smtClean="0">
                          <a:latin typeface="Cambria Math" panose="02040503050406030204" pitchFamily="18" charset="0"/>
                        </a:rPr>
                        <m:t>𝑦</m:t>
                      </m:r>
                      <m:r>
                        <a:rPr lang="en-US" altLang="zh-CN" sz="3200" i="1">
                          <a:latin typeface="Cambria Math" panose="02040503050406030204" pitchFamily="18" charset="0"/>
                          <a:ea typeface="Cambria Math" panose="02040503050406030204" pitchFamily="18" charset="0"/>
                        </a:rPr>
                        <m:t>∈</m:t>
                      </m:r>
                      <m:d>
                        <m:dPr>
                          <m:begChr m:val="["/>
                          <m:endChr m:val="]"/>
                          <m:ctrlPr>
                            <a:rPr lang="en-US" altLang="zh-CN" sz="3200" i="1">
                              <a:latin typeface="Cambria Math" panose="02040503050406030204" pitchFamily="18" charset="0"/>
                            </a:rPr>
                          </m:ctrlPr>
                        </m:dPr>
                        <m:e>
                          <m:r>
                            <a:rPr lang="en-US" altLang="zh-CN" sz="3200" i="1">
                              <a:latin typeface="Cambria Math" panose="02040503050406030204" pitchFamily="18" charset="0"/>
                            </a:rPr>
                            <m:t>−1,1</m:t>
                          </m:r>
                        </m:e>
                      </m:d>
                      <m:r>
                        <a:rPr lang="en-US" altLang="zh-CN" sz="3200" b="0" i="1" smtClean="0">
                          <a:latin typeface="Cambria Math" panose="02040503050406030204" pitchFamily="18" charset="0"/>
                        </a:rPr>
                        <m:t>} </m:t>
                      </m:r>
                    </m:oMath>
                  </m:oMathPara>
                </a14:m>
                <a:endParaRPr lang="zh-CN" altLang="en-US" sz="3200" i="1" dirty="0">
                  <a:latin typeface="Cambria Math" panose="02040503050406030204" pitchFamily="18" charset="0"/>
                </a:endParaRPr>
              </a:p>
            </p:txBody>
          </p:sp>
        </mc:Choice>
        <mc:Fallback xmlns="">
          <p:sp>
            <p:nvSpPr>
              <p:cNvPr id="3" name="文本框 2">
                <a:extLst>
                  <a:ext uri="{FF2B5EF4-FFF2-40B4-BE49-F238E27FC236}">
                    <a16:creationId xmlns:a16="http://schemas.microsoft.com/office/drawing/2014/main" id="{EC785910-759B-462B-9D36-3EEE7F49553B}"/>
                  </a:ext>
                </a:extLst>
              </p:cNvPr>
              <p:cNvSpPr txBox="1">
                <a:spLocks noRot="1" noChangeAspect="1" noMove="1" noResize="1" noEditPoints="1" noAdjustHandles="1" noChangeArrowheads="1" noChangeShapeType="1" noTextEdit="1"/>
              </p:cNvSpPr>
              <p:nvPr/>
            </p:nvSpPr>
            <p:spPr>
              <a:xfrm>
                <a:off x="953480" y="1538790"/>
                <a:ext cx="6290889" cy="492443"/>
              </a:xfrm>
              <a:prstGeom prst="rect">
                <a:avLst/>
              </a:prstGeom>
              <a:blipFill>
                <a:blip r:embed="rId2"/>
                <a:stretch>
                  <a:fillRect/>
                </a:stretch>
              </a:blipFill>
              <a:ln w="25400">
                <a:noFill/>
              </a:ln>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B1604BBE-AE95-4C21-B4B3-0F78DA2595D8}"/>
              </a:ext>
            </a:extLst>
          </p:cNvPr>
          <p:cNvSpPr txBox="1"/>
          <p:nvPr/>
        </p:nvSpPr>
        <p:spPr>
          <a:xfrm>
            <a:off x="0" y="962933"/>
            <a:ext cx="4690532" cy="584775"/>
          </a:xfrm>
          <a:prstGeom prst="rect">
            <a:avLst/>
          </a:prstGeom>
          <a:noFill/>
          <a:ln w="25400">
            <a:noFill/>
          </a:ln>
        </p:spPr>
        <p:txBody>
          <a:bodyPr wrap="square">
            <a:spAutoFit/>
          </a:bodyPr>
          <a:lstStyle/>
          <a:p>
            <a:r>
              <a:rPr lang="zh-CN" altLang="en-US" sz="3200" dirty="0">
                <a:solidFill>
                  <a:srgbClr val="006699"/>
                </a:solidFill>
                <a:latin typeface="Verdana" panose="020B0604030504040204" pitchFamily="34" charset="0"/>
              </a:rPr>
              <a:t>向正方形</a:t>
            </a:r>
          </a:p>
        </p:txBody>
      </p:sp>
      <p:sp>
        <p:nvSpPr>
          <p:cNvPr id="13" name="文本框 12">
            <a:extLst>
              <a:ext uri="{FF2B5EF4-FFF2-40B4-BE49-F238E27FC236}">
                <a16:creationId xmlns:a16="http://schemas.microsoft.com/office/drawing/2014/main" id="{E839A594-8386-47C9-A0DF-45A30786EF20}"/>
              </a:ext>
            </a:extLst>
          </p:cNvPr>
          <p:cNvSpPr txBox="1"/>
          <p:nvPr/>
        </p:nvSpPr>
        <p:spPr>
          <a:xfrm>
            <a:off x="12117" y="2305163"/>
            <a:ext cx="6290889"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内随机等可能投点， 落入单位圆</a:t>
            </a:r>
            <a:endParaRPr lang="zh-CN" altLang="en-US" dirty="0"/>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7F1C75F7-FFB6-46C2-AEAD-3D98F8F8A480}"/>
                  </a:ext>
                </a:extLst>
              </p:cNvPr>
              <p:cNvSpPr txBox="1"/>
              <p:nvPr/>
            </p:nvSpPr>
            <p:spPr>
              <a:xfrm>
                <a:off x="1748554" y="3012724"/>
                <a:ext cx="4554452" cy="492443"/>
              </a:xfrm>
              <a:prstGeom prst="rect">
                <a:avLst/>
              </a:prstGeom>
              <a:noFill/>
              <a:ln w="25400">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𝐶</m:t>
                      </m:r>
                      <m:r>
                        <a:rPr lang="en-US" altLang="zh-CN" sz="3200" i="1" smtClean="0">
                          <a:latin typeface="Cambria Math" panose="02040503050406030204" pitchFamily="18" charset="0"/>
                        </a:rPr>
                        <m:t>=</m:t>
                      </m:r>
                      <m:r>
                        <a:rPr lang="en-US" altLang="zh-CN" sz="3200" b="0" i="1" smtClean="0">
                          <a:latin typeface="Cambria Math" panose="02040503050406030204" pitchFamily="18" charset="0"/>
                        </a:rPr>
                        <m:t>{</m:t>
                      </m:r>
                      <m:d>
                        <m:dPr>
                          <m:ctrlPr>
                            <a:rPr lang="en-US" altLang="zh-CN" sz="3200" b="0" i="1" smtClean="0">
                              <a:latin typeface="Cambria Math" panose="02040503050406030204" pitchFamily="18" charset="0"/>
                            </a:rPr>
                          </m:ctrlPr>
                        </m:dPr>
                        <m:e>
                          <m:r>
                            <a:rPr lang="en-US" altLang="zh-CN" sz="3200" b="0" i="1" smtClean="0">
                              <a:latin typeface="Cambria Math" panose="02040503050406030204" pitchFamily="18" charset="0"/>
                            </a:rPr>
                            <m:t>𝑥</m:t>
                          </m:r>
                          <m:r>
                            <a:rPr lang="en-US" altLang="zh-CN" sz="3200" b="0" i="1" smtClean="0">
                              <a:latin typeface="Cambria Math" panose="02040503050406030204" pitchFamily="18" charset="0"/>
                            </a:rPr>
                            <m:t>,</m:t>
                          </m:r>
                          <m:r>
                            <a:rPr lang="en-US" altLang="zh-CN" sz="3200" b="0" i="1" smtClean="0">
                              <a:latin typeface="Cambria Math" panose="02040503050406030204" pitchFamily="18" charset="0"/>
                            </a:rPr>
                            <m:t>𝑦</m:t>
                          </m:r>
                        </m:e>
                      </m:d>
                      <m:r>
                        <a:rPr lang="en-US" altLang="zh-CN" sz="3200" b="0" i="1" smtClean="0">
                          <a:latin typeface="Cambria Math" panose="02040503050406030204" pitchFamily="18" charset="0"/>
                        </a:rPr>
                        <m:t>:</m:t>
                      </m:r>
                      <m:sSup>
                        <m:sSupPr>
                          <m:ctrlPr>
                            <a:rPr lang="en-US" altLang="zh-CN" sz="3200" b="0" i="1" smtClean="0">
                              <a:latin typeface="Cambria Math" panose="02040503050406030204" pitchFamily="18" charset="0"/>
                            </a:rPr>
                          </m:ctrlPr>
                        </m:sSupPr>
                        <m:e>
                          <m:r>
                            <a:rPr lang="en-US" altLang="zh-CN" sz="3200" b="0" i="1" smtClean="0">
                              <a:latin typeface="Cambria Math" panose="02040503050406030204" pitchFamily="18" charset="0"/>
                            </a:rPr>
                            <m:t>𝑥</m:t>
                          </m:r>
                        </m:e>
                        <m:sup>
                          <m:r>
                            <a:rPr lang="en-US" altLang="zh-CN" sz="3200" b="0" i="1" smtClean="0">
                              <a:latin typeface="Cambria Math" panose="02040503050406030204" pitchFamily="18" charset="0"/>
                            </a:rPr>
                            <m:t>2</m:t>
                          </m:r>
                        </m:sup>
                      </m:sSup>
                      <m:r>
                        <a:rPr lang="en-US" altLang="zh-CN" sz="3200" b="0" i="1" smtClean="0">
                          <a:latin typeface="Cambria Math" panose="02040503050406030204" pitchFamily="18" charset="0"/>
                        </a:rPr>
                        <m:t>+</m:t>
                      </m:r>
                      <m:sSup>
                        <m:sSupPr>
                          <m:ctrlPr>
                            <a:rPr lang="en-US" altLang="zh-CN" sz="3200" i="1">
                              <a:latin typeface="Cambria Math" panose="02040503050406030204" pitchFamily="18" charset="0"/>
                            </a:rPr>
                          </m:ctrlPr>
                        </m:sSupPr>
                        <m:e>
                          <m:r>
                            <a:rPr lang="en-US" altLang="zh-CN" sz="3200" b="0" i="1" smtClean="0">
                              <a:latin typeface="Cambria Math" panose="02040503050406030204" pitchFamily="18" charset="0"/>
                            </a:rPr>
                            <m:t>𝑦</m:t>
                          </m:r>
                        </m:e>
                        <m:sup>
                          <m:r>
                            <a:rPr lang="en-US" altLang="zh-CN" sz="3200" i="1">
                              <a:latin typeface="Cambria Math" panose="02040503050406030204" pitchFamily="18" charset="0"/>
                            </a:rPr>
                            <m:t>2</m:t>
                          </m:r>
                        </m:sup>
                      </m:sSup>
                      <m:r>
                        <a:rPr lang="en-US" altLang="zh-CN" sz="320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rPr>
                        <m:t>1} </m:t>
                      </m:r>
                    </m:oMath>
                  </m:oMathPara>
                </a14:m>
                <a:endParaRPr lang="zh-CN" altLang="en-US" sz="3200" i="1" dirty="0">
                  <a:latin typeface="Cambria Math" panose="02040503050406030204" pitchFamily="18" charset="0"/>
                </a:endParaRPr>
              </a:p>
            </p:txBody>
          </p:sp>
        </mc:Choice>
        <mc:Fallback xmlns="">
          <p:sp>
            <p:nvSpPr>
              <p:cNvPr id="14" name="文本框 13">
                <a:extLst>
                  <a:ext uri="{FF2B5EF4-FFF2-40B4-BE49-F238E27FC236}">
                    <a16:creationId xmlns:a16="http://schemas.microsoft.com/office/drawing/2014/main" id="{7F1C75F7-FFB6-46C2-AEAD-3D98F8F8A480}"/>
                  </a:ext>
                </a:extLst>
              </p:cNvPr>
              <p:cNvSpPr txBox="1">
                <a:spLocks noRot="1" noChangeAspect="1" noMove="1" noResize="1" noEditPoints="1" noAdjustHandles="1" noChangeArrowheads="1" noChangeShapeType="1" noTextEdit="1"/>
              </p:cNvSpPr>
              <p:nvPr/>
            </p:nvSpPr>
            <p:spPr>
              <a:xfrm>
                <a:off x="1748554" y="3012724"/>
                <a:ext cx="4554452" cy="492443"/>
              </a:xfrm>
              <a:prstGeom prst="rect">
                <a:avLst/>
              </a:prstGeom>
              <a:blipFill>
                <a:blip r:embed="rId3"/>
                <a:stretch>
                  <a:fillRect/>
                </a:stretch>
              </a:blipFill>
              <a:ln w="25400">
                <a:noFill/>
              </a:ln>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7CEDEC46-CDDF-44FE-8149-432C60974C70}"/>
              </a:ext>
            </a:extLst>
          </p:cNvPr>
          <p:cNvSpPr txBox="1"/>
          <p:nvPr/>
        </p:nvSpPr>
        <p:spPr>
          <a:xfrm>
            <a:off x="12117" y="4037435"/>
            <a:ext cx="4690532"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的概率为面积之比 </a:t>
            </a:r>
            <a:endParaRPr lang="zh-CN" altLang="en-US" dirty="0"/>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2F61E0D5-CC76-4D72-ABB6-C91FCA45B209}"/>
                  </a:ext>
                </a:extLst>
              </p:cNvPr>
              <p:cNvSpPr txBox="1"/>
              <p:nvPr/>
            </p:nvSpPr>
            <p:spPr>
              <a:xfrm>
                <a:off x="3621473" y="3911406"/>
                <a:ext cx="1110689" cy="836832"/>
              </a:xfrm>
              <a:prstGeom prst="rect">
                <a:avLst/>
              </a:prstGeom>
              <a:noFill/>
              <a:ln w="25400">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𝑝</m:t>
                      </m:r>
                      <m:r>
                        <a:rPr lang="en-US" altLang="zh-CN" sz="3200" i="1" smtClean="0">
                          <a:latin typeface="Cambria Math" panose="02040503050406030204" pitchFamily="18" charset="0"/>
                        </a:rPr>
                        <m:t>=</m:t>
                      </m:r>
                      <m:f>
                        <m:fPr>
                          <m:ctrlPr>
                            <a:rPr lang="el-GR" altLang="zh-CN" sz="3200" i="1" smtClean="0">
                              <a:latin typeface="Cambria Math" panose="02040503050406030204" pitchFamily="18" charset="0"/>
                            </a:rPr>
                          </m:ctrlPr>
                        </m:fPr>
                        <m:num>
                          <m:r>
                            <a:rPr lang="el-GR" altLang="zh-CN" sz="3200" i="1" smtClean="0">
                              <a:latin typeface="Cambria Math" panose="02040503050406030204" pitchFamily="18" charset="0"/>
                            </a:rPr>
                            <m:t>𝜋</m:t>
                          </m:r>
                        </m:num>
                        <m:den>
                          <m:r>
                            <a:rPr lang="en-US" altLang="zh-CN" sz="3200" b="0" i="1" smtClean="0">
                              <a:latin typeface="Cambria Math" panose="02040503050406030204" pitchFamily="18" charset="0"/>
                            </a:rPr>
                            <m:t>4</m:t>
                          </m:r>
                        </m:den>
                      </m:f>
                    </m:oMath>
                  </m:oMathPara>
                </a14:m>
                <a:endParaRPr lang="zh-CN" altLang="en-US" sz="3200" i="1" dirty="0">
                  <a:latin typeface="Cambria Math" panose="02040503050406030204" pitchFamily="18" charset="0"/>
                </a:endParaRPr>
              </a:p>
            </p:txBody>
          </p:sp>
        </mc:Choice>
        <mc:Fallback xmlns="">
          <p:sp>
            <p:nvSpPr>
              <p:cNvPr id="17" name="文本框 16">
                <a:extLst>
                  <a:ext uri="{FF2B5EF4-FFF2-40B4-BE49-F238E27FC236}">
                    <a16:creationId xmlns:a16="http://schemas.microsoft.com/office/drawing/2014/main" id="{2F61E0D5-CC76-4D72-ABB6-C91FCA45B209}"/>
                  </a:ext>
                </a:extLst>
              </p:cNvPr>
              <p:cNvSpPr txBox="1">
                <a:spLocks noRot="1" noChangeAspect="1" noMove="1" noResize="1" noEditPoints="1" noAdjustHandles="1" noChangeArrowheads="1" noChangeShapeType="1" noTextEdit="1"/>
              </p:cNvSpPr>
              <p:nvPr/>
            </p:nvSpPr>
            <p:spPr>
              <a:xfrm>
                <a:off x="3621473" y="3911406"/>
                <a:ext cx="1110689" cy="836832"/>
              </a:xfrm>
              <a:prstGeom prst="rect">
                <a:avLst/>
              </a:prstGeom>
              <a:blipFill>
                <a:blip r:embed="rId4"/>
                <a:stretch>
                  <a:fillRect/>
                </a:stretch>
              </a:blipFill>
              <a:ln w="25400">
                <a:noFill/>
              </a:ln>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7ED84017-F98D-41D7-B036-9276C9F97A9E}"/>
              </a:ext>
            </a:extLst>
          </p:cNvPr>
          <p:cNvPicPr>
            <a:picLocks noChangeAspect="1"/>
          </p:cNvPicPr>
          <p:nvPr/>
        </p:nvPicPr>
        <p:blipFill>
          <a:blip r:embed="rId5"/>
          <a:stretch>
            <a:fillRect/>
          </a:stretch>
        </p:blipFill>
        <p:spPr>
          <a:xfrm>
            <a:off x="6565713" y="3826534"/>
            <a:ext cx="2383794" cy="2362883"/>
          </a:xfrm>
          <a:prstGeom prst="rect">
            <a:avLst/>
          </a:prstGeom>
        </p:spPr>
      </p:pic>
    </p:spTree>
    <p:extLst>
      <p:ext uri="{BB962C8B-B14F-4D97-AF65-F5344CB8AC3E}">
        <p14:creationId xmlns:p14="http://schemas.microsoft.com/office/powerpoint/2010/main" val="8234147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例</a:t>
            </a:r>
            <a:r>
              <a:rPr lang="en-US" altLang="zh-CN" dirty="0"/>
              <a:t>10.1 (2</a:t>
            </a:r>
            <a:r>
              <a:rPr lang="zh-CN" altLang="en-US" dirty="0"/>
              <a:t>用随机模拟估计圆周率</a:t>
            </a:r>
            <a:r>
              <a:rPr lang="en-US" altLang="zh-CN" dirty="0"/>
              <a:t>)</a:t>
            </a:r>
            <a:endParaRPr lang="zh-CN" altLang="en-US" dirty="0"/>
          </a:p>
        </p:txBody>
      </p:sp>
      <p:sp>
        <p:nvSpPr>
          <p:cNvPr id="11" name="文本框 10">
            <a:extLst>
              <a:ext uri="{FF2B5EF4-FFF2-40B4-BE49-F238E27FC236}">
                <a16:creationId xmlns:a16="http://schemas.microsoft.com/office/drawing/2014/main" id="{B1604BBE-AE95-4C21-B4B3-0F78DA2595D8}"/>
              </a:ext>
            </a:extLst>
          </p:cNvPr>
          <p:cNvSpPr txBox="1"/>
          <p:nvPr/>
        </p:nvSpPr>
        <p:spPr>
          <a:xfrm>
            <a:off x="-1" y="962933"/>
            <a:ext cx="9131883" cy="1077218"/>
          </a:xfrm>
          <a:prstGeom prst="rect">
            <a:avLst/>
          </a:prstGeom>
          <a:noFill/>
          <a:ln w="25400">
            <a:noFill/>
          </a:ln>
        </p:spPr>
        <p:txBody>
          <a:bodyPr wrap="square">
            <a:spAutoFit/>
          </a:bodyPr>
          <a:lstStyle/>
          <a:p>
            <a:r>
              <a:rPr lang="zh-CN" altLang="en-US" sz="3200" dirty="0">
                <a:solidFill>
                  <a:srgbClr val="006699"/>
                </a:solidFill>
                <a:latin typeface="Verdana" panose="020B0604030504040204" pitchFamily="34" charset="0"/>
              </a:rPr>
              <a:t>如果独立重复地投了</a:t>
            </a:r>
            <a:r>
              <a:rPr lang="en-US" altLang="zh-CN" sz="3200" dirty="0">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个点</a:t>
            </a:r>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落入</a:t>
            </a:r>
            <a:r>
              <a:rPr lang="en-US" altLang="zh-CN" sz="3200" dirty="0">
                <a:solidFill>
                  <a:srgbClr val="006699"/>
                </a:solidFill>
                <a:latin typeface="Verdana" panose="020B0604030504040204" pitchFamily="34" charset="0"/>
              </a:rPr>
              <a:t>C</a:t>
            </a:r>
            <a:r>
              <a:rPr lang="zh-CN" altLang="en-US" sz="3200" dirty="0">
                <a:solidFill>
                  <a:srgbClr val="006699"/>
                </a:solidFill>
                <a:latin typeface="Verdana" panose="020B0604030504040204" pitchFamily="34" charset="0"/>
              </a:rPr>
              <a:t>中的点的个数</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12228F94-BE8F-4457-BC8A-010FFF66674A}"/>
                  </a:ext>
                </a:extLst>
              </p:cNvPr>
              <p:cNvSpPr txBox="1"/>
              <p:nvPr/>
            </p:nvSpPr>
            <p:spPr>
              <a:xfrm>
                <a:off x="3660283" y="1496313"/>
                <a:ext cx="380999"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𝜉</m:t>
                      </m:r>
                    </m:oMath>
                  </m:oMathPara>
                </a14:m>
                <a:endParaRPr lang="zh-CN" altLang="en-US" sz="3200" dirty="0"/>
              </a:p>
            </p:txBody>
          </p:sp>
        </mc:Choice>
        <mc:Fallback xmlns="">
          <p:sp>
            <p:nvSpPr>
              <p:cNvPr id="12" name="文本框 11">
                <a:extLst>
                  <a:ext uri="{FF2B5EF4-FFF2-40B4-BE49-F238E27FC236}">
                    <a16:creationId xmlns:a16="http://schemas.microsoft.com/office/drawing/2014/main" id="{12228F94-BE8F-4457-BC8A-010FFF66674A}"/>
                  </a:ext>
                </a:extLst>
              </p:cNvPr>
              <p:cNvSpPr txBox="1">
                <a:spLocks noRot="1" noChangeAspect="1" noMove="1" noResize="1" noEditPoints="1" noAdjustHandles="1" noChangeArrowheads="1" noChangeShapeType="1" noTextEdit="1"/>
              </p:cNvSpPr>
              <p:nvPr/>
            </p:nvSpPr>
            <p:spPr>
              <a:xfrm>
                <a:off x="3660283" y="1496313"/>
                <a:ext cx="380999" cy="584775"/>
              </a:xfrm>
              <a:prstGeom prst="rect">
                <a:avLst/>
              </a:prstGeom>
              <a:blipFill>
                <a:blip r:embed="rId2"/>
                <a:stretch>
                  <a:fillRect/>
                </a:stretch>
              </a:blipFill>
              <a:ln w="25400">
                <a:noFill/>
              </a:ln>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CE50FDFE-620F-4DBF-A93C-C9EA727A65C5}"/>
              </a:ext>
            </a:extLst>
          </p:cNvPr>
          <p:cNvSpPr txBox="1"/>
          <p:nvPr/>
        </p:nvSpPr>
        <p:spPr>
          <a:xfrm>
            <a:off x="12118" y="2102951"/>
            <a:ext cx="6472368" cy="584775"/>
          </a:xfrm>
          <a:prstGeom prst="rect">
            <a:avLst/>
          </a:prstGeom>
          <a:noFill/>
          <a:ln w="25400">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则由概率与频率近似相等，有</a:t>
            </a: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56FF344-A164-4E79-A0B5-CCB777BB47CB}"/>
                  </a:ext>
                </a:extLst>
              </p:cNvPr>
              <p:cNvSpPr txBox="1"/>
              <p:nvPr/>
            </p:nvSpPr>
            <p:spPr>
              <a:xfrm>
                <a:off x="2593482" y="2916936"/>
                <a:ext cx="2133601" cy="1024127"/>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3200" i="1" smtClean="0">
                              <a:latin typeface="Cambria Math" panose="02040503050406030204" pitchFamily="18" charset="0"/>
                            </a:rPr>
                          </m:ctrlPr>
                        </m:fPr>
                        <m:num>
                          <m:r>
                            <a:rPr lang="zh-CN" altLang="en-US" sz="3200" i="1">
                              <a:latin typeface="Cambria Math" panose="02040503050406030204" pitchFamily="18" charset="0"/>
                            </a:rPr>
                            <m:t>𝜉</m:t>
                          </m:r>
                        </m:num>
                        <m:den>
                          <m:r>
                            <a:rPr lang="zh-CN" altLang="en-US" sz="3200" i="1">
                              <a:latin typeface="Cambria Math" panose="02040503050406030204" pitchFamily="18" charset="0"/>
                            </a:rPr>
                            <m:t>𝑁</m:t>
                          </m:r>
                        </m:den>
                      </m:f>
                      <m:r>
                        <a:rPr lang="en-US" altLang="zh-CN" sz="3200" dirty="0">
                          <a:latin typeface="Cambria Math" panose="02040503050406030204" pitchFamily="18" charset="0"/>
                          <a:ea typeface="Cambria Math" panose="02040503050406030204" pitchFamily="18" charset="0"/>
                        </a:rPr>
                        <m:t>≈</m:t>
                      </m:r>
                      <m:f>
                        <m:fPr>
                          <m:ctrlPr>
                            <a:rPr lang="el-GR" altLang="zh-CN" sz="3200" i="1" dirty="0" smtClean="0">
                              <a:latin typeface="Cambria Math" panose="02040503050406030204" pitchFamily="18" charset="0"/>
                              <a:ea typeface="Cambria Math" panose="02040503050406030204" pitchFamily="18" charset="0"/>
                            </a:rPr>
                          </m:ctrlPr>
                        </m:fPr>
                        <m:num>
                          <m:r>
                            <a:rPr lang="el-GR" altLang="zh-CN" sz="3200" i="1" dirty="0" smtClean="0">
                              <a:latin typeface="Cambria Math" panose="02040503050406030204" pitchFamily="18" charset="0"/>
                              <a:ea typeface="Cambria Math" panose="02040503050406030204" pitchFamily="18" charset="0"/>
                            </a:rPr>
                            <m:t>𝜋</m:t>
                          </m:r>
                        </m:num>
                        <m:den>
                          <m:r>
                            <a:rPr lang="en-US" altLang="zh-CN" sz="3200" b="0" i="1" dirty="0" smtClean="0">
                              <a:latin typeface="Cambria Math" panose="02040503050406030204" pitchFamily="18" charset="0"/>
                              <a:ea typeface="Cambria Math" panose="02040503050406030204" pitchFamily="18" charset="0"/>
                            </a:rPr>
                            <m:t>4</m:t>
                          </m:r>
                        </m:den>
                      </m:f>
                    </m:oMath>
                  </m:oMathPara>
                </a14:m>
                <a:endParaRPr lang="zh-CN" altLang="en-US" sz="3200" dirty="0"/>
              </a:p>
            </p:txBody>
          </p:sp>
        </mc:Choice>
        <mc:Fallback xmlns="">
          <p:sp>
            <p:nvSpPr>
              <p:cNvPr id="20" name="文本框 19">
                <a:extLst>
                  <a:ext uri="{FF2B5EF4-FFF2-40B4-BE49-F238E27FC236}">
                    <a16:creationId xmlns:a16="http://schemas.microsoft.com/office/drawing/2014/main" id="{D56FF344-A164-4E79-A0B5-CCB777BB47CB}"/>
                  </a:ext>
                </a:extLst>
              </p:cNvPr>
              <p:cNvSpPr txBox="1">
                <a:spLocks noRot="1" noChangeAspect="1" noMove="1" noResize="1" noEditPoints="1" noAdjustHandles="1" noChangeArrowheads="1" noChangeShapeType="1" noTextEdit="1"/>
              </p:cNvSpPr>
              <p:nvPr/>
            </p:nvSpPr>
            <p:spPr>
              <a:xfrm>
                <a:off x="2593482" y="2916936"/>
                <a:ext cx="2133601" cy="1024127"/>
              </a:xfrm>
              <a:prstGeom prst="rect">
                <a:avLst/>
              </a:prstGeom>
              <a:blipFill>
                <a:blip r:embed="rId3"/>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B333CD3C-56C3-40B1-BD9F-7FE414E1C47B}"/>
                  </a:ext>
                </a:extLst>
              </p:cNvPr>
              <p:cNvSpPr txBox="1"/>
              <p:nvPr/>
            </p:nvSpPr>
            <p:spPr>
              <a:xfrm>
                <a:off x="1708916" y="4644135"/>
                <a:ext cx="3902734" cy="1024127"/>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el-GR" altLang="zh-CN" sz="3200" i="1" dirty="0">
                          <a:latin typeface="Cambria Math" panose="02040503050406030204" pitchFamily="18" charset="0"/>
                          <a:ea typeface="Cambria Math" panose="02040503050406030204" pitchFamily="18" charset="0"/>
                        </a:rPr>
                        <m:t>𝜋</m:t>
                      </m:r>
                      <m:r>
                        <a:rPr lang="en-US" altLang="zh-CN" sz="3200" dirty="0">
                          <a:latin typeface="Cambria Math" panose="02040503050406030204" pitchFamily="18" charset="0"/>
                          <a:ea typeface="Cambria Math" panose="02040503050406030204" pitchFamily="18" charset="0"/>
                        </a:rPr>
                        <m:t>≈</m:t>
                      </m:r>
                      <m:acc>
                        <m:accPr>
                          <m:chr m:val="̂"/>
                          <m:ctrlPr>
                            <a:rPr lang="el-GR" altLang="zh-CN" sz="3200" i="1" dirty="0" smtClean="0">
                              <a:latin typeface="Cambria Math" panose="02040503050406030204" pitchFamily="18" charset="0"/>
                              <a:ea typeface="Cambria Math" panose="02040503050406030204" pitchFamily="18" charset="0"/>
                            </a:rPr>
                          </m:ctrlPr>
                        </m:accPr>
                        <m:e>
                          <m:r>
                            <a:rPr lang="el-GR" altLang="zh-CN" sz="3200" i="1" dirty="0">
                              <a:latin typeface="Cambria Math" panose="02040503050406030204" pitchFamily="18" charset="0"/>
                              <a:ea typeface="Cambria Math" panose="02040503050406030204" pitchFamily="18" charset="0"/>
                            </a:rPr>
                            <m:t>𝜋</m:t>
                          </m:r>
                        </m:e>
                      </m:acc>
                      <m:r>
                        <a:rPr lang="en-US" altLang="zh-CN" sz="3200" dirty="0">
                          <a:latin typeface="Cambria Math" panose="02040503050406030204" pitchFamily="18" charset="0"/>
                          <a:ea typeface="Cambria Math" panose="02040503050406030204" pitchFamily="18" charset="0"/>
                        </a:rPr>
                        <m:t>≈</m:t>
                      </m:r>
                      <m:f>
                        <m:fPr>
                          <m:ctrlPr>
                            <a:rPr lang="en-US" altLang="zh-CN" sz="3200" i="1">
                              <a:latin typeface="Cambria Math" panose="02040503050406030204" pitchFamily="18" charset="0"/>
                            </a:rPr>
                          </m:ctrlPr>
                        </m:fPr>
                        <m:num>
                          <m:r>
                            <a:rPr lang="en-US" altLang="zh-CN" sz="3200" i="1" dirty="0">
                              <a:latin typeface="Cambria Math" panose="02040503050406030204" pitchFamily="18" charset="0"/>
                              <a:ea typeface="Cambria Math" panose="02040503050406030204" pitchFamily="18" charset="0"/>
                            </a:rPr>
                            <m:t>4</m:t>
                          </m:r>
                          <m:r>
                            <a:rPr lang="zh-CN" altLang="en-US" sz="3200" i="1">
                              <a:latin typeface="Cambria Math" panose="02040503050406030204" pitchFamily="18" charset="0"/>
                            </a:rPr>
                            <m:t>𝜉</m:t>
                          </m:r>
                        </m:num>
                        <m:den>
                          <m:r>
                            <a:rPr lang="zh-CN" altLang="en-US" sz="3200" i="1">
                              <a:latin typeface="Cambria Math" panose="02040503050406030204" pitchFamily="18" charset="0"/>
                            </a:rPr>
                            <m:t>𝑁</m:t>
                          </m:r>
                        </m:den>
                      </m:f>
                    </m:oMath>
                  </m:oMathPara>
                </a14:m>
                <a:endParaRPr lang="zh-CN" altLang="en-US" sz="3200" dirty="0"/>
              </a:p>
            </p:txBody>
          </p:sp>
        </mc:Choice>
        <mc:Fallback xmlns="">
          <p:sp>
            <p:nvSpPr>
              <p:cNvPr id="21" name="文本框 20">
                <a:extLst>
                  <a:ext uri="{FF2B5EF4-FFF2-40B4-BE49-F238E27FC236}">
                    <a16:creationId xmlns:a16="http://schemas.microsoft.com/office/drawing/2014/main" id="{B333CD3C-56C3-40B1-BD9F-7FE414E1C47B}"/>
                  </a:ext>
                </a:extLst>
              </p:cNvPr>
              <p:cNvSpPr txBox="1">
                <a:spLocks noRot="1" noChangeAspect="1" noMove="1" noResize="1" noEditPoints="1" noAdjustHandles="1" noChangeArrowheads="1" noChangeShapeType="1" noTextEdit="1"/>
              </p:cNvSpPr>
              <p:nvPr/>
            </p:nvSpPr>
            <p:spPr>
              <a:xfrm>
                <a:off x="1708916" y="4644135"/>
                <a:ext cx="3902734" cy="1024127"/>
              </a:xfrm>
              <a:prstGeom prst="rect">
                <a:avLst/>
              </a:prstGeom>
              <a:blipFill>
                <a:blip r:embed="rId5"/>
                <a:stretch>
                  <a:fillRect/>
                </a:stretch>
              </a:blipFill>
              <a:ln w="25400">
                <a:noFill/>
              </a:ln>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50EEC10B-8418-4615-9AB1-1525F4DEF254}"/>
              </a:ext>
            </a:extLst>
          </p:cNvPr>
          <p:cNvSpPr txBox="1"/>
          <p:nvPr/>
        </p:nvSpPr>
        <p:spPr>
          <a:xfrm>
            <a:off x="248216" y="4351747"/>
            <a:ext cx="4690532"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即</a:t>
            </a:r>
            <a:endParaRPr lang="zh-CN" altLang="en-US" dirty="0"/>
          </a:p>
        </p:txBody>
      </p:sp>
    </p:spTree>
    <p:extLst>
      <p:ext uri="{BB962C8B-B14F-4D97-AF65-F5344CB8AC3E}">
        <p14:creationId xmlns:p14="http://schemas.microsoft.com/office/powerpoint/2010/main" val="9440716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随机模拟误差</a:t>
            </a:r>
          </a:p>
        </p:txBody>
      </p:sp>
      <p:sp>
        <p:nvSpPr>
          <p:cNvPr id="4" name="灯片编号占位符 2">
            <a:extLst>
              <a:ext uri="{FF2B5EF4-FFF2-40B4-BE49-F238E27FC236}">
                <a16:creationId xmlns:a16="http://schemas.microsoft.com/office/drawing/2014/main" id="{E3B5E12E-ABE4-451B-836D-4770A57E4B4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19</a:t>
            </a:fld>
            <a:endParaRPr lang="zh-CN" altLang="en-US">
              <a:solidFill>
                <a:srgbClr val="898989"/>
              </a:solidFill>
            </a:endParaRPr>
          </a:p>
        </p:txBody>
      </p:sp>
      <p:sp>
        <p:nvSpPr>
          <p:cNvPr id="6" name="文本框 5">
            <a:extLst>
              <a:ext uri="{FF2B5EF4-FFF2-40B4-BE49-F238E27FC236}">
                <a16:creationId xmlns:a16="http://schemas.microsoft.com/office/drawing/2014/main" id="{C0908162-4289-4534-A09B-FB5E69CEF8DE}"/>
              </a:ext>
            </a:extLst>
          </p:cNvPr>
          <p:cNvSpPr txBox="1"/>
          <p:nvPr/>
        </p:nvSpPr>
        <p:spPr>
          <a:xfrm>
            <a:off x="14377" y="1145936"/>
            <a:ext cx="7797983" cy="1077218"/>
          </a:xfrm>
          <a:prstGeom prst="rect">
            <a:avLst/>
          </a:prstGeom>
          <a:noFill/>
          <a:ln w="25400">
            <a:noFill/>
          </a:ln>
        </p:spPr>
        <p:txBody>
          <a:bodyPr wrap="square">
            <a:spAutoFit/>
          </a:bodyPr>
          <a:lstStyle/>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随机模拟方法结果的</a:t>
            </a:r>
            <a:r>
              <a:rPr lang="zh-CN" altLang="en-US" sz="3200" b="1" dirty="0">
                <a:solidFill>
                  <a:srgbClr val="006699"/>
                </a:solidFill>
                <a:latin typeface="Verdana" panose="020B0604030504040204" pitchFamily="34" charset="0"/>
              </a:rPr>
              <a:t>随机性</a:t>
            </a:r>
            <a:r>
              <a:rPr lang="zh-CN" altLang="en-US" sz="3200" dirty="0">
                <a:solidFill>
                  <a:srgbClr val="006699"/>
                </a:solidFill>
                <a:latin typeface="Verdana" panose="020B0604030504040204" pitchFamily="34" charset="0"/>
              </a:rPr>
              <a:t>导致的误差叫</a:t>
            </a:r>
            <a:r>
              <a:rPr lang="zh-CN" altLang="en-US" sz="3200" b="1" dirty="0">
                <a:solidFill>
                  <a:srgbClr val="FF0000"/>
                </a:solidFill>
                <a:latin typeface="Verdana" panose="020B0604030504040204" pitchFamily="34" charset="0"/>
              </a:rPr>
              <a:t>随机模拟误差</a:t>
            </a:r>
            <a:endParaRPr lang="en-US" altLang="zh-CN" sz="3200" b="1" dirty="0">
              <a:solidFill>
                <a:srgbClr val="FF0000"/>
              </a:solidFill>
              <a:latin typeface="Verdana" panose="020B0604030504040204" pitchFamily="34" charset="0"/>
            </a:endParaRPr>
          </a:p>
        </p:txBody>
      </p:sp>
      <p:sp>
        <p:nvSpPr>
          <p:cNvPr id="8" name="文本框 7">
            <a:extLst>
              <a:ext uri="{FF2B5EF4-FFF2-40B4-BE49-F238E27FC236}">
                <a16:creationId xmlns:a16="http://schemas.microsoft.com/office/drawing/2014/main" id="{6427D57E-A17D-46FF-8978-B266690D5357}"/>
              </a:ext>
            </a:extLst>
          </p:cNvPr>
          <p:cNvSpPr txBox="1"/>
          <p:nvPr/>
        </p:nvSpPr>
        <p:spPr>
          <a:xfrm>
            <a:off x="251521" y="2618910"/>
            <a:ext cx="8435280" cy="3539430"/>
          </a:xfrm>
          <a:prstGeom prst="rect">
            <a:avLst/>
          </a:prstGeom>
          <a:noFill/>
          <a:ln w="25400">
            <a:noFill/>
          </a:ln>
        </p:spPr>
        <p:txBody>
          <a:bodyPr wrap="square">
            <a:spAutoFit/>
          </a:bodyPr>
          <a:lstStyle/>
          <a:p>
            <a:pPr marR="0" lvl="0" algn="l" defTabSz="914400" rtl="0" eaLnBrk="0" fontAlgn="base" latinLnBrk="0" hangingPunct="0">
              <a:lnSpc>
                <a:spcPct val="100000"/>
              </a:lnSpc>
              <a:spcBef>
                <a:spcPct val="0"/>
              </a:spcBef>
              <a:spcAft>
                <a:spcPct val="0"/>
              </a:spcAft>
              <a:buClrTx/>
              <a:buSzTx/>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例</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10.1</a:t>
            </a:r>
          </a:p>
          <a:p>
            <a:pPr marR="0" lvl="0" algn="l" defTabSz="914400" rtl="0" eaLnBrk="0" fontAlgn="base" latinLnBrk="0" hangingPunct="0">
              <a:lnSpc>
                <a:spcPct val="100000"/>
              </a:lnSpc>
              <a:spcBef>
                <a:spcPct val="0"/>
              </a:spcBef>
              <a:spcAft>
                <a:spcPct val="0"/>
              </a:spcAft>
              <a:buClrTx/>
              <a:buSzTx/>
              <a:tabLst/>
              <a:defRPr/>
            </a:pPr>
            <a:endParaRPr lang="en-US" altLang="zh-CN" sz="3200" dirty="0">
              <a:solidFill>
                <a:srgbClr val="006699"/>
              </a:solidFill>
              <a:latin typeface="Verdana" panose="020B0604030504040204" pitchFamily="34" charset="0"/>
            </a:endParaRPr>
          </a:p>
          <a:p>
            <a:pPr marR="0" lvl="0" algn="l" defTabSz="914400" rtl="0" eaLnBrk="0" fontAlgn="base" latinLnBrk="0" hangingPunct="0">
              <a:lnSpc>
                <a:spcPct val="100000"/>
              </a:lnSpc>
              <a:spcBef>
                <a:spcPct val="0"/>
              </a:spcBef>
              <a:spcAft>
                <a:spcPct val="0"/>
              </a:spcAft>
              <a:buClrTx/>
              <a:buSzTx/>
              <a:tabLst/>
              <a:defRPr/>
            </a:pPr>
            <a:r>
              <a:rPr lang="zh-CN" altLang="en-US" sz="3200" dirty="0">
                <a:solidFill>
                  <a:srgbClr val="006699"/>
                </a:solidFill>
                <a:latin typeface="Verdana" panose="020B0604030504040204" pitchFamily="34" charset="0"/>
              </a:rPr>
              <a:t>方差</a:t>
            </a:r>
            <a:endParaRPr lang="en-US" altLang="zh-CN" sz="3200" dirty="0">
              <a:solidFill>
                <a:srgbClr val="006699"/>
              </a:solidFill>
              <a:latin typeface="Verdana" panose="020B0604030504040204" pitchFamily="34" charset="0"/>
            </a:endParaRPr>
          </a:p>
          <a:p>
            <a:pPr marR="0" lvl="0" algn="l" defTabSz="914400" rtl="0" eaLnBrk="0" fontAlgn="base" latinLnBrk="0" hangingPunct="0">
              <a:lnSpc>
                <a:spcPct val="100000"/>
              </a:lnSpc>
              <a:spcBef>
                <a:spcPct val="0"/>
              </a:spcBef>
              <a:spcAft>
                <a:spcPct val="0"/>
              </a:spcAft>
              <a:buClrTx/>
              <a:buSzTx/>
              <a:tabLst/>
              <a:defRPr/>
            </a:pP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R="0" lvl="0" algn="l" defTabSz="914400" rtl="0" eaLnBrk="0" fontAlgn="base" latinLnBrk="0" hangingPunct="0">
              <a:lnSpc>
                <a:spcPct val="100000"/>
              </a:lnSpc>
              <a:spcBef>
                <a:spcPct val="0"/>
              </a:spcBef>
              <a:spcAft>
                <a:spcPct val="0"/>
              </a:spcAft>
              <a:buClrTx/>
              <a:buSzTx/>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由中心极限定理</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R="0" lvl="0" algn="l" defTabSz="914400" rtl="0" eaLnBrk="0" fontAlgn="base" latinLnBrk="0" hangingPunct="0">
              <a:lnSpc>
                <a:spcPct val="100000"/>
              </a:lnSpc>
              <a:spcBef>
                <a:spcPct val="0"/>
              </a:spcBef>
              <a:spcAft>
                <a:spcPct val="0"/>
              </a:spcAft>
              <a:buClrTx/>
              <a:buSzTx/>
              <a:tabLst/>
              <a:defRPr/>
            </a:pPr>
            <a:endParaRPr lang="en-US" altLang="zh-CN" sz="3200" dirty="0">
              <a:solidFill>
                <a:srgbClr val="006699"/>
              </a:solidFill>
              <a:latin typeface="Verdana" panose="020B0604030504040204" pitchFamily="34" charset="0"/>
            </a:endParaRPr>
          </a:p>
          <a:p>
            <a:pPr marR="0" lvl="0" algn="l" defTabSz="914400" rtl="0" eaLnBrk="0" fontAlgn="base" latinLnBrk="0" hangingPunct="0">
              <a:lnSpc>
                <a:spcPct val="100000"/>
              </a:lnSpc>
              <a:spcBef>
                <a:spcPct val="0"/>
              </a:spcBef>
              <a:spcAft>
                <a:spcPct val="0"/>
              </a:spcAft>
              <a:buClrTx/>
              <a:buSzTx/>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随机模拟误差的幅度大约在</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DF2A8EF-5933-4A19-BC9D-1BBBFD17F7E4}"/>
                  </a:ext>
                </a:extLst>
              </p:cNvPr>
              <p:cNvSpPr txBox="1"/>
              <p:nvPr/>
            </p:nvSpPr>
            <p:spPr>
              <a:xfrm>
                <a:off x="1362305" y="2518783"/>
                <a:ext cx="2880320" cy="71994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𝜉</m:t>
                      </m:r>
                      <m:r>
                        <a:rPr lang="zh-CN" altLang="en-US" sz="2400" i="1" smtClean="0">
                          <a:latin typeface="Cambria Math" panose="02040503050406030204" pitchFamily="18" charset="0"/>
                        </a:rPr>
                        <m:t>∼</m:t>
                      </m:r>
                      <m:r>
                        <a:rPr lang="en-US" altLang="zh-CN" sz="2400" b="0" i="1" smtClean="0">
                          <a:latin typeface="Cambria Math" panose="02040503050406030204" pitchFamily="18" charset="0"/>
                        </a:rPr>
                        <m:t>𝐵</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𝑁</m:t>
                      </m:r>
                      <m:r>
                        <a:rPr lang="en-US" altLang="zh-CN" sz="2400" b="0" i="1" smtClean="0">
                          <a:latin typeface="Cambria Math" panose="02040503050406030204" pitchFamily="18" charset="0"/>
                        </a:rPr>
                        <m:t>,</m:t>
                      </m:r>
                      <m:f>
                        <m:fPr>
                          <m:ctrlPr>
                            <a:rPr lang="el-GR" altLang="zh-CN" sz="2400" b="0" i="1" smtClean="0">
                              <a:latin typeface="Cambria Math" panose="02040503050406030204" pitchFamily="18" charset="0"/>
                            </a:rPr>
                          </m:ctrlPr>
                        </m:fPr>
                        <m:num>
                          <m:r>
                            <a:rPr lang="el-GR" altLang="zh-CN" sz="2400" b="0" i="1" smtClean="0">
                              <a:latin typeface="Cambria Math" panose="02040503050406030204" pitchFamily="18" charset="0"/>
                            </a:rPr>
                            <m:t>𝜋</m:t>
                          </m:r>
                        </m:num>
                        <m:den>
                          <m:r>
                            <a:rPr lang="en-US" altLang="zh-CN" sz="2400" b="0" i="1" smtClean="0">
                              <a:latin typeface="Cambria Math" panose="02040503050406030204" pitchFamily="18" charset="0"/>
                            </a:rPr>
                            <m:t>4</m:t>
                          </m:r>
                        </m:den>
                      </m:f>
                      <m:r>
                        <a:rPr lang="en-US" altLang="zh-CN" sz="2400" b="0" i="1" smtClean="0">
                          <a:latin typeface="Cambria Math" panose="02040503050406030204" pitchFamily="18" charset="0"/>
                        </a:rPr>
                        <m:t>)</m:t>
                      </m:r>
                    </m:oMath>
                  </m:oMathPara>
                </a14:m>
                <a:endParaRPr lang="zh-CN" altLang="en-US" sz="2400" dirty="0"/>
              </a:p>
            </p:txBody>
          </p:sp>
        </mc:Choice>
        <mc:Fallback xmlns="">
          <p:sp>
            <p:nvSpPr>
              <p:cNvPr id="7" name="文本框 6">
                <a:extLst>
                  <a:ext uri="{FF2B5EF4-FFF2-40B4-BE49-F238E27FC236}">
                    <a16:creationId xmlns:a16="http://schemas.microsoft.com/office/drawing/2014/main" id="{FDF2A8EF-5933-4A19-BC9D-1BBBFD17F7E4}"/>
                  </a:ext>
                </a:extLst>
              </p:cNvPr>
              <p:cNvSpPr txBox="1">
                <a:spLocks noRot="1" noChangeAspect="1" noMove="1" noResize="1" noEditPoints="1" noAdjustHandles="1" noChangeArrowheads="1" noChangeShapeType="1" noTextEdit="1"/>
              </p:cNvSpPr>
              <p:nvPr/>
            </p:nvSpPr>
            <p:spPr>
              <a:xfrm>
                <a:off x="1362305" y="2518783"/>
                <a:ext cx="2880320" cy="719941"/>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0B915AAC-9344-4F04-9CBF-6D313ECCEB61}"/>
                  </a:ext>
                </a:extLst>
              </p:cNvPr>
              <p:cNvSpPr txBox="1"/>
              <p:nvPr/>
            </p:nvSpPr>
            <p:spPr>
              <a:xfrm>
                <a:off x="2722116" y="4371890"/>
                <a:ext cx="3967546" cy="793422"/>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latin typeface="Cambria Math" panose="02040503050406030204" pitchFamily="18" charset="0"/>
                            </a:rPr>
                          </m:ctrlPr>
                        </m:accPr>
                        <m:e>
                          <m:r>
                            <a:rPr lang="el-GR" altLang="zh-CN" sz="2400" i="1">
                              <a:latin typeface="Cambria Math" panose="02040503050406030204" pitchFamily="18" charset="0"/>
                            </a:rPr>
                            <m:t>𝜋</m:t>
                          </m:r>
                        </m:e>
                      </m:acc>
                      <m:r>
                        <a:rPr lang="zh-CN" altLang="en-US" sz="2400" i="1" smtClean="0">
                          <a:latin typeface="Cambria Math" panose="02040503050406030204" pitchFamily="18" charset="0"/>
                        </a:rPr>
                        <m:t>∼</m:t>
                      </m:r>
                      <m:r>
                        <a:rPr lang="en-US" altLang="zh-CN" sz="2400" i="1">
                          <a:latin typeface="Cambria Math" panose="02040503050406030204" pitchFamily="18" charset="0"/>
                        </a:rPr>
                        <m:t>𝑁</m:t>
                      </m:r>
                      <m:r>
                        <a:rPr lang="en-US" altLang="zh-CN" sz="2400" i="1">
                          <a:latin typeface="Cambria Math" panose="02040503050406030204" pitchFamily="18" charset="0"/>
                        </a:rPr>
                        <m:t>(</m:t>
                      </m:r>
                      <m:r>
                        <a:rPr lang="el-GR" altLang="zh-CN" sz="2400" i="1">
                          <a:latin typeface="Cambria Math" panose="02040503050406030204" pitchFamily="18" charset="0"/>
                        </a:rPr>
                        <m:t>𝜋</m:t>
                      </m:r>
                      <m:r>
                        <a:rPr lang="en-US" altLang="zh-CN" sz="2400" i="1">
                          <a:latin typeface="Cambria Math" panose="02040503050406030204" pitchFamily="18" charset="0"/>
                        </a:rPr>
                        <m:t>,</m:t>
                      </m:r>
                      <m:f>
                        <m:fPr>
                          <m:ctrlPr>
                            <a:rPr lang="el-GR" altLang="zh-CN" sz="2400" b="0" i="1" smtClean="0">
                              <a:latin typeface="Cambria Math" panose="02040503050406030204" pitchFamily="18" charset="0"/>
                            </a:rPr>
                          </m:ctrlPr>
                        </m:fPr>
                        <m:num>
                          <m:r>
                            <a:rPr lang="el-GR" altLang="zh-CN" sz="2400" b="0" i="1" smtClean="0">
                              <a:latin typeface="Cambria Math" panose="02040503050406030204" pitchFamily="18" charset="0"/>
                            </a:rPr>
                            <m:t>𝜋</m:t>
                          </m:r>
                          <m:r>
                            <a:rPr lang="en-US" altLang="zh-CN" sz="2400" b="0" i="1" smtClean="0">
                              <a:latin typeface="Cambria Math" panose="02040503050406030204" pitchFamily="18" charset="0"/>
                            </a:rPr>
                            <m:t>(4−</m:t>
                          </m:r>
                          <m:r>
                            <a:rPr lang="el-GR" altLang="zh-CN" sz="2400" i="1">
                              <a:latin typeface="Cambria Math" panose="02040503050406030204" pitchFamily="18" charset="0"/>
                            </a:rPr>
                            <m:t>𝜋</m:t>
                          </m:r>
                          <m:r>
                            <a:rPr lang="en-US" altLang="zh-CN" sz="2400" b="0" i="1" smtClean="0">
                              <a:latin typeface="Cambria Math" panose="02040503050406030204" pitchFamily="18" charset="0"/>
                            </a:rPr>
                            <m:t>)</m:t>
                          </m:r>
                        </m:num>
                        <m:den>
                          <m:r>
                            <a:rPr lang="en-US" altLang="zh-CN" sz="2400" b="0" i="1" smtClean="0">
                              <a:latin typeface="Cambria Math" panose="02040503050406030204" pitchFamily="18" charset="0"/>
                            </a:rPr>
                            <m:t>𝑁</m:t>
                          </m:r>
                        </m:den>
                      </m:f>
                      <m:r>
                        <a:rPr lang="en-US" altLang="zh-CN" sz="2400" b="0" i="1" smtClean="0">
                          <a:latin typeface="Cambria Math" panose="02040503050406030204" pitchFamily="18" charset="0"/>
                        </a:rPr>
                        <m:t>)</m:t>
                      </m:r>
                    </m:oMath>
                  </m:oMathPara>
                </a14:m>
                <a:endParaRPr lang="zh-CN" altLang="en-US" sz="2400" dirty="0"/>
              </a:p>
            </p:txBody>
          </p:sp>
        </mc:Choice>
        <mc:Fallback xmlns="">
          <p:sp>
            <p:nvSpPr>
              <p:cNvPr id="15" name="文本框 14">
                <a:extLst>
                  <a:ext uri="{FF2B5EF4-FFF2-40B4-BE49-F238E27FC236}">
                    <a16:creationId xmlns:a16="http://schemas.microsoft.com/office/drawing/2014/main" id="{0B915AAC-9344-4F04-9CBF-6D313ECCEB61}"/>
                  </a:ext>
                </a:extLst>
              </p:cNvPr>
              <p:cNvSpPr txBox="1">
                <a:spLocks noRot="1" noChangeAspect="1" noMove="1" noResize="1" noEditPoints="1" noAdjustHandles="1" noChangeArrowheads="1" noChangeShapeType="1" noTextEdit="1"/>
              </p:cNvSpPr>
              <p:nvPr/>
            </p:nvSpPr>
            <p:spPr>
              <a:xfrm>
                <a:off x="2722116" y="4371890"/>
                <a:ext cx="3967546" cy="793422"/>
              </a:xfrm>
              <a:prstGeom prst="rect">
                <a:avLst/>
              </a:prstGeom>
              <a:blipFill>
                <a:blip r:embed="rId3"/>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ED2463E5-EF00-44BF-96F4-8D409DCEDE7B}"/>
                  </a:ext>
                </a:extLst>
              </p:cNvPr>
              <p:cNvSpPr txBox="1"/>
              <p:nvPr/>
            </p:nvSpPr>
            <p:spPr>
              <a:xfrm>
                <a:off x="5044555" y="5127039"/>
                <a:ext cx="2575445" cy="1183529"/>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2</m:t>
                      </m:r>
                      <m:rad>
                        <m:radPr>
                          <m:degHide m:val="on"/>
                          <m:ctrlPr>
                            <a:rPr kumimoji="0" lang="el-GR" altLang="zh-CN" sz="2400" b="0" i="1" u="none" strike="noStrike" kern="1200" cap="none" spc="0" normalizeH="0" baseline="0" noProof="0" smtClean="0">
                              <a:ln>
                                <a:noFill/>
                              </a:ln>
                              <a:solidFill>
                                <a:prstClr val="black"/>
                              </a:solidFill>
                              <a:effectLst/>
                              <a:uLnTx/>
                              <a:uFillTx/>
                              <a:latin typeface="Cambria Math" panose="02040503050406030204" pitchFamily="18" charset="0"/>
                            </a:rPr>
                          </m:ctrlPr>
                        </m:radPr>
                        <m:deg/>
                        <m:e>
                          <m:f>
                            <m:fPr>
                              <m:ctrlPr>
                                <a:rPr lang="el-GR" altLang="zh-CN" sz="2400" i="1">
                                  <a:solidFill>
                                    <a:prstClr val="black"/>
                                  </a:solidFill>
                                  <a:latin typeface="Cambria Math" panose="02040503050406030204" pitchFamily="18" charset="0"/>
                                </a:rPr>
                              </m:ctrlPr>
                            </m:fPr>
                            <m:num>
                              <m:r>
                                <a:rPr lang="el-GR" altLang="zh-CN" sz="2400" i="1">
                                  <a:solidFill>
                                    <a:prstClr val="black"/>
                                  </a:solidFill>
                                  <a:latin typeface="Cambria Math" panose="02040503050406030204" pitchFamily="18" charset="0"/>
                                </a:rPr>
                                <m:t>𝜋</m:t>
                              </m:r>
                              <m:r>
                                <a:rPr lang="en-US" altLang="zh-CN" sz="2400" i="1">
                                  <a:solidFill>
                                    <a:prstClr val="black"/>
                                  </a:solidFill>
                                  <a:latin typeface="Cambria Math" panose="02040503050406030204" pitchFamily="18" charset="0"/>
                                </a:rPr>
                                <m:t>(4−</m:t>
                              </m:r>
                              <m:r>
                                <a:rPr lang="el-GR" altLang="zh-CN" sz="2400" i="1">
                                  <a:solidFill>
                                    <a:prstClr val="black"/>
                                  </a:solidFill>
                                  <a:latin typeface="Cambria Math" panose="02040503050406030204" pitchFamily="18" charset="0"/>
                                </a:rPr>
                                <m:t>𝜋</m:t>
                              </m:r>
                              <m:r>
                                <a:rPr lang="en-US" altLang="zh-CN" sz="2400" i="1">
                                  <a:solidFill>
                                    <a:prstClr val="black"/>
                                  </a:solidFill>
                                  <a:latin typeface="Cambria Math" panose="02040503050406030204" pitchFamily="18" charset="0"/>
                                </a:rPr>
                                <m:t>)</m:t>
                              </m:r>
                            </m:num>
                            <m:den>
                              <m:r>
                                <a:rPr lang="en-US" altLang="zh-CN" sz="2400" i="1">
                                  <a:solidFill>
                                    <a:prstClr val="black"/>
                                  </a:solidFill>
                                  <a:latin typeface="Cambria Math" panose="02040503050406030204" pitchFamily="18" charset="0"/>
                                </a:rPr>
                                <m:t>𝑁</m:t>
                              </m:r>
                            </m:den>
                          </m:f>
                        </m:e>
                      </m:rad>
                    </m:oMath>
                  </m:oMathPara>
                </a14:m>
                <a:endParaRPr lang="zh-CN" altLang="en-US" sz="1400" dirty="0"/>
              </a:p>
            </p:txBody>
          </p:sp>
        </mc:Choice>
        <mc:Fallback xmlns="">
          <p:sp>
            <p:nvSpPr>
              <p:cNvPr id="17" name="文本框 16">
                <a:extLst>
                  <a:ext uri="{FF2B5EF4-FFF2-40B4-BE49-F238E27FC236}">
                    <a16:creationId xmlns:a16="http://schemas.microsoft.com/office/drawing/2014/main" id="{ED2463E5-EF00-44BF-96F4-8D409DCEDE7B}"/>
                  </a:ext>
                </a:extLst>
              </p:cNvPr>
              <p:cNvSpPr txBox="1">
                <a:spLocks noRot="1" noChangeAspect="1" noMove="1" noResize="1" noEditPoints="1" noAdjustHandles="1" noChangeArrowheads="1" noChangeShapeType="1" noTextEdit="1"/>
              </p:cNvSpPr>
              <p:nvPr/>
            </p:nvSpPr>
            <p:spPr>
              <a:xfrm>
                <a:off x="5044555" y="5127039"/>
                <a:ext cx="2575445" cy="1183529"/>
              </a:xfrm>
              <a:prstGeom prst="rect">
                <a:avLst/>
              </a:prstGeom>
              <a:blipFill>
                <a:blip r:embed="rId4"/>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DE4AC04A-C9AB-42A4-9BB9-8580DAAA66B0}"/>
                  </a:ext>
                </a:extLst>
              </p:cNvPr>
              <p:cNvSpPr txBox="1"/>
              <p:nvPr/>
            </p:nvSpPr>
            <p:spPr>
              <a:xfrm>
                <a:off x="457199" y="3471659"/>
                <a:ext cx="4690532" cy="793422"/>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prstClr val="black"/>
                          </a:solidFill>
                          <a:latin typeface="Cambria Math" panose="02040503050406030204" pitchFamily="18" charset="0"/>
                        </a:rPr>
                        <m:t>𝑉𝑎𝑟</m:t>
                      </m:r>
                      <m:d>
                        <m:dPr>
                          <m:ctrlPr>
                            <a:rPr lang="en-US" altLang="zh-CN" sz="2400" i="1">
                              <a:solidFill>
                                <a:prstClr val="black"/>
                              </a:solidFill>
                              <a:latin typeface="Cambria Math" panose="02040503050406030204" pitchFamily="18" charset="0"/>
                            </a:rPr>
                          </m:ctrlPr>
                        </m:dPr>
                        <m:e>
                          <m:acc>
                            <m:accPr>
                              <m:chr m:val="̂"/>
                              <m:ctrlPr>
                                <a:rPr lang="el-GR" altLang="zh-CN" sz="2400" i="1" smtClean="0">
                                  <a:solidFill>
                                    <a:prstClr val="black"/>
                                  </a:solidFill>
                                  <a:latin typeface="Cambria Math" panose="02040503050406030204" pitchFamily="18" charset="0"/>
                                </a:rPr>
                              </m:ctrlPr>
                            </m:accPr>
                            <m:e>
                              <m:r>
                                <a:rPr lang="el-GR" altLang="zh-CN" sz="2400" i="1">
                                  <a:solidFill>
                                    <a:prstClr val="black"/>
                                  </a:solidFill>
                                  <a:latin typeface="Cambria Math" panose="02040503050406030204" pitchFamily="18" charset="0"/>
                                </a:rPr>
                                <m:t>𝜋</m:t>
                              </m:r>
                            </m:e>
                          </m:acc>
                        </m:e>
                      </m:d>
                      <m:r>
                        <a:rPr lang="en-US" altLang="zh-CN" sz="2400" b="0" i="1" smtClean="0">
                          <a:solidFill>
                            <a:prstClr val="black"/>
                          </a:solidFill>
                          <a:latin typeface="Cambria Math" panose="02040503050406030204" pitchFamily="18" charset="0"/>
                        </a:rPr>
                        <m:t>=</m:t>
                      </m:r>
                      <m:f>
                        <m:fPr>
                          <m:ctrlPr>
                            <a:rPr kumimoji="0" lang="el-GR" altLang="zh-CN" sz="2400" b="0" i="1" u="none" strike="noStrike" kern="1200" cap="none" spc="0" normalizeH="0" baseline="0" noProof="0" smtClean="0">
                              <a:ln>
                                <a:noFill/>
                              </a:ln>
                              <a:solidFill>
                                <a:prstClr val="black"/>
                              </a:solidFill>
                              <a:effectLst/>
                              <a:uLnTx/>
                              <a:uFillTx/>
                              <a:latin typeface="Cambria Math" panose="02040503050406030204" pitchFamily="18" charset="0"/>
                            </a:rPr>
                          </m:ctrlPr>
                        </m:fPr>
                        <m:num>
                          <m:r>
                            <a:rPr kumimoji="0" lang="el-GR" altLang="zh-CN" sz="2400" b="0" i="1" u="none" strike="noStrike" kern="1200" cap="none" spc="0" normalizeH="0" baseline="0" noProof="0" smtClean="0">
                              <a:ln>
                                <a:noFill/>
                              </a:ln>
                              <a:solidFill>
                                <a:prstClr val="black"/>
                              </a:solidFill>
                              <a:effectLst/>
                              <a:uLnTx/>
                              <a:uFillTx/>
                              <a:latin typeface="Cambria Math" panose="02040503050406030204" pitchFamily="18" charset="0"/>
                            </a:rPr>
                            <m:t>𝜋</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(4−</m:t>
                          </m:r>
                          <m:r>
                            <a:rPr kumimoji="0" lang="el-GR" altLang="zh-CN" sz="2400" b="0" i="1" u="none" strike="noStrike" kern="1200" cap="none" spc="0" normalizeH="0" baseline="0" noProof="0">
                              <a:ln>
                                <a:noFill/>
                              </a:ln>
                              <a:solidFill>
                                <a:prstClr val="black"/>
                              </a:solidFill>
                              <a:effectLst/>
                              <a:uLnTx/>
                              <a:uFillTx/>
                              <a:latin typeface="Cambria Math" panose="02040503050406030204" pitchFamily="18" charset="0"/>
                            </a:rPr>
                            <m:t>𝜋</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m:t>
                          </m:r>
                        </m:num>
                        <m:den>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𝑁</m:t>
                          </m:r>
                        </m:den>
                      </m:f>
                    </m:oMath>
                  </m:oMathPara>
                </a14:m>
                <a:endParaRPr lang="zh-CN" altLang="en-US" sz="1400" dirty="0"/>
              </a:p>
            </p:txBody>
          </p:sp>
        </mc:Choice>
        <mc:Fallback xmlns="">
          <p:sp>
            <p:nvSpPr>
              <p:cNvPr id="19" name="文本框 18">
                <a:extLst>
                  <a:ext uri="{FF2B5EF4-FFF2-40B4-BE49-F238E27FC236}">
                    <a16:creationId xmlns:a16="http://schemas.microsoft.com/office/drawing/2014/main" id="{DE4AC04A-C9AB-42A4-9BB9-8580DAAA66B0}"/>
                  </a:ext>
                </a:extLst>
              </p:cNvPr>
              <p:cNvSpPr txBox="1">
                <a:spLocks noRot="1" noChangeAspect="1" noMove="1" noResize="1" noEditPoints="1" noAdjustHandles="1" noChangeArrowheads="1" noChangeShapeType="1" noTextEdit="1"/>
              </p:cNvSpPr>
              <p:nvPr/>
            </p:nvSpPr>
            <p:spPr>
              <a:xfrm>
                <a:off x="457199" y="3471659"/>
                <a:ext cx="4690532" cy="793422"/>
              </a:xfrm>
              <a:prstGeom prst="rect">
                <a:avLst/>
              </a:prstGeom>
              <a:blipFill>
                <a:blip r:embed="rId5"/>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24704716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随机模拟方法特点</a:t>
            </a:r>
            <a:endParaRPr lang="en-US" altLang="zh-CN" dirty="0"/>
          </a:p>
        </p:txBody>
      </p:sp>
      <p:sp>
        <p:nvSpPr>
          <p:cNvPr id="4" name="灯片编号占位符 2">
            <a:extLst>
              <a:ext uri="{FF2B5EF4-FFF2-40B4-BE49-F238E27FC236}">
                <a16:creationId xmlns:a16="http://schemas.microsoft.com/office/drawing/2014/main" id="{E3B5E12E-ABE4-451B-836D-4770A57E4B4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20</a:t>
            </a:fld>
            <a:endParaRPr lang="zh-CN" altLang="en-US">
              <a:solidFill>
                <a:srgbClr val="898989"/>
              </a:solidFill>
            </a:endParaRPr>
          </a:p>
        </p:txBody>
      </p:sp>
      <p:sp>
        <p:nvSpPr>
          <p:cNvPr id="6" name="文本框 5">
            <a:extLst>
              <a:ext uri="{FF2B5EF4-FFF2-40B4-BE49-F238E27FC236}">
                <a16:creationId xmlns:a16="http://schemas.microsoft.com/office/drawing/2014/main" id="{C0908162-4289-4534-A09B-FB5E69CEF8DE}"/>
              </a:ext>
            </a:extLst>
          </p:cNvPr>
          <p:cNvSpPr txBox="1"/>
          <p:nvPr/>
        </p:nvSpPr>
        <p:spPr>
          <a:xfrm>
            <a:off x="14377" y="1145936"/>
            <a:ext cx="8847475" cy="4524315"/>
          </a:xfrm>
          <a:prstGeom prst="rect">
            <a:avLst/>
          </a:prstGeom>
          <a:noFill/>
          <a:ln w="25400">
            <a:noFill/>
          </a:ln>
        </p:spPr>
        <p:txBody>
          <a:bodyPr wrap="square">
            <a:spAutoFit/>
          </a:bodyPr>
          <a:lstStyle/>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应用面广，适应性强</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endParaRPr lang="zh-CN" altLang="en-US"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算法简单，</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容易改变条件，但计算量大</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endParaRPr lang="zh-CN" altLang="en-US"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结果具有随机性，精度较低</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endParaRPr lang="zh-CN" altLang="en-US"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模拟结果的收敛服从概率论规律</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endParaRPr lang="zh-CN" altLang="en-US"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对维数增加不敏感</a:t>
            </a:r>
            <a:endParaRPr lang="en-US" altLang="zh-CN" sz="3200" b="1" dirty="0">
              <a:solidFill>
                <a:srgbClr val="FF0000"/>
              </a:solidFill>
              <a:latin typeface="Verdana" panose="020B0604030504040204" pitchFamily="34" charset="0"/>
            </a:endParaRPr>
          </a:p>
        </p:txBody>
      </p:sp>
    </p:spTree>
    <p:extLst>
      <p:ext uri="{BB962C8B-B14F-4D97-AF65-F5344CB8AC3E}">
        <p14:creationId xmlns:p14="http://schemas.microsoft.com/office/powerpoint/2010/main" val="36506284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随机模拟应用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5875" y="1268760"/>
            <a:ext cx="9159875"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探索性试验</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说明新的模型或技术的有效性</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蒙特卡洛检验</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en-US" altLang="zh-CN" sz="3200" dirty="0">
                <a:solidFill>
                  <a:srgbClr val="006699"/>
                </a:solidFill>
                <a:latin typeface="Verdana" panose="020B0604030504040204" pitchFamily="34" charset="0"/>
              </a:rPr>
              <a:t>bootstrap</a:t>
            </a:r>
            <a:r>
              <a:rPr lang="zh-CN" altLang="en-US" sz="3200" dirty="0">
                <a:solidFill>
                  <a:srgbClr val="006699"/>
                </a:solidFill>
                <a:latin typeface="Verdana" panose="020B0604030504040204" pitchFamily="34" charset="0"/>
              </a:rPr>
              <a:t>置信区间</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en-US" altLang="zh-CN" sz="3200" dirty="0">
                <a:solidFill>
                  <a:srgbClr val="006699"/>
                </a:solidFill>
                <a:latin typeface="Verdana" panose="020B0604030504040204" pitchFamily="34" charset="0"/>
              </a:rPr>
              <a:t>bootstrap</a:t>
            </a:r>
            <a:r>
              <a:rPr lang="zh-CN" altLang="en-US" sz="3200" dirty="0">
                <a:solidFill>
                  <a:srgbClr val="006699"/>
                </a:solidFill>
                <a:latin typeface="Verdana" panose="020B0604030504040204" pitchFamily="34" charset="0"/>
              </a:rPr>
              <a:t>偏差修正</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en-US" altLang="zh-CN" sz="3200" dirty="0">
                <a:solidFill>
                  <a:srgbClr val="006699"/>
                </a:solidFill>
                <a:latin typeface="Verdana" panose="020B0604030504040204" pitchFamily="34" charset="0"/>
              </a:rPr>
              <a:t>MCMC</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21</a:t>
            </a:fld>
            <a:endParaRPr lang="zh-CN" altLang="en-US">
              <a:solidFill>
                <a:srgbClr val="898989"/>
              </a:solidFill>
            </a:endParaRPr>
          </a:p>
        </p:txBody>
      </p:sp>
    </p:spTree>
    <p:extLst>
      <p:ext uri="{BB962C8B-B14F-4D97-AF65-F5344CB8AC3E}">
        <p14:creationId xmlns:p14="http://schemas.microsoft.com/office/powerpoint/2010/main" val="35077147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9BFFE0E-7451-47FD-BB84-27BFC2710C49}"/>
              </a:ext>
            </a:extLst>
          </p:cNvPr>
          <p:cNvSpPr>
            <a:spLocks noGrp="1"/>
          </p:cNvSpPr>
          <p:nvPr>
            <p:ph type="title"/>
          </p:nvPr>
        </p:nvSpPr>
        <p:spPr>
          <a:xfrm>
            <a:off x="914400" y="3712635"/>
            <a:ext cx="7772400" cy="2301915"/>
          </a:xfrm>
        </p:spPr>
        <p:txBody>
          <a:bodyPr/>
          <a:lstStyle/>
          <a:p>
            <a:pPr>
              <a:defRPr/>
            </a:pPr>
            <a:r>
              <a:rPr lang="en-US" altLang="zh-CN" sz="2800" b="0" dirty="0">
                <a:latin typeface="+mn-lt"/>
                <a:ea typeface="+mn-ea"/>
              </a:rPr>
              <a:t>3.2.1 </a:t>
            </a:r>
            <a:r>
              <a:rPr lang="zh-CN" altLang="en-US" sz="2800" b="0" dirty="0">
                <a:latin typeface="+mn-lt"/>
                <a:ea typeface="+mn-ea"/>
              </a:rPr>
              <a:t>随机投点法</a:t>
            </a:r>
            <a:br>
              <a:rPr lang="en-US" altLang="zh-CN" sz="2800" b="0" dirty="0">
                <a:latin typeface="+mn-lt"/>
                <a:ea typeface="+mn-ea"/>
              </a:rPr>
            </a:br>
            <a:r>
              <a:rPr lang="en-US" altLang="zh-CN" sz="2800" b="0" dirty="0">
                <a:latin typeface="+mn-lt"/>
                <a:ea typeface="+mn-ea"/>
              </a:rPr>
              <a:t>3.2.2 </a:t>
            </a:r>
            <a:r>
              <a:rPr lang="zh-CN" altLang="en-US" sz="2800" b="0" dirty="0">
                <a:latin typeface="+mn-lt"/>
                <a:ea typeface="+mn-ea"/>
              </a:rPr>
              <a:t>平均值法</a:t>
            </a:r>
            <a:br>
              <a:rPr lang="en-US" altLang="zh-CN" sz="2800" b="0" dirty="0">
                <a:latin typeface="+mn-lt"/>
                <a:ea typeface="+mn-ea"/>
              </a:rPr>
            </a:br>
            <a:r>
              <a:rPr lang="en-US" altLang="zh-CN" sz="2800" b="0" dirty="0">
                <a:latin typeface="+mn-lt"/>
                <a:ea typeface="+mn-ea"/>
              </a:rPr>
              <a:t>3.2.3 </a:t>
            </a:r>
            <a:r>
              <a:rPr lang="zh-CN" altLang="en-US" sz="2800" b="0" dirty="0">
                <a:latin typeface="+mn-lt"/>
                <a:ea typeface="+mn-ea"/>
              </a:rPr>
              <a:t>随机模拟估计误差的评估与样本量计算</a:t>
            </a:r>
            <a:br>
              <a:rPr lang="en-US" altLang="zh-CN" sz="2800" b="0" dirty="0">
                <a:latin typeface="+mn-lt"/>
                <a:ea typeface="+mn-ea"/>
              </a:rPr>
            </a:br>
            <a:r>
              <a:rPr lang="en-US" altLang="zh-CN" sz="2800" b="0" dirty="0">
                <a:latin typeface="+mn-lt"/>
                <a:ea typeface="+mn-ea"/>
              </a:rPr>
              <a:t>3.2.4 </a:t>
            </a:r>
            <a:r>
              <a:rPr lang="zh-CN" altLang="en-US" sz="2800" b="0" dirty="0">
                <a:latin typeface="+mn-lt"/>
                <a:ea typeface="+mn-ea"/>
              </a:rPr>
              <a:t>高维定积分</a:t>
            </a:r>
          </a:p>
        </p:txBody>
      </p:sp>
      <p:sp>
        <p:nvSpPr>
          <p:cNvPr id="5" name="文本占位符 4">
            <a:extLst>
              <a:ext uri="{FF2B5EF4-FFF2-40B4-BE49-F238E27FC236}">
                <a16:creationId xmlns:a16="http://schemas.microsoft.com/office/drawing/2014/main" id="{876E711A-B3DA-459A-AF28-A432B77A449E}"/>
              </a:ext>
            </a:extLst>
          </p:cNvPr>
          <p:cNvSpPr>
            <a:spLocks noGrp="1"/>
          </p:cNvSpPr>
          <p:nvPr>
            <p:ph type="body" idx="1"/>
          </p:nvPr>
        </p:nvSpPr>
        <p:spPr>
          <a:xfrm>
            <a:off x="722313" y="1554163"/>
            <a:ext cx="7772400" cy="1500187"/>
          </a:xfrm>
        </p:spPr>
        <p:txBody>
          <a:bodyPr/>
          <a:lstStyle/>
          <a:p>
            <a:pPr>
              <a:defRPr/>
            </a:pPr>
            <a:r>
              <a:rPr lang="en-US" altLang="zh-CN" sz="4800" dirty="0">
                <a:solidFill>
                  <a:schemeClr val="tx1"/>
                </a:solidFill>
                <a:latin typeface="微软雅黑" panose="020B0503020204020204" pitchFamily="34" charset="-122"/>
                <a:ea typeface="微软雅黑" panose="020B0503020204020204" pitchFamily="34" charset="-122"/>
              </a:rPr>
              <a:t>3.2 </a:t>
            </a:r>
            <a:r>
              <a:rPr lang="zh-CN" altLang="en-US" sz="4800" dirty="0">
                <a:solidFill>
                  <a:schemeClr val="tx1"/>
                </a:solidFill>
                <a:latin typeface="微软雅黑" panose="020B0503020204020204" pitchFamily="34" charset="-122"/>
                <a:ea typeface="微软雅黑" panose="020B0503020204020204" pitchFamily="34" charset="-122"/>
              </a:rPr>
              <a:t>随机模拟积分</a:t>
            </a:r>
          </a:p>
          <a:p>
            <a:pPr>
              <a:defRPr/>
            </a:pPr>
            <a:endParaRPr lang="zh-CN" altLang="en-US" dirty="0"/>
          </a:p>
        </p:txBody>
      </p:sp>
      <p:sp>
        <p:nvSpPr>
          <p:cNvPr id="46084" name="灯片编号占位符 2">
            <a:extLst>
              <a:ext uri="{FF2B5EF4-FFF2-40B4-BE49-F238E27FC236}">
                <a16:creationId xmlns:a16="http://schemas.microsoft.com/office/drawing/2014/main" id="{9BF0444B-A272-4A53-B7C2-16D6DFD262F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22</a:t>
            </a:fld>
            <a:endParaRPr lang="zh-CN" altLang="en-US">
              <a:solidFill>
                <a:srgbClr val="898989"/>
              </a:solidFill>
            </a:endParaRPr>
          </a:p>
        </p:txBody>
      </p:sp>
    </p:spTree>
    <p:extLst>
      <p:ext uri="{BB962C8B-B14F-4D97-AF65-F5344CB8AC3E}">
        <p14:creationId xmlns:p14="http://schemas.microsoft.com/office/powerpoint/2010/main" val="5275468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 </a:t>
            </a:r>
            <a:r>
              <a:rPr lang="zh-CN" altLang="en-US" dirty="0"/>
              <a:t>随机模拟积分</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5875" y="1268760"/>
            <a:ext cx="9159875" cy="294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用随机模拟解决非随机问题</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也称为蒙特卡洛</a:t>
            </a:r>
            <a:r>
              <a:rPr lang="en-US" altLang="zh-CN" sz="3200" dirty="0">
                <a:solidFill>
                  <a:srgbClr val="006699"/>
                </a:solidFill>
                <a:latin typeface="Verdana" panose="020B0604030504040204" pitchFamily="34" charset="0"/>
              </a:rPr>
              <a:t>(Monte Carlo)</a:t>
            </a:r>
            <a:r>
              <a:rPr lang="zh-CN" altLang="en-US" sz="3200" dirty="0">
                <a:solidFill>
                  <a:srgbClr val="006699"/>
                </a:solidFill>
                <a:latin typeface="Verdana" panose="020B0604030504040204" pitchFamily="34" charset="0"/>
              </a:rPr>
              <a:t>积分</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简称</a:t>
            </a:r>
            <a:r>
              <a:rPr lang="en-US" altLang="zh-CN" sz="3200" dirty="0">
                <a:solidFill>
                  <a:srgbClr val="006699"/>
                </a:solidFill>
                <a:latin typeface="Verdana" panose="020B0604030504040204" pitchFamily="34" charset="0"/>
              </a:rPr>
              <a:t>MC</a:t>
            </a:r>
            <a:r>
              <a:rPr lang="zh-CN" altLang="en-US" sz="3200" dirty="0">
                <a:solidFill>
                  <a:srgbClr val="006699"/>
                </a:solidFill>
                <a:latin typeface="Verdana" panose="020B0604030504040204" pitchFamily="34" charset="0"/>
              </a:rPr>
              <a:t>积分</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23</a:t>
            </a:fld>
            <a:endParaRPr lang="zh-CN" altLang="en-US">
              <a:solidFill>
                <a:srgbClr val="898989"/>
              </a:solidFill>
            </a:endParaRPr>
          </a:p>
        </p:txBody>
      </p:sp>
    </p:spTree>
    <p:extLst>
      <p:ext uri="{BB962C8B-B14F-4D97-AF65-F5344CB8AC3E}">
        <p14:creationId xmlns:p14="http://schemas.microsoft.com/office/powerpoint/2010/main" val="1645510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 </a:t>
            </a:r>
            <a:r>
              <a:rPr lang="zh-CN" altLang="en-US" dirty="0"/>
              <a:t>随机模拟积分</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24</a:t>
            </a:fld>
            <a:endParaRPr lang="zh-CN" altLang="en-US">
              <a:solidFill>
                <a:srgbClr val="898989"/>
              </a:solidFill>
            </a:endParaRPr>
          </a:p>
        </p:txBody>
      </p:sp>
      <p:sp>
        <p:nvSpPr>
          <p:cNvPr id="5" name="文本框 4">
            <a:extLst>
              <a:ext uri="{FF2B5EF4-FFF2-40B4-BE49-F238E27FC236}">
                <a16:creationId xmlns:a16="http://schemas.microsoft.com/office/drawing/2014/main" id="{20FF4296-383C-4A00-8DB4-CEAB25489D74}"/>
              </a:ext>
            </a:extLst>
          </p:cNvPr>
          <p:cNvSpPr txBox="1"/>
          <p:nvPr/>
        </p:nvSpPr>
        <p:spPr>
          <a:xfrm>
            <a:off x="0" y="1223755"/>
            <a:ext cx="4691848" cy="1384995"/>
          </a:xfrm>
          <a:prstGeom prst="rect">
            <a:avLst/>
          </a:prstGeom>
          <a:noFill/>
          <a:ln w="25400">
            <a:noFill/>
          </a:ln>
        </p:spPr>
        <p:txBody>
          <a:bodyPr wrap="square">
            <a:spAutoFit/>
          </a:bodyPr>
          <a:lstStyle/>
          <a:p>
            <a:pPr marL="457200" indent="-457200">
              <a:buFont typeface="Arial" panose="020B0604020202020204" pitchFamily="34" charset="0"/>
              <a:buChar char="•"/>
            </a:pPr>
            <a:r>
              <a:rPr lang="zh-CN" altLang="en-US" sz="2800" b="1" dirty="0"/>
              <a:t>双期望定理</a:t>
            </a:r>
            <a:endParaRPr lang="en-US" altLang="zh-CN" sz="2800" b="1" dirty="0"/>
          </a:p>
          <a:p>
            <a:pPr marL="457200" indent="-457200">
              <a:buFont typeface="Arial" panose="020B0604020202020204" pitchFamily="34" charset="0"/>
              <a:buChar char="•"/>
            </a:pPr>
            <a:endParaRPr lang="en-US" altLang="zh-CN" sz="2800" b="1" dirty="0"/>
          </a:p>
          <a:p>
            <a:r>
              <a:rPr lang="zh-CN" altLang="en-US" sz="2800" b="1" dirty="0"/>
              <a:t>证明：（连续型）</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4219229-53FB-4B41-AD17-E0137125266B}"/>
                  </a:ext>
                </a:extLst>
              </p:cNvPr>
              <p:cNvSpPr txBox="1"/>
              <p:nvPr/>
            </p:nvSpPr>
            <p:spPr>
              <a:xfrm>
                <a:off x="2501770" y="1223755"/>
                <a:ext cx="4241798" cy="523220"/>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𝐸</m:t>
                      </m:r>
                      <m:d>
                        <m:dPr>
                          <m:begChr m:val="["/>
                          <m:endChr m:val="]"/>
                          <m:ctrlPr>
                            <a:rPr lang="zh-CN" altLang="en-US" sz="2800" i="1">
                              <a:solidFill>
                                <a:srgbClr val="836967"/>
                              </a:solidFill>
                              <a:latin typeface="Cambria Math" panose="02040503050406030204" pitchFamily="18" charset="0"/>
                            </a:rPr>
                          </m:ctrlPr>
                        </m:dPr>
                        <m:e>
                          <m:r>
                            <a:rPr lang="zh-CN" altLang="en-US" sz="2800" i="1">
                              <a:latin typeface="Cambria Math" panose="02040503050406030204" pitchFamily="18" charset="0"/>
                            </a:rPr>
                            <m:t>𝐸</m:t>
                          </m:r>
                          <m:d>
                            <m:dPr>
                              <m:ctrlPr>
                                <a:rPr lang="zh-CN" altLang="en-US" sz="2800" i="1">
                                  <a:solidFill>
                                    <a:srgbClr val="836967"/>
                                  </a:solidFill>
                                  <a:latin typeface="Cambria Math" panose="02040503050406030204" pitchFamily="18" charset="0"/>
                                </a:rPr>
                              </m:ctrlPr>
                            </m:dPr>
                            <m:e>
                              <m:r>
                                <a:rPr lang="zh-CN" altLang="en-US" sz="2800" i="1">
                                  <a:latin typeface="Cambria Math" panose="02040503050406030204" pitchFamily="18" charset="0"/>
                                </a:rPr>
                                <m:t>𝑋</m:t>
                              </m:r>
                              <m:d>
                                <m:dPr>
                                  <m:begChr m:val="|"/>
                                  <m:endChr m:val=""/>
                                  <m:ctrlPr>
                                    <a:rPr lang="zh-CN" altLang="en-US" sz="2800" i="1">
                                      <a:latin typeface="Cambria Math" panose="02040503050406030204" pitchFamily="18" charset="0"/>
                                    </a:rPr>
                                  </m:ctrlPr>
                                </m:dPr>
                                <m:e>
                                  <m:r>
                                    <a:rPr lang="zh-CN" altLang="en-US" sz="2800" i="1">
                                      <a:latin typeface="Cambria Math" panose="02040503050406030204" pitchFamily="18" charset="0"/>
                                    </a:rPr>
                                    <m:t>𝑌</m:t>
                                  </m:r>
                                </m:e>
                              </m:d>
                            </m:e>
                          </m:d>
                        </m:e>
                      </m:d>
                      <m:r>
                        <a:rPr lang="zh-CN" altLang="en-US" sz="2800" i="0">
                          <a:latin typeface="Cambria Math" panose="02040503050406030204" pitchFamily="18" charset="0"/>
                        </a:rPr>
                        <m:t>=</m:t>
                      </m:r>
                      <m:r>
                        <a:rPr lang="zh-CN" altLang="en-US" sz="2800" i="1">
                          <a:latin typeface="Cambria Math" panose="02040503050406030204" pitchFamily="18" charset="0"/>
                        </a:rPr>
                        <m:t>𝐸𝑋</m:t>
                      </m:r>
                    </m:oMath>
                  </m:oMathPara>
                </a14:m>
                <a:endParaRPr lang="zh-CN" altLang="en-US" dirty="0"/>
              </a:p>
            </p:txBody>
          </p:sp>
        </mc:Choice>
        <mc:Fallback xmlns="">
          <p:sp>
            <p:nvSpPr>
              <p:cNvPr id="7" name="文本框 6">
                <a:extLst>
                  <a:ext uri="{FF2B5EF4-FFF2-40B4-BE49-F238E27FC236}">
                    <a16:creationId xmlns:a16="http://schemas.microsoft.com/office/drawing/2014/main" id="{64219229-53FB-4B41-AD17-E0137125266B}"/>
                  </a:ext>
                </a:extLst>
              </p:cNvPr>
              <p:cNvSpPr txBox="1">
                <a:spLocks noRot="1" noChangeAspect="1" noMove="1" noResize="1" noEditPoints="1" noAdjustHandles="1" noChangeArrowheads="1" noChangeShapeType="1" noTextEdit="1"/>
              </p:cNvSpPr>
              <p:nvPr/>
            </p:nvSpPr>
            <p:spPr>
              <a:xfrm>
                <a:off x="2501770" y="1223755"/>
                <a:ext cx="4241798" cy="523220"/>
              </a:xfrm>
              <a:prstGeom prst="rect">
                <a:avLst/>
              </a:prstGeom>
              <a:blipFill>
                <a:blip r:embed="rId2"/>
                <a:stretch>
                  <a:fillRect/>
                </a:stretch>
              </a:blipFill>
              <a:ln w="25400">
                <a:noFill/>
              </a:ln>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777A6291-F869-43FE-8BD2-8D4218EBEE69}"/>
              </a:ext>
            </a:extLst>
          </p:cNvPr>
          <p:cNvPicPr>
            <a:picLocks noChangeAspect="1"/>
          </p:cNvPicPr>
          <p:nvPr/>
        </p:nvPicPr>
        <p:blipFill>
          <a:blip r:embed="rId3"/>
          <a:stretch>
            <a:fillRect/>
          </a:stretch>
        </p:blipFill>
        <p:spPr>
          <a:xfrm>
            <a:off x="3311860" y="1996319"/>
            <a:ext cx="5670324" cy="4249294"/>
          </a:xfrm>
          <a:prstGeom prst="rect">
            <a:avLst/>
          </a:prstGeom>
        </p:spPr>
      </p:pic>
    </p:spTree>
    <p:extLst>
      <p:ext uri="{BB962C8B-B14F-4D97-AF65-F5344CB8AC3E}">
        <p14:creationId xmlns:p14="http://schemas.microsoft.com/office/powerpoint/2010/main" val="28543812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 </a:t>
            </a:r>
            <a:r>
              <a:rPr lang="zh-CN" altLang="en-US" dirty="0"/>
              <a:t>随机模拟积分</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25</a:t>
            </a:fld>
            <a:endParaRPr lang="zh-CN" altLang="en-US">
              <a:solidFill>
                <a:srgbClr val="898989"/>
              </a:solidFill>
            </a:endParaRPr>
          </a:p>
        </p:txBody>
      </p:sp>
      <p:pic>
        <p:nvPicPr>
          <p:cNvPr id="3" name="图片 2">
            <a:extLst>
              <a:ext uri="{FF2B5EF4-FFF2-40B4-BE49-F238E27FC236}">
                <a16:creationId xmlns:a16="http://schemas.microsoft.com/office/drawing/2014/main" id="{730A1E0D-0E8D-44BA-9512-4E67CAE76389}"/>
              </a:ext>
            </a:extLst>
          </p:cNvPr>
          <p:cNvPicPr>
            <a:picLocks noChangeAspect="1"/>
          </p:cNvPicPr>
          <p:nvPr/>
        </p:nvPicPr>
        <p:blipFill>
          <a:blip r:embed="rId2"/>
          <a:stretch>
            <a:fillRect/>
          </a:stretch>
        </p:blipFill>
        <p:spPr>
          <a:xfrm>
            <a:off x="566555" y="3349013"/>
            <a:ext cx="7807139" cy="2529330"/>
          </a:xfrm>
          <a:prstGeom prst="rect">
            <a:avLst/>
          </a:prstGeom>
        </p:spPr>
      </p:pic>
      <p:sp>
        <p:nvSpPr>
          <p:cNvPr id="7" name="文本框 6">
            <a:extLst>
              <a:ext uri="{FF2B5EF4-FFF2-40B4-BE49-F238E27FC236}">
                <a16:creationId xmlns:a16="http://schemas.microsoft.com/office/drawing/2014/main" id="{F99A4D1F-9432-45DD-8161-7F7DCC219B4E}"/>
              </a:ext>
            </a:extLst>
          </p:cNvPr>
          <p:cNvSpPr txBox="1"/>
          <p:nvPr/>
        </p:nvSpPr>
        <p:spPr>
          <a:xfrm>
            <a:off x="71500" y="972017"/>
            <a:ext cx="3375375" cy="523220"/>
          </a:xfrm>
          <a:prstGeom prst="rect">
            <a:avLst/>
          </a:prstGeom>
          <a:noFill/>
          <a:ln w="25400">
            <a:noFill/>
          </a:ln>
        </p:spPr>
        <p:txBody>
          <a:bodyPr wrap="square">
            <a:spAutoFit/>
          </a:bodyPr>
          <a:lstStyle/>
          <a:p>
            <a:pPr marL="457200" indent="-457200">
              <a:buFont typeface="Arial" panose="020B0604020202020204" pitchFamily="34" charset="0"/>
              <a:buChar char="•"/>
            </a:pPr>
            <a:r>
              <a:rPr lang="zh-CN" altLang="en-US" sz="2800" b="1" dirty="0"/>
              <a:t>方差分解公式</a:t>
            </a:r>
            <a:endParaRPr lang="en-US" altLang="zh-CN" sz="2800" b="1" dirty="0"/>
          </a:p>
        </p:txBody>
      </p:sp>
      <p:pic>
        <p:nvPicPr>
          <p:cNvPr id="4" name="图片 3">
            <a:extLst>
              <a:ext uri="{FF2B5EF4-FFF2-40B4-BE49-F238E27FC236}">
                <a16:creationId xmlns:a16="http://schemas.microsoft.com/office/drawing/2014/main" id="{A2C74A41-348B-4356-B174-A69519BCACBE}"/>
              </a:ext>
            </a:extLst>
          </p:cNvPr>
          <p:cNvPicPr>
            <a:picLocks noChangeAspect="1"/>
          </p:cNvPicPr>
          <p:nvPr/>
        </p:nvPicPr>
        <p:blipFill>
          <a:blip r:embed="rId3"/>
          <a:stretch>
            <a:fillRect/>
          </a:stretch>
        </p:blipFill>
        <p:spPr>
          <a:xfrm>
            <a:off x="1601738" y="1740088"/>
            <a:ext cx="5940524" cy="497764"/>
          </a:xfrm>
          <a:prstGeom prst="rect">
            <a:avLst/>
          </a:prstGeom>
        </p:spPr>
      </p:pic>
      <p:sp>
        <p:nvSpPr>
          <p:cNvPr id="5" name="文本框 4">
            <a:extLst>
              <a:ext uri="{FF2B5EF4-FFF2-40B4-BE49-F238E27FC236}">
                <a16:creationId xmlns:a16="http://schemas.microsoft.com/office/drawing/2014/main" id="{73746605-208F-7C7D-3ACE-BEA3BDCCECA1}"/>
              </a:ext>
            </a:extLst>
          </p:cNvPr>
          <p:cNvSpPr txBox="1"/>
          <p:nvPr/>
        </p:nvSpPr>
        <p:spPr>
          <a:xfrm>
            <a:off x="71500" y="2718857"/>
            <a:ext cx="1306551" cy="523220"/>
          </a:xfrm>
          <a:prstGeom prst="rect">
            <a:avLst/>
          </a:prstGeom>
          <a:noFill/>
          <a:ln w="25400">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证明：</a:t>
            </a:r>
          </a:p>
        </p:txBody>
      </p:sp>
    </p:spTree>
    <p:extLst>
      <p:ext uri="{BB962C8B-B14F-4D97-AF65-F5344CB8AC3E}">
        <p14:creationId xmlns:p14="http://schemas.microsoft.com/office/powerpoint/2010/main" val="5890263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 </a:t>
            </a:r>
            <a:r>
              <a:rPr lang="zh-CN" altLang="en-US" dirty="0"/>
              <a:t>随机模拟积分</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26</a:t>
            </a:fld>
            <a:endParaRPr lang="zh-CN" altLang="en-US">
              <a:solidFill>
                <a:srgbClr val="898989"/>
              </a:solidFill>
            </a:endParaRPr>
          </a:p>
        </p:txBody>
      </p:sp>
      <p:pic>
        <p:nvPicPr>
          <p:cNvPr id="18" name="图片 17">
            <a:extLst>
              <a:ext uri="{FF2B5EF4-FFF2-40B4-BE49-F238E27FC236}">
                <a16:creationId xmlns:a16="http://schemas.microsoft.com/office/drawing/2014/main" id="{EBED3861-33BF-421E-9A59-172ACCD02764}"/>
              </a:ext>
            </a:extLst>
          </p:cNvPr>
          <p:cNvPicPr>
            <a:picLocks noChangeAspect="1"/>
          </p:cNvPicPr>
          <p:nvPr/>
        </p:nvPicPr>
        <p:blipFill>
          <a:blip r:embed="rId2"/>
          <a:stretch>
            <a:fillRect/>
          </a:stretch>
        </p:blipFill>
        <p:spPr>
          <a:xfrm>
            <a:off x="855062" y="2033845"/>
            <a:ext cx="7344036" cy="2392297"/>
          </a:xfrm>
          <a:prstGeom prst="rect">
            <a:avLst/>
          </a:prstGeom>
        </p:spPr>
      </p:pic>
      <p:sp>
        <p:nvSpPr>
          <p:cNvPr id="2" name="文本框 1">
            <a:extLst>
              <a:ext uri="{FF2B5EF4-FFF2-40B4-BE49-F238E27FC236}">
                <a16:creationId xmlns:a16="http://schemas.microsoft.com/office/drawing/2014/main" id="{FB691A3C-CCBE-0F31-7C93-19DC561E4FB4}"/>
              </a:ext>
            </a:extLst>
          </p:cNvPr>
          <p:cNvSpPr txBox="1"/>
          <p:nvPr/>
        </p:nvSpPr>
        <p:spPr>
          <a:xfrm>
            <a:off x="161510" y="1145656"/>
            <a:ext cx="4693022" cy="523220"/>
          </a:xfrm>
          <a:prstGeom prst="rect">
            <a:avLst/>
          </a:prstGeom>
          <a:noFill/>
          <a:ln w="25400">
            <a:noFill/>
          </a:ln>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28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条件方差公式</a:t>
            </a:r>
            <a:endParaRPr kumimoji="0" lang="en-US" altLang="zh-CN" sz="28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256588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3.2.1 </a:t>
            </a:r>
            <a:r>
              <a:rPr lang="zh-CN" altLang="en-US" dirty="0"/>
              <a:t>随机投点法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5875" y="1268760"/>
            <a:ext cx="9159875" cy="2357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计算定积分</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其中函数</a:t>
            </a:r>
            <a:r>
              <a:rPr lang="en-US" altLang="zh-CN" sz="3200" i="1" dirty="0">
                <a:solidFill>
                  <a:srgbClr val="006699"/>
                </a:solidFill>
                <a:latin typeface="Verdana" panose="020B0604030504040204" pitchFamily="34" charset="0"/>
              </a:rPr>
              <a:t>h(x)</a:t>
            </a:r>
            <a:r>
              <a:rPr lang="zh-CN" altLang="en-US" sz="3200" dirty="0">
                <a:solidFill>
                  <a:srgbClr val="006699"/>
                </a:solidFill>
                <a:latin typeface="Verdana" panose="020B0604030504040204" pitchFamily="34" charset="0"/>
              </a:rPr>
              <a:t>在有限区间</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a,b</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上定义且有界</a:t>
            </a: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dirty="0">
                <a:solidFill>
                  <a:srgbClr val="006699"/>
                </a:solidFill>
                <a:latin typeface="Verdana" panose="020B0604030504040204" pitchFamily="34" charset="0"/>
              </a:rPr>
              <a:t>                     0⩽</a:t>
            </a:r>
            <a:r>
              <a:rPr lang="en-US" altLang="zh-CN" sz="3200" i="1" dirty="0">
                <a:solidFill>
                  <a:srgbClr val="006699"/>
                </a:solidFill>
                <a:latin typeface="Verdana" panose="020B0604030504040204" pitchFamily="34" charset="0"/>
              </a:rPr>
              <a:t> h(x) </a:t>
            </a:r>
            <a:r>
              <a:rPr lang="en-US" altLang="zh-CN" sz="3200" dirty="0">
                <a:solidFill>
                  <a:srgbClr val="006699"/>
                </a:solidFill>
                <a:latin typeface="Verdana" panose="020B0604030504040204" pitchFamily="34" charset="0"/>
              </a:rPr>
              <a:t>⩽M</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27</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937388CF-217D-4D8E-8BA2-CBF07B7EE2DC}"/>
                  </a:ext>
                </a:extLst>
              </p:cNvPr>
              <p:cNvSpPr txBox="1"/>
              <p:nvPr/>
            </p:nvSpPr>
            <p:spPr>
              <a:xfrm>
                <a:off x="3041830" y="956462"/>
                <a:ext cx="2665644" cy="1209370"/>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𝐼</m:t>
                      </m:r>
                      <m:r>
                        <a:rPr lang="en-US" altLang="zh-CN" sz="3200" b="0" i="1" smtClean="0">
                          <a:latin typeface="Cambria Math" panose="02040503050406030204" pitchFamily="18" charset="0"/>
                        </a:rPr>
                        <m:t>=</m:t>
                      </m:r>
                      <m:nary>
                        <m:naryPr>
                          <m:limLoc m:val="subSup"/>
                          <m:grow m:val="on"/>
                          <m:ctrlPr>
                            <a:rPr lang="zh-CN" altLang="en-US" sz="3200" i="1" smtClean="0">
                              <a:latin typeface="Cambria Math" panose="02040503050406030204" pitchFamily="18" charset="0"/>
                            </a:rPr>
                          </m:ctrlPr>
                        </m:naryPr>
                        <m:sub>
                          <m:r>
                            <a:rPr lang="zh-CN" altLang="en-US" sz="3200" i="1">
                              <a:latin typeface="Cambria Math" panose="02040503050406030204" pitchFamily="18" charset="0"/>
                            </a:rPr>
                            <m:t>𝑎</m:t>
                          </m:r>
                        </m:sub>
                        <m:sup>
                          <m:r>
                            <a:rPr lang="zh-CN" altLang="en-US" sz="3200" i="1">
                              <a:latin typeface="Cambria Math" panose="02040503050406030204" pitchFamily="18" charset="0"/>
                            </a:rPr>
                            <m:t>𝑏</m:t>
                          </m:r>
                        </m:sup>
                        <m:e>
                          <m:r>
                            <a:rPr lang="en-US" altLang="zh-CN" sz="3200" i="1">
                              <a:latin typeface="Cambria Math" panose="02040503050406030204" pitchFamily="18" charset="0"/>
                            </a:rPr>
                            <m:t>h</m:t>
                          </m:r>
                          <m:d>
                            <m:dPr>
                              <m:ctrlPr>
                                <a:rPr lang="zh-CN" altLang="en-US" sz="3200" i="1">
                                  <a:latin typeface="Cambria Math" panose="02040503050406030204" pitchFamily="18" charset="0"/>
                                </a:rPr>
                              </m:ctrlPr>
                            </m:dPr>
                            <m:e>
                              <m:r>
                                <a:rPr lang="zh-CN" altLang="en-US" sz="3200" i="1">
                                  <a:latin typeface="Cambria Math" panose="02040503050406030204" pitchFamily="18" charset="0"/>
                                </a:rPr>
                                <m:t>𝑥</m:t>
                              </m:r>
                            </m:e>
                          </m:d>
                          <m:r>
                            <a:rPr lang="zh-CN" altLang="en-US" sz="3200" i="1">
                              <a:latin typeface="Cambria Math" panose="02040503050406030204" pitchFamily="18" charset="0"/>
                            </a:rPr>
                            <m:t>𝑑𝑥</m:t>
                          </m:r>
                        </m:e>
                      </m:nary>
                    </m:oMath>
                  </m:oMathPara>
                </a14:m>
                <a:endParaRPr lang="zh-CN" altLang="en-US" sz="3200" dirty="0"/>
              </a:p>
            </p:txBody>
          </p:sp>
        </mc:Choice>
        <mc:Fallback xmlns="">
          <p:sp>
            <p:nvSpPr>
              <p:cNvPr id="8" name="文本框 7">
                <a:extLst>
                  <a:ext uri="{FF2B5EF4-FFF2-40B4-BE49-F238E27FC236}">
                    <a16:creationId xmlns:a16="http://schemas.microsoft.com/office/drawing/2014/main" id="{937388CF-217D-4D8E-8BA2-CBF07B7EE2DC}"/>
                  </a:ext>
                </a:extLst>
              </p:cNvPr>
              <p:cNvSpPr txBox="1">
                <a:spLocks noRot="1" noChangeAspect="1" noMove="1" noResize="1" noEditPoints="1" noAdjustHandles="1" noChangeArrowheads="1" noChangeShapeType="1" noTextEdit="1"/>
              </p:cNvSpPr>
              <p:nvPr/>
            </p:nvSpPr>
            <p:spPr>
              <a:xfrm>
                <a:off x="3041830" y="956462"/>
                <a:ext cx="2665644" cy="1209370"/>
              </a:xfrm>
              <a:prstGeom prst="rect">
                <a:avLst/>
              </a:prstGeom>
              <a:blipFill>
                <a:blip r:embed="rId2"/>
                <a:stretch>
                  <a:fillRect/>
                </a:stretch>
              </a:blipFill>
              <a:ln w="25400">
                <a:noFill/>
              </a:ln>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7E62460D-FB9B-4177-8016-6A9FC4A8C30D}"/>
              </a:ext>
            </a:extLst>
          </p:cNvPr>
          <p:cNvPicPr>
            <a:picLocks noChangeAspect="1"/>
          </p:cNvPicPr>
          <p:nvPr/>
        </p:nvPicPr>
        <p:blipFill>
          <a:blip r:embed="rId3"/>
          <a:stretch>
            <a:fillRect/>
          </a:stretch>
        </p:blipFill>
        <p:spPr>
          <a:xfrm>
            <a:off x="5014900" y="3807817"/>
            <a:ext cx="3671900" cy="2441024"/>
          </a:xfrm>
          <a:prstGeom prst="rect">
            <a:avLst/>
          </a:prstGeom>
        </p:spPr>
      </p:pic>
      <p:sp>
        <p:nvSpPr>
          <p:cNvPr id="14" name="文本框 13">
            <a:extLst>
              <a:ext uri="{FF2B5EF4-FFF2-40B4-BE49-F238E27FC236}">
                <a16:creationId xmlns:a16="http://schemas.microsoft.com/office/drawing/2014/main" id="{41586E85-40B4-4541-83F2-11646BE9280A}"/>
              </a:ext>
            </a:extLst>
          </p:cNvPr>
          <p:cNvSpPr txBox="1"/>
          <p:nvPr/>
        </p:nvSpPr>
        <p:spPr>
          <a:xfrm>
            <a:off x="-15875" y="3807817"/>
            <a:ext cx="4690532" cy="1077218"/>
          </a:xfrm>
          <a:prstGeom prst="rect">
            <a:avLst/>
          </a:prstGeom>
          <a:noFill/>
          <a:ln w="25400">
            <a:noFill/>
          </a:ln>
        </p:spPr>
        <p:txBody>
          <a:bodyPr wrap="square">
            <a:spAutoFit/>
          </a:bodyPr>
          <a:lstStyle/>
          <a:p>
            <a:pPr marL="457200" lvl="0" indent="-457200" eaLnBrk="1" hangingPunct="1">
              <a:spcBef>
                <a:spcPct val="20000"/>
              </a:spcBef>
              <a:buFont typeface="Arial" panose="020B0604020202020204" pitchFamily="34" charset="0"/>
              <a:buChar char="•"/>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相当于计算曲线下的区域</a:t>
            </a:r>
            <a:r>
              <a:rPr lang="en-US" altLang="zh-CN" sz="3200" dirty="0">
                <a:solidFill>
                  <a:srgbClr val="006699"/>
                </a:solidFill>
                <a:latin typeface="Verdana" panose="020B0604030504040204" pitchFamily="34" charset="0"/>
              </a:rPr>
              <a:t>D</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的面积</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91AC85A7-2BBB-49A2-8403-1E1C8094699F}"/>
                  </a:ext>
                </a:extLst>
              </p:cNvPr>
              <p:cNvSpPr txBox="1"/>
              <p:nvPr/>
            </p:nvSpPr>
            <p:spPr>
              <a:xfrm>
                <a:off x="0" y="4985312"/>
                <a:ext cx="5202070" cy="46166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400" i="1" smtClean="0">
                              <a:latin typeface="Cambria Math" panose="02040503050406030204" pitchFamily="18" charset="0"/>
                            </a:rPr>
                          </m:ctrlPr>
                        </m:dPr>
                        <m:e>
                          <m:d>
                            <m:dPr>
                              <m:begChr m:val=""/>
                              <m:endChr m:val=""/>
                              <m:ctrlPr>
                                <a:rPr lang="zh-CN" altLang="en-US" sz="2400" i="1">
                                  <a:latin typeface="Cambria Math" panose="02040503050406030204" pitchFamily="18" charset="0"/>
                                </a:rPr>
                              </m:ctrlPr>
                            </m:dPr>
                            <m:e>
                              <m:d>
                                <m:dPr>
                                  <m:begChr m:val=""/>
                                  <m:endChr m:val=""/>
                                  <m:ctrlPr>
                                    <a:rPr lang="zh-CN" altLang="en-US" sz="2400" i="1">
                                      <a:latin typeface="Cambria Math" panose="02040503050406030204" pitchFamily="18" charset="0"/>
                                    </a:rPr>
                                  </m:ctrlPr>
                                </m:dPr>
                                <m:e>
                                  <m:d>
                                    <m:dPr>
                                      <m:begChr m:val=""/>
                                      <m:endChr m:val=""/>
                                      <m:ctrlPr>
                                        <a:rPr lang="zh-CN" altLang="en-US" sz="2400" i="1">
                                          <a:latin typeface="Cambria Math" panose="02040503050406030204" pitchFamily="18" charset="0"/>
                                        </a:rPr>
                                      </m:ctrlPr>
                                    </m:dPr>
                                    <m:e>
                                      <m:r>
                                        <a:rPr lang="zh-CN" altLang="en-US" sz="2400" i="1">
                                          <a:latin typeface="Cambria Math" panose="02040503050406030204" pitchFamily="18" charset="0"/>
                                        </a:rPr>
                                        <m:t>𝐷</m:t>
                                      </m:r>
                                      <m:r>
                                        <a:rPr lang="zh-CN" altLang="en-US" sz="2400" i="0">
                                          <a:latin typeface="Cambria Math" panose="02040503050406030204" pitchFamily="18" charset="0"/>
                                        </a:rPr>
                                        <m:t>=</m:t>
                                      </m:r>
                                      <m:d>
                                        <m:dPr>
                                          <m:begChr m:val=""/>
                                          <m:endChr m:val=""/>
                                          <m:ctrlPr>
                                            <a:rPr lang="zh-CN" altLang="en-US" sz="2400" i="1">
                                              <a:latin typeface="Cambria Math" panose="02040503050406030204" pitchFamily="18" charset="0"/>
                                            </a:rPr>
                                          </m:ctrlPr>
                                        </m:dPr>
                                        <m:e>
                                          <m:r>
                                            <a:rPr lang="zh-CN" altLang="en-US" sz="2400" i="0">
                                              <a:latin typeface="Cambria Math" panose="02040503050406030204" pitchFamily="18" charset="0"/>
                                            </a:rPr>
                                            <m:t>{</m:t>
                                          </m:r>
                                        </m:e>
                                      </m:d>
                                      <m:d>
                                        <m:dPr>
                                          <m:begChr m:val=""/>
                                          <m:endChr m:val=""/>
                                          <m:ctrlPr>
                                            <a:rPr lang="zh-CN" altLang="en-US" sz="2400" i="1">
                                              <a:latin typeface="Cambria Math" panose="02040503050406030204" pitchFamily="18" charset="0"/>
                                            </a:rPr>
                                          </m:ctrlPr>
                                        </m:dPr>
                                        <m:e>
                                          <m:r>
                                            <a:rPr lang="zh-CN" altLang="en-US" sz="2400" i="0">
                                              <a:latin typeface="Cambria Math" panose="02040503050406030204" pitchFamily="18" charset="0"/>
                                            </a:rPr>
                                            <m:t>(</m:t>
                                          </m:r>
                                        </m:e>
                                      </m:d>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r>
                                        <a:rPr lang="zh-CN" altLang="en-US" sz="2400" i="0">
                                          <a:latin typeface="Cambria Math" panose="02040503050406030204" pitchFamily="18" charset="0"/>
                                        </a:rPr>
                                        <m:t>)</m:t>
                                      </m:r>
                                    </m:e>
                                  </m:d>
                                  <m:r>
                                    <a:rPr lang="zh-CN" altLang="en-US" sz="2400" i="0">
                                      <a:latin typeface="Cambria Math" panose="02040503050406030204" pitchFamily="18" charset="0"/>
                                    </a:rPr>
                                    <m:t>:0≤</m:t>
                                  </m:r>
                                  <m:r>
                                    <a:rPr lang="zh-CN" altLang="en-US" sz="2400" i="1">
                                      <a:latin typeface="Cambria Math" panose="02040503050406030204" pitchFamily="18" charset="0"/>
                                    </a:rPr>
                                    <m:t>𝑦</m:t>
                                  </m:r>
                                  <m:r>
                                    <a:rPr lang="zh-CN" altLang="en-US" sz="2400" i="0">
                                      <a:latin typeface="Cambria Math" panose="02040503050406030204" pitchFamily="18" charset="0"/>
                                    </a:rPr>
                                    <m:t>≤</m:t>
                                  </m:r>
                                  <m:r>
                                    <a:rPr lang="zh-CN" altLang="en-US" sz="2400" i="1">
                                      <a:latin typeface="Cambria Math" panose="02040503050406030204" pitchFamily="18" charset="0"/>
                                    </a:rPr>
                                    <m:t>h</m:t>
                                  </m:r>
                                  <m:d>
                                    <m:dPr>
                                      <m:begChr m:val=""/>
                                      <m:endChr m:val=""/>
                                      <m:ctrlPr>
                                        <a:rPr lang="zh-CN" altLang="en-US" sz="2400" i="1">
                                          <a:latin typeface="Cambria Math" panose="02040503050406030204" pitchFamily="18" charset="0"/>
                                        </a:rPr>
                                      </m:ctrlPr>
                                    </m:dPr>
                                    <m:e>
                                      <m:r>
                                        <a:rPr lang="zh-CN" altLang="en-US" sz="2400" i="0">
                                          <a:latin typeface="Cambria Math" panose="02040503050406030204" pitchFamily="18" charset="0"/>
                                        </a:rPr>
                                        <m:t>(</m:t>
                                      </m:r>
                                    </m:e>
                                  </m:d>
                                  <m:r>
                                    <a:rPr lang="zh-CN" altLang="en-US" sz="2400" i="1">
                                      <a:latin typeface="Cambria Math" panose="02040503050406030204" pitchFamily="18" charset="0"/>
                                    </a:rPr>
                                    <m:t>𝑥</m:t>
                                  </m:r>
                                  <m:r>
                                    <a:rPr lang="zh-CN" altLang="en-US" sz="2400" i="0">
                                      <a:latin typeface="Cambria Math" panose="02040503050406030204" pitchFamily="18" charset="0"/>
                                    </a:rPr>
                                    <m:t>)</m:t>
                                  </m:r>
                                </m:e>
                              </m:d>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d>
                                <m:dPr>
                                  <m:begChr m:val=""/>
                                  <m:endChr m:val=""/>
                                  <m:ctrlPr>
                                    <a:rPr lang="zh-CN" altLang="en-US" sz="2400" i="1">
                                      <a:latin typeface="Cambria Math" panose="02040503050406030204" pitchFamily="18" charset="0"/>
                                    </a:rPr>
                                  </m:ctrlPr>
                                </m:dPr>
                                <m:e>
                                  <m:r>
                                    <a:rPr lang="zh-CN" altLang="en-US" sz="2400" i="0">
                                      <a:latin typeface="Cambria Math" panose="02040503050406030204" pitchFamily="18" charset="0"/>
                                    </a:rPr>
                                    <m:t>[</m:t>
                                  </m:r>
                                </m:e>
                              </m:d>
                              <m:r>
                                <a:rPr lang="zh-CN" altLang="en-US" sz="2400" i="1">
                                  <a:latin typeface="Cambria Math" panose="02040503050406030204" pitchFamily="18" charset="0"/>
                                </a:rPr>
                                <m:t>𝑎</m:t>
                              </m:r>
                              <m:r>
                                <a:rPr lang="zh-CN" altLang="en-US" sz="2400" i="0">
                                  <a:latin typeface="Cambria Math" panose="02040503050406030204" pitchFamily="18" charset="0"/>
                                </a:rPr>
                                <m:t>,</m:t>
                              </m:r>
                              <m:r>
                                <a:rPr lang="zh-CN" altLang="en-US" sz="2400" i="1">
                                  <a:latin typeface="Cambria Math" panose="02040503050406030204" pitchFamily="18" charset="0"/>
                                </a:rPr>
                                <m:t>𝑏</m:t>
                              </m:r>
                              <m:r>
                                <a:rPr lang="zh-CN" altLang="en-US" sz="2400" i="0">
                                  <a:latin typeface="Cambria Math" panose="02040503050406030204" pitchFamily="18" charset="0"/>
                                </a:rPr>
                                <m:t>]</m:t>
                              </m:r>
                            </m:e>
                          </m:d>
                          <m:r>
                            <a:rPr lang="zh-CN" altLang="en-US" sz="2400" i="0">
                              <a:latin typeface="Cambria Math" panose="02040503050406030204" pitchFamily="18" charset="0"/>
                            </a:rPr>
                            <m:t>}</m:t>
                          </m:r>
                        </m:e>
                      </m:d>
                    </m:oMath>
                  </m:oMathPara>
                </a14:m>
                <a:endParaRPr lang="zh-CN" altLang="en-US" sz="2800" dirty="0"/>
              </a:p>
            </p:txBody>
          </p:sp>
        </mc:Choice>
        <mc:Fallback xmlns="">
          <p:sp>
            <p:nvSpPr>
              <p:cNvPr id="16" name="文本框 15">
                <a:extLst>
                  <a:ext uri="{FF2B5EF4-FFF2-40B4-BE49-F238E27FC236}">
                    <a16:creationId xmlns:a16="http://schemas.microsoft.com/office/drawing/2014/main" id="{91AC85A7-2BBB-49A2-8403-1E1C8094699F}"/>
                  </a:ext>
                </a:extLst>
              </p:cNvPr>
              <p:cNvSpPr txBox="1">
                <a:spLocks noRot="1" noChangeAspect="1" noMove="1" noResize="1" noEditPoints="1" noAdjustHandles="1" noChangeArrowheads="1" noChangeShapeType="1" noTextEdit="1"/>
              </p:cNvSpPr>
              <p:nvPr/>
            </p:nvSpPr>
            <p:spPr>
              <a:xfrm>
                <a:off x="0" y="4985312"/>
                <a:ext cx="5202070" cy="461665"/>
              </a:xfrm>
              <a:prstGeom prst="rect">
                <a:avLst/>
              </a:prstGeom>
              <a:blipFill>
                <a:blip r:embed="rId4"/>
                <a:stretch>
                  <a:fillRect b="-19737"/>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168295774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3.2.1 </a:t>
            </a:r>
            <a:r>
              <a:rPr lang="zh-CN" altLang="en-US" dirty="0"/>
              <a:t>随机投点法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32" y="848112"/>
            <a:ext cx="9159875" cy="117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在                         上均匀抽样</a:t>
            </a:r>
            <a:r>
              <a:rPr lang="en-US" altLang="zh-CN" sz="3200" dirty="0">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次</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得随机点</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28</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9F39D973-6C7A-4925-98A4-11CE3B6C648D}"/>
                  </a:ext>
                </a:extLst>
              </p:cNvPr>
              <p:cNvSpPr txBox="1"/>
              <p:nvPr/>
            </p:nvSpPr>
            <p:spPr>
              <a:xfrm>
                <a:off x="852692" y="848112"/>
                <a:ext cx="3610749"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smtClean="0">
                              <a:latin typeface="Cambria Math" panose="02040503050406030204" pitchFamily="18" charset="0"/>
                            </a:rPr>
                          </m:ctrlPr>
                        </m:dPr>
                        <m:e>
                          <m:d>
                            <m:dPr>
                              <m:begChr m:val=""/>
                              <m:endChr m:val=""/>
                              <m:ctrlPr>
                                <a:rPr lang="zh-CN" altLang="en-US" sz="3200" i="1">
                                  <a:latin typeface="Cambria Math" panose="02040503050406030204" pitchFamily="18" charset="0"/>
                                </a:rPr>
                              </m:ctrlPr>
                            </m:dPr>
                            <m:e>
                              <m:r>
                                <a:rPr lang="zh-CN" altLang="en-US" sz="3200" i="1">
                                  <a:latin typeface="Cambria Math" panose="02040503050406030204" pitchFamily="18" charset="0"/>
                                </a:rPr>
                                <m:t>𝐺</m:t>
                              </m:r>
                              <m:r>
                                <a:rPr lang="zh-CN" altLang="en-US" sz="3200" i="0">
                                  <a:latin typeface="Cambria Math" panose="02040503050406030204" pitchFamily="18" charset="0"/>
                                </a:rPr>
                                <m:t>=</m:t>
                              </m:r>
                              <m:d>
                                <m:dPr>
                                  <m:begChr m:val=""/>
                                  <m:endChr m:val=""/>
                                  <m:ctrlPr>
                                    <a:rPr lang="zh-CN" altLang="en-US" sz="3200" i="1">
                                      <a:latin typeface="Cambria Math" panose="02040503050406030204" pitchFamily="18" charset="0"/>
                                    </a:rPr>
                                  </m:ctrlPr>
                                </m:dPr>
                                <m:e>
                                  <m:r>
                                    <a:rPr lang="zh-CN" altLang="en-US" sz="3200" i="0">
                                      <a:latin typeface="Cambria Math" panose="02040503050406030204" pitchFamily="18" charset="0"/>
                                    </a:rPr>
                                    <m:t>[</m:t>
                                  </m:r>
                                </m:e>
                              </m:d>
                              <m:r>
                                <a:rPr lang="zh-CN" altLang="en-US" sz="3200" i="1">
                                  <a:latin typeface="Cambria Math" panose="02040503050406030204" pitchFamily="18" charset="0"/>
                                </a:rPr>
                                <m:t>𝑎</m:t>
                              </m:r>
                              <m:r>
                                <a:rPr lang="zh-CN" altLang="en-US" sz="3200" i="0">
                                  <a:latin typeface="Cambria Math" panose="02040503050406030204" pitchFamily="18" charset="0"/>
                                </a:rPr>
                                <m:t>,</m:t>
                              </m:r>
                              <m:r>
                                <a:rPr lang="zh-CN" altLang="en-US" sz="3200" i="1">
                                  <a:latin typeface="Cambria Math" panose="02040503050406030204" pitchFamily="18" charset="0"/>
                                </a:rPr>
                                <m:t>𝑏</m:t>
                              </m:r>
                              <m:r>
                                <a:rPr lang="zh-CN" altLang="en-US" sz="3200" i="0">
                                  <a:latin typeface="Cambria Math" panose="02040503050406030204" pitchFamily="18" charset="0"/>
                                </a:rPr>
                                <m:t>]</m:t>
                              </m:r>
                            </m:e>
                          </m:d>
                          <m:r>
                            <a:rPr lang="zh-CN" altLang="en-US" sz="3200" i="0">
                              <a:latin typeface="Cambria Math" panose="02040503050406030204" pitchFamily="18" charset="0"/>
                            </a:rPr>
                            <m:t>×</m:t>
                          </m:r>
                          <m:d>
                            <m:dPr>
                              <m:begChr m:val=""/>
                              <m:endChr m:val=""/>
                              <m:ctrlPr>
                                <a:rPr lang="zh-CN" altLang="en-US" sz="3200" i="1">
                                  <a:latin typeface="Cambria Math" panose="02040503050406030204" pitchFamily="18" charset="0"/>
                                </a:rPr>
                              </m:ctrlPr>
                            </m:dPr>
                            <m:e>
                              <m:r>
                                <a:rPr lang="zh-CN" altLang="en-US" sz="3200" i="0">
                                  <a:latin typeface="Cambria Math" panose="02040503050406030204" pitchFamily="18" charset="0"/>
                                </a:rPr>
                                <m:t>(</m:t>
                              </m:r>
                            </m:e>
                          </m:d>
                          <m:r>
                            <a:rPr lang="zh-CN" altLang="en-US" sz="3200" i="0">
                              <a:latin typeface="Cambria Math" panose="02040503050406030204" pitchFamily="18" charset="0"/>
                            </a:rPr>
                            <m:t>0,</m:t>
                          </m:r>
                          <m:r>
                            <a:rPr lang="zh-CN" altLang="en-US" sz="3200" i="1">
                              <a:latin typeface="Cambria Math" panose="02040503050406030204" pitchFamily="18" charset="0"/>
                            </a:rPr>
                            <m:t>𝑀</m:t>
                          </m:r>
                          <m:r>
                            <a:rPr lang="zh-CN" altLang="en-US" sz="3200" i="0">
                              <a:latin typeface="Cambria Math" panose="02040503050406030204" pitchFamily="18" charset="0"/>
                            </a:rPr>
                            <m:t>)</m:t>
                          </m:r>
                        </m:e>
                      </m:d>
                    </m:oMath>
                  </m:oMathPara>
                </a14:m>
                <a:endParaRPr lang="zh-CN" altLang="en-US" dirty="0"/>
              </a:p>
            </p:txBody>
          </p:sp>
        </mc:Choice>
        <mc:Fallback xmlns="">
          <p:sp>
            <p:nvSpPr>
              <p:cNvPr id="7" name="文本框 6">
                <a:extLst>
                  <a:ext uri="{FF2B5EF4-FFF2-40B4-BE49-F238E27FC236}">
                    <a16:creationId xmlns:a16="http://schemas.microsoft.com/office/drawing/2014/main" id="{9F39D973-6C7A-4925-98A4-11CE3B6C648D}"/>
                  </a:ext>
                </a:extLst>
              </p:cNvPr>
              <p:cNvSpPr txBox="1">
                <a:spLocks noRot="1" noChangeAspect="1" noMove="1" noResize="1" noEditPoints="1" noAdjustHandles="1" noChangeArrowheads="1" noChangeShapeType="1" noTextEdit="1"/>
              </p:cNvSpPr>
              <p:nvPr/>
            </p:nvSpPr>
            <p:spPr>
              <a:xfrm>
                <a:off x="852692" y="848112"/>
                <a:ext cx="3610749" cy="584775"/>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D8F3FAA-3881-4FE3-AF4C-2AADC36D79F7}"/>
                  </a:ext>
                </a:extLst>
              </p:cNvPr>
              <p:cNvSpPr txBox="1"/>
              <p:nvPr/>
            </p:nvSpPr>
            <p:spPr>
              <a:xfrm>
                <a:off x="582662" y="2053294"/>
                <a:ext cx="7380820"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smtClean="0">
                              <a:solidFill>
                                <a:srgbClr val="836967"/>
                              </a:solidFill>
                              <a:latin typeface="Cambria Math" panose="02040503050406030204" pitchFamily="18" charset="0"/>
                            </a:rPr>
                          </m:ctrlPr>
                        </m:dPr>
                        <m:e>
                          <m:d>
                            <m:dPr>
                              <m:begChr m:val=""/>
                              <m:endChr m:val=""/>
                              <m:ctrlPr>
                                <a:rPr lang="zh-CN" altLang="en-US" sz="3200" i="1">
                                  <a:solidFill>
                                    <a:srgbClr val="836967"/>
                                  </a:solidFill>
                                  <a:latin typeface="Cambria Math" panose="02040503050406030204" pitchFamily="18" charset="0"/>
                                </a:rPr>
                              </m:ctrlPr>
                            </m:dPr>
                            <m:e>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𝑍</m:t>
                                  </m:r>
                                </m:e>
                                <m:sub>
                                  <m:r>
                                    <a:rPr lang="zh-CN" altLang="en-US" sz="3200" i="0">
                                      <a:latin typeface="Cambria Math" panose="02040503050406030204" pitchFamily="18" charset="0"/>
                                    </a:rPr>
                                    <m:t>1</m:t>
                                  </m:r>
                                </m:sub>
                              </m:sSub>
                              <m:r>
                                <a:rPr lang="zh-CN" altLang="en-US" sz="3200" i="0">
                                  <a:latin typeface="Cambria Math" panose="02040503050406030204" pitchFamily="18" charset="0"/>
                                </a:rPr>
                                <m:t>,</m:t>
                              </m:r>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𝑍</m:t>
                                  </m:r>
                                </m:e>
                                <m:sub>
                                  <m:r>
                                    <a:rPr lang="zh-CN" altLang="en-US" sz="3200" i="0">
                                      <a:latin typeface="Cambria Math" panose="02040503050406030204" pitchFamily="18" charset="0"/>
                                    </a:rPr>
                                    <m:t>2</m:t>
                                  </m:r>
                                </m:sub>
                              </m:sSub>
                              <m:r>
                                <a:rPr lang="zh-CN" altLang="en-US" sz="3200" i="0">
                                  <a:latin typeface="Cambria Math" panose="02040503050406030204" pitchFamily="18" charset="0"/>
                                </a:rPr>
                                <m:t>,…,</m:t>
                              </m:r>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𝑍</m:t>
                                  </m:r>
                                </m:e>
                                <m:sub>
                                  <m:r>
                                    <a:rPr lang="zh-CN" altLang="en-US" sz="3200" i="1">
                                      <a:latin typeface="Cambria Math" panose="02040503050406030204" pitchFamily="18" charset="0"/>
                                    </a:rPr>
                                    <m:t>𝑁</m:t>
                                  </m:r>
                                </m:sub>
                              </m:sSub>
                              <m:r>
                                <a:rPr lang="zh-CN" altLang="en-US" sz="3200" i="0">
                                  <a:latin typeface="Cambria Math" panose="02040503050406030204" pitchFamily="18" charset="0"/>
                                </a:rPr>
                                <m:t>,</m:t>
                              </m:r>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𝑍</m:t>
                                  </m:r>
                                </m:e>
                                <m:sub>
                                  <m:r>
                                    <a:rPr lang="zh-CN" altLang="en-US" sz="3200" i="1">
                                      <a:latin typeface="Cambria Math" panose="02040503050406030204" pitchFamily="18" charset="0"/>
                                    </a:rPr>
                                    <m:t>𝑖</m:t>
                                  </m:r>
                                </m:sub>
                              </m:sSub>
                              <m:r>
                                <a:rPr lang="zh-CN" altLang="en-US" sz="3200" i="0">
                                  <a:latin typeface="Cambria Math" panose="02040503050406030204" pitchFamily="18" charset="0"/>
                                </a:rPr>
                                <m:t>=</m:t>
                              </m:r>
                              <m:d>
                                <m:dPr>
                                  <m:begChr m:val=""/>
                                  <m:endChr m:val=""/>
                                  <m:ctrlPr>
                                    <a:rPr lang="zh-CN" altLang="en-US" sz="3200" i="1">
                                      <a:latin typeface="Cambria Math" panose="02040503050406030204" pitchFamily="18" charset="0"/>
                                    </a:rPr>
                                  </m:ctrlPr>
                                </m:dPr>
                                <m:e>
                                  <m:r>
                                    <a:rPr lang="zh-CN" altLang="en-US" sz="3200" i="0">
                                      <a:latin typeface="Cambria Math" panose="02040503050406030204" pitchFamily="18" charset="0"/>
                                    </a:rPr>
                                    <m:t>(</m:t>
                                  </m:r>
                                </m:e>
                              </m:d>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𝑋</m:t>
                                  </m:r>
                                </m:e>
                                <m:sub>
                                  <m:r>
                                    <a:rPr lang="zh-CN" altLang="en-US" sz="3200" i="1">
                                      <a:latin typeface="Cambria Math" panose="02040503050406030204" pitchFamily="18" charset="0"/>
                                    </a:rPr>
                                    <m:t>𝑖</m:t>
                                  </m:r>
                                </m:sub>
                              </m:sSub>
                              <m:r>
                                <a:rPr lang="zh-CN" altLang="en-US" sz="3200" i="0">
                                  <a:latin typeface="Cambria Math" panose="02040503050406030204" pitchFamily="18" charset="0"/>
                                </a:rPr>
                                <m:t>,</m:t>
                              </m:r>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𝑌</m:t>
                                  </m:r>
                                </m:e>
                                <m:sub>
                                  <m:r>
                                    <a:rPr lang="zh-CN" altLang="en-US" sz="3200" i="1">
                                      <a:latin typeface="Cambria Math" panose="02040503050406030204" pitchFamily="18" charset="0"/>
                                    </a:rPr>
                                    <m:t>𝑖</m:t>
                                  </m:r>
                                </m:sub>
                              </m:sSub>
                              <m:r>
                                <a:rPr lang="zh-CN" altLang="en-US" sz="3200" i="0">
                                  <a:latin typeface="Cambria Math" panose="02040503050406030204" pitchFamily="18" charset="0"/>
                                </a:rPr>
                                <m:t>)</m:t>
                              </m:r>
                            </m:e>
                          </m:d>
                          <m:r>
                            <a:rPr lang="zh-CN" altLang="en-US" sz="3200" i="0">
                              <a:latin typeface="Cambria Math" panose="02040503050406030204" pitchFamily="18" charset="0"/>
                            </a:rPr>
                            <m:t>,</m:t>
                          </m:r>
                          <m:d>
                            <m:dPr>
                              <m:begChr m:val=""/>
                              <m:endChr m:val=""/>
                              <m:ctrlPr>
                                <a:rPr lang="zh-CN" altLang="en-US" sz="3200" i="1">
                                  <a:latin typeface="Cambria Math" panose="02040503050406030204" pitchFamily="18" charset="0"/>
                                </a:rPr>
                              </m:ctrlPr>
                            </m:dPr>
                            <m:e>
                              <m:r>
                                <a:rPr lang="zh-CN" altLang="en-US" sz="3200" i="0">
                                  <a:latin typeface="Cambria Math" panose="02040503050406030204" pitchFamily="18" charset="0"/>
                                </a:rPr>
                                <m:t>(</m:t>
                              </m:r>
                            </m:e>
                          </m:d>
                          <m:r>
                            <a:rPr lang="zh-CN" altLang="en-US" sz="3200" i="1">
                              <a:latin typeface="Cambria Math" panose="02040503050406030204" pitchFamily="18" charset="0"/>
                            </a:rPr>
                            <m:t>𝑖</m:t>
                          </m:r>
                          <m:r>
                            <a:rPr lang="zh-CN" altLang="en-US" sz="3200" i="0">
                              <a:latin typeface="Cambria Math" panose="02040503050406030204" pitchFamily="18" charset="0"/>
                            </a:rPr>
                            <m:t>=1,2,…,</m:t>
                          </m:r>
                          <m:r>
                            <a:rPr lang="zh-CN" altLang="en-US" sz="3200" i="1">
                              <a:latin typeface="Cambria Math" panose="02040503050406030204" pitchFamily="18" charset="0"/>
                            </a:rPr>
                            <m:t>𝑁</m:t>
                          </m:r>
                          <m:r>
                            <a:rPr lang="zh-CN" altLang="en-US" sz="3200" i="0">
                              <a:latin typeface="Cambria Math" panose="02040503050406030204" pitchFamily="18" charset="0"/>
                            </a:rPr>
                            <m:t>)</m:t>
                          </m:r>
                        </m:e>
                      </m:d>
                    </m:oMath>
                  </m:oMathPara>
                </a14:m>
                <a:endParaRPr lang="zh-CN" altLang="en-US" dirty="0"/>
              </a:p>
            </p:txBody>
          </p:sp>
        </mc:Choice>
        <mc:Fallback xmlns="">
          <p:sp>
            <p:nvSpPr>
              <p:cNvPr id="8" name="文本框 7">
                <a:extLst>
                  <a:ext uri="{FF2B5EF4-FFF2-40B4-BE49-F238E27FC236}">
                    <a16:creationId xmlns:a16="http://schemas.microsoft.com/office/drawing/2014/main" id="{FD8F3FAA-3881-4FE3-AF4C-2AADC36D79F7}"/>
                  </a:ext>
                </a:extLst>
              </p:cNvPr>
              <p:cNvSpPr txBox="1">
                <a:spLocks noRot="1" noChangeAspect="1" noMove="1" noResize="1" noEditPoints="1" noAdjustHandles="1" noChangeArrowheads="1" noChangeShapeType="1" noTextEdit="1"/>
              </p:cNvSpPr>
              <p:nvPr/>
            </p:nvSpPr>
            <p:spPr>
              <a:xfrm>
                <a:off x="582662" y="2053294"/>
                <a:ext cx="7380820" cy="584775"/>
              </a:xfrm>
              <a:prstGeom prst="rect">
                <a:avLst/>
              </a:prstGeom>
              <a:blipFill>
                <a:blip r:embed="rId3"/>
                <a:stretch>
                  <a:fillRect/>
                </a:stretch>
              </a:blipFill>
              <a:ln w="25400">
                <a:noFill/>
              </a:ln>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1224E10E-F02E-4083-8258-B2EF5D067592}"/>
              </a:ext>
            </a:extLst>
          </p:cNvPr>
          <p:cNvSpPr txBox="1"/>
          <p:nvPr/>
        </p:nvSpPr>
        <p:spPr>
          <a:xfrm>
            <a:off x="312800" y="2775362"/>
            <a:ext cx="4690532" cy="3816429"/>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令</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是独立重复试验结果</a:t>
            </a:r>
            <a:r>
              <a:rPr lang="en-US" altLang="zh-CN" sz="3200" dirty="0">
                <a:solidFill>
                  <a:srgbClr val="006699"/>
                </a:solidFill>
                <a:latin typeface="Verdana" panose="020B0604030504040204" pitchFamily="34" charset="0"/>
              </a:rPr>
              <a:t>.</a:t>
            </a:r>
          </a:p>
          <a:p>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而</a:t>
            </a:r>
            <a:endParaRPr lang="en-US" altLang="zh-CN" sz="3200" dirty="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其中</a:t>
            </a:r>
            <a:r>
              <a:rPr lang="en-US" altLang="zh-CN" sz="3200" dirty="0">
                <a:solidFill>
                  <a:srgbClr val="006699"/>
                </a:solidFill>
                <a:latin typeface="Verdana" panose="020B0604030504040204" pitchFamily="34" charset="0"/>
              </a:rPr>
              <a:t>V(.)</a:t>
            </a:r>
            <a:r>
              <a:rPr lang="zh-CN" altLang="en-US" sz="3200" dirty="0">
                <a:solidFill>
                  <a:srgbClr val="006699"/>
                </a:solidFill>
                <a:latin typeface="Verdana" panose="020B0604030504040204" pitchFamily="34" charset="0"/>
              </a:rPr>
              <a:t>表示区域面积</a:t>
            </a:r>
            <a:endParaRPr lang="en-US" altLang="zh-CN" sz="3200" dirty="0">
              <a:solidFill>
                <a:srgbClr val="006699"/>
              </a:solidFill>
              <a:latin typeface="Verdana" panose="020B0604030504040204" pitchFamily="34" charset="0"/>
            </a:endParaRPr>
          </a:p>
          <a:p>
            <a:endParaRPr lang="zh-CN" altLang="en-US" dirty="0"/>
          </a:p>
        </p:txBody>
      </p:sp>
      <p:pic>
        <p:nvPicPr>
          <p:cNvPr id="11" name="图片 10">
            <a:extLst>
              <a:ext uri="{FF2B5EF4-FFF2-40B4-BE49-F238E27FC236}">
                <a16:creationId xmlns:a16="http://schemas.microsoft.com/office/drawing/2014/main" id="{0E54E37C-4E7A-471D-933C-EFAF53D243A4}"/>
              </a:ext>
            </a:extLst>
          </p:cNvPr>
          <p:cNvPicPr>
            <a:picLocks noChangeAspect="1"/>
          </p:cNvPicPr>
          <p:nvPr/>
        </p:nvPicPr>
        <p:blipFill>
          <a:blip r:embed="rId4"/>
          <a:stretch>
            <a:fillRect/>
          </a:stretch>
        </p:blipFill>
        <p:spPr>
          <a:xfrm>
            <a:off x="1077717" y="2854224"/>
            <a:ext cx="5099589" cy="1092769"/>
          </a:xfrm>
          <a:prstGeom prst="rect">
            <a:avLst/>
          </a:prstGeom>
        </p:spPr>
      </p:pic>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2F01B603-6949-4F4D-BF0B-9D60FB24ADE1}"/>
                  </a:ext>
                </a:extLst>
              </p:cNvPr>
              <p:cNvSpPr txBox="1"/>
              <p:nvPr/>
            </p:nvSpPr>
            <p:spPr>
              <a:xfrm>
                <a:off x="1282245" y="4374759"/>
                <a:ext cx="4690532"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smtClean="0">
                              <a:latin typeface="Cambria Math" panose="02040503050406030204" pitchFamily="18" charset="0"/>
                            </a:rPr>
                          </m:ctrlPr>
                        </m:dPr>
                        <m:e>
                          <m:d>
                            <m:dPr>
                              <m:begChr m:val=""/>
                              <m:endChr m:val=""/>
                              <m:ctrlPr>
                                <a:rPr lang="zh-CN" altLang="en-US" sz="3200" i="1">
                                  <a:latin typeface="Cambria Math" panose="02040503050406030204" pitchFamily="18" charset="0"/>
                                </a:rPr>
                              </m:ctrlPr>
                            </m:dPr>
                            <m:e>
                              <m:d>
                                <m:dPr>
                                  <m:begChr m:val=""/>
                                  <m:endChr m:val=""/>
                                  <m:ctrlPr>
                                    <a:rPr lang="zh-CN" altLang="en-US" sz="3200" i="1">
                                      <a:latin typeface="Cambria Math" panose="02040503050406030204" pitchFamily="18" charset="0"/>
                                    </a:rPr>
                                  </m:ctrlPr>
                                </m:dPr>
                                <m:e>
                                  <m:r>
                                    <a:rPr lang="zh-CN" altLang="en-US" sz="3200">
                                      <a:latin typeface="Cambria Math" panose="02040503050406030204" pitchFamily="18" charset="0"/>
                                    </a:rPr>
                                    <m:t>{</m:t>
                                  </m:r>
                                </m:e>
                              </m:d>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𝜉</m:t>
                                  </m:r>
                                </m:e>
                                <m:sub>
                                  <m:r>
                                    <a:rPr lang="zh-CN" altLang="en-US" sz="3200" i="1">
                                      <a:latin typeface="Cambria Math" panose="02040503050406030204" pitchFamily="18" charset="0"/>
                                    </a:rPr>
                                    <m:t>𝑖</m:t>
                                  </m:r>
                                </m:sub>
                              </m:sSub>
                              <m:r>
                                <a:rPr lang="zh-CN" altLang="en-US" sz="3200" i="0">
                                  <a:latin typeface="Cambria Math" panose="02040503050406030204" pitchFamily="18" charset="0"/>
                                </a:rPr>
                                <m:t>}</m:t>
                              </m:r>
                            </m:e>
                          </m:d>
                          <m:r>
                            <a:rPr lang="zh-CN" altLang="en-US" sz="3200" i="1">
                              <a:latin typeface="Cambria Math" panose="02040503050406030204" pitchFamily="18" charset="0"/>
                            </a:rPr>
                            <m:t>𝑖𝑖𝑑</m:t>
                          </m:r>
                          <m:r>
                            <a:rPr lang="zh-CN" altLang="en-US" sz="3200" i="0">
                              <a:latin typeface="Cambria Math" panose="02040503050406030204" pitchFamily="18" charset="0"/>
                            </a:rPr>
                            <m:t>~</m:t>
                          </m:r>
                          <m:r>
                            <a:rPr lang="zh-CN" altLang="en-US" sz="3200" i="1">
                              <a:latin typeface="Cambria Math" panose="02040503050406030204" pitchFamily="18" charset="0"/>
                            </a:rPr>
                            <m:t>𝑏</m:t>
                          </m:r>
                          <m:d>
                            <m:dPr>
                              <m:begChr m:val=""/>
                              <m:endChr m:val=""/>
                              <m:ctrlPr>
                                <a:rPr lang="zh-CN" altLang="en-US" sz="3200" i="1">
                                  <a:latin typeface="Cambria Math" panose="02040503050406030204" pitchFamily="18" charset="0"/>
                                </a:rPr>
                              </m:ctrlPr>
                            </m:dPr>
                            <m:e>
                              <m:r>
                                <a:rPr lang="zh-CN" altLang="en-US" sz="3200" i="0">
                                  <a:latin typeface="Cambria Math" panose="02040503050406030204" pitchFamily="18" charset="0"/>
                                </a:rPr>
                                <m:t>(</m:t>
                              </m:r>
                            </m:e>
                          </m:d>
                          <m:r>
                            <a:rPr lang="zh-CN" altLang="en-US" sz="3200" i="0">
                              <a:latin typeface="Cambria Math" panose="02040503050406030204" pitchFamily="18" charset="0"/>
                            </a:rPr>
                            <m:t>1,</m:t>
                          </m:r>
                          <m:r>
                            <a:rPr lang="zh-CN" altLang="en-US" sz="3200" i="1">
                              <a:latin typeface="Cambria Math" panose="02040503050406030204" pitchFamily="18" charset="0"/>
                            </a:rPr>
                            <m:t>𝑝</m:t>
                          </m:r>
                          <m:r>
                            <a:rPr lang="zh-CN" altLang="en-US" sz="3200" i="0">
                              <a:latin typeface="Cambria Math" panose="02040503050406030204" pitchFamily="18" charset="0"/>
                            </a:rPr>
                            <m:t>)</m:t>
                          </m:r>
                        </m:e>
                      </m:d>
                    </m:oMath>
                  </m:oMathPara>
                </a14:m>
                <a:endParaRPr lang="zh-CN" altLang="en-US" dirty="0"/>
              </a:p>
            </p:txBody>
          </p:sp>
        </mc:Choice>
        <mc:Fallback xmlns="">
          <p:sp>
            <p:nvSpPr>
              <p:cNvPr id="16" name="文本框 15">
                <a:extLst>
                  <a:ext uri="{FF2B5EF4-FFF2-40B4-BE49-F238E27FC236}">
                    <a16:creationId xmlns:a16="http://schemas.microsoft.com/office/drawing/2014/main" id="{2F01B603-6949-4F4D-BF0B-9D60FB24ADE1}"/>
                  </a:ext>
                </a:extLst>
              </p:cNvPr>
              <p:cNvSpPr txBox="1">
                <a:spLocks noRot="1" noChangeAspect="1" noMove="1" noResize="1" noEditPoints="1" noAdjustHandles="1" noChangeArrowheads="1" noChangeShapeType="1" noTextEdit="1"/>
              </p:cNvSpPr>
              <p:nvPr/>
            </p:nvSpPr>
            <p:spPr>
              <a:xfrm>
                <a:off x="1282245" y="4374759"/>
                <a:ext cx="4690532" cy="584775"/>
              </a:xfrm>
              <a:prstGeom prst="rect">
                <a:avLst/>
              </a:prstGeom>
              <a:blipFill>
                <a:blip r:embed="rId5"/>
                <a:stretch>
                  <a:fillRect/>
                </a:stretch>
              </a:blipFill>
              <a:ln w="25400">
                <a:noFill/>
              </a:ln>
            </p:spPr>
            <p:txBody>
              <a:bodyPr/>
              <a:lstStyle/>
              <a:p>
                <a:r>
                  <a:rPr lang="zh-CN" altLang="en-US">
                    <a:noFill/>
                  </a:rPr>
                  <a:t> </a:t>
                </a:r>
              </a:p>
            </p:txBody>
          </p:sp>
        </mc:Fallback>
      </mc:AlternateContent>
      <p:pic>
        <p:nvPicPr>
          <p:cNvPr id="17" name="图片 16">
            <a:extLst>
              <a:ext uri="{FF2B5EF4-FFF2-40B4-BE49-F238E27FC236}">
                <a16:creationId xmlns:a16="http://schemas.microsoft.com/office/drawing/2014/main" id="{8EFAFCD3-8EEB-44CA-9851-E227D57427B0}"/>
              </a:ext>
            </a:extLst>
          </p:cNvPr>
          <p:cNvPicPr>
            <a:picLocks noChangeAspect="1"/>
          </p:cNvPicPr>
          <p:nvPr/>
        </p:nvPicPr>
        <p:blipFill>
          <a:blip r:embed="rId6"/>
          <a:stretch>
            <a:fillRect/>
          </a:stretch>
        </p:blipFill>
        <p:spPr>
          <a:xfrm>
            <a:off x="1068462" y="5235802"/>
            <a:ext cx="5995578" cy="508397"/>
          </a:xfrm>
          <a:prstGeom prst="rect">
            <a:avLst/>
          </a:prstGeom>
        </p:spPr>
      </p:pic>
      <p:sp>
        <p:nvSpPr>
          <p:cNvPr id="22" name="文本框 21">
            <a:extLst>
              <a:ext uri="{FF2B5EF4-FFF2-40B4-BE49-F238E27FC236}">
                <a16:creationId xmlns:a16="http://schemas.microsoft.com/office/drawing/2014/main" id="{CE1B8CA1-BDE0-4EF9-ABFE-D181A3982ED5}"/>
              </a:ext>
            </a:extLst>
          </p:cNvPr>
          <p:cNvSpPr txBox="1"/>
          <p:nvPr/>
        </p:nvSpPr>
        <p:spPr>
          <a:xfrm>
            <a:off x="7400631" y="5153270"/>
            <a:ext cx="1349813" cy="523220"/>
          </a:xfrm>
          <a:prstGeom prst="rect">
            <a:avLst/>
          </a:prstGeom>
          <a:noFill/>
          <a:ln w="25400">
            <a:noFill/>
          </a:ln>
        </p:spPr>
        <p:txBody>
          <a:bodyPr wrap="square">
            <a:spAutoFit/>
          </a:bodyPr>
          <a:lstStyle/>
          <a:p>
            <a:r>
              <a:rPr lang="en-US" altLang="zh-CN" sz="2800" dirty="0">
                <a:latin typeface="+mn-lt"/>
              </a:rPr>
              <a:t>(11.1)</a:t>
            </a:r>
            <a:endParaRPr lang="zh-CN" altLang="en-US" sz="2800" dirty="0">
              <a:latin typeface="+mn-lt"/>
            </a:endParaRPr>
          </a:p>
        </p:txBody>
      </p:sp>
    </p:spTree>
    <p:extLst>
      <p:ext uri="{BB962C8B-B14F-4D97-AF65-F5344CB8AC3E}">
        <p14:creationId xmlns:p14="http://schemas.microsoft.com/office/powerpoint/2010/main" val="24139434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3.2.1 </a:t>
            </a:r>
            <a:r>
              <a:rPr lang="zh-CN" altLang="en-US" dirty="0"/>
              <a:t>随机投点法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5875" y="998730"/>
            <a:ext cx="9159875" cy="2357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从模拟产生的随机样本</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mn-lt"/>
              </a:rPr>
              <a:t>用这</a:t>
            </a:r>
            <a:r>
              <a:rPr lang="en-US" altLang="zh-CN" sz="3200" dirty="0">
                <a:solidFill>
                  <a:srgbClr val="006699"/>
                </a:solidFill>
                <a:latin typeface="+mn-lt"/>
              </a:rPr>
              <a:t>N</a:t>
            </a:r>
            <a:r>
              <a:rPr lang="zh-CN" altLang="en-US" sz="3200" dirty="0">
                <a:solidFill>
                  <a:srgbClr val="006699"/>
                </a:solidFill>
                <a:latin typeface="+mn-lt"/>
              </a:rPr>
              <a:t>个点中落入曲线下方区域</a:t>
            </a:r>
            <a:r>
              <a:rPr lang="en-US" altLang="zh-CN" sz="3200" dirty="0">
                <a:solidFill>
                  <a:srgbClr val="006699"/>
                </a:solidFill>
                <a:latin typeface="+mn-lt"/>
              </a:rPr>
              <a:t>D</a:t>
            </a:r>
            <a:r>
              <a:rPr lang="zh-CN" altLang="en-US" sz="3200" dirty="0">
                <a:solidFill>
                  <a:srgbClr val="006699"/>
                </a:solidFill>
                <a:latin typeface="+mn-lt"/>
              </a:rPr>
              <a:t>的百分比</a:t>
            </a:r>
            <a:endParaRPr lang="en-US" altLang="zh-CN" sz="3200" dirty="0">
              <a:solidFill>
                <a:srgbClr val="006699"/>
              </a:solidFill>
              <a:latin typeface="+mn-lt"/>
            </a:endParaRPr>
          </a:p>
          <a:p>
            <a:pPr marL="0" indent="0" eaLnBrk="1" hangingPunct="1">
              <a:spcBef>
                <a:spcPct val="20000"/>
              </a:spcBef>
            </a:pPr>
            <a:r>
              <a:rPr lang="zh-CN" altLang="en-US" sz="3200" dirty="0">
                <a:solidFill>
                  <a:srgbClr val="006699"/>
                </a:solidFill>
                <a:latin typeface="+mn-lt"/>
              </a:rPr>
              <a:t>     来估计</a:t>
            </a:r>
            <a:r>
              <a:rPr lang="en-US" altLang="zh-CN" sz="3200" dirty="0">
                <a:solidFill>
                  <a:srgbClr val="006699"/>
                </a:solidFill>
                <a:latin typeface="+mn-lt"/>
              </a:rPr>
              <a:t>(11.1)</a:t>
            </a:r>
            <a:r>
              <a:rPr lang="zh-CN" altLang="en-US" sz="3200" dirty="0">
                <a:solidFill>
                  <a:srgbClr val="006699"/>
                </a:solidFill>
                <a:latin typeface="+mn-lt"/>
              </a:rPr>
              <a:t>中的概率</a:t>
            </a:r>
            <a:r>
              <a:rPr lang="en-US" altLang="zh-CN" sz="3200" i="1" dirty="0">
                <a:solidFill>
                  <a:srgbClr val="006699"/>
                </a:solidFill>
                <a:latin typeface="+mn-lt"/>
              </a:rPr>
              <a:t>p</a:t>
            </a: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mn-lt"/>
              </a:rPr>
              <a:t>由</a:t>
            </a:r>
            <a:r>
              <a:rPr lang="en-US" altLang="zh-CN" sz="3200" i="1" dirty="0">
                <a:solidFill>
                  <a:srgbClr val="006699"/>
                </a:solidFill>
                <a:latin typeface="+mn-lt"/>
              </a:rPr>
              <a:t>I</a:t>
            </a:r>
            <a:r>
              <a:rPr lang="en-US" altLang="zh-CN" sz="3200" dirty="0">
                <a:solidFill>
                  <a:srgbClr val="006699"/>
                </a:solidFill>
                <a:latin typeface="+mn-lt"/>
              </a:rPr>
              <a:t>=</a:t>
            </a:r>
            <a:r>
              <a:rPr lang="en-US" altLang="zh-CN" sz="3200" i="1" dirty="0" err="1">
                <a:solidFill>
                  <a:srgbClr val="006699"/>
                </a:solidFill>
                <a:latin typeface="+mn-lt"/>
              </a:rPr>
              <a:t>p</a:t>
            </a:r>
            <a:r>
              <a:rPr lang="en-US" altLang="zh-CN" sz="3200" dirty="0" err="1">
                <a:solidFill>
                  <a:srgbClr val="006699"/>
                </a:solidFill>
                <a:latin typeface="+mn-lt"/>
              </a:rPr>
              <a:t>M</a:t>
            </a:r>
            <a:r>
              <a:rPr lang="en-US" altLang="zh-CN" sz="3200" dirty="0">
                <a:solidFill>
                  <a:srgbClr val="006699"/>
                </a:solidFill>
                <a:latin typeface="+mn-lt"/>
              </a:rPr>
              <a:t>(b-a)</a:t>
            </a:r>
            <a:r>
              <a:rPr lang="zh-CN" altLang="en-US" sz="3200" dirty="0">
                <a:solidFill>
                  <a:srgbClr val="006699"/>
                </a:solidFill>
                <a:latin typeface="+mn-lt"/>
              </a:rPr>
              <a:t>得到定积分</a:t>
            </a:r>
            <a:r>
              <a:rPr lang="en-US" altLang="zh-CN" sz="3200" i="1" dirty="0">
                <a:solidFill>
                  <a:srgbClr val="006699"/>
                </a:solidFill>
                <a:latin typeface="+mn-lt"/>
              </a:rPr>
              <a:t>I</a:t>
            </a:r>
            <a:r>
              <a:rPr lang="zh-CN" altLang="en-US" sz="3200" dirty="0">
                <a:solidFill>
                  <a:srgbClr val="006699"/>
                </a:solidFill>
                <a:latin typeface="+mn-lt"/>
              </a:rPr>
              <a:t>的近似值</a:t>
            </a:r>
            <a:endParaRPr lang="en-US" altLang="zh-CN" sz="3200" dirty="0">
              <a:solidFill>
                <a:srgbClr val="006699"/>
              </a:solidFill>
              <a:latin typeface="+mn-lt"/>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29</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385ACC8-7040-4320-9C9C-3236954C3A61}"/>
                  </a:ext>
                </a:extLst>
              </p:cNvPr>
              <p:cNvSpPr txBox="1"/>
              <p:nvPr/>
            </p:nvSpPr>
            <p:spPr>
              <a:xfrm>
                <a:off x="4797025" y="998730"/>
                <a:ext cx="2260599"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zh-CN" altLang="en-US" sz="3200" b="0" i="1" u="none" strike="noStrike" kern="1200" cap="none" spc="0" normalizeH="0" baseline="0" noProof="0" smtClean="0">
                              <a:ln>
                                <a:noFill/>
                              </a:ln>
                              <a:solidFill>
                                <a:srgbClr val="836967"/>
                              </a:solidFill>
                              <a:effectLst/>
                              <a:uLnTx/>
                              <a:uFillTx/>
                              <a:latin typeface="Cambria Math" panose="02040503050406030204" pitchFamily="18" charset="0"/>
                              <a:cs typeface="+mn-cs"/>
                            </a:rPr>
                          </m:ctrlPr>
                        </m:sSubPr>
                        <m:e>
                          <m:r>
                            <a:rPr kumimoji="0" lang="zh-CN" altLang="en-US" sz="3200" b="0" i="1" u="none" strike="noStrike" kern="1200" cap="none" spc="0" normalizeH="0" baseline="0" noProof="0">
                              <a:ln>
                                <a:noFill/>
                              </a:ln>
                              <a:solidFill>
                                <a:prstClr val="black"/>
                              </a:solidFill>
                              <a:effectLst/>
                              <a:uLnTx/>
                              <a:uFillTx/>
                              <a:latin typeface="Cambria Math" panose="02040503050406030204" pitchFamily="18" charset="0"/>
                              <a:cs typeface="+mn-cs"/>
                            </a:rPr>
                            <m:t>𝑍</m:t>
                          </m:r>
                        </m:e>
                        <m:sub>
                          <m:r>
                            <a:rPr kumimoji="0" lang="zh-CN" altLang="en-US" sz="3200" b="0" i="0"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zh-CN" altLang="en-US" sz="32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en-US" sz="3200" b="0" i="1" u="none" strike="noStrike" kern="1200" cap="none" spc="0" normalizeH="0" baseline="0" noProof="0">
                              <a:ln>
                                <a:noFill/>
                              </a:ln>
                              <a:solidFill>
                                <a:srgbClr val="836967"/>
                              </a:solidFill>
                              <a:effectLst/>
                              <a:uLnTx/>
                              <a:uFillTx/>
                              <a:latin typeface="Cambria Math" panose="02040503050406030204" pitchFamily="18" charset="0"/>
                              <a:cs typeface="+mn-cs"/>
                            </a:rPr>
                          </m:ctrlPr>
                        </m:sSubPr>
                        <m:e>
                          <m:r>
                            <a:rPr kumimoji="0" lang="zh-CN" altLang="en-US" sz="3200" b="0" i="1" u="none" strike="noStrike" kern="1200" cap="none" spc="0" normalizeH="0" baseline="0" noProof="0">
                              <a:ln>
                                <a:noFill/>
                              </a:ln>
                              <a:solidFill>
                                <a:prstClr val="black"/>
                              </a:solidFill>
                              <a:effectLst/>
                              <a:uLnTx/>
                              <a:uFillTx/>
                              <a:latin typeface="Cambria Math" panose="02040503050406030204" pitchFamily="18" charset="0"/>
                              <a:cs typeface="+mn-cs"/>
                            </a:rPr>
                            <m:t>𝑍</m:t>
                          </m:r>
                        </m:e>
                        <m:sub>
                          <m:r>
                            <a:rPr kumimoji="0" lang="zh-CN" altLang="en-US" sz="3200" b="0" i="0" u="none" strike="noStrike" kern="1200" cap="none" spc="0" normalizeH="0" baseline="0" noProof="0">
                              <a:ln>
                                <a:noFill/>
                              </a:ln>
                              <a:solidFill>
                                <a:prstClr val="black"/>
                              </a:solidFill>
                              <a:effectLst/>
                              <a:uLnTx/>
                              <a:uFillTx/>
                              <a:latin typeface="Cambria Math" panose="02040503050406030204" pitchFamily="18" charset="0"/>
                              <a:cs typeface="+mn-cs"/>
                            </a:rPr>
                            <m:t>2</m:t>
                          </m:r>
                        </m:sub>
                      </m:sSub>
                      <m:r>
                        <a:rPr kumimoji="0" lang="zh-CN" altLang="en-US" sz="3200" b="0" i="0"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en-US" sz="3200" b="0" i="1" u="none" strike="noStrike" kern="1200" cap="none" spc="0" normalizeH="0" baseline="0" noProof="0">
                              <a:ln>
                                <a:noFill/>
                              </a:ln>
                              <a:solidFill>
                                <a:srgbClr val="836967"/>
                              </a:solidFill>
                              <a:effectLst/>
                              <a:uLnTx/>
                              <a:uFillTx/>
                              <a:latin typeface="Cambria Math" panose="02040503050406030204" pitchFamily="18" charset="0"/>
                              <a:cs typeface="+mn-cs"/>
                            </a:rPr>
                          </m:ctrlPr>
                        </m:sSubPr>
                        <m:e>
                          <m:r>
                            <a:rPr kumimoji="0" lang="zh-CN" altLang="en-US" sz="3200" b="0" i="1" u="none" strike="noStrike" kern="1200" cap="none" spc="0" normalizeH="0" baseline="0" noProof="0">
                              <a:ln>
                                <a:noFill/>
                              </a:ln>
                              <a:solidFill>
                                <a:prstClr val="black"/>
                              </a:solidFill>
                              <a:effectLst/>
                              <a:uLnTx/>
                              <a:uFillTx/>
                              <a:latin typeface="Cambria Math" panose="02040503050406030204" pitchFamily="18" charset="0"/>
                              <a:cs typeface="+mn-cs"/>
                            </a:rPr>
                            <m:t>𝑍</m:t>
                          </m:r>
                        </m:e>
                        <m:sub>
                          <m:r>
                            <a:rPr kumimoji="0" lang="zh-CN" altLang="en-US" sz="3200" b="0" i="1" u="none" strike="noStrike" kern="1200" cap="none" spc="0" normalizeH="0" baseline="0" noProof="0">
                              <a:ln>
                                <a:noFill/>
                              </a:ln>
                              <a:solidFill>
                                <a:prstClr val="black"/>
                              </a:solidFill>
                              <a:effectLst/>
                              <a:uLnTx/>
                              <a:uFillTx/>
                              <a:latin typeface="Cambria Math" panose="02040503050406030204" pitchFamily="18" charset="0"/>
                              <a:cs typeface="+mn-cs"/>
                            </a:rPr>
                            <m:t>𝑁</m:t>
                          </m:r>
                        </m:sub>
                      </m:sSub>
                    </m:oMath>
                  </m:oMathPara>
                </a14:m>
                <a:endParaRPr lang="zh-CN" altLang="en-US" dirty="0"/>
              </a:p>
            </p:txBody>
          </p:sp>
        </mc:Choice>
        <mc:Fallback xmlns="">
          <p:sp>
            <p:nvSpPr>
              <p:cNvPr id="7" name="文本框 6">
                <a:extLst>
                  <a:ext uri="{FF2B5EF4-FFF2-40B4-BE49-F238E27FC236}">
                    <a16:creationId xmlns:a16="http://schemas.microsoft.com/office/drawing/2014/main" id="{0385ACC8-7040-4320-9C9C-3236954C3A61}"/>
                  </a:ext>
                </a:extLst>
              </p:cNvPr>
              <p:cNvSpPr txBox="1">
                <a:spLocks noRot="1" noChangeAspect="1" noMove="1" noResize="1" noEditPoints="1" noAdjustHandles="1" noChangeArrowheads="1" noChangeShapeType="1" noTextEdit="1"/>
              </p:cNvSpPr>
              <p:nvPr/>
            </p:nvSpPr>
            <p:spPr>
              <a:xfrm>
                <a:off x="4797025" y="998730"/>
                <a:ext cx="2260599" cy="584775"/>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3A135A0-1D3D-45FF-BD2B-C697ADE3B5D2}"/>
                  </a:ext>
                </a:extLst>
              </p:cNvPr>
              <p:cNvSpPr txBox="1"/>
              <p:nvPr/>
            </p:nvSpPr>
            <p:spPr>
              <a:xfrm>
                <a:off x="7938520" y="1589660"/>
                <a:ext cx="550409"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3200" i="1" smtClean="0">
                              <a:solidFill>
                                <a:srgbClr val="836967"/>
                              </a:solidFill>
                              <a:latin typeface="Cambria Math" panose="02040503050406030204" pitchFamily="18" charset="0"/>
                            </a:rPr>
                          </m:ctrlPr>
                        </m:accPr>
                        <m:e>
                          <m:r>
                            <a:rPr lang="zh-CN" altLang="en-US" sz="3200" i="1">
                              <a:latin typeface="Cambria Math" panose="02040503050406030204" pitchFamily="18" charset="0"/>
                            </a:rPr>
                            <m:t>𝑝</m:t>
                          </m:r>
                        </m:e>
                      </m:acc>
                    </m:oMath>
                  </m:oMathPara>
                </a14:m>
                <a:endParaRPr lang="zh-CN" altLang="en-US" dirty="0"/>
              </a:p>
            </p:txBody>
          </p:sp>
        </mc:Choice>
        <mc:Fallback xmlns="">
          <p:sp>
            <p:nvSpPr>
              <p:cNvPr id="8" name="文本框 7">
                <a:extLst>
                  <a:ext uri="{FF2B5EF4-FFF2-40B4-BE49-F238E27FC236}">
                    <a16:creationId xmlns:a16="http://schemas.microsoft.com/office/drawing/2014/main" id="{D3A135A0-1D3D-45FF-BD2B-C697ADE3B5D2}"/>
                  </a:ext>
                </a:extLst>
              </p:cNvPr>
              <p:cNvSpPr txBox="1">
                <a:spLocks noRot="1" noChangeAspect="1" noMove="1" noResize="1" noEditPoints="1" noAdjustHandles="1" noChangeArrowheads="1" noChangeShapeType="1" noTextEdit="1"/>
              </p:cNvSpPr>
              <p:nvPr/>
            </p:nvSpPr>
            <p:spPr>
              <a:xfrm>
                <a:off x="7938520" y="1589660"/>
                <a:ext cx="550409" cy="584775"/>
              </a:xfrm>
              <a:prstGeom prst="rect">
                <a:avLst/>
              </a:prstGeom>
              <a:blipFill>
                <a:blip r:embed="rId3"/>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7808D463-426F-40EA-BA91-A9989902FA6B}"/>
                  </a:ext>
                </a:extLst>
              </p:cNvPr>
              <p:cNvSpPr txBox="1"/>
              <p:nvPr/>
            </p:nvSpPr>
            <p:spPr>
              <a:xfrm>
                <a:off x="2496073" y="3569215"/>
                <a:ext cx="3205704" cy="598369"/>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3200" i="1" smtClean="0">
                              <a:solidFill>
                                <a:srgbClr val="836967"/>
                              </a:solidFill>
                              <a:latin typeface="Cambria Math" panose="02040503050406030204" pitchFamily="18" charset="0"/>
                            </a:rPr>
                          </m:ctrlPr>
                        </m:accPr>
                        <m:e>
                          <m:r>
                            <a:rPr lang="zh-CN" altLang="en-US" sz="3200" i="1">
                              <a:latin typeface="Cambria Math" panose="02040503050406030204" pitchFamily="18" charset="0"/>
                            </a:rPr>
                            <m:t>𝐼</m:t>
                          </m:r>
                        </m:e>
                      </m:acc>
                      <m:r>
                        <a:rPr lang="zh-CN" altLang="en-US" sz="3200" i="0">
                          <a:latin typeface="Cambria Math" panose="02040503050406030204" pitchFamily="18" charset="0"/>
                        </a:rPr>
                        <m:t>=</m:t>
                      </m:r>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𝑝</m:t>
                          </m:r>
                        </m:e>
                      </m:acc>
                      <m:r>
                        <a:rPr lang="zh-CN" altLang="en-US" sz="3200" i="1">
                          <a:latin typeface="Cambria Math" panose="02040503050406030204" pitchFamily="18" charset="0"/>
                        </a:rPr>
                        <m:t>𝑀</m:t>
                      </m:r>
                      <m:d>
                        <m:dPr>
                          <m:ctrlPr>
                            <a:rPr lang="zh-CN" altLang="en-US" sz="3200" i="1">
                              <a:latin typeface="Cambria Math" panose="02040503050406030204" pitchFamily="18" charset="0"/>
                            </a:rPr>
                          </m:ctrlPr>
                        </m:dPr>
                        <m:e>
                          <m:r>
                            <a:rPr lang="zh-CN" altLang="en-US" sz="3200" i="1">
                              <a:latin typeface="Cambria Math" panose="02040503050406030204" pitchFamily="18" charset="0"/>
                            </a:rPr>
                            <m:t>𝑏</m:t>
                          </m:r>
                          <m:r>
                            <a:rPr lang="zh-CN" altLang="en-US" sz="3200" i="0">
                              <a:latin typeface="Cambria Math" panose="02040503050406030204" pitchFamily="18" charset="0"/>
                            </a:rPr>
                            <m:t>−</m:t>
                          </m:r>
                          <m:r>
                            <a:rPr lang="zh-CN" altLang="en-US" sz="3200" i="1">
                              <a:latin typeface="Cambria Math" panose="02040503050406030204" pitchFamily="18" charset="0"/>
                            </a:rPr>
                            <m:t>𝑎</m:t>
                          </m:r>
                        </m:e>
                      </m:d>
                    </m:oMath>
                  </m:oMathPara>
                </a14:m>
                <a:endParaRPr lang="zh-CN" altLang="en-US" dirty="0"/>
              </a:p>
            </p:txBody>
          </p:sp>
        </mc:Choice>
        <mc:Fallback xmlns="">
          <p:sp>
            <p:nvSpPr>
              <p:cNvPr id="10" name="文本框 9">
                <a:extLst>
                  <a:ext uri="{FF2B5EF4-FFF2-40B4-BE49-F238E27FC236}">
                    <a16:creationId xmlns:a16="http://schemas.microsoft.com/office/drawing/2014/main" id="{7808D463-426F-40EA-BA91-A9989902FA6B}"/>
                  </a:ext>
                </a:extLst>
              </p:cNvPr>
              <p:cNvSpPr txBox="1">
                <a:spLocks noRot="1" noChangeAspect="1" noMove="1" noResize="1" noEditPoints="1" noAdjustHandles="1" noChangeArrowheads="1" noChangeShapeType="1" noTextEdit="1"/>
              </p:cNvSpPr>
              <p:nvPr/>
            </p:nvSpPr>
            <p:spPr>
              <a:xfrm>
                <a:off x="2496073" y="3569215"/>
                <a:ext cx="3205704" cy="598369"/>
              </a:xfrm>
              <a:prstGeom prst="rect">
                <a:avLst/>
              </a:prstGeom>
              <a:blipFill>
                <a:blip r:embed="rId4"/>
                <a:stretch>
                  <a:fillRect/>
                </a:stretch>
              </a:blipFill>
              <a:ln w="25400">
                <a:noFill/>
              </a:ln>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266B3396-238B-4134-AF4E-C2055209BFB4}"/>
              </a:ext>
            </a:extLst>
          </p:cNvPr>
          <p:cNvSpPr txBox="1"/>
          <p:nvPr/>
        </p:nvSpPr>
        <p:spPr>
          <a:xfrm>
            <a:off x="6627806" y="3561930"/>
            <a:ext cx="1304808"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Times New Roman"/>
                <a:ea typeface="宋体" panose="02010600030101010101" pitchFamily="2" charset="-122"/>
                <a:cs typeface="+mn-cs"/>
              </a:rPr>
              <a:t>(11.2)</a:t>
            </a:r>
            <a:endParaRPr lang="zh-CN" altLang="en-US" dirty="0"/>
          </a:p>
        </p:txBody>
      </p:sp>
    </p:spTree>
    <p:extLst>
      <p:ext uri="{BB962C8B-B14F-4D97-AF65-F5344CB8AC3E}">
        <p14:creationId xmlns:p14="http://schemas.microsoft.com/office/powerpoint/2010/main" val="20199984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随机投点法步骤</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5875" y="998730"/>
            <a:ext cx="9159875" cy="5312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(1)</a:t>
            </a:r>
            <a:r>
              <a:rPr lang="zh-CN" altLang="en-US" sz="3200" dirty="0">
                <a:solidFill>
                  <a:srgbClr val="006699"/>
                </a:solidFill>
                <a:latin typeface="Verdana" panose="020B0604030504040204" pitchFamily="34" charset="0"/>
              </a:rPr>
              <a:t>独立地产生</a:t>
            </a:r>
            <a:r>
              <a:rPr lang="en-US" altLang="zh-CN" sz="3200" dirty="0">
                <a:solidFill>
                  <a:srgbClr val="006699"/>
                </a:solidFill>
                <a:latin typeface="Verdana" panose="020B0604030504040204" pitchFamily="34" charset="0"/>
              </a:rPr>
              <a:t>U(0,1)</a:t>
            </a:r>
            <a:r>
              <a:rPr lang="zh-CN" altLang="en-US" sz="3200" dirty="0">
                <a:solidFill>
                  <a:srgbClr val="006699"/>
                </a:solidFill>
                <a:latin typeface="Verdana" panose="020B0604030504040204" pitchFamily="34" charset="0"/>
              </a:rPr>
              <a:t>随机数</a:t>
            </a:r>
            <a:r>
              <a:rPr lang="en-US" altLang="zh-CN" sz="3200" dirty="0">
                <a:solidFill>
                  <a:srgbClr val="006699"/>
                </a:solidFill>
                <a:latin typeface="Verdana" panose="020B0604030504040204" pitchFamily="34" charset="0"/>
              </a:rPr>
              <a:t>: </a:t>
            </a:r>
          </a:p>
          <a:p>
            <a:pPr marL="0" indent="0" eaLnBrk="1" hangingPunct="1">
              <a:spcBef>
                <a:spcPct val="20000"/>
              </a:spcBef>
            </a:pPr>
            <a:r>
              <a:rPr lang="en-US" altLang="zh-CN" sz="3200" dirty="0">
                <a:solidFill>
                  <a:srgbClr val="006699"/>
                </a:solidFill>
                <a:latin typeface="Verdana" panose="020B0604030504040204" pitchFamily="34" charset="0"/>
              </a:rPr>
              <a:t>                  u</a:t>
            </a:r>
            <a:r>
              <a:rPr lang="en-US" altLang="zh-CN" sz="3200" baseline="-25000" dirty="0">
                <a:solidFill>
                  <a:srgbClr val="006699"/>
                </a:solidFill>
                <a:latin typeface="Verdana" panose="020B0604030504040204" pitchFamily="34" charset="0"/>
              </a:rPr>
              <a:t>i</a:t>
            </a:r>
            <a:r>
              <a:rPr lang="en-US" altLang="zh-CN" sz="3200" dirty="0">
                <a:solidFill>
                  <a:srgbClr val="006699"/>
                </a:solidFill>
                <a:latin typeface="Verdana" panose="020B0604030504040204" pitchFamily="34" charset="0"/>
              </a:rPr>
              <a:t>,v</a:t>
            </a:r>
            <a:r>
              <a:rPr lang="en-US" altLang="zh-CN" sz="3200" baseline="-25000" dirty="0">
                <a:solidFill>
                  <a:srgbClr val="006699"/>
                </a:solidFill>
                <a:latin typeface="Verdana" panose="020B0604030504040204" pitchFamily="34" charset="0"/>
              </a:rPr>
              <a:t>i</a:t>
            </a:r>
            <a:r>
              <a:rPr lang="en-US" altLang="zh-CN" sz="3200" dirty="0">
                <a:solidFill>
                  <a:srgbClr val="006699"/>
                </a:solidFill>
                <a:latin typeface="Verdana" panose="020B0604030504040204" pitchFamily="34" charset="0"/>
              </a:rPr>
              <a:t> (i=1…,N)</a:t>
            </a: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dirty="0">
                <a:solidFill>
                  <a:srgbClr val="006699"/>
                </a:solidFill>
                <a:latin typeface="Verdana" panose="020B0604030504040204" pitchFamily="34" charset="0"/>
              </a:rPr>
              <a:t>(2)</a:t>
            </a:r>
            <a:r>
              <a:rPr lang="zh-CN" altLang="en-US" sz="3200" dirty="0">
                <a:solidFill>
                  <a:srgbClr val="006699"/>
                </a:solidFill>
                <a:latin typeface="Verdana" panose="020B0604030504040204" pitchFamily="34" charset="0"/>
              </a:rPr>
              <a:t>计算</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i</a:t>
            </a:r>
            <a:r>
              <a:rPr lang="en-US" altLang="zh-CN" sz="3200" dirty="0">
                <a:solidFill>
                  <a:srgbClr val="006699"/>
                </a:solidFill>
                <a:latin typeface="Verdana" panose="020B0604030504040204" pitchFamily="34" charset="0"/>
              </a:rPr>
              <a:t>=a+u</a:t>
            </a:r>
            <a:r>
              <a:rPr lang="en-US" altLang="zh-CN" sz="3200" baseline="-25000" dirty="0">
                <a:solidFill>
                  <a:srgbClr val="006699"/>
                </a:solidFill>
                <a:latin typeface="Verdana" panose="020B0604030504040204" pitchFamily="34" charset="0"/>
              </a:rPr>
              <a:t>i</a:t>
            </a:r>
            <a:r>
              <a:rPr lang="en-US" altLang="zh-CN" sz="3200" dirty="0">
                <a:solidFill>
                  <a:srgbClr val="006699"/>
                </a:solidFill>
                <a:latin typeface="Verdana" panose="020B0604030504040204" pitchFamily="34" charset="0"/>
              </a:rPr>
              <a:t>(b-a),y</a:t>
            </a:r>
            <a:r>
              <a:rPr lang="en-US" altLang="zh-CN" sz="3200" baseline="-25000" dirty="0">
                <a:solidFill>
                  <a:srgbClr val="006699"/>
                </a:solidFill>
                <a:latin typeface="Verdana" panose="020B0604030504040204" pitchFamily="34" charset="0"/>
              </a:rPr>
              <a:t>i</a:t>
            </a:r>
            <a:r>
              <a:rPr lang="en-US" altLang="zh-CN" sz="3200" dirty="0">
                <a:solidFill>
                  <a:srgbClr val="006699"/>
                </a:solidFill>
                <a:latin typeface="Verdana" panose="020B0604030504040204" pitchFamily="34" charset="0"/>
              </a:rPr>
              <a:t>=Mv</a:t>
            </a:r>
            <a:r>
              <a:rPr lang="en-US" altLang="zh-CN" sz="3200" baseline="-25000" dirty="0">
                <a:solidFill>
                  <a:srgbClr val="006699"/>
                </a:solidFill>
                <a:latin typeface="Verdana" panose="020B0604030504040204" pitchFamily="34" charset="0"/>
              </a:rPr>
              <a:t>i</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和</a:t>
            </a:r>
            <a:r>
              <a:rPr lang="en-US" altLang="zh-CN" sz="3200" dirty="0">
                <a:solidFill>
                  <a:srgbClr val="006699"/>
                </a:solidFill>
                <a:latin typeface="Verdana" panose="020B0604030504040204" pitchFamily="34" charset="0"/>
              </a:rPr>
              <a:t>f(x)</a:t>
            </a:r>
          </a:p>
          <a:p>
            <a:pPr marL="0" indent="0" eaLnBrk="1" hangingPunct="1">
              <a:spcBef>
                <a:spcPct val="20000"/>
              </a:spcBef>
            </a:pPr>
            <a:r>
              <a:rPr lang="en-US" altLang="zh-CN" sz="3200" dirty="0">
                <a:solidFill>
                  <a:srgbClr val="006699"/>
                </a:solidFill>
                <a:latin typeface="Verdana" panose="020B0604030504040204" pitchFamily="34" charset="0"/>
              </a:rPr>
              <a:t> </a:t>
            </a:r>
          </a:p>
          <a:p>
            <a:pPr marL="0" indent="0" eaLnBrk="1" hangingPunct="1">
              <a:spcBef>
                <a:spcPct val="20000"/>
              </a:spcBef>
            </a:pPr>
            <a:r>
              <a:rPr lang="en-US" altLang="zh-CN" sz="3200" dirty="0">
                <a:solidFill>
                  <a:srgbClr val="006699"/>
                </a:solidFill>
                <a:latin typeface="Verdana" panose="020B0604030504040204" pitchFamily="34" charset="0"/>
              </a:rPr>
              <a:t>(3)</a:t>
            </a:r>
            <a:r>
              <a:rPr lang="zh-CN" altLang="en-US" sz="3200" dirty="0">
                <a:solidFill>
                  <a:srgbClr val="006699"/>
                </a:solidFill>
                <a:latin typeface="Verdana" panose="020B0604030504040204" pitchFamily="34" charset="0"/>
              </a:rPr>
              <a:t>统计</a:t>
            </a:r>
            <a:r>
              <a:rPr lang="en-US" altLang="zh-CN" sz="3200" dirty="0">
                <a:solidFill>
                  <a:srgbClr val="006699"/>
                </a:solidFill>
                <a:latin typeface="Verdana" panose="020B0604030504040204" pitchFamily="34" charset="0"/>
              </a:rPr>
              <a:t>f(x</a:t>
            </a:r>
            <a:r>
              <a:rPr lang="en-US" altLang="zh-CN" sz="3200" baseline="-25000" dirty="0">
                <a:solidFill>
                  <a:srgbClr val="006699"/>
                </a:solidFill>
                <a:latin typeface="Verdana" panose="020B0604030504040204" pitchFamily="34" charset="0"/>
              </a:rPr>
              <a:t>i</a:t>
            </a:r>
            <a:r>
              <a:rPr lang="en-US" altLang="zh-CN" sz="3200" dirty="0">
                <a:solidFill>
                  <a:srgbClr val="006699"/>
                </a:solidFill>
                <a:latin typeface="Verdana" panose="020B0604030504040204" pitchFamily="34" charset="0"/>
              </a:rPr>
              <a:t>)≥y</a:t>
            </a:r>
            <a:r>
              <a:rPr lang="en-US" altLang="zh-CN" sz="3200" baseline="-25000" dirty="0">
                <a:solidFill>
                  <a:srgbClr val="006699"/>
                </a:solidFill>
                <a:latin typeface="Verdana" panose="020B0604030504040204" pitchFamily="34" charset="0"/>
              </a:rPr>
              <a:t>i</a:t>
            </a:r>
            <a:r>
              <a:rPr lang="zh-CN" altLang="en-US" sz="3200" dirty="0">
                <a:solidFill>
                  <a:srgbClr val="006699"/>
                </a:solidFill>
                <a:latin typeface="Verdana" panose="020B0604030504040204" pitchFamily="34" charset="0"/>
              </a:rPr>
              <a:t>的个数</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计算</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dirty="0">
                <a:solidFill>
                  <a:srgbClr val="006699"/>
                </a:solidFill>
                <a:latin typeface="Verdana" panose="020B0604030504040204" pitchFamily="34" charset="0"/>
              </a:rPr>
              <a:t>(4)</a:t>
            </a:r>
            <a:r>
              <a:rPr lang="zh-CN" altLang="en-US" sz="3200" dirty="0">
                <a:solidFill>
                  <a:srgbClr val="006699"/>
                </a:solidFill>
                <a:latin typeface="Verdana" panose="020B0604030504040204" pitchFamily="34" charset="0"/>
              </a:rPr>
              <a:t>用</a:t>
            </a:r>
            <a:r>
              <a:rPr lang="en-US" altLang="zh-CN" sz="3200" dirty="0">
                <a:solidFill>
                  <a:srgbClr val="006699"/>
                </a:solidFill>
                <a:latin typeface="Verdana" panose="020B0604030504040204" pitchFamily="34" charset="0"/>
              </a:rPr>
              <a:t>(11.2)</a:t>
            </a:r>
            <a:r>
              <a:rPr lang="zh-CN" altLang="en-US" sz="3200" dirty="0">
                <a:solidFill>
                  <a:srgbClr val="006699"/>
                </a:solidFill>
                <a:latin typeface="Verdana" panose="020B0604030504040204" pitchFamily="34" charset="0"/>
              </a:rPr>
              <a:t>估计</a:t>
            </a:r>
            <a:r>
              <a:rPr lang="en-US" altLang="zh-CN" sz="3200" dirty="0">
                <a:solidFill>
                  <a:srgbClr val="006699"/>
                </a:solidFill>
                <a:latin typeface="Verdana" panose="020B0604030504040204" pitchFamily="34" charset="0"/>
              </a:rPr>
              <a:t>I</a:t>
            </a:r>
            <a:r>
              <a:rPr lang="el-GR" altLang="zh-CN" sz="3200" dirty="0">
                <a:solidFill>
                  <a:srgbClr val="006699"/>
                </a:solidFill>
                <a:latin typeface="Verdana" panose="020B0604030504040204" pitchFamily="34" charset="0"/>
              </a:rPr>
              <a:t>.</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mn-lt"/>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30</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3A135A0-1D3D-45FF-BD2B-C697ADE3B5D2}"/>
                  </a:ext>
                </a:extLst>
              </p:cNvPr>
              <p:cNvSpPr txBox="1"/>
              <p:nvPr/>
            </p:nvSpPr>
            <p:spPr>
              <a:xfrm>
                <a:off x="5112059" y="3924055"/>
                <a:ext cx="550409"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3200" i="1" smtClean="0">
                              <a:solidFill>
                                <a:srgbClr val="836967"/>
                              </a:solidFill>
                              <a:latin typeface="Cambria Math" panose="02040503050406030204" pitchFamily="18" charset="0"/>
                            </a:rPr>
                          </m:ctrlPr>
                        </m:accPr>
                        <m:e>
                          <m:r>
                            <a:rPr lang="zh-CN" altLang="en-US" sz="3200" i="1">
                              <a:latin typeface="Cambria Math" panose="02040503050406030204" pitchFamily="18" charset="0"/>
                            </a:rPr>
                            <m:t>𝑝</m:t>
                          </m:r>
                        </m:e>
                      </m:acc>
                    </m:oMath>
                  </m:oMathPara>
                </a14:m>
                <a:endParaRPr lang="zh-CN" altLang="en-US" dirty="0"/>
              </a:p>
            </p:txBody>
          </p:sp>
        </mc:Choice>
        <mc:Fallback xmlns="">
          <p:sp>
            <p:nvSpPr>
              <p:cNvPr id="8" name="文本框 7">
                <a:extLst>
                  <a:ext uri="{FF2B5EF4-FFF2-40B4-BE49-F238E27FC236}">
                    <a16:creationId xmlns:a16="http://schemas.microsoft.com/office/drawing/2014/main" id="{D3A135A0-1D3D-45FF-BD2B-C697ADE3B5D2}"/>
                  </a:ext>
                </a:extLst>
              </p:cNvPr>
              <p:cNvSpPr txBox="1">
                <a:spLocks noRot="1" noChangeAspect="1" noMove="1" noResize="1" noEditPoints="1" noAdjustHandles="1" noChangeArrowheads="1" noChangeShapeType="1" noTextEdit="1"/>
              </p:cNvSpPr>
              <p:nvPr/>
            </p:nvSpPr>
            <p:spPr>
              <a:xfrm>
                <a:off x="5112059" y="3924055"/>
                <a:ext cx="550409" cy="584775"/>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7808D463-426F-40EA-BA91-A9989902FA6B}"/>
                  </a:ext>
                </a:extLst>
              </p:cNvPr>
              <p:cNvSpPr txBox="1"/>
              <p:nvPr/>
            </p:nvSpPr>
            <p:spPr>
              <a:xfrm>
                <a:off x="2181560" y="5575646"/>
                <a:ext cx="3205704" cy="598369"/>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3200" i="1" smtClean="0">
                              <a:solidFill>
                                <a:srgbClr val="836967"/>
                              </a:solidFill>
                              <a:latin typeface="Cambria Math" panose="02040503050406030204" pitchFamily="18" charset="0"/>
                            </a:rPr>
                          </m:ctrlPr>
                        </m:accPr>
                        <m:e>
                          <m:r>
                            <a:rPr lang="zh-CN" altLang="en-US" sz="3200" i="1">
                              <a:latin typeface="Cambria Math" panose="02040503050406030204" pitchFamily="18" charset="0"/>
                            </a:rPr>
                            <m:t>𝐼</m:t>
                          </m:r>
                        </m:e>
                      </m:acc>
                      <m:r>
                        <a:rPr lang="zh-CN" altLang="en-US" sz="3200" i="0">
                          <a:latin typeface="Cambria Math" panose="02040503050406030204" pitchFamily="18" charset="0"/>
                        </a:rPr>
                        <m:t>=</m:t>
                      </m:r>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𝑝</m:t>
                          </m:r>
                        </m:e>
                      </m:acc>
                      <m:r>
                        <a:rPr lang="zh-CN" altLang="en-US" sz="3200" i="1">
                          <a:latin typeface="Cambria Math" panose="02040503050406030204" pitchFamily="18" charset="0"/>
                        </a:rPr>
                        <m:t>𝑀</m:t>
                      </m:r>
                      <m:d>
                        <m:dPr>
                          <m:ctrlPr>
                            <a:rPr lang="zh-CN" altLang="en-US" sz="3200" i="1">
                              <a:latin typeface="Cambria Math" panose="02040503050406030204" pitchFamily="18" charset="0"/>
                            </a:rPr>
                          </m:ctrlPr>
                        </m:dPr>
                        <m:e>
                          <m:r>
                            <a:rPr lang="zh-CN" altLang="en-US" sz="3200" i="1">
                              <a:latin typeface="Cambria Math" panose="02040503050406030204" pitchFamily="18" charset="0"/>
                            </a:rPr>
                            <m:t>𝑏</m:t>
                          </m:r>
                          <m:r>
                            <a:rPr lang="zh-CN" altLang="en-US" sz="3200" i="0">
                              <a:latin typeface="Cambria Math" panose="02040503050406030204" pitchFamily="18" charset="0"/>
                            </a:rPr>
                            <m:t>−</m:t>
                          </m:r>
                          <m:r>
                            <a:rPr lang="zh-CN" altLang="en-US" sz="3200" i="1">
                              <a:latin typeface="Cambria Math" panose="02040503050406030204" pitchFamily="18" charset="0"/>
                            </a:rPr>
                            <m:t>𝑎</m:t>
                          </m:r>
                        </m:e>
                      </m:d>
                    </m:oMath>
                  </m:oMathPara>
                </a14:m>
                <a:endParaRPr lang="zh-CN" altLang="en-US" dirty="0"/>
              </a:p>
            </p:txBody>
          </p:sp>
        </mc:Choice>
        <mc:Fallback xmlns="">
          <p:sp>
            <p:nvSpPr>
              <p:cNvPr id="10" name="文本框 9">
                <a:extLst>
                  <a:ext uri="{FF2B5EF4-FFF2-40B4-BE49-F238E27FC236}">
                    <a16:creationId xmlns:a16="http://schemas.microsoft.com/office/drawing/2014/main" id="{7808D463-426F-40EA-BA91-A9989902FA6B}"/>
                  </a:ext>
                </a:extLst>
              </p:cNvPr>
              <p:cNvSpPr txBox="1">
                <a:spLocks noRot="1" noChangeAspect="1" noMove="1" noResize="1" noEditPoints="1" noAdjustHandles="1" noChangeArrowheads="1" noChangeShapeType="1" noTextEdit="1"/>
              </p:cNvSpPr>
              <p:nvPr/>
            </p:nvSpPr>
            <p:spPr>
              <a:xfrm>
                <a:off x="2181560" y="5575646"/>
                <a:ext cx="3205704" cy="598369"/>
              </a:xfrm>
              <a:prstGeom prst="rect">
                <a:avLst/>
              </a:prstGeom>
              <a:blipFill>
                <a:blip r:embed="rId3"/>
                <a:stretch>
                  <a:fillRect/>
                </a:stretch>
              </a:blipFill>
              <a:ln w="25400">
                <a:noFill/>
              </a:ln>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266B3396-238B-4134-AF4E-C2055209BFB4}"/>
              </a:ext>
            </a:extLst>
          </p:cNvPr>
          <p:cNvSpPr txBox="1"/>
          <p:nvPr/>
        </p:nvSpPr>
        <p:spPr>
          <a:xfrm>
            <a:off x="5646869" y="5566882"/>
            <a:ext cx="1304808"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Times New Roman"/>
                <a:ea typeface="宋体" panose="02010600030101010101" pitchFamily="2" charset="-122"/>
                <a:cs typeface="+mn-cs"/>
              </a:rPr>
              <a:t>(11.2)</a:t>
            </a:r>
            <a:endParaRPr lang="zh-CN" altLang="en-US" dirty="0"/>
          </a:p>
        </p:txBody>
      </p:sp>
    </p:spTree>
    <p:extLst>
      <p:ext uri="{BB962C8B-B14F-4D97-AF65-F5344CB8AC3E}">
        <p14:creationId xmlns:p14="http://schemas.microsoft.com/office/powerpoint/2010/main" val="2802349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3.2.1 </a:t>
            </a:r>
            <a:r>
              <a:rPr lang="zh-CN" altLang="en-US" dirty="0"/>
              <a:t>随机投点法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5875" y="998730"/>
            <a:ext cx="91598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由强大数律可知</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31</a:t>
            </a:fld>
            <a:endParaRPr lang="zh-CN" altLang="en-US">
              <a:solidFill>
                <a:srgbClr val="898989"/>
              </a:solidFill>
            </a:endParaRPr>
          </a:p>
        </p:txBody>
      </p:sp>
      <p:pic>
        <p:nvPicPr>
          <p:cNvPr id="4" name="图片 3">
            <a:extLst>
              <a:ext uri="{FF2B5EF4-FFF2-40B4-BE49-F238E27FC236}">
                <a16:creationId xmlns:a16="http://schemas.microsoft.com/office/drawing/2014/main" id="{09649A7A-76CE-4F0A-A93C-6083EB417B26}"/>
              </a:ext>
            </a:extLst>
          </p:cNvPr>
          <p:cNvPicPr>
            <a:picLocks noChangeAspect="1"/>
          </p:cNvPicPr>
          <p:nvPr/>
        </p:nvPicPr>
        <p:blipFill>
          <a:blip r:embed="rId2"/>
          <a:stretch>
            <a:fillRect/>
          </a:stretch>
        </p:blipFill>
        <p:spPr>
          <a:xfrm>
            <a:off x="602957" y="1721696"/>
            <a:ext cx="3969043" cy="978668"/>
          </a:xfrm>
          <a:prstGeom prst="rect">
            <a:avLst/>
          </a:prstGeom>
        </p:spPr>
      </p:pic>
      <p:pic>
        <p:nvPicPr>
          <p:cNvPr id="9" name="图片 8">
            <a:extLst>
              <a:ext uri="{FF2B5EF4-FFF2-40B4-BE49-F238E27FC236}">
                <a16:creationId xmlns:a16="http://schemas.microsoft.com/office/drawing/2014/main" id="{8CA1DD90-EDE2-4A8D-8C26-471CE4184AB9}"/>
              </a:ext>
            </a:extLst>
          </p:cNvPr>
          <p:cNvPicPr>
            <a:picLocks noChangeAspect="1"/>
          </p:cNvPicPr>
          <p:nvPr/>
        </p:nvPicPr>
        <p:blipFill>
          <a:blip r:embed="rId3"/>
          <a:stretch>
            <a:fillRect/>
          </a:stretch>
        </p:blipFill>
        <p:spPr>
          <a:xfrm>
            <a:off x="541683" y="2851903"/>
            <a:ext cx="7671215" cy="675590"/>
          </a:xfrm>
          <a:prstGeom prst="rect">
            <a:avLst/>
          </a:prstGeom>
        </p:spPr>
      </p:pic>
      <p:sp>
        <p:nvSpPr>
          <p:cNvPr id="8" name="文本框 7">
            <a:extLst>
              <a:ext uri="{FF2B5EF4-FFF2-40B4-BE49-F238E27FC236}">
                <a16:creationId xmlns:a16="http://schemas.microsoft.com/office/drawing/2014/main" id="{08D751D5-0F3B-4470-90C3-743947F48802}"/>
              </a:ext>
            </a:extLst>
          </p:cNvPr>
          <p:cNvSpPr txBox="1"/>
          <p:nvPr/>
        </p:nvSpPr>
        <p:spPr>
          <a:xfrm>
            <a:off x="1466655" y="3968762"/>
            <a:ext cx="4690532"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时，精度可以无限地提高</a:t>
            </a:r>
            <a:endParaRPr lang="zh-CN" altLang="en-US" dirty="0"/>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D292FB7-1556-4704-9684-4D5F587610E2}"/>
                  </a:ext>
                </a:extLst>
              </p:cNvPr>
              <p:cNvSpPr txBox="1"/>
              <p:nvPr/>
            </p:nvSpPr>
            <p:spPr>
              <a:xfrm>
                <a:off x="122561" y="3999539"/>
                <a:ext cx="1360499" cy="523220"/>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𝑁</m:t>
                      </m:r>
                      <m:r>
                        <a:rPr lang="zh-CN" altLang="en-US" sz="2800" i="0">
                          <a:latin typeface="Cambria Math" panose="02040503050406030204" pitchFamily="18" charset="0"/>
                        </a:rPr>
                        <m:t>→∞</m:t>
                      </m:r>
                    </m:oMath>
                  </m:oMathPara>
                </a14:m>
                <a:endParaRPr lang="zh-CN" altLang="en-US" dirty="0"/>
              </a:p>
            </p:txBody>
          </p:sp>
        </mc:Choice>
        <mc:Fallback xmlns="">
          <p:sp>
            <p:nvSpPr>
              <p:cNvPr id="10" name="文本框 9">
                <a:extLst>
                  <a:ext uri="{FF2B5EF4-FFF2-40B4-BE49-F238E27FC236}">
                    <a16:creationId xmlns:a16="http://schemas.microsoft.com/office/drawing/2014/main" id="{9D292FB7-1556-4704-9684-4D5F587610E2}"/>
                  </a:ext>
                </a:extLst>
              </p:cNvPr>
              <p:cNvSpPr txBox="1">
                <a:spLocks noRot="1" noChangeAspect="1" noMove="1" noResize="1" noEditPoints="1" noAdjustHandles="1" noChangeArrowheads="1" noChangeShapeType="1" noTextEdit="1"/>
              </p:cNvSpPr>
              <p:nvPr/>
            </p:nvSpPr>
            <p:spPr>
              <a:xfrm>
                <a:off x="122561" y="3999539"/>
                <a:ext cx="1360499" cy="523220"/>
              </a:xfrm>
              <a:prstGeom prst="rect">
                <a:avLst/>
              </a:prstGeom>
              <a:blipFill>
                <a:blip r:embed="rId4"/>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13716452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3.2.1 </a:t>
            </a:r>
            <a:r>
              <a:rPr lang="zh-CN" altLang="en-US" dirty="0"/>
              <a:t>随机投点法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5875" y="2115685"/>
            <a:ext cx="91598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由中心极限定理可知</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32</a:t>
            </a:fld>
            <a:endParaRPr lang="zh-CN" altLang="en-US">
              <a:solidFill>
                <a:srgbClr val="898989"/>
              </a:solidFill>
            </a:endParaRPr>
          </a:p>
        </p:txBody>
      </p:sp>
      <p:pic>
        <p:nvPicPr>
          <p:cNvPr id="15" name="图片 14">
            <a:extLst>
              <a:ext uri="{FF2B5EF4-FFF2-40B4-BE49-F238E27FC236}">
                <a16:creationId xmlns:a16="http://schemas.microsoft.com/office/drawing/2014/main" id="{29F06CCD-B2C4-4C00-8156-7212DE90DCD8}"/>
              </a:ext>
            </a:extLst>
          </p:cNvPr>
          <p:cNvPicPr>
            <a:picLocks noChangeAspect="1"/>
          </p:cNvPicPr>
          <p:nvPr/>
        </p:nvPicPr>
        <p:blipFill>
          <a:blip r:embed="rId2"/>
          <a:stretch>
            <a:fillRect/>
          </a:stretch>
        </p:blipFill>
        <p:spPr>
          <a:xfrm>
            <a:off x="718390" y="2846697"/>
            <a:ext cx="6432525" cy="584775"/>
          </a:xfrm>
          <a:prstGeom prst="rect">
            <a:avLst/>
          </a:prstGeom>
        </p:spPr>
      </p:pic>
      <p:sp>
        <p:nvSpPr>
          <p:cNvPr id="23" name="文本框 22">
            <a:extLst>
              <a:ext uri="{FF2B5EF4-FFF2-40B4-BE49-F238E27FC236}">
                <a16:creationId xmlns:a16="http://schemas.microsoft.com/office/drawing/2014/main" id="{539CF08B-8B92-4859-B5AE-3C8830D58F02}"/>
              </a:ext>
            </a:extLst>
          </p:cNvPr>
          <p:cNvSpPr txBox="1"/>
          <p:nvPr/>
        </p:nvSpPr>
        <p:spPr>
          <a:xfrm>
            <a:off x="7561321" y="3579918"/>
            <a:ext cx="1304808"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Times New Roman"/>
                <a:ea typeface="宋体" panose="02010600030101010101" pitchFamily="2" charset="-122"/>
                <a:cs typeface="+mn-cs"/>
              </a:rPr>
              <a:t>(11.3)</a:t>
            </a:r>
            <a:endParaRPr lang="zh-CN" altLang="en-US" dirty="0"/>
          </a:p>
        </p:txBody>
      </p:sp>
      <p:sp>
        <p:nvSpPr>
          <p:cNvPr id="25" name="文本框 24">
            <a:extLst>
              <a:ext uri="{FF2B5EF4-FFF2-40B4-BE49-F238E27FC236}">
                <a16:creationId xmlns:a16="http://schemas.microsoft.com/office/drawing/2014/main" id="{3CD1A490-15BB-428F-BB75-36A245D10F24}"/>
              </a:ext>
            </a:extLst>
          </p:cNvPr>
          <p:cNvSpPr txBox="1"/>
          <p:nvPr/>
        </p:nvSpPr>
        <p:spPr>
          <a:xfrm>
            <a:off x="55281" y="4148407"/>
            <a:ext cx="6120680" cy="584775"/>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当</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N</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很大时，  近似服从分布</a:t>
            </a:r>
            <a:endParaRPr lang="zh-CN" altLang="en-US" dirty="0"/>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332FAA36-A982-4E57-9368-F8027A127980}"/>
                  </a:ext>
                </a:extLst>
              </p:cNvPr>
              <p:cNvSpPr txBox="1"/>
              <p:nvPr/>
            </p:nvSpPr>
            <p:spPr>
              <a:xfrm>
                <a:off x="2655222" y="4164693"/>
                <a:ext cx="460399" cy="598369"/>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3200" i="1" smtClean="0">
                              <a:solidFill>
                                <a:srgbClr val="836967"/>
                              </a:solidFill>
                              <a:latin typeface="Cambria Math" panose="02040503050406030204" pitchFamily="18" charset="0"/>
                            </a:rPr>
                          </m:ctrlPr>
                        </m:accPr>
                        <m:e>
                          <m:r>
                            <a:rPr lang="zh-CN" altLang="en-US" sz="3200" i="1">
                              <a:latin typeface="Cambria Math" panose="02040503050406030204" pitchFamily="18" charset="0"/>
                            </a:rPr>
                            <m:t>𝐼</m:t>
                          </m:r>
                        </m:e>
                      </m:acc>
                    </m:oMath>
                  </m:oMathPara>
                </a14:m>
                <a:endParaRPr lang="zh-CN" altLang="en-US" sz="3200" dirty="0"/>
              </a:p>
            </p:txBody>
          </p:sp>
        </mc:Choice>
        <mc:Fallback xmlns="">
          <p:sp>
            <p:nvSpPr>
              <p:cNvPr id="27" name="文本框 26">
                <a:extLst>
                  <a:ext uri="{FF2B5EF4-FFF2-40B4-BE49-F238E27FC236}">
                    <a16:creationId xmlns:a16="http://schemas.microsoft.com/office/drawing/2014/main" id="{332FAA36-A982-4E57-9368-F8027A127980}"/>
                  </a:ext>
                </a:extLst>
              </p:cNvPr>
              <p:cNvSpPr txBox="1">
                <a:spLocks noRot="1" noChangeAspect="1" noMove="1" noResize="1" noEditPoints="1" noAdjustHandles="1" noChangeArrowheads="1" noChangeShapeType="1" noTextEdit="1"/>
              </p:cNvSpPr>
              <p:nvPr/>
            </p:nvSpPr>
            <p:spPr>
              <a:xfrm>
                <a:off x="2655222" y="4164693"/>
                <a:ext cx="460399" cy="598369"/>
              </a:xfrm>
              <a:prstGeom prst="rect">
                <a:avLst/>
              </a:prstGeom>
              <a:blipFill>
                <a:blip r:embed="rId4"/>
                <a:stretch>
                  <a:fillRect/>
                </a:stretch>
              </a:blipFill>
              <a:ln w="25400">
                <a:noFill/>
              </a:ln>
            </p:spPr>
            <p:txBody>
              <a:bodyPr/>
              <a:lstStyle/>
              <a:p>
                <a:r>
                  <a:rPr lang="zh-CN" altLang="en-US">
                    <a:noFill/>
                  </a:rPr>
                  <a:t> </a:t>
                </a:r>
              </a:p>
            </p:txBody>
          </p:sp>
        </mc:Fallback>
      </mc:AlternateContent>
      <p:pic>
        <p:nvPicPr>
          <p:cNvPr id="28" name="图片 27">
            <a:extLst>
              <a:ext uri="{FF2B5EF4-FFF2-40B4-BE49-F238E27FC236}">
                <a16:creationId xmlns:a16="http://schemas.microsoft.com/office/drawing/2014/main" id="{DD04376E-9A8F-4B8C-B54F-5BBE6C9A6BCE}"/>
              </a:ext>
            </a:extLst>
          </p:cNvPr>
          <p:cNvPicPr>
            <a:picLocks noChangeAspect="1"/>
          </p:cNvPicPr>
          <p:nvPr/>
        </p:nvPicPr>
        <p:blipFill>
          <a:blip r:embed="rId5"/>
          <a:stretch>
            <a:fillRect/>
          </a:stretch>
        </p:blipFill>
        <p:spPr>
          <a:xfrm>
            <a:off x="2036325" y="4645832"/>
            <a:ext cx="4516875" cy="584774"/>
          </a:xfrm>
          <a:prstGeom prst="rect">
            <a:avLst/>
          </a:prstGeom>
        </p:spPr>
      </p:pic>
      <p:sp>
        <p:nvSpPr>
          <p:cNvPr id="35" name="文本框 34">
            <a:extLst>
              <a:ext uri="{FF2B5EF4-FFF2-40B4-BE49-F238E27FC236}">
                <a16:creationId xmlns:a16="http://schemas.microsoft.com/office/drawing/2014/main" id="{234A5FE2-0E84-4D3C-B47A-3E1D22228D62}"/>
              </a:ext>
            </a:extLst>
          </p:cNvPr>
          <p:cNvSpPr txBox="1"/>
          <p:nvPr/>
        </p:nvSpPr>
        <p:spPr>
          <a:xfrm>
            <a:off x="108262" y="5171806"/>
            <a:ext cx="4690532" cy="1077218"/>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称此近似分布的方差</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r>
              <a:rPr lang="zh-CN" altLang="en-US" sz="3200" dirty="0">
                <a:solidFill>
                  <a:srgbClr val="006699"/>
                </a:solidFill>
                <a:latin typeface="Verdana" panose="020B0604030504040204" pitchFamily="34" charset="0"/>
              </a:rPr>
              <a:t>为</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的</a:t>
            </a:r>
            <a:r>
              <a:rPr lang="zh-CN" altLang="en-US" sz="3200" b="1" dirty="0">
                <a:solidFill>
                  <a:srgbClr val="FF0000"/>
                </a:solidFill>
                <a:latin typeface="Verdana" panose="020B0604030504040204" pitchFamily="34" charset="0"/>
              </a:rPr>
              <a:t>渐近方差</a:t>
            </a:r>
          </a:p>
        </p:txBody>
      </p: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4C2B4DE0-B423-462A-9A00-6D2BECF30D30}"/>
                  </a:ext>
                </a:extLst>
              </p:cNvPr>
              <p:cNvSpPr txBox="1"/>
              <p:nvPr/>
            </p:nvSpPr>
            <p:spPr>
              <a:xfrm>
                <a:off x="652462" y="5710415"/>
                <a:ext cx="460399" cy="598369"/>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3200" i="1" smtClean="0">
                              <a:solidFill>
                                <a:srgbClr val="836967"/>
                              </a:solidFill>
                              <a:latin typeface="Cambria Math" panose="02040503050406030204" pitchFamily="18" charset="0"/>
                            </a:rPr>
                          </m:ctrlPr>
                        </m:accPr>
                        <m:e>
                          <m:r>
                            <a:rPr lang="zh-CN" altLang="en-US" sz="3200" i="1">
                              <a:latin typeface="Cambria Math" panose="02040503050406030204" pitchFamily="18" charset="0"/>
                            </a:rPr>
                            <m:t>𝐼</m:t>
                          </m:r>
                        </m:e>
                      </m:acc>
                    </m:oMath>
                  </m:oMathPara>
                </a14:m>
                <a:endParaRPr lang="zh-CN" altLang="en-US" sz="3200" dirty="0"/>
              </a:p>
            </p:txBody>
          </p:sp>
        </mc:Choice>
        <mc:Fallback xmlns="">
          <p:sp>
            <p:nvSpPr>
              <p:cNvPr id="37" name="文本框 36">
                <a:extLst>
                  <a:ext uri="{FF2B5EF4-FFF2-40B4-BE49-F238E27FC236}">
                    <a16:creationId xmlns:a16="http://schemas.microsoft.com/office/drawing/2014/main" id="{4C2B4DE0-B423-462A-9A00-6D2BECF30D30}"/>
                  </a:ext>
                </a:extLst>
              </p:cNvPr>
              <p:cNvSpPr txBox="1">
                <a:spLocks noRot="1" noChangeAspect="1" noMove="1" noResize="1" noEditPoints="1" noAdjustHandles="1" noChangeArrowheads="1" noChangeShapeType="1" noTextEdit="1"/>
              </p:cNvSpPr>
              <p:nvPr/>
            </p:nvSpPr>
            <p:spPr>
              <a:xfrm>
                <a:off x="652462" y="5710415"/>
                <a:ext cx="460399" cy="598369"/>
              </a:xfrm>
              <a:prstGeom prst="rect">
                <a:avLst/>
              </a:prstGeom>
              <a:blipFill>
                <a:blip r:embed="rId6"/>
                <a:stretch>
                  <a:fillRect/>
                </a:stretch>
              </a:blipFill>
              <a:ln w="25400">
                <a:noFill/>
              </a:ln>
            </p:spPr>
            <p:txBody>
              <a:bodyPr/>
              <a:lstStyle/>
              <a:p>
                <a:r>
                  <a:rPr lang="zh-CN" altLang="en-US">
                    <a:noFill/>
                  </a:rPr>
                  <a:t> </a:t>
                </a:r>
              </a:p>
            </p:txBody>
          </p:sp>
        </mc:Fallback>
      </mc:AlternateContent>
      <p:pic>
        <p:nvPicPr>
          <p:cNvPr id="38" name="图片 37">
            <a:extLst>
              <a:ext uri="{FF2B5EF4-FFF2-40B4-BE49-F238E27FC236}">
                <a16:creationId xmlns:a16="http://schemas.microsoft.com/office/drawing/2014/main" id="{D11F1063-8142-4E9E-A3F8-4DC4255B25B9}"/>
              </a:ext>
            </a:extLst>
          </p:cNvPr>
          <p:cNvPicPr>
            <a:picLocks noChangeAspect="1"/>
          </p:cNvPicPr>
          <p:nvPr/>
        </p:nvPicPr>
        <p:blipFill>
          <a:blip r:embed="rId7"/>
          <a:stretch>
            <a:fillRect/>
          </a:stretch>
        </p:blipFill>
        <p:spPr>
          <a:xfrm>
            <a:off x="4098924" y="5165405"/>
            <a:ext cx="3500975" cy="564046"/>
          </a:xfrm>
          <a:prstGeom prst="rect">
            <a:avLst/>
          </a:prstGeom>
        </p:spPr>
      </p:pic>
      <p:sp>
        <p:nvSpPr>
          <p:cNvPr id="16" name="文本框 15">
            <a:extLst>
              <a:ext uri="{FF2B5EF4-FFF2-40B4-BE49-F238E27FC236}">
                <a16:creationId xmlns:a16="http://schemas.microsoft.com/office/drawing/2014/main" id="{E59BB3A6-942F-4D40-ADCD-6F7E7FA91D01}"/>
              </a:ext>
            </a:extLst>
          </p:cNvPr>
          <p:cNvSpPr txBox="1"/>
          <p:nvPr/>
        </p:nvSpPr>
        <p:spPr>
          <a:xfrm>
            <a:off x="8467" y="868205"/>
            <a:ext cx="6544733" cy="1175706"/>
          </a:xfrm>
          <a:prstGeom prst="rect">
            <a:avLst/>
          </a:prstGeom>
          <a:noFill/>
          <a:ln w="25400">
            <a:noFill/>
          </a:ln>
        </p:spPr>
        <p:txBody>
          <a:bodyPr wrap="square">
            <a:spAutoFit/>
          </a:bodyPr>
          <a:lstStyle/>
          <a:p>
            <a:pPr marL="457200" marR="0" lvl="0" indent="-457200"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这样计算的定积分有随机性</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误差中包含了</a:t>
            </a:r>
            <a:r>
              <a:rPr kumimoji="0" lang="zh-CN" altLang="en-US"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随机模拟误差</a:t>
            </a:r>
            <a:endParaRPr kumimoji="0" lang="en-US" altLang="zh-CN"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pic>
        <p:nvPicPr>
          <p:cNvPr id="3" name="图片 2">
            <a:extLst>
              <a:ext uri="{FF2B5EF4-FFF2-40B4-BE49-F238E27FC236}">
                <a16:creationId xmlns:a16="http://schemas.microsoft.com/office/drawing/2014/main" id="{AE5AF923-AE1D-4E3C-9120-2B9D1D72F8F2}"/>
              </a:ext>
            </a:extLst>
          </p:cNvPr>
          <p:cNvPicPr>
            <a:picLocks noChangeAspect="1"/>
          </p:cNvPicPr>
          <p:nvPr/>
        </p:nvPicPr>
        <p:blipFill>
          <a:blip r:embed="rId8"/>
          <a:stretch>
            <a:fillRect/>
          </a:stretch>
        </p:blipFill>
        <p:spPr>
          <a:xfrm>
            <a:off x="625185" y="3541848"/>
            <a:ext cx="6932224" cy="525548"/>
          </a:xfrm>
          <a:prstGeom prst="rect">
            <a:avLst/>
          </a:prstGeom>
        </p:spPr>
      </p:pic>
    </p:spTree>
    <p:extLst>
      <p:ext uri="{BB962C8B-B14F-4D97-AF65-F5344CB8AC3E}">
        <p14:creationId xmlns:p14="http://schemas.microsoft.com/office/powerpoint/2010/main" val="33314906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3.2.2 </a:t>
            </a:r>
            <a:r>
              <a:rPr lang="zh-CN" altLang="en-US" dirty="0"/>
              <a:t>平均值法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5875" y="2239058"/>
            <a:ext cx="9159875" cy="294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取</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期望</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则</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33</a:t>
            </a:fld>
            <a:endParaRPr lang="zh-CN" altLang="en-US">
              <a:solidFill>
                <a:srgbClr val="898989"/>
              </a:solidFill>
            </a:endParaRPr>
          </a:p>
        </p:txBody>
      </p:sp>
      <p:pic>
        <p:nvPicPr>
          <p:cNvPr id="4" name="图片 3">
            <a:extLst>
              <a:ext uri="{FF2B5EF4-FFF2-40B4-BE49-F238E27FC236}">
                <a16:creationId xmlns:a16="http://schemas.microsoft.com/office/drawing/2014/main" id="{1EBF4827-EE29-44CB-97E6-CF15928303E4}"/>
              </a:ext>
            </a:extLst>
          </p:cNvPr>
          <p:cNvPicPr>
            <a:picLocks noChangeAspect="1"/>
          </p:cNvPicPr>
          <p:nvPr/>
        </p:nvPicPr>
        <p:blipFill>
          <a:blip r:embed="rId2"/>
          <a:stretch>
            <a:fillRect/>
          </a:stretch>
        </p:blipFill>
        <p:spPr>
          <a:xfrm>
            <a:off x="1372876" y="2280144"/>
            <a:ext cx="2091695" cy="584775"/>
          </a:xfrm>
          <a:prstGeom prst="rect">
            <a:avLst/>
          </a:prstGeom>
        </p:spPr>
      </p:pic>
      <p:pic>
        <p:nvPicPr>
          <p:cNvPr id="9" name="图片 8">
            <a:extLst>
              <a:ext uri="{FF2B5EF4-FFF2-40B4-BE49-F238E27FC236}">
                <a16:creationId xmlns:a16="http://schemas.microsoft.com/office/drawing/2014/main" id="{45817302-8E3F-4EE8-8643-ABB804CFA38C}"/>
              </a:ext>
            </a:extLst>
          </p:cNvPr>
          <p:cNvPicPr>
            <a:picLocks noChangeAspect="1"/>
          </p:cNvPicPr>
          <p:nvPr/>
        </p:nvPicPr>
        <p:blipFill>
          <a:blip r:embed="rId3"/>
          <a:stretch>
            <a:fillRect/>
          </a:stretch>
        </p:blipFill>
        <p:spPr>
          <a:xfrm>
            <a:off x="1213564" y="3483332"/>
            <a:ext cx="4502013" cy="875878"/>
          </a:xfrm>
          <a:prstGeom prst="rect">
            <a:avLst/>
          </a:prstGeom>
        </p:spPr>
      </p:pic>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27AC35E-10CA-4674-8BD0-1D2678C1E0D0}"/>
                  </a:ext>
                </a:extLst>
              </p:cNvPr>
              <p:cNvSpPr txBox="1"/>
              <p:nvPr/>
            </p:nvSpPr>
            <p:spPr>
              <a:xfrm>
                <a:off x="1174706" y="4941124"/>
                <a:ext cx="3589284"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smtClean="0">
                              <a:latin typeface="Cambria Math" panose="02040503050406030204" pitchFamily="18" charset="0"/>
                            </a:rPr>
                          </m:ctrlPr>
                        </m:dPr>
                        <m:e>
                          <m:d>
                            <m:dPr>
                              <m:begChr m:val=""/>
                              <m:endChr m:val=""/>
                              <m:ctrlPr>
                                <a:rPr lang="zh-CN" altLang="en-US" sz="3200" i="1">
                                  <a:latin typeface="Cambria Math" panose="02040503050406030204" pitchFamily="18" charset="0"/>
                                </a:rPr>
                              </m:ctrlPr>
                            </m:dPr>
                            <m:e>
                              <m:r>
                                <a:rPr lang="zh-CN" altLang="en-US" sz="3200" i="1">
                                  <a:latin typeface="Cambria Math" panose="02040503050406030204" pitchFamily="18" charset="0"/>
                                </a:rPr>
                                <m:t>𝐼</m:t>
                              </m:r>
                              <m:r>
                                <a:rPr lang="zh-CN" altLang="en-US" sz="3200" i="0">
                                  <a:latin typeface="Cambria Math" panose="02040503050406030204" pitchFamily="18" charset="0"/>
                                </a:rPr>
                                <m:t>=</m:t>
                              </m:r>
                              <m:d>
                                <m:dPr>
                                  <m:begChr m:val=""/>
                                  <m:endChr m:val=""/>
                                  <m:ctrlPr>
                                    <a:rPr lang="zh-CN" altLang="en-US" sz="3200" i="1">
                                      <a:latin typeface="Cambria Math" panose="02040503050406030204" pitchFamily="18" charset="0"/>
                                    </a:rPr>
                                  </m:ctrlPr>
                                </m:dPr>
                                <m:e>
                                  <m:r>
                                    <a:rPr lang="zh-CN" altLang="en-US" sz="3200" i="0">
                                      <a:latin typeface="Cambria Math" panose="02040503050406030204" pitchFamily="18" charset="0"/>
                                    </a:rPr>
                                    <m:t>(</m:t>
                                  </m:r>
                                </m:e>
                              </m:d>
                              <m:r>
                                <a:rPr lang="zh-CN" altLang="en-US" sz="3200" i="1">
                                  <a:latin typeface="Cambria Math" panose="02040503050406030204" pitchFamily="18" charset="0"/>
                                </a:rPr>
                                <m:t>𝑏</m:t>
                              </m:r>
                              <m:r>
                                <a:rPr lang="zh-CN" altLang="en-US" sz="3200" i="0">
                                  <a:latin typeface="Cambria Math" panose="02040503050406030204" pitchFamily="18" charset="0"/>
                                </a:rPr>
                                <m:t>−</m:t>
                              </m:r>
                              <m:r>
                                <a:rPr lang="zh-CN" altLang="en-US" sz="3200" i="1">
                                  <a:latin typeface="Cambria Math" panose="02040503050406030204" pitchFamily="18" charset="0"/>
                                </a:rPr>
                                <m:t>𝑎</m:t>
                              </m:r>
                              <m:r>
                                <a:rPr lang="zh-CN" altLang="en-US" sz="3200" i="0">
                                  <a:latin typeface="Cambria Math" panose="02040503050406030204" pitchFamily="18" charset="0"/>
                                </a:rPr>
                                <m:t>)</m:t>
                              </m:r>
                            </m:e>
                          </m:d>
                          <m:r>
                            <a:rPr lang="zh-CN" altLang="en-US" sz="3200" i="0">
                              <a:latin typeface="Cambria Math" panose="02040503050406030204" pitchFamily="18" charset="0"/>
                            </a:rPr>
                            <m:t>⋅</m:t>
                          </m:r>
                          <m:r>
                            <a:rPr lang="zh-CN" altLang="en-US" sz="3200" i="1">
                              <a:latin typeface="Cambria Math" panose="02040503050406030204" pitchFamily="18" charset="0"/>
                            </a:rPr>
                            <m:t>𝐸h</m:t>
                          </m:r>
                          <m:d>
                            <m:dPr>
                              <m:begChr m:val=""/>
                              <m:endChr m:val=""/>
                              <m:ctrlPr>
                                <a:rPr lang="zh-CN" altLang="en-US" sz="3200" i="1">
                                  <a:latin typeface="Cambria Math" panose="02040503050406030204" pitchFamily="18" charset="0"/>
                                </a:rPr>
                              </m:ctrlPr>
                            </m:dPr>
                            <m:e>
                              <m:r>
                                <a:rPr lang="zh-CN" altLang="en-US" sz="3200" i="0">
                                  <a:latin typeface="Cambria Math" panose="02040503050406030204" pitchFamily="18" charset="0"/>
                                </a:rPr>
                                <m:t>(</m:t>
                              </m:r>
                            </m:e>
                          </m:d>
                          <m:r>
                            <a:rPr lang="zh-CN" altLang="en-US" sz="3200" i="1">
                              <a:latin typeface="Cambria Math" panose="02040503050406030204" pitchFamily="18" charset="0"/>
                            </a:rPr>
                            <m:t>𝑈</m:t>
                          </m:r>
                          <m:r>
                            <a:rPr lang="zh-CN" altLang="en-US" sz="3200" i="0">
                              <a:latin typeface="Cambria Math" panose="02040503050406030204" pitchFamily="18" charset="0"/>
                            </a:rPr>
                            <m:t>)</m:t>
                          </m:r>
                        </m:e>
                      </m:d>
                    </m:oMath>
                  </m:oMathPara>
                </a14:m>
                <a:endParaRPr lang="zh-CN" altLang="en-US" sz="3200" dirty="0"/>
              </a:p>
            </p:txBody>
          </p:sp>
        </mc:Choice>
        <mc:Fallback xmlns="">
          <p:sp>
            <p:nvSpPr>
              <p:cNvPr id="14" name="文本框 13">
                <a:extLst>
                  <a:ext uri="{FF2B5EF4-FFF2-40B4-BE49-F238E27FC236}">
                    <a16:creationId xmlns:a16="http://schemas.microsoft.com/office/drawing/2014/main" id="{127AC35E-10CA-4674-8BD0-1D2678C1E0D0}"/>
                  </a:ext>
                </a:extLst>
              </p:cNvPr>
              <p:cNvSpPr txBox="1">
                <a:spLocks noRot="1" noChangeAspect="1" noMove="1" noResize="1" noEditPoints="1" noAdjustHandles="1" noChangeArrowheads="1" noChangeShapeType="1" noTextEdit="1"/>
              </p:cNvSpPr>
              <p:nvPr/>
            </p:nvSpPr>
            <p:spPr>
              <a:xfrm>
                <a:off x="1174706" y="4941124"/>
                <a:ext cx="3589284" cy="584775"/>
              </a:xfrm>
              <a:prstGeom prst="rect">
                <a:avLst/>
              </a:prstGeom>
              <a:blipFill>
                <a:blip r:embed="rId4"/>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ED0DE78-5867-4135-B5FB-304042728C86}"/>
                  </a:ext>
                </a:extLst>
              </p:cNvPr>
              <p:cNvSpPr txBox="1"/>
              <p:nvPr/>
            </p:nvSpPr>
            <p:spPr>
              <a:xfrm>
                <a:off x="2915314" y="892150"/>
                <a:ext cx="2665644" cy="1209370"/>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𝐼</m:t>
                      </m:r>
                      <m:r>
                        <a:rPr lang="en-US" altLang="zh-CN" sz="3200" b="0" i="1" smtClean="0">
                          <a:latin typeface="Cambria Math" panose="02040503050406030204" pitchFamily="18" charset="0"/>
                        </a:rPr>
                        <m:t>=</m:t>
                      </m:r>
                      <m:nary>
                        <m:naryPr>
                          <m:limLoc m:val="subSup"/>
                          <m:grow m:val="on"/>
                          <m:ctrlPr>
                            <a:rPr lang="zh-CN" altLang="en-US" sz="3200" i="1" smtClean="0">
                              <a:latin typeface="Cambria Math" panose="02040503050406030204" pitchFamily="18" charset="0"/>
                            </a:rPr>
                          </m:ctrlPr>
                        </m:naryPr>
                        <m:sub>
                          <m:r>
                            <a:rPr lang="zh-CN" altLang="en-US" sz="3200" i="1">
                              <a:latin typeface="Cambria Math" panose="02040503050406030204" pitchFamily="18" charset="0"/>
                            </a:rPr>
                            <m:t>𝑎</m:t>
                          </m:r>
                        </m:sub>
                        <m:sup>
                          <m:r>
                            <a:rPr lang="zh-CN" altLang="en-US" sz="3200" i="1">
                              <a:latin typeface="Cambria Math" panose="02040503050406030204" pitchFamily="18" charset="0"/>
                            </a:rPr>
                            <m:t>𝑏</m:t>
                          </m:r>
                        </m:sup>
                        <m:e>
                          <m:r>
                            <a:rPr lang="en-US" altLang="zh-CN" sz="3200" i="1">
                              <a:latin typeface="Cambria Math" panose="02040503050406030204" pitchFamily="18" charset="0"/>
                            </a:rPr>
                            <m:t>h</m:t>
                          </m:r>
                          <m:d>
                            <m:dPr>
                              <m:ctrlPr>
                                <a:rPr lang="zh-CN" altLang="en-US" sz="3200" i="1">
                                  <a:latin typeface="Cambria Math" panose="02040503050406030204" pitchFamily="18" charset="0"/>
                                </a:rPr>
                              </m:ctrlPr>
                            </m:dPr>
                            <m:e>
                              <m:r>
                                <a:rPr lang="zh-CN" altLang="en-US" sz="3200" i="1">
                                  <a:latin typeface="Cambria Math" panose="02040503050406030204" pitchFamily="18" charset="0"/>
                                </a:rPr>
                                <m:t>𝑥</m:t>
                              </m:r>
                            </m:e>
                          </m:d>
                          <m:r>
                            <a:rPr lang="zh-CN" altLang="en-US" sz="3200" i="1">
                              <a:latin typeface="Cambria Math" panose="02040503050406030204" pitchFamily="18" charset="0"/>
                            </a:rPr>
                            <m:t>𝑑𝑥</m:t>
                          </m:r>
                        </m:e>
                      </m:nary>
                    </m:oMath>
                  </m:oMathPara>
                </a14:m>
                <a:endParaRPr lang="zh-CN" altLang="en-US" sz="3200" dirty="0"/>
              </a:p>
            </p:txBody>
          </p:sp>
        </mc:Choice>
        <mc:Fallback xmlns="">
          <p:sp>
            <p:nvSpPr>
              <p:cNvPr id="10" name="文本框 9">
                <a:extLst>
                  <a:ext uri="{FF2B5EF4-FFF2-40B4-BE49-F238E27FC236}">
                    <a16:creationId xmlns:a16="http://schemas.microsoft.com/office/drawing/2014/main" id="{DED0DE78-5867-4135-B5FB-304042728C86}"/>
                  </a:ext>
                </a:extLst>
              </p:cNvPr>
              <p:cNvSpPr txBox="1">
                <a:spLocks noRot="1" noChangeAspect="1" noMove="1" noResize="1" noEditPoints="1" noAdjustHandles="1" noChangeArrowheads="1" noChangeShapeType="1" noTextEdit="1"/>
              </p:cNvSpPr>
              <p:nvPr/>
            </p:nvSpPr>
            <p:spPr>
              <a:xfrm>
                <a:off x="2915314" y="892150"/>
                <a:ext cx="2665644" cy="1209370"/>
              </a:xfrm>
              <a:prstGeom prst="rect">
                <a:avLst/>
              </a:prstGeom>
              <a:blipFill>
                <a:blip r:embed="rId5"/>
                <a:stretch>
                  <a:fillRect/>
                </a:stretch>
              </a:blipFill>
              <a:ln w="25400">
                <a:noFill/>
              </a:ln>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BE7E8C5B-0DFB-4793-94AB-203A09451C69}"/>
              </a:ext>
            </a:extLst>
          </p:cNvPr>
          <p:cNvSpPr txBox="1"/>
          <p:nvPr/>
        </p:nvSpPr>
        <p:spPr>
          <a:xfrm>
            <a:off x="73458" y="987440"/>
            <a:ext cx="4690532" cy="584775"/>
          </a:xfrm>
          <a:prstGeom prst="rect">
            <a:avLst/>
          </a:prstGeom>
          <a:noFill/>
          <a:ln w="25400">
            <a:noFill/>
          </a:ln>
        </p:spPr>
        <p:txBody>
          <a:bodyPr wrap="square">
            <a:spAutoFit/>
          </a:bodyPr>
          <a:lstStyle/>
          <a:p>
            <a:pPr marL="457200" marR="0" lvl="0" indent="-457200"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计算定积分</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p:txBody>
      </p:sp>
    </p:spTree>
    <p:extLst>
      <p:ext uri="{BB962C8B-B14F-4D97-AF65-F5344CB8AC3E}">
        <p14:creationId xmlns:p14="http://schemas.microsoft.com/office/powerpoint/2010/main" val="24989568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3.2.2 </a:t>
            </a:r>
            <a:r>
              <a:rPr lang="zh-CN" altLang="en-US" dirty="0"/>
              <a:t>平均值法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0" y="999309"/>
            <a:ext cx="9159875" cy="294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若取</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则</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是</a:t>
            </a:r>
            <a:r>
              <a:rPr lang="en-US" altLang="zh-CN" sz="3200" dirty="0">
                <a:solidFill>
                  <a:srgbClr val="006699"/>
                </a:solidFill>
                <a:latin typeface="Verdana" panose="020B0604030504040204" pitchFamily="34" charset="0"/>
              </a:rPr>
              <a:t>iid</a:t>
            </a:r>
            <a:r>
              <a:rPr lang="zh-CN" altLang="en-US" sz="3200" dirty="0">
                <a:solidFill>
                  <a:srgbClr val="006699"/>
                </a:solidFill>
                <a:latin typeface="Verdana" panose="020B0604030504040204" pitchFamily="34" charset="0"/>
              </a:rPr>
              <a:t>随机变量列。</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34</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4F833D8-4E76-48E6-B2E7-C1F8DAE929F9}"/>
                  </a:ext>
                </a:extLst>
              </p:cNvPr>
              <p:cNvSpPr txBox="1"/>
              <p:nvPr/>
            </p:nvSpPr>
            <p:spPr>
              <a:xfrm>
                <a:off x="1916705" y="1583795"/>
                <a:ext cx="5005904"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smtClean="0">
                              <a:latin typeface="Cambria Math" panose="02040503050406030204" pitchFamily="18" charset="0"/>
                            </a:rPr>
                          </m:ctrlPr>
                        </m:dPr>
                        <m:e>
                          <m:d>
                            <m:dPr>
                              <m:begChr m:val=""/>
                              <m:endChr m:val=""/>
                              <m:ctrlPr>
                                <a:rPr lang="zh-CN" altLang="en-US" sz="3200" i="1">
                                  <a:latin typeface="Cambria Math" panose="02040503050406030204" pitchFamily="18" charset="0"/>
                                </a:rPr>
                              </m:ctrlPr>
                            </m:dPr>
                            <m:e>
                              <m:d>
                                <m:dPr>
                                  <m:begChr m:val=""/>
                                  <m:endChr m:val=""/>
                                  <m:ctrlPr>
                                    <a:rPr lang="zh-CN" altLang="en-US" sz="3200" i="1">
                                      <a:latin typeface="Cambria Math" panose="02040503050406030204" pitchFamily="18" charset="0"/>
                                    </a:rPr>
                                  </m:ctrlPr>
                                </m:dPr>
                                <m:e>
                                  <m:r>
                                    <a:rPr lang="zh-CN" altLang="en-US" sz="3200">
                                      <a:latin typeface="Cambria Math" panose="02040503050406030204" pitchFamily="18" charset="0"/>
                                    </a:rPr>
                                    <m:t>{</m:t>
                                  </m:r>
                                </m:e>
                              </m:d>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𝑈</m:t>
                                  </m:r>
                                </m:e>
                                <m:sub>
                                  <m:r>
                                    <a:rPr lang="zh-CN" altLang="en-US" sz="3200" i="1">
                                      <a:latin typeface="Cambria Math" panose="02040503050406030204" pitchFamily="18" charset="0"/>
                                    </a:rPr>
                                    <m:t>𝑖</m:t>
                                  </m:r>
                                </m:sub>
                              </m:sSub>
                              <m:r>
                                <a:rPr lang="zh-CN" altLang="en-US" sz="3200" i="0">
                                  <a:latin typeface="Cambria Math" panose="02040503050406030204" pitchFamily="18" charset="0"/>
                                </a:rPr>
                                <m:t>,</m:t>
                              </m:r>
                              <m:r>
                                <a:rPr lang="zh-CN" altLang="en-US" sz="3200" i="1">
                                  <a:latin typeface="Cambria Math" panose="02040503050406030204" pitchFamily="18" charset="0"/>
                                </a:rPr>
                                <m:t>𝑖</m:t>
                              </m:r>
                              <m:r>
                                <a:rPr lang="zh-CN" altLang="en-US" sz="3200" i="0">
                                  <a:latin typeface="Cambria Math" panose="02040503050406030204" pitchFamily="18" charset="0"/>
                                </a:rPr>
                                <m:t>=1,…,</m:t>
                              </m:r>
                              <m:r>
                                <a:rPr lang="zh-CN" altLang="en-US" sz="3200" i="1">
                                  <a:latin typeface="Cambria Math" panose="02040503050406030204" pitchFamily="18" charset="0"/>
                                </a:rPr>
                                <m:t>𝑁</m:t>
                              </m:r>
                              <m:r>
                                <a:rPr lang="zh-CN" altLang="en-US" sz="3200" i="0">
                                  <a:latin typeface="Cambria Math" panose="02040503050406030204" pitchFamily="18" charset="0"/>
                                </a:rPr>
                                <m:t>}</m:t>
                              </m:r>
                            </m:e>
                          </m:d>
                          <m:r>
                            <a:rPr lang="zh-CN" altLang="en-US" sz="3200" i="1">
                              <a:latin typeface="Cambria Math" panose="02040503050406030204" pitchFamily="18" charset="0"/>
                            </a:rPr>
                            <m:t>𝑖𝑖𝑑</m:t>
                          </m:r>
                          <m:r>
                            <a:rPr lang="zh-CN" altLang="en-US" sz="3200" i="0">
                              <a:latin typeface="Cambria Math" panose="02040503050406030204" pitchFamily="18" charset="0"/>
                            </a:rPr>
                            <m:t>~</m:t>
                          </m:r>
                          <m:r>
                            <a:rPr lang="zh-CN" altLang="en-US" sz="3200" i="1">
                              <a:latin typeface="Cambria Math" panose="02040503050406030204" pitchFamily="18" charset="0"/>
                            </a:rPr>
                            <m:t>𝑈</m:t>
                          </m:r>
                          <m:d>
                            <m:dPr>
                              <m:begChr m:val=""/>
                              <m:endChr m:val=""/>
                              <m:ctrlPr>
                                <a:rPr lang="zh-CN" altLang="en-US" sz="3200" i="1">
                                  <a:latin typeface="Cambria Math" panose="02040503050406030204" pitchFamily="18" charset="0"/>
                                </a:rPr>
                              </m:ctrlPr>
                            </m:dPr>
                            <m:e>
                              <m:r>
                                <a:rPr lang="zh-CN" altLang="en-US" sz="3200" i="0">
                                  <a:latin typeface="Cambria Math" panose="02040503050406030204" pitchFamily="18" charset="0"/>
                                </a:rPr>
                                <m:t>(</m:t>
                              </m:r>
                            </m:e>
                          </m:d>
                          <m:r>
                            <a:rPr lang="zh-CN" altLang="en-US" sz="3200" i="1">
                              <a:latin typeface="Cambria Math" panose="02040503050406030204" pitchFamily="18" charset="0"/>
                            </a:rPr>
                            <m:t>𝑎</m:t>
                          </m:r>
                          <m:r>
                            <a:rPr lang="zh-CN" altLang="en-US" sz="3200" i="0">
                              <a:latin typeface="Cambria Math" panose="02040503050406030204" pitchFamily="18" charset="0"/>
                            </a:rPr>
                            <m:t>,</m:t>
                          </m:r>
                          <m:r>
                            <a:rPr lang="zh-CN" altLang="en-US" sz="3200" i="1">
                              <a:latin typeface="Cambria Math" panose="02040503050406030204" pitchFamily="18" charset="0"/>
                            </a:rPr>
                            <m:t>𝑏</m:t>
                          </m:r>
                          <m:r>
                            <a:rPr lang="zh-CN" altLang="en-US" sz="3200" i="0">
                              <a:latin typeface="Cambria Math" panose="02040503050406030204" pitchFamily="18" charset="0"/>
                            </a:rPr>
                            <m:t>)</m:t>
                          </m:r>
                        </m:e>
                      </m:d>
                    </m:oMath>
                  </m:oMathPara>
                </a14:m>
                <a:endParaRPr lang="zh-CN" altLang="en-US" sz="3200" dirty="0"/>
              </a:p>
            </p:txBody>
          </p:sp>
        </mc:Choice>
        <mc:Fallback xmlns="">
          <p:sp>
            <p:nvSpPr>
              <p:cNvPr id="16" name="文本框 15">
                <a:extLst>
                  <a:ext uri="{FF2B5EF4-FFF2-40B4-BE49-F238E27FC236}">
                    <a16:creationId xmlns:a16="http://schemas.microsoft.com/office/drawing/2014/main" id="{54F833D8-4E76-48E6-B2E7-C1F8DAE929F9}"/>
                  </a:ext>
                </a:extLst>
              </p:cNvPr>
              <p:cNvSpPr txBox="1">
                <a:spLocks noRot="1" noChangeAspect="1" noMove="1" noResize="1" noEditPoints="1" noAdjustHandles="1" noChangeArrowheads="1" noChangeShapeType="1" noTextEdit="1"/>
              </p:cNvSpPr>
              <p:nvPr/>
            </p:nvSpPr>
            <p:spPr>
              <a:xfrm>
                <a:off x="1916705" y="1583795"/>
                <a:ext cx="5005904" cy="584775"/>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BF9A9377-C98D-43C3-BA4D-399D2BD8FD4B}"/>
                  </a:ext>
                </a:extLst>
              </p:cNvPr>
              <p:cNvSpPr txBox="1"/>
              <p:nvPr/>
            </p:nvSpPr>
            <p:spPr>
              <a:xfrm>
                <a:off x="1846793" y="2753018"/>
                <a:ext cx="4690532"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smtClean="0">
                              <a:solidFill>
                                <a:srgbClr val="836967"/>
                              </a:solidFill>
                              <a:latin typeface="Cambria Math" panose="02040503050406030204" pitchFamily="18" charset="0"/>
                            </a:rPr>
                          </m:ctrlPr>
                        </m:dPr>
                        <m:e>
                          <m:d>
                            <m:dPr>
                              <m:begChr m:val=""/>
                              <m:endChr m:val=""/>
                              <m:ctrlPr>
                                <a:rPr lang="zh-CN" altLang="en-US" sz="3200" i="1">
                                  <a:solidFill>
                                    <a:srgbClr val="836967"/>
                                  </a:solidFill>
                                  <a:latin typeface="Cambria Math" panose="02040503050406030204" pitchFamily="18" charset="0"/>
                                </a:rPr>
                              </m:ctrlPr>
                            </m:dPr>
                            <m:e>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𝑌</m:t>
                                  </m:r>
                                </m:e>
                                <m:sub>
                                  <m:r>
                                    <a:rPr lang="zh-CN" altLang="en-US" sz="3200" i="1">
                                      <a:latin typeface="Cambria Math" panose="02040503050406030204" pitchFamily="18" charset="0"/>
                                    </a:rPr>
                                    <m:t>𝑖</m:t>
                                  </m:r>
                                </m:sub>
                              </m:sSub>
                              <m:r>
                                <a:rPr lang="zh-CN" altLang="en-US" sz="3200" i="0">
                                  <a:latin typeface="Cambria Math" panose="02040503050406030204" pitchFamily="18" charset="0"/>
                                </a:rPr>
                                <m:t>=</m:t>
                              </m:r>
                              <m:r>
                                <a:rPr lang="zh-CN" altLang="en-US" sz="3200" i="1">
                                  <a:latin typeface="Cambria Math" panose="02040503050406030204" pitchFamily="18" charset="0"/>
                                </a:rPr>
                                <m:t>h</m:t>
                              </m:r>
                              <m:d>
                                <m:dPr>
                                  <m:begChr m:val=""/>
                                  <m:endChr m:val=""/>
                                  <m:ctrlPr>
                                    <a:rPr lang="zh-CN" altLang="en-US" sz="3200" i="1">
                                      <a:latin typeface="Cambria Math" panose="02040503050406030204" pitchFamily="18" charset="0"/>
                                    </a:rPr>
                                  </m:ctrlPr>
                                </m:dPr>
                                <m:e>
                                  <m:r>
                                    <a:rPr lang="zh-CN" altLang="en-US" sz="3200" i="0">
                                      <a:latin typeface="Cambria Math" panose="02040503050406030204" pitchFamily="18" charset="0"/>
                                    </a:rPr>
                                    <m:t>(</m:t>
                                  </m:r>
                                </m:e>
                              </m:d>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𝑈</m:t>
                                  </m:r>
                                </m:e>
                                <m:sub>
                                  <m:r>
                                    <a:rPr lang="zh-CN" altLang="en-US" sz="3200" i="1">
                                      <a:latin typeface="Cambria Math" panose="02040503050406030204" pitchFamily="18" charset="0"/>
                                    </a:rPr>
                                    <m:t>𝑖</m:t>
                                  </m:r>
                                </m:sub>
                              </m:sSub>
                              <m:r>
                                <a:rPr lang="zh-CN" altLang="en-US" sz="3200" i="0">
                                  <a:latin typeface="Cambria Math" panose="02040503050406030204" pitchFamily="18" charset="0"/>
                                </a:rPr>
                                <m:t>)</m:t>
                              </m:r>
                            </m:e>
                          </m:d>
                          <m:r>
                            <a:rPr lang="zh-CN" altLang="en-US" sz="3200" i="0">
                              <a:latin typeface="Cambria Math" panose="02040503050406030204" pitchFamily="18" charset="0"/>
                            </a:rPr>
                            <m:t>,</m:t>
                          </m:r>
                          <m:d>
                            <m:dPr>
                              <m:begChr m:val=""/>
                              <m:endChr m:val=""/>
                              <m:ctrlPr>
                                <a:rPr lang="zh-CN" altLang="en-US" sz="3200" i="1">
                                  <a:latin typeface="Cambria Math" panose="02040503050406030204" pitchFamily="18" charset="0"/>
                                </a:rPr>
                              </m:ctrlPr>
                            </m:dPr>
                            <m:e>
                              <m:r>
                                <a:rPr lang="zh-CN" altLang="en-US" sz="3200" i="0">
                                  <a:latin typeface="Cambria Math" panose="02040503050406030204" pitchFamily="18" charset="0"/>
                                </a:rPr>
                                <m:t>(</m:t>
                              </m:r>
                            </m:e>
                          </m:d>
                          <m:r>
                            <a:rPr lang="zh-CN" altLang="en-US" sz="3200" i="1">
                              <a:latin typeface="Cambria Math" panose="02040503050406030204" pitchFamily="18" charset="0"/>
                            </a:rPr>
                            <m:t>𝑖</m:t>
                          </m:r>
                          <m:r>
                            <a:rPr lang="zh-CN" altLang="en-US" sz="3200" i="0">
                              <a:latin typeface="Cambria Math" panose="02040503050406030204" pitchFamily="18" charset="0"/>
                            </a:rPr>
                            <m:t>=1,2,…</m:t>
                          </m:r>
                          <m:r>
                            <m:rPr>
                              <m:sty m:val="p"/>
                            </m:rPr>
                            <a:rPr lang="en-US" altLang="zh-CN" sz="3200">
                              <a:latin typeface="Cambria Math" panose="02040503050406030204" pitchFamily="18" charset="0"/>
                            </a:rPr>
                            <m:t>N</m:t>
                          </m:r>
                          <m:r>
                            <a:rPr lang="zh-CN" altLang="en-US" sz="3200" i="0">
                              <a:latin typeface="Cambria Math" panose="02040503050406030204" pitchFamily="18" charset="0"/>
                            </a:rPr>
                            <m:t>)</m:t>
                          </m:r>
                        </m:e>
                      </m:d>
                    </m:oMath>
                  </m:oMathPara>
                </a14:m>
                <a:endParaRPr lang="zh-CN" altLang="en-US" dirty="0"/>
              </a:p>
            </p:txBody>
          </p:sp>
        </mc:Choice>
        <mc:Fallback xmlns="">
          <p:sp>
            <p:nvSpPr>
              <p:cNvPr id="18" name="文本框 17">
                <a:extLst>
                  <a:ext uri="{FF2B5EF4-FFF2-40B4-BE49-F238E27FC236}">
                    <a16:creationId xmlns:a16="http://schemas.microsoft.com/office/drawing/2014/main" id="{BF9A9377-C98D-43C3-BA4D-399D2BD8FD4B}"/>
                  </a:ext>
                </a:extLst>
              </p:cNvPr>
              <p:cNvSpPr txBox="1">
                <a:spLocks noRot="1" noChangeAspect="1" noMove="1" noResize="1" noEditPoints="1" noAdjustHandles="1" noChangeArrowheads="1" noChangeShapeType="1" noTextEdit="1"/>
              </p:cNvSpPr>
              <p:nvPr/>
            </p:nvSpPr>
            <p:spPr>
              <a:xfrm>
                <a:off x="1846793" y="2753018"/>
                <a:ext cx="4690532" cy="584775"/>
              </a:xfrm>
              <a:prstGeom prst="rect">
                <a:avLst/>
              </a:prstGeom>
              <a:blipFill>
                <a:blip r:embed="rId3"/>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11751987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3.2.2 </a:t>
            </a:r>
            <a:r>
              <a:rPr lang="zh-CN" altLang="en-US" dirty="0"/>
              <a:t>平均值法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0" y="999309"/>
            <a:ext cx="9159875" cy="4130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由强大数律</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于是</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是</a:t>
            </a:r>
            <a:r>
              <a:rPr lang="en-US" altLang="zh-CN" sz="3200" i="1" dirty="0">
                <a:solidFill>
                  <a:srgbClr val="006699"/>
                </a:solidFill>
                <a:latin typeface="Verdana" panose="020B0604030504040204" pitchFamily="34" charset="0"/>
              </a:rPr>
              <a:t>I</a:t>
            </a:r>
            <a:r>
              <a:rPr lang="zh-CN" altLang="en-US" sz="3200" dirty="0">
                <a:solidFill>
                  <a:srgbClr val="006699"/>
                </a:solidFill>
                <a:latin typeface="Verdana" panose="020B0604030504040204" pitchFamily="34" charset="0"/>
              </a:rPr>
              <a:t>的强相合估计。</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35</a:t>
            </a:fld>
            <a:endParaRPr lang="zh-CN" altLang="en-US">
              <a:solidFill>
                <a:srgbClr val="898989"/>
              </a:solidFill>
            </a:endParaRPr>
          </a:p>
        </p:txBody>
      </p:sp>
      <p:pic>
        <p:nvPicPr>
          <p:cNvPr id="5" name="图片 4">
            <a:extLst>
              <a:ext uri="{FF2B5EF4-FFF2-40B4-BE49-F238E27FC236}">
                <a16:creationId xmlns:a16="http://schemas.microsoft.com/office/drawing/2014/main" id="{82A6EBDC-4ED9-4B2D-B6CF-4E4D87BC112F}"/>
              </a:ext>
            </a:extLst>
          </p:cNvPr>
          <p:cNvPicPr>
            <a:picLocks noChangeAspect="1"/>
          </p:cNvPicPr>
          <p:nvPr/>
        </p:nvPicPr>
        <p:blipFill>
          <a:blip r:embed="rId2"/>
          <a:stretch>
            <a:fillRect/>
          </a:stretch>
        </p:blipFill>
        <p:spPr>
          <a:xfrm>
            <a:off x="1133959" y="1786855"/>
            <a:ext cx="7099034" cy="1022261"/>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2EE05703-06C6-4AA7-93D0-C50BAAC8D7DB}"/>
                  </a:ext>
                </a:extLst>
              </p:cNvPr>
              <p:cNvSpPr txBox="1"/>
              <p:nvPr/>
            </p:nvSpPr>
            <p:spPr>
              <a:xfrm>
                <a:off x="1466655" y="3068960"/>
                <a:ext cx="4690532" cy="147707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smtClean="0">
                              <a:latin typeface="Cambria Math" panose="02040503050406030204" pitchFamily="18" charset="0"/>
                            </a:rPr>
                          </m:ctrlPr>
                        </m:dPr>
                        <m:e>
                          <m:acc>
                            <m:accPr>
                              <m:chr m:val="̂"/>
                              <m:ctrlPr>
                                <a:rPr lang="zh-CN" altLang="en-US" sz="3200" i="1" smtClean="0">
                                  <a:latin typeface="Cambria Math" panose="02040503050406030204" pitchFamily="18" charset="0"/>
                                </a:rPr>
                              </m:ctrlPr>
                            </m:accPr>
                            <m:e>
                              <m:r>
                                <a:rPr lang="zh-CN" altLang="en-US" sz="3200" i="1">
                                  <a:latin typeface="Cambria Math" panose="02040503050406030204" pitchFamily="18" charset="0"/>
                                </a:rPr>
                                <m:t>𝐼</m:t>
                              </m:r>
                            </m:e>
                          </m:acc>
                          <m:r>
                            <a:rPr lang="zh-CN" altLang="en-US" sz="3200" i="0">
                              <a:latin typeface="Cambria Math" panose="02040503050406030204" pitchFamily="18" charset="0"/>
                            </a:rPr>
                            <m:t>=</m:t>
                          </m:r>
                          <m:f>
                            <m:fPr>
                              <m:ctrlPr>
                                <a:rPr lang="zh-CN" altLang="en-US" sz="3200" i="1">
                                  <a:solidFill>
                                    <a:srgbClr val="836967"/>
                                  </a:solidFill>
                                  <a:latin typeface="Cambria Math" panose="02040503050406030204" pitchFamily="18" charset="0"/>
                                </a:rPr>
                              </m:ctrlPr>
                            </m:fPr>
                            <m:num>
                              <m:r>
                                <a:rPr lang="zh-CN" altLang="en-US" sz="3200" i="1">
                                  <a:latin typeface="Cambria Math" panose="02040503050406030204" pitchFamily="18" charset="0"/>
                                </a:rPr>
                                <m:t>𝑏</m:t>
                              </m:r>
                              <m:r>
                                <a:rPr lang="zh-CN" altLang="en-US" sz="3200" i="0">
                                  <a:latin typeface="Cambria Math" panose="02040503050406030204" pitchFamily="18" charset="0"/>
                                </a:rPr>
                                <m:t>−</m:t>
                              </m:r>
                              <m:r>
                                <a:rPr lang="zh-CN" altLang="en-US" sz="3200" i="1">
                                  <a:latin typeface="Cambria Math" panose="02040503050406030204" pitchFamily="18" charset="0"/>
                                </a:rPr>
                                <m:t>𝑎</m:t>
                              </m:r>
                            </m:num>
                            <m:den>
                              <m:r>
                                <a:rPr lang="zh-CN" altLang="en-US" sz="3200" i="1">
                                  <a:latin typeface="Cambria Math" panose="02040503050406030204" pitchFamily="18" charset="0"/>
                                </a:rPr>
                                <m:t>𝑁</m:t>
                              </m:r>
                            </m:den>
                          </m:f>
                          <m:nary>
                            <m:naryPr>
                              <m:chr m:val="∑"/>
                              <m:limLoc m:val="undOvr"/>
                              <m:grow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𝑖</m:t>
                              </m:r>
                              <m:r>
                                <a:rPr lang="zh-CN" altLang="en-US" sz="3200" i="0">
                                  <a:latin typeface="Cambria Math" panose="02040503050406030204" pitchFamily="18" charset="0"/>
                                </a:rPr>
                                <m:t>=1</m:t>
                              </m:r>
                            </m:sub>
                            <m:sup>
                              <m:r>
                                <a:rPr lang="zh-CN" altLang="en-US" sz="3200" i="1">
                                  <a:latin typeface="Cambria Math" panose="02040503050406030204" pitchFamily="18" charset="0"/>
                                </a:rPr>
                                <m:t>𝑁</m:t>
                              </m:r>
                            </m:sup>
                            <m:e>
                              <m:r>
                                <a:rPr lang="zh-CN" altLang="en-US" sz="3200" i="1">
                                  <a:latin typeface="Cambria Math" panose="02040503050406030204" pitchFamily="18" charset="0"/>
                                </a:rPr>
                                <m:t>h</m:t>
                              </m:r>
                            </m:e>
                          </m:nary>
                          <m:d>
                            <m:dPr>
                              <m:begChr m:val=""/>
                              <m:endChr m:val=""/>
                              <m:ctrlPr>
                                <a:rPr lang="zh-CN" altLang="en-US" sz="3200" i="1">
                                  <a:latin typeface="Cambria Math" panose="02040503050406030204" pitchFamily="18" charset="0"/>
                                </a:rPr>
                              </m:ctrlPr>
                            </m:dPr>
                            <m:e>
                              <m:r>
                                <a:rPr lang="zh-CN" altLang="en-US" sz="3200" i="0">
                                  <a:latin typeface="Cambria Math" panose="02040503050406030204" pitchFamily="18" charset="0"/>
                                </a:rPr>
                                <m:t>(</m:t>
                              </m:r>
                            </m:e>
                          </m:d>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𝑈</m:t>
                              </m:r>
                            </m:e>
                            <m:sub>
                              <m:r>
                                <a:rPr lang="zh-CN" altLang="en-US" sz="3200" i="1">
                                  <a:latin typeface="Cambria Math" panose="02040503050406030204" pitchFamily="18" charset="0"/>
                                </a:rPr>
                                <m:t>𝑖</m:t>
                              </m:r>
                            </m:sub>
                          </m:sSub>
                          <m:r>
                            <a:rPr lang="zh-CN" altLang="en-US" sz="3200" i="0">
                              <a:latin typeface="Cambria Math" panose="02040503050406030204" pitchFamily="18" charset="0"/>
                            </a:rPr>
                            <m:t>)</m:t>
                          </m:r>
                        </m:e>
                      </m:d>
                    </m:oMath>
                  </m:oMathPara>
                </a14:m>
                <a:endParaRPr lang="zh-CN" altLang="en-US" sz="3200" dirty="0"/>
              </a:p>
            </p:txBody>
          </p:sp>
        </mc:Choice>
        <mc:Fallback xmlns="">
          <p:sp>
            <p:nvSpPr>
              <p:cNvPr id="15" name="文本框 14">
                <a:extLst>
                  <a:ext uri="{FF2B5EF4-FFF2-40B4-BE49-F238E27FC236}">
                    <a16:creationId xmlns:a16="http://schemas.microsoft.com/office/drawing/2014/main" id="{2EE05703-06C6-4AA7-93D0-C50BAAC8D7DB}"/>
                  </a:ext>
                </a:extLst>
              </p:cNvPr>
              <p:cNvSpPr txBox="1">
                <a:spLocks noRot="1" noChangeAspect="1" noMove="1" noResize="1" noEditPoints="1" noAdjustHandles="1" noChangeArrowheads="1" noChangeShapeType="1" noTextEdit="1"/>
              </p:cNvSpPr>
              <p:nvPr/>
            </p:nvSpPr>
            <p:spPr>
              <a:xfrm>
                <a:off x="1466655" y="3068960"/>
                <a:ext cx="4690532" cy="1477071"/>
              </a:xfrm>
              <a:prstGeom prst="rect">
                <a:avLst/>
              </a:prstGeom>
              <a:blipFill>
                <a:blip r:embed="rId3"/>
                <a:stretch>
                  <a:fillRect/>
                </a:stretch>
              </a:blipFill>
              <a:ln w="25400">
                <a:noFill/>
              </a:ln>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B8A44AA6-383D-49C6-A92B-D9272EEE219C}"/>
              </a:ext>
            </a:extLst>
          </p:cNvPr>
          <p:cNvSpPr txBox="1"/>
          <p:nvPr/>
        </p:nvSpPr>
        <p:spPr>
          <a:xfrm>
            <a:off x="7381992" y="3677005"/>
            <a:ext cx="1304808"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Times New Roman"/>
                <a:ea typeface="宋体" panose="02010600030101010101" pitchFamily="2" charset="-122"/>
                <a:cs typeface="+mn-cs"/>
              </a:rPr>
              <a:t>(11.4)</a:t>
            </a:r>
            <a:endParaRPr lang="zh-CN" altLang="en-US" dirty="0"/>
          </a:p>
        </p:txBody>
      </p:sp>
    </p:spTree>
    <p:extLst>
      <p:ext uri="{BB962C8B-B14F-4D97-AF65-F5344CB8AC3E}">
        <p14:creationId xmlns:p14="http://schemas.microsoft.com/office/powerpoint/2010/main" val="36734274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平均值法步骤</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5875" y="998730"/>
            <a:ext cx="9159875" cy="4130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(1)</a:t>
            </a:r>
            <a:r>
              <a:rPr lang="zh-CN" altLang="en-US" sz="3200" dirty="0">
                <a:solidFill>
                  <a:srgbClr val="006699"/>
                </a:solidFill>
                <a:latin typeface="Verdana" panose="020B0604030504040204" pitchFamily="34" charset="0"/>
              </a:rPr>
              <a:t>独立地产生随机数</a:t>
            </a:r>
            <a:r>
              <a:rPr lang="en-US" altLang="zh-CN" sz="3200" dirty="0">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个</a:t>
            </a:r>
            <a:r>
              <a:rPr lang="en-US" altLang="zh-CN" sz="3200" dirty="0">
                <a:solidFill>
                  <a:srgbClr val="006699"/>
                </a:solidFill>
                <a:latin typeface="Verdana" panose="020B0604030504040204" pitchFamily="34" charset="0"/>
              </a:rPr>
              <a:t>U(0,1)</a:t>
            </a:r>
            <a:r>
              <a:rPr lang="zh-CN" altLang="en-US" sz="3200" dirty="0">
                <a:solidFill>
                  <a:srgbClr val="006699"/>
                </a:solidFill>
                <a:latin typeface="Verdana" panose="020B0604030504040204" pitchFamily="34" charset="0"/>
              </a:rPr>
              <a:t>随机数</a:t>
            </a:r>
            <a:r>
              <a:rPr lang="en-US" altLang="zh-CN" sz="3200" dirty="0">
                <a:solidFill>
                  <a:srgbClr val="006699"/>
                </a:solidFill>
                <a:latin typeface="Verdana" panose="020B0604030504040204" pitchFamily="34" charset="0"/>
              </a:rPr>
              <a:t>: </a:t>
            </a:r>
          </a:p>
          <a:p>
            <a:pPr marL="0" indent="0" eaLnBrk="1" hangingPunct="1">
              <a:spcBef>
                <a:spcPct val="20000"/>
              </a:spcBef>
            </a:pPr>
            <a:r>
              <a:rPr lang="en-US" altLang="zh-CN" sz="3200" dirty="0">
                <a:solidFill>
                  <a:srgbClr val="006699"/>
                </a:solidFill>
                <a:latin typeface="Verdana" panose="020B0604030504040204" pitchFamily="34" charset="0"/>
              </a:rPr>
              <a:t>                  </a:t>
            </a:r>
            <a:r>
              <a:rPr lang="en-US" altLang="zh-CN" sz="3200" dirty="0" err="1">
                <a:solidFill>
                  <a:srgbClr val="006699"/>
                </a:solidFill>
                <a:latin typeface="Verdana" panose="020B0604030504040204" pitchFamily="34" charset="0"/>
              </a:rPr>
              <a:t>u</a:t>
            </a:r>
            <a:r>
              <a:rPr lang="en-US" altLang="zh-CN" sz="3200" baseline="-25000" dirty="0" err="1">
                <a:solidFill>
                  <a:srgbClr val="006699"/>
                </a:solidFill>
                <a:latin typeface="Verdana" panose="020B0604030504040204" pitchFamily="34" charset="0"/>
              </a:rPr>
              <a:t>i</a:t>
            </a:r>
            <a:r>
              <a:rPr lang="en-US" altLang="zh-CN" sz="3200" dirty="0">
                <a:solidFill>
                  <a:srgbClr val="006699"/>
                </a:solidFill>
                <a:latin typeface="Verdana" panose="020B0604030504040204" pitchFamily="34" charset="0"/>
              </a:rPr>
              <a:t>, (i=1…,N)</a:t>
            </a: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dirty="0">
                <a:solidFill>
                  <a:srgbClr val="006699"/>
                </a:solidFill>
                <a:latin typeface="Verdana" panose="020B0604030504040204" pitchFamily="34" charset="0"/>
              </a:rPr>
              <a:t>(2)</a:t>
            </a:r>
            <a:r>
              <a:rPr lang="zh-CN" altLang="en-US" sz="3200" dirty="0">
                <a:solidFill>
                  <a:srgbClr val="006699"/>
                </a:solidFill>
                <a:latin typeface="Verdana" panose="020B0604030504040204" pitchFamily="34" charset="0"/>
              </a:rPr>
              <a:t>计算</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i</a:t>
            </a:r>
            <a:r>
              <a:rPr lang="en-US" altLang="zh-CN" sz="3200" dirty="0">
                <a:solidFill>
                  <a:srgbClr val="006699"/>
                </a:solidFill>
                <a:latin typeface="Verdana" panose="020B0604030504040204" pitchFamily="34" charset="0"/>
              </a:rPr>
              <a:t>=a+u</a:t>
            </a:r>
            <a:r>
              <a:rPr lang="en-US" altLang="zh-CN" sz="3200" baseline="-25000" dirty="0">
                <a:solidFill>
                  <a:srgbClr val="006699"/>
                </a:solidFill>
                <a:latin typeface="Verdana" panose="020B0604030504040204" pitchFamily="34" charset="0"/>
              </a:rPr>
              <a:t>i</a:t>
            </a:r>
            <a:r>
              <a:rPr lang="en-US" altLang="zh-CN" sz="3200" dirty="0">
                <a:solidFill>
                  <a:srgbClr val="006699"/>
                </a:solidFill>
                <a:latin typeface="Verdana" panose="020B0604030504040204" pitchFamily="34" charset="0"/>
              </a:rPr>
              <a:t>(b-a),</a:t>
            </a:r>
            <a:r>
              <a:rPr lang="zh-CN" altLang="en-US" sz="3200" dirty="0">
                <a:solidFill>
                  <a:srgbClr val="006699"/>
                </a:solidFill>
                <a:latin typeface="Verdana" panose="020B0604030504040204" pitchFamily="34" charset="0"/>
              </a:rPr>
              <a:t>和</a:t>
            </a:r>
            <a:r>
              <a:rPr lang="en-US" altLang="zh-CN" sz="3200" i="1" dirty="0">
                <a:solidFill>
                  <a:srgbClr val="006699"/>
                </a:solidFill>
                <a:latin typeface="Verdana" panose="020B0604030504040204" pitchFamily="34" charset="0"/>
              </a:rPr>
              <a:t>h</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i</a:t>
            </a:r>
            <a:r>
              <a:rPr lang="en-US" altLang="zh-CN" sz="3200" dirty="0">
                <a:solidFill>
                  <a:srgbClr val="006699"/>
                </a:solidFill>
                <a:latin typeface="Verdana" panose="020B0604030504040204" pitchFamily="34" charset="0"/>
              </a:rPr>
              <a:t>)</a:t>
            </a:r>
          </a:p>
          <a:p>
            <a:pPr marL="0" indent="0" eaLnBrk="1" hangingPunct="1">
              <a:spcBef>
                <a:spcPct val="20000"/>
              </a:spcBef>
            </a:pPr>
            <a:r>
              <a:rPr lang="en-US" altLang="zh-CN" sz="3200" dirty="0">
                <a:solidFill>
                  <a:srgbClr val="006699"/>
                </a:solidFill>
                <a:latin typeface="Verdana" panose="020B0604030504040204" pitchFamily="34" charset="0"/>
              </a:rPr>
              <a:t> </a:t>
            </a:r>
          </a:p>
          <a:p>
            <a:pPr marL="0" indent="0" eaLnBrk="1" hangingPunct="1">
              <a:spcBef>
                <a:spcPct val="20000"/>
              </a:spcBef>
            </a:pPr>
            <a:r>
              <a:rPr lang="en-US" altLang="zh-CN" sz="3200" dirty="0">
                <a:solidFill>
                  <a:srgbClr val="006699"/>
                </a:solidFill>
                <a:latin typeface="Verdana" panose="020B0604030504040204" pitchFamily="34" charset="0"/>
              </a:rPr>
              <a:t>(3)</a:t>
            </a:r>
            <a:r>
              <a:rPr lang="zh-CN" altLang="en-US" sz="3200" dirty="0">
                <a:solidFill>
                  <a:srgbClr val="006699"/>
                </a:solidFill>
                <a:latin typeface="Verdana" panose="020B0604030504040204" pitchFamily="34" charset="0"/>
              </a:rPr>
              <a:t> 用</a:t>
            </a:r>
            <a:r>
              <a:rPr lang="en-US" altLang="zh-CN" sz="3200" dirty="0">
                <a:solidFill>
                  <a:srgbClr val="006699"/>
                </a:solidFill>
                <a:latin typeface="Verdana" panose="020B0604030504040204" pitchFamily="34" charset="0"/>
              </a:rPr>
              <a:t>(11.4)</a:t>
            </a:r>
            <a:r>
              <a:rPr lang="zh-CN" altLang="en-US" sz="3200" dirty="0">
                <a:solidFill>
                  <a:srgbClr val="006699"/>
                </a:solidFill>
                <a:latin typeface="Verdana" panose="020B0604030504040204" pitchFamily="34" charset="0"/>
              </a:rPr>
              <a:t>估计</a:t>
            </a:r>
            <a:r>
              <a:rPr lang="en-US" altLang="zh-CN" sz="3200" dirty="0">
                <a:solidFill>
                  <a:srgbClr val="006699"/>
                </a:solidFill>
                <a:latin typeface="Verdana" panose="020B0604030504040204" pitchFamily="34" charset="0"/>
              </a:rPr>
              <a:t>I</a:t>
            </a:r>
            <a:r>
              <a:rPr lang="el-GR" altLang="zh-CN" sz="3200" dirty="0">
                <a:solidFill>
                  <a:srgbClr val="006699"/>
                </a:solidFill>
                <a:latin typeface="Verdana" panose="020B0604030504040204" pitchFamily="34" charset="0"/>
              </a:rPr>
              <a:t>.</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mn-lt"/>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36</a:t>
            </a:fld>
            <a:endParaRPr lang="zh-CN" altLang="en-US">
              <a:solidFill>
                <a:srgbClr val="898989"/>
              </a:solidFill>
            </a:endParaRPr>
          </a:p>
        </p:txBody>
      </p:sp>
      <p:sp>
        <p:nvSpPr>
          <p:cNvPr id="14" name="文本框 13">
            <a:extLst>
              <a:ext uri="{FF2B5EF4-FFF2-40B4-BE49-F238E27FC236}">
                <a16:creationId xmlns:a16="http://schemas.microsoft.com/office/drawing/2014/main" id="{266B3396-238B-4134-AF4E-C2055209BFB4}"/>
              </a:ext>
            </a:extLst>
          </p:cNvPr>
          <p:cNvSpPr txBox="1"/>
          <p:nvPr/>
        </p:nvSpPr>
        <p:spPr>
          <a:xfrm>
            <a:off x="6068791" y="5034875"/>
            <a:ext cx="1304808"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Times New Roman"/>
                <a:ea typeface="宋体" panose="02010600030101010101" pitchFamily="2" charset="-122"/>
                <a:cs typeface="+mn-cs"/>
              </a:rPr>
              <a:t>(11.4)</a:t>
            </a:r>
            <a:endParaRPr lang="zh-CN" altLang="en-US" dirty="0"/>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1DC2DDC0-9828-4BF1-B288-7485ED78E490}"/>
                  </a:ext>
                </a:extLst>
              </p:cNvPr>
              <p:cNvSpPr txBox="1"/>
              <p:nvPr/>
            </p:nvSpPr>
            <p:spPr>
              <a:xfrm>
                <a:off x="1331640" y="4588728"/>
                <a:ext cx="4690532" cy="147707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smtClean="0">
                              <a:latin typeface="Cambria Math" panose="02040503050406030204" pitchFamily="18" charset="0"/>
                            </a:rPr>
                          </m:ctrlPr>
                        </m:dPr>
                        <m:e>
                          <m:acc>
                            <m:accPr>
                              <m:chr m:val="̂"/>
                              <m:ctrlPr>
                                <a:rPr lang="zh-CN" altLang="en-US" sz="3200" i="1" smtClean="0">
                                  <a:latin typeface="Cambria Math" panose="02040503050406030204" pitchFamily="18" charset="0"/>
                                </a:rPr>
                              </m:ctrlPr>
                            </m:accPr>
                            <m:e>
                              <m:r>
                                <a:rPr lang="zh-CN" altLang="en-US" sz="3200" i="1">
                                  <a:latin typeface="Cambria Math" panose="02040503050406030204" pitchFamily="18" charset="0"/>
                                </a:rPr>
                                <m:t>𝐼</m:t>
                              </m:r>
                            </m:e>
                          </m:acc>
                          <m:r>
                            <a:rPr lang="zh-CN" altLang="en-US" sz="3200" i="0">
                              <a:latin typeface="Cambria Math" panose="02040503050406030204" pitchFamily="18" charset="0"/>
                            </a:rPr>
                            <m:t>=</m:t>
                          </m:r>
                          <m:f>
                            <m:fPr>
                              <m:ctrlPr>
                                <a:rPr lang="zh-CN" altLang="en-US" sz="3200" i="1">
                                  <a:solidFill>
                                    <a:srgbClr val="836967"/>
                                  </a:solidFill>
                                  <a:latin typeface="Cambria Math" panose="02040503050406030204" pitchFamily="18" charset="0"/>
                                </a:rPr>
                              </m:ctrlPr>
                            </m:fPr>
                            <m:num>
                              <m:r>
                                <a:rPr lang="zh-CN" altLang="en-US" sz="3200" i="1">
                                  <a:latin typeface="Cambria Math" panose="02040503050406030204" pitchFamily="18" charset="0"/>
                                </a:rPr>
                                <m:t>𝑏</m:t>
                              </m:r>
                              <m:r>
                                <a:rPr lang="zh-CN" altLang="en-US" sz="3200" i="0">
                                  <a:latin typeface="Cambria Math" panose="02040503050406030204" pitchFamily="18" charset="0"/>
                                </a:rPr>
                                <m:t>−</m:t>
                              </m:r>
                              <m:r>
                                <a:rPr lang="zh-CN" altLang="en-US" sz="3200" i="1">
                                  <a:latin typeface="Cambria Math" panose="02040503050406030204" pitchFamily="18" charset="0"/>
                                </a:rPr>
                                <m:t>𝑎</m:t>
                              </m:r>
                            </m:num>
                            <m:den>
                              <m:r>
                                <a:rPr lang="zh-CN" altLang="en-US" sz="3200" i="1">
                                  <a:latin typeface="Cambria Math" panose="02040503050406030204" pitchFamily="18" charset="0"/>
                                </a:rPr>
                                <m:t>𝑁</m:t>
                              </m:r>
                            </m:den>
                          </m:f>
                          <m:nary>
                            <m:naryPr>
                              <m:chr m:val="∑"/>
                              <m:limLoc m:val="undOvr"/>
                              <m:grow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𝑖</m:t>
                              </m:r>
                              <m:r>
                                <a:rPr lang="zh-CN" altLang="en-US" sz="3200" i="0">
                                  <a:latin typeface="Cambria Math" panose="02040503050406030204" pitchFamily="18" charset="0"/>
                                </a:rPr>
                                <m:t>=1</m:t>
                              </m:r>
                            </m:sub>
                            <m:sup>
                              <m:r>
                                <a:rPr lang="zh-CN" altLang="en-US" sz="3200" i="1">
                                  <a:latin typeface="Cambria Math" panose="02040503050406030204" pitchFamily="18" charset="0"/>
                                </a:rPr>
                                <m:t>𝑁</m:t>
                              </m:r>
                            </m:sup>
                            <m:e>
                              <m:r>
                                <a:rPr lang="zh-CN" altLang="en-US" sz="3200" i="1">
                                  <a:latin typeface="Cambria Math" panose="02040503050406030204" pitchFamily="18" charset="0"/>
                                </a:rPr>
                                <m:t>h</m:t>
                              </m:r>
                            </m:e>
                          </m:nary>
                          <m:d>
                            <m:dPr>
                              <m:begChr m:val=""/>
                              <m:endChr m:val=""/>
                              <m:ctrlPr>
                                <a:rPr lang="zh-CN" altLang="en-US" sz="3200" i="1">
                                  <a:latin typeface="Cambria Math" panose="02040503050406030204" pitchFamily="18" charset="0"/>
                                </a:rPr>
                              </m:ctrlPr>
                            </m:dPr>
                            <m:e>
                              <m:r>
                                <a:rPr lang="zh-CN" altLang="en-US" sz="3200" i="0">
                                  <a:latin typeface="Cambria Math" panose="02040503050406030204" pitchFamily="18" charset="0"/>
                                </a:rPr>
                                <m:t>(</m:t>
                              </m:r>
                            </m:e>
                          </m:d>
                          <m:sSub>
                            <m:sSubPr>
                              <m:ctrlPr>
                                <a:rPr lang="zh-CN" altLang="en-US" sz="3200" i="1">
                                  <a:solidFill>
                                    <a:srgbClr val="836967"/>
                                  </a:solidFill>
                                  <a:latin typeface="Cambria Math" panose="02040503050406030204" pitchFamily="18" charset="0"/>
                                </a:rPr>
                              </m:ctrlPr>
                            </m:sSubPr>
                            <m:e>
                              <m:r>
                                <a:rPr lang="en-US" altLang="zh-CN" sz="3200" b="0" i="1" smtClean="0">
                                  <a:latin typeface="Cambria Math" panose="02040503050406030204" pitchFamily="18" charset="0"/>
                                </a:rPr>
                                <m:t>𝑋</m:t>
                              </m:r>
                            </m:e>
                            <m:sub>
                              <m:r>
                                <a:rPr lang="zh-CN" altLang="en-US" sz="3200" i="1">
                                  <a:latin typeface="Cambria Math" panose="02040503050406030204" pitchFamily="18" charset="0"/>
                                </a:rPr>
                                <m:t>𝑖</m:t>
                              </m:r>
                            </m:sub>
                          </m:sSub>
                          <m:r>
                            <a:rPr lang="zh-CN" altLang="en-US" sz="3200" i="0">
                              <a:latin typeface="Cambria Math" panose="02040503050406030204" pitchFamily="18" charset="0"/>
                            </a:rPr>
                            <m:t>)</m:t>
                          </m:r>
                        </m:e>
                      </m:d>
                    </m:oMath>
                  </m:oMathPara>
                </a14:m>
                <a:endParaRPr lang="zh-CN" altLang="en-US" sz="3200" dirty="0"/>
              </a:p>
            </p:txBody>
          </p:sp>
        </mc:Choice>
        <mc:Fallback xmlns="">
          <p:sp>
            <p:nvSpPr>
              <p:cNvPr id="9" name="文本框 8">
                <a:extLst>
                  <a:ext uri="{FF2B5EF4-FFF2-40B4-BE49-F238E27FC236}">
                    <a16:creationId xmlns:a16="http://schemas.microsoft.com/office/drawing/2014/main" id="{1DC2DDC0-9828-4BF1-B288-7485ED78E490}"/>
                  </a:ext>
                </a:extLst>
              </p:cNvPr>
              <p:cNvSpPr txBox="1">
                <a:spLocks noRot="1" noChangeAspect="1" noMove="1" noResize="1" noEditPoints="1" noAdjustHandles="1" noChangeArrowheads="1" noChangeShapeType="1" noTextEdit="1"/>
              </p:cNvSpPr>
              <p:nvPr/>
            </p:nvSpPr>
            <p:spPr>
              <a:xfrm>
                <a:off x="1331640" y="4588728"/>
                <a:ext cx="4690532" cy="1477071"/>
              </a:xfrm>
              <a:prstGeom prst="rect">
                <a:avLst/>
              </a:prstGeom>
              <a:blipFill>
                <a:blip r:embed="rId2"/>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9588573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3.2.2 </a:t>
            </a:r>
            <a:r>
              <a:rPr lang="zh-CN" altLang="en-US" dirty="0"/>
              <a:t>平均值法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0" y="999309"/>
            <a:ext cx="9159875"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由中心极限定理有</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其中</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仅与</a:t>
            </a:r>
            <a:r>
              <a:rPr lang="en-US" altLang="zh-CN" sz="3200" dirty="0">
                <a:solidFill>
                  <a:srgbClr val="006699"/>
                </a:solidFill>
                <a:latin typeface="Verdana" panose="020B0604030504040204" pitchFamily="34" charset="0"/>
              </a:rPr>
              <a:t>h</a:t>
            </a:r>
            <a:r>
              <a:rPr lang="zh-CN" altLang="en-US" sz="3200" dirty="0">
                <a:solidFill>
                  <a:srgbClr val="006699"/>
                </a:solidFill>
                <a:latin typeface="Verdana" panose="020B0604030504040204" pitchFamily="34" charset="0"/>
              </a:rPr>
              <a:t>有关，有</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37</a:t>
            </a:fld>
            <a:endParaRPr lang="zh-CN" altLang="en-US">
              <a:solidFill>
                <a:srgbClr val="898989"/>
              </a:solidFill>
            </a:endParaRPr>
          </a:p>
        </p:txBody>
      </p:sp>
      <p:pic>
        <p:nvPicPr>
          <p:cNvPr id="10" name="图片 9">
            <a:extLst>
              <a:ext uri="{FF2B5EF4-FFF2-40B4-BE49-F238E27FC236}">
                <a16:creationId xmlns:a16="http://schemas.microsoft.com/office/drawing/2014/main" id="{3397A56B-7945-4E6A-AE73-71FA9C1689D0}"/>
              </a:ext>
            </a:extLst>
          </p:cNvPr>
          <p:cNvPicPr>
            <a:picLocks noChangeAspect="1"/>
          </p:cNvPicPr>
          <p:nvPr/>
        </p:nvPicPr>
        <p:blipFill>
          <a:blip r:embed="rId2"/>
          <a:stretch>
            <a:fillRect/>
          </a:stretch>
        </p:blipFill>
        <p:spPr>
          <a:xfrm>
            <a:off x="1540703" y="2847762"/>
            <a:ext cx="6657972" cy="1109662"/>
          </a:xfrm>
          <a:prstGeom prst="rect">
            <a:avLst/>
          </a:prstGeom>
        </p:spPr>
      </p:pic>
      <p:pic>
        <p:nvPicPr>
          <p:cNvPr id="3" name="图片 2">
            <a:extLst>
              <a:ext uri="{FF2B5EF4-FFF2-40B4-BE49-F238E27FC236}">
                <a16:creationId xmlns:a16="http://schemas.microsoft.com/office/drawing/2014/main" id="{F3EFAD35-AEE0-4DB8-B021-627813AB7E0F}"/>
              </a:ext>
            </a:extLst>
          </p:cNvPr>
          <p:cNvPicPr>
            <a:picLocks noChangeAspect="1"/>
          </p:cNvPicPr>
          <p:nvPr/>
        </p:nvPicPr>
        <p:blipFill>
          <a:blip r:embed="rId3"/>
          <a:stretch>
            <a:fillRect/>
          </a:stretch>
        </p:blipFill>
        <p:spPr>
          <a:xfrm>
            <a:off x="1417898" y="1487992"/>
            <a:ext cx="5362053" cy="756996"/>
          </a:xfrm>
          <a:prstGeom prst="rect">
            <a:avLst/>
          </a:prstGeom>
        </p:spPr>
      </p:pic>
      <p:pic>
        <p:nvPicPr>
          <p:cNvPr id="7" name="图片 6">
            <a:extLst>
              <a:ext uri="{FF2B5EF4-FFF2-40B4-BE49-F238E27FC236}">
                <a16:creationId xmlns:a16="http://schemas.microsoft.com/office/drawing/2014/main" id="{61BE7BA0-A633-4C7C-A82C-7F2F3ED85351}"/>
              </a:ext>
            </a:extLst>
          </p:cNvPr>
          <p:cNvPicPr>
            <a:picLocks noChangeAspect="1"/>
          </p:cNvPicPr>
          <p:nvPr/>
        </p:nvPicPr>
        <p:blipFill>
          <a:blip r:embed="rId4"/>
          <a:stretch>
            <a:fillRect/>
          </a:stretch>
        </p:blipFill>
        <p:spPr>
          <a:xfrm>
            <a:off x="2379361" y="4971475"/>
            <a:ext cx="2490328" cy="714139"/>
          </a:xfrm>
          <a:prstGeom prst="rect">
            <a:avLst/>
          </a:prstGeom>
        </p:spPr>
      </p:pic>
    </p:spTree>
    <p:extLst>
      <p:ext uri="{BB962C8B-B14F-4D97-AF65-F5344CB8AC3E}">
        <p14:creationId xmlns:p14="http://schemas.microsoft.com/office/powerpoint/2010/main" val="41666403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16505" y="1770040"/>
            <a:ext cx="9159875" cy="176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求一般随机变量</a:t>
            </a:r>
            <a:r>
              <a:rPr lang="en-US" altLang="zh-CN" sz="3200" i="1"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的函数</a:t>
            </a:r>
            <a:r>
              <a:rPr lang="en-US" altLang="zh-CN" sz="3200" i="1" dirty="0">
                <a:solidFill>
                  <a:srgbClr val="006699"/>
                </a:solidFill>
                <a:latin typeface="Verdana" panose="020B0604030504040204" pitchFamily="34" charset="0"/>
              </a:rPr>
              <a:t>h</a:t>
            </a:r>
            <a:r>
              <a:rPr lang="en-US" altLang="zh-CN" sz="3200" dirty="0">
                <a:solidFill>
                  <a:srgbClr val="006699"/>
                </a:solidFill>
                <a:latin typeface="Verdana" panose="020B0604030504040204" pitchFamily="34" charset="0"/>
              </a:rPr>
              <a:t>(</a:t>
            </a:r>
            <a:r>
              <a:rPr lang="en-US" altLang="zh-CN" sz="3200" i="1" dirty="0">
                <a:solidFill>
                  <a:srgbClr val="006699"/>
                </a:solidFill>
                <a:latin typeface="Verdana" panose="020B0604030504040204" pitchFamily="34" charset="0"/>
              </a:rPr>
              <a:t>X</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的期望</a:t>
            </a:r>
            <a:r>
              <a:rPr lang="en-US" altLang="zh-CN" sz="3200" i="1" dirty="0">
                <a:solidFill>
                  <a:srgbClr val="006699"/>
                </a:solidFill>
                <a:latin typeface="Verdana" panose="020B0604030504040204" pitchFamily="34" charset="0"/>
              </a:rPr>
              <a:t>I</a:t>
            </a:r>
            <a:r>
              <a:rPr lang="en-US" altLang="zh-CN" sz="3200" dirty="0">
                <a:solidFill>
                  <a:srgbClr val="006699"/>
                </a:solidFill>
                <a:latin typeface="Verdana" panose="020B0604030504040204" pitchFamily="34" charset="0"/>
              </a:rPr>
              <a:t>=E</a:t>
            </a:r>
            <a:r>
              <a:rPr lang="en-US" altLang="zh-CN" sz="3200" i="1" dirty="0">
                <a:solidFill>
                  <a:srgbClr val="006699"/>
                </a:solidFill>
                <a:latin typeface="Verdana" panose="020B0604030504040204" pitchFamily="34" charset="0"/>
              </a:rPr>
              <a:t>h</a:t>
            </a:r>
            <a:r>
              <a:rPr lang="en-US" altLang="zh-CN" sz="3200" dirty="0">
                <a:solidFill>
                  <a:srgbClr val="006699"/>
                </a:solidFill>
                <a:latin typeface="Verdana" panose="020B0604030504040204" pitchFamily="34" charset="0"/>
              </a:rPr>
              <a:t>(</a:t>
            </a:r>
            <a:r>
              <a:rPr lang="en-US" altLang="zh-CN" sz="3200" i="1" dirty="0">
                <a:solidFill>
                  <a:srgbClr val="006699"/>
                </a:solidFill>
                <a:latin typeface="Verdana" panose="020B0604030504040204" pitchFamily="34" charset="0"/>
              </a:rPr>
              <a:t>X</a:t>
            </a:r>
            <a:r>
              <a:rPr lang="en-US" altLang="zh-CN" sz="3200" dirty="0">
                <a:solidFill>
                  <a:srgbClr val="006699"/>
                </a:solidFill>
                <a:latin typeface="Verdana" panose="020B0604030504040204" pitchFamily="34" charset="0"/>
              </a:rPr>
              <a:t>)</a:t>
            </a:r>
          </a:p>
          <a:p>
            <a:pPr marL="0" indent="0" eaLnBrk="1" hangingPunct="1">
              <a:spcBef>
                <a:spcPct val="20000"/>
              </a:spcBef>
            </a:pPr>
            <a:r>
              <a:rPr lang="zh-CN" altLang="zh-CN" sz="32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对</a:t>
            </a:r>
            <a:r>
              <a:rPr lang="en-US" altLang="zh-CN" sz="3200" i="1" dirty="0">
                <a:solidFill>
                  <a:srgbClr val="0070C0"/>
                </a:solidFill>
                <a:effectLst/>
                <a:latin typeface="Times New Roman" panose="02020603050405020304" pitchFamily="18" charset="0"/>
                <a:ea typeface="宋体" panose="02010600030101010101" pitchFamily="2" charset="-122"/>
              </a:rPr>
              <a:t>X</a:t>
            </a:r>
            <a:r>
              <a:rPr lang="zh-CN" altLang="zh-CN" sz="32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的随机数</a:t>
            </a:r>
            <a:r>
              <a:rPr lang="en-US" altLang="zh-CN" sz="3200" i="1" dirty="0">
                <a:solidFill>
                  <a:srgbClr val="0070C0"/>
                </a:solidFill>
                <a:effectLst/>
                <a:latin typeface="Times New Roman" panose="02020603050405020304" pitchFamily="18" charset="0"/>
                <a:ea typeface="宋体" panose="02010600030101010101" pitchFamily="2" charset="-122"/>
              </a:rPr>
              <a:t>X</a:t>
            </a:r>
            <a:r>
              <a:rPr lang="en-US" altLang="zh-CN" sz="3200" baseline="-25000" dirty="0">
                <a:solidFill>
                  <a:srgbClr val="0070C0"/>
                </a:solidFill>
                <a:effectLst/>
                <a:latin typeface="Times New Roman" panose="02020603050405020304" pitchFamily="18" charset="0"/>
                <a:ea typeface="宋体" panose="02010600030101010101" pitchFamily="2" charset="-122"/>
              </a:rPr>
              <a:t>i</a:t>
            </a:r>
            <a:r>
              <a:rPr lang="en-US" altLang="zh-CN" sz="3200" dirty="0">
                <a:solidFill>
                  <a:srgbClr val="0070C0"/>
                </a:solidFill>
                <a:effectLst/>
                <a:latin typeface="Times New Roman" panose="02020603050405020304" pitchFamily="18" charset="0"/>
                <a:ea typeface="宋体" panose="02010600030101010101" pitchFamily="2" charset="-122"/>
              </a:rPr>
              <a:t> (i=1,2,…,N), </a:t>
            </a:r>
            <a:r>
              <a:rPr lang="zh-CN" altLang="zh-CN" sz="32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令</a:t>
            </a:r>
            <a:r>
              <a:rPr lang="en-US" altLang="zh-CN" sz="3200" dirty="0">
                <a:solidFill>
                  <a:srgbClr val="0070C0"/>
                </a:solidFill>
                <a:effectLst/>
                <a:latin typeface="Times New Roman" panose="02020603050405020304" pitchFamily="18" charset="0"/>
                <a:ea typeface="宋体" panose="02010600030101010101" pitchFamily="2" charset="-122"/>
              </a:rPr>
              <a:t>Y</a:t>
            </a:r>
            <a:r>
              <a:rPr lang="en-US" altLang="zh-CN" sz="3200" baseline="-25000" dirty="0">
                <a:solidFill>
                  <a:srgbClr val="0070C0"/>
                </a:solidFill>
                <a:effectLst/>
                <a:latin typeface="Times New Roman" panose="02020603050405020304" pitchFamily="18" charset="0"/>
                <a:ea typeface="宋体" panose="02010600030101010101" pitchFamily="2" charset="-122"/>
              </a:rPr>
              <a:t>i</a:t>
            </a:r>
            <a:r>
              <a:rPr lang="en-US" altLang="zh-CN" sz="3200" dirty="0">
                <a:solidFill>
                  <a:srgbClr val="0070C0"/>
                </a:solidFill>
                <a:effectLst/>
                <a:latin typeface="Times New Roman" panose="02020603050405020304" pitchFamily="18" charset="0"/>
                <a:ea typeface="宋体" panose="02010600030101010101" pitchFamily="2" charset="-122"/>
              </a:rPr>
              <a:t> = </a:t>
            </a:r>
            <a:r>
              <a:rPr lang="en-US" altLang="zh-CN" sz="3200" i="1" dirty="0">
                <a:solidFill>
                  <a:srgbClr val="0070C0"/>
                </a:solidFill>
                <a:effectLst/>
                <a:latin typeface="Times New Roman" panose="02020603050405020304" pitchFamily="18" charset="0"/>
                <a:ea typeface="宋体" panose="02010600030101010101" pitchFamily="2" charset="-122"/>
              </a:rPr>
              <a:t>h</a:t>
            </a:r>
            <a:r>
              <a:rPr lang="en-US" altLang="zh-CN" sz="3200" dirty="0">
                <a:solidFill>
                  <a:srgbClr val="0070C0"/>
                </a:solidFill>
                <a:effectLst/>
                <a:latin typeface="Times New Roman" panose="02020603050405020304" pitchFamily="18" charset="0"/>
                <a:ea typeface="宋体" panose="02010600030101010101" pitchFamily="2" charset="-122"/>
              </a:rPr>
              <a:t>(</a:t>
            </a:r>
            <a:r>
              <a:rPr lang="en-US" altLang="zh-CN" sz="3200" i="1" dirty="0">
                <a:solidFill>
                  <a:srgbClr val="0070C0"/>
                </a:solidFill>
                <a:effectLst/>
                <a:latin typeface="Times New Roman" panose="02020603050405020304" pitchFamily="18" charset="0"/>
                <a:ea typeface="宋体" panose="02010600030101010101" pitchFamily="2" charset="-122"/>
              </a:rPr>
              <a:t>X</a:t>
            </a:r>
            <a:r>
              <a:rPr lang="en-US" altLang="zh-CN" sz="3200" baseline="-25000" dirty="0">
                <a:solidFill>
                  <a:srgbClr val="0070C0"/>
                </a:solidFill>
                <a:effectLst/>
                <a:latin typeface="Times New Roman" panose="02020603050405020304" pitchFamily="18" charset="0"/>
                <a:ea typeface="宋体" panose="02010600030101010101" pitchFamily="2" charset="-122"/>
              </a:rPr>
              <a:t>i</a:t>
            </a:r>
            <a:r>
              <a:rPr lang="en-US" altLang="zh-CN" sz="3200" dirty="0">
                <a:solidFill>
                  <a:srgbClr val="0070C0"/>
                </a:solidFill>
                <a:effectLst/>
                <a:latin typeface="Times New Roman" panose="02020603050405020304" pitchFamily="18" charset="0"/>
                <a:ea typeface="宋体" panose="02010600030101010101" pitchFamily="2" charset="-122"/>
              </a:rPr>
              <a:t>)</a:t>
            </a:r>
            <a:endParaRPr lang="en-US" altLang="zh-CN" sz="3200" dirty="0">
              <a:solidFill>
                <a:srgbClr val="0070C0"/>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也可以用</a:t>
            </a:r>
            <a:r>
              <a:rPr lang="zh-CN" altLang="en-US" sz="3200" dirty="0">
                <a:solidFill>
                  <a:srgbClr val="FF0000"/>
                </a:solidFill>
                <a:latin typeface="Verdana" panose="020B0604030504040204" pitchFamily="34" charset="0"/>
              </a:rPr>
              <a:t>平均值法来估计</a:t>
            </a:r>
            <a:r>
              <a:rPr lang="en-US" altLang="zh-CN" sz="3200" dirty="0">
                <a:solidFill>
                  <a:srgbClr val="FF0000"/>
                </a:solidFill>
                <a:latin typeface="Verdana" panose="020B0604030504040204" pitchFamily="34" charset="0"/>
              </a:rPr>
              <a:t>E</a:t>
            </a:r>
            <a:r>
              <a:rPr lang="en-US" altLang="zh-CN" sz="3200" i="1" dirty="0">
                <a:solidFill>
                  <a:srgbClr val="FF0000"/>
                </a:solidFill>
                <a:latin typeface="Verdana" panose="020B0604030504040204" pitchFamily="34" charset="0"/>
              </a:rPr>
              <a:t>h</a:t>
            </a:r>
            <a:r>
              <a:rPr lang="en-US" altLang="zh-CN" sz="3200" dirty="0">
                <a:solidFill>
                  <a:srgbClr val="FF0000"/>
                </a:solidFill>
                <a:latin typeface="Verdana" panose="020B0604030504040204" pitchFamily="34" charset="0"/>
              </a:rPr>
              <a:t>(X)</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38</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8D04FAB-FA40-4952-BEA2-0B058B9CF5D8}"/>
                  </a:ext>
                </a:extLst>
              </p:cNvPr>
              <p:cNvSpPr txBox="1"/>
              <p:nvPr/>
            </p:nvSpPr>
            <p:spPr>
              <a:xfrm>
                <a:off x="2096725" y="3536677"/>
                <a:ext cx="3115694" cy="147707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smtClean="0">
                              <a:solidFill>
                                <a:srgbClr val="836967"/>
                              </a:solidFill>
                              <a:latin typeface="Cambria Math" panose="02040503050406030204" pitchFamily="18" charset="0"/>
                            </a:rPr>
                          </m:ctrlPr>
                        </m:dPr>
                        <m:e>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𝐼</m:t>
                              </m:r>
                            </m:e>
                          </m:acc>
                          <m:r>
                            <a:rPr lang="zh-CN" altLang="en-US" sz="3200" i="0">
                              <a:latin typeface="Cambria Math" panose="02040503050406030204" pitchFamily="18" charset="0"/>
                            </a:rPr>
                            <m:t>=</m:t>
                          </m:r>
                          <m:f>
                            <m:fPr>
                              <m:ctrlPr>
                                <a:rPr lang="zh-CN" altLang="en-US" sz="3200" i="1">
                                  <a:solidFill>
                                    <a:srgbClr val="836967"/>
                                  </a:solidFill>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1">
                                  <a:latin typeface="Cambria Math" panose="02040503050406030204" pitchFamily="18" charset="0"/>
                                </a:rPr>
                                <m:t>𝑁</m:t>
                              </m:r>
                            </m:den>
                          </m:f>
                          <m:nary>
                            <m:naryPr>
                              <m:chr m:val="∑"/>
                              <m:limLoc m:val="undOvr"/>
                              <m:grow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𝑖</m:t>
                              </m:r>
                              <m:r>
                                <a:rPr lang="zh-CN" altLang="en-US" sz="3200" i="0">
                                  <a:latin typeface="Cambria Math" panose="02040503050406030204" pitchFamily="18" charset="0"/>
                                </a:rPr>
                                <m:t>=1</m:t>
                              </m:r>
                            </m:sub>
                            <m:sup>
                              <m:r>
                                <a:rPr lang="zh-CN" altLang="en-US" sz="3200" i="1">
                                  <a:latin typeface="Cambria Math" panose="02040503050406030204" pitchFamily="18" charset="0"/>
                                </a:rPr>
                                <m:t>𝑁</m:t>
                              </m:r>
                            </m:sup>
                            <m:e>
                              <m:r>
                                <a:rPr lang="zh-CN" altLang="en-US" sz="3200" i="1">
                                  <a:latin typeface="Cambria Math" panose="02040503050406030204" pitchFamily="18" charset="0"/>
                                </a:rPr>
                                <m:t>h</m:t>
                              </m:r>
                            </m:e>
                          </m:nary>
                          <m:d>
                            <m:dPr>
                              <m:begChr m:val=""/>
                              <m:endChr m:val=""/>
                              <m:ctrlPr>
                                <a:rPr lang="zh-CN" altLang="en-US" sz="3200" i="1">
                                  <a:latin typeface="Cambria Math" panose="02040503050406030204" pitchFamily="18" charset="0"/>
                                </a:rPr>
                              </m:ctrlPr>
                            </m:dPr>
                            <m:e>
                              <m:r>
                                <a:rPr lang="zh-CN" altLang="en-US" sz="3200" i="0">
                                  <a:latin typeface="Cambria Math" panose="02040503050406030204" pitchFamily="18" charset="0"/>
                                </a:rPr>
                                <m:t>(</m:t>
                              </m:r>
                            </m:e>
                          </m:d>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𝑋</m:t>
                              </m:r>
                            </m:e>
                            <m:sub>
                              <m:r>
                                <a:rPr lang="zh-CN" altLang="en-US" sz="3200" i="1">
                                  <a:latin typeface="Cambria Math" panose="02040503050406030204" pitchFamily="18" charset="0"/>
                                </a:rPr>
                                <m:t>𝑖</m:t>
                              </m:r>
                            </m:sub>
                          </m:sSub>
                          <m:r>
                            <a:rPr lang="zh-CN" altLang="en-US" sz="3200" i="0">
                              <a:latin typeface="Cambria Math" panose="02040503050406030204" pitchFamily="18" charset="0"/>
                            </a:rPr>
                            <m:t>)</m:t>
                          </m:r>
                        </m:e>
                      </m:d>
                    </m:oMath>
                  </m:oMathPara>
                </a14:m>
                <a:endParaRPr lang="zh-CN" altLang="en-US" dirty="0"/>
              </a:p>
            </p:txBody>
          </p:sp>
        </mc:Choice>
        <mc:Fallback xmlns="">
          <p:sp>
            <p:nvSpPr>
              <p:cNvPr id="9" name="文本框 8">
                <a:extLst>
                  <a:ext uri="{FF2B5EF4-FFF2-40B4-BE49-F238E27FC236}">
                    <a16:creationId xmlns:a16="http://schemas.microsoft.com/office/drawing/2014/main" id="{D8D04FAB-FA40-4952-BEA2-0B058B9CF5D8}"/>
                  </a:ext>
                </a:extLst>
              </p:cNvPr>
              <p:cNvSpPr txBox="1">
                <a:spLocks noRot="1" noChangeAspect="1" noMove="1" noResize="1" noEditPoints="1" noAdjustHandles="1" noChangeArrowheads="1" noChangeShapeType="1" noTextEdit="1"/>
              </p:cNvSpPr>
              <p:nvPr/>
            </p:nvSpPr>
            <p:spPr>
              <a:xfrm>
                <a:off x="2096725" y="3536677"/>
                <a:ext cx="3115694" cy="1477071"/>
              </a:xfrm>
              <a:prstGeom prst="rect">
                <a:avLst/>
              </a:prstGeom>
              <a:blipFill>
                <a:blip r:embed="rId2"/>
                <a:stretch>
                  <a:fillRect/>
                </a:stretch>
              </a:blipFill>
              <a:ln w="25400">
                <a:noFill/>
              </a:ln>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7BD5AA0A-2851-4591-8FAA-D0F4856F5109}"/>
              </a:ext>
            </a:extLst>
          </p:cNvPr>
          <p:cNvSpPr txBox="1"/>
          <p:nvPr/>
        </p:nvSpPr>
        <p:spPr>
          <a:xfrm>
            <a:off x="0" y="980656"/>
            <a:ext cx="4690532" cy="584775"/>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求随机变量函数期望</a:t>
            </a:r>
            <a:endParaRPr lang="zh-CN" altLang="en-US" b="1" dirty="0">
              <a:solidFill>
                <a:srgbClr val="FF0000"/>
              </a:solidFill>
            </a:endParaRPr>
          </a:p>
        </p:txBody>
      </p:sp>
      <p:sp>
        <p:nvSpPr>
          <p:cNvPr id="8" name="标题 1">
            <a:extLst>
              <a:ext uri="{FF2B5EF4-FFF2-40B4-BE49-F238E27FC236}">
                <a16:creationId xmlns:a16="http://schemas.microsoft.com/office/drawing/2014/main" id="{5E15A6CF-A857-4948-8856-FE6FBDE98003}"/>
              </a:ext>
            </a:extLst>
          </p:cNvPr>
          <p:cNvSpPr txBox="1">
            <a:spLocks noChangeArrowheads="1"/>
          </p:cNvSpPr>
          <p:nvPr/>
        </p:nvSpPr>
        <p:spPr bwMode="auto">
          <a:xfrm>
            <a:off x="116505" y="39142"/>
            <a:ext cx="82296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0" marR="0" indent="0" algn="ctr" defTabSz="513715" rtl="0" eaLnBrk="1" fontAlgn="auto" latinLnBrk="0" hangingPunct="1">
              <a:lnSpc>
                <a:spcPct val="100000"/>
              </a:lnSpc>
              <a:spcBef>
                <a:spcPct val="0"/>
              </a:spcBef>
              <a:spcAft>
                <a:spcPts val="0"/>
              </a:spcAft>
              <a:buClrTx/>
              <a:buSzTx/>
              <a:buFontTx/>
              <a:buNone/>
              <a:defRPr sz="3600" kern="1200">
                <a:solidFill>
                  <a:schemeClr val="tx1"/>
                </a:solidFill>
                <a:latin typeface="+mj-lt"/>
                <a:ea typeface="+mj-ea"/>
                <a:cs typeface="+mj-cs"/>
              </a:defRPr>
            </a:lvl1pPr>
            <a:lvl2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2pPr>
            <a:lvl3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3pPr>
            <a:lvl4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4pPr>
            <a:lvl5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5pPr>
            <a:lvl6pPr marL="4572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6pPr>
            <a:lvl7pPr marL="9144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7pPr>
            <a:lvl8pPr marL="13716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8pPr>
            <a:lvl9pPr marL="18288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9pPr>
          </a:lstStyle>
          <a:p>
            <a:pPr algn="l" defTabSz="512763" fontAlgn="base">
              <a:spcAft>
                <a:spcPct val="0"/>
              </a:spcAft>
            </a:pPr>
            <a:r>
              <a:rPr lang="en-US" altLang="zh-CN"/>
              <a:t>3.2.2 </a:t>
            </a:r>
            <a:r>
              <a:rPr lang="zh-CN" altLang="en-US"/>
              <a:t>平均值法</a:t>
            </a:r>
            <a:endParaRPr lang="zh-CN" altLang="en-US" dirty="0"/>
          </a:p>
        </p:txBody>
      </p:sp>
      <p:sp>
        <p:nvSpPr>
          <p:cNvPr id="13" name="文本框 12">
            <a:extLst>
              <a:ext uri="{FF2B5EF4-FFF2-40B4-BE49-F238E27FC236}">
                <a16:creationId xmlns:a16="http://schemas.microsoft.com/office/drawing/2014/main" id="{2F3AF4EB-602E-4D52-ABC5-0D92693A0851}"/>
              </a:ext>
            </a:extLst>
          </p:cNvPr>
          <p:cNvSpPr txBox="1"/>
          <p:nvPr/>
        </p:nvSpPr>
        <p:spPr>
          <a:xfrm>
            <a:off x="116504" y="5031546"/>
            <a:ext cx="6165685" cy="584775"/>
          </a:xfrm>
          <a:prstGeom prst="rect">
            <a:avLst/>
          </a:prstGeom>
          <a:noFill/>
          <a:ln w="25400">
            <a:noFill/>
          </a:ln>
        </p:spPr>
        <p:txBody>
          <a:bodyPr wrap="square">
            <a:sp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是</a:t>
            </a:r>
            <a:r>
              <a:rPr kumimoji="0" lang="en-US" altLang="zh-CN" sz="3200" b="0"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I</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的无偏估计和强相合估计</a:t>
            </a:r>
          </a:p>
        </p:txBody>
      </p:sp>
    </p:spTree>
    <p:extLst>
      <p:ext uri="{BB962C8B-B14F-4D97-AF65-F5344CB8AC3E}">
        <p14:creationId xmlns:p14="http://schemas.microsoft.com/office/powerpoint/2010/main" val="293867927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例</a:t>
            </a:r>
            <a:r>
              <a:rPr lang="en-US" altLang="zh-CN" dirty="0"/>
              <a:t>11.1</a:t>
            </a:r>
            <a:endParaRPr lang="zh-CN" altLang="en-US" dirty="0"/>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0" y="999309"/>
            <a:ext cx="9159875" cy="2357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设</a:t>
            </a:r>
            <a:r>
              <a:rPr lang="en-US" altLang="zh-CN" sz="3200" dirty="0">
                <a:solidFill>
                  <a:srgbClr val="006699"/>
                </a:solidFill>
                <a:latin typeface="Verdana" panose="020B0604030504040204" pitchFamily="34" charset="0"/>
              </a:rPr>
              <a:t>X~N(0,1)</a:t>
            </a:r>
            <a:r>
              <a:rPr lang="zh-CN" altLang="en-US" sz="3200" dirty="0">
                <a:solidFill>
                  <a:srgbClr val="006699"/>
                </a:solidFill>
                <a:latin typeface="Verdana" panose="020B0604030504040204" pitchFamily="34" charset="0"/>
              </a:rPr>
              <a:t> ，求</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解：</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用</a:t>
            </a:r>
            <a:r>
              <a:rPr lang="zh-CN" altLang="en-US" sz="3200" dirty="0">
                <a:solidFill>
                  <a:srgbClr val="FF0000"/>
                </a:solidFill>
                <a:latin typeface="Verdana" panose="020B0604030504040204" pitchFamily="34" charset="0"/>
              </a:rPr>
              <a:t>平均值法</a:t>
            </a:r>
            <a:r>
              <a:rPr lang="zh-CN" altLang="en-US" sz="3200" dirty="0">
                <a:solidFill>
                  <a:srgbClr val="006699"/>
                </a:solidFill>
                <a:latin typeface="Verdana" panose="020B0604030504040204" pitchFamily="34" charset="0"/>
              </a:rPr>
              <a:t>估计</a:t>
            </a:r>
            <a:r>
              <a:rPr lang="en-US" altLang="zh-CN" sz="3200" dirty="0">
                <a:solidFill>
                  <a:srgbClr val="006699"/>
                </a:solidFill>
                <a:latin typeface="Verdana" panose="020B0604030504040204" pitchFamily="34" charset="0"/>
              </a:rPr>
              <a:t>I, </a:t>
            </a:r>
            <a:r>
              <a:rPr lang="zh-CN" altLang="en-US" sz="3200" dirty="0">
                <a:solidFill>
                  <a:srgbClr val="006699"/>
                </a:solidFill>
                <a:latin typeface="Verdana" panose="020B0604030504040204" pitchFamily="34" charset="0"/>
              </a:rPr>
              <a:t>取抽样样本量</a:t>
            </a:r>
            <a:r>
              <a:rPr lang="en-US" altLang="zh-CN" sz="3200" dirty="0">
                <a:solidFill>
                  <a:srgbClr val="006699"/>
                </a:solidFill>
                <a:latin typeface="Verdana" panose="020B0604030504040204" pitchFamily="34" charset="0"/>
              </a:rPr>
              <a:t>N=10000, </a:t>
            </a:r>
          </a:p>
          <a:p>
            <a:pPr marL="0" indent="0" eaLnBrk="1" hangingPunct="1">
              <a:spcBef>
                <a:spcPct val="20000"/>
              </a:spcBef>
            </a:pPr>
            <a:r>
              <a:rPr lang="zh-CN" altLang="en-US" sz="3200" dirty="0">
                <a:solidFill>
                  <a:srgbClr val="006699"/>
                </a:solidFill>
                <a:latin typeface="Verdana" panose="020B0604030504040204" pitchFamily="34" charset="0"/>
              </a:rPr>
              <a:t>产生标准正态随机数</a:t>
            </a:r>
            <a:r>
              <a:rPr lang="en-US" altLang="zh-CN" sz="3200" i="1"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i</a:t>
            </a:r>
            <a:r>
              <a:rPr lang="en-US" altLang="zh-CN" sz="3200" dirty="0">
                <a:solidFill>
                  <a:srgbClr val="006699"/>
                </a:solidFill>
                <a:latin typeface="Verdana" panose="020B0604030504040204" pitchFamily="34" charset="0"/>
              </a:rPr>
              <a:t> (i=1,2,…,N),</a:t>
            </a:r>
            <a:r>
              <a:rPr lang="zh-CN" altLang="en-US" sz="3200" dirty="0">
                <a:solidFill>
                  <a:srgbClr val="006699"/>
                </a:solidFill>
                <a:latin typeface="Verdana" panose="020B0604030504040204" pitchFamily="34" charset="0"/>
              </a:rPr>
              <a:t>令</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39</a:t>
            </a:fld>
            <a:endParaRPr lang="zh-CN" altLang="en-US">
              <a:solidFill>
                <a:srgbClr val="898989"/>
              </a:solidFill>
            </a:endParaRPr>
          </a:p>
        </p:txBody>
      </p:sp>
      <p:pic>
        <p:nvPicPr>
          <p:cNvPr id="8" name="图片 7">
            <a:extLst>
              <a:ext uri="{FF2B5EF4-FFF2-40B4-BE49-F238E27FC236}">
                <a16:creationId xmlns:a16="http://schemas.microsoft.com/office/drawing/2014/main" id="{54FDC543-A356-4562-8CB7-AE391B326032}"/>
              </a:ext>
            </a:extLst>
          </p:cNvPr>
          <p:cNvPicPr>
            <a:picLocks noChangeAspect="1"/>
          </p:cNvPicPr>
          <p:nvPr/>
        </p:nvPicPr>
        <p:blipFill>
          <a:blip r:embed="rId2"/>
          <a:stretch>
            <a:fillRect/>
          </a:stretch>
        </p:blipFill>
        <p:spPr>
          <a:xfrm>
            <a:off x="3581890" y="914584"/>
            <a:ext cx="1506126" cy="718833"/>
          </a:xfrm>
          <a:prstGeom prst="rect">
            <a:avLst/>
          </a:prstGeom>
        </p:spPr>
      </p:pic>
      <p:pic>
        <p:nvPicPr>
          <p:cNvPr id="13" name="图片 12">
            <a:extLst>
              <a:ext uri="{FF2B5EF4-FFF2-40B4-BE49-F238E27FC236}">
                <a16:creationId xmlns:a16="http://schemas.microsoft.com/office/drawing/2014/main" id="{DC974258-A83D-40F4-AC41-35EDAD80D5DE}"/>
              </a:ext>
            </a:extLst>
          </p:cNvPr>
          <p:cNvPicPr>
            <a:picLocks noChangeAspect="1"/>
          </p:cNvPicPr>
          <p:nvPr/>
        </p:nvPicPr>
        <p:blipFill>
          <a:blip r:embed="rId3"/>
          <a:stretch>
            <a:fillRect/>
          </a:stretch>
        </p:blipFill>
        <p:spPr>
          <a:xfrm>
            <a:off x="7334740" y="2641422"/>
            <a:ext cx="1352060" cy="764981"/>
          </a:xfrm>
          <a:prstGeom prst="rect">
            <a:avLst/>
          </a:prstGeom>
        </p:spPr>
      </p:pic>
      <p:sp>
        <p:nvSpPr>
          <p:cNvPr id="19" name="文本框 18">
            <a:extLst>
              <a:ext uri="{FF2B5EF4-FFF2-40B4-BE49-F238E27FC236}">
                <a16:creationId xmlns:a16="http://schemas.microsoft.com/office/drawing/2014/main" id="{66849475-4ACE-446E-961F-453CDDA69698}"/>
              </a:ext>
            </a:extLst>
          </p:cNvPr>
          <p:cNvSpPr txBox="1"/>
          <p:nvPr/>
        </p:nvSpPr>
        <p:spPr>
          <a:xfrm>
            <a:off x="0" y="3375174"/>
            <a:ext cx="8413300"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则</a:t>
            </a:r>
            <a:endParaRPr lang="zh-CN" altLang="en-US" dirty="0"/>
          </a:p>
        </p:txBody>
      </p:sp>
      <p:pic>
        <p:nvPicPr>
          <p:cNvPr id="20" name="图片 19">
            <a:extLst>
              <a:ext uri="{FF2B5EF4-FFF2-40B4-BE49-F238E27FC236}">
                <a16:creationId xmlns:a16="http://schemas.microsoft.com/office/drawing/2014/main" id="{3DCBCE65-5A20-40A9-9370-7EF54D89F82B}"/>
              </a:ext>
            </a:extLst>
          </p:cNvPr>
          <p:cNvPicPr>
            <a:picLocks noChangeAspect="1"/>
          </p:cNvPicPr>
          <p:nvPr/>
        </p:nvPicPr>
        <p:blipFill>
          <a:blip r:embed="rId4"/>
          <a:stretch>
            <a:fillRect/>
          </a:stretch>
        </p:blipFill>
        <p:spPr>
          <a:xfrm>
            <a:off x="1265674" y="3351044"/>
            <a:ext cx="2316216" cy="900751"/>
          </a:xfrm>
          <a:prstGeom prst="rect">
            <a:avLst/>
          </a:prstGeom>
        </p:spPr>
      </p:pic>
      <p:pic>
        <p:nvPicPr>
          <p:cNvPr id="24" name="图片 23">
            <a:extLst>
              <a:ext uri="{FF2B5EF4-FFF2-40B4-BE49-F238E27FC236}">
                <a16:creationId xmlns:a16="http://schemas.microsoft.com/office/drawing/2014/main" id="{CB7DC0A0-9239-4118-BA49-8D3343E87E34}"/>
              </a:ext>
            </a:extLst>
          </p:cNvPr>
          <p:cNvPicPr>
            <a:picLocks noChangeAspect="1"/>
          </p:cNvPicPr>
          <p:nvPr/>
        </p:nvPicPr>
        <p:blipFill>
          <a:blip r:embed="rId5"/>
          <a:stretch>
            <a:fillRect/>
          </a:stretch>
        </p:blipFill>
        <p:spPr>
          <a:xfrm>
            <a:off x="4634506" y="3383716"/>
            <a:ext cx="2316216" cy="732814"/>
          </a:xfrm>
          <a:prstGeom prst="rect">
            <a:avLst/>
          </a:prstGeom>
        </p:spPr>
      </p:pic>
      <p:sp>
        <p:nvSpPr>
          <p:cNvPr id="29" name="文本框 28">
            <a:extLst>
              <a:ext uri="{FF2B5EF4-FFF2-40B4-BE49-F238E27FC236}">
                <a16:creationId xmlns:a16="http://schemas.microsoft.com/office/drawing/2014/main" id="{B57A3CE4-F06B-43C8-9590-9F74F581DD39}"/>
              </a:ext>
            </a:extLst>
          </p:cNvPr>
          <p:cNvSpPr txBox="1"/>
          <p:nvPr/>
        </p:nvSpPr>
        <p:spPr>
          <a:xfrm>
            <a:off x="73613" y="4412619"/>
            <a:ext cx="8871763" cy="1077218"/>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一次模拟的结果得到</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   =0.8754, </a:t>
            </a:r>
          </a:p>
          <a:p>
            <a:r>
              <a:rPr lang="en-US" altLang="zh-CN" sz="3200" dirty="0">
                <a:solidFill>
                  <a:srgbClr val="006699"/>
                </a:solidFill>
                <a:latin typeface="Verdana" panose="020B0604030504040204" pitchFamily="34" charset="0"/>
              </a:rPr>
              <a:t>                         </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S</a:t>
            </a:r>
            <a:r>
              <a:rPr kumimoji="0" lang="en-US" altLang="zh-CN" sz="3200" b="0" i="0" u="none" strike="noStrike" kern="1200" cap="none" spc="0" normalizeH="0" baseline="-25000" noProof="0" dirty="0">
                <a:ln>
                  <a:noFill/>
                </a:ln>
                <a:solidFill>
                  <a:srgbClr val="006699"/>
                </a:solidFill>
                <a:effectLst/>
                <a:uLnTx/>
                <a:uFillTx/>
                <a:latin typeface="Verdana" panose="020B0604030504040204" pitchFamily="34" charset="0"/>
                <a:ea typeface="宋体" panose="02010600030101010101" pitchFamily="2" charset="-122"/>
                <a:cs typeface="+mn-cs"/>
              </a:rPr>
              <a:t>N</a:t>
            </a:r>
            <a:r>
              <a:rPr kumimoji="0" lang="en-US" altLang="zh-CN" sz="3200" b="0" i="0" u="none" strike="noStrike" kern="1200" cap="none" spc="0" normalizeH="0" baseline="0" noProof="0">
                <a:ln>
                  <a:noFill/>
                </a:ln>
                <a:solidFill>
                  <a:srgbClr val="006699"/>
                </a:solidFill>
                <a:effectLst/>
                <a:uLnTx/>
                <a:uFillTx/>
                <a:latin typeface="Verdana" panose="020B0604030504040204" pitchFamily="34" charset="0"/>
                <a:ea typeface="宋体" panose="02010600030101010101" pitchFamily="2" charset="-122"/>
                <a:cs typeface="+mn-cs"/>
              </a:rPr>
              <a:t>=0.09409</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D8C4B049-F732-451A-9565-C2C3DDC9114B}"/>
                  </a:ext>
                </a:extLst>
              </p:cNvPr>
              <p:cNvSpPr txBox="1"/>
              <p:nvPr/>
            </p:nvSpPr>
            <p:spPr>
              <a:xfrm>
                <a:off x="3885240" y="4425825"/>
                <a:ext cx="449713" cy="598369"/>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3200" i="1" smtClean="0">
                              <a:solidFill>
                                <a:srgbClr val="836967"/>
                              </a:solidFill>
                              <a:latin typeface="Cambria Math" panose="02040503050406030204" pitchFamily="18" charset="0"/>
                            </a:rPr>
                          </m:ctrlPr>
                        </m:accPr>
                        <m:e>
                          <m:r>
                            <a:rPr lang="zh-CN" altLang="en-US" sz="3200" i="1">
                              <a:latin typeface="Cambria Math" panose="02040503050406030204" pitchFamily="18" charset="0"/>
                            </a:rPr>
                            <m:t>𝐼</m:t>
                          </m:r>
                        </m:e>
                      </m:acc>
                    </m:oMath>
                  </m:oMathPara>
                </a14:m>
                <a:endParaRPr lang="zh-CN" altLang="en-US" sz="3200" dirty="0"/>
              </a:p>
            </p:txBody>
          </p:sp>
        </mc:Choice>
        <mc:Fallback xmlns="">
          <p:sp>
            <p:nvSpPr>
              <p:cNvPr id="31" name="文本框 30">
                <a:extLst>
                  <a:ext uri="{FF2B5EF4-FFF2-40B4-BE49-F238E27FC236}">
                    <a16:creationId xmlns:a16="http://schemas.microsoft.com/office/drawing/2014/main" id="{D8C4B049-F732-451A-9565-C2C3DDC9114B}"/>
                  </a:ext>
                </a:extLst>
              </p:cNvPr>
              <p:cNvSpPr txBox="1">
                <a:spLocks noRot="1" noChangeAspect="1" noMove="1" noResize="1" noEditPoints="1" noAdjustHandles="1" noChangeArrowheads="1" noChangeShapeType="1" noTextEdit="1"/>
              </p:cNvSpPr>
              <p:nvPr/>
            </p:nvSpPr>
            <p:spPr>
              <a:xfrm>
                <a:off x="3885240" y="4425825"/>
                <a:ext cx="449713" cy="598369"/>
              </a:xfrm>
              <a:prstGeom prst="rect">
                <a:avLst/>
              </a:prstGeom>
              <a:blipFill>
                <a:blip r:embed="rId6"/>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5022375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6" y="142875"/>
            <a:ext cx="9358406" cy="642938"/>
          </a:xfrm>
        </p:spPr>
        <p:txBody>
          <a:bodyPr/>
          <a:lstStyle/>
          <a:p>
            <a:pPr algn="l" defTabSz="512763" fontAlgn="base">
              <a:spcAft>
                <a:spcPct val="0"/>
              </a:spcAft>
            </a:pPr>
            <a:r>
              <a:rPr lang="en-US" altLang="zh-CN" dirty="0"/>
              <a:t>3.2.3 </a:t>
            </a:r>
            <a:r>
              <a:rPr lang="zh-CN" altLang="en-US" dirty="0"/>
              <a:t>随机模拟估计误差的评估与样本量计算</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83389" y="1222562"/>
            <a:ext cx="9159875" cy="4721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对</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设</a:t>
            </a: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dirty="0">
                <a:solidFill>
                  <a:srgbClr val="006699"/>
                </a:solidFill>
                <a:latin typeface="Verdana" panose="020B0604030504040204" pitchFamily="34" charset="0"/>
              </a:rPr>
              <a:t>Yi(</a:t>
            </a:r>
            <a:r>
              <a:rPr lang="en-US" altLang="zh-CN" sz="3200" dirty="0" err="1">
                <a:solidFill>
                  <a:srgbClr val="006699"/>
                </a:solidFill>
                <a:latin typeface="Verdana" panose="020B0604030504040204" pitchFamily="34" charset="0"/>
              </a:rPr>
              <a:t>i</a:t>
            </a:r>
            <a:r>
              <a:rPr lang="en-US" altLang="zh-CN" sz="3200" dirty="0">
                <a:solidFill>
                  <a:srgbClr val="006699"/>
                </a:solidFill>
                <a:latin typeface="Verdana" panose="020B0604030504040204" pitchFamily="34" charset="0"/>
              </a:rPr>
              <a:t>=1,…,N)</a:t>
            </a:r>
            <a:r>
              <a:rPr lang="zh-CN" altLang="en-US" sz="3200" dirty="0">
                <a:solidFill>
                  <a:srgbClr val="006699"/>
                </a:solidFill>
                <a:latin typeface="Verdana" panose="020B0604030504040204" pitchFamily="34" charset="0"/>
              </a:rPr>
              <a:t>独立同分布</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是来自</a:t>
            </a:r>
            <a:r>
              <a:rPr lang="en-US" altLang="zh-CN" sz="3200" dirty="0">
                <a:solidFill>
                  <a:srgbClr val="006699"/>
                </a:solidFill>
                <a:latin typeface="Verdana" panose="020B0604030504040204" pitchFamily="34" charset="0"/>
              </a:rPr>
              <a:t>Y</a:t>
            </a:r>
            <a:r>
              <a:rPr lang="zh-CN" altLang="en-US" sz="3200" dirty="0">
                <a:solidFill>
                  <a:srgbClr val="006699"/>
                </a:solidFill>
                <a:latin typeface="Verdana" panose="020B0604030504040204" pitchFamily="34" charset="0"/>
              </a:rPr>
              <a:t>的样本</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则</a:t>
            </a:r>
            <a:r>
              <a:rPr lang="el-GR" altLang="zh-CN" sz="3200" dirty="0">
                <a:solidFill>
                  <a:srgbClr val="006699"/>
                </a:solidFill>
                <a:latin typeface="Verdana" panose="020B0604030504040204" pitchFamily="34" charset="0"/>
              </a:rPr>
              <a:t>θ</a:t>
            </a:r>
            <a:r>
              <a:rPr lang="zh-CN" altLang="en-US" sz="3200" dirty="0">
                <a:solidFill>
                  <a:srgbClr val="006699"/>
                </a:solidFill>
                <a:latin typeface="Verdana" panose="020B0604030504040204" pitchFamily="34" charset="0"/>
              </a:rPr>
              <a:t>的估计</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令</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则</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40</a:t>
            </a:fld>
            <a:endParaRPr lang="zh-CN" altLang="en-US">
              <a:solidFill>
                <a:srgbClr val="898989"/>
              </a:solidFill>
            </a:endParaRPr>
          </a:p>
        </p:txBody>
      </p:sp>
      <p:pic>
        <p:nvPicPr>
          <p:cNvPr id="4" name="图片 3">
            <a:extLst>
              <a:ext uri="{FF2B5EF4-FFF2-40B4-BE49-F238E27FC236}">
                <a16:creationId xmlns:a16="http://schemas.microsoft.com/office/drawing/2014/main" id="{EBA50DC5-5FFC-4F43-BF20-4465BC813895}"/>
              </a:ext>
            </a:extLst>
          </p:cNvPr>
          <p:cNvPicPr>
            <a:picLocks noChangeAspect="1"/>
          </p:cNvPicPr>
          <p:nvPr/>
        </p:nvPicPr>
        <p:blipFill>
          <a:blip r:embed="rId2"/>
          <a:stretch>
            <a:fillRect/>
          </a:stretch>
        </p:blipFill>
        <p:spPr>
          <a:xfrm>
            <a:off x="1061610" y="1265185"/>
            <a:ext cx="1525500" cy="584775"/>
          </a:xfrm>
          <a:prstGeom prst="rect">
            <a:avLst/>
          </a:prstGeom>
        </p:spPr>
      </p:pic>
      <p:pic>
        <p:nvPicPr>
          <p:cNvPr id="9" name="图片 8">
            <a:extLst>
              <a:ext uri="{FF2B5EF4-FFF2-40B4-BE49-F238E27FC236}">
                <a16:creationId xmlns:a16="http://schemas.microsoft.com/office/drawing/2014/main" id="{AF43EF35-507C-4732-8C30-DD877FD404DB}"/>
              </a:ext>
            </a:extLst>
          </p:cNvPr>
          <p:cNvPicPr>
            <a:picLocks noChangeAspect="1"/>
          </p:cNvPicPr>
          <p:nvPr/>
        </p:nvPicPr>
        <p:blipFill>
          <a:blip r:embed="rId3"/>
          <a:stretch>
            <a:fillRect/>
          </a:stretch>
        </p:blipFill>
        <p:spPr>
          <a:xfrm>
            <a:off x="1061610" y="1892583"/>
            <a:ext cx="1976136" cy="584775"/>
          </a:xfrm>
          <a:prstGeom prst="rect">
            <a:avLst/>
          </a:prstGeom>
        </p:spPr>
      </p:pic>
      <p:pic>
        <p:nvPicPr>
          <p:cNvPr id="13" name="图片 12">
            <a:extLst>
              <a:ext uri="{FF2B5EF4-FFF2-40B4-BE49-F238E27FC236}">
                <a16:creationId xmlns:a16="http://schemas.microsoft.com/office/drawing/2014/main" id="{1674271A-3285-450F-9CAC-FD5122CD62E5}"/>
              </a:ext>
            </a:extLst>
          </p:cNvPr>
          <p:cNvPicPr>
            <a:picLocks noChangeAspect="1"/>
          </p:cNvPicPr>
          <p:nvPr/>
        </p:nvPicPr>
        <p:blipFill>
          <a:blip r:embed="rId4"/>
          <a:stretch>
            <a:fillRect/>
          </a:stretch>
        </p:blipFill>
        <p:spPr>
          <a:xfrm>
            <a:off x="2628937" y="3031822"/>
            <a:ext cx="2225696" cy="924520"/>
          </a:xfrm>
          <a:prstGeom prst="rect">
            <a:avLst/>
          </a:prstGeom>
        </p:spPr>
      </p:pic>
      <p:sp>
        <p:nvSpPr>
          <p:cNvPr id="20" name="文本框 19">
            <a:extLst>
              <a:ext uri="{FF2B5EF4-FFF2-40B4-BE49-F238E27FC236}">
                <a16:creationId xmlns:a16="http://schemas.microsoft.com/office/drawing/2014/main" id="{DDB1B05F-2085-4491-9A69-E939993FC713}"/>
              </a:ext>
            </a:extLst>
          </p:cNvPr>
          <p:cNvSpPr txBox="1"/>
          <p:nvPr/>
        </p:nvSpPr>
        <p:spPr>
          <a:xfrm>
            <a:off x="7273485" y="3201694"/>
            <a:ext cx="1757530"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(11.7)</a:t>
            </a:r>
            <a:endParaRPr lang="zh-CN" altLang="en-US" dirty="0"/>
          </a:p>
        </p:txBody>
      </p:sp>
      <p:pic>
        <p:nvPicPr>
          <p:cNvPr id="21" name="图片 20">
            <a:extLst>
              <a:ext uri="{FF2B5EF4-FFF2-40B4-BE49-F238E27FC236}">
                <a16:creationId xmlns:a16="http://schemas.microsoft.com/office/drawing/2014/main" id="{019656C4-B1BB-4429-BD69-1D438818E3B5}"/>
              </a:ext>
            </a:extLst>
          </p:cNvPr>
          <p:cNvPicPr>
            <a:picLocks noChangeAspect="1"/>
          </p:cNvPicPr>
          <p:nvPr/>
        </p:nvPicPr>
        <p:blipFill>
          <a:blip r:embed="rId5"/>
          <a:stretch>
            <a:fillRect/>
          </a:stretch>
        </p:blipFill>
        <p:spPr>
          <a:xfrm>
            <a:off x="740682" y="3978758"/>
            <a:ext cx="3332494" cy="1124717"/>
          </a:xfrm>
          <a:prstGeom prst="rect">
            <a:avLst/>
          </a:prstGeom>
        </p:spPr>
      </p:pic>
      <p:pic>
        <p:nvPicPr>
          <p:cNvPr id="25" name="图片 24">
            <a:extLst>
              <a:ext uri="{FF2B5EF4-FFF2-40B4-BE49-F238E27FC236}">
                <a16:creationId xmlns:a16="http://schemas.microsoft.com/office/drawing/2014/main" id="{47A01537-5C17-4D2B-AFD9-8D58B3E97662}"/>
              </a:ext>
            </a:extLst>
          </p:cNvPr>
          <p:cNvPicPr>
            <a:picLocks noChangeAspect="1"/>
          </p:cNvPicPr>
          <p:nvPr/>
        </p:nvPicPr>
        <p:blipFill>
          <a:blip r:embed="rId6"/>
          <a:stretch>
            <a:fillRect/>
          </a:stretch>
        </p:blipFill>
        <p:spPr>
          <a:xfrm>
            <a:off x="777411" y="5091357"/>
            <a:ext cx="2544533" cy="1163215"/>
          </a:xfrm>
          <a:prstGeom prst="rect">
            <a:avLst/>
          </a:prstGeom>
        </p:spPr>
      </p:pic>
    </p:spTree>
    <p:extLst>
      <p:ext uri="{BB962C8B-B14F-4D97-AF65-F5344CB8AC3E}">
        <p14:creationId xmlns:p14="http://schemas.microsoft.com/office/powerpoint/2010/main" val="33149012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6" y="142875"/>
            <a:ext cx="9358406" cy="642938"/>
          </a:xfrm>
        </p:spPr>
        <p:txBody>
          <a:bodyPr/>
          <a:lstStyle/>
          <a:p>
            <a:pPr algn="l" defTabSz="512763" fontAlgn="base">
              <a:spcAft>
                <a:spcPct val="0"/>
              </a:spcAft>
            </a:pPr>
            <a:r>
              <a:rPr lang="en-US" altLang="zh-CN" dirty="0"/>
              <a:t>3.2.3 </a:t>
            </a:r>
            <a:r>
              <a:rPr lang="zh-CN" altLang="en-US" dirty="0"/>
              <a:t>随机模拟估计误差的评估与样本量计算</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92743" y="1020694"/>
            <a:ext cx="9159875"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并且</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若</a:t>
            </a:r>
            <a:r>
              <a:rPr lang="el-GR" altLang="zh-CN" sz="3200" dirty="0">
                <a:solidFill>
                  <a:srgbClr val="006699"/>
                </a:solidFill>
                <a:latin typeface="Verdana" panose="020B0604030504040204" pitchFamily="34" charset="0"/>
              </a:rPr>
              <a:t>σ</a:t>
            </a:r>
            <a:r>
              <a:rPr lang="en-US" altLang="zh-CN" sz="3200" baseline="30000" dirty="0">
                <a:solidFill>
                  <a:srgbClr val="006699"/>
                </a:solidFill>
                <a:latin typeface="Verdana" panose="020B0604030504040204" pitchFamily="34" charset="0"/>
              </a:rPr>
              <a:t>2</a:t>
            </a:r>
            <a:r>
              <a:rPr lang="zh-CN" altLang="en-US" sz="3200" dirty="0">
                <a:solidFill>
                  <a:srgbClr val="006699"/>
                </a:solidFill>
                <a:latin typeface="Verdana" panose="020B0604030504040204" pitchFamily="34" charset="0"/>
              </a:rPr>
              <a:t>可以用</a:t>
            </a:r>
            <a:r>
              <a:rPr lang="en-US" altLang="zh-CN" sz="3200" dirty="0">
                <a:solidFill>
                  <a:srgbClr val="006699"/>
                </a:solidFill>
                <a:latin typeface="Verdana" panose="020B0604030504040204" pitchFamily="34" charset="0"/>
              </a:rPr>
              <a:t>S</a:t>
            </a:r>
            <a:r>
              <a:rPr lang="en-US" altLang="zh-CN" sz="3200" baseline="-25000" dirty="0">
                <a:solidFill>
                  <a:srgbClr val="006699"/>
                </a:solidFill>
                <a:latin typeface="Verdana" panose="020B0604030504040204" pitchFamily="34" charset="0"/>
              </a:rPr>
              <a:t>N</a:t>
            </a:r>
            <a:r>
              <a:rPr lang="en-US" altLang="zh-CN" sz="3200" baseline="30000" dirty="0">
                <a:solidFill>
                  <a:srgbClr val="006699"/>
                </a:solidFill>
                <a:latin typeface="Verdana" panose="020B0604030504040204" pitchFamily="34" charset="0"/>
              </a:rPr>
              <a:t>2</a:t>
            </a:r>
            <a:r>
              <a:rPr lang="zh-CN" altLang="en-US" sz="3200" dirty="0">
                <a:solidFill>
                  <a:srgbClr val="006699"/>
                </a:solidFill>
                <a:latin typeface="Verdana" panose="020B0604030504040204" pitchFamily="34" charset="0"/>
              </a:rPr>
              <a:t>近似，则</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所以</a:t>
            </a:r>
            <a:r>
              <a:rPr lang="en-US" altLang="zh-CN" sz="3200" dirty="0">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充分大时</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41</a:t>
            </a:fld>
            <a:endParaRPr lang="zh-CN" altLang="en-US">
              <a:solidFill>
                <a:srgbClr val="898989"/>
              </a:solidFill>
            </a:endParaRPr>
          </a:p>
        </p:txBody>
      </p:sp>
      <p:sp>
        <p:nvSpPr>
          <p:cNvPr id="20" name="文本框 19">
            <a:extLst>
              <a:ext uri="{FF2B5EF4-FFF2-40B4-BE49-F238E27FC236}">
                <a16:creationId xmlns:a16="http://schemas.microsoft.com/office/drawing/2014/main" id="{DDB1B05F-2085-4491-9A69-E939993FC713}"/>
              </a:ext>
            </a:extLst>
          </p:cNvPr>
          <p:cNvSpPr txBox="1"/>
          <p:nvPr/>
        </p:nvSpPr>
        <p:spPr>
          <a:xfrm>
            <a:off x="7182290" y="1142346"/>
            <a:ext cx="1757530"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(11.8)</a:t>
            </a:r>
            <a:endParaRPr lang="zh-CN" altLang="en-US" dirty="0"/>
          </a:p>
        </p:txBody>
      </p:sp>
      <p:pic>
        <p:nvPicPr>
          <p:cNvPr id="5" name="图片 4">
            <a:extLst>
              <a:ext uri="{FF2B5EF4-FFF2-40B4-BE49-F238E27FC236}">
                <a16:creationId xmlns:a16="http://schemas.microsoft.com/office/drawing/2014/main" id="{789A60E4-7A58-4BF6-AF11-20546768E1E1}"/>
              </a:ext>
            </a:extLst>
          </p:cNvPr>
          <p:cNvPicPr>
            <a:picLocks noChangeAspect="1"/>
          </p:cNvPicPr>
          <p:nvPr/>
        </p:nvPicPr>
        <p:blipFill>
          <a:blip r:embed="rId2"/>
          <a:stretch>
            <a:fillRect/>
          </a:stretch>
        </p:blipFill>
        <p:spPr>
          <a:xfrm>
            <a:off x="1460876" y="917216"/>
            <a:ext cx="2351818" cy="1085454"/>
          </a:xfrm>
          <a:prstGeom prst="rect">
            <a:avLst/>
          </a:prstGeom>
        </p:spPr>
      </p:pic>
      <p:pic>
        <p:nvPicPr>
          <p:cNvPr id="10" name="图片 9">
            <a:extLst>
              <a:ext uri="{FF2B5EF4-FFF2-40B4-BE49-F238E27FC236}">
                <a16:creationId xmlns:a16="http://schemas.microsoft.com/office/drawing/2014/main" id="{C031E816-BA7F-49C8-A45A-5A8829C9542F}"/>
              </a:ext>
            </a:extLst>
          </p:cNvPr>
          <p:cNvPicPr>
            <a:picLocks noChangeAspect="1"/>
          </p:cNvPicPr>
          <p:nvPr/>
        </p:nvPicPr>
        <p:blipFill>
          <a:blip r:embed="rId3"/>
          <a:stretch>
            <a:fillRect/>
          </a:stretch>
        </p:blipFill>
        <p:spPr>
          <a:xfrm>
            <a:off x="2636785" y="2814539"/>
            <a:ext cx="2786390" cy="960824"/>
          </a:xfrm>
          <a:prstGeom prst="rect">
            <a:avLst/>
          </a:prstGeom>
        </p:spPr>
      </p:pic>
      <p:pic>
        <p:nvPicPr>
          <p:cNvPr id="15" name="图片 14">
            <a:extLst>
              <a:ext uri="{FF2B5EF4-FFF2-40B4-BE49-F238E27FC236}">
                <a16:creationId xmlns:a16="http://schemas.microsoft.com/office/drawing/2014/main" id="{287E132C-E8FF-48FF-89C0-B534A36A770E}"/>
              </a:ext>
            </a:extLst>
          </p:cNvPr>
          <p:cNvPicPr>
            <a:picLocks noChangeAspect="1"/>
          </p:cNvPicPr>
          <p:nvPr/>
        </p:nvPicPr>
        <p:blipFill>
          <a:blip r:embed="rId4"/>
          <a:stretch>
            <a:fillRect/>
          </a:stretch>
        </p:blipFill>
        <p:spPr>
          <a:xfrm>
            <a:off x="2690279" y="4667673"/>
            <a:ext cx="2554340" cy="1178926"/>
          </a:xfrm>
          <a:prstGeom prst="rect">
            <a:avLst/>
          </a:prstGeom>
        </p:spPr>
      </p:pic>
    </p:spTree>
    <p:extLst>
      <p:ext uri="{BB962C8B-B14F-4D97-AF65-F5344CB8AC3E}">
        <p14:creationId xmlns:p14="http://schemas.microsoft.com/office/powerpoint/2010/main" val="38293831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6" y="142875"/>
            <a:ext cx="9358406" cy="642938"/>
          </a:xfrm>
        </p:spPr>
        <p:txBody>
          <a:bodyPr/>
          <a:lstStyle/>
          <a:p>
            <a:pPr algn="l" defTabSz="512763" fontAlgn="base">
              <a:spcAft>
                <a:spcPct val="0"/>
              </a:spcAft>
            </a:pPr>
            <a:r>
              <a:rPr lang="zh-CN" altLang="en-US" dirty="0"/>
              <a:t>估计误差的一些度量</a:t>
            </a:r>
            <a:r>
              <a:rPr lang="en-US" altLang="zh-CN" dirty="0"/>
              <a:t>: </a:t>
            </a:r>
            <a:r>
              <a:rPr lang="zh-CN" altLang="en-US" dirty="0"/>
              <a:t>估计的根均方误差</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42</a:t>
            </a:fld>
            <a:endParaRPr lang="zh-CN" altLang="en-US">
              <a:solidFill>
                <a:srgbClr val="898989"/>
              </a:solidFill>
            </a:endParaRPr>
          </a:p>
        </p:txBody>
      </p:sp>
      <p:sp>
        <p:nvSpPr>
          <p:cNvPr id="4" name="文本框 3">
            <a:extLst>
              <a:ext uri="{FF2B5EF4-FFF2-40B4-BE49-F238E27FC236}">
                <a16:creationId xmlns:a16="http://schemas.microsoft.com/office/drawing/2014/main" id="{22437629-9BE6-2BFB-344C-488643A9AD9F}"/>
              </a:ext>
            </a:extLst>
          </p:cNvPr>
          <p:cNvSpPr txBox="1"/>
          <p:nvPr/>
        </p:nvSpPr>
        <p:spPr>
          <a:xfrm>
            <a:off x="71500" y="1088740"/>
            <a:ext cx="4774222" cy="584775"/>
          </a:xfrm>
          <a:prstGeom prst="rect">
            <a:avLst/>
          </a:prstGeom>
          <a:noFill/>
          <a:ln w="25400">
            <a:noFill/>
          </a:ln>
        </p:spPr>
        <p:txBody>
          <a:bodyPr wrap="square">
            <a:spAutoFit/>
          </a:bodyPr>
          <a:lstStyle/>
          <a:p>
            <a:r>
              <a:rPr lang="en-US" altLang="zh-CN" sz="3200" dirty="0" err="1">
                <a:solidFill>
                  <a:srgbClr val="006699"/>
                </a:solidFill>
                <a:latin typeface="Verdana" panose="020B0604030504040204" pitchFamily="34" charset="0"/>
              </a:rPr>
              <a:t>定义估计的根均方误差为</a:t>
            </a:r>
            <a:endParaRPr lang="zh-CN" altLang="en-US"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9DDE0173-A196-EF41-4BEF-36DF3514D48B}"/>
                  </a:ext>
                </a:extLst>
              </p:cNvPr>
              <p:cNvSpPr txBox="1"/>
              <p:nvPr/>
            </p:nvSpPr>
            <p:spPr>
              <a:xfrm>
                <a:off x="79830" y="1763815"/>
                <a:ext cx="9072500" cy="4363117"/>
              </a:xfrm>
              <a:prstGeom prst="rect">
                <a:avLst/>
              </a:prstGeom>
              <a:noFill/>
              <a:ln w="25400">
                <a:noFill/>
              </a:ln>
            </p:spPr>
            <p:txBody>
              <a:bodyPr wrap="square">
                <a:spAutoFit/>
              </a:bodyPr>
              <a:lstStyle/>
              <a:p>
                <a:pPr algn="ctr">
                  <a:spcBef>
                    <a:spcPts val="900"/>
                  </a:spcBef>
                  <a:spcAft>
                    <a:spcPts val="900"/>
                  </a:spcAft>
                </a:pPr>
                <a:r>
                  <a:rPr lang="en-US" altLang="zh-CN" sz="1800" dirty="0">
                    <a:effectLst/>
                    <a:latin typeface="Aptos" panose="020B0004020202020204" pitchFamily="34" charset="0"/>
                    <a:ea typeface="等线" panose="02010600030101010101" pitchFamily="2" charset="-122"/>
                    <a:cs typeface="Times New Roman" panose="02020603050405020304" pitchFamily="18" charset="0"/>
                  </a:rPr>
                  <a:t> </a:t>
                </a:r>
                <a14:m>
                  <m:oMath xmlns:m="http://schemas.openxmlformats.org/officeDocument/2006/math">
                    <m:m>
                      <m:mPr>
                        <m:plcHide m:val="on"/>
                        <m:mcs>
                          <m:mc>
                            <m:mcPr>
                              <m:count m:val="1"/>
                              <m:mcJc m:val="center"/>
                            </m:mcPr>
                          </m:mc>
                        </m:mcs>
                        <m:ctrlPr>
                          <a:rPr lang="zh-CN" altLang="zh-CN" sz="3200" i="1">
                            <a:solidFill>
                              <a:srgbClr val="006699"/>
                            </a:solidFill>
                            <a:latin typeface="Cambria Math" panose="02040503050406030204" pitchFamily="18" charset="0"/>
                          </a:rPr>
                        </m:ctrlPr>
                      </m:mPr>
                      <m:mr>
                        <m:e>
                          <m:r>
                            <m:rPr>
                              <m:nor/>
                            </m:rPr>
                            <a:rPr lang="en-US" altLang="zh-CN" sz="3200">
                              <a:solidFill>
                                <a:srgbClr val="006699"/>
                              </a:solidFill>
                              <a:latin typeface="Verdana" panose="020B0604030504040204" pitchFamily="34" charset="0"/>
                            </a:rPr>
                            <m:t>RMSE</m:t>
                          </m:r>
                          <m:r>
                            <a:rPr lang="en-US" altLang="zh-CN" sz="3200">
                              <a:solidFill>
                                <a:srgbClr val="006699"/>
                              </a:solidFill>
                              <a:latin typeface="Cambria Math" panose="02040503050406030204" pitchFamily="18" charset="0"/>
                            </a:rPr>
                            <m:t>=</m:t>
                          </m:r>
                          <m:rad>
                            <m:radPr>
                              <m:degHide m:val="on"/>
                              <m:ctrlPr>
                                <a:rPr lang="zh-CN" altLang="zh-CN" sz="3200" i="1">
                                  <a:solidFill>
                                    <a:srgbClr val="006699"/>
                                  </a:solidFill>
                                  <a:latin typeface="Cambria Math" panose="02040503050406030204" pitchFamily="18" charset="0"/>
                                </a:rPr>
                              </m:ctrlPr>
                            </m:radPr>
                            <m:deg/>
                            <m:e>
                              <m:r>
                                <a:rPr lang="en-US" altLang="zh-CN" sz="3200">
                                  <a:solidFill>
                                    <a:srgbClr val="006699"/>
                                  </a:solidFill>
                                  <a:latin typeface="Cambria Math" panose="02040503050406030204" pitchFamily="18" charset="0"/>
                                </a:rPr>
                                <m:t>𝐸</m:t>
                              </m:r>
                              <m:sSup>
                                <m:sSupPr>
                                  <m:ctrlPr>
                                    <a:rPr lang="zh-CN" altLang="zh-CN" sz="3200" i="1">
                                      <a:solidFill>
                                        <a:srgbClr val="006699"/>
                                      </a:solidFill>
                                      <a:latin typeface="Cambria Math" panose="02040503050406030204" pitchFamily="18" charset="0"/>
                                    </a:rPr>
                                  </m:ctrlPr>
                                </m:sSupPr>
                                <m:e>
                                  <m:d>
                                    <m:dPr>
                                      <m:ctrlPr>
                                        <a:rPr lang="zh-CN" altLang="zh-CN" sz="3200" i="1">
                                          <a:solidFill>
                                            <a:srgbClr val="006699"/>
                                          </a:solidFill>
                                          <a:latin typeface="Cambria Math" panose="02040503050406030204" pitchFamily="18" charset="0"/>
                                        </a:rPr>
                                      </m:ctrlPr>
                                    </m:dPr>
                                    <m:e>
                                      <m:acc>
                                        <m:accPr>
                                          <m:chr m:val="̂"/>
                                          <m:ctrlPr>
                                            <a:rPr lang="zh-CN" altLang="zh-CN" sz="3200" i="1">
                                              <a:solidFill>
                                                <a:srgbClr val="006699"/>
                                              </a:solidFill>
                                              <a:latin typeface="Cambria Math" panose="02040503050406030204" pitchFamily="18" charset="0"/>
                                            </a:rPr>
                                          </m:ctrlPr>
                                        </m:accPr>
                                        <m:e>
                                          <m:r>
                                            <a:rPr lang="en-US" altLang="zh-CN" sz="3200">
                                              <a:solidFill>
                                                <a:srgbClr val="006699"/>
                                              </a:solidFill>
                                              <a:latin typeface="Cambria Math" panose="02040503050406030204" pitchFamily="18" charset="0"/>
                                            </a:rPr>
                                            <m:t>𝜃</m:t>
                                          </m:r>
                                        </m:e>
                                      </m:acc>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𝜃</m:t>
                                      </m:r>
                                    </m:e>
                                  </m:d>
                                </m:e>
                                <m:sup>
                                  <m:r>
                                    <a:rPr lang="en-US" altLang="zh-CN" sz="3200">
                                      <a:solidFill>
                                        <a:srgbClr val="006699"/>
                                      </a:solidFill>
                                      <a:latin typeface="Cambria Math" panose="02040503050406030204" pitchFamily="18" charset="0"/>
                                    </a:rPr>
                                    <m:t>2</m:t>
                                  </m:r>
                                </m:sup>
                              </m:sSup>
                            </m:e>
                          </m:rad>
                          <m:r>
                            <a:rPr lang="en-US" altLang="zh-CN" sz="3200">
                              <a:solidFill>
                                <a:srgbClr val="006699"/>
                              </a:solidFill>
                              <a:latin typeface="Cambria Math" panose="02040503050406030204" pitchFamily="18" charset="0"/>
                            </a:rPr>
                            <m:t>.</m:t>
                          </m:r>
                        </m:e>
                      </m:mr>
                    </m:m>
                    <m:r>
                      <a:rPr lang="en-US" altLang="zh-CN" sz="3200" b="0" i="0" smtClean="0">
                        <a:solidFill>
                          <a:srgbClr val="006699"/>
                        </a:solidFill>
                        <a:latin typeface="Cambria Math" panose="02040503050406030204" pitchFamily="18" charset="0"/>
                      </a:rPr>
                      <m:t>                                           (11.9)</m:t>
                    </m:r>
                  </m:oMath>
                </a14:m>
                <a:endParaRPr lang="zh-CN" altLang="zh-CN" sz="3200" dirty="0">
                  <a:solidFill>
                    <a:srgbClr val="006699"/>
                  </a:solidFill>
                  <a:latin typeface="Verdana" panose="020B0604030504040204" pitchFamily="34" charset="0"/>
                </a:endParaRPr>
              </a:p>
              <a:p>
                <a:pPr>
                  <a:spcBef>
                    <a:spcPts val="900"/>
                  </a:spcBef>
                  <a:spcAft>
                    <a:spcPts val="900"/>
                  </a:spcAft>
                </a:pPr>
                <a:r>
                  <a:rPr lang="en-US" altLang="zh-CN" sz="3200" dirty="0" err="1">
                    <a:solidFill>
                      <a:srgbClr val="006699"/>
                    </a:solidFill>
                    <a:latin typeface="Verdana" panose="020B0604030504040204" pitchFamily="34" charset="0"/>
                  </a:rPr>
                  <a:t>在以上用独立同分布样本均值估计期望值</a:t>
                </a:r>
                <a14:m>
                  <m:oMath xmlns:m="http://schemas.openxmlformats.org/officeDocument/2006/math">
                    <m:r>
                      <a:rPr lang="en-US" altLang="zh-CN" sz="3200">
                        <a:solidFill>
                          <a:srgbClr val="006699"/>
                        </a:solidFill>
                        <a:latin typeface="Cambria Math" panose="02040503050406030204" pitchFamily="18" charset="0"/>
                      </a:rPr>
                      <m:t>𝜃</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𝐸𝑌</m:t>
                    </m:r>
                  </m:oMath>
                </a14:m>
                <a:r>
                  <a:rPr lang="en-US" altLang="zh-CN" sz="3200" dirty="0" err="1">
                    <a:solidFill>
                      <a:srgbClr val="006699"/>
                    </a:solidFill>
                    <a:latin typeface="Verdana" panose="020B0604030504040204" pitchFamily="34" charset="0"/>
                  </a:rPr>
                  <a:t>的做法中</a:t>
                </a:r>
                <a:r>
                  <a:rPr lang="en-US" altLang="zh-CN" sz="3200" dirty="0">
                    <a:solidFill>
                      <a:srgbClr val="006699"/>
                    </a:solidFill>
                    <a:latin typeface="Verdana" panose="020B0604030504040204" pitchFamily="34" charset="0"/>
                  </a:rPr>
                  <a:t>， </a:t>
                </a:r>
                <a:r>
                  <a:rPr lang="en-US" altLang="zh-CN" sz="3200" dirty="0" err="1">
                    <a:solidFill>
                      <a:srgbClr val="006699"/>
                    </a:solidFill>
                    <a:latin typeface="Verdana" panose="020B0604030504040204" pitchFamily="34" charset="0"/>
                  </a:rPr>
                  <a:t>因为</a:t>
                </a:r>
                <a14:m>
                  <m:oMath xmlns:m="http://schemas.openxmlformats.org/officeDocument/2006/math">
                    <m:r>
                      <a:rPr lang="en-US" altLang="zh-CN" sz="3200">
                        <a:solidFill>
                          <a:srgbClr val="006699"/>
                        </a:solidFill>
                        <a:latin typeface="Cambria Math" panose="02040503050406030204" pitchFamily="18" charset="0"/>
                      </a:rPr>
                      <m:t>𝐸</m:t>
                    </m:r>
                    <m:acc>
                      <m:accPr>
                        <m:chr m:val="̂"/>
                        <m:ctrlPr>
                          <a:rPr lang="zh-CN" altLang="zh-CN" sz="3200" i="1">
                            <a:solidFill>
                              <a:srgbClr val="006699"/>
                            </a:solidFill>
                            <a:latin typeface="Cambria Math" panose="02040503050406030204" pitchFamily="18" charset="0"/>
                          </a:rPr>
                        </m:ctrlPr>
                      </m:accPr>
                      <m:e>
                        <m:r>
                          <a:rPr lang="en-US" altLang="zh-CN" sz="3200">
                            <a:solidFill>
                              <a:srgbClr val="006699"/>
                            </a:solidFill>
                            <a:latin typeface="Cambria Math" panose="02040503050406030204" pitchFamily="18" charset="0"/>
                          </a:rPr>
                          <m:t>𝜃</m:t>
                        </m:r>
                      </m:e>
                    </m:acc>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𝜃</m:t>
                    </m:r>
                  </m:oMath>
                </a14:m>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所以</a:t>
                </a:r>
                <a:endParaRPr lang="zh-CN" altLang="zh-CN" sz="3200" dirty="0">
                  <a:solidFill>
                    <a:srgbClr val="006699"/>
                  </a:solidFill>
                  <a:latin typeface="Verdana" panose="020B0604030504040204" pitchFamily="34"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zh-CN" sz="3200" i="1">
                              <a:solidFill>
                                <a:srgbClr val="006699"/>
                              </a:solidFill>
                              <a:latin typeface="Cambria Math" panose="02040503050406030204" pitchFamily="18" charset="0"/>
                            </a:rPr>
                          </m:ctrlPr>
                        </m:mPr>
                        <m:mr>
                          <m:e>
                            <m:r>
                              <m:rPr>
                                <m:nor/>
                              </m:rPr>
                              <a:rPr lang="en-US" altLang="zh-CN" sz="3200">
                                <a:solidFill>
                                  <a:srgbClr val="006699"/>
                                </a:solidFill>
                                <a:latin typeface="Verdana" panose="020B0604030504040204" pitchFamily="34" charset="0"/>
                              </a:rPr>
                              <m:t>RMSE</m:t>
                            </m:r>
                            <m:r>
                              <a:rPr lang="en-US" altLang="zh-CN" sz="3200">
                                <a:solidFill>
                                  <a:srgbClr val="006699"/>
                                </a:solidFill>
                                <a:latin typeface="Cambria Math" panose="02040503050406030204" pitchFamily="18" charset="0"/>
                              </a:rPr>
                              <m:t>=</m:t>
                            </m:r>
                            <m:rad>
                              <m:radPr>
                                <m:degHide m:val="on"/>
                                <m:ctrlPr>
                                  <a:rPr lang="zh-CN" altLang="zh-CN" sz="3200" i="1">
                                    <a:solidFill>
                                      <a:srgbClr val="006699"/>
                                    </a:solidFill>
                                    <a:latin typeface="Cambria Math" panose="02040503050406030204" pitchFamily="18" charset="0"/>
                                  </a:rPr>
                                </m:ctrlPr>
                              </m:radPr>
                              <m:deg/>
                              <m:e>
                                <m:r>
                                  <m:rPr>
                                    <m:nor/>
                                  </m:rPr>
                                  <a:rPr lang="en-US" altLang="zh-CN" sz="3200">
                                    <a:solidFill>
                                      <a:srgbClr val="006699"/>
                                    </a:solidFill>
                                    <a:latin typeface="Verdana" panose="020B0604030504040204" pitchFamily="34" charset="0"/>
                                  </a:rPr>
                                  <m:t>Var</m:t>
                                </m:r>
                                <m:d>
                                  <m:dPr>
                                    <m:ctrlPr>
                                      <a:rPr lang="zh-CN" altLang="zh-CN" sz="3200" i="1">
                                        <a:solidFill>
                                          <a:srgbClr val="006699"/>
                                        </a:solidFill>
                                        <a:latin typeface="Cambria Math" panose="02040503050406030204" pitchFamily="18" charset="0"/>
                                      </a:rPr>
                                    </m:ctrlPr>
                                  </m:dPr>
                                  <m:e>
                                    <m:acc>
                                      <m:accPr>
                                        <m:chr m:val="̂"/>
                                        <m:ctrlPr>
                                          <a:rPr lang="zh-CN" altLang="zh-CN" sz="3200" i="1">
                                            <a:solidFill>
                                              <a:srgbClr val="006699"/>
                                            </a:solidFill>
                                            <a:latin typeface="Cambria Math" panose="02040503050406030204" pitchFamily="18" charset="0"/>
                                          </a:rPr>
                                        </m:ctrlPr>
                                      </m:accPr>
                                      <m:e>
                                        <m:r>
                                          <a:rPr lang="en-US" altLang="zh-CN" sz="3200">
                                            <a:solidFill>
                                              <a:srgbClr val="006699"/>
                                            </a:solidFill>
                                            <a:latin typeface="Cambria Math" panose="02040503050406030204" pitchFamily="18" charset="0"/>
                                          </a:rPr>
                                          <m:t>𝜃</m:t>
                                        </m:r>
                                      </m:e>
                                    </m:acc>
                                  </m:e>
                                </m:d>
                              </m:e>
                            </m:rad>
                            <m:r>
                              <a:rPr lang="en-US" altLang="zh-CN" sz="3200">
                                <a:solidFill>
                                  <a:srgbClr val="006699"/>
                                </a:solidFill>
                                <a:latin typeface="Cambria Math" panose="02040503050406030204" pitchFamily="18" charset="0"/>
                              </a:rPr>
                              <m:t>=</m:t>
                            </m:r>
                            <m:rad>
                              <m:radPr>
                                <m:degHide m:val="on"/>
                                <m:ctrlPr>
                                  <a:rPr lang="zh-CN" altLang="zh-CN" sz="3200" i="1">
                                    <a:solidFill>
                                      <a:srgbClr val="006699"/>
                                    </a:solidFill>
                                    <a:latin typeface="Cambria Math" panose="02040503050406030204" pitchFamily="18" charset="0"/>
                                  </a:rPr>
                                </m:ctrlPr>
                              </m:radPr>
                              <m:deg/>
                              <m:e>
                                <m:r>
                                  <m:rPr>
                                    <m:nor/>
                                  </m:rPr>
                                  <a:rPr lang="en-US" altLang="zh-CN" sz="3200">
                                    <a:solidFill>
                                      <a:srgbClr val="006699"/>
                                    </a:solidFill>
                                    <a:latin typeface="Verdana" panose="020B0604030504040204" pitchFamily="34" charset="0"/>
                                  </a:rPr>
                                  <m:t>Var</m:t>
                                </m:r>
                                <m:d>
                                  <m:dPr>
                                    <m:ctrlPr>
                                      <a:rPr lang="zh-CN" altLang="zh-CN" sz="3200" i="1">
                                        <a:solidFill>
                                          <a:srgbClr val="006699"/>
                                        </a:solidFill>
                                        <a:latin typeface="Cambria Math" panose="02040503050406030204" pitchFamily="18" charset="0"/>
                                      </a:rPr>
                                    </m:ctrlPr>
                                  </m:dPr>
                                  <m:e>
                                    <m:sSub>
                                      <m:sSubPr>
                                        <m:ctrlPr>
                                          <a:rPr lang="zh-CN" altLang="zh-CN" sz="3200" i="1">
                                            <a:solidFill>
                                              <a:srgbClr val="006699"/>
                                            </a:solidFill>
                                            <a:latin typeface="Cambria Math" panose="02040503050406030204" pitchFamily="18" charset="0"/>
                                          </a:rPr>
                                        </m:ctrlPr>
                                      </m:sSubPr>
                                      <m:e>
                                        <m:acc>
                                          <m:accPr>
                                            <m:chr m:val="‾"/>
                                            <m:ctrlPr>
                                              <a:rPr lang="zh-CN" altLang="zh-CN" sz="3200" i="1">
                                                <a:solidFill>
                                                  <a:srgbClr val="006699"/>
                                                </a:solidFill>
                                                <a:latin typeface="Cambria Math" panose="02040503050406030204" pitchFamily="18" charset="0"/>
                                              </a:rPr>
                                            </m:ctrlPr>
                                          </m:accPr>
                                          <m:e>
                                            <m:r>
                                              <a:rPr lang="en-US" altLang="zh-CN" sz="3200">
                                                <a:solidFill>
                                                  <a:srgbClr val="006699"/>
                                                </a:solidFill>
                                                <a:latin typeface="Cambria Math" panose="02040503050406030204" pitchFamily="18" charset="0"/>
                                              </a:rPr>
                                              <m:t>𝑌</m:t>
                                            </m:r>
                                          </m:e>
                                        </m:acc>
                                      </m:e>
                                      <m:sub>
                                        <m:r>
                                          <a:rPr lang="en-US" altLang="zh-CN" sz="3200">
                                            <a:solidFill>
                                              <a:srgbClr val="006699"/>
                                            </a:solidFill>
                                            <a:latin typeface="Cambria Math" panose="02040503050406030204" pitchFamily="18" charset="0"/>
                                          </a:rPr>
                                          <m:t>𝑛</m:t>
                                        </m:r>
                                      </m:sub>
                                    </m:sSub>
                                  </m:e>
                                </m:d>
                              </m:e>
                            </m:rad>
                            <m:r>
                              <a:rPr lang="en-US" altLang="zh-CN" sz="3200">
                                <a:solidFill>
                                  <a:srgbClr val="006699"/>
                                </a:solidFill>
                                <a:latin typeface="Cambria Math" panose="02040503050406030204" pitchFamily="18" charset="0"/>
                              </a:rPr>
                              <m:t>=</m:t>
                            </m:r>
                            <m:f>
                              <m:fPr>
                                <m:ctrlPr>
                                  <a:rPr lang="zh-CN" altLang="zh-CN" sz="3200" i="1">
                                    <a:solidFill>
                                      <a:srgbClr val="006699"/>
                                    </a:solidFill>
                                    <a:latin typeface="Cambria Math" panose="02040503050406030204" pitchFamily="18" charset="0"/>
                                  </a:rPr>
                                </m:ctrlPr>
                              </m:fPr>
                              <m:num>
                                <m:r>
                                  <a:rPr lang="en-US" altLang="zh-CN" sz="3200">
                                    <a:solidFill>
                                      <a:srgbClr val="006699"/>
                                    </a:solidFill>
                                    <a:latin typeface="Cambria Math" panose="02040503050406030204" pitchFamily="18" charset="0"/>
                                  </a:rPr>
                                  <m:t>𝜎</m:t>
                                </m:r>
                              </m:num>
                              <m:den>
                                <m:rad>
                                  <m:radPr>
                                    <m:degHide m:val="on"/>
                                    <m:ctrlPr>
                                      <a:rPr lang="zh-CN" altLang="zh-CN" sz="3200" i="1">
                                        <a:solidFill>
                                          <a:srgbClr val="006699"/>
                                        </a:solidFill>
                                        <a:latin typeface="Cambria Math" panose="02040503050406030204" pitchFamily="18" charset="0"/>
                                      </a:rPr>
                                    </m:ctrlPr>
                                  </m:radPr>
                                  <m:deg/>
                                  <m:e>
                                    <m:r>
                                      <a:rPr lang="en-US" altLang="zh-CN" sz="3200">
                                        <a:solidFill>
                                          <a:srgbClr val="006699"/>
                                        </a:solidFill>
                                        <a:latin typeface="Cambria Math" panose="02040503050406030204" pitchFamily="18" charset="0"/>
                                      </a:rPr>
                                      <m:t>𝑁</m:t>
                                    </m:r>
                                  </m:e>
                                </m:rad>
                              </m:den>
                            </m:f>
                            <m:r>
                              <a:rPr lang="en-US" altLang="zh-CN" sz="3200">
                                <a:solidFill>
                                  <a:srgbClr val="006699"/>
                                </a:solidFill>
                                <a:latin typeface="Cambria Math" panose="02040503050406030204" pitchFamily="18" charset="0"/>
                              </a:rPr>
                              <m:t>,</m:t>
                            </m:r>
                            <m:r>
                              <a:rPr lang="en-US" altLang="zh-CN" sz="3200" b="0" i="0" smtClean="0">
                                <a:solidFill>
                                  <a:srgbClr val="006699"/>
                                </a:solidFill>
                                <a:latin typeface="Cambria Math" panose="02040503050406030204" pitchFamily="18" charset="0"/>
                              </a:rPr>
                              <m:t>  </m:t>
                            </m:r>
                            <m:r>
                              <a:rPr lang="en-US" altLang="zh-CN" sz="3200">
                                <a:solidFill>
                                  <a:srgbClr val="006699"/>
                                </a:solidFill>
                                <a:latin typeface="Cambria Math" panose="02040503050406030204" pitchFamily="18" charset="0"/>
                              </a:rPr>
                              <m:t>(11.</m:t>
                            </m:r>
                            <m:r>
                              <a:rPr lang="en-US" altLang="zh-CN" sz="3200" b="0" i="0" smtClean="0">
                                <a:solidFill>
                                  <a:srgbClr val="006699"/>
                                </a:solidFill>
                                <a:latin typeface="Cambria Math" panose="02040503050406030204" pitchFamily="18" charset="0"/>
                              </a:rPr>
                              <m:t>10</m:t>
                            </m:r>
                            <m:r>
                              <a:rPr lang="en-US" altLang="zh-CN" sz="3200">
                                <a:solidFill>
                                  <a:srgbClr val="006699"/>
                                </a:solidFill>
                                <a:latin typeface="Cambria Math" panose="02040503050406030204" pitchFamily="18" charset="0"/>
                              </a:rPr>
                              <m:t>)</m:t>
                            </m:r>
                            <m:r>
                              <m:rPr>
                                <m:nor/>
                              </m:rPr>
                              <a:rPr lang="zh-CN" altLang="zh-CN" sz="3200" dirty="0">
                                <a:solidFill>
                                  <a:srgbClr val="006699"/>
                                </a:solidFill>
                                <a:latin typeface="Verdana" panose="020B0604030504040204" pitchFamily="34" charset="0"/>
                              </a:rPr>
                              <m:t> </m:t>
                            </m:r>
                          </m:e>
                        </m:mr>
                      </m:m>
                    </m:oMath>
                  </m:oMathPara>
                </a14:m>
                <a:endParaRPr lang="zh-CN"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en-US" altLang="zh-CN" sz="3200" dirty="0" err="1">
                    <a:solidFill>
                      <a:srgbClr val="006699"/>
                    </a:solidFill>
                    <a:latin typeface="Verdana" panose="020B0604030504040204" pitchFamily="34" charset="0"/>
                  </a:rPr>
                  <a:t>根均方误差可以用</a:t>
                </a:r>
                <a14:m>
                  <m:oMath xmlns:m="http://schemas.openxmlformats.org/officeDocument/2006/math">
                    <m:f>
                      <m:fPr>
                        <m:ctrlPr>
                          <a:rPr lang="zh-CN" altLang="zh-CN" sz="3200" i="1">
                            <a:solidFill>
                              <a:srgbClr val="006699"/>
                            </a:solidFill>
                            <a:latin typeface="Cambria Math" panose="02040503050406030204" pitchFamily="18" charset="0"/>
                          </a:rPr>
                        </m:ctrlPr>
                      </m:fPr>
                      <m:num>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𝑆</m:t>
                            </m:r>
                          </m:e>
                          <m:sub>
                            <m:r>
                              <a:rPr lang="en-US" altLang="zh-CN" sz="3200">
                                <a:solidFill>
                                  <a:srgbClr val="006699"/>
                                </a:solidFill>
                                <a:latin typeface="Cambria Math" panose="02040503050406030204" pitchFamily="18" charset="0"/>
                              </a:rPr>
                              <m:t>𝑁</m:t>
                            </m:r>
                          </m:sub>
                        </m:sSub>
                      </m:num>
                      <m:den>
                        <m:rad>
                          <m:radPr>
                            <m:degHide m:val="on"/>
                            <m:ctrlPr>
                              <a:rPr lang="zh-CN" altLang="zh-CN" sz="3200" i="1">
                                <a:solidFill>
                                  <a:srgbClr val="006699"/>
                                </a:solidFill>
                                <a:latin typeface="Cambria Math" panose="02040503050406030204" pitchFamily="18" charset="0"/>
                              </a:rPr>
                            </m:ctrlPr>
                          </m:radPr>
                          <m:deg/>
                          <m:e>
                            <m:r>
                              <a:rPr lang="en-US" altLang="zh-CN" sz="3200">
                                <a:solidFill>
                                  <a:srgbClr val="006699"/>
                                </a:solidFill>
                                <a:latin typeface="Cambria Math" panose="02040503050406030204" pitchFamily="18" charset="0"/>
                              </a:rPr>
                              <m:t>𝑁</m:t>
                            </m:r>
                          </m:e>
                        </m:rad>
                      </m:den>
                    </m:f>
                  </m:oMath>
                </a14:m>
                <a:r>
                  <a:rPr lang="en-US" altLang="zh-CN" sz="3200" dirty="0" err="1">
                    <a:solidFill>
                      <a:srgbClr val="006699"/>
                    </a:solidFill>
                    <a:latin typeface="Verdana" panose="020B0604030504040204" pitchFamily="34" charset="0"/>
                  </a:rPr>
                  <a:t>估计</a:t>
                </a:r>
                <a:endParaRPr lang="zh-CN" altLang="en-US" sz="3200" dirty="0">
                  <a:solidFill>
                    <a:srgbClr val="006699"/>
                  </a:solidFill>
                  <a:latin typeface="Verdana" panose="020B0604030504040204" pitchFamily="34" charset="0"/>
                </a:endParaRPr>
              </a:p>
            </p:txBody>
          </p:sp>
        </mc:Choice>
        <mc:Fallback xmlns="">
          <p:sp>
            <p:nvSpPr>
              <p:cNvPr id="7" name="文本框 6">
                <a:extLst>
                  <a:ext uri="{FF2B5EF4-FFF2-40B4-BE49-F238E27FC236}">
                    <a16:creationId xmlns:a16="http://schemas.microsoft.com/office/drawing/2014/main" id="{9DDE0173-A196-EF41-4BEF-36DF3514D48B}"/>
                  </a:ext>
                </a:extLst>
              </p:cNvPr>
              <p:cNvSpPr txBox="1">
                <a:spLocks noRot="1" noChangeAspect="1" noMove="1" noResize="1" noEditPoints="1" noAdjustHandles="1" noChangeArrowheads="1" noChangeShapeType="1" noTextEdit="1"/>
              </p:cNvSpPr>
              <p:nvPr/>
            </p:nvSpPr>
            <p:spPr>
              <a:xfrm>
                <a:off x="79830" y="1763815"/>
                <a:ext cx="9072500" cy="4363117"/>
              </a:xfrm>
              <a:prstGeom prst="rect">
                <a:avLst/>
              </a:prstGeom>
              <a:blipFill>
                <a:blip r:embed="rId2"/>
                <a:stretch>
                  <a:fillRect l="-1680"/>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12314123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6" y="142875"/>
            <a:ext cx="9358406" cy="642938"/>
          </a:xfrm>
        </p:spPr>
        <p:txBody>
          <a:bodyPr/>
          <a:lstStyle/>
          <a:p>
            <a:pPr algn="l" defTabSz="512763" fontAlgn="base">
              <a:spcAft>
                <a:spcPct val="0"/>
              </a:spcAft>
            </a:pPr>
            <a:r>
              <a:rPr lang="zh-CN" altLang="en-US" dirty="0"/>
              <a:t>估计误差的一些度量</a:t>
            </a:r>
            <a:r>
              <a:rPr lang="en-US" altLang="zh-CN" dirty="0"/>
              <a:t>:</a:t>
            </a:r>
            <a:r>
              <a:rPr lang="zh-CN" altLang="en-US" dirty="0"/>
              <a:t>估计的平均绝对误差</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43</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21ED854-3448-BE3A-E928-DC11D4C5809D}"/>
                  </a:ext>
                </a:extLst>
              </p:cNvPr>
              <p:cNvSpPr txBox="1"/>
              <p:nvPr/>
            </p:nvSpPr>
            <p:spPr>
              <a:xfrm>
                <a:off x="0" y="947392"/>
                <a:ext cx="9451050" cy="4646657"/>
              </a:xfrm>
              <a:prstGeom prst="rect">
                <a:avLst/>
              </a:prstGeom>
              <a:noFill/>
              <a:ln w="25400">
                <a:noFill/>
              </a:ln>
            </p:spPr>
            <p:txBody>
              <a:bodyPr wrap="square">
                <a:spAutoFit/>
              </a:bodyPr>
              <a:lstStyle/>
              <a:p>
                <a:pPr>
                  <a:spcBef>
                    <a:spcPts val="900"/>
                  </a:spcBef>
                  <a:spcAft>
                    <a:spcPts val="900"/>
                  </a:spcAft>
                </a:pPr>
                <a:r>
                  <a:rPr lang="en-US" altLang="zh-CN" sz="3200" dirty="0">
                    <a:solidFill>
                      <a:srgbClr val="006699"/>
                    </a:solidFill>
                    <a:latin typeface="Verdana" panose="020B0604030504040204" pitchFamily="34" charset="0"/>
                  </a:rPr>
                  <a:t>定义估计的平均绝对误差为</a:t>
                </a:r>
                <a:endParaRPr lang="zh-CN" altLang="zh-CN" sz="3200" dirty="0">
                  <a:solidFill>
                    <a:srgbClr val="006699"/>
                  </a:solidFill>
                  <a:latin typeface="Verdana" panose="020B0604030504040204" pitchFamily="34"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zh-CN" sz="3200" i="1">
                              <a:solidFill>
                                <a:srgbClr val="006699"/>
                              </a:solidFill>
                              <a:latin typeface="Cambria Math" panose="02040503050406030204" pitchFamily="18" charset="0"/>
                            </a:rPr>
                          </m:ctrlPr>
                        </m:mPr>
                        <m:mr>
                          <m:e>
                            <m:r>
                              <m:rPr>
                                <m:nor/>
                              </m:rPr>
                              <a:rPr lang="en-US" altLang="zh-CN" sz="3200">
                                <a:solidFill>
                                  <a:srgbClr val="006699"/>
                                </a:solidFill>
                                <a:latin typeface="Verdana" panose="020B0604030504040204" pitchFamily="34" charset="0"/>
                              </a:rPr>
                              <m:t>MAE</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𝐸</m:t>
                            </m:r>
                            <m:d>
                              <m:dPr>
                                <m:begChr m:val="|"/>
                                <m:endChr m:val="|"/>
                                <m:ctrlPr>
                                  <a:rPr lang="zh-CN" altLang="zh-CN" sz="3200" i="1">
                                    <a:solidFill>
                                      <a:srgbClr val="006699"/>
                                    </a:solidFill>
                                    <a:latin typeface="Cambria Math" panose="02040503050406030204" pitchFamily="18" charset="0"/>
                                  </a:rPr>
                                </m:ctrlPr>
                              </m:dPr>
                              <m:e>
                                <m:acc>
                                  <m:accPr>
                                    <m:chr m:val="̂"/>
                                    <m:ctrlPr>
                                      <a:rPr lang="zh-CN" altLang="zh-CN" sz="3200" i="1">
                                        <a:solidFill>
                                          <a:srgbClr val="006699"/>
                                        </a:solidFill>
                                        <a:latin typeface="Cambria Math" panose="02040503050406030204" pitchFamily="18" charset="0"/>
                                      </a:rPr>
                                    </m:ctrlPr>
                                  </m:accPr>
                                  <m:e>
                                    <m:r>
                                      <a:rPr lang="en-US" altLang="zh-CN" sz="3200">
                                        <a:solidFill>
                                          <a:srgbClr val="006699"/>
                                        </a:solidFill>
                                        <a:latin typeface="Cambria Math" panose="02040503050406030204" pitchFamily="18" charset="0"/>
                                      </a:rPr>
                                      <m:t>𝜃</m:t>
                                    </m:r>
                                  </m:e>
                                </m:acc>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𝜃</m:t>
                                </m:r>
                              </m:e>
                            </m:d>
                            <m:r>
                              <a:rPr lang="en-US" altLang="zh-CN" sz="3200">
                                <a:solidFill>
                                  <a:srgbClr val="006699"/>
                                </a:solidFill>
                                <a:latin typeface="Cambria Math" panose="02040503050406030204" pitchFamily="18" charset="0"/>
                              </a:rPr>
                              <m:t>.</m:t>
                            </m:r>
                            <m:r>
                              <a:rPr lang="en-US" altLang="zh-CN" sz="3200" b="0" i="0" smtClean="0">
                                <a:solidFill>
                                  <a:srgbClr val="006699"/>
                                </a:solidFill>
                                <a:latin typeface="Cambria Math" panose="02040503050406030204" pitchFamily="18" charset="0"/>
                              </a:rPr>
                              <m:t>                                               </m:t>
                            </m:r>
                            <m:r>
                              <a:rPr lang="en-US" altLang="zh-CN" sz="3200">
                                <a:solidFill>
                                  <a:srgbClr val="006699"/>
                                </a:solidFill>
                                <a:latin typeface="Cambria Math" panose="02040503050406030204" pitchFamily="18" charset="0"/>
                              </a:rPr>
                              <m:t>(11.</m:t>
                            </m:r>
                            <m:r>
                              <a:rPr lang="en-US" altLang="zh-CN" sz="3200" b="0" i="0" smtClean="0">
                                <a:solidFill>
                                  <a:srgbClr val="006699"/>
                                </a:solidFill>
                                <a:latin typeface="Cambria Math" panose="02040503050406030204" pitchFamily="18" charset="0"/>
                              </a:rPr>
                              <m:t>11</m:t>
                            </m:r>
                            <m:r>
                              <a:rPr lang="en-US" altLang="zh-CN" sz="3200">
                                <a:solidFill>
                                  <a:srgbClr val="006699"/>
                                </a:solidFill>
                                <a:latin typeface="Cambria Math" panose="02040503050406030204" pitchFamily="18" charset="0"/>
                              </a:rPr>
                              <m:t>)</m:t>
                            </m:r>
                            <m:r>
                              <m:rPr>
                                <m:nor/>
                              </m:rPr>
                              <a:rPr lang="zh-CN" altLang="zh-CN" sz="3200" dirty="0">
                                <a:solidFill>
                                  <a:srgbClr val="006699"/>
                                </a:solidFill>
                                <a:latin typeface="Verdana" panose="020B0604030504040204" pitchFamily="34" charset="0"/>
                              </a:rPr>
                              <m:t> </m:t>
                            </m:r>
                          </m:e>
                        </m:mr>
                      </m:m>
                    </m:oMath>
                  </m:oMathPara>
                </a14:m>
                <a:endParaRPr lang="zh-CN" altLang="zh-CN" sz="3200" dirty="0">
                  <a:solidFill>
                    <a:srgbClr val="006699"/>
                  </a:solidFill>
                  <a:latin typeface="Verdana" panose="020B0604030504040204" pitchFamily="34" charset="0"/>
                </a:endParaRPr>
              </a:p>
              <a:p>
                <a:pPr>
                  <a:spcBef>
                    <a:spcPts val="900"/>
                  </a:spcBef>
                  <a:spcAft>
                    <a:spcPts val="900"/>
                  </a:spcAft>
                </a:pPr>
                <a:r>
                  <a:rPr lang="en-US" altLang="zh-CN" sz="3200" dirty="0" err="1">
                    <a:solidFill>
                      <a:srgbClr val="006699"/>
                    </a:solidFill>
                    <a:latin typeface="Verdana" panose="020B0604030504040204" pitchFamily="34" charset="0"/>
                  </a:rPr>
                  <a:t>当N充分大时由</a:t>
                </a:r>
                <a14:m>
                  <m:oMath xmlns:m="http://schemas.openxmlformats.org/officeDocument/2006/math">
                    <m:acc>
                      <m:accPr>
                        <m:chr m:val="̂"/>
                        <m:ctrlPr>
                          <a:rPr lang="zh-CN" altLang="zh-CN" sz="3200" i="1">
                            <a:solidFill>
                              <a:srgbClr val="006699"/>
                            </a:solidFill>
                            <a:latin typeface="Cambria Math" panose="02040503050406030204" pitchFamily="18" charset="0"/>
                          </a:rPr>
                        </m:ctrlPr>
                      </m:accPr>
                      <m:e>
                        <m:r>
                          <a:rPr lang="en-US" altLang="zh-CN" sz="3200">
                            <a:solidFill>
                              <a:srgbClr val="006699"/>
                            </a:solidFill>
                            <a:latin typeface="Cambria Math" panose="02040503050406030204" pitchFamily="18" charset="0"/>
                          </a:rPr>
                          <m:t>𝜃</m:t>
                        </m:r>
                      </m:e>
                    </m:acc>
                  </m:oMath>
                </a14:m>
                <a:r>
                  <a:rPr lang="en-US" altLang="zh-CN" sz="3200" dirty="0">
                    <a:solidFill>
                      <a:srgbClr val="006699"/>
                    </a:solidFill>
                    <a:latin typeface="Verdana" panose="020B0604030504040204" pitchFamily="34" charset="0"/>
                  </a:rPr>
                  <a:t>的近似正态分布式(11.8)</a:t>
                </a:r>
                <a:r>
                  <a:rPr lang="en-US" altLang="zh-CN" sz="3200" dirty="0" err="1">
                    <a:solidFill>
                      <a:srgbClr val="006699"/>
                    </a:solidFill>
                    <a:latin typeface="Verdana" panose="020B0604030504040204" pitchFamily="34" charset="0"/>
                  </a:rPr>
                  <a:t>可知</a:t>
                </a:r>
                <a:endParaRPr lang="zh-CN" altLang="zh-CN" sz="3200" dirty="0">
                  <a:solidFill>
                    <a:srgbClr val="006699"/>
                  </a:solidFill>
                  <a:latin typeface="Verdana" panose="020B0604030504040204" pitchFamily="34"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zh-CN" altLang="zh-CN" sz="2400" i="1">
                              <a:solidFill>
                                <a:srgbClr val="006699"/>
                              </a:solidFill>
                              <a:latin typeface="Cambria Math" panose="02040503050406030204" pitchFamily="18" charset="0"/>
                            </a:rPr>
                          </m:ctrlPr>
                        </m:mPr>
                        <m:mr>
                          <m:e>
                            <m:r>
                              <m:rPr>
                                <m:nor/>
                              </m:rPr>
                              <a:rPr lang="en-US" altLang="zh-CN" sz="2400">
                                <a:solidFill>
                                  <a:srgbClr val="006699"/>
                                </a:solidFill>
                                <a:latin typeface="Verdana" panose="020B0604030504040204" pitchFamily="34" charset="0"/>
                              </a:rPr>
                              <m:t>MAE</m:t>
                            </m:r>
                            <m:r>
                              <a:rPr lang="en-US" altLang="zh-CN" sz="2400">
                                <a:solidFill>
                                  <a:srgbClr val="006699"/>
                                </a:solidFill>
                                <a:latin typeface="Cambria Math" panose="02040503050406030204" pitchFamily="18" charset="0"/>
                              </a:rPr>
                              <m:t>=</m:t>
                            </m:r>
                            <m:r>
                              <a:rPr lang="en-US" altLang="zh-CN" sz="2400">
                                <a:solidFill>
                                  <a:srgbClr val="006699"/>
                                </a:solidFill>
                                <a:latin typeface="Cambria Math" panose="02040503050406030204" pitchFamily="18" charset="0"/>
                              </a:rPr>
                              <m:t>𝐸</m:t>
                            </m:r>
                            <m:d>
                              <m:dPr>
                                <m:begChr m:val="|"/>
                                <m:endChr m:val="|"/>
                                <m:ctrlPr>
                                  <a:rPr lang="zh-CN" altLang="zh-CN" sz="2400" i="1">
                                    <a:solidFill>
                                      <a:srgbClr val="006699"/>
                                    </a:solidFill>
                                    <a:latin typeface="Cambria Math" panose="02040503050406030204" pitchFamily="18" charset="0"/>
                                  </a:rPr>
                                </m:ctrlPr>
                              </m:dPr>
                              <m:e>
                                <m:acc>
                                  <m:accPr>
                                    <m:chr m:val="̂"/>
                                    <m:ctrlPr>
                                      <a:rPr lang="zh-CN" altLang="zh-CN" sz="2400" i="1">
                                        <a:solidFill>
                                          <a:srgbClr val="006699"/>
                                        </a:solidFill>
                                        <a:latin typeface="Cambria Math" panose="02040503050406030204" pitchFamily="18" charset="0"/>
                                      </a:rPr>
                                    </m:ctrlPr>
                                  </m:accPr>
                                  <m:e>
                                    <m:r>
                                      <a:rPr lang="en-US" altLang="zh-CN" sz="2400">
                                        <a:solidFill>
                                          <a:srgbClr val="006699"/>
                                        </a:solidFill>
                                        <a:latin typeface="Cambria Math" panose="02040503050406030204" pitchFamily="18" charset="0"/>
                                      </a:rPr>
                                      <m:t>𝜃</m:t>
                                    </m:r>
                                  </m:e>
                                </m:acc>
                                <m:r>
                                  <a:rPr lang="en-US" altLang="zh-CN" sz="2400">
                                    <a:solidFill>
                                      <a:srgbClr val="006699"/>
                                    </a:solidFill>
                                    <a:latin typeface="Cambria Math" panose="02040503050406030204" pitchFamily="18" charset="0"/>
                                  </a:rPr>
                                  <m:t>−</m:t>
                                </m:r>
                                <m:r>
                                  <a:rPr lang="en-US" altLang="zh-CN" sz="2400">
                                    <a:solidFill>
                                      <a:srgbClr val="006699"/>
                                    </a:solidFill>
                                    <a:latin typeface="Cambria Math" panose="02040503050406030204" pitchFamily="18" charset="0"/>
                                  </a:rPr>
                                  <m:t>𝜃</m:t>
                                </m:r>
                              </m:e>
                            </m:d>
                            <m:r>
                              <a:rPr lang="en-US" altLang="zh-CN" sz="2400">
                                <a:solidFill>
                                  <a:srgbClr val="006699"/>
                                </a:solidFill>
                                <a:latin typeface="Cambria Math" panose="02040503050406030204" pitchFamily="18" charset="0"/>
                              </a:rPr>
                              <m:t>=</m:t>
                            </m:r>
                            <m:f>
                              <m:fPr>
                                <m:ctrlPr>
                                  <a:rPr lang="zh-CN" altLang="zh-CN" sz="2400" i="1">
                                    <a:solidFill>
                                      <a:srgbClr val="006699"/>
                                    </a:solidFill>
                                    <a:latin typeface="Cambria Math" panose="02040503050406030204" pitchFamily="18" charset="0"/>
                                  </a:rPr>
                                </m:ctrlPr>
                              </m:fPr>
                              <m:num>
                                <m:r>
                                  <a:rPr lang="en-US" altLang="zh-CN" sz="2400">
                                    <a:solidFill>
                                      <a:srgbClr val="006699"/>
                                    </a:solidFill>
                                    <a:latin typeface="Cambria Math" panose="02040503050406030204" pitchFamily="18" charset="0"/>
                                  </a:rPr>
                                  <m:t>𝜎</m:t>
                                </m:r>
                              </m:num>
                              <m:den>
                                <m:rad>
                                  <m:radPr>
                                    <m:degHide m:val="on"/>
                                    <m:ctrlPr>
                                      <a:rPr lang="zh-CN" altLang="zh-CN" sz="2400" i="1">
                                        <a:solidFill>
                                          <a:srgbClr val="006699"/>
                                        </a:solidFill>
                                        <a:latin typeface="Cambria Math" panose="02040503050406030204" pitchFamily="18" charset="0"/>
                                      </a:rPr>
                                    </m:ctrlPr>
                                  </m:radPr>
                                  <m:deg/>
                                  <m:e>
                                    <m:r>
                                      <a:rPr lang="en-US" altLang="zh-CN" sz="2400">
                                        <a:solidFill>
                                          <a:srgbClr val="006699"/>
                                        </a:solidFill>
                                        <a:latin typeface="Cambria Math" panose="02040503050406030204" pitchFamily="18" charset="0"/>
                                      </a:rPr>
                                      <m:t>𝑁</m:t>
                                    </m:r>
                                  </m:e>
                                </m:rad>
                              </m:den>
                            </m:f>
                            <m:r>
                              <a:rPr lang="en-US" altLang="zh-CN" sz="2400">
                                <a:solidFill>
                                  <a:srgbClr val="006699"/>
                                </a:solidFill>
                                <a:latin typeface="Cambria Math" panose="02040503050406030204" pitchFamily="18" charset="0"/>
                              </a:rPr>
                              <m:t>𝐸</m:t>
                            </m:r>
                            <m:d>
                              <m:dPr>
                                <m:begChr m:val="|"/>
                                <m:endChr m:val="|"/>
                                <m:ctrlPr>
                                  <a:rPr lang="zh-CN" altLang="zh-CN" sz="2400" i="1">
                                    <a:solidFill>
                                      <a:srgbClr val="006699"/>
                                    </a:solidFill>
                                    <a:latin typeface="Cambria Math" panose="02040503050406030204" pitchFamily="18" charset="0"/>
                                  </a:rPr>
                                </m:ctrlPr>
                              </m:dPr>
                              <m:e>
                                <m:f>
                                  <m:fPr>
                                    <m:ctrlPr>
                                      <a:rPr lang="zh-CN" altLang="zh-CN" sz="2400" i="1">
                                        <a:solidFill>
                                          <a:srgbClr val="006699"/>
                                        </a:solidFill>
                                        <a:latin typeface="Cambria Math" panose="02040503050406030204" pitchFamily="18" charset="0"/>
                                      </a:rPr>
                                    </m:ctrlPr>
                                  </m:fPr>
                                  <m:num>
                                    <m:acc>
                                      <m:accPr>
                                        <m:chr m:val="̂"/>
                                        <m:ctrlPr>
                                          <a:rPr lang="zh-CN" altLang="zh-CN" sz="2400" i="1">
                                            <a:solidFill>
                                              <a:srgbClr val="006699"/>
                                            </a:solidFill>
                                            <a:latin typeface="Cambria Math" panose="02040503050406030204" pitchFamily="18" charset="0"/>
                                          </a:rPr>
                                        </m:ctrlPr>
                                      </m:accPr>
                                      <m:e>
                                        <m:r>
                                          <a:rPr lang="en-US" altLang="zh-CN" sz="2400">
                                            <a:solidFill>
                                              <a:srgbClr val="006699"/>
                                            </a:solidFill>
                                            <a:latin typeface="Cambria Math" panose="02040503050406030204" pitchFamily="18" charset="0"/>
                                          </a:rPr>
                                          <m:t>𝜃</m:t>
                                        </m:r>
                                      </m:e>
                                    </m:acc>
                                    <m:r>
                                      <a:rPr lang="en-US" altLang="zh-CN" sz="2400">
                                        <a:solidFill>
                                          <a:srgbClr val="006699"/>
                                        </a:solidFill>
                                        <a:latin typeface="Cambria Math" panose="02040503050406030204" pitchFamily="18" charset="0"/>
                                      </a:rPr>
                                      <m:t>−</m:t>
                                    </m:r>
                                    <m:r>
                                      <a:rPr lang="en-US" altLang="zh-CN" sz="2400">
                                        <a:solidFill>
                                          <a:srgbClr val="006699"/>
                                        </a:solidFill>
                                        <a:latin typeface="Cambria Math" panose="02040503050406030204" pitchFamily="18" charset="0"/>
                                      </a:rPr>
                                      <m:t>𝜃</m:t>
                                    </m:r>
                                  </m:num>
                                  <m:den>
                                    <m:r>
                                      <a:rPr lang="en-US" altLang="zh-CN" sz="2400">
                                        <a:solidFill>
                                          <a:srgbClr val="006699"/>
                                        </a:solidFill>
                                        <a:latin typeface="Cambria Math" panose="02040503050406030204" pitchFamily="18" charset="0"/>
                                      </a:rPr>
                                      <m:t>𝜎</m:t>
                                    </m:r>
                                    <m:r>
                                      <a:rPr lang="en-US" altLang="zh-CN" sz="2400">
                                        <a:solidFill>
                                          <a:srgbClr val="006699"/>
                                        </a:solidFill>
                                        <a:latin typeface="Cambria Math" panose="02040503050406030204" pitchFamily="18" charset="0"/>
                                      </a:rPr>
                                      <m:t>/</m:t>
                                    </m:r>
                                    <m:rad>
                                      <m:radPr>
                                        <m:degHide m:val="on"/>
                                        <m:ctrlPr>
                                          <a:rPr lang="zh-CN" altLang="zh-CN" sz="2400" i="1">
                                            <a:solidFill>
                                              <a:srgbClr val="006699"/>
                                            </a:solidFill>
                                            <a:latin typeface="Cambria Math" panose="02040503050406030204" pitchFamily="18" charset="0"/>
                                          </a:rPr>
                                        </m:ctrlPr>
                                      </m:radPr>
                                      <m:deg/>
                                      <m:e>
                                        <m:r>
                                          <a:rPr lang="en-US" altLang="zh-CN" sz="2400">
                                            <a:solidFill>
                                              <a:srgbClr val="006699"/>
                                            </a:solidFill>
                                            <a:latin typeface="Cambria Math" panose="02040503050406030204" pitchFamily="18" charset="0"/>
                                          </a:rPr>
                                          <m:t>𝑁</m:t>
                                        </m:r>
                                      </m:e>
                                    </m:rad>
                                  </m:den>
                                </m:f>
                              </m:e>
                            </m:d>
                            <m:r>
                              <a:rPr lang="en-US" altLang="zh-CN" sz="2400">
                                <a:solidFill>
                                  <a:srgbClr val="006699"/>
                                </a:solidFill>
                                <a:latin typeface="Cambria Math" panose="02040503050406030204" pitchFamily="18" charset="0"/>
                              </a:rPr>
                              <m:t>≈</m:t>
                            </m:r>
                            <m:rad>
                              <m:radPr>
                                <m:degHide m:val="on"/>
                                <m:ctrlPr>
                                  <a:rPr lang="zh-CN" altLang="zh-CN" sz="2400" i="1">
                                    <a:solidFill>
                                      <a:srgbClr val="006699"/>
                                    </a:solidFill>
                                    <a:latin typeface="Cambria Math" panose="02040503050406030204" pitchFamily="18" charset="0"/>
                                  </a:rPr>
                                </m:ctrlPr>
                              </m:radPr>
                              <m:deg/>
                              <m:e>
                                <m:f>
                                  <m:fPr>
                                    <m:ctrlPr>
                                      <a:rPr lang="zh-CN" altLang="zh-CN" sz="2400" i="1">
                                        <a:solidFill>
                                          <a:srgbClr val="006699"/>
                                        </a:solidFill>
                                        <a:latin typeface="Cambria Math" panose="02040503050406030204" pitchFamily="18" charset="0"/>
                                      </a:rPr>
                                    </m:ctrlPr>
                                  </m:fPr>
                                  <m:num>
                                    <m:r>
                                      <a:rPr lang="en-US" altLang="zh-CN" sz="2400">
                                        <a:solidFill>
                                          <a:srgbClr val="006699"/>
                                        </a:solidFill>
                                        <a:latin typeface="Cambria Math" panose="02040503050406030204" pitchFamily="18" charset="0"/>
                                      </a:rPr>
                                      <m:t>2</m:t>
                                    </m:r>
                                  </m:num>
                                  <m:den>
                                    <m:r>
                                      <a:rPr lang="en-US" altLang="zh-CN" sz="2400">
                                        <a:solidFill>
                                          <a:srgbClr val="006699"/>
                                        </a:solidFill>
                                        <a:latin typeface="Cambria Math" panose="02040503050406030204" pitchFamily="18" charset="0"/>
                                      </a:rPr>
                                      <m:t>𝜋</m:t>
                                    </m:r>
                                  </m:den>
                                </m:f>
                              </m:e>
                            </m:rad>
                            <m:f>
                              <m:fPr>
                                <m:ctrlPr>
                                  <a:rPr lang="zh-CN" altLang="zh-CN" sz="2400" i="1">
                                    <a:solidFill>
                                      <a:srgbClr val="006699"/>
                                    </a:solidFill>
                                    <a:latin typeface="Cambria Math" panose="02040503050406030204" pitchFamily="18" charset="0"/>
                                  </a:rPr>
                                </m:ctrlPr>
                              </m:fPr>
                              <m:num>
                                <m:r>
                                  <a:rPr lang="en-US" altLang="zh-CN" sz="2400">
                                    <a:solidFill>
                                      <a:srgbClr val="006699"/>
                                    </a:solidFill>
                                    <a:latin typeface="Cambria Math" panose="02040503050406030204" pitchFamily="18" charset="0"/>
                                  </a:rPr>
                                  <m:t>𝜎</m:t>
                                </m:r>
                              </m:num>
                              <m:den>
                                <m:rad>
                                  <m:radPr>
                                    <m:degHide m:val="on"/>
                                    <m:ctrlPr>
                                      <a:rPr lang="zh-CN" altLang="zh-CN" sz="2400" i="1">
                                        <a:solidFill>
                                          <a:srgbClr val="006699"/>
                                        </a:solidFill>
                                        <a:latin typeface="Cambria Math" panose="02040503050406030204" pitchFamily="18" charset="0"/>
                                      </a:rPr>
                                    </m:ctrlPr>
                                  </m:radPr>
                                  <m:deg/>
                                  <m:e>
                                    <m:r>
                                      <a:rPr lang="en-US" altLang="zh-CN" sz="2400">
                                        <a:solidFill>
                                          <a:srgbClr val="006699"/>
                                        </a:solidFill>
                                        <a:latin typeface="Cambria Math" panose="02040503050406030204" pitchFamily="18" charset="0"/>
                                      </a:rPr>
                                      <m:t>𝑁</m:t>
                                    </m:r>
                                  </m:e>
                                </m:rad>
                              </m:den>
                            </m:f>
                            <m:r>
                              <a:rPr lang="en-US" altLang="zh-CN" sz="2400">
                                <a:solidFill>
                                  <a:srgbClr val="006699"/>
                                </a:solidFill>
                                <a:latin typeface="Cambria Math" panose="02040503050406030204" pitchFamily="18" charset="0"/>
                              </a:rPr>
                              <m:t>≈0.7979</m:t>
                            </m:r>
                            <m:f>
                              <m:fPr>
                                <m:ctrlPr>
                                  <a:rPr lang="zh-CN" altLang="zh-CN" sz="2400" i="1">
                                    <a:solidFill>
                                      <a:srgbClr val="006699"/>
                                    </a:solidFill>
                                    <a:latin typeface="Cambria Math" panose="02040503050406030204" pitchFamily="18" charset="0"/>
                                  </a:rPr>
                                </m:ctrlPr>
                              </m:fPr>
                              <m:num>
                                <m:r>
                                  <a:rPr lang="en-US" altLang="zh-CN" sz="2400">
                                    <a:solidFill>
                                      <a:srgbClr val="006699"/>
                                    </a:solidFill>
                                    <a:latin typeface="Cambria Math" panose="02040503050406030204" pitchFamily="18" charset="0"/>
                                  </a:rPr>
                                  <m:t>𝜎</m:t>
                                </m:r>
                              </m:num>
                              <m:den>
                                <m:rad>
                                  <m:radPr>
                                    <m:degHide m:val="on"/>
                                    <m:ctrlPr>
                                      <a:rPr lang="zh-CN" altLang="zh-CN" sz="2400" i="1">
                                        <a:solidFill>
                                          <a:srgbClr val="006699"/>
                                        </a:solidFill>
                                        <a:latin typeface="Cambria Math" panose="02040503050406030204" pitchFamily="18" charset="0"/>
                                      </a:rPr>
                                    </m:ctrlPr>
                                  </m:radPr>
                                  <m:deg/>
                                  <m:e>
                                    <m:r>
                                      <a:rPr lang="en-US" altLang="zh-CN" sz="2400">
                                        <a:solidFill>
                                          <a:srgbClr val="006699"/>
                                        </a:solidFill>
                                        <a:latin typeface="Cambria Math" panose="02040503050406030204" pitchFamily="18" charset="0"/>
                                      </a:rPr>
                                      <m:t>𝑁</m:t>
                                    </m:r>
                                  </m:e>
                                </m:rad>
                              </m:den>
                            </m:f>
                            <m:r>
                              <a:rPr lang="en-US" altLang="zh-CN" sz="2400" b="0" i="1" smtClean="0">
                                <a:solidFill>
                                  <a:srgbClr val="006699"/>
                                </a:solidFill>
                                <a:latin typeface="Cambria Math" panose="02040503050406030204" pitchFamily="18" charset="0"/>
                              </a:rPr>
                              <m:t>         </m:t>
                            </m:r>
                            <m:r>
                              <a:rPr lang="en-US" altLang="zh-CN" sz="2400">
                                <a:solidFill>
                                  <a:srgbClr val="006699"/>
                                </a:solidFill>
                                <a:latin typeface="Cambria Math" panose="02040503050406030204" pitchFamily="18" charset="0"/>
                              </a:rPr>
                              <m:t>(11.1</m:t>
                            </m:r>
                            <m:r>
                              <a:rPr lang="en-US" altLang="zh-CN" sz="2400" b="0" i="0" smtClean="0">
                                <a:solidFill>
                                  <a:srgbClr val="006699"/>
                                </a:solidFill>
                                <a:latin typeface="Cambria Math" panose="02040503050406030204" pitchFamily="18" charset="0"/>
                              </a:rPr>
                              <m:t>2</m:t>
                            </m:r>
                            <m:r>
                              <a:rPr lang="en-US" altLang="zh-CN" sz="2400">
                                <a:solidFill>
                                  <a:srgbClr val="006699"/>
                                </a:solidFill>
                                <a:latin typeface="Cambria Math" panose="02040503050406030204" pitchFamily="18" charset="0"/>
                              </a:rPr>
                              <m:t>)</m:t>
                            </m:r>
                          </m:e>
                          <m:e/>
                        </m:mr>
                        <m:mr>
                          <m:e/>
                          <m:e/>
                        </m:mr>
                      </m:m>
                    </m:oMath>
                  </m:oMathPara>
                </a14:m>
                <a:endParaRPr lang="zh-CN" altLang="zh-CN" sz="3200" dirty="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en-US" altLang="zh-CN" sz="3200" dirty="0" err="1">
                    <a:solidFill>
                      <a:srgbClr val="006699"/>
                    </a:solidFill>
                    <a:latin typeface="Verdana" panose="020B0604030504040204" pitchFamily="34" charset="0"/>
                  </a:rPr>
                  <a:t>平均绝对误差可以用</a:t>
                </a:r>
                <a14:m>
                  <m:oMath xmlns:m="http://schemas.openxmlformats.org/officeDocument/2006/math">
                    <m:r>
                      <a:rPr lang="en-US" altLang="zh-CN" sz="3200">
                        <a:solidFill>
                          <a:srgbClr val="006699"/>
                        </a:solidFill>
                        <a:latin typeface="Cambria Math" panose="02040503050406030204" pitchFamily="18" charset="0"/>
                      </a:rPr>
                      <m:t>0.80</m:t>
                    </m:r>
                    <m:f>
                      <m:fPr>
                        <m:ctrlPr>
                          <a:rPr lang="zh-CN" altLang="zh-CN" sz="3200" i="1">
                            <a:solidFill>
                              <a:srgbClr val="006699"/>
                            </a:solidFill>
                            <a:latin typeface="Cambria Math" panose="02040503050406030204" pitchFamily="18" charset="0"/>
                          </a:rPr>
                        </m:ctrlPr>
                      </m:fPr>
                      <m:num>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𝑆</m:t>
                            </m:r>
                          </m:e>
                          <m:sub>
                            <m:r>
                              <a:rPr lang="en-US" altLang="zh-CN" sz="3200">
                                <a:solidFill>
                                  <a:srgbClr val="006699"/>
                                </a:solidFill>
                                <a:latin typeface="Cambria Math" panose="02040503050406030204" pitchFamily="18" charset="0"/>
                              </a:rPr>
                              <m:t>𝑁</m:t>
                            </m:r>
                          </m:sub>
                        </m:sSub>
                      </m:num>
                      <m:den>
                        <m:rad>
                          <m:radPr>
                            <m:degHide m:val="on"/>
                            <m:ctrlPr>
                              <a:rPr lang="zh-CN" altLang="zh-CN" sz="3200" i="1">
                                <a:solidFill>
                                  <a:srgbClr val="006699"/>
                                </a:solidFill>
                                <a:latin typeface="Cambria Math" panose="02040503050406030204" pitchFamily="18" charset="0"/>
                              </a:rPr>
                            </m:ctrlPr>
                          </m:radPr>
                          <m:deg/>
                          <m:e>
                            <m:r>
                              <a:rPr lang="en-US" altLang="zh-CN" sz="3200">
                                <a:solidFill>
                                  <a:srgbClr val="006699"/>
                                </a:solidFill>
                                <a:latin typeface="Cambria Math" panose="02040503050406030204" pitchFamily="18" charset="0"/>
                              </a:rPr>
                              <m:t>𝑁</m:t>
                            </m:r>
                          </m:e>
                        </m:rad>
                      </m:den>
                    </m:f>
                    <m:r>
                      <a:rPr lang="en-US" altLang="zh-CN" sz="3200">
                        <a:solidFill>
                          <a:srgbClr val="006699"/>
                        </a:solidFill>
                        <a:latin typeface="Cambria Math" panose="02040503050406030204" pitchFamily="18" charset="0"/>
                      </a:rPr>
                      <m:t>=0.80</m:t>
                    </m:r>
                    <m:r>
                      <m:rPr>
                        <m:nor/>
                      </m:rPr>
                      <a:rPr lang="en-US" altLang="zh-CN" sz="3200">
                        <a:solidFill>
                          <a:srgbClr val="006699"/>
                        </a:solidFill>
                        <a:latin typeface="Verdana" panose="020B0604030504040204" pitchFamily="34" charset="0"/>
                      </a:rPr>
                      <m:t>RMSE</m:t>
                    </m:r>
                  </m:oMath>
                </a14:m>
                <a:r>
                  <a:rPr lang="en-US" altLang="zh-CN" sz="3200" dirty="0" err="1">
                    <a:solidFill>
                      <a:srgbClr val="006699"/>
                    </a:solidFill>
                    <a:latin typeface="Verdana" panose="020B0604030504040204" pitchFamily="34" charset="0"/>
                  </a:rPr>
                  <a:t>估计</a:t>
                </a:r>
                <a:endParaRPr lang="zh-CN" altLang="en-US" sz="3200" dirty="0">
                  <a:solidFill>
                    <a:srgbClr val="006699"/>
                  </a:solidFill>
                  <a:latin typeface="Verdana" panose="020B0604030504040204" pitchFamily="34" charset="0"/>
                </a:endParaRPr>
              </a:p>
            </p:txBody>
          </p:sp>
        </mc:Choice>
        <mc:Fallback xmlns="">
          <p:sp>
            <p:nvSpPr>
              <p:cNvPr id="3" name="文本框 2">
                <a:extLst>
                  <a:ext uri="{FF2B5EF4-FFF2-40B4-BE49-F238E27FC236}">
                    <a16:creationId xmlns:a16="http://schemas.microsoft.com/office/drawing/2014/main" id="{E21ED854-3448-BE3A-E928-DC11D4C5809D}"/>
                  </a:ext>
                </a:extLst>
              </p:cNvPr>
              <p:cNvSpPr txBox="1">
                <a:spLocks noRot="1" noChangeAspect="1" noMove="1" noResize="1" noEditPoints="1" noAdjustHandles="1" noChangeArrowheads="1" noChangeShapeType="1" noTextEdit="1"/>
              </p:cNvSpPr>
              <p:nvPr/>
            </p:nvSpPr>
            <p:spPr>
              <a:xfrm>
                <a:off x="0" y="947392"/>
                <a:ext cx="9451050" cy="4646657"/>
              </a:xfrm>
              <a:prstGeom prst="rect">
                <a:avLst/>
              </a:prstGeom>
              <a:blipFill>
                <a:blip r:embed="rId2"/>
                <a:stretch>
                  <a:fillRect l="-1613" t="-1966"/>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4068687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6" y="142875"/>
            <a:ext cx="9358406" cy="642938"/>
          </a:xfrm>
        </p:spPr>
        <p:txBody>
          <a:bodyPr/>
          <a:lstStyle/>
          <a:p>
            <a:pPr algn="l" defTabSz="512763" fontAlgn="base">
              <a:spcAft>
                <a:spcPct val="0"/>
              </a:spcAft>
            </a:pPr>
            <a:r>
              <a:rPr lang="zh-CN" altLang="en-US" dirty="0"/>
              <a:t>估计误差的一些度量</a:t>
            </a:r>
            <a:r>
              <a:rPr lang="en-US" altLang="zh-CN" dirty="0"/>
              <a:t>:</a:t>
            </a:r>
            <a:r>
              <a:rPr lang="zh-CN" altLang="en-US" dirty="0"/>
              <a:t>估计的平均相对误差</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44</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5169B61-66FD-DC71-761A-40E0044116DD}"/>
                  </a:ext>
                </a:extLst>
              </p:cNvPr>
              <p:cNvSpPr txBox="1"/>
              <p:nvPr/>
            </p:nvSpPr>
            <p:spPr>
              <a:xfrm>
                <a:off x="-308" y="1403775"/>
                <a:ext cx="9159875" cy="2928494"/>
              </a:xfrm>
              <a:prstGeom prst="rect">
                <a:avLst/>
              </a:prstGeom>
              <a:noFill/>
              <a:ln w="25400">
                <a:noFill/>
              </a:ln>
            </p:spPr>
            <p:txBody>
              <a:bodyPr wrap="square">
                <a:spAutoFit/>
              </a:bodyPr>
              <a:lstStyle/>
              <a:p>
                <a:pPr>
                  <a:spcBef>
                    <a:spcPts val="900"/>
                  </a:spcBef>
                  <a:spcAft>
                    <a:spcPts val="900"/>
                  </a:spcAft>
                </a:pPr>
                <a:r>
                  <a:rPr lang="en-US" altLang="zh-CN" sz="3200" dirty="0">
                    <a:solidFill>
                      <a:srgbClr val="006699"/>
                    </a:solidFill>
                    <a:latin typeface="Verdana" panose="020B0604030504040204" pitchFamily="34" charset="0"/>
                  </a:rPr>
                  <a:t>定义估计的平均相对误差为</a:t>
                </a:r>
                <a:endParaRPr lang="zh-CN" altLang="zh-CN" sz="3200" dirty="0">
                  <a:solidFill>
                    <a:srgbClr val="006699"/>
                  </a:solidFill>
                  <a:latin typeface="Verdana" panose="020B0604030504040204" pitchFamily="34"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zh-CN" sz="3200" i="1">
                              <a:solidFill>
                                <a:srgbClr val="006699"/>
                              </a:solidFill>
                              <a:latin typeface="Cambria Math" panose="02040503050406030204" pitchFamily="18" charset="0"/>
                            </a:rPr>
                          </m:ctrlPr>
                        </m:mPr>
                        <m:mr>
                          <m:e>
                            <m:r>
                              <m:rPr>
                                <m:nor/>
                              </m:rPr>
                              <a:rPr lang="en-US" altLang="zh-CN" sz="3200">
                                <a:solidFill>
                                  <a:srgbClr val="006699"/>
                                </a:solidFill>
                                <a:latin typeface="Verdana" panose="020B0604030504040204" pitchFamily="34" charset="0"/>
                              </a:rPr>
                              <m:t>MRE</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𝐸</m:t>
                            </m:r>
                            <m:d>
                              <m:dPr>
                                <m:begChr m:val="|"/>
                                <m:endChr m:val="|"/>
                                <m:ctrlPr>
                                  <a:rPr lang="zh-CN" altLang="zh-CN" sz="3200" i="1">
                                    <a:solidFill>
                                      <a:srgbClr val="006699"/>
                                    </a:solidFill>
                                    <a:latin typeface="Cambria Math" panose="02040503050406030204" pitchFamily="18" charset="0"/>
                                  </a:rPr>
                                </m:ctrlPr>
                              </m:dPr>
                              <m:e>
                                <m:f>
                                  <m:fPr>
                                    <m:ctrlPr>
                                      <a:rPr lang="zh-CN" altLang="zh-CN" sz="3200" i="1">
                                        <a:solidFill>
                                          <a:srgbClr val="006699"/>
                                        </a:solidFill>
                                        <a:latin typeface="Cambria Math" panose="02040503050406030204" pitchFamily="18" charset="0"/>
                                      </a:rPr>
                                    </m:ctrlPr>
                                  </m:fPr>
                                  <m:num>
                                    <m:acc>
                                      <m:accPr>
                                        <m:chr m:val="̂"/>
                                        <m:ctrlPr>
                                          <a:rPr lang="zh-CN" altLang="zh-CN" sz="3200" i="1">
                                            <a:solidFill>
                                              <a:srgbClr val="006699"/>
                                            </a:solidFill>
                                            <a:latin typeface="Cambria Math" panose="02040503050406030204" pitchFamily="18" charset="0"/>
                                          </a:rPr>
                                        </m:ctrlPr>
                                      </m:accPr>
                                      <m:e>
                                        <m:r>
                                          <a:rPr lang="en-US" altLang="zh-CN" sz="3200">
                                            <a:solidFill>
                                              <a:srgbClr val="006699"/>
                                            </a:solidFill>
                                            <a:latin typeface="Cambria Math" panose="02040503050406030204" pitchFamily="18" charset="0"/>
                                          </a:rPr>
                                          <m:t>𝜃</m:t>
                                        </m:r>
                                      </m:e>
                                    </m:acc>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𝜃</m:t>
                                    </m:r>
                                  </m:num>
                                  <m:den>
                                    <m:r>
                                      <a:rPr lang="en-US" altLang="zh-CN" sz="3200">
                                        <a:solidFill>
                                          <a:srgbClr val="006699"/>
                                        </a:solidFill>
                                        <a:latin typeface="Cambria Math" panose="02040503050406030204" pitchFamily="18" charset="0"/>
                                      </a:rPr>
                                      <m:t>𝜃</m:t>
                                    </m:r>
                                  </m:den>
                                </m:f>
                              </m:e>
                            </m:d>
                            <m:r>
                              <a:rPr lang="en-US" altLang="zh-CN" sz="3200">
                                <a:solidFill>
                                  <a:srgbClr val="006699"/>
                                </a:solidFill>
                                <a:latin typeface="Cambria Math" panose="02040503050406030204" pitchFamily="18" charset="0"/>
                              </a:rPr>
                              <m:t>=</m:t>
                            </m:r>
                            <m:f>
                              <m:fPr>
                                <m:ctrlPr>
                                  <a:rPr lang="en-US" altLang="zh-CN" sz="3200" i="1">
                                    <a:solidFill>
                                      <a:srgbClr val="006699"/>
                                    </a:solidFill>
                                    <a:latin typeface="Cambria Math" panose="02040503050406030204" pitchFamily="18" charset="0"/>
                                  </a:rPr>
                                </m:ctrlPr>
                              </m:fPr>
                              <m:num>
                                <m:r>
                                  <m:rPr>
                                    <m:nor/>
                                  </m:rPr>
                                  <a:rPr lang="en-US" altLang="zh-CN" sz="3200">
                                    <a:solidFill>
                                      <a:srgbClr val="006699"/>
                                    </a:solidFill>
                                    <a:latin typeface="Verdana" panose="020B0604030504040204" pitchFamily="34" charset="0"/>
                                  </a:rPr>
                                  <m:t>MAE</m:t>
                                </m:r>
                              </m:num>
                              <m:den>
                                <m:r>
                                  <a:rPr lang="en-US" altLang="zh-CN" sz="3200">
                                    <a:solidFill>
                                      <a:srgbClr val="006699"/>
                                    </a:solidFill>
                                    <a:latin typeface="Cambria Math" panose="02040503050406030204" pitchFamily="18" charset="0"/>
                                  </a:rPr>
                                  <m:t>𝜃</m:t>
                                </m:r>
                              </m:den>
                            </m:f>
                            <m:r>
                              <a:rPr lang="en-US" altLang="zh-CN" sz="3200" b="0" i="1" smtClean="0">
                                <a:solidFill>
                                  <a:srgbClr val="006699"/>
                                </a:solidFill>
                                <a:latin typeface="Cambria Math" panose="02040503050406030204" pitchFamily="18" charset="0"/>
                              </a:rPr>
                              <m:t>                               </m:t>
                            </m:r>
                            <m:r>
                              <a:rPr lang="en-US" altLang="zh-CN" sz="3200">
                                <a:solidFill>
                                  <a:srgbClr val="006699"/>
                                </a:solidFill>
                                <a:latin typeface="Cambria Math" panose="02040503050406030204" pitchFamily="18" charset="0"/>
                              </a:rPr>
                              <m:t>(11.11)</m:t>
                            </m:r>
                          </m:e>
                        </m:mr>
                      </m:m>
                    </m:oMath>
                  </m:oMathPara>
                </a14:m>
                <a:endParaRPr lang="zh-CN"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en-US" altLang="zh-CN" sz="3200" dirty="0" err="1">
                    <a:solidFill>
                      <a:srgbClr val="006699"/>
                    </a:solidFill>
                    <a:latin typeface="Verdana" panose="020B0604030504040204" pitchFamily="34" charset="0"/>
                  </a:rPr>
                  <a:t>平均相对误差可以用</a:t>
                </a:r>
                <a14:m>
                  <m:oMath xmlns:m="http://schemas.openxmlformats.org/officeDocument/2006/math">
                    <m:r>
                      <a:rPr lang="en-US" altLang="zh-CN" sz="3200">
                        <a:solidFill>
                          <a:srgbClr val="006699"/>
                        </a:solidFill>
                        <a:latin typeface="Cambria Math" panose="02040503050406030204" pitchFamily="18" charset="0"/>
                      </a:rPr>
                      <m:t>0.80</m:t>
                    </m:r>
                    <m:f>
                      <m:fPr>
                        <m:ctrlPr>
                          <a:rPr lang="zh-CN" altLang="zh-CN" sz="3200" i="1">
                            <a:solidFill>
                              <a:srgbClr val="006699"/>
                            </a:solidFill>
                            <a:latin typeface="Cambria Math" panose="02040503050406030204" pitchFamily="18" charset="0"/>
                          </a:rPr>
                        </m:ctrlPr>
                      </m:fPr>
                      <m:num>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𝑆</m:t>
                            </m:r>
                          </m:e>
                          <m:sub>
                            <m:r>
                              <a:rPr lang="en-US" altLang="zh-CN" sz="3200">
                                <a:solidFill>
                                  <a:srgbClr val="006699"/>
                                </a:solidFill>
                                <a:latin typeface="Cambria Math" panose="02040503050406030204" pitchFamily="18" charset="0"/>
                              </a:rPr>
                              <m:t>𝑁</m:t>
                            </m:r>
                          </m:sub>
                        </m:sSub>
                      </m:num>
                      <m:den>
                        <m:rad>
                          <m:radPr>
                            <m:degHide m:val="on"/>
                            <m:ctrlPr>
                              <a:rPr lang="zh-CN" altLang="zh-CN" sz="3200" i="1">
                                <a:solidFill>
                                  <a:srgbClr val="006699"/>
                                </a:solidFill>
                                <a:latin typeface="Cambria Math" panose="02040503050406030204" pitchFamily="18" charset="0"/>
                              </a:rPr>
                            </m:ctrlPr>
                          </m:radPr>
                          <m:deg/>
                          <m:e>
                            <m:r>
                              <a:rPr lang="en-US" altLang="zh-CN" sz="3200">
                                <a:solidFill>
                                  <a:srgbClr val="006699"/>
                                </a:solidFill>
                                <a:latin typeface="Cambria Math" panose="02040503050406030204" pitchFamily="18" charset="0"/>
                              </a:rPr>
                              <m:t>𝑁</m:t>
                            </m:r>
                          </m:e>
                        </m:rad>
                        <m:acc>
                          <m:accPr>
                            <m:chr m:val="̂"/>
                            <m:ctrlPr>
                              <a:rPr lang="zh-CN" altLang="zh-CN" sz="3200" i="1">
                                <a:solidFill>
                                  <a:srgbClr val="006699"/>
                                </a:solidFill>
                                <a:latin typeface="Cambria Math" panose="02040503050406030204" pitchFamily="18" charset="0"/>
                              </a:rPr>
                            </m:ctrlPr>
                          </m:accPr>
                          <m:e>
                            <m:r>
                              <a:rPr lang="en-US" altLang="zh-CN" sz="3200">
                                <a:solidFill>
                                  <a:srgbClr val="006699"/>
                                </a:solidFill>
                                <a:latin typeface="Cambria Math" panose="02040503050406030204" pitchFamily="18" charset="0"/>
                              </a:rPr>
                              <m:t>𝜃</m:t>
                            </m:r>
                          </m:e>
                        </m:acc>
                      </m:den>
                    </m:f>
                    <m:r>
                      <a:rPr lang="en-US" altLang="zh-CN" sz="3200">
                        <a:solidFill>
                          <a:srgbClr val="006699"/>
                        </a:solidFill>
                        <a:latin typeface="Cambria Math" panose="02040503050406030204" pitchFamily="18" charset="0"/>
                      </a:rPr>
                      <m:t>=0.80</m:t>
                    </m:r>
                    <m:f>
                      <m:fPr>
                        <m:ctrlPr>
                          <a:rPr lang="zh-CN" altLang="zh-CN" sz="3200" i="1">
                            <a:solidFill>
                              <a:srgbClr val="006699"/>
                            </a:solidFill>
                            <a:latin typeface="Cambria Math" panose="02040503050406030204" pitchFamily="18" charset="0"/>
                          </a:rPr>
                        </m:ctrlPr>
                      </m:fPr>
                      <m:num>
                        <m:r>
                          <m:rPr>
                            <m:nor/>
                          </m:rPr>
                          <a:rPr lang="en-US" altLang="zh-CN" sz="3200">
                            <a:solidFill>
                              <a:srgbClr val="006699"/>
                            </a:solidFill>
                            <a:latin typeface="Verdana" panose="020B0604030504040204" pitchFamily="34" charset="0"/>
                          </a:rPr>
                          <m:t>RMSE</m:t>
                        </m:r>
                      </m:num>
                      <m:den>
                        <m:acc>
                          <m:accPr>
                            <m:chr m:val="̂"/>
                            <m:ctrlPr>
                              <a:rPr lang="zh-CN" altLang="zh-CN" sz="3200" i="1">
                                <a:solidFill>
                                  <a:srgbClr val="006699"/>
                                </a:solidFill>
                                <a:latin typeface="Cambria Math" panose="02040503050406030204" pitchFamily="18" charset="0"/>
                              </a:rPr>
                            </m:ctrlPr>
                          </m:accPr>
                          <m:e>
                            <m:r>
                              <a:rPr lang="en-US" altLang="zh-CN" sz="3200">
                                <a:solidFill>
                                  <a:srgbClr val="006699"/>
                                </a:solidFill>
                                <a:latin typeface="Cambria Math" panose="02040503050406030204" pitchFamily="18" charset="0"/>
                              </a:rPr>
                              <m:t>𝜃</m:t>
                            </m:r>
                          </m:e>
                        </m:acc>
                      </m:den>
                    </m:f>
                  </m:oMath>
                </a14:m>
                <a:r>
                  <a:rPr lang="en-US" altLang="zh-CN" sz="3200" dirty="0" err="1">
                    <a:solidFill>
                      <a:srgbClr val="006699"/>
                    </a:solidFill>
                    <a:latin typeface="Verdana" panose="020B0604030504040204" pitchFamily="34" charset="0"/>
                  </a:rPr>
                  <a:t>估计</a:t>
                </a:r>
                <a:endParaRPr lang="zh-CN" altLang="en-US" sz="3200" dirty="0">
                  <a:solidFill>
                    <a:srgbClr val="006699"/>
                  </a:solidFill>
                  <a:latin typeface="Verdana" panose="020B0604030504040204" pitchFamily="34" charset="0"/>
                </a:endParaRPr>
              </a:p>
            </p:txBody>
          </p:sp>
        </mc:Choice>
        <mc:Fallback xmlns="">
          <p:sp>
            <p:nvSpPr>
              <p:cNvPr id="4" name="文本框 3">
                <a:extLst>
                  <a:ext uri="{FF2B5EF4-FFF2-40B4-BE49-F238E27FC236}">
                    <a16:creationId xmlns:a16="http://schemas.microsoft.com/office/drawing/2014/main" id="{35169B61-66FD-DC71-761A-40E0044116DD}"/>
                  </a:ext>
                </a:extLst>
              </p:cNvPr>
              <p:cNvSpPr txBox="1">
                <a:spLocks noRot="1" noChangeAspect="1" noMove="1" noResize="1" noEditPoints="1" noAdjustHandles="1" noChangeArrowheads="1" noChangeShapeType="1" noTextEdit="1"/>
              </p:cNvSpPr>
              <p:nvPr/>
            </p:nvSpPr>
            <p:spPr>
              <a:xfrm>
                <a:off x="-308" y="1403775"/>
                <a:ext cx="9159875" cy="2928494"/>
              </a:xfrm>
              <a:prstGeom prst="rect">
                <a:avLst/>
              </a:prstGeom>
              <a:blipFill>
                <a:blip r:embed="rId2"/>
                <a:stretch>
                  <a:fillRect l="-1730" t="-3119" r="-599" b="-416"/>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14930448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6" y="142875"/>
            <a:ext cx="9358406" cy="642938"/>
          </a:xfrm>
        </p:spPr>
        <p:txBody>
          <a:bodyPr/>
          <a:lstStyle/>
          <a:p>
            <a:pPr algn="l" defTabSz="512763" fontAlgn="base">
              <a:spcAft>
                <a:spcPct val="0"/>
              </a:spcAft>
            </a:pPr>
            <a:r>
              <a:rPr lang="zh-CN" altLang="en-US" dirty="0"/>
              <a:t>例</a:t>
            </a:r>
            <a:r>
              <a:rPr lang="en-US" altLang="zh-CN" dirty="0"/>
              <a:t>11.2</a:t>
            </a:r>
            <a:endParaRPr lang="zh-CN" altLang="en-US" dirty="0"/>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83389" y="908720"/>
            <a:ext cx="9159875" cy="4130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对例</a:t>
            </a:r>
            <a:r>
              <a:rPr lang="en-US" altLang="zh-CN" sz="3200" dirty="0">
                <a:solidFill>
                  <a:srgbClr val="006699"/>
                </a:solidFill>
                <a:latin typeface="Verdana" panose="020B0604030504040204" pitchFamily="34" charset="0"/>
              </a:rPr>
              <a:t>11.1</a:t>
            </a:r>
            <a:r>
              <a:rPr lang="zh-CN" altLang="en-US" sz="3200" dirty="0">
                <a:solidFill>
                  <a:srgbClr val="006699"/>
                </a:solidFill>
                <a:latin typeface="Verdana" panose="020B0604030504040204" pitchFamily="34" charset="0"/>
              </a:rPr>
              <a:t>用平均值法做的估计进行误差分析。</a:t>
            </a:r>
          </a:p>
          <a:p>
            <a:pPr marL="0" indent="0" eaLnBrk="1" hangingPunct="1">
              <a:spcBef>
                <a:spcPct val="20000"/>
              </a:spcBef>
            </a:pPr>
            <a:r>
              <a:rPr lang="zh-CN" altLang="en-US" sz="3200" dirty="0">
                <a:solidFill>
                  <a:srgbClr val="006699"/>
                </a:solidFill>
                <a:latin typeface="Verdana" panose="020B0604030504040204" pitchFamily="34" charset="0"/>
              </a:rPr>
              <a:t>解：</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取</a:t>
            </a:r>
            <a:r>
              <a:rPr lang="en-US" altLang="zh-CN" sz="3200" dirty="0">
                <a:solidFill>
                  <a:srgbClr val="006699"/>
                </a:solidFill>
                <a:latin typeface="Verdana" panose="020B0604030504040204" pitchFamily="34" charset="0"/>
              </a:rPr>
              <a:t>N=10000</a:t>
            </a:r>
            <a:r>
              <a:rPr lang="zh-CN" altLang="en-US" sz="3200" dirty="0">
                <a:solidFill>
                  <a:srgbClr val="006699"/>
                </a:solidFill>
                <a:latin typeface="Verdana" panose="020B0604030504040204" pitchFamily="34" charset="0"/>
              </a:rPr>
              <a:t>个样本点的一次模拟的结果得到</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根均方误差的估计为</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平均绝对误差的估计为</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平均相对误差的估计为</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45</a:t>
            </a:fld>
            <a:endParaRPr lang="zh-CN" altLang="en-US">
              <a:solidFill>
                <a:srgbClr val="898989"/>
              </a:solidFill>
            </a:endParaRPr>
          </a:p>
        </p:txBody>
      </p:sp>
      <p:pic>
        <p:nvPicPr>
          <p:cNvPr id="4" name="图片 3">
            <a:extLst>
              <a:ext uri="{FF2B5EF4-FFF2-40B4-BE49-F238E27FC236}">
                <a16:creationId xmlns:a16="http://schemas.microsoft.com/office/drawing/2014/main" id="{0F276E38-181B-49DD-A8CE-FCB25888B7AE}"/>
              </a:ext>
            </a:extLst>
          </p:cNvPr>
          <p:cNvPicPr>
            <a:picLocks noChangeAspect="1"/>
          </p:cNvPicPr>
          <p:nvPr/>
        </p:nvPicPr>
        <p:blipFill>
          <a:blip r:embed="rId2"/>
          <a:stretch>
            <a:fillRect/>
          </a:stretch>
        </p:blipFill>
        <p:spPr>
          <a:xfrm>
            <a:off x="2501770" y="2663915"/>
            <a:ext cx="3702633" cy="647455"/>
          </a:xfrm>
          <a:prstGeom prst="rect">
            <a:avLst/>
          </a:prstGeom>
        </p:spPr>
      </p:pic>
      <p:pic>
        <p:nvPicPr>
          <p:cNvPr id="9" name="图片 8">
            <a:extLst>
              <a:ext uri="{FF2B5EF4-FFF2-40B4-BE49-F238E27FC236}">
                <a16:creationId xmlns:a16="http://schemas.microsoft.com/office/drawing/2014/main" id="{A9E9F2BF-B2EF-4586-9695-1A84B22D5CCC}"/>
              </a:ext>
            </a:extLst>
          </p:cNvPr>
          <p:cNvPicPr>
            <a:picLocks noChangeAspect="1"/>
          </p:cNvPicPr>
          <p:nvPr/>
        </p:nvPicPr>
        <p:blipFill>
          <a:blip r:embed="rId3"/>
          <a:stretch>
            <a:fillRect/>
          </a:stretch>
        </p:blipFill>
        <p:spPr>
          <a:xfrm>
            <a:off x="3851920" y="3311370"/>
            <a:ext cx="2198904" cy="647455"/>
          </a:xfrm>
          <a:prstGeom prst="rect">
            <a:avLst/>
          </a:prstGeom>
        </p:spPr>
      </p:pic>
      <p:pic>
        <p:nvPicPr>
          <p:cNvPr id="16" name="图片 15">
            <a:extLst>
              <a:ext uri="{FF2B5EF4-FFF2-40B4-BE49-F238E27FC236}">
                <a16:creationId xmlns:a16="http://schemas.microsoft.com/office/drawing/2014/main" id="{C445E5B3-5256-49B7-B53D-CA46996432AB}"/>
              </a:ext>
            </a:extLst>
          </p:cNvPr>
          <p:cNvPicPr>
            <a:picLocks noChangeAspect="1"/>
          </p:cNvPicPr>
          <p:nvPr/>
        </p:nvPicPr>
        <p:blipFill>
          <a:blip r:embed="rId4"/>
          <a:stretch>
            <a:fillRect/>
          </a:stretch>
        </p:blipFill>
        <p:spPr>
          <a:xfrm>
            <a:off x="4353086" y="3993265"/>
            <a:ext cx="3647153" cy="379568"/>
          </a:xfrm>
          <a:prstGeom prst="rect">
            <a:avLst/>
          </a:prstGeom>
        </p:spPr>
      </p:pic>
      <p:pic>
        <p:nvPicPr>
          <p:cNvPr id="19" name="图片 18">
            <a:extLst>
              <a:ext uri="{FF2B5EF4-FFF2-40B4-BE49-F238E27FC236}">
                <a16:creationId xmlns:a16="http://schemas.microsoft.com/office/drawing/2014/main" id="{21FAAA5B-9461-462C-AAF0-A2070C999C4E}"/>
              </a:ext>
            </a:extLst>
          </p:cNvPr>
          <p:cNvPicPr>
            <a:picLocks noChangeAspect="1"/>
          </p:cNvPicPr>
          <p:nvPr/>
        </p:nvPicPr>
        <p:blipFill>
          <a:blip r:embed="rId5"/>
          <a:stretch>
            <a:fillRect/>
          </a:stretch>
        </p:blipFill>
        <p:spPr>
          <a:xfrm>
            <a:off x="4369193" y="4526778"/>
            <a:ext cx="2895692" cy="403380"/>
          </a:xfrm>
          <a:prstGeom prst="rect">
            <a:avLst/>
          </a:prstGeom>
        </p:spPr>
      </p:pic>
    </p:spTree>
    <p:extLst>
      <p:ext uri="{BB962C8B-B14F-4D97-AF65-F5344CB8AC3E}">
        <p14:creationId xmlns:p14="http://schemas.microsoft.com/office/powerpoint/2010/main" val="9124149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3.2.4 </a:t>
            </a:r>
            <a:r>
              <a:rPr lang="zh-CN" altLang="en-US" dirty="0"/>
              <a:t>高维定积分</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5875" y="1268760"/>
            <a:ext cx="9159875" cy="294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i="1" dirty="0">
                <a:solidFill>
                  <a:srgbClr val="006699"/>
                </a:solidFill>
                <a:latin typeface="Verdana" panose="020B0604030504040204" pitchFamily="34" charset="0"/>
              </a:rPr>
              <a:t>d</a:t>
            </a:r>
            <a:r>
              <a:rPr lang="zh-CN" altLang="en-US" sz="3200" dirty="0">
                <a:solidFill>
                  <a:srgbClr val="006699"/>
                </a:solidFill>
                <a:latin typeface="Verdana" panose="020B0604030504040204" pitchFamily="34" charset="0"/>
              </a:rPr>
              <a:t>元函数</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定义于超矩形</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且</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令</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46</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D2C7DD8-92E8-427C-8328-30DEA634F628}"/>
                  </a:ext>
                </a:extLst>
              </p:cNvPr>
              <p:cNvSpPr txBox="1"/>
              <p:nvPr/>
            </p:nvSpPr>
            <p:spPr>
              <a:xfrm>
                <a:off x="1916705" y="1291124"/>
                <a:ext cx="3160699"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smtClean="0">
                              <a:latin typeface="Cambria Math" panose="02040503050406030204" pitchFamily="18" charset="0"/>
                            </a:rPr>
                          </m:ctrlPr>
                        </m:dPr>
                        <m:e>
                          <m:r>
                            <a:rPr lang="zh-CN" altLang="en-US" sz="3200" i="1">
                              <a:latin typeface="Cambria Math" panose="02040503050406030204" pitchFamily="18" charset="0"/>
                            </a:rPr>
                            <m:t>h</m:t>
                          </m:r>
                          <m:d>
                            <m:dPr>
                              <m:begChr m:val=""/>
                              <m:endChr m:val=""/>
                              <m:ctrlPr>
                                <a:rPr lang="zh-CN" altLang="en-US" sz="3200" i="1">
                                  <a:latin typeface="Cambria Math" panose="02040503050406030204" pitchFamily="18" charset="0"/>
                                </a:rPr>
                              </m:ctrlPr>
                            </m:dPr>
                            <m:e>
                              <m:r>
                                <a:rPr lang="zh-CN" altLang="en-US" sz="3200" i="0">
                                  <a:latin typeface="Cambria Math" panose="02040503050406030204" pitchFamily="18" charset="0"/>
                                </a:rPr>
                                <m:t>(</m:t>
                              </m:r>
                            </m:e>
                          </m:d>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0">
                                  <a:latin typeface="Cambria Math" panose="02040503050406030204" pitchFamily="18" charset="0"/>
                                </a:rPr>
                                <m:t>1</m:t>
                              </m:r>
                            </m:sub>
                          </m:sSub>
                          <m:r>
                            <a:rPr lang="zh-CN" altLang="en-US" sz="3200" i="0">
                              <a:latin typeface="Cambria Math" panose="02040503050406030204" pitchFamily="18" charset="0"/>
                            </a:rPr>
                            <m:t>,</m:t>
                          </m:r>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0">
                                  <a:latin typeface="Cambria Math" panose="02040503050406030204" pitchFamily="18" charset="0"/>
                                </a:rPr>
                                <m:t>2</m:t>
                              </m:r>
                            </m:sub>
                          </m:sSub>
                          <m:r>
                            <a:rPr lang="zh-CN" altLang="en-US" sz="3200" i="0">
                              <a:latin typeface="Cambria Math" panose="02040503050406030204" pitchFamily="18" charset="0"/>
                            </a:rPr>
                            <m:t>,…,</m:t>
                          </m:r>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1">
                                  <a:latin typeface="Cambria Math" panose="02040503050406030204" pitchFamily="18" charset="0"/>
                                </a:rPr>
                                <m:t>𝑑</m:t>
                              </m:r>
                            </m:sub>
                          </m:sSub>
                          <m:r>
                            <a:rPr lang="zh-CN" altLang="en-US" sz="3200" i="0">
                              <a:latin typeface="Cambria Math" panose="02040503050406030204" pitchFamily="18" charset="0"/>
                            </a:rPr>
                            <m:t>)</m:t>
                          </m:r>
                        </m:e>
                      </m:d>
                    </m:oMath>
                  </m:oMathPara>
                </a14:m>
                <a:endParaRPr lang="zh-CN" altLang="en-US" sz="3200" dirty="0"/>
              </a:p>
            </p:txBody>
          </p:sp>
        </mc:Choice>
        <mc:Fallback xmlns="">
          <p:sp>
            <p:nvSpPr>
              <p:cNvPr id="7" name="文本框 6">
                <a:extLst>
                  <a:ext uri="{FF2B5EF4-FFF2-40B4-BE49-F238E27FC236}">
                    <a16:creationId xmlns:a16="http://schemas.microsoft.com/office/drawing/2014/main" id="{7D2C7DD8-92E8-427C-8328-30DEA634F628}"/>
                  </a:ext>
                </a:extLst>
              </p:cNvPr>
              <p:cNvSpPr txBox="1">
                <a:spLocks noRot="1" noChangeAspect="1" noMove="1" noResize="1" noEditPoints="1" noAdjustHandles="1" noChangeArrowheads="1" noChangeShapeType="1" noTextEdit="1"/>
              </p:cNvSpPr>
              <p:nvPr/>
            </p:nvSpPr>
            <p:spPr>
              <a:xfrm>
                <a:off x="1916705" y="1291124"/>
                <a:ext cx="3160699" cy="584775"/>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836F52B-C328-4220-994F-45066C23272D}"/>
                  </a:ext>
                </a:extLst>
              </p:cNvPr>
              <p:cNvSpPr txBox="1"/>
              <p:nvPr/>
            </p:nvSpPr>
            <p:spPr>
              <a:xfrm>
                <a:off x="1034556" y="2489503"/>
                <a:ext cx="7287130" cy="523220"/>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800" i="1" smtClean="0">
                              <a:latin typeface="Cambria Math" panose="02040503050406030204" pitchFamily="18" charset="0"/>
                            </a:rPr>
                          </m:ctrlPr>
                        </m:dPr>
                        <m:e>
                          <m:d>
                            <m:dPr>
                              <m:begChr m:val=""/>
                              <m:endChr m:val=""/>
                              <m:ctrlPr>
                                <a:rPr lang="zh-CN" altLang="en-US" sz="2800" i="1">
                                  <a:latin typeface="Cambria Math" panose="02040503050406030204" pitchFamily="18" charset="0"/>
                                </a:rPr>
                              </m:ctrlPr>
                            </m:dPr>
                            <m:e>
                              <m:r>
                                <a:rPr lang="zh-CN" altLang="en-US" sz="2800" i="1">
                                  <a:latin typeface="Cambria Math" panose="02040503050406030204" pitchFamily="18" charset="0"/>
                                </a:rPr>
                                <m:t>𝐶</m:t>
                              </m:r>
                              <m:r>
                                <a:rPr lang="zh-CN" altLang="en-US" sz="2800" i="0">
                                  <a:latin typeface="Cambria Math" panose="02040503050406030204" pitchFamily="18" charset="0"/>
                                </a:rPr>
                                <m:t>=</m:t>
                              </m:r>
                              <m:d>
                                <m:dPr>
                                  <m:begChr m:val=""/>
                                  <m:endChr m:val=""/>
                                  <m:ctrlPr>
                                    <a:rPr lang="zh-CN" altLang="en-US" sz="2800" i="1">
                                      <a:latin typeface="Cambria Math" panose="02040503050406030204" pitchFamily="18" charset="0"/>
                                    </a:rPr>
                                  </m:ctrlPr>
                                </m:dPr>
                                <m:e>
                                  <m:r>
                                    <a:rPr lang="zh-CN" altLang="en-US" sz="2800" i="0">
                                      <a:latin typeface="Cambria Math" panose="02040503050406030204" pitchFamily="18" charset="0"/>
                                    </a:rPr>
                                    <m:t>{</m:t>
                                  </m:r>
                                </m:e>
                              </m:d>
                              <m:d>
                                <m:dPr>
                                  <m:begChr m:val=""/>
                                  <m:endChr m:val=""/>
                                  <m:ctrlPr>
                                    <a:rPr lang="zh-CN" altLang="en-US" sz="2800" i="1">
                                      <a:latin typeface="Cambria Math" panose="02040503050406030204" pitchFamily="18" charset="0"/>
                                    </a:rPr>
                                  </m:ctrlPr>
                                </m:dPr>
                                <m:e>
                                  <m:r>
                                    <a:rPr lang="zh-CN" altLang="en-US" sz="2800" i="0">
                                      <a:latin typeface="Cambria Math" panose="02040503050406030204" pitchFamily="18" charset="0"/>
                                    </a:rPr>
                                    <m:t>(</m:t>
                                  </m:r>
                                </m:e>
                              </m:d>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𝑥</m:t>
                                  </m:r>
                                </m:e>
                                <m:sub>
                                  <m:r>
                                    <a:rPr lang="zh-CN" altLang="en-US" sz="2800" i="0">
                                      <a:latin typeface="Cambria Math" panose="02040503050406030204" pitchFamily="18" charset="0"/>
                                    </a:rPr>
                                    <m:t>1</m:t>
                                  </m:r>
                                </m:sub>
                              </m:sSub>
                              <m:r>
                                <a:rPr lang="zh-CN" altLang="en-US" sz="2800" i="0">
                                  <a:latin typeface="Cambria Math" panose="02040503050406030204" pitchFamily="18" charset="0"/>
                                </a:rPr>
                                <m:t>,</m:t>
                              </m:r>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𝑥</m:t>
                                  </m:r>
                                </m:e>
                                <m:sub>
                                  <m:r>
                                    <a:rPr lang="zh-CN" altLang="en-US" sz="2800" i="0">
                                      <a:latin typeface="Cambria Math" panose="02040503050406030204" pitchFamily="18" charset="0"/>
                                    </a:rPr>
                                    <m:t>2</m:t>
                                  </m:r>
                                </m:sub>
                              </m:sSub>
                              <m:r>
                                <a:rPr lang="zh-CN" altLang="en-US" sz="2800" i="0">
                                  <a:latin typeface="Cambria Math" panose="02040503050406030204" pitchFamily="18" charset="0"/>
                                </a:rPr>
                                <m:t>,…,</m:t>
                              </m:r>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𝑥</m:t>
                                  </m:r>
                                </m:e>
                                <m:sub>
                                  <m:r>
                                    <a:rPr lang="zh-CN" altLang="en-US" sz="2800" i="1">
                                      <a:latin typeface="Cambria Math" panose="02040503050406030204" pitchFamily="18" charset="0"/>
                                    </a:rPr>
                                    <m:t>𝑑</m:t>
                                  </m:r>
                                </m:sub>
                              </m:sSub>
                              <m:r>
                                <a:rPr lang="zh-CN" altLang="en-US" sz="2800" i="0">
                                  <a:latin typeface="Cambria Math" panose="02040503050406030204" pitchFamily="18" charset="0"/>
                                </a:rPr>
                                <m:t>)</m:t>
                              </m:r>
                            </m:e>
                          </m:d>
                          <m:r>
                            <a:rPr lang="zh-CN" altLang="en-US" sz="2800" i="0">
                              <a:latin typeface="Cambria Math" panose="02040503050406030204" pitchFamily="18" charset="0"/>
                            </a:rPr>
                            <m:t>:</m:t>
                          </m:r>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𝑎</m:t>
                              </m:r>
                            </m:e>
                            <m:sub>
                              <m:r>
                                <a:rPr lang="zh-CN" altLang="en-US" sz="2800" i="1">
                                  <a:latin typeface="Cambria Math" panose="02040503050406030204" pitchFamily="18" charset="0"/>
                                </a:rPr>
                                <m:t>𝑖</m:t>
                              </m:r>
                            </m:sub>
                          </m:sSub>
                          <m:r>
                            <a:rPr lang="zh-CN" altLang="en-US" sz="2800" i="0">
                              <a:latin typeface="Cambria Math" panose="02040503050406030204" pitchFamily="18" charset="0"/>
                            </a:rPr>
                            <m:t>≤</m:t>
                          </m:r>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𝑥</m:t>
                              </m:r>
                            </m:e>
                            <m:sub>
                              <m:r>
                                <a:rPr lang="zh-CN" altLang="en-US" sz="2800" i="1">
                                  <a:latin typeface="Cambria Math" panose="02040503050406030204" pitchFamily="18" charset="0"/>
                                </a:rPr>
                                <m:t>𝑖</m:t>
                              </m:r>
                            </m:sub>
                          </m:sSub>
                          <m:r>
                            <a:rPr lang="zh-CN" altLang="en-US" sz="2800" i="0">
                              <a:latin typeface="Cambria Math" panose="02040503050406030204" pitchFamily="18" charset="0"/>
                            </a:rPr>
                            <m:t>≤</m:t>
                          </m:r>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𝑏</m:t>
                              </m:r>
                            </m:e>
                            <m:sub>
                              <m:r>
                                <a:rPr lang="zh-CN" altLang="en-US" sz="2800" i="1">
                                  <a:latin typeface="Cambria Math" panose="02040503050406030204" pitchFamily="18" charset="0"/>
                                </a:rPr>
                                <m:t>𝑖</m:t>
                              </m:r>
                            </m:sub>
                          </m:sSub>
                          <m:r>
                            <a:rPr lang="zh-CN" altLang="en-US" sz="2800" i="0">
                              <a:latin typeface="Cambria Math" panose="02040503050406030204" pitchFamily="18" charset="0"/>
                            </a:rPr>
                            <m:t>,</m:t>
                          </m:r>
                          <m:r>
                            <a:rPr lang="zh-CN" altLang="en-US" sz="2800" i="1">
                              <a:latin typeface="Cambria Math" panose="02040503050406030204" pitchFamily="18" charset="0"/>
                            </a:rPr>
                            <m:t>𝑖</m:t>
                          </m:r>
                          <m:r>
                            <a:rPr lang="zh-CN" altLang="en-US" sz="2800" i="0">
                              <a:latin typeface="Cambria Math" panose="02040503050406030204" pitchFamily="18" charset="0"/>
                            </a:rPr>
                            <m:t>=1,2,…,</m:t>
                          </m:r>
                          <m:r>
                            <a:rPr lang="zh-CN" altLang="en-US" sz="2800" i="1">
                              <a:latin typeface="Cambria Math" panose="02040503050406030204" pitchFamily="18" charset="0"/>
                            </a:rPr>
                            <m:t>𝑑</m:t>
                          </m:r>
                          <m:r>
                            <a:rPr lang="zh-CN" altLang="en-US" sz="2800" i="0">
                              <a:latin typeface="Cambria Math" panose="02040503050406030204" pitchFamily="18" charset="0"/>
                            </a:rPr>
                            <m:t>}</m:t>
                          </m:r>
                        </m:e>
                      </m:d>
                    </m:oMath>
                  </m:oMathPara>
                </a14:m>
                <a:endParaRPr lang="zh-CN" altLang="en-US" sz="2800" dirty="0"/>
              </a:p>
            </p:txBody>
          </p:sp>
        </mc:Choice>
        <mc:Fallback xmlns="">
          <p:sp>
            <p:nvSpPr>
              <p:cNvPr id="8" name="文本框 7">
                <a:extLst>
                  <a:ext uri="{FF2B5EF4-FFF2-40B4-BE49-F238E27FC236}">
                    <a16:creationId xmlns:a16="http://schemas.microsoft.com/office/drawing/2014/main" id="{5836F52B-C328-4220-994F-45066C23272D}"/>
                  </a:ext>
                </a:extLst>
              </p:cNvPr>
              <p:cNvSpPr txBox="1">
                <a:spLocks noRot="1" noChangeAspect="1" noMove="1" noResize="1" noEditPoints="1" noAdjustHandles="1" noChangeArrowheads="1" noChangeShapeType="1" noTextEdit="1"/>
              </p:cNvSpPr>
              <p:nvPr/>
            </p:nvSpPr>
            <p:spPr>
              <a:xfrm>
                <a:off x="1034556" y="2489503"/>
                <a:ext cx="7287130" cy="523220"/>
              </a:xfrm>
              <a:prstGeom prst="rect">
                <a:avLst/>
              </a:prstGeom>
              <a:blipFill>
                <a:blip r:embed="rId3"/>
                <a:stretch>
                  <a:fillRect/>
                </a:stretch>
              </a:blipFill>
              <a:ln w="25400">
                <a:noFill/>
              </a:ln>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6595BD1F-8DC3-4F3F-91AB-E00B2B6186C9}"/>
              </a:ext>
            </a:extLst>
          </p:cNvPr>
          <p:cNvPicPr>
            <a:picLocks noChangeAspect="1"/>
          </p:cNvPicPr>
          <p:nvPr/>
        </p:nvPicPr>
        <p:blipFill>
          <a:blip r:embed="rId4"/>
          <a:stretch>
            <a:fillRect/>
          </a:stretch>
        </p:blipFill>
        <p:spPr>
          <a:xfrm>
            <a:off x="1174599" y="3167390"/>
            <a:ext cx="3897087" cy="523220"/>
          </a:xfrm>
          <a:prstGeom prst="rect">
            <a:avLst/>
          </a:prstGeom>
        </p:spPr>
      </p:pic>
      <p:pic>
        <p:nvPicPr>
          <p:cNvPr id="13" name="图片 12">
            <a:extLst>
              <a:ext uri="{FF2B5EF4-FFF2-40B4-BE49-F238E27FC236}">
                <a16:creationId xmlns:a16="http://schemas.microsoft.com/office/drawing/2014/main" id="{E87E65EB-04A3-4772-8072-A7B97FA6BBD0}"/>
              </a:ext>
            </a:extLst>
          </p:cNvPr>
          <p:cNvPicPr>
            <a:picLocks noChangeAspect="1"/>
          </p:cNvPicPr>
          <p:nvPr/>
        </p:nvPicPr>
        <p:blipFill>
          <a:blip r:embed="rId5"/>
          <a:stretch>
            <a:fillRect/>
          </a:stretch>
        </p:blipFill>
        <p:spPr>
          <a:xfrm>
            <a:off x="85217" y="4301002"/>
            <a:ext cx="9072708" cy="1059722"/>
          </a:xfrm>
          <a:prstGeom prst="rect">
            <a:avLst/>
          </a:prstGeom>
        </p:spPr>
      </p:pic>
    </p:spTree>
    <p:extLst>
      <p:ext uri="{BB962C8B-B14F-4D97-AF65-F5344CB8AC3E}">
        <p14:creationId xmlns:p14="http://schemas.microsoft.com/office/powerpoint/2010/main" val="17102935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3.2.4 </a:t>
            </a:r>
            <a:r>
              <a:rPr lang="zh-CN" altLang="en-US" dirty="0"/>
              <a:t>高维定积分</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0" y="1043735"/>
            <a:ext cx="9159875"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计算</a:t>
            </a:r>
            <a:r>
              <a:rPr lang="en-US" altLang="zh-CN" sz="3200" i="1" dirty="0">
                <a:solidFill>
                  <a:srgbClr val="006699"/>
                </a:solidFill>
                <a:latin typeface="Verdana" panose="020B0604030504040204" pitchFamily="34" charset="0"/>
              </a:rPr>
              <a:t>d</a:t>
            </a:r>
            <a:r>
              <a:rPr lang="zh-CN" altLang="en-US" sz="3200" dirty="0">
                <a:solidFill>
                  <a:srgbClr val="006699"/>
                </a:solidFill>
                <a:latin typeface="Verdana" panose="020B0604030504040204" pitchFamily="34" charset="0"/>
              </a:rPr>
              <a:t>维定积分</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en-US" altLang="zh-CN" sz="3200" b="1" dirty="0">
                <a:solidFill>
                  <a:srgbClr val="FF0000"/>
                </a:solidFill>
                <a:latin typeface="Verdana" panose="020B0604030504040204" pitchFamily="34" charset="0"/>
              </a:rPr>
              <a:t>1 </a:t>
            </a:r>
            <a:r>
              <a:rPr lang="zh-CN" altLang="en-US" sz="3200" b="1" dirty="0">
                <a:solidFill>
                  <a:srgbClr val="FF0000"/>
                </a:solidFill>
                <a:latin typeface="Verdana" panose="020B0604030504040204" pitchFamily="34" charset="0"/>
              </a:rPr>
              <a:t>随机投点法</a:t>
            </a:r>
            <a:r>
              <a:rPr lang="zh-CN" altLang="en-US" sz="3200" dirty="0">
                <a:solidFill>
                  <a:srgbClr val="006699"/>
                </a:solidFill>
                <a:latin typeface="Verdana" panose="020B0604030504040204" pitchFamily="34" charset="0"/>
              </a:rPr>
              <a:t>，产生</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是服从</a:t>
            </a:r>
            <a:r>
              <a:rPr lang="en-US" altLang="zh-CN" sz="3200" i="1" dirty="0">
                <a:solidFill>
                  <a:srgbClr val="006699"/>
                </a:solidFill>
                <a:latin typeface="Verdana" panose="020B0604030504040204" pitchFamily="34" charset="0"/>
              </a:rPr>
              <a:t>d</a:t>
            </a:r>
            <a:r>
              <a:rPr lang="en-US" altLang="zh-CN" sz="3200" dirty="0">
                <a:solidFill>
                  <a:srgbClr val="006699"/>
                </a:solidFill>
                <a:latin typeface="Verdana" panose="020B0604030504040204" pitchFamily="34" charset="0"/>
              </a:rPr>
              <a:t>+1</a:t>
            </a:r>
            <a:r>
              <a:rPr lang="zh-CN" altLang="en-US" sz="3200" dirty="0">
                <a:solidFill>
                  <a:srgbClr val="006699"/>
                </a:solidFill>
                <a:latin typeface="Verdana" panose="020B0604030504040204" pitchFamily="34" charset="0"/>
              </a:rPr>
              <a:t>维空间中的超矩形</a:t>
            </a:r>
            <a:r>
              <a:rPr lang="en-US" altLang="zh-CN" sz="3200" dirty="0">
                <a:solidFill>
                  <a:srgbClr val="006699"/>
                </a:solidFill>
                <a:latin typeface="Verdana" panose="020B0604030504040204" pitchFamily="34" charset="0"/>
              </a:rPr>
              <a:t>G</a:t>
            </a:r>
            <a:r>
              <a:rPr lang="zh-CN" altLang="en-US" sz="3200" dirty="0">
                <a:solidFill>
                  <a:srgbClr val="006699"/>
                </a:solidFill>
                <a:latin typeface="Verdana" panose="020B0604030504040204" pitchFamily="34" charset="0"/>
              </a:rPr>
              <a:t>内的均匀分布的独立抽样</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令</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47</a:t>
            </a:fld>
            <a:endParaRPr lang="zh-CN" altLang="en-US">
              <a:solidFill>
                <a:srgbClr val="898989"/>
              </a:solidFill>
            </a:endParaRPr>
          </a:p>
        </p:txBody>
      </p:sp>
      <p:pic>
        <p:nvPicPr>
          <p:cNvPr id="4" name="图片 3">
            <a:extLst>
              <a:ext uri="{FF2B5EF4-FFF2-40B4-BE49-F238E27FC236}">
                <a16:creationId xmlns:a16="http://schemas.microsoft.com/office/drawing/2014/main" id="{1327EE8E-0F60-4AE3-B940-42AA083BBE27}"/>
              </a:ext>
            </a:extLst>
          </p:cNvPr>
          <p:cNvPicPr>
            <a:picLocks noChangeAspect="1"/>
          </p:cNvPicPr>
          <p:nvPr/>
        </p:nvPicPr>
        <p:blipFill>
          <a:blip r:embed="rId2"/>
          <a:stretch>
            <a:fillRect/>
          </a:stretch>
        </p:blipFill>
        <p:spPr>
          <a:xfrm>
            <a:off x="1421650" y="1736505"/>
            <a:ext cx="5666702" cy="799378"/>
          </a:xfrm>
          <a:prstGeom prst="rect">
            <a:avLst/>
          </a:prstGeom>
        </p:spPr>
      </p:pic>
      <p:sp>
        <p:nvSpPr>
          <p:cNvPr id="14" name="文本框 13">
            <a:extLst>
              <a:ext uri="{FF2B5EF4-FFF2-40B4-BE49-F238E27FC236}">
                <a16:creationId xmlns:a16="http://schemas.microsoft.com/office/drawing/2014/main" id="{03CC42FA-4E06-4A5A-BBE2-423FD4025F37}"/>
              </a:ext>
            </a:extLst>
          </p:cNvPr>
          <p:cNvSpPr txBox="1"/>
          <p:nvPr/>
        </p:nvSpPr>
        <p:spPr>
          <a:xfrm>
            <a:off x="7270002" y="1886432"/>
            <a:ext cx="1889873"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(11.19)</a:t>
            </a:r>
            <a:endParaRPr lang="zh-CN" altLang="en-US" dirty="0"/>
          </a:p>
        </p:txBody>
      </p:sp>
      <p:pic>
        <p:nvPicPr>
          <p:cNvPr id="12" name="图片 11">
            <a:extLst>
              <a:ext uri="{FF2B5EF4-FFF2-40B4-BE49-F238E27FC236}">
                <a16:creationId xmlns:a16="http://schemas.microsoft.com/office/drawing/2014/main" id="{2EE7C438-CC42-4940-B949-C152B4405067}"/>
              </a:ext>
            </a:extLst>
          </p:cNvPr>
          <p:cNvPicPr>
            <a:picLocks noChangeAspect="1"/>
          </p:cNvPicPr>
          <p:nvPr/>
        </p:nvPicPr>
        <p:blipFill>
          <a:blip r:embed="rId3"/>
          <a:stretch>
            <a:fillRect/>
          </a:stretch>
        </p:blipFill>
        <p:spPr>
          <a:xfrm>
            <a:off x="4564062" y="2913680"/>
            <a:ext cx="1859737" cy="504041"/>
          </a:xfrm>
          <a:prstGeom prst="rect">
            <a:avLst/>
          </a:prstGeom>
        </p:spPr>
      </p:pic>
      <p:pic>
        <p:nvPicPr>
          <p:cNvPr id="16" name="图片 15">
            <a:extLst>
              <a:ext uri="{FF2B5EF4-FFF2-40B4-BE49-F238E27FC236}">
                <a16:creationId xmlns:a16="http://schemas.microsoft.com/office/drawing/2014/main" id="{1A8658C4-FFF9-4151-B5E4-032FAFD01375}"/>
              </a:ext>
            </a:extLst>
          </p:cNvPr>
          <p:cNvPicPr>
            <a:picLocks noChangeAspect="1"/>
          </p:cNvPicPr>
          <p:nvPr/>
        </p:nvPicPr>
        <p:blipFill>
          <a:blip r:embed="rId4"/>
          <a:stretch>
            <a:fillRect/>
          </a:stretch>
        </p:blipFill>
        <p:spPr>
          <a:xfrm>
            <a:off x="1016605" y="4396020"/>
            <a:ext cx="5038938" cy="1149568"/>
          </a:xfrm>
          <a:prstGeom prst="rect">
            <a:avLst/>
          </a:prstGeom>
        </p:spPr>
      </p:pic>
      <p:sp>
        <p:nvSpPr>
          <p:cNvPr id="9" name="矩形 2">
            <a:extLst>
              <a:ext uri="{FF2B5EF4-FFF2-40B4-BE49-F238E27FC236}">
                <a16:creationId xmlns:a16="http://schemas.microsoft.com/office/drawing/2014/main" id="{A3C9E0D7-35BA-455E-9D8F-F2EAF3A7F71C}"/>
              </a:ext>
            </a:extLst>
          </p:cNvPr>
          <p:cNvSpPr>
            <a:spLocks noChangeArrowheads="1"/>
          </p:cNvSpPr>
          <p:nvPr/>
        </p:nvSpPr>
        <p:spPr bwMode="auto">
          <a:xfrm>
            <a:off x="-15875" y="5545588"/>
            <a:ext cx="91598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则      </a:t>
            </a:r>
            <a:r>
              <a:rPr lang="en-US" altLang="zh-CN" sz="3200" dirty="0">
                <a:solidFill>
                  <a:srgbClr val="006699"/>
                </a:solidFill>
                <a:latin typeface="Verdana" panose="020B0604030504040204" pitchFamily="34" charset="0"/>
              </a:rPr>
              <a:t>iid </a:t>
            </a:r>
            <a:r>
              <a:rPr lang="en-US" altLang="zh-CN" sz="3200" i="1" dirty="0">
                <a:solidFill>
                  <a:srgbClr val="006699"/>
                </a:solidFill>
                <a:latin typeface="Verdana" panose="020B0604030504040204" pitchFamily="34" charset="0"/>
              </a:rPr>
              <a:t>b</a:t>
            </a:r>
            <a:r>
              <a:rPr lang="en-US" altLang="zh-CN" sz="3200" dirty="0">
                <a:solidFill>
                  <a:srgbClr val="006699"/>
                </a:solidFill>
                <a:latin typeface="Verdana" panose="020B0604030504040204" pitchFamily="34" charset="0"/>
              </a:rPr>
              <a:t>(1,p)</a:t>
            </a:r>
            <a:r>
              <a:rPr lang="zh-CN" altLang="en-US" sz="3200" dirty="0">
                <a:solidFill>
                  <a:srgbClr val="006699"/>
                </a:solidFill>
                <a:latin typeface="Verdana" panose="020B0604030504040204" pitchFamily="34" charset="0"/>
              </a:rPr>
              <a:t> </a:t>
            </a:r>
            <a:endParaRPr lang="en-US" altLang="zh-CN"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1B0F956C-19B0-4092-AFBD-7FE3657C9709}"/>
                  </a:ext>
                </a:extLst>
              </p:cNvPr>
              <p:cNvSpPr txBox="1"/>
              <p:nvPr/>
            </p:nvSpPr>
            <p:spPr>
              <a:xfrm>
                <a:off x="608063" y="5552655"/>
                <a:ext cx="415394" cy="523220"/>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800" i="1" smtClean="0">
                              <a:solidFill>
                                <a:srgbClr val="836967"/>
                              </a:solidFill>
                              <a:latin typeface="Cambria Math" panose="02040503050406030204" pitchFamily="18" charset="0"/>
                            </a:rPr>
                          </m:ctrlPr>
                        </m:sSubPr>
                        <m:e>
                          <m:r>
                            <a:rPr lang="zh-CN" altLang="en-US" sz="2800" i="1">
                              <a:latin typeface="Cambria Math" panose="02040503050406030204" pitchFamily="18" charset="0"/>
                            </a:rPr>
                            <m:t>𝜉</m:t>
                          </m:r>
                        </m:e>
                        <m:sub>
                          <m:r>
                            <a:rPr lang="zh-CN" altLang="en-US" sz="2800" i="1">
                              <a:latin typeface="Cambria Math" panose="02040503050406030204" pitchFamily="18" charset="0"/>
                            </a:rPr>
                            <m:t>𝑖</m:t>
                          </m:r>
                        </m:sub>
                      </m:sSub>
                    </m:oMath>
                  </m:oMathPara>
                </a14:m>
                <a:endParaRPr lang="zh-CN" altLang="en-US" dirty="0"/>
              </a:p>
            </p:txBody>
          </p:sp>
        </mc:Choice>
        <mc:Fallback xmlns="">
          <p:sp>
            <p:nvSpPr>
              <p:cNvPr id="10" name="文本框 9">
                <a:extLst>
                  <a:ext uri="{FF2B5EF4-FFF2-40B4-BE49-F238E27FC236}">
                    <a16:creationId xmlns:a16="http://schemas.microsoft.com/office/drawing/2014/main" id="{1B0F956C-19B0-4092-AFBD-7FE3657C9709}"/>
                  </a:ext>
                </a:extLst>
              </p:cNvPr>
              <p:cNvSpPr txBox="1">
                <a:spLocks noRot="1" noChangeAspect="1" noMove="1" noResize="1" noEditPoints="1" noAdjustHandles="1" noChangeArrowheads="1" noChangeShapeType="1" noTextEdit="1"/>
              </p:cNvSpPr>
              <p:nvPr/>
            </p:nvSpPr>
            <p:spPr>
              <a:xfrm>
                <a:off x="608063" y="5552655"/>
                <a:ext cx="415394" cy="523220"/>
              </a:xfrm>
              <a:prstGeom prst="rect">
                <a:avLst/>
              </a:prstGeom>
              <a:blipFill>
                <a:blip r:embed="rId5"/>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117462058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3.2.4 </a:t>
            </a:r>
            <a:r>
              <a:rPr lang="zh-CN" altLang="en-US" dirty="0"/>
              <a:t>高维定积分</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0" y="1043735"/>
            <a:ext cx="9159875" cy="117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于是</a:t>
            </a:r>
            <a:r>
              <a:rPr lang="en-US" altLang="zh-CN" sz="3200" dirty="0">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个随机点中落入</a:t>
            </a:r>
            <a:r>
              <a:rPr lang="en-US" altLang="zh-CN" sz="3200" dirty="0">
                <a:solidFill>
                  <a:srgbClr val="006699"/>
                </a:solidFill>
                <a:latin typeface="Verdana" panose="020B0604030504040204" pitchFamily="34" charset="0"/>
              </a:rPr>
              <a:t>D</a:t>
            </a:r>
            <a:r>
              <a:rPr lang="zh-CN" altLang="en-US" sz="3200" dirty="0">
                <a:solidFill>
                  <a:srgbClr val="006699"/>
                </a:solidFill>
                <a:latin typeface="Verdana" panose="020B0604030504040204" pitchFamily="34" charset="0"/>
              </a:rPr>
              <a:t>的百分比</a:t>
            </a:r>
          </a:p>
          <a:p>
            <a:pPr marL="0" indent="0" eaLnBrk="1" hangingPunct="1">
              <a:spcBef>
                <a:spcPct val="20000"/>
              </a:spcBef>
            </a:pP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48</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57B025FF-2863-4606-837C-4AEACE886084}"/>
                  </a:ext>
                </a:extLst>
              </p:cNvPr>
              <p:cNvSpPr txBox="1"/>
              <p:nvPr/>
            </p:nvSpPr>
            <p:spPr>
              <a:xfrm>
                <a:off x="1376645" y="2874204"/>
                <a:ext cx="4690532" cy="2065694"/>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𝑝</m:t>
                      </m:r>
                      <m:r>
                        <a:rPr lang="zh-CN" altLang="en-US" sz="2400" i="0">
                          <a:latin typeface="Cambria Math" panose="02040503050406030204" pitchFamily="18" charset="0"/>
                        </a:rPr>
                        <m:t>=</m:t>
                      </m:r>
                      <m:r>
                        <a:rPr lang="zh-CN" altLang="en-US" sz="2400" i="1">
                          <a:latin typeface="Cambria Math" panose="02040503050406030204" pitchFamily="18" charset="0"/>
                        </a:rPr>
                        <m:t>𝑃</m:t>
                      </m:r>
                      <m:d>
                        <m:dPr>
                          <m:ctrlPr>
                            <a:rPr lang="zh-CN" altLang="en-US" sz="2400" i="1">
                              <a:latin typeface="Cambria Math" panose="02040503050406030204" pitchFamily="18" charset="0"/>
                            </a:rPr>
                          </m:ctrlPr>
                        </m:dPr>
                        <m:e>
                          <m:sSub>
                            <m:sSubPr>
                              <m:ctrlPr>
                                <a:rPr lang="zh-CN" altLang="en-US" sz="2400" i="1">
                                  <a:solidFill>
                                    <a:srgbClr val="836967"/>
                                  </a:solidFill>
                                  <a:latin typeface="Cambria Math" panose="02040503050406030204" pitchFamily="18" charset="0"/>
                                </a:rPr>
                              </m:ctrlPr>
                            </m:sSubPr>
                            <m:e>
                              <m:r>
                                <a:rPr lang="zh-CN" altLang="en-US" sz="2400" b="1" i="0">
                                  <a:latin typeface="Cambria Math" panose="02040503050406030204" pitchFamily="18" charset="0"/>
                                </a:rPr>
                                <m:t>𝐙</m:t>
                              </m:r>
                            </m:e>
                            <m:sub>
                              <m:r>
                                <a:rPr lang="zh-CN" altLang="en-US" sz="2400" b="0" i="1">
                                  <a:latin typeface="Cambria Math" panose="02040503050406030204" pitchFamily="18" charset="0"/>
                                </a:rPr>
                                <m:t>𝑖</m:t>
                              </m:r>
                            </m:sub>
                          </m:sSub>
                          <m:r>
                            <a:rPr lang="zh-CN" altLang="en-US" sz="2400" b="0" i="0">
                              <a:latin typeface="Cambria Math" panose="02040503050406030204" pitchFamily="18" charset="0"/>
                            </a:rPr>
                            <m:t>∈</m:t>
                          </m:r>
                          <m:r>
                            <a:rPr lang="zh-CN" altLang="en-US" sz="2400" b="0" i="1">
                              <a:latin typeface="Cambria Math" panose="02040503050406030204" pitchFamily="18" charset="0"/>
                            </a:rPr>
                            <m:t>𝐷</m:t>
                          </m:r>
                        </m:e>
                      </m:d>
                      <m:r>
                        <a:rPr lang="zh-CN" altLang="en-US" sz="2400" b="0" i="0">
                          <a:latin typeface="Cambria Math" panose="02040503050406030204" pitchFamily="18" charset="0"/>
                        </a:rPr>
                        <m:t>=</m:t>
                      </m:r>
                      <m:f>
                        <m:fPr>
                          <m:ctrlPr>
                            <a:rPr lang="zh-CN" altLang="en-US" sz="2400" b="0" i="1">
                              <a:solidFill>
                                <a:srgbClr val="836967"/>
                              </a:solidFill>
                              <a:latin typeface="Cambria Math" panose="02040503050406030204" pitchFamily="18" charset="0"/>
                            </a:rPr>
                          </m:ctrlPr>
                        </m:fPr>
                        <m:num>
                          <m:r>
                            <a:rPr lang="zh-CN" altLang="en-US" sz="2400" b="0" i="1">
                              <a:latin typeface="Cambria Math" panose="02040503050406030204" pitchFamily="18" charset="0"/>
                            </a:rPr>
                            <m:t>𝑉</m:t>
                          </m:r>
                          <m:d>
                            <m:dPr>
                              <m:ctrlPr>
                                <a:rPr lang="zh-CN" altLang="en-US" sz="2400" b="0" i="1">
                                  <a:latin typeface="Cambria Math" panose="02040503050406030204" pitchFamily="18" charset="0"/>
                                </a:rPr>
                              </m:ctrlPr>
                            </m:dPr>
                            <m:e>
                              <m:r>
                                <a:rPr lang="zh-CN" altLang="en-US" sz="2400" b="0" i="1">
                                  <a:latin typeface="Cambria Math" panose="02040503050406030204" pitchFamily="18" charset="0"/>
                                </a:rPr>
                                <m:t>𝐷</m:t>
                              </m:r>
                            </m:e>
                          </m:d>
                        </m:num>
                        <m:den>
                          <m:r>
                            <a:rPr lang="zh-CN" altLang="en-US" sz="2400" b="0" i="1">
                              <a:latin typeface="Cambria Math" panose="02040503050406030204" pitchFamily="18" charset="0"/>
                            </a:rPr>
                            <m:t>𝑉</m:t>
                          </m:r>
                          <m:d>
                            <m:dPr>
                              <m:ctrlPr>
                                <a:rPr lang="zh-CN" altLang="en-US" sz="2400" b="0" i="1">
                                  <a:latin typeface="Cambria Math" panose="02040503050406030204" pitchFamily="18" charset="0"/>
                                </a:rPr>
                              </m:ctrlPr>
                            </m:dPr>
                            <m:e>
                              <m:r>
                                <a:rPr lang="zh-CN" altLang="en-US" sz="2400" b="0" i="1">
                                  <a:latin typeface="Cambria Math" panose="02040503050406030204" pitchFamily="18" charset="0"/>
                                </a:rPr>
                                <m:t>𝐺</m:t>
                              </m:r>
                            </m:e>
                          </m:d>
                        </m:den>
                      </m:f>
                      <m:r>
                        <a:rPr lang="zh-CN" altLang="en-US" sz="2400" b="0" i="0">
                          <a:latin typeface="Cambria Math" panose="02040503050406030204" pitchFamily="18" charset="0"/>
                        </a:rPr>
                        <m:t>=</m:t>
                      </m:r>
                      <m:f>
                        <m:fPr>
                          <m:ctrlPr>
                            <a:rPr lang="zh-CN" altLang="en-US" sz="2400" b="0" i="1">
                              <a:solidFill>
                                <a:srgbClr val="836967"/>
                              </a:solidFill>
                              <a:latin typeface="Cambria Math" panose="02040503050406030204" pitchFamily="18" charset="0"/>
                            </a:rPr>
                          </m:ctrlPr>
                        </m:fPr>
                        <m:num>
                          <m:r>
                            <a:rPr lang="zh-CN" altLang="en-US" sz="2400" b="0" i="1">
                              <a:latin typeface="Cambria Math" panose="02040503050406030204" pitchFamily="18" charset="0"/>
                            </a:rPr>
                            <m:t>𝐼</m:t>
                          </m:r>
                        </m:num>
                        <m:den>
                          <m:r>
                            <a:rPr lang="zh-CN" altLang="en-US" sz="2400" b="0" i="1">
                              <a:latin typeface="Cambria Math" panose="02040503050406030204" pitchFamily="18" charset="0"/>
                            </a:rPr>
                            <m:t>𝑀𝑉</m:t>
                          </m:r>
                          <m:d>
                            <m:dPr>
                              <m:ctrlPr>
                                <a:rPr lang="zh-CN" altLang="en-US" sz="2400" b="0" i="1">
                                  <a:latin typeface="Cambria Math" panose="02040503050406030204" pitchFamily="18" charset="0"/>
                                </a:rPr>
                              </m:ctrlPr>
                            </m:dPr>
                            <m:e>
                              <m:r>
                                <a:rPr lang="zh-CN" altLang="en-US" sz="2400" b="0" i="1">
                                  <a:latin typeface="Cambria Math" panose="02040503050406030204" pitchFamily="18" charset="0"/>
                                </a:rPr>
                                <m:t>𝐶</m:t>
                              </m:r>
                            </m:e>
                          </m:d>
                        </m:den>
                      </m:f>
                      <m:r>
                        <a:rPr lang="zh-CN" altLang="en-US" sz="2400" b="0" i="0">
                          <a:latin typeface="Cambria Math" panose="02040503050406030204" pitchFamily="18" charset="0"/>
                        </a:rPr>
                        <m:t>=</m:t>
                      </m:r>
                      <m:f>
                        <m:fPr>
                          <m:ctrlPr>
                            <a:rPr lang="zh-CN" altLang="en-US" sz="2400" b="0" i="1">
                              <a:solidFill>
                                <a:srgbClr val="836967"/>
                              </a:solidFill>
                              <a:latin typeface="Cambria Math" panose="02040503050406030204" pitchFamily="18" charset="0"/>
                            </a:rPr>
                          </m:ctrlPr>
                        </m:fPr>
                        <m:num>
                          <m:r>
                            <a:rPr lang="zh-CN" altLang="en-US" sz="2400" b="0" i="1">
                              <a:latin typeface="Cambria Math" panose="02040503050406030204" pitchFamily="18" charset="0"/>
                            </a:rPr>
                            <m:t>𝐼</m:t>
                          </m:r>
                        </m:num>
                        <m:den>
                          <m:r>
                            <a:rPr lang="zh-CN" altLang="en-US" sz="2400" b="0" i="1">
                              <a:latin typeface="Cambria Math" panose="02040503050406030204" pitchFamily="18" charset="0"/>
                            </a:rPr>
                            <m:t>𝑀</m:t>
                          </m:r>
                          <m:nary>
                            <m:naryPr>
                              <m:chr m:val="∏"/>
                              <m:limLoc m:val="undOvr"/>
                              <m:grow m:val="on"/>
                              <m:ctrlPr>
                                <a:rPr lang="zh-CN" altLang="en-US" sz="2400" b="0" i="1">
                                  <a:latin typeface="Cambria Math" panose="02040503050406030204" pitchFamily="18" charset="0"/>
                                </a:rPr>
                              </m:ctrlPr>
                            </m:naryPr>
                            <m:sub>
                              <m:r>
                                <a:rPr lang="zh-CN" altLang="en-US" sz="2400" b="0" i="1">
                                  <a:latin typeface="Cambria Math" panose="02040503050406030204" pitchFamily="18" charset="0"/>
                                </a:rPr>
                                <m:t>𝑗</m:t>
                              </m:r>
                              <m:r>
                                <a:rPr lang="zh-CN" altLang="en-US" sz="2400" b="0" i="0">
                                  <a:latin typeface="Cambria Math" panose="02040503050406030204" pitchFamily="18" charset="0"/>
                                </a:rPr>
                                <m:t>=1</m:t>
                              </m:r>
                            </m:sub>
                            <m:sup>
                              <m:r>
                                <a:rPr lang="zh-CN" altLang="en-US" sz="2400" b="0" i="1">
                                  <a:latin typeface="Cambria Math" panose="02040503050406030204" pitchFamily="18" charset="0"/>
                                </a:rPr>
                                <m:t>𝑑</m:t>
                              </m:r>
                            </m:sup>
                            <m:e>
                              <m:d>
                                <m:dPr>
                                  <m:ctrlPr>
                                    <a:rPr lang="zh-CN" altLang="en-US" sz="2400" b="0" i="1">
                                      <a:latin typeface="Cambria Math" panose="02040503050406030204" pitchFamily="18" charset="0"/>
                                    </a:rPr>
                                  </m:ctrlPr>
                                </m:dPr>
                                <m:e>
                                  <m:sSub>
                                    <m:sSubPr>
                                      <m:ctrlPr>
                                        <a:rPr lang="zh-CN" altLang="en-US" sz="2400" b="0" i="1">
                                          <a:solidFill>
                                            <a:srgbClr val="836967"/>
                                          </a:solidFill>
                                          <a:latin typeface="Cambria Math" panose="02040503050406030204" pitchFamily="18" charset="0"/>
                                        </a:rPr>
                                      </m:ctrlPr>
                                    </m:sSubPr>
                                    <m:e>
                                      <m:r>
                                        <a:rPr lang="zh-CN" altLang="en-US" sz="2400" b="0" i="1">
                                          <a:latin typeface="Cambria Math" panose="02040503050406030204" pitchFamily="18" charset="0"/>
                                        </a:rPr>
                                        <m:t>𝑏</m:t>
                                      </m:r>
                                    </m:e>
                                    <m:sub>
                                      <m:r>
                                        <a:rPr lang="zh-CN" altLang="en-US" sz="2400" b="0" i="1">
                                          <a:latin typeface="Cambria Math" panose="02040503050406030204" pitchFamily="18" charset="0"/>
                                        </a:rPr>
                                        <m:t>𝑗</m:t>
                                      </m:r>
                                    </m:sub>
                                  </m:sSub>
                                  <m:r>
                                    <a:rPr lang="zh-CN" altLang="en-US" sz="2400" b="0" i="0">
                                      <a:latin typeface="Cambria Math" panose="02040503050406030204" pitchFamily="18" charset="0"/>
                                    </a:rPr>
                                    <m:t>−</m:t>
                                  </m:r>
                                  <m:sSub>
                                    <m:sSubPr>
                                      <m:ctrlPr>
                                        <a:rPr lang="zh-CN" altLang="en-US" sz="2400" b="0" i="1">
                                          <a:solidFill>
                                            <a:srgbClr val="836967"/>
                                          </a:solidFill>
                                          <a:latin typeface="Cambria Math" panose="02040503050406030204" pitchFamily="18" charset="0"/>
                                        </a:rPr>
                                      </m:ctrlPr>
                                    </m:sSubPr>
                                    <m:e>
                                      <m:r>
                                        <a:rPr lang="zh-CN" altLang="en-US" sz="2400" b="0" i="1">
                                          <a:latin typeface="Cambria Math" panose="02040503050406030204" pitchFamily="18" charset="0"/>
                                        </a:rPr>
                                        <m:t>𝑎</m:t>
                                      </m:r>
                                    </m:e>
                                    <m:sub>
                                      <m:r>
                                        <a:rPr lang="zh-CN" altLang="en-US" sz="2400" b="0" i="1">
                                          <a:latin typeface="Cambria Math" panose="02040503050406030204" pitchFamily="18" charset="0"/>
                                        </a:rPr>
                                        <m:t>𝑗</m:t>
                                      </m:r>
                                    </m:sub>
                                  </m:sSub>
                                </m:e>
                              </m:d>
                            </m:e>
                          </m:nary>
                        </m:den>
                      </m:f>
                    </m:oMath>
                  </m:oMathPara>
                </a14:m>
                <a:endParaRPr lang="zh-CN" altLang="en-US" dirty="0"/>
              </a:p>
            </p:txBody>
          </p:sp>
        </mc:Choice>
        <mc:Fallback xmlns="">
          <p:sp>
            <p:nvSpPr>
              <p:cNvPr id="13" name="文本框 12">
                <a:extLst>
                  <a:ext uri="{FF2B5EF4-FFF2-40B4-BE49-F238E27FC236}">
                    <a16:creationId xmlns:a16="http://schemas.microsoft.com/office/drawing/2014/main" id="{57B025FF-2863-4606-837C-4AEACE886084}"/>
                  </a:ext>
                </a:extLst>
              </p:cNvPr>
              <p:cNvSpPr txBox="1">
                <a:spLocks noRot="1" noChangeAspect="1" noMove="1" noResize="1" noEditPoints="1" noAdjustHandles="1" noChangeArrowheads="1" noChangeShapeType="1" noTextEdit="1"/>
              </p:cNvSpPr>
              <p:nvPr/>
            </p:nvSpPr>
            <p:spPr>
              <a:xfrm>
                <a:off x="1376645" y="2874204"/>
                <a:ext cx="4690532" cy="2065694"/>
              </a:xfrm>
              <a:prstGeom prst="rect">
                <a:avLst/>
              </a:prstGeom>
              <a:blipFill>
                <a:blip r:embed="rId2"/>
                <a:stretch>
                  <a:fillRect/>
                </a:stretch>
              </a:blipFill>
              <a:ln w="25400">
                <a:noFill/>
              </a:ln>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D11B4882-0AAD-430F-AD11-B29F489BA92C}"/>
              </a:ext>
            </a:extLst>
          </p:cNvPr>
          <p:cNvSpPr txBox="1"/>
          <p:nvPr/>
        </p:nvSpPr>
        <p:spPr>
          <a:xfrm>
            <a:off x="210013" y="5329590"/>
            <a:ext cx="8723973"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其中</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V</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表示区域体积</a:t>
            </a:r>
            <a:r>
              <a:rPr lang="zh-CN" altLang="en-US" sz="3200" dirty="0">
                <a:solidFill>
                  <a:srgbClr val="006699"/>
                </a:solidFill>
                <a:latin typeface="Verdana" panose="020B0604030504040204" pitchFamily="34" charset="0"/>
              </a:rPr>
              <a:t>。</a:t>
            </a:r>
            <a:endParaRPr lang="en-US" altLang="zh-CN" sz="3200" dirty="0">
              <a:solidFill>
                <a:srgbClr val="006699"/>
              </a:solidFill>
              <a:latin typeface="Verdana" panose="020B0604030504040204" pitchFamily="34" charset="0"/>
            </a:endParaRPr>
          </a:p>
        </p:txBody>
      </p:sp>
      <p:pic>
        <p:nvPicPr>
          <p:cNvPr id="9" name="图片 8">
            <a:extLst>
              <a:ext uri="{FF2B5EF4-FFF2-40B4-BE49-F238E27FC236}">
                <a16:creationId xmlns:a16="http://schemas.microsoft.com/office/drawing/2014/main" id="{BBB6C915-26EF-49C0-833F-5D80637CDB90}"/>
              </a:ext>
            </a:extLst>
          </p:cNvPr>
          <p:cNvPicPr>
            <a:picLocks noChangeAspect="1"/>
          </p:cNvPicPr>
          <p:nvPr/>
        </p:nvPicPr>
        <p:blipFill>
          <a:blip r:embed="rId3"/>
          <a:stretch>
            <a:fillRect/>
          </a:stretch>
        </p:blipFill>
        <p:spPr>
          <a:xfrm>
            <a:off x="2051720" y="1545113"/>
            <a:ext cx="3729000" cy="932250"/>
          </a:xfrm>
          <a:prstGeom prst="rect">
            <a:avLst/>
          </a:prstGeom>
        </p:spPr>
      </p:pic>
      <p:sp>
        <p:nvSpPr>
          <p:cNvPr id="11" name="文本框 10">
            <a:extLst>
              <a:ext uri="{FF2B5EF4-FFF2-40B4-BE49-F238E27FC236}">
                <a16:creationId xmlns:a16="http://schemas.microsoft.com/office/drawing/2014/main" id="{6E720F8C-F085-42E6-A9E3-00C74A645150}"/>
              </a:ext>
            </a:extLst>
          </p:cNvPr>
          <p:cNvSpPr txBox="1"/>
          <p:nvPr/>
        </p:nvSpPr>
        <p:spPr>
          <a:xfrm>
            <a:off x="0" y="2393966"/>
            <a:ext cx="4690532" cy="584775"/>
          </a:xfrm>
          <a:prstGeom prst="rect">
            <a:avLst/>
          </a:prstGeom>
          <a:noFill/>
          <a:ln w="25400">
            <a:noFill/>
          </a:ln>
        </p:spPr>
        <p:txBody>
          <a:bodyPr wrap="square">
            <a:spAutoFit/>
          </a:bodyPr>
          <a:lstStyle/>
          <a:p>
            <a:r>
              <a:rPr lang="zh-CN" altLang="en-US" sz="3200" dirty="0">
                <a:solidFill>
                  <a:srgbClr val="006699"/>
                </a:solidFill>
                <a:latin typeface="Verdana" panose="020B0604030504040204" pitchFamily="34" charset="0"/>
              </a:rPr>
              <a:t>另一方面</a:t>
            </a:r>
            <a:endParaRPr lang="zh-CN" altLang="en-US" dirty="0"/>
          </a:p>
        </p:txBody>
      </p:sp>
    </p:spTree>
    <p:extLst>
      <p:ext uri="{BB962C8B-B14F-4D97-AF65-F5344CB8AC3E}">
        <p14:creationId xmlns:p14="http://schemas.microsoft.com/office/powerpoint/2010/main" val="33410084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3.2.4 </a:t>
            </a:r>
            <a:r>
              <a:rPr lang="zh-CN" altLang="en-US" dirty="0"/>
              <a:t>高维定积分</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0" y="1043735"/>
            <a:ext cx="91598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积分</a:t>
            </a:r>
            <a:r>
              <a:rPr lang="en-US" altLang="zh-CN" sz="3200" dirty="0">
                <a:solidFill>
                  <a:srgbClr val="006699"/>
                </a:solidFill>
                <a:latin typeface="Verdana" panose="020B0604030504040204" pitchFamily="34" charset="0"/>
              </a:rPr>
              <a:t>I</a:t>
            </a:r>
            <a:r>
              <a:rPr lang="zh-CN" altLang="en-US" sz="3200" dirty="0">
                <a:solidFill>
                  <a:srgbClr val="006699"/>
                </a:solidFill>
                <a:latin typeface="Verdana" panose="020B0604030504040204" pitchFamily="34" charset="0"/>
              </a:rPr>
              <a:t>的估计</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49</a:t>
            </a:fld>
            <a:endParaRPr lang="zh-CN" altLang="en-US">
              <a:solidFill>
                <a:srgbClr val="898989"/>
              </a:solidFill>
            </a:endParaRPr>
          </a:p>
        </p:txBody>
      </p:sp>
      <p:sp>
        <p:nvSpPr>
          <p:cNvPr id="15" name="文本框 14">
            <a:extLst>
              <a:ext uri="{FF2B5EF4-FFF2-40B4-BE49-F238E27FC236}">
                <a16:creationId xmlns:a16="http://schemas.microsoft.com/office/drawing/2014/main" id="{D11B4882-0AAD-430F-AD11-B29F489BA92C}"/>
              </a:ext>
            </a:extLst>
          </p:cNvPr>
          <p:cNvSpPr txBox="1"/>
          <p:nvPr/>
        </p:nvSpPr>
        <p:spPr>
          <a:xfrm>
            <a:off x="210013" y="3976800"/>
            <a:ext cx="8723973"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是</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I</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的无偏估计和强相合估计</a:t>
            </a:r>
            <a:endParaRPr lang="zh-CN" altLang="en-US"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F00C367C-53B1-47A4-9005-BF9DAC50AB0E}"/>
                  </a:ext>
                </a:extLst>
              </p:cNvPr>
              <p:cNvSpPr txBox="1"/>
              <p:nvPr/>
            </p:nvSpPr>
            <p:spPr>
              <a:xfrm>
                <a:off x="1145923" y="1701831"/>
                <a:ext cx="5906004" cy="2048766"/>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smtClean="0">
                              <a:solidFill>
                                <a:srgbClr val="836967"/>
                              </a:solidFill>
                              <a:latin typeface="Cambria Math" panose="02040503050406030204" pitchFamily="18" charset="0"/>
                            </a:rPr>
                          </m:ctrlPr>
                        </m:sSubPr>
                        <m:e>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𝐼</m:t>
                              </m:r>
                            </m:e>
                          </m:acc>
                        </m:e>
                        <m:sub>
                          <m:r>
                            <a:rPr lang="zh-CN" altLang="en-US" sz="3200" i="0">
                              <a:latin typeface="Cambria Math" panose="02040503050406030204" pitchFamily="18" charset="0"/>
                            </a:rPr>
                            <m:t>1</m:t>
                          </m:r>
                        </m:sub>
                      </m:sSub>
                      <m:r>
                        <a:rPr lang="zh-CN" altLang="en-US" sz="3200" i="0">
                          <a:latin typeface="Cambria Math" panose="02040503050406030204" pitchFamily="18" charset="0"/>
                        </a:rPr>
                        <m:t>=</m:t>
                      </m:r>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𝑝</m:t>
                          </m:r>
                        </m:e>
                      </m:acc>
                      <m:r>
                        <a:rPr lang="zh-CN" altLang="en-US" sz="3200" i="1">
                          <a:latin typeface="Cambria Math" panose="02040503050406030204" pitchFamily="18" charset="0"/>
                        </a:rPr>
                        <m:t>𝑉</m:t>
                      </m:r>
                      <m:d>
                        <m:dPr>
                          <m:ctrlPr>
                            <a:rPr lang="zh-CN" altLang="en-US" sz="3200" i="1">
                              <a:latin typeface="Cambria Math" panose="02040503050406030204" pitchFamily="18" charset="0"/>
                            </a:rPr>
                          </m:ctrlPr>
                        </m:dPr>
                        <m:e>
                          <m:r>
                            <a:rPr lang="zh-CN" altLang="en-US" sz="3200" i="1">
                              <a:latin typeface="Cambria Math" panose="02040503050406030204" pitchFamily="18" charset="0"/>
                            </a:rPr>
                            <m:t>𝐺</m:t>
                          </m:r>
                        </m:e>
                      </m:d>
                      <m:r>
                        <a:rPr lang="zh-CN" altLang="en-US" sz="3200" i="0">
                          <a:latin typeface="Cambria Math" panose="02040503050406030204" pitchFamily="18" charset="0"/>
                        </a:rPr>
                        <m:t>=</m:t>
                      </m:r>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𝑝</m:t>
                          </m:r>
                        </m:e>
                      </m:acc>
                      <m:r>
                        <a:rPr lang="zh-CN" altLang="en-US" sz="3200" i="0">
                          <a:latin typeface="Cambria Math" panose="02040503050406030204" pitchFamily="18" charset="0"/>
                        </a:rPr>
                        <m:t>⋅</m:t>
                      </m:r>
                      <m:r>
                        <a:rPr lang="zh-CN" altLang="en-US" sz="3200" i="1">
                          <a:latin typeface="Cambria Math" panose="02040503050406030204" pitchFamily="18" charset="0"/>
                        </a:rPr>
                        <m:t>𝑀𝑉</m:t>
                      </m:r>
                      <m:d>
                        <m:dPr>
                          <m:ctrlPr>
                            <a:rPr lang="zh-CN" altLang="en-US" sz="3200" i="1">
                              <a:latin typeface="Cambria Math" panose="02040503050406030204" pitchFamily="18" charset="0"/>
                            </a:rPr>
                          </m:ctrlPr>
                        </m:dPr>
                        <m:e>
                          <m:r>
                            <a:rPr lang="zh-CN" altLang="en-US" sz="3200" i="1">
                              <a:latin typeface="Cambria Math" panose="02040503050406030204" pitchFamily="18" charset="0"/>
                            </a:rPr>
                            <m:t>𝐶</m:t>
                          </m:r>
                        </m:e>
                      </m:d>
                      <m:r>
                        <a:rPr lang="zh-CN" altLang="en-US" sz="3200" i="0">
                          <a:latin typeface="Cambria Math" panose="02040503050406030204" pitchFamily="18" charset="0"/>
                        </a:rPr>
                        <m:t>=</m:t>
                      </m:r>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𝑝</m:t>
                          </m:r>
                        </m:e>
                      </m:acc>
                      <m:r>
                        <a:rPr lang="zh-CN" altLang="en-US" sz="3200" i="0">
                          <a:latin typeface="Cambria Math" panose="02040503050406030204" pitchFamily="18" charset="0"/>
                        </a:rPr>
                        <m:t>⋅</m:t>
                      </m:r>
                      <m:r>
                        <a:rPr lang="zh-CN" altLang="en-US" sz="3200" i="1">
                          <a:latin typeface="Cambria Math" panose="02040503050406030204" pitchFamily="18" charset="0"/>
                        </a:rPr>
                        <m:t>𝑀</m:t>
                      </m:r>
                      <m:nary>
                        <m:naryPr>
                          <m:chr m:val="∏"/>
                          <m:limLoc m:val="undOvr"/>
                          <m:grow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𝑗</m:t>
                          </m:r>
                          <m:r>
                            <a:rPr lang="zh-CN" altLang="en-US" sz="3200" i="0">
                              <a:latin typeface="Cambria Math" panose="02040503050406030204" pitchFamily="18" charset="0"/>
                            </a:rPr>
                            <m:t>=1</m:t>
                          </m:r>
                        </m:sub>
                        <m:sup>
                          <m:r>
                            <a:rPr lang="zh-CN" altLang="en-US" sz="3200" i="1">
                              <a:latin typeface="Cambria Math" panose="02040503050406030204" pitchFamily="18" charset="0"/>
                            </a:rPr>
                            <m:t>𝑑</m:t>
                          </m:r>
                        </m:sup>
                        <m:e>
                          <m:d>
                            <m:dPr>
                              <m:ctrlPr>
                                <a:rPr lang="zh-CN" altLang="en-US" sz="3200" i="1">
                                  <a:latin typeface="Cambria Math" panose="02040503050406030204" pitchFamily="18" charset="0"/>
                                </a:rPr>
                              </m:ctrlPr>
                            </m:dPr>
                            <m:e>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𝑏</m:t>
                                  </m:r>
                                </m:e>
                                <m:sub>
                                  <m:r>
                                    <a:rPr lang="zh-CN" altLang="en-US" sz="3200" i="1">
                                      <a:latin typeface="Cambria Math" panose="02040503050406030204" pitchFamily="18" charset="0"/>
                                    </a:rPr>
                                    <m:t>𝑗</m:t>
                                  </m:r>
                                </m:sub>
                              </m:sSub>
                              <m:r>
                                <a:rPr lang="zh-CN" altLang="en-US" sz="3200" i="0">
                                  <a:latin typeface="Cambria Math" panose="02040503050406030204" pitchFamily="18" charset="0"/>
                                </a:rPr>
                                <m:t>−</m:t>
                              </m:r>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𝑎</m:t>
                                  </m:r>
                                </m:e>
                                <m:sub>
                                  <m:r>
                                    <a:rPr lang="zh-CN" altLang="en-US" sz="3200" i="1">
                                      <a:latin typeface="Cambria Math" panose="02040503050406030204" pitchFamily="18" charset="0"/>
                                    </a:rPr>
                                    <m:t>𝑗</m:t>
                                  </m:r>
                                </m:sub>
                              </m:sSub>
                            </m:e>
                          </m:d>
                        </m:e>
                      </m:nary>
                    </m:oMath>
                  </m:oMathPara>
                </a14:m>
                <a:endParaRPr lang="zh-CN" altLang="en-US" dirty="0"/>
              </a:p>
            </p:txBody>
          </p:sp>
        </mc:Choice>
        <mc:Fallback xmlns="">
          <p:sp>
            <p:nvSpPr>
              <p:cNvPr id="11" name="文本框 10">
                <a:extLst>
                  <a:ext uri="{FF2B5EF4-FFF2-40B4-BE49-F238E27FC236}">
                    <a16:creationId xmlns:a16="http://schemas.microsoft.com/office/drawing/2014/main" id="{F00C367C-53B1-47A4-9005-BF9DAC50AB0E}"/>
                  </a:ext>
                </a:extLst>
              </p:cNvPr>
              <p:cNvSpPr txBox="1">
                <a:spLocks noRot="1" noChangeAspect="1" noMove="1" noResize="1" noEditPoints="1" noAdjustHandles="1" noChangeArrowheads="1" noChangeShapeType="1" noTextEdit="1"/>
              </p:cNvSpPr>
              <p:nvPr/>
            </p:nvSpPr>
            <p:spPr>
              <a:xfrm>
                <a:off x="1145923" y="1701831"/>
                <a:ext cx="5906004" cy="2048766"/>
              </a:xfrm>
              <a:prstGeom prst="rect">
                <a:avLst/>
              </a:prstGeom>
              <a:blipFill>
                <a:blip r:embed="rId2"/>
                <a:stretch>
                  <a:fillRect t="-2679"/>
                </a:stretch>
              </a:blipFill>
              <a:ln w="25400">
                <a:noFill/>
              </a:ln>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DD6B2706-8C79-47C4-BEB1-EC2438071E8A}"/>
              </a:ext>
            </a:extLst>
          </p:cNvPr>
          <p:cNvSpPr txBox="1"/>
          <p:nvPr/>
        </p:nvSpPr>
        <p:spPr>
          <a:xfrm>
            <a:off x="7270002" y="1886432"/>
            <a:ext cx="1889873"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(11.20)</a:t>
            </a:r>
            <a:endParaRPr lang="zh-CN" altLang="en-US" dirty="0"/>
          </a:p>
        </p:txBody>
      </p:sp>
    </p:spTree>
    <p:extLst>
      <p:ext uri="{BB962C8B-B14F-4D97-AF65-F5344CB8AC3E}">
        <p14:creationId xmlns:p14="http://schemas.microsoft.com/office/powerpoint/2010/main" val="36292161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3.2.4 </a:t>
            </a:r>
            <a:r>
              <a:rPr lang="zh-CN" altLang="en-US" dirty="0"/>
              <a:t>高维定积分</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0" y="1043735"/>
            <a:ext cx="91598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由中心极限定理知</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50</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7635893B-61AF-4B4C-A53E-838A088A2065}"/>
                  </a:ext>
                </a:extLst>
              </p:cNvPr>
              <p:cNvSpPr txBox="1"/>
              <p:nvPr/>
            </p:nvSpPr>
            <p:spPr>
              <a:xfrm>
                <a:off x="1358714" y="4262364"/>
                <a:ext cx="4690532" cy="1545616"/>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CN" altLang="en-US" sz="2800" i="1" smtClean="0">
                              <a:solidFill>
                                <a:srgbClr val="836967"/>
                              </a:solidFill>
                              <a:latin typeface="Cambria Math" panose="02040503050406030204" pitchFamily="18" charset="0"/>
                            </a:rPr>
                          </m:ctrlPr>
                        </m:fPr>
                        <m:num>
                          <m:sSup>
                            <m:sSupPr>
                              <m:ctrlPr>
                                <a:rPr lang="zh-CN" altLang="en-US" sz="2800" i="1">
                                  <a:solidFill>
                                    <a:srgbClr val="836967"/>
                                  </a:solidFill>
                                  <a:latin typeface="Cambria Math" panose="02040503050406030204" pitchFamily="18" charset="0"/>
                                </a:rPr>
                              </m:ctrlPr>
                            </m:sSupPr>
                            <m:e>
                              <m:d>
                                <m:dPr>
                                  <m:ctrlPr>
                                    <a:rPr lang="zh-CN" altLang="en-US" sz="2800" i="1">
                                      <a:solidFill>
                                        <a:srgbClr val="836967"/>
                                      </a:solidFill>
                                      <a:latin typeface="Cambria Math" panose="02040503050406030204" pitchFamily="18" charset="0"/>
                                    </a:rPr>
                                  </m:ctrlPr>
                                </m:dPr>
                                <m:e>
                                  <m:r>
                                    <a:rPr lang="zh-CN" altLang="en-US" sz="2800" i="1">
                                      <a:latin typeface="Cambria Math" panose="02040503050406030204" pitchFamily="18" charset="0"/>
                                    </a:rPr>
                                    <m:t>𝑀</m:t>
                                  </m:r>
                                  <m:nary>
                                    <m:naryPr>
                                      <m:chr m:val="∏"/>
                                      <m:limLoc m:val="undOvr"/>
                                      <m:grow m:val="on"/>
                                      <m:ctrlPr>
                                        <a:rPr lang="zh-CN" altLang="en-US" sz="2800" i="1">
                                          <a:latin typeface="Cambria Math" panose="02040503050406030204" pitchFamily="18" charset="0"/>
                                        </a:rPr>
                                      </m:ctrlPr>
                                    </m:naryPr>
                                    <m:sub>
                                      <m:r>
                                        <a:rPr lang="zh-CN" altLang="en-US" sz="2800" i="1">
                                          <a:latin typeface="Cambria Math" panose="02040503050406030204" pitchFamily="18" charset="0"/>
                                        </a:rPr>
                                        <m:t>𝑗</m:t>
                                      </m:r>
                                      <m:r>
                                        <a:rPr lang="zh-CN" altLang="en-US" sz="2800" i="0">
                                          <a:latin typeface="Cambria Math" panose="02040503050406030204" pitchFamily="18" charset="0"/>
                                        </a:rPr>
                                        <m:t>=1</m:t>
                                      </m:r>
                                    </m:sub>
                                    <m:sup>
                                      <m:r>
                                        <m:rPr>
                                          <m:sty m:val="p"/>
                                        </m:rPr>
                                        <a:rPr lang="en-US" altLang="zh-CN" sz="2800" i="1">
                                          <a:latin typeface="Cambria Math" panose="02040503050406030204" pitchFamily="18" charset="0"/>
                                        </a:rPr>
                                        <m:t>d</m:t>
                                      </m:r>
                                    </m:sup>
                                    <m:e>
                                      <m:d>
                                        <m:dPr>
                                          <m:ctrlPr>
                                            <a:rPr lang="zh-CN" altLang="en-US" sz="2800" i="1">
                                              <a:latin typeface="Cambria Math" panose="02040503050406030204" pitchFamily="18" charset="0"/>
                                            </a:rPr>
                                          </m:ctrlPr>
                                        </m:dPr>
                                        <m:e>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𝑏</m:t>
                                              </m:r>
                                            </m:e>
                                            <m:sub>
                                              <m:r>
                                                <a:rPr lang="zh-CN" altLang="en-US" sz="2800" i="1">
                                                  <a:latin typeface="Cambria Math" panose="02040503050406030204" pitchFamily="18" charset="0"/>
                                                </a:rPr>
                                                <m:t>𝑗</m:t>
                                              </m:r>
                                            </m:sub>
                                          </m:sSub>
                                          <m:r>
                                            <a:rPr lang="zh-CN" altLang="en-US" sz="2800" i="0">
                                              <a:latin typeface="Cambria Math" panose="02040503050406030204" pitchFamily="18" charset="0"/>
                                            </a:rPr>
                                            <m:t>−</m:t>
                                          </m:r>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𝑎</m:t>
                                              </m:r>
                                            </m:e>
                                            <m:sub>
                                              <m:r>
                                                <a:rPr lang="zh-CN" altLang="en-US" sz="2800" i="1">
                                                  <a:latin typeface="Cambria Math" panose="02040503050406030204" pitchFamily="18" charset="0"/>
                                                </a:rPr>
                                                <m:t>𝑗</m:t>
                                              </m:r>
                                            </m:sub>
                                          </m:sSub>
                                        </m:e>
                                      </m:d>
                                    </m:e>
                                  </m:nary>
                                </m:e>
                              </m:d>
                            </m:e>
                            <m:sup>
                              <m:r>
                                <a:rPr lang="zh-CN" altLang="en-US" sz="2800" i="0">
                                  <a:latin typeface="Cambria Math" panose="02040503050406030204" pitchFamily="18" charset="0"/>
                                </a:rPr>
                                <m:t>2</m:t>
                              </m:r>
                            </m:sup>
                          </m:sSup>
                          <m:r>
                            <a:rPr lang="zh-CN" altLang="en-US" sz="2800" i="1">
                              <a:latin typeface="Cambria Math" panose="02040503050406030204" pitchFamily="18" charset="0"/>
                            </a:rPr>
                            <m:t>𝑝</m:t>
                          </m:r>
                          <m:d>
                            <m:dPr>
                              <m:ctrlPr>
                                <a:rPr lang="zh-CN" altLang="en-US" sz="2800" i="1">
                                  <a:latin typeface="Cambria Math" panose="02040503050406030204" pitchFamily="18" charset="0"/>
                                </a:rPr>
                              </m:ctrlPr>
                            </m:dPr>
                            <m:e>
                              <m:r>
                                <a:rPr lang="zh-CN" altLang="en-US" sz="2800" i="0">
                                  <a:latin typeface="Cambria Math" panose="02040503050406030204" pitchFamily="18" charset="0"/>
                                </a:rPr>
                                <m:t>1−</m:t>
                              </m:r>
                              <m:r>
                                <a:rPr lang="zh-CN" altLang="en-US" sz="2800" i="1">
                                  <a:latin typeface="Cambria Math" panose="02040503050406030204" pitchFamily="18" charset="0"/>
                                </a:rPr>
                                <m:t>𝑝</m:t>
                              </m:r>
                            </m:e>
                          </m:d>
                        </m:num>
                        <m:den>
                          <m:r>
                            <a:rPr lang="zh-CN" altLang="en-US" sz="2800" i="1">
                              <a:latin typeface="Cambria Math" panose="02040503050406030204" pitchFamily="18" charset="0"/>
                            </a:rPr>
                            <m:t>𝑁</m:t>
                          </m:r>
                        </m:den>
                      </m:f>
                    </m:oMath>
                  </m:oMathPara>
                </a14:m>
                <a:endParaRPr lang="zh-CN" altLang="en-US" dirty="0"/>
              </a:p>
            </p:txBody>
          </p:sp>
        </mc:Choice>
        <mc:Fallback xmlns="">
          <p:sp>
            <p:nvSpPr>
              <p:cNvPr id="18" name="文本框 17">
                <a:extLst>
                  <a:ext uri="{FF2B5EF4-FFF2-40B4-BE49-F238E27FC236}">
                    <a16:creationId xmlns:a16="http://schemas.microsoft.com/office/drawing/2014/main" id="{7635893B-61AF-4B4C-A53E-838A088A2065}"/>
                  </a:ext>
                </a:extLst>
              </p:cNvPr>
              <p:cNvSpPr txBox="1">
                <a:spLocks noRot="1" noChangeAspect="1" noMove="1" noResize="1" noEditPoints="1" noAdjustHandles="1" noChangeArrowheads="1" noChangeShapeType="1" noTextEdit="1"/>
              </p:cNvSpPr>
              <p:nvPr/>
            </p:nvSpPr>
            <p:spPr>
              <a:xfrm>
                <a:off x="1358714" y="4262364"/>
                <a:ext cx="4690532" cy="1545616"/>
              </a:xfrm>
              <a:prstGeom prst="rect">
                <a:avLst/>
              </a:prstGeom>
              <a:blipFill>
                <a:blip r:embed="rId2"/>
                <a:stretch>
                  <a:fillRect r="-1821"/>
                </a:stretch>
              </a:blipFill>
              <a:ln w="25400">
                <a:noFill/>
              </a:ln>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1E83C364-19ED-43BC-AD5B-885005FAA83E}"/>
              </a:ext>
            </a:extLst>
          </p:cNvPr>
          <p:cNvSpPr txBox="1"/>
          <p:nvPr/>
        </p:nvSpPr>
        <p:spPr>
          <a:xfrm>
            <a:off x="206515" y="3669761"/>
            <a:ext cx="4690532" cy="584775"/>
          </a:xfrm>
          <a:prstGeom prst="rect">
            <a:avLst/>
          </a:prstGeom>
          <a:noFill/>
          <a:ln w="25400">
            <a:noFill/>
          </a:ln>
        </p:spPr>
        <p:txBody>
          <a:bodyPr wrap="square">
            <a:spAutoFit/>
          </a:bodyPr>
          <a:lstStyle/>
          <a:p>
            <a:r>
              <a:rPr lang="zh-CN" altLang="en-US" sz="3200" dirty="0">
                <a:solidFill>
                  <a:srgbClr val="006699"/>
                </a:solidFill>
                <a:latin typeface="Verdana" panose="020B0604030504040204" pitchFamily="34" charset="0"/>
              </a:rPr>
              <a:t>随机投点法</a:t>
            </a:r>
            <a:r>
              <a:rPr kumimoji="0" lang="zh-CN" altLang="en-US"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渐近方差</a:t>
            </a:r>
            <a:endParaRPr lang="zh-CN" altLang="en-US" dirty="0"/>
          </a:p>
        </p:txBody>
      </p:sp>
      <p:sp>
        <p:nvSpPr>
          <p:cNvPr id="8" name="文本框 7">
            <a:extLst>
              <a:ext uri="{FF2B5EF4-FFF2-40B4-BE49-F238E27FC236}">
                <a16:creationId xmlns:a16="http://schemas.microsoft.com/office/drawing/2014/main" id="{44AFDB6B-1AB3-487E-B84D-6DA8BB6A3FC8}"/>
              </a:ext>
            </a:extLst>
          </p:cNvPr>
          <p:cNvSpPr txBox="1"/>
          <p:nvPr/>
        </p:nvSpPr>
        <p:spPr>
          <a:xfrm>
            <a:off x="7137285" y="4963803"/>
            <a:ext cx="1889873"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(11.21)</a:t>
            </a:r>
            <a:endParaRPr lang="zh-CN" altLang="en-US" dirty="0"/>
          </a:p>
        </p:txBody>
      </p:sp>
      <p:pic>
        <p:nvPicPr>
          <p:cNvPr id="5" name="图片 4">
            <a:extLst>
              <a:ext uri="{FF2B5EF4-FFF2-40B4-BE49-F238E27FC236}">
                <a16:creationId xmlns:a16="http://schemas.microsoft.com/office/drawing/2014/main" id="{2FAA1EAE-5614-4602-A9C8-D8AAA5F9E534}"/>
              </a:ext>
            </a:extLst>
          </p:cNvPr>
          <p:cNvPicPr>
            <a:picLocks noChangeAspect="1"/>
          </p:cNvPicPr>
          <p:nvPr/>
        </p:nvPicPr>
        <p:blipFill>
          <a:blip r:embed="rId3"/>
          <a:stretch>
            <a:fillRect/>
          </a:stretch>
        </p:blipFill>
        <p:spPr>
          <a:xfrm>
            <a:off x="1510916" y="1657013"/>
            <a:ext cx="4228744" cy="593636"/>
          </a:xfrm>
          <a:prstGeom prst="rect">
            <a:avLst/>
          </a:prstGeom>
        </p:spPr>
      </p:pic>
      <p:pic>
        <p:nvPicPr>
          <p:cNvPr id="10" name="图片 9">
            <a:extLst>
              <a:ext uri="{FF2B5EF4-FFF2-40B4-BE49-F238E27FC236}">
                <a16:creationId xmlns:a16="http://schemas.microsoft.com/office/drawing/2014/main" id="{4AA816ED-7050-4EC9-90CD-8F2E79CACD42}"/>
              </a:ext>
            </a:extLst>
          </p:cNvPr>
          <p:cNvPicPr>
            <a:picLocks noChangeAspect="1"/>
          </p:cNvPicPr>
          <p:nvPr/>
        </p:nvPicPr>
        <p:blipFill>
          <a:blip r:embed="rId4"/>
          <a:stretch>
            <a:fillRect/>
          </a:stretch>
        </p:blipFill>
        <p:spPr>
          <a:xfrm>
            <a:off x="1511660" y="2440769"/>
            <a:ext cx="5397777" cy="933498"/>
          </a:xfrm>
          <a:prstGeom prst="rect">
            <a:avLst/>
          </a:prstGeom>
        </p:spPr>
      </p:pic>
    </p:spTree>
    <p:extLst>
      <p:ext uri="{BB962C8B-B14F-4D97-AF65-F5344CB8AC3E}">
        <p14:creationId xmlns:p14="http://schemas.microsoft.com/office/powerpoint/2010/main" val="5603394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3.2.4 </a:t>
            </a:r>
            <a:r>
              <a:rPr lang="zh-CN" altLang="en-US" dirty="0"/>
              <a:t>高维定积分</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0" y="1043735"/>
            <a:ext cx="91598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多重积分的</a:t>
            </a:r>
            <a:r>
              <a:rPr lang="zh-CN" altLang="en-US" sz="3200" dirty="0">
                <a:solidFill>
                  <a:srgbClr val="FF0000"/>
                </a:solidFill>
                <a:latin typeface="Verdana" panose="020B0604030504040204" pitchFamily="34" charset="0"/>
              </a:rPr>
              <a:t>随机投点法步骤</a:t>
            </a:r>
            <a:endParaRPr lang="en-US" altLang="zh-CN" sz="3200" dirty="0">
              <a:solidFill>
                <a:srgbClr val="FF0000"/>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51</a:t>
            </a:fld>
            <a:endParaRPr lang="zh-CN" altLang="en-US">
              <a:solidFill>
                <a:srgbClr val="898989"/>
              </a:solidFill>
            </a:endParaRPr>
          </a:p>
        </p:txBody>
      </p:sp>
      <p:sp>
        <p:nvSpPr>
          <p:cNvPr id="3" name="文本框 2">
            <a:extLst>
              <a:ext uri="{FF2B5EF4-FFF2-40B4-BE49-F238E27FC236}">
                <a16:creationId xmlns:a16="http://schemas.microsoft.com/office/drawing/2014/main" id="{C1484ACF-4B23-5B84-5438-384F208EE660}"/>
              </a:ext>
            </a:extLst>
          </p:cNvPr>
          <p:cNvSpPr txBox="1"/>
          <p:nvPr/>
        </p:nvSpPr>
        <p:spPr>
          <a:xfrm>
            <a:off x="-23642" y="2034157"/>
            <a:ext cx="9072500" cy="3970318"/>
          </a:xfrm>
          <a:prstGeom prst="rect">
            <a:avLst/>
          </a:prstGeom>
          <a:noFill/>
          <a:ln w="25400">
            <a:noFill/>
          </a:ln>
        </p:spPr>
        <p:txBody>
          <a:bodyPr wrap="square">
            <a:spAutoFit/>
          </a:bodyPr>
          <a:lstStyle/>
          <a:p>
            <a:pPr>
              <a:spcBef>
                <a:spcPts val="900"/>
              </a:spcBef>
              <a:spcAft>
                <a:spcPts val="900"/>
              </a:spcAft>
            </a:pPr>
            <a:r>
              <a:rPr lang="en-US" altLang="zh-CN" sz="2400" dirty="0">
                <a:solidFill>
                  <a:srgbClr val="006699"/>
                </a:solidFill>
                <a:latin typeface="Verdana" panose="020B0604030504040204" pitchFamily="34" charset="0"/>
              </a:rPr>
              <a:t>①</a:t>
            </a:r>
            <a:r>
              <a:rPr lang="en-US" altLang="zh-CN" sz="2400" dirty="0" err="1">
                <a:solidFill>
                  <a:srgbClr val="006699"/>
                </a:solidFill>
                <a:latin typeface="Verdana" panose="020B0604030504040204" pitchFamily="34" charset="0"/>
              </a:rPr>
              <a:t>赋初值:试验次数n</a:t>
            </a:r>
            <a:r>
              <a:rPr lang="en-US" altLang="zh-CN" sz="2400" dirty="0">
                <a:solidFill>
                  <a:srgbClr val="006699"/>
                </a:solidFill>
                <a:latin typeface="Verdana" panose="020B0604030504040204" pitchFamily="34" charset="0"/>
              </a:rPr>
              <a:t>=0,成功次数m=0;规定随机投点试验的总次数N;</a:t>
            </a:r>
            <a:endParaRPr lang="zh-CN" altLang="zh-CN" sz="2400" dirty="0">
              <a:solidFill>
                <a:srgbClr val="006699"/>
              </a:solidFill>
              <a:latin typeface="Verdana" panose="020B0604030504040204" pitchFamily="34" charset="0"/>
            </a:endParaRPr>
          </a:p>
          <a:p>
            <a:pPr>
              <a:spcBef>
                <a:spcPts val="900"/>
              </a:spcBef>
              <a:spcAft>
                <a:spcPts val="900"/>
              </a:spcAft>
            </a:pPr>
            <a:r>
              <a:rPr lang="en-US" altLang="zh-CN" sz="2400" dirty="0">
                <a:solidFill>
                  <a:srgbClr val="006699"/>
                </a:solidFill>
                <a:latin typeface="Verdana" panose="020B0604030504040204" pitchFamily="34" charset="0"/>
              </a:rPr>
              <a:t>②向k+1维立方体{0≤xi≤1(</a:t>
            </a:r>
            <a:r>
              <a:rPr lang="en-US" altLang="zh-CN" sz="2400" dirty="0" err="1">
                <a:solidFill>
                  <a:srgbClr val="006699"/>
                </a:solidFill>
                <a:latin typeface="Verdana" panose="020B0604030504040204" pitchFamily="34" charset="0"/>
              </a:rPr>
              <a:t>i</a:t>
            </a:r>
            <a:r>
              <a:rPr lang="en-US" altLang="zh-CN" sz="2400" dirty="0">
                <a:solidFill>
                  <a:srgbClr val="006699"/>
                </a:solidFill>
                <a:latin typeface="Verdana" panose="020B0604030504040204" pitchFamily="34" charset="0"/>
              </a:rPr>
              <a:t>=1,…,k),0≤y≤1}内随机投点,即产生k+1个相互独立的均匀随机数ξ=(ξ1,…,</a:t>
            </a:r>
            <a:r>
              <a:rPr lang="en-US" altLang="zh-CN" sz="2400" dirty="0" err="1">
                <a:solidFill>
                  <a:srgbClr val="006699"/>
                </a:solidFill>
                <a:latin typeface="Verdana" panose="020B0604030504040204" pitchFamily="34" charset="0"/>
              </a:rPr>
              <a:t>ξk,η</a:t>
            </a:r>
            <a:r>
              <a:rPr lang="en-US" altLang="zh-CN" sz="2400" dirty="0">
                <a:solidFill>
                  <a:srgbClr val="006699"/>
                </a:solidFill>
                <a:latin typeface="Verdana" panose="020B0604030504040204" pitchFamily="34" charset="0"/>
              </a:rPr>
              <a:t>), </a:t>
            </a:r>
            <a:r>
              <a:rPr lang="en-US" altLang="zh-CN" sz="2400" dirty="0" err="1">
                <a:solidFill>
                  <a:srgbClr val="006699"/>
                </a:solidFill>
                <a:latin typeface="Verdana" panose="020B0604030504040204" pitchFamily="34" charset="0"/>
              </a:rPr>
              <a:t>置n</a:t>
            </a:r>
            <a:r>
              <a:rPr lang="en-US" altLang="zh-CN" sz="2400" dirty="0">
                <a:solidFill>
                  <a:srgbClr val="006699"/>
                </a:solidFill>
                <a:latin typeface="Verdana" panose="020B0604030504040204" pitchFamily="34" charset="0"/>
              </a:rPr>
              <a:t>=n+1;</a:t>
            </a:r>
            <a:endParaRPr lang="zh-CN" altLang="zh-CN" sz="2400" dirty="0">
              <a:solidFill>
                <a:srgbClr val="006699"/>
              </a:solidFill>
              <a:latin typeface="Verdana" panose="020B0604030504040204" pitchFamily="34" charset="0"/>
            </a:endParaRPr>
          </a:p>
          <a:p>
            <a:pPr>
              <a:spcBef>
                <a:spcPts val="900"/>
              </a:spcBef>
              <a:spcAft>
                <a:spcPts val="900"/>
              </a:spcAft>
            </a:pPr>
            <a:r>
              <a:rPr lang="en-US" altLang="zh-CN" sz="2400" dirty="0">
                <a:solidFill>
                  <a:srgbClr val="006699"/>
                </a:solidFill>
                <a:latin typeface="Verdana" panose="020B0604030504040204" pitchFamily="34" charset="0"/>
              </a:rPr>
              <a:t>③</a:t>
            </a:r>
            <a:r>
              <a:rPr lang="en-US" altLang="zh-CN" sz="2400" dirty="0" err="1">
                <a:solidFill>
                  <a:srgbClr val="006699"/>
                </a:solidFill>
                <a:latin typeface="Verdana" panose="020B0604030504040204" pitchFamily="34" charset="0"/>
              </a:rPr>
              <a:t>判断n≤N是否成立,若成立则转</a:t>
            </a:r>
            <a:r>
              <a:rPr lang="en-US" altLang="zh-CN" sz="2400" dirty="0">
                <a:solidFill>
                  <a:srgbClr val="006699"/>
                </a:solidFill>
                <a:latin typeface="Verdana" panose="020B0604030504040204" pitchFamily="34" charset="0"/>
              </a:rPr>
              <a:t>④;</a:t>
            </a:r>
            <a:r>
              <a:rPr lang="en-US" altLang="zh-CN" sz="2400" dirty="0" err="1">
                <a:solidFill>
                  <a:srgbClr val="006699"/>
                </a:solidFill>
                <a:latin typeface="Verdana" panose="020B0604030504040204" pitchFamily="34" charset="0"/>
              </a:rPr>
              <a:t>否则停止模拟试验,然后转</a:t>
            </a:r>
            <a:r>
              <a:rPr lang="en-US" altLang="zh-CN" sz="2400" dirty="0">
                <a:solidFill>
                  <a:srgbClr val="006699"/>
                </a:solidFill>
                <a:latin typeface="Verdana" panose="020B0604030504040204" pitchFamily="34" charset="0"/>
              </a:rPr>
              <a:t>⑤;</a:t>
            </a:r>
            <a:endParaRPr lang="zh-CN" altLang="zh-CN" sz="2400" dirty="0">
              <a:solidFill>
                <a:srgbClr val="006699"/>
              </a:solidFill>
              <a:latin typeface="Verdana" panose="020B0604030504040204" pitchFamily="34" charset="0"/>
            </a:endParaRPr>
          </a:p>
          <a:p>
            <a:pPr>
              <a:spcBef>
                <a:spcPts val="900"/>
              </a:spcBef>
              <a:spcAft>
                <a:spcPts val="900"/>
              </a:spcAft>
            </a:pPr>
            <a:r>
              <a:rPr lang="en-US" altLang="zh-CN" sz="2400" dirty="0">
                <a:solidFill>
                  <a:srgbClr val="006699"/>
                </a:solidFill>
                <a:latin typeface="Verdana" panose="020B0604030504040204" pitchFamily="34" charset="0"/>
              </a:rPr>
              <a:t>④检验k+1维空间的点ξ是否落入V中,即检验条件η≤f(ξ1,…,</a:t>
            </a:r>
            <a:r>
              <a:rPr lang="en-US" altLang="zh-CN" sz="2400" dirty="0" err="1">
                <a:solidFill>
                  <a:srgbClr val="006699"/>
                </a:solidFill>
                <a:latin typeface="Verdana" panose="020B0604030504040204" pitchFamily="34" charset="0"/>
              </a:rPr>
              <a:t>ξk</a:t>
            </a:r>
            <a:r>
              <a:rPr lang="en-US" altLang="zh-CN" sz="2400" dirty="0">
                <a:solidFill>
                  <a:srgbClr val="006699"/>
                </a:solidFill>
                <a:latin typeface="Verdana" panose="020B0604030504040204" pitchFamily="34" charset="0"/>
              </a:rPr>
              <a:t>)</a:t>
            </a:r>
            <a:r>
              <a:rPr lang="en-US" altLang="zh-CN" sz="2400" dirty="0" err="1">
                <a:solidFill>
                  <a:srgbClr val="006699"/>
                </a:solidFill>
                <a:latin typeface="Verdana" panose="020B0604030504040204" pitchFamily="34" charset="0"/>
              </a:rPr>
              <a:t>是否成立,若成立即试验成功,置m</a:t>
            </a:r>
            <a:r>
              <a:rPr lang="en-US" altLang="zh-CN" sz="2400" dirty="0">
                <a:solidFill>
                  <a:srgbClr val="006699"/>
                </a:solidFill>
                <a:latin typeface="Verdana" panose="020B0604030504040204" pitchFamily="34" charset="0"/>
              </a:rPr>
              <a:t>=m+1,然后转②;</a:t>
            </a:r>
            <a:r>
              <a:rPr lang="en-US" altLang="zh-CN" sz="2400" dirty="0" err="1">
                <a:solidFill>
                  <a:srgbClr val="006699"/>
                </a:solidFill>
                <a:latin typeface="Verdana" panose="020B0604030504040204" pitchFamily="34" charset="0"/>
              </a:rPr>
              <a:t>否则转</a:t>
            </a:r>
            <a:r>
              <a:rPr lang="en-US" altLang="zh-CN" sz="2400" dirty="0">
                <a:solidFill>
                  <a:srgbClr val="006699"/>
                </a:solidFill>
                <a:latin typeface="Verdana" panose="020B0604030504040204" pitchFamily="34" charset="0"/>
              </a:rPr>
              <a:t>②;</a:t>
            </a:r>
            <a:endParaRPr lang="zh-CN" altLang="zh-CN" sz="2400" dirty="0">
              <a:solidFill>
                <a:srgbClr val="006699"/>
              </a:solidFill>
              <a:latin typeface="Verdana" panose="020B0604030504040204" pitchFamily="34" charset="0"/>
            </a:endParaRPr>
          </a:p>
          <a:p>
            <a:pPr>
              <a:spcBef>
                <a:spcPts val="900"/>
              </a:spcBef>
              <a:spcAft>
                <a:spcPts val="900"/>
              </a:spcAft>
            </a:pPr>
            <a:r>
              <a:rPr lang="en-US" altLang="zh-CN" sz="2400" dirty="0">
                <a:solidFill>
                  <a:srgbClr val="006699"/>
                </a:solidFill>
                <a:latin typeface="Verdana" panose="020B0604030504040204" pitchFamily="34" charset="0"/>
              </a:rPr>
              <a:t>⑤计算θ1=m/N, </a:t>
            </a:r>
            <a:r>
              <a:rPr lang="en-US" altLang="zh-CN" sz="2400" dirty="0" err="1">
                <a:solidFill>
                  <a:srgbClr val="006699"/>
                </a:solidFill>
                <a:latin typeface="Verdana" panose="020B0604030504040204" pitchFamily="34" charset="0"/>
              </a:rPr>
              <a:t>其中m是N次试验中成功的总次数,则I</a:t>
            </a:r>
            <a:r>
              <a:rPr lang="en-US" altLang="zh-CN" sz="2400" dirty="0">
                <a:solidFill>
                  <a:srgbClr val="006699"/>
                </a:solidFill>
                <a:latin typeface="Verdana" panose="020B0604030504040204" pitchFamily="34" charset="0"/>
              </a:rPr>
              <a:t>=θ1</a:t>
            </a:r>
            <a:endParaRPr lang="zh-CN" altLang="zh-CN" sz="24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37767033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3.2.4 </a:t>
            </a:r>
            <a:r>
              <a:rPr lang="zh-CN" altLang="en-US" dirty="0"/>
              <a:t>高维定积分</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0" y="1043735"/>
            <a:ext cx="9159875"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计算</a:t>
            </a:r>
            <a:r>
              <a:rPr lang="en-US" altLang="zh-CN" sz="3200" dirty="0">
                <a:solidFill>
                  <a:srgbClr val="006699"/>
                </a:solidFill>
                <a:latin typeface="Verdana" panose="020B0604030504040204" pitchFamily="34" charset="0"/>
              </a:rPr>
              <a:t>d</a:t>
            </a:r>
            <a:r>
              <a:rPr lang="zh-CN" altLang="en-US" sz="3200" dirty="0">
                <a:solidFill>
                  <a:srgbClr val="006699"/>
                </a:solidFill>
                <a:latin typeface="Verdana" panose="020B0604030504040204" pitchFamily="34" charset="0"/>
              </a:rPr>
              <a:t>维定积分</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en-US" altLang="zh-CN" sz="3200" b="1" dirty="0">
                <a:solidFill>
                  <a:srgbClr val="FF0000"/>
                </a:solidFill>
                <a:latin typeface="Verdana" panose="020B0604030504040204" pitchFamily="34" charset="0"/>
              </a:rPr>
              <a:t>2</a:t>
            </a:r>
            <a:r>
              <a:rPr lang="zh-CN" altLang="en-US" sz="3200" b="1" dirty="0">
                <a:solidFill>
                  <a:srgbClr val="FF0000"/>
                </a:solidFill>
                <a:latin typeface="Verdana" panose="020B0604030504040204" pitchFamily="34" charset="0"/>
              </a:rPr>
              <a:t>平均值法</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设</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则</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52</a:t>
            </a:fld>
            <a:endParaRPr lang="zh-CN" altLang="en-US">
              <a:solidFill>
                <a:srgbClr val="898989"/>
              </a:solidFill>
            </a:endParaRPr>
          </a:p>
        </p:txBody>
      </p:sp>
      <p:pic>
        <p:nvPicPr>
          <p:cNvPr id="4" name="图片 3">
            <a:extLst>
              <a:ext uri="{FF2B5EF4-FFF2-40B4-BE49-F238E27FC236}">
                <a16:creationId xmlns:a16="http://schemas.microsoft.com/office/drawing/2014/main" id="{1327EE8E-0F60-4AE3-B940-42AA083BBE27}"/>
              </a:ext>
            </a:extLst>
          </p:cNvPr>
          <p:cNvPicPr>
            <a:picLocks noChangeAspect="1"/>
          </p:cNvPicPr>
          <p:nvPr/>
        </p:nvPicPr>
        <p:blipFill>
          <a:blip r:embed="rId2"/>
          <a:stretch>
            <a:fillRect/>
          </a:stretch>
        </p:blipFill>
        <p:spPr>
          <a:xfrm>
            <a:off x="1421650" y="1736505"/>
            <a:ext cx="5666702" cy="799378"/>
          </a:xfrm>
          <a:prstGeom prst="rect">
            <a:avLst/>
          </a:prstGeom>
        </p:spPr>
      </p:pic>
      <p:sp>
        <p:nvSpPr>
          <p:cNvPr id="14" name="文本框 13">
            <a:extLst>
              <a:ext uri="{FF2B5EF4-FFF2-40B4-BE49-F238E27FC236}">
                <a16:creationId xmlns:a16="http://schemas.microsoft.com/office/drawing/2014/main" id="{03CC42FA-4E06-4A5A-BBE2-423FD4025F37}"/>
              </a:ext>
            </a:extLst>
          </p:cNvPr>
          <p:cNvSpPr txBox="1"/>
          <p:nvPr/>
        </p:nvSpPr>
        <p:spPr>
          <a:xfrm>
            <a:off x="7270002" y="1886432"/>
            <a:ext cx="1889873"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(11.19)</a:t>
            </a:r>
            <a:endParaRPr lang="zh-CN" altLang="en-US" dirty="0"/>
          </a:p>
        </p:txBody>
      </p:sp>
      <p:sp>
        <p:nvSpPr>
          <p:cNvPr id="9" name="矩形 2">
            <a:extLst>
              <a:ext uri="{FF2B5EF4-FFF2-40B4-BE49-F238E27FC236}">
                <a16:creationId xmlns:a16="http://schemas.microsoft.com/office/drawing/2014/main" id="{A3C9E0D7-35BA-455E-9D8F-F2EAF3A7F71C}"/>
              </a:ext>
            </a:extLst>
          </p:cNvPr>
          <p:cNvSpPr>
            <a:spLocks noChangeArrowheads="1"/>
          </p:cNvSpPr>
          <p:nvPr/>
        </p:nvSpPr>
        <p:spPr bwMode="auto">
          <a:xfrm>
            <a:off x="-15875" y="5545588"/>
            <a:ext cx="91598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是</a:t>
            </a:r>
            <a:r>
              <a:rPr lang="en-US" altLang="zh-CN" sz="3200" dirty="0">
                <a:solidFill>
                  <a:srgbClr val="006699"/>
                </a:solidFill>
                <a:latin typeface="Verdana" panose="020B0604030504040204" pitchFamily="34" charset="0"/>
              </a:rPr>
              <a:t>iid</a:t>
            </a:r>
            <a:r>
              <a:rPr lang="zh-CN" altLang="en-US" sz="3200" dirty="0">
                <a:solidFill>
                  <a:srgbClr val="006699"/>
                </a:solidFill>
                <a:latin typeface="Verdana" panose="020B0604030504040204" pitchFamily="34" charset="0"/>
              </a:rPr>
              <a:t>随机变量列</a:t>
            </a:r>
            <a:endParaRPr lang="en-US" altLang="zh-CN" sz="3200" dirty="0">
              <a:solidFill>
                <a:srgbClr val="006699"/>
              </a:solidFill>
              <a:latin typeface="Verdana" panose="020B0604030504040204" pitchFamily="34" charset="0"/>
            </a:endParaRPr>
          </a:p>
        </p:txBody>
      </p:sp>
      <p:pic>
        <p:nvPicPr>
          <p:cNvPr id="5" name="图片 4">
            <a:extLst>
              <a:ext uri="{FF2B5EF4-FFF2-40B4-BE49-F238E27FC236}">
                <a16:creationId xmlns:a16="http://schemas.microsoft.com/office/drawing/2014/main" id="{383BADA6-43B6-498F-817E-4CB2DD09FAAA}"/>
              </a:ext>
            </a:extLst>
          </p:cNvPr>
          <p:cNvPicPr>
            <a:picLocks noChangeAspect="1"/>
          </p:cNvPicPr>
          <p:nvPr/>
        </p:nvPicPr>
        <p:blipFill>
          <a:blip r:embed="rId3"/>
          <a:stretch>
            <a:fillRect/>
          </a:stretch>
        </p:blipFill>
        <p:spPr>
          <a:xfrm>
            <a:off x="815760" y="3494731"/>
            <a:ext cx="4073147" cy="520358"/>
          </a:xfrm>
          <a:prstGeom prst="rect">
            <a:avLst/>
          </a:prstGeom>
        </p:spPr>
      </p:pic>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466F3816-7B07-4B49-B72A-EC5333258D50}"/>
                  </a:ext>
                </a:extLst>
              </p:cNvPr>
              <p:cNvSpPr txBox="1"/>
              <p:nvPr/>
            </p:nvSpPr>
            <p:spPr>
              <a:xfrm>
                <a:off x="198375" y="4616913"/>
                <a:ext cx="4690532"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h</m:t>
                      </m:r>
                      <m:d>
                        <m:dPr>
                          <m:ctrlPr>
                            <a:rPr lang="zh-CN" altLang="en-US" sz="3200" i="1">
                              <a:latin typeface="Cambria Math" panose="02040503050406030204" pitchFamily="18" charset="0"/>
                            </a:rPr>
                          </m:ctrlPr>
                        </m:dPr>
                        <m:e>
                          <m:sSub>
                            <m:sSubPr>
                              <m:ctrlPr>
                                <a:rPr lang="zh-CN" altLang="en-US" sz="3200" i="1">
                                  <a:solidFill>
                                    <a:srgbClr val="836967"/>
                                  </a:solidFill>
                                  <a:latin typeface="Cambria Math" panose="02040503050406030204" pitchFamily="18" charset="0"/>
                                </a:rPr>
                              </m:ctrlPr>
                            </m:sSubPr>
                            <m:e>
                              <m:r>
                                <a:rPr lang="zh-CN" altLang="en-US" sz="3200" b="1" i="0">
                                  <a:latin typeface="Cambria Math" panose="02040503050406030204" pitchFamily="18" charset="0"/>
                                </a:rPr>
                                <m:t>𝐔</m:t>
                              </m:r>
                            </m:e>
                            <m:sub>
                              <m:r>
                                <a:rPr lang="zh-CN" altLang="en-US" sz="3200" b="0" i="1">
                                  <a:latin typeface="Cambria Math" panose="02040503050406030204" pitchFamily="18" charset="0"/>
                                </a:rPr>
                                <m:t>𝑖</m:t>
                              </m:r>
                            </m:sub>
                          </m:sSub>
                        </m:e>
                      </m:d>
                      <m:r>
                        <a:rPr lang="zh-CN" altLang="en-US" sz="3200" b="0" i="0">
                          <a:latin typeface="Cambria Math" panose="02040503050406030204" pitchFamily="18" charset="0"/>
                        </a:rPr>
                        <m:t>,</m:t>
                      </m:r>
                      <m:r>
                        <a:rPr lang="zh-CN" altLang="en-US" sz="3200" b="0" i="1">
                          <a:latin typeface="Cambria Math" panose="02040503050406030204" pitchFamily="18" charset="0"/>
                        </a:rPr>
                        <m:t>𝑖</m:t>
                      </m:r>
                      <m:r>
                        <a:rPr lang="zh-CN" altLang="en-US" sz="3200" b="0" i="0">
                          <a:latin typeface="Cambria Math" panose="02040503050406030204" pitchFamily="18" charset="0"/>
                        </a:rPr>
                        <m:t>=1,2,…,</m:t>
                      </m:r>
                      <m:r>
                        <a:rPr lang="zh-CN" altLang="en-US" sz="3200" b="0" i="1">
                          <a:latin typeface="Cambria Math" panose="02040503050406030204" pitchFamily="18" charset="0"/>
                        </a:rPr>
                        <m:t>𝑁</m:t>
                      </m:r>
                    </m:oMath>
                  </m:oMathPara>
                </a14:m>
                <a:endParaRPr lang="zh-CN" altLang="en-US" sz="2000" dirty="0"/>
              </a:p>
            </p:txBody>
          </p:sp>
        </mc:Choice>
        <mc:Fallback xmlns="">
          <p:sp>
            <p:nvSpPr>
              <p:cNvPr id="17" name="文本框 16">
                <a:extLst>
                  <a:ext uri="{FF2B5EF4-FFF2-40B4-BE49-F238E27FC236}">
                    <a16:creationId xmlns:a16="http://schemas.microsoft.com/office/drawing/2014/main" id="{466F3816-7B07-4B49-B72A-EC5333258D50}"/>
                  </a:ext>
                </a:extLst>
              </p:cNvPr>
              <p:cNvSpPr txBox="1">
                <a:spLocks noRot="1" noChangeAspect="1" noMove="1" noResize="1" noEditPoints="1" noAdjustHandles="1" noChangeArrowheads="1" noChangeShapeType="1" noTextEdit="1"/>
              </p:cNvSpPr>
              <p:nvPr/>
            </p:nvSpPr>
            <p:spPr>
              <a:xfrm>
                <a:off x="198375" y="4616913"/>
                <a:ext cx="4690532" cy="584775"/>
              </a:xfrm>
              <a:prstGeom prst="rect">
                <a:avLst/>
              </a:prstGeom>
              <a:blipFill>
                <a:blip r:embed="rId4"/>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3889254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3.2.4 </a:t>
            </a:r>
            <a:r>
              <a:rPr lang="zh-CN" altLang="en-US" dirty="0"/>
              <a:t>高维定积分</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74157" y="1043731"/>
            <a:ext cx="9159875" cy="176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期望</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53</a:t>
            </a:fld>
            <a:endParaRPr lang="zh-CN" altLang="en-US">
              <a:solidFill>
                <a:srgbClr val="898989"/>
              </a:solidFill>
            </a:endParaRPr>
          </a:p>
        </p:txBody>
      </p:sp>
      <p:sp>
        <p:nvSpPr>
          <p:cNvPr id="14" name="文本框 13">
            <a:extLst>
              <a:ext uri="{FF2B5EF4-FFF2-40B4-BE49-F238E27FC236}">
                <a16:creationId xmlns:a16="http://schemas.microsoft.com/office/drawing/2014/main" id="{03CC42FA-4E06-4A5A-BBE2-423FD4025F37}"/>
              </a:ext>
            </a:extLst>
          </p:cNvPr>
          <p:cNvSpPr txBox="1"/>
          <p:nvPr/>
        </p:nvSpPr>
        <p:spPr>
          <a:xfrm>
            <a:off x="7254127" y="4473456"/>
            <a:ext cx="1889873"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(11.22)</a:t>
            </a:r>
            <a:endParaRPr lang="zh-CN" altLang="en-US" dirty="0"/>
          </a:p>
        </p:txBody>
      </p:sp>
      <p:sp>
        <p:nvSpPr>
          <p:cNvPr id="9" name="矩形 2">
            <a:extLst>
              <a:ext uri="{FF2B5EF4-FFF2-40B4-BE49-F238E27FC236}">
                <a16:creationId xmlns:a16="http://schemas.microsoft.com/office/drawing/2014/main" id="{A3C9E0D7-35BA-455E-9D8F-F2EAF3A7F71C}"/>
              </a:ext>
            </a:extLst>
          </p:cNvPr>
          <p:cNvSpPr>
            <a:spLocks noChangeArrowheads="1"/>
          </p:cNvSpPr>
          <p:nvPr/>
        </p:nvSpPr>
        <p:spPr bwMode="auto">
          <a:xfrm>
            <a:off x="161510" y="3140412"/>
            <a:ext cx="91598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I</a:t>
            </a:r>
            <a:r>
              <a:rPr lang="zh-CN" altLang="en-US" sz="3200" dirty="0">
                <a:solidFill>
                  <a:srgbClr val="006699"/>
                </a:solidFill>
                <a:latin typeface="Verdana" panose="020B0604030504040204" pitchFamily="34" charset="0"/>
              </a:rPr>
              <a:t>估计为</a:t>
            </a:r>
            <a:endParaRPr lang="en-US" altLang="zh-CN"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8A2FC28-B71C-45D0-8C3B-1E72C0B786B7}"/>
                  </a:ext>
                </a:extLst>
              </p:cNvPr>
              <p:cNvSpPr txBox="1"/>
              <p:nvPr/>
            </p:nvSpPr>
            <p:spPr>
              <a:xfrm>
                <a:off x="341008" y="1676252"/>
                <a:ext cx="7515834" cy="1299138"/>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𝐸h</m:t>
                      </m:r>
                      <m:d>
                        <m:dPr>
                          <m:ctrlPr>
                            <a:rPr lang="zh-CN" altLang="en-US" sz="2400" i="1">
                              <a:latin typeface="Cambria Math" panose="02040503050406030204" pitchFamily="18" charset="0"/>
                            </a:rPr>
                          </m:ctrlPr>
                        </m:dPr>
                        <m:e>
                          <m:sSub>
                            <m:sSubPr>
                              <m:ctrlPr>
                                <a:rPr lang="zh-CN" altLang="en-US" sz="2400" i="1">
                                  <a:solidFill>
                                    <a:srgbClr val="836967"/>
                                  </a:solidFill>
                                  <a:latin typeface="Cambria Math" panose="02040503050406030204" pitchFamily="18" charset="0"/>
                                </a:rPr>
                              </m:ctrlPr>
                            </m:sSubPr>
                            <m:e>
                              <m:r>
                                <a:rPr lang="zh-CN" altLang="en-US" sz="2400" b="1" i="0">
                                  <a:latin typeface="Cambria Math" panose="02040503050406030204" pitchFamily="18" charset="0"/>
                                </a:rPr>
                                <m:t>𝐔</m:t>
                              </m:r>
                            </m:e>
                            <m:sub>
                              <m:r>
                                <a:rPr lang="zh-CN" altLang="en-US" sz="2400" b="0" i="1">
                                  <a:latin typeface="Cambria Math" panose="02040503050406030204" pitchFamily="18" charset="0"/>
                                </a:rPr>
                                <m:t>𝑖</m:t>
                              </m:r>
                            </m:sub>
                          </m:sSub>
                        </m:e>
                      </m:d>
                      <m:r>
                        <a:rPr lang="zh-CN" altLang="en-US" sz="2400" b="0" i="0">
                          <a:latin typeface="Cambria Math" panose="02040503050406030204" pitchFamily="18" charset="0"/>
                        </a:rPr>
                        <m:t>=</m:t>
                      </m:r>
                      <m:nary>
                        <m:naryPr>
                          <m:limLoc m:val="subSup"/>
                          <m:grow m:val="on"/>
                          <m:supHide m:val="on"/>
                          <m:ctrlPr>
                            <a:rPr lang="zh-CN" altLang="en-US" sz="2400" b="0" i="1">
                              <a:latin typeface="Cambria Math" panose="02040503050406030204" pitchFamily="18" charset="0"/>
                            </a:rPr>
                          </m:ctrlPr>
                        </m:naryPr>
                        <m:sub>
                          <m:r>
                            <a:rPr lang="zh-CN" altLang="en-US" sz="2400" b="0" i="1">
                              <a:latin typeface="Cambria Math" panose="02040503050406030204" pitchFamily="18" charset="0"/>
                            </a:rPr>
                            <m:t>𝐶</m:t>
                          </m:r>
                        </m:sub>
                        <m:sup/>
                        <m:e>
                          <m:r>
                            <a:rPr lang="zh-CN" altLang="en-US" sz="2400" b="0" i="1">
                              <a:latin typeface="Cambria Math" panose="02040503050406030204" pitchFamily="18" charset="0"/>
                            </a:rPr>
                            <m:t>h</m:t>
                          </m:r>
                        </m:e>
                      </m:nary>
                      <m:d>
                        <m:dPr>
                          <m:ctrlPr>
                            <a:rPr lang="zh-CN" altLang="en-US" sz="2400" b="0" i="1">
                              <a:latin typeface="Cambria Math" panose="02040503050406030204" pitchFamily="18" charset="0"/>
                            </a:rPr>
                          </m:ctrlPr>
                        </m:dPr>
                        <m:e>
                          <m:r>
                            <a:rPr lang="zh-CN" altLang="en-US" sz="2400" b="1" i="0">
                              <a:latin typeface="Cambria Math" panose="02040503050406030204" pitchFamily="18" charset="0"/>
                            </a:rPr>
                            <m:t>𝐮</m:t>
                          </m:r>
                        </m:e>
                      </m:d>
                      <m:f>
                        <m:fPr>
                          <m:ctrlPr>
                            <a:rPr lang="zh-CN" altLang="en-US" sz="2400" b="0" i="1">
                              <a:solidFill>
                                <a:srgbClr val="836967"/>
                              </a:solidFill>
                              <a:latin typeface="Cambria Math" panose="02040503050406030204" pitchFamily="18" charset="0"/>
                            </a:rPr>
                          </m:ctrlPr>
                        </m:fPr>
                        <m:num>
                          <m:r>
                            <a:rPr lang="zh-CN" altLang="en-US" sz="2400" b="0" i="0">
                              <a:latin typeface="Cambria Math" panose="02040503050406030204" pitchFamily="18" charset="0"/>
                            </a:rPr>
                            <m:t>1</m:t>
                          </m:r>
                        </m:num>
                        <m:den>
                          <m:nary>
                            <m:naryPr>
                              <m:chr m:val="∏"/>
                              <m:limLoc m:val="undOvr"/>
                              <m:grow m:val="on"/>
                              <m:ctrlPr>
                                <a:rPr lang="zh-CN" altLang="en-US" sz="2400" b="0" i="1">
                                  <a:latin typeface="Cambria Math" panose="02040503050406030204" pitchFamily="18" charset="0"/>
                                </a:rPr>
                              </m:ctrlPr>
                            </m:naryPr>
                            <m:sub>
                              <m:r>
                                <a:rPr lang="zh-CN" altLang="en-US" sz="2400" b="0" i="1">
                                  <a:latin typeface="Cambria Math" panose="02040503050406030204" pitchFamily="18" charset="0"/>
                                </a:rPr>
                                <m:t>𝑗</m:t>
                              </m:r>
                              <m:r>
                                <a:rPr lang="zh-CN" altLang="en-US" sz="2400" b="0" i="0">
                                  <a:latin typeface="Cambria Math" panose="02040503050406030204" pitchFamily="18" charset="0"/>
                                </a:rPr>
                                <m:t>=1</m:t>
                              </m:r>
                            </m:sub>
                            <m:sup>
                              <m:r>
                                <a:rPr lang="zh-CN" altLang="en-US" sz="2400" b="0" i="1">
                                  <a:latin typeface="Cambria Math" panose="02040503050406030204" pitchFamily="18" charset="0"/>
                                </a:rPr>
                                <m:t>𝑑</m:t>
                              </m:r>
                            </m:sup>
                            <m:e>
                              <m:d>
                                <m:dPr>
                                  <m:ctrlPr>
                                    <a:rPr lang="zh-CN" altLang="en-US" sz="2400" b="0" i="1">
                                      <a:latin typeface="Cambria Math" panose="02040503050406030204" pitchFamily="18" charset="0"/>
                                    </a:rPr>
                                  </m:ctrlPr>
                                </m:dPr>
                                <m:e>
                                  <m:sSub>
                                    <m:sSubPr>
                                      <m:ctrlPr>
                                        <a:rPr lang="zh-CN" altLang="en-US" sz="2400" b="0" i="1">
                                          <a:solidFill>
                                            <a:srgbClr val="836967"/>
                                          </a:solidFill>
                                          <a:latin typeface="Cambria Math" panose="02040503050406030204" pitchFamily="18" charset="0"/>
                                        </a:rPr>
                                      </m:ctrlPr>
                                    </m:sSubPr>
                                    <m:e>
                                      <m:r>
                                        <a:rPr lang="zh-CN" altLang="en-US" sz="2400" b="0" i="1">
                                          <a:latin typeface="Cambria Math" panose="02040503050406030204" pitchFamily="18" charset="0"/>
                                        </a:rPr>
                                        <m:t>𝑏</m:t>
                                      </m:r>
                                    </m:e>
                                    <m:sub>
                                      <m:r>
                                        <a:rPr lang="zh-CN" altLang="en-US" sz="2400" b="0" i="1">
                                          <a:latin typeface="Cambria Math" panose="02040503050406030204" pitchFamily="18" charset="0"/>
                                        </a:rPr>
                                        <m:t>𝑗</m:t>
                                      </m:r>
                                    </m:sub>
                                  </m:sSub>
                                  <m:r>
                                    <a:rPr lang="zh-CN" altLang="en-US" sz="2400" b="0" i="0">
                                      <a:latin typeface="Cambria Math" panose="02040503050406030204" pitchFamily="18" charset="0"/>
                                    </a:rPr>
                                    <m:t>−</m:t>
                                  </m:r>
                                  <m:sSub>
                                    <m:sSubPr>
                                      <m:ctrlPr>
                                        <a:rPr lang="zh-CN" altLang="en-US" sz="2400" b="0" i="1">
                                          <a:solidFill>
                                            <a:srgbClr val="836967"/>
                                          </a:solidFill>
                                          <a:latin typeface="Cambria Math" panose="02040503050406030204" pitchFamily="18" charset="0"/>
                                        </a:rPr>
                                      </m:ctrlPr>
                                    </m:sSubPr>
                                    <m:e>
                                      <m:r>
                                        <a:rPr lang="zh-CN" altLang="en-US" sz="2400" b="0" i="1">
                                          <a:latin typeface="Cambria Math" panose="02040503050406030204" pitchFamily="18" charset="0"/>
                                        </a:rPr>
                                        <m:t>𝑎</m:t>
                                      </m:r>
                                    </m:e>
                                    <m:sub>
                                      <m:r>
                                        <a:rPr lang="zh-CN" altLang="en-US" sz="2400" b="0" i="1">
                                          <a:latin typeface="Cambria Math" panose="02040503050406030204" pitchFamily="18" charset="0"/>
                                        </a:rPr>
                                        <m:t>𝑗</m:t>
                                      </m:r>
                                    </m:sub>
                                  </m:sSub>
                                </m:e>
                              </m:d>
                            </m:e>
                          </m:nary>
                        </m:den>
                      </m:f>
                      <m:r>
                        <a:rPr lang="zh-CN" altLang="en-US" sz="2400" b="0" i="1">
                          <a:latin typeface="Cambria Math" panose="02040503050406030204" pitchFamily="18" charset="0"/>
                        </a:rPr>
                        <m:t>𝑑</m:t>
                      </m:r>
                      <m:r>
                        <a:rPr lang="zh-CN" altLang="en-US" sz="2400" b="1" i="0">
                          <a:latin typeface="Cambria Math" panose="02040503050406030204" pitchFamily="18" charset="0"/>
                        </a:rPr>
                        <m:t>𝐮</m:t>
                      </m:r>
                      <m:r>
                        <a:rPr lang="zh-CN" altLang="en-US" sz="2400" b="0" i="0">
                          <a:latin typeface="Cambria Math" panose="02040503050406030204" pitchFamily="18" charset="0"/>
                        </a:rPr>
                        <m:t>=</m:t>
                      </m:r>
                      <m:f>
                        <m:fPr>
                          <m:ctrlPr>
                            <a:rPr lang="zh-CN" altLang="en-US" sz="2400" b="0" i="1">
                              <a:solidFill>
                                <a:srgbClr val="836967"/>
                              </a:solidFill>
                              <a:latin typeface="Cambria Math" panose="02040503050406030204" pitchFamily="18" charset="0"/>
                            </a:rPr>
                          </m:ctrlPr>
                        </m:fPr>
                        <m:num>
                          <m:r>
                            <a:rPr lang="zh-CN" altLang="en-US" sz="2400" b="0" i="1">
                              <a:latin typeface="Cambria Math" panose="02040503050406030204" pitchFamily="18" charset="0"/>
                            </a:rPr>
                            <m:t>𝐼</m:t>
                          </m:r>
                        </m:num>
                        <m:den>
                          <m:nary>
                            <m:naryPr>
                              <m:chr m:val="∏"/>
                              <m:limLoc m:val="undOvr"/>
                              <m:grow m:val="on"/>
                              <m:ctrlPr>
                                <a:rPr lang="zh-CN" altLang="en-US" sz="2400" b="0" i="1">
                                  <a:latin typeface="Cambria Math" panose="02040503050406030204" pitchFamily="18" charset="0"/>
                                </a:rPr>
                              </m:ctrlPr>
                            </m:naryPr>
                            <m:sub>
                              <m:r>
                                <a:rPr lang="zh-CN" altLang="en-US" sz="2400" b="0" i="1">
                                  <a:latin typeface="Cambria Math" panose="02040503050406030204" pitchFamily="18" charset="0"/>
                                </a:rPr>
                                <m:t>𝑗</m:t>
                              </m:r>
                              <m:r>
                                <a:rPr lang="zh-CN" altLang="en-US" sz="2400" b="0" i="0">
                                  <a:latin typeface="Cambria Math" panose="02040503050406030204" pitchFamily="18" charset="0"/>
                                </a:rPr>
                                <m:t>=1</m:t>
                              </m:r>
                            </m:sub>
                            <m:sup>
                              <m:r>
                                <a:rPr lang="zh-CN" altLang="en-US" sz="2400" b="0" i="1">
                                  <a:latin typeface="Cambria Math" panose="02040503050406030204" pitchFamily="18" charset="0"/>
                                </a:rPr>
                                <m:t>𝑑</m:t>
                              </m:r>
                            </m:sup>
                            <m:e>
                              <m:d>
                                <m:dPr>
                                  <m:ctrlPr>
                                    <a:rPr lang="zh-CN" altLang="en-US" sz="2400" b="0" i="1">
                                      <a:latin typeface="Cambria Math" panose="02040503050406030204" pitchFamily="18" charset="0"/>
                                    </a:rPr>
                                  </m:ctrlPr>
                                </m:dPr>
                                <m:e>
                                  <m:sSub>
                                    <m:sSubPr>
                                      <m:ctrlPr>
                                        <a:rPr lang="zh-CN" altLang="en-US" sz="2400" b="0" i="1">
                                          <a:solidFill>
                                            <a:srgbClr val="836967"/>
                                          </a:solidFill>
                                          <a:latin typeface="Cambria Math" panose="02040503050406030204" pitchFamily="18" charset="0"/>
                                        </a:rPr>
                                      </m:ctrlPr>
                                    </m:sSubPr>
                                    <m:e>
                                      <m:r>
                                        <a:rPr lang="zh-CN" altLang="en-US" sz="2400" b="0" i="1">
                                          <a:latin typeface="Cambria Math" panose="02040503050406030204" pitchFamily="18" charset="0"/>
                                        </a:rPr>
                                        <m:t>𝑏</m:t>
                                      </m:r>
                                    </m:e>
                                    <m:sub>
                                      <m:r>
                                        <a:rPr lang="zh-CN" altLang="en-US" sz="2400" b="0" i="1">
                                          <a:latin typeface="Cambria Math" panose="02040503050406030204" pitchFamily="18" charset="0"/>
                                        </a:rPr>
                                        <m:t>𝑗</m:t>
                                      </m:r>
                                    </m:sub>
                                  </m:sSub>
                                  <m:r>
                                    <a:rPr lang="zh-CN" altLang="en-US" sz="2400" b="0" i="0">
                                      <a:latin typeface="Cambria Math" panose="02040503050406030204" pitchFamily="18" charset="0"/>
                                    </a:rPr>
                                    <m:t>−</m:t>
                                  </m:r>
                                  <m:sSub>
                                    <m:sSubPr>
                                      <m:ctrlPr>
                                        <a:rPr lang="zh-CN" altLang="en-US" sz="2400" b="0" i="1">
                                          <a:solidFill>
                                            <a:srgbClr val="836967"/>
                                          </a:solidFill>
                                          <a:latin typeface="Cambria Math" panose="02040503050406030204" pitchFamily="18" charset="0"/>
                                        </a:rPr>
                                      </m:ctrlPr>
                                    </m:sSubPr>
                                    <m:e>
                                      <m:r>
                                        <a:rPr lang="zh-CN" altLang="en-US" sz="2400" b="0" i="1">
                                          <a:latin typeface="Cambria Math" panose="02040503050406030204" pitchFamily="18" charset="0"/>
                                        </a:rPr>
                                        <m:t>𝑎</m:t>
                                      </m:r>
                                    </m:e>
                                    <m:sub>
                                      <m:r>
                                        <a:rPr lang="zh-CN" altLang="en-US" sz="2400" b="0" i="1">
                                          <a:latin typeface="Cambria Math" panose="02040503050406030204" pitchFamily="18" charset="0"/>
                                        </a:rPr>
                                        <m:t>𝑗</m:t>
                                      </m:r>
                                    </m:sub>
                                  </m:sSub>
                                </m:e>
                              </m:d>
                            </m:e>
                          </m:nary>
                        </m:den>
                      </m:f>
                    </m:oMath>
                  </m:oMathPara>
                </a14:m>
                <a:endParaRPr lang="zh-CN" altLang="en-US" dirty="0"/>
              </a:p>
            </p:txBody>
          </p:sp>
        </mc:Choice>
        <mc:Fallback xmlns="">
          <p:sp>
            <p:nvSpPr>
              <p:cNvPr id="11" name="文本框 10">
                <a:extLst>
                  <a:ext uri="{FF2B5EF4-FFF2-40B4-BE49-F238E27FC236}">
                    <a16:creationId xmlns:a16="http://schemas.microsoft.com/office/drawing/2014/main" id="{08A2FC28-B71C-45D0-8C3B-1E72C0B786B7}"/>
                  </a:ext>
                </a:extLst>
              </p:cNvPr>
              <p:cNvSpPr txBox="1">
                <a:spLocks noRot="1" noChangeAspect="1" noMove="1" noResize="1" noEditPoints="1" noAdjustHandles="1" noChangeArrowheads="1" noChangeShapeType="1" noTextEdit="1"/>
              </p:cNvSpPr>
              <p:nvPr/>
            </p:nvSpPr>
            <p:spPr>
              <a:xfrm>
                <a:off x="341008" y="1676252"/>
                <a:ext cx="7515834" cy="1299138"/>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7F1313D7-92C7-4743-8A7E-08C609D9FDEE}"/>
                  </a:ext>
                </a:extLst>
              </p:cNvPr>
              <p:cNvSpPr txBox="1"/>
              <p:nvPr/>
            </p:nvSpPr>
            <p:spPr>
              <a:xfrm>
                <a:off x="1052622" y="4055231"/>
                <a:ext cx="5164758" cy="1361398"/>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800" i="1" smtClean="0">
                              <a:solidFill>
                                <a:srgbClr val="836967"/>
                              </a:solidFill>
                              <a:latin typeface="Cambria Math" panose="02040503050406030204" pitchFamily="18" charset="0"/>
                            </a:rPr>
                          </m:ctrlPr>
                        </m:sSubPr>
                        <m:e>
                          <m:acc>
                            <m:accPr>
                              <m:chr m:val="̂"/>
                              <m:ctrlPr>
                                <a:rPr lang="zh-CN" altLang="en-US" sz="2800" i="1">
                                  <a:solidFill>
                                    <a:srgbClr val="836967"/>
                                  </a:solidFill>
                                  <a:latin typeface="Cambria Math" panose="02040503050406030204" pitchFamily="18" charset="0"/>
                                </a:rPr>
                              </m:ctrlPr>
                            </m:accPr>
                            <m:e>
                              <m:r>
                                <a:rPr lang="zh-CN" altLang="en-US" sz="2800" i="1">
                                  <a:latin typeface="Cambria Math" panose="02040503050406030204" pitchFamily="18" charset="0"/>
                                </a:rPr>
                                <m:t>𝐼</m:t>
                              </m:r>
                            </m:e>
                          </m:acc>
                        </m:e>
                        <m:sub>
                          <m:r>
                            <a:rPr lang="zh-CN" altLang="en-US" sz="2800" i="0">
                              <a:latin typeface="Cambria Math" panose="02040503050406030204" pitchFamily="18" charset="0"/>
                            </a:rPr>
                            <m:t>2</m:t>
                          </m:r>
                        </m:sub>
                      </m:sSub>
                      <m:r>
                        <a:rPr lang="zh-CN" altLang="en-US" sz="2800" i="0">
                          <a:latin typeface="Cambria Math" panose="02040503050406030204" pitchFamily="18" charset="0"/>
                        </a:rPr>
                        <m:t>=</m:t>
                      </m:r>
                      <m:nary>
                        <m:naryPr>
                          <m:chr m:val="∏"/>
                          <m:limLoc m:val="undOvr"/>
                          <m:grow m:val="on"/>
                          <m:ctrlPr>
                            <a:rPr lang="zh-CN" altLang="en-US" sz="2800" i="1">
                              <a:latin typeface="Cambria Math" panose="02040503050406030204" pitchFamily="18" charset="0"/>
                            </a:rPr>
                          </m:ctrlPr>
                        </m:naryPr>
                        <m:sub>
                          <m:r>
                            <a:rPr lang="zh-CN" altLang="en-US" sz="2800" i="1">
                              <a:latin typeface="Cambria Math" panose="02040503050406030204" pitchFamily="18" charset="0"/>
                            </a:rPr>
                            <m:t>𝑗</m:t>
                          </m:r>
                          <m:r>
                            <a:rPr lang="zh-CN" altLang="en-US" sz="2800" i="0">
                              <a:latin typeface="Cambria Math" panose="02040503050406030204" pitchFamily="18" charset="0"/>
                            </a:rPr>
                            <m:t>=1</m:t>
                          </m:r>
                        </m:sub>
                        <m:sup>
                          <m:r>
                            <a:rPr lang="zh-CN" altLang="en-US" sz="2800" i="1">
                              <a:latin typeface="Cambria Math" panose="02040503050406030204" pitchFamily="18" charset="0"/>
                            </a:rPr>
                            <m:t>𝑑</m:t>
                          </m:r>
                        </m:sup>
                        <m:e>
                          <m:d>
                            <m:dPr>
                              <m:ctrlPr>
                                <a:rPr lang="zh-CN" altLang="en-US" sz="2800" i="1">
                                  <a:latin typeface="Cambria Math" panose="02040503050406030204" pitchFamily="18" charset="0"/>
                                </a:rPr>
                              </m:ctrlPr>
                            </m:dPr>
                            <m:e>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𝑏</m:t>
                                  </m:r>
                                </m:e>
                                <m:sub>
                                  <m:r>
                                    <a:rPr lang="zh-CN" altLang="en-US" sz="2800" i="1">
                                      <a:latin typeface="Cambria Math" panose="02040503050406030204" pitchFamily="18" charset="0"/>
                                    </a:rPr>
                                    <m:t>𝑗</m:t>
                                  </m:r>
                                </m:sub>
                              </m:sSub>
                              <m:r>
                                <a:rPr lang="zh-CN" altLang="en-US" sz="2800" i="0">
                                  <a:latin typeface="Cambria Math" panose="02040503050406030204" pitchFamily="18" charset="0"/>
                                </a:rPr>
                                <m:t>−</m:t>
                              </m:r>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𝑎</m:t>
                                  </m:r>
                                </m:e>
                                <m:sub>
                                  <m:r>
                                    <a:rPr lang="zh-CN" altLang="en-US" sz="2800" i="1">
                                      <a:latin typeface="Cambria Math" panose="02040503050406030204" pitchFamily="18" charset="0"/>
                                    </a:rPr>
                                    <m:t>𝑗</m:t>
                                  </m:r>
                                </m:sub>
                              </m:sSub>
                            </m:e>
                          </m:d>
                        </m:e>
                      </m:nary>
                      <m:r>
                        <a:rPr lang="zh-CN" altLang="en-US" sz="2800" i="0">
                          <a:latin typeface="Cambria Math" panose="02040503050406030204" pitchFamily="18" charset="0"/>
                        </a:rPr>
                        <m:t>⋅</m:t>
                      </m:r>
                      <m:f>
                        <m:fPr>
                          <m:ctrlPr>
                            <a:rPr lang="zh-CN" altLang="en-US" sz="2800" i="1">
                              <a:solidFill>
                                <a:srgbClr val="836967"/>
                              </a:solidFill>
                              <a:latin typeface="Cambria Math" panose="02040503050406030204" pitchFamily="18" charset="0"/>
                            </a:rPr>
                          </m:ctrlPr>
                        </m:fPr>
                        <m:num>
                          <m:r>
                            <a:rPr lang="zh-CN" altLang="en-US" sz="2800" i="0">
                              <a:latin typeface="Cambria Math" panose="02040503050406030204" pitchFamily="18" charset="0"/>
                            </a:rPr>
                            <m:t>1</m:t>
                          </m:r>
                        </m:num>
                        <m:den>
                          <m:r>
                            <a:rPr lang="zh-CN" altLang="en-US" sz="2800" i="1">
                              <a:latin typeface="Cambria Math" panose="02040503050406030204" pitchFamily="18" charset="0"/>
                            </a:rPr>
                            <m:t>𝑁</m:t>
                          </m:r>
                        </m:den>
                      </m:f>
                      <m:nary>
                        <m:naryPr>
                          <m:chr m:val="∑"/>
                          <m:limLoc m:val="undOvr"/>
                          <m:grow m:val="on"/>
                          <m:ctrlPr>
                            <a:rPr lang="zh-CN" altLang="en-US" sz="2800" i="1">
                              <a:latin typeface="Cambria Math" panose="02040503050406030204" pitchFamily="18" charset="0"/>
                            </a:rPr>
                          </m:ctrlPr>
                        </m:naryPr>
                        <m:sub>
                          <m:r>
                            <a:rPr lang="zh-CN" altLang="en-US" sz="2800" i="1">
                              <a:latin typeface="Cambria Math" panose="02040503050406030204" pitchFamily="18" charset="0"/>
                            </a:rPr>
                            <m:t>𝑖</m:t>
                          </m:r>
                          <m:r>
                            <a:rPr lang="zh-CN" altLang="en-US" sz="2800" i="0">
                              <a:latin typeface="Cambria Math" panose="02040503050406030204" pitchFamily="18" charset="0"/>
                            </a:rPr>
                            <m:t>=1</m:t>
                          </m:r>
                        </m:sub>
                        <m:sup>
                          <m:r>
                            <a:rPr lang="zh-CN" altLang="en-US" sz="2800" i="1">
                              <a:latin typeface="Cambria Math" panose="02040503050406030204" pitchFamily="18" charset="0"/>
                            </a:rPr>
                            <m:t>𝑁</m:t>
                          </m:r>
                        </m:sup>
                        <m:e>
                          <m:r>
                            <a:rPr lang="zh-CN" altLang="en-US" sz="2800" i="1">
                              <a:latin typeface="Cambria Math" panose="02040503050406030204" pitchFamily="18" charset="0"/>
                            </a:rPr>
                            <m:t>h</m:t>
                          </m:r>
                        </m:e>
                      </m:nary>
                      <m:d>
                        <m:dPr>
                          <m:ctrlPr>
                            <a:rPr lang="zh-CN" altLang="en-US" sz="2800" i="1">
                              <a:latin typeface="Cambria Math" panose="02040503050406030204" pitchFamily="18" charset="0"/>
                            </a:rPr>
                          </m:ctrlPr>
                        </m:dPr>
                        <m:e>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𝑈</m:t>
                              </m:r>
                            </m:e>
                            <m:sub>
                              <m:r>
                                <a:rPr lang="zh-CN" altLang="en-US" sz="2800" i="1">
                                  <a:latin typeface="Cambria Math" panose="02040503050406030204" pitchFamily="18" charset="0"/>
                                </a:rPr>
                                <m:t>𝑖</m:t>
                              </m:r>
                            </m:sub>
                          </m:sSub>
                        </m:e>
                      </m:d>
                    </m:oMath>
                  </m:oMathPara>
                </a14:m>
                <a:endParaRPr lang="zh-CN" altLang="en-US" dirty="0"/>
              </a:p>
            </p:txBody>
          </p:sp>
        </mc:Choice>
        <mc:Fallback xmlns="">
          <p:sp>
            <p:nvSpPr>
              <p:cNvPr id="13" name="文本框 12">
                <a:extLst>
                  <a:ext uri="{FF2B5EF4-FFF2-40B4-BE49-F238E27FC236}">
                    <a16:creationId xmlns:a16="http://schemas.microsoft.com/office/drawing/2014/main" id="{7F1313D7-92C7-4743-8A7E-08C609D9FDEE}"/>
                  </a:ext>
                </a:extLst>
              </p:cNvPr>
              <p:cNvSpPr txBox="1">
                <a:spLocks noRot="1" noChangeAspect="1" noMove="1" noResize="1" noEditPoints="1" noAdjustHandles="1" noChangeArrowheads="1" noChangeShapeType="1" noTextEdit="1"/>
              </p:cNvSpPr>
              <p:nvPr/>
            </p:nvSpPr>
            <p:spPr>
              <a:xfrm>
                <a:off x="1052622" y="4055231"/>
                <a:ext cx="5164758" cy="1361398"/>
              </a:xfrm>
              <a:prstGeom prst="rect">
                <a:avLst/>
              </a:prstGeom>
              <a:blipFill>
                <a:blip r:embed="rId3"/>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014422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3.2.4 </a:t>
            </a:r>
            <a:r>
              <a:rPr lang="zh-CN" altLang="en-US" dirty="0"/>
              <a:t>高维定积分</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0" y="1043735"/>
            <a:ext cx="91598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由强大数律</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54</a:t>
            </a:fld>
            <a:endParaRPr lang="zh-CN" altLang="en-US">
              <a:solidFill>
                <a:srgbClr val="898989"/>
              </a:solidFill>
            </a:endParaRPr>
          </a:p>
        </p:txBody>
      </p:sp>
      <p:sp>
        <p:nvSpPr>
          <p:cNvPr id="9" name="矩形 2">
            <a:extLst>
              <a:ext uri="{FF2B5EF4-FFF2-40B4-BE49-F238E27FC236}">
                <a16:creationId xmlns:a16="http://schemas.microsoft.com/office/drawing/2014/main" id="{A3C9E0D7-35BA-455E-9D8F-F2EAF3A7F71C}"/>
              </a:ext>
            </a:extLst>
          </p:cNvPr>
          <p:cNvSpPr>
            <a:spLocks noChangeArrowheads="1"/>
          </p:cNvSpPr>
          <p:nvPr/>
        </p:nvSpPr>
        <p:spPr bwMode="auto">
          <a:xfrm>
            <a:off x="1452143" y="5521877"/>
            <a:ext cx="582004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时的误差阶也不受维数</a:t>
            </a:r>
            <a:r>
              <a:rPr lang="en-US" altLang="zh-CN" sz="3200" dirty="0">
                <a:solidFill>
                  <a:srgbClr val="006699"/>
                </a:solidFill>
                <a:latin typeface="Verdana" panose="020B0604030504040204" pitchFamily="34" charset="0"/>
              </a:rPr>
              <a:t>d</a:t>
            </a:r>
            <a:r>
              <a:rPr lang="zh-CN" altLang="en-US" sz="3200" dirty="0">
                <a:solidFill>
                  <a:srgbClr val="006699"/>
                </a:solidFill>
                <a:latin typeface="Verdana" panose="020B0604030504040204" pitchFamily="34" charset="0"/>
              </a:rPr>
              <a:t>的影响</a:t>
            </a:r>
            <a:endParaRPr lang="en-US" altLang="zh-CN" sz="3200" dirty="0">
              <a:solidFill>
                <a:srgbClr val="006699"/>
              </a:solidFill>
              <a:latin typeface="Verdana" panose="020B0604030504040204" pitchFamily="34" charset="0"/>
            </a:endParaRPr>
          </a:p>
        </p:txBody>
      </p:sp>
      <p:pic>
        <p:nvPicPr>
          <p:cNvPr id="4" name="图片 3">
            <a:extLst>
              <a:ext uri="{FF2B5EF4-FFF2-40B4-BE49-F238E27FC236}">
                <a16:creationId xmlns:a16="http://schemas.microsoft.com/office/drawing/2014/main" id="{7D8B8417-D104-479A-9989-47713B77E347}"/>
              </a:ext>
            </a:extLst>
          </p:cNvPr>
          <p:cNvPicPr>
            <a:picLocks noChangeAspect="1"/>
          </p:cNvPicPr>
          <p:nvPr/>
        </p:nvPicPr>
        <p:blipFill>
          <a:blip r:embed="rId2"/>
          <a:stretch>
            <a:fillRect/>
          </a:stretch>
        </p:blipFill>
        <p:spPr>
          <a:xfrm>
            <a:off x="1364591" y="1631588"/>
            <a:ext cx="6414817" cy="1175706"/>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93072066-F5C8-419D-826C-6D555FE69F92}"/>
                  </a:ext>
                </a:extLst>
              </p:cNvPr>
              <p:cNvSpPr txBox="1"/>
              <p:nvPr/>
            </p:nvSpPr>
            <p:spPr>
              <a:xfrm>
                <a:off x="-2633" y="5574853"/>
                <a:ext cx="1619843"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𝑁</m:t>
                      </m:r>
                      <m:r>
                        <a:rPr lang="zh-CN" altLang="en-US" sz="3200" i="0">
                          <a:latin typeface="Cambria Math" panose="02040503050406030204" pitchFamily="18" charset="0"/>
                        </a:rPr>
                        <m:t>→∞</m:t>
                      </m:r>
                    </m:oMath>
                  </m:oMathPara>
                </a14:m>
                <a:endParaRPr lang="zh-CN" altLang="en-US" sz="3200" dirty="0"/>
              </a:p>
            </p:txBody>
          </p:sp>
        </mc:Choice>
        <mc:Fallback xmlns="">
          <p:sp>
            <p:nvSpPr>
              <p:cNvPr id="15" name="文本框 14">
                <a:extLst>
                  <a:ext uri="{FF2B5EF4-FFF2-40B4-BE49-F238E27FC236}">
                    <a16:creationId xmlns:a16="http://schemas.microsoft.com/office/drawing/2014/main" id="{93072066-F5C8-419D-826C-6D555FE69F92}"/>
                  </a:ext>
                </a:extLst>
              </p:cNvPr>
              <p:cNvSpPr txBox="1">
                <a:spLocks noRot="1" noChangeAspect="1" noMove="1" noResize="1" noEditPoints="1" noAdjustHandles="1" noChangeArrowheads="1" noChangeShapeType="1" noTextEdit="1"/>
              </p:cNvSpPr>
              <p:nvPr/>
            </p:nvSpPr>
            <p:spPr>
              <a:xfrm>
                <a:off x="-2633" y="5574853"/>
                <a:ext cx="1619843" cy="584775"/>
              </a:xfrm>
              <a:prstGeom prst="rect">
                <a:avLst/>
              </a:prstGeom>
              <a:blipFill>
                <a:blip r:embed="rId3"/>
                <a:stretch>
                  <a:fillRect/>
                </a:stretch>
              </a:blipFill>
              <a:ln w="25400">
                <a:noFill/>
              </a:ln>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DAB1BE91-4256-44F1-82C4-D40722D13076}"/>
              </a:ext>
            </a:extLst>
          </p:cNvPr>
          <p:cNvSpPr txBox="1"/>
          <p:nvPr/>
        </p:nvSpPr>
        <p:spPr>
          <a:xfrm>
            <a:off x="0" y="2852442"/>
            <a:ext cx="4690532" cy="584775"/>
          </a:xfrm>
          <a:prstGeom prst="rect">
            <a:avLst/>
          </a:prstGeom>
          <a:noFill/>
          <a:ln w="25400">
            <a:noFill/>
          </a:ln>
        </p:spPr>
        <p:txBody>
          <a:bodyPr wrap="square">
            <a:sp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渐近方差为</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p:txBody>
      </p:sp>
      <p:pic>
        <p:nvPicPr>
          <p:cNvPr id="20" name="图片 19">
            <a:extLst>
              <a:ext uri="{FF2B5EF4-FFF2-40B4-BE49-F238E27FC236}">
                <a16:creationId xmlns:a16="http://schemas.microsoft.com/office/drawing/2014/main" id="{5EEEE7E5-1049-47C6-A2CA-B5E3790E2A0D}"/>
              </a:ext>
            </a:extLst>
          </p:cNvPr>
          <p:cNvPicPr>
            <a:picLocks noChangeAspect="1"/>
          </p:cNvPicPr>
          <p:nvPr/>
        </p:nvPicPr>
        <p:blipFill>
          <a:blip r:embed="rId4"/>
          <a:stretch>
            <a:fillRect/>
          </a:stretch>
        </p:blipFill>
        <p:spPr>
          <a:xfrm>
            <a:off x="-2633" y="3255023"/>
            <a:ext cx="6869825" cy="1646487"/>
          </a:xfrm>
          <a:prstGeom prst="rect">
            <a:avLst/>
          </a:prstGeom>
        </p:spPr>
      </p:pic>
      <p:sp>
        <p:nvSpPr>
          <p:cNvPr id="23" name="文本框 22">
            <a:extLst>
              <a:ext uri="{FF2B5EF4-FFF2-40B4-BE49-F238E27FC236}">
                <a16:creationId xmlns:a16="http://schemas.microsoft.com/office/drawing/2014/main" id="{9599CFAE-AA99-42B1-8270-2764F7DB5856}"/>
              </a:ext>
            </a:extLst>
          </p:cNvPr>
          <p:cNvSpPr txBox="1"/>
          <p:nvPr/>
        </p:nvSpPr>
        <p:spPr>
          <a:xfrm>
            <a:off x="7137285" y="4014509"/>
            <a:ext cx="1889873"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(11.23)</a:t>
            </a:r>
            <a:endParaRPr lang="zh-CN" altLang="en-US" dirty="0"/>
          </a:p>
        </p:txBody>
      </p:sp>
    </p:spTree>
    <p:extLst>
      <p:ext uri="{BB962C8B-B14F-4D97-AF65-F5344CB8AC3E}">
        <p14:creationId xmlns:p14="http://schemas.microsoft.com/office/powerpoint/2010/main" val="10081525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3.2.4 </a:t>
            </a:r>
            <a:r>
              <a:rPr lang="zh-CN" altLang="en-US" dirty="0"/>
              <a:t>高维定积分</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2580" y="864449"/>
            <a:ext cx="91598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多重积分的</a:t>
            </a:r>
            <a:r>
              <a:rPr lang="zh-CN" altLang="en-US" sz="3200" dirty="0">
                <a:solidFill>
                  <a:srgbClr val="FF0000"/>
                </a:solidFill>
                <a:latin typeface="Verdana" panose="020B0604030504040204" pitchFamily="34" charset="0"/>
              </a:rPr>
              <a:t>平均值法步骤</a:t>
            </a:r>
            <a:endParaRPr lang="en-US" altLang="zh-CN" sz="3200" dirty="0">
              <a:solidFill>
                <a:srgbClr val="FF0000"/>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55</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DF71436-3241-D623-193A-93C3EF883497}"/>
                  </a:ext>
                </a:extLst>
              </p:cNvPr>
              <p:cNvSpPr txBox="1"/>
              <p:nvPr/>
            </p:nvSpPr>
            <p:spPr>
              <a:xfrm>
                <a:off x="6551" y="1444025"/>
                <a:ext cx="9448415" cy="4897046"/>
              </a:xfrm>
              <a:prstGeom prst="rect">
                <a:avLst/>
              </a:prstGeom>
              <a:noFill/>
              <a:ln w="25400">
                <a:noFill/>
              </a:ln>
            </p:spPr>
            <p:txBody>
              <a:bodyPr wrap="square">
                <a:spAutoFit/>
              </a:bodyPr>
              <a:lstStyle/>
              <a:p>
                <a:pPr>
                  <a:spcBef>
                    <a:spcPts val="900"/>
                  </a:spcBef>
                  <a:spcAft>
                    <a:spcPts val="900"/>
                  </a:spcAft>
                </a:pPr>
                <a:r>
                  <a:rPr lang="en-US" altLang="zh-CN" sz="2400" dirty="0" err="1">
                    <a:solidFill>
                      <a:srgbClr val="006699"/>
                    </a:solidFill>
                    <a:latin typeface="Verdana" panose="020B0604030504040204" pitchFamily="34" charset="0"/>
                  </a:rPr>
                  <a:t>首先赋初值</a:t>
                </a:r>
                <a:r>
                  <a:rPr lang="en-US" altLang="zh-CN" sz="2400" dirty="0">
                    <a:solidFill>
                      <a:srgbClr val="006699"/>
                    </a:solidFill>
                    <a:latin typeface="Verdana" panose="020B0604030504040204" pitchFamily="34" charset="0"/>
                  </a:rPr>
                  <a:t>: </a:t>
                </a:r>
                <a:r>
                  <a:rPr lang="en-US" altLang="zh-CN" sz="2400" dirty="0" err="1">
                    <a:solidFill>
                      <a:srgbClr val="006699"/>
                    </a:solidFill>
                    <a:latin typeface="Verdana" panose="020B0604030504040204" pitchFamily="34" charset="0"/>
                  </a:rPr>
                  <a:t>ξ落入D的次数m</a:t>
                </a:r>
                <a:r>
                  <a:rPr lang="en-US" altLang="zh-CN" sz="2400" dirty="0">
                    <a:solidFill>
                      <a:srgbClr val="006699"/>
                    </a:solidFill>
                    <a:latin typeface="Verdana" panose="020B0604030504040204" pitchFamily="34" charset="0"/>
                  </a:rPr>
                  <a:t>=0, </a:t>
                </a:r>
                <a:r>
                  <a:rPr lang="en-US" altLang="zh-CN" sz="2400" dirty="0" err="1">
                    <a:solidFill>
                      <a:srgbClr val="006699"/>
                    </a:solidFill>
                    <a:latin typeface="Verdana" panose="020B0604030504040204" pitchFamily="34" charset="0"/>
                  </a:rPr>
                  <a:t>试验次数n</a:t>
                </a:r>
                <a:r>
                  <a:rPr lang="en-US" altLang="zh-CN" sz="2400" dirty="0">
                    <a:solidFill>
                      <a:srgbClr val="006699"/>
                    </a:solidFill>
                    <a:latin typeface="Verdana" panose="020B0604030504040204" pitchFamily="34" charset="0"/>
                  </a:rPr>
                  <a:t>=0, </a:t>
                </a:r>
                <a:r>
                  <a:rPr lang="en-US" altLang="zh-CN" sz="2400" dirty="0" err="1">
                    <a:solidFill>
                      <a:srgbClr val="006699"/>
                    </a:solidFill>
                    <a:latin typeface="Verdana" panose="020B0604030504040204" pitchFamily="34" charset="0"/>
                  </a:rPr>
                  <a:t>并规定试验总次数N</a:t>
                </a:r>
                <a:r>
                  <a:rPr lang="en-US" altLang="zh-CN" sz="2400" dirty="0">
                    <a:solidFill>
                      <a:srgbClr val="006699"/>
                    </a:solidFill>
                    <a:latin typeface="Verdana" panose="020B0604030504040204" pitchFamily="34" charset="0"/>
                  </a:rPr>
                  <a:t>.</a:t>
                </a:r>
                <a:endParaRPr lang="zh-CN" altLang="zh-CN" sz="2400" dirty="0">
                  <a:solidFill>
                    <a:srgbClr val="006699"/>
                  </a:solidFill>
                  <a:latin typeface="Verdana" panose="020B0604030504040204" pitchFamily="34" charset="0"/>
                </a:endParaRPr>
              </a:p>
              <a:p>
                <a:pPr>
                  <a:spcBef>
                    <a:spcPts val="900"/>
                  </a:spcBef>
                  <a:spcAft>
                    <a:spcPts val="900"/>
                  </a:spcAft>
                </a:pPr>
                <a:r>
                  <a:rPr lang="en-US" altLang="zh-CN" sz="2400" dirty="0">
                    <a:solidFill>
                      <a:srgbClr val="006699"/>
                    </a:solidFill>
                    <a:latin typeface="Verdana" panose="020B0604030504040204" pitchFamily="34" charset="0"/>
                  </a:rPr>
                  <a:t>①</a:t>
                </a:r>
                <a:r>
                  <a:rPr lang="en-US" altLang="zh-CN" sz="2400" dirty="0" err="1">
                    <a:solidFill>
                      <a:srgbClr val="006699"/>
                    </a:solidFill>
                    <a:latin typeface="Verdana" panose="020B0604030504040204" pitchFamily="34" charset="0"/>
                  </a:rPr>
                  <a:t>产生k个相互独立服从</a:t>
                </a:r>
                <a:r>
                  <a:rPr lang="en-US" altLang="zh-CN" sz="2400" dirty="0">
                    <a:solidFill>
                      <a:srgbClr val="006699"/>
                    </a:solidFill>
                    <a:latin typeface="Verdana" panose="020B0604030504040204" pitchFamily="34" charset="0"/>
                  </a:rPr>
                  <a:t>[</a:t>
                </a:r>
                <a:r>
                  <a:rPr lang="en-US" altLang="zh-CN" sz="2400" dirty="0" err="1">
                    <a:solidFill>
                      <a:srgbClr val="006699"/>
                    </a:solidFill>
                    <a:latin typeface="Verdana" panose="020B0604030504040204" pitchFamily="34" charset="0"/>
                  </a:rPr>
                  <a:t>a,b</a:t>
                </a:r>
                <a:r>
                  <a:rPr lang="en-US" altLang="zh-CN" sz="2400" dirty="0">
                    <a:solidFill>
                      <a:srgbClr val="006699"/>
                    </a:solidFill>
                    <a:latin typeface="Verdana" panose="020B0604030504040204" pitchFamily="34" charset="0"/>
                  </a:rPr>
                  <a:t>]</a:t>
                </a:r>
                <a:r>
                  <a:rPr lang="en-US" altLang="zh-CN" sz="2400" dirty="0" err="1">
                    <a:solidFill>
                      <a:srgbClr val="006699"/>
                    </a:solidFill>
                    <a:latin typeface="Verdana" panose="020B0604030504040204" pitchFamily="34" charset="0"/>
                  </a:rPr>
                  <a:t>区间上的均匀随机数ξ</a:t>
                </a:r>
                <a:r>
                  <a:rPr lang="en-US" altLang="zh-CN" sz="2400" dirty="0">
                    <a:solidFill>
                      <a:srgbClr val="006699"/>
                    </a:solidFill>
                    <a:latin typeface="Verdana" panose="020B0604030504040204" pitchFamily="34" charset="0"/>
                  </a:rPr>
                  <a:t>=(ξ1,…,</a:t>
                </a:r>
                <a:r>
                  <a:rPr lang="en-US" altLang="zh-CN" sz="2400" dirty="0" err="1">
                    <a:solidFill>
                      <a:srgbClr val="006699"/>
                    </a:solidFill>
                    <a:latin typeface="Verdana" panose="020B0604030504040204" pitchFamily="34" charset="0"/>
                  </a:rPr>
                  <a:t>ξk</a:t>
                </a:r>
                <a:r>
                  <a:rPr lang="en-US" altLang="zh-CN" sz="2400" dirty="0">
                    <a:solidFill>
                      <a:srgbClr val="006699"/>
                    </a:solidFill>
                    <a:latin typeface="Verdana" panose="020B0604030504040204" pitchFamily="34" charset="0"/>
                  </a:rPr>
                  <a:t>), </a:t>
                </a:r>
                <a:r>
                  <a:rPr lang="en-US" altLang="zh-CN" sz="2400" dirty="0" err="1">
                    <a:solidFill>
                      <a:srgbClr val="006699"/>
                    </a:solidFill>
                    <a:latin typeface="Verdana" panose="020B0604030504040204" pitchFamily="34" charset="0"/>
                  </a:rPr>
                  <a:t>置n</a:t>
                </a:r>
                <a:r>
                  <a:rPr lang="en-US" altLang="zh-CN" sz="2400" dirty="0">
                    <a:solidFill>
                      <a:srgbClr val="006699"/>
                    </a:solidFill>
                    <a:latin typeface="Verdana" panose="020B0604030504040204" pitchFamily="34" charset="0"/>
                  </a:rPr>
                  <a:t>=n+1;</a:t>
                </a:r>
                <a:endParaRPr lang="zh-CN" altLang="zh-CN" sz="2400" dirty="0">
                  <a:solidFill>
                    <a:srgbClr val="006699"/>
                  </a:solidFill>
                  <a:latin typeface="Verdana" panose="020B0604030504040204" pitchFamily="34" charset="0"/>
                </a:endParaRPr>
              </a:p>
              <a:p>
                <a:pPr>
                  <a:spcBef>
                    <a:spcPts val="900"/>
                  </a:spcBef>
                  <a:spcAft>
                    <a:spcPts val="900"/>
                  </a:spcAft>
                </a:pPr>
                <a:r>
                  <a:rPr lang="en-US" altLang="zh-CN" sz="2400" dirty="0">
                    <a:solidFill>
                      <a:srgbClr val="006699"/>
                    </a:solidFill>
                    <a:latin typeface="Verdana" panose="020B0604030504040204" pitchFamily="34" charset="0"/>
                  </a:rPr>
                  <a:t>②</a:t>
                </a:r>
                <a:r>
                  <a:rPr lang="en-US" altLang="zh-CN" sz="2400" dirty="0" err="1">
                    <a:solidFill>
                      <a:srgbClr val="006699"/>
                    </a:solidFill>
                    <a:latin typeface="Verdana" panose="020B0604030504040204" pitchFamily="34" charset="0"/>
                  </a:rPr>
                  <a:t>判n≤N是否成立;若成立转</a:t>
                </a:r>
                <a:r>
                  <a:rPr lang="en-US" altLang="zh-CN" sz="2400" dirty="0">
                    <a:solidFill>
                      <a:srgbClr val="006699"/>
                    </a:solidFill>
                    <a:latin typeface="Verdana" panose="020B0604030504040204" pitchFamily="34" charset="0"/>
                  </a:rPr>
                  <a:t>③;</a:t>
                </a:r>
                <a:r>
                  <a:rPr lang="en-US" altLang="zh-CN" sz="2400" dirty="0" err="1">
                    <a:solidFill>
                      <a:srgbClr val="006699"/>
                    </a:solidFill>
                    <a:latin typeface="Verdana" panose="020B0604030504040204" pitchFamily="34" charset="0"/>
                  </a:rPr>
                  <a:t>否则停止抽样,转</a:t>
                </a:r>
                <a:r>
                  <a:rPr lang="en-US" altLang="zh-CN" sz="2400" dirty="0">
                    <a:solidFill>
                      <a:srgbClr val="006699"/>
                    </a:solidFill>
                    <a:latin typeface="Verdana" panose="020B0604030504040204" pitchFamily="34" charset="0"/>
                  </a:rPr>
                  <a:t>④;</a:t>
                </a:r>
                <a:endParaRPr lang="zh-CN" altLang="zh-CN" sz="2400" dirty="0">
                  <a:solidFill>
                    <a:srgbClr val="006699"/>
                  </a:solidFill>
                  <a:latin typeface="Verdana" panose="020B0604030504040204" pitchFamily="34" charset="0"/>
                </a:endParaRPr>
              </a:p>
              <a:p>
                <a:pPr>
                  <a:spcBef>
                    <a:spcPts val="900"/>
                  </a:spcBef>
                  <a:spcAft>
                    <a:spcPts val="900"/>
                  </a:spcAft>
                </a:pPr>
                <a:r>
                  <a:rPr lang="en-US" altLang="zh-CN" sz="2400" dirty="0">
                    <a:solidFill>
                      <a:srgbClr val="006699"/>
                    </a:solidFill>
                    <a:latin typeface="Verdana" panose="020B0604030504040204" pitchFamily="34" charset="0"/>
                  </a:rPr>
                  <a:t>③</a:t>
                </a:r>
                <a:r>
                  <a:rPr lang="en-US" altLang="zh-CN" sz="2400" dirty="0" err="1">
                    <a:solidFill>
                      <a:srgbClr val="006699"/>
                    </a:solidFill>
                    <a:latin typeface="Verdana" panose="020B0604030504040204" pitchFamily="34" charset="0"/>
                  </a:rPr>
                  <a:t>检验k维空间的点ξ是否落入积分区域D,若ξ∈D,置m</a:t>
                </a:r>
                <a:r>
                  <a:rPr lang="en-US" altLang="zh-CN" sz="2400" dirty="0">
                    <a:solidFill>
                      <a:srgbClr val="006699"/>
                    </a:solidFill>
                    <a:latin typeface="Verdana" panose="020B0604030504040204" pitchFamily="34" charset="0"/>
                  </a:rPr>
                  <a:t>=m+1,并令ηm=</a:t>
                </a:r>
                <a:r>
                  <a:rPr lang="en-US" altLang="zh-CN" sz="2400" dirty="0" err="1">
                    <a:solidFill>
                      <a:srgbClr val="006699"/>
                    </a:solidFill>
                    <a:latin typeface="Verdana" panose="020B0604030504040204" pitchFamily="34" charset="0"/>
                  </a:rPr>
                  <a:t>ξ,计算f</a:t>
                </a:r>
                <a:r>
                  <a:rPr lang="en-US" altLang="zh-CN" sz="2400" dirty="0">
                    <a:solidFill>
                      <a:srgbClr val="006699"/>
                    </a:solidFill>
                    <a:latin typeface="Verdana" panose="020B0604030504040204" pitchFamily="34" charset="0"/>
                  </a:rPr>
                  <a:t>(</a:t>
                </a:r>
                <a:r>
                  <a:rPr lang="en-US" altLang="zh-CN" sz="2400" dirty="0" err="1">
                    <a:solidFill>
                      <a:srgbClr val="006699"/>
                    </a:solidFill>
                    <a:latin typeface="Verdana" panose="020B0604030504040204" pitchFamily="34" charset="0"/>
                  </a:rPr>
                  <a:t>ηm</a:t>
                </a:r>
                <a:r>
                  <a:rPr lang="en-US" altLang="zh-CN" sz="2400" dirty="0">
                    <a:solidFill>
                      <a:srgbClr val="006699"/>
                    </a:solidFill>
                    <a:latin typeface="Verdana" panose="020B0604030504040204" pitchFamily="34" charset="0"/>
                  </a:rPr>
                  <a:t>),转①;否则舍去,转①,</a:t>
                </a:r>
                <a:r>
                  <a:rPr lang="en-US" altLang="zh-CN" sz="2400" dirty="0" err="1">
                    <a:solidFill>
                      <a:srgbClr val="006699"/>
                    </a:solidFill>
                    <a:latin typeface="Verdana" panose="020B0604030504040204" pitchFamily="34" charset="0"/>
                  </a:rPr>
                  <a:t>重新产生k维均匀随机数</a:t>
                </a:r>
                <a:r>
                  <a:rPr lang="en-US" altLang="zh-CN" sz="2400" dirty="0">
                    <a:solidFill>
                      <a:srgbClr val="006699"/>
                    </a:solidFill>
                    <a:latin typeface="Verdana" panose="020B0604030504040204" pitchFamily="34" charset="0"/>
                  </a:rPr>
                  <a:t>:</a:t>
                </a:r>
                <a:endParaRPr lang="zh-CN" altLang="zh-CN" sz="2400" dirty="0">
                  <a:solidFill>
                    <a:srgbClr val="006699"/>
                  </a:solidFill>
                  <a:latin typeface="Verdana" panose="020B0604030504040204" pitchFamily="34" charset="0"/>
                </a:endParaRPr>
              </a:p>
              <a:p>
                <a:pPr>
                  <a:spcBef>
                    <a:spcPts val="900"/>
                  </a:spcBef>
                  <a:spcAft>
                    <a:spcPts val="900"/>
                  </a:spcAft>
                </a:pPr>
                <a:r>
                  <a:rPr lang="en-US" altLang="zh-CN" sz="2400" dirty="0">
                    <a:solidFill>
                      <a:srgbClr val="006699"/>
                    </a:solidFill>
                    <a:latin typeface="Verdana" panose="020B0604030504040204" pitchFamily="34" charset="0"/>
                  </a:rPr>
                  <a:t>④</a:t>
                </a:r>
                <a:r>
                  <a:rPr lang="en-US" altLang="zh-CN" sz="2400" dirty="0" err="1">
                    <a:solidFill>
                      <a:srgbClr val="006699"/>
                    </a:solidFill>
                    <a:latin typeface="Verdana" panose="020B0604030504040204" pitchFamily="34" charset="0"/>
                  </a:rPr>
                  <a:t>计算</a:t>
                </a:r>
                <a14:m>
                  <m:oMath xmlns:m="http://schemas.openxmlformats.org/officeDocument/2006/math">
                    <m:sSub>
                      <m:sSubPr>
                        <m:ctrlPr>
                          <a:rPr lang="zh-CN" altLang="zh-CN" sz="2400" i="1">
                            <a:solidFill>
                              <a:srgbClr val="006699"/>
                            </a:solidFill>
                            <a:latin typeface="Cambria Math" panose="02040503050406030204" pitchFamily="18" charset="0"/>
                          </a:rPr>
                        </m:ctrlPr>
                      </m:sSubPr>
                      <m:e>
                        <m:r>
                          <a:rPr lang="en-US" altLang="zh-CN" sz="2400">
                            <a:solidFill>
                              <a:srgbClr val="006699"/>
                            </a:solidFill>
                            <a:latin typeface="Cambria Math" panose="02040503050406030204" pitchFamily="18" charset="0"/>
                          </a:rPr>
                          <m:t>𝑉</m:t>
                        </m:r>
                      </m:e>
                      <m:sub>
                        <m:r>
                          <a:rPr lang="en-US" altLang="zh-CN" sz="2400">
                            <a:solidFill>
                              <a:srgbClr val="006699"/>
                            </a:solidFill>
                            <a:latin typeface="Cambria Math" panose="02040503050406030204" pitchFamily="18" charset="0"/>
                          </a:rPr>
                          <m:t>𝐷</m:t>
                        </m:r>
                      </m:sub>
                    </m:sSub>
                    <m:r>
                      <a:rPr lang="en-US" altLang="zh-CN" sz="2400">
                        <a:solidFill>
                          <a:srgbClr val="006699"/>
                        </a:solidFill>
                        <a:latin typeface="Cambria Math" panose="02040503050406030204" pitchFamily="18" charset="0"/>
                      </a:rPr>
                      <m:t>≈</m:t>
                    </m:r>
                    <m:f>
                      <m:fPr>
                        <m:ctrlPr>
                          <a:rPr lang="zh-CN" altLang="zh-CN" sz="2400" i="1">
                            <a:solidFill>
                              <a:srgbClr val="006699"/>
                            </a:solidFill>
                            <a:latin typeface="Cambria Math" panose="02040503050406030204" pitchFamily="18" charset="0"/>
                          </a:rPr>
                        </m:ctrlPr>
                      </m:fPr>
                      <m:num>
                        <m:r>
                          <a:rPr lang="en-US" altLang="zh-CN" sz="2400">
                            <a:solidFill>
                              <a:srgbClr val="006699"/>
                            </a:solidFill>
                            <a:latin typeface="Cambria Math" panose="02040503050406030204" pitchFamily="18" charset="0"/>
                          </a:rPr>
                          <m:t>𝑚</m:t>
                        </m:r>
                      </m:num>
                      <m:den>
                        <m:r>
                          <a:rPr lang="en-US" altLang="zh-CN" sz="2400">
                            <a:solidFill>
                              <a:srgbClr val="006699"/>
                            </a:solidFill>
                            <a:latin typeface="Cambria Math" panose="02040503050406030204" pitchFamily="18" charset="0"/>
                          </a:rPr>
                          <m:t>𝑁</m:t>
                        </m:r>
                      </m:den>
                    </m:f>
                    <m:sSup>
                      <m:sSupPr>
                        <m:ctrlPr>
                          <a:rPr lang="zh-CN" altLang="zh-CN" sz="2400" i="1">
                            <a:solidFill>
                              <a:srgbClr val="006699"/>
                            </a:solidFill>
                            <a:latin typeface="Cambria Math" panose="02040503050406030204" pitchFamily="18" charset="0"/>
                          </a:rPr>
                        </m:ctrlPr>
                      </m:sSupPr>
                      <m:e>
                        <m:d>
                          <m:dPr>
                            <m:ctrlPr>
                              <a:rPr lang="zh-CN" altLang="zh-CN" sz="2400" i="1">
                                <a:solidFill>
                                  <a:srgbClr val="006699"/>
                                </a:solidFill>
                                <a:latin typeface="Cambria Math" panose="02040503050406030204" pitchFamily="18" charset="0"/>
                              </a:rPr>
                            </m:ctrlPr>
                          </m:dPr>
                          <m:e>
                            <m:r>
                              <a:rPr lang="en-US" altLang="zh-CN" sz="2400">
                                <a:solidFill>
                                  <a:srgbClr val="006699"/>
                                </a:solidFill>
                                <a:latin typeface="Cambria Math" panose="02040503050406030204" pitchFamily="18" charset="0"/>
                              </a:rPr>
                              <m:t>𝑏</m:t>
                            </m:r>
                            <m:r>
                              <a:rPr lang="en-US" altLang="zh-CN" sz="2400">
                                <a:solidFill>
                                  <a:srgbClr val="006699"/>
                                </a:solidFill>
                                <a:latin typeface="Cambria Math" panose="02040503050406030204" pitchFamily="18" charset="0"/>
                              </a:rPr>
                              <m:t>−</m:t>
                            </m:r>
                            <m:r>
                              <a:rPr lang="en-US" altLang="zh-CN" sz="2400">
                                <a:solidFill>
                                  <a:srgbClr val="006699"/>
                                </a:solidFill>
                                <a:latin typeface="Cambria Math" panose="02040503050406030204" pitchFamily="18" charset="0"/>
                              </a:rPr>
                              <m:t>𝑎</m:t>
                            </m:r>
                          </m:e>
                        </m:d>
                      </m:e>
                      <m:sup>
                        <m:r>
                          <a:rPr lang="en-US" altLang="zh-CN" sz="2400">
                            <a:solidFill>
                              <a:srgbClr val="006699"/>
                            </a:solidFill>
                            <a:latin typeface="Cambria Math" panose="02040503050406030204" pitchFamily="18" charset="0"/>
                          </a:rPr>
                          <m:t>𝑘</m:t>
                        </m:r>
                      </m:sup>
                    </m:sSup>
                  </m:oMath>
                </a14:m>
                <a:r>
                  <a:rPr lang="en-US" altLang="zh-CN" sz="2400" dirty="0">
                    <a:solidFill>
                      <a:srgbClr val="006699"/>
                    </a:solidFill>
                    <a:latin typeface="Verdana" panose="020B0604030504040204" pitchFamily="34" charset="0"/>
                  </a:rPr>
                  <a:t> , </a:t>
                </a:r>
                <a14:m>
                  <m:oMath xmlns:m="http://schemas.openxmlformats.org/officeDocument/2006/math">
                    <m:r>
                      <a:rPr lang="en-US" altLang="zh-CN" sz="2400">
                        <a:solidFill>
                          <a:srgbClr val="006699"/>
                        </a:solidFill>
                        <a:latin typeface="Cambria Math" panose="02040503050406030204" pitchFamily="18" charset="0"/>
                      </a:rPr>
                      <m:t>𝐸</m:t>
                    </m:r>
                    <m:d>
                      <m:dPr>
                        <m:begChr m:val="["/>
                        <m:endChr m:val="]"/>
                        <m:ctrlPr>
                          <a:rPr lang="zh-CN" altLang="zh-CN" sz="2400" i="1">
                            <a:solidFill>
                              <a:srgbClr val="006699"/>
                            </a:solidFill>
                            <a:latin typeface="Cambria Math" panose="02040503050406030204" pitchFamily="18" charset="0"/>
                          </a:rPr>
                        </m:ctrlPr>
                      </m:dPr>
                      <m:e>
                        <m:r>
                          <a:rPr lang="en-US" altLang="zh-CN" sz="2400">
                            <a:solidFill>
                              <a:srgbClr val="006699"/>
                            </a:solidFill>
                            <a:latin typeface="Cambria Math" panose="02040503050406030204" pitchFamily="18" charset="0"/>
                          </a:rPr>
                          <m:t>𝑓</m:t>
                        </m:r>
                        <m:d>
                          <m:dPr>
                            <m:ctrlPr>
                              <a:rPr lang="zh-CN" altLang="zh-CN" sz="2400" i="1">
                                <a:solidFill>
                                  <a:srgbClr val="006699"/>
                                </a:solidFill>
                                <a:latin typeface="Cambria Math" panose="02040503050406030204" pitchFamily="18" charset="0"/>
                              </a:rPr>
                            </m:ctrlPr>
                          </m:dPr>
                          <m:e>
                            <m:r>
                              <a:rPr lang="en-US" altLang="zh-CN" sz="2400">
                                <a:solidFill>
                                  <a:srgbClr val="006699"/>
                                </a:solidFill>
                                <a:latin typeface="Cambria Math" panose="02040503050406030204" pitchFamily="18" charset="0"/>
                              </a:rPr>
                              <m:t>𝜉</m:t>
                            </m:r>
                          </m:e>
                        </m:d>
                        <m:r>
                          <a:rPr lang="en-US" altLang="zh-CN" sz="2400">
                            <a:solidFill>
                              <a:srgbClr val="006699"/>
                            </a:solidFill>
                            <a:latin typeface="Cambria Math" panose="02040503050406030204" pitchFamily="18" charset="0"/>
                          </a:rPr>
                          <m:t>|</m:t>
                        </m:r>
                        <m:r>
                          <a:rPr lang="en-US" altLang="zh-CN" sz="2400">
                            <a:solidFill>
                              <a:srgbClr val="006699"/>
                            </a:solidFill>
                            <a:latin typeface="Cambria Math" panose="02040503050406030204" pitchFamily="18" charset="0"/>
                          </a:rPr>
                          <m:t>𝜉</m:t>
                        </m:r>
                        <m:r>
                          <a:rPr lang="en-US" altLang="zh-CN" sz="2400">
                            <a:solidFill>
                              <a:srgbClr val="006699"/>
                            </a:solidFill>
                            <a:latin typeface="Cambria Math" panose="02040503050406030204" pitchFamily="18" charset="0"/>
                          </a:rPr>
                          <m:t>∈</m:t>
                        </m:r>
                        <m:r>
                          <a:rPr lang="en-US" altLang="zh-CN" sz="2400">
                            <a:solidFill>
                              <a:srgbClr val="006699"/>
                            </a:solidFill>
                            <a:latin typeface="Cambria Math" panose="02040503050406030204" pitchFamily="18" charset="0"/>
                          </a:rPr>
                          <m:t>𝐷</m:t>
                        </m:r>
                      </m:e>
                    </m:d>
                    <m:r>
                      <a:rPr lang="en-US" altLang="zh-CN" sz="2400">
                        <a:solidFill>
                          <a:srgbClr val="006699"/>
                        </a:solidFill>
                        <a:latin typeface="Cambria Math" panose="02040503050406030204" pitchFamily="18" charset="0"/>
                      </a:rPr>
                      <m:t>≈</m:t>
                    </m:r>
                    <m:f>
                      <m:fPr>
                        <m:ctrlPr>
                          <a:rPr lang="zh-CN" altLang="zh-CN" sz="2400" i="1">
                            <a:solidFill>
                              <a:srgbClr val="006699"/>
                            </a:solidFill>
                            <a:latin typeface="Cambria Math" panose="02040503050406030204" pitchFamily="18" charset="0"/>
                          </a:rPr>
                        </m:ctrlPr>
                      </m:fPr>
                      <m:num>
                        <m:r>
                          <a:rPr lang="en-US" altLang="zh-CN" sz="2400">
                            <a:solidFill>
                              <a:srgbClr val="006699"/>
                            </a:solidFill>
                            <a:latin typeface="Cambria Math" panose="02040503050406030204" pitchFamily="18" charset="0"/>
                          </a:rPr>
                          <m:t>1</m:t>
                        </m:r>
                      </m:num>
                      <m:den>
                        <m:r>
                          <a:rPr lang="en-US" altLang="zh-CN" sz="2400">
                            <a:solidFill>
                              <a:srgbClr val="006699"/>
                            </a:solidFill>
                            <a:latin typeface="Cambria Math" panose="02040503050406030204" pitchFamily="18" charset="0"/>
                          </a:rPr>
                          <m:t>𝑚</m:t>
                        </m:r>
                      </m:den>
                    </m:f>
                    <m:nary>
                      <m:naryPr>
                        <m:chr m:val="∑"/>
                        <m:limLoc m:val="undOvr"/>
                        <m:ctrlPr>
                          <a:rPr lang="zh-CN" altLang="zh-CN" sz="2400" i="1">
                            <a:solidFill>
                              <a:srgbClr val="006699"/>
                            </a:solidFill>
                            <a:latin typeface="Cambria Math" panose="02040503050406030204" pitchFamily="18" charset="0"/>
                          </a:rPr>
                        </m:ctrlPr>
                      </m:naryPr>
                      <m:sub>
                        <m:r>
                          <a:rPr lang="en-US" altLang="zh-CN" sz="2400">
                            <a:solidFill>
                              <a:srgbClr val="006699"/>
                            </a:solidFill>
                            <a:latin typeface="Cambria Math" panose="02040503050406030204" pitchFamily="18" charset="0"/>
                          </a:rPr>
                          <m:t>𝑖</m:t>
                        </m:r>
                        <m:r>
                          <a:rPr lang="en-US" altLang="zh-CN" sz="2400">
                            <a:solidFill>
                              <a:srgbClr val="006699"/>
                            </a:solidFill>
                            <a:latin typeface="Cambria Math" panose="02040503050406030204" pitchFamily="18" charset="0"/>
                          </a:rPr>
                          <m:t>=1</m:t>
                        </m:r>
                      </m:sub>
                      <m:sup>
                        <m:r>
                          <a:rPr lang="en-US" altLang="zh-CN" sz="2400">
                            <a:solidFill>
                              <a:srgbClr val="006699"/>
                            </a:solidFill>
                            <a:latin typeface="Cambria Math" panose="02040503050406030204" pitchFamily="18" charset="0"/>
                          </a:rPr>
                          <m:t>𝑚</m:t>
                        </m:r>
                      </m:sup>
                      <m:e>
                        <m:r>
                          <a:rPr lang="en-US" altLang="zh-CN" sz="2400">
                            <a:solidFill>
                              <a:srgbClr val="006699"/>
                            </a:solidFill>
                            <a:latin typeface="Cambria Math" panose="02040503050406030204" pitchFamily="18" charset="0"/>
                          </a:rPr>
                          <m:t>𝑓</m:t>
                        </m:r>
                      </m:e>
                    </m:nary>
                    <m:d>
                      <m:dPr>
                        <m:ctrlPr>
                          <a:rPr lang="zh-CN" altLang="zh-CN" sz="2400" i="1">
                            <a:solidFill>
                              <a:srgbClr val="006699"/>
                            </a:solidFill>
                            <a:latin typeface="Cambria Math" panose="02040503050406030204" pitchFamily="18" charset="0"/>
                          </a:rPr>
                        </m:ctrlPr>
                      </m:dPr>
                      <m:e>
                        <m:sSub>
                          <m:sSubPr>
                            <m:ctrlPr>
                              <a:rPr lang="zh-CN" altLang="zh-CN" sz="2400" i="1">
                                <a:solidFill>
                                  <a:srgbClr val="006699"/>
                                </a:solidFill>
                                <a:latin typeface="Cambria Math" panose="02040503050406030204" pitchFamily="18" charset="0"/>
                              </a:rPr>
                            </m:ctrlPr>
                          </m:sSubPr>
                          <m:e>
                            <m:r>
                              <a:rPr lang="en-US" altLang="zh-CN" sz="2400">
                                <a:solidFill>
                                  <a:srgbClr val="006699"/>
                                </a:solidFill>
                                <a:latin typeface="Cambria Math" panose="02040503050406030204" pitchFamily="18" charset="0"/>
                              </a:rPr>
                              <m:t>𝜂</m:t>
                            </m:r>
                          </m:e>
                          <m:sub>
                            <m:r>
                              <a:rPr lang="en-US" altLang="zh-CN" sz="2400">
                                <a:solidFill>
                                  <a:srgbClr val="006699"/>
                                </a:solidFill>
                                <a:latin typeface="Cambria Math" panose="02040503050406030204" pitchFamily="18" charset="0"/>
                              </a:rPr>
                              <m:t>𝑖</m:t>
                            </m:r>
                          </m:sub>
                        </m:sSub>
                      </m:e>
                    </m:d>
                  </m:oMath>
                </a14:m>
                <a:endParaRPr lang="zh-CN" altLang="zh-CN" sz="2400" dirty="0">
                  <a:solidFill>
                    <a:srgbClr val="006699"/>
                  </a:solidFill>
                  <a:latin typeface="Verdana" panose="020B0604030504040204" pitchFamily="34" charset="0"/>
                </a:endParaRPr>
              </a:p>
              <a:p>
                <a:pPr>
                  <a:spcBef>
                    <a:spcPts val="900"/>
                  </a:spcBef>
                  <a:spcAft>
                    <a:spcPts val="900"/>
                  </a:spcAft>
                </a:pPr>
                <a:r>
                  <a:rPr lang="en-US" altLang="zh-CN" sz="2400" dirty="0">
                    <a:solidFill>
                      <a:srgbClr val="006699"/>
                    </a:solidFill>
                    <a:latin typeface="Verdana" panose="020B0604030504040204" pitchFamily="34" charset="0"/>
                  </a:rPr>
                  <a:t>则</a:t>
                </a:r>
                <a14:m>
                  <m:oMath xmlns:m="http://schemas.openxmlformats.org/officeDocument/2006/math">
                    <m:sSub>
                      <m:sSubPr>
                        <m:ctrlPr>
                          <a:rPr lang="zh-CN" altLang="zh-CN" sz="2400" i="1">
                            <a:solidFill>
                              <a:srgbClr val="006699"/>
                            </a:solidFill>
                            <a:latin typeface="Cambria Math" panose="02040503050406030204" pitchFamily="18" charset="0"/>
                          </a:rPr>
                        </m:ctrlPr>
                      </m:sSubPr>
                      <m:e>
                        <m:r>
                          <a:rPr lang="en-US" altLang="zh-CN" sz="2400">
                            <a:solidFill>
                              <a:srgbClr val="006699"/>
                            </a:solidFill>
                            <a:latin typeface="Cambria Math" panose="02040503050406030204" pitchFamily="18" charset="0"/>
                          </a:rPr>
                          <m:t>𝐼</m:t>
                        </m:r>
                      </m:e>
                      <m:sub>
                        <m:r>
                          <a:rPr lang="en-US" altLang="zh-CN" sz="2400">
                            <a:solidFill>
                              <a:srgbClr val="006699"/>
                            </a:solidFill>
                            <a:latin typeface="Cambria Math" panose="02040503050406030204" pitchFamily="18" charset="0"/>
                          </a:rPr>
                          <m:t>𝑘</m:t>
                        </m:r>
                      </m:sub>
                    </m:sSub>
                    <m:r>
                      <a:rPr lang="en-US" altLang="zh-CN" sz="2400">
                        <a:solidFill>
                          <a:srgbClr val="006699"/>
                        </a:solidFill>
                        <a:latin typeface="Cambria Math" panose="02040503050406030204" pitchFamily="18" charset="0"/>
                      </a:rPr>
                      <m:t>≈</m:t>
                    </m:r>
                    <m:f>
                      <m:fPr>
                        <m:ctrlPr>
                          <a:rPr lang="zh-CN" altLang="zh-CN" sz="2400" i="1">
                            <a:solidFill>
                              <a:srgbClr val="006699"/>
                            </a:solidFill>
                            <a:latin typeface="Cambria Math" panose="02040503050406030204" pitchFamily="18" charset="0"/>
                          </a:rPr>
                        </m:ctrlPr>
                      </m:fPr>
                      <m:num>
                        <m:r>
                          <a:rPr lang="en-US" altLang="zh-CN" sz="2400">
                            <a:solidFill>
                              <a:srgbClr val="006699"/>
                            </a:solidFill>
                            <a:latin typeface="Cambria Math" panose="02040503050406030204" pitchFamily="18" charset="0"/>
                          </a:rPr>
                          <m:t>1</m:t>
                        </m:r>
                      </m:num>
                      <m:den>
                        <m:r>
                          <a:rPr lang="en-US" altLang="zh-CN" sz="2400">
                            <a:solidFill>
                              <a:srgbClr val="006699"/>
                            </a:solidFill>
                            <a:latin typeface="Cambria Math" panose="02040503050406030204" pitchFamily="18" charset="0"/>
                          </a:rPr>
                          <m:t>𝑁</m:t>
                        </m:r>
                      </m:den>
                    </m:f>
                    <m:sSup>
                      <m:sSupPr>
                        <m:ctrlPr>
                          <a:rPr lang="zh-CN" altLang="zh-CN" sz="2400" i="1">
                            <a:solidFill>
                              <a:srgbClr val="006699"/>
                            </a:solidFill>
                            <a:latin typeface="Cambria Math" panose="02040503050406030204" pitchFamily="18" charset="0"/>
                          </a:rPr>
                        </m:ctrlPr>
                      </m:sSupPr>
                      <m:e>
                        <m:d>
                          <m:dPr>
                            <m:ctrlPr>
                              <a:rPr lang="zh-CN" altLang="zh-CN" sz="2400" i="1">
                                <a:solidFill>
                                  <a:srgbClr val="006699"/>
                                </a:solidFill>
                                <a:latin typeface="Cambria Math" panose="02040503050406030204" pitchFamily="18" charset="0"/>
                              </a:rPr>
                            </m:ctrlPr>
                          </m:dPr>
                          <m:e>
                            <m:r>
                              <a:rPr lang="en-US" altLang="zh-CN" sz="2400">
                                <a:solidFill>
                                  <a:srgbClr val="006699"/>
                                </a:solidFill>
                                <a:latin typeface="Cambria Math" panose="02040503050406030204" pitchFamily="18" charset="0"/>
                              </a:rPr>
                              <m:t>𝑏</m:t>
                            </m:r>
                            <m:r>
                              <a:rPr lang="en-US" altLang="zh-CN" sz="2400">
                                <a:solidFill>
                                  <a:srgbClr val="006699"/>
                                </a:solidFill>
                                <a:latin typeface="Cambria Math" panose="02040503050406030204" pitchFamily="18" charset="0"/>
                              </a:rPr>
                              <m:t>−</m:t>
                            </m:r>
                            <m:r>
                              <a:rPr lang="en-US" altLang="zh-CN" sz="2400">
                                <a:solidFill>
                                  <a:srgbClr val="006699"/>
                                </a:solidFill>
                                <a:latin typeface="Cambria Math" panose="02040503050406030204" pitchFamily="18" charset="0"/>
                              </a:rPr>
                              <m:t>𝑎</m:t>
                            </m:r>
                          </m:e>
                        </m:d>
                      </m:e>
                      <m:sup>
                        <m:r>
                          <a:rPr lang="en-US" altLang="zh-CN" sz="2400">
                            <a:solidFill>
                              <a:srgbClr val="006699"/>
                            </a:solidFill>
                            <a:latin typeface="Cambria Math" panose="02040503050406030204" pitchFamily="18" charset="0"/>
                          </a:rPr>
                          <m:t>𝑘</m:t>
                        </m:r>
                      </m:sup>
                    </m:sSup>
                    <m:nary>
                      <m:naryPr>
                        <m:chr m:val="∑"/>
                        <m:limLoc m:val="undOvr"/>
                        <m:ctrlPr>
                          <a:rPr lang="zh-CN" altLang="zh-CN" sz="2400" i="1">
                            <a:solidFill>
                              <a:srgbClr val="006699"/>
                            </a:solidFill>
                            <a:latin typeface="Cambria Math" panose="02040503050406030204" pitchFamily="18" charset="0"/>
                          </a:rPr>
                        </m:ctrlPr>
                      </m:naryPr>
                      <m:sub>
                        <m:r>
                          <a:rPr lang="en-US" altLang="zh-CN" sz="2400">
                            <a:solidFill>
                              <a:srgbClr val="006699"/>
                            </a:solidFill>
                            <a:latin typeface="Cambria Math" panose="02040503050406030204" pitchFamily="18" charset="0"/>
                          </a:rPr>
                          <m:t>𝑖</m:t>
                        </m:r>
                        <m:r>
                          <a:rPr lang="en-US" altLang="zh-CN" sz="2400">
                            <a:solidFill>
                              <a:srgbClr val="006699"/>
                            </a:solidFill>
                            <a:latin typeface="Cambria Math" panose="02040503050406030204" pitchFamily="18" charset="0"/>
                          </a:rPr>
                          <m:t>=1</m:t>
                        </m:r>
                      </m:sub>
                      <m:sup>
                        <m:r>
                          <a:rPr lang="en-US" altLang="zh-CN" sz="2400">
                            <a:solidFill>
                              <a:srgbClr val="006699"/>
                            </a:solidFill>
                            <a:latin typeface="Cambria Math" panose="02040503050406030204" pitchFamily="18" charset="0"/>
                          </a:rPr>
                          <m:t>𝑚</m:t>
                        </m:r>
                      </m:sup>
                      <m:e>
                        <m:r>
                          <a:rPr lang="en-US" altLang="zh-CN" sz="2400">
                            <a:solidFill>
                              <a:srgbClr val="006699"/>
                            </a:solidFill>
                            <a:latin typeface="Cambria Math" panose="02040503050406030204" pitchFamily="18" charset="0"/>
                          </a:rPr>
                          <m:t>𝑓</m:t>
                        </m:r>
                      </m:e>
                    </m:nary>
                    <m:d>
                      <m:dPr>
                        <m:ctrlPr>
                          <a:rPr lang="zh-CN" altLang="zh-CN" sz="2400" i="1">
                            <a:solidFill>
                              <a:srgbClr val="006699"/>
                            </a:solidFill>
                            <a:latin typeface="Cambria Math" panose="02040503050406030204" pitchFamily="18" charset="0"/>
                          </a:rPr>
                        </m:ctrlPr>
                      </m:dPr>
                      <m:e>
                        <m:sSub>
                          <m:sSubPr>
                            <m:ctrlPr>
                              <a:rPr lang="zh-CN" altLang="zh-CN" sz="2400" i="1">
                                <a:solidFill>
                                  <a:srgbClr val="006699"/>
                                </a:solidFill>
                                <a:latin typeface="Cambria Math" panose="02040503050406030204" pitchFamily="18" charset="0"/>
                              </a:rPr>
                            </m:ctrlPr>
                          </m:sSubPr>
                          <m:e>
                            <m:r>
                              <a:rPr lang="en-US" altLang="zh-CN" sz="2400">
                                <a:solidFill>
                                  <a:srgbClr val="006699"/>
                                </a:solidFill>
                                <a:latin typeface="Cambria Math" panose="02040503050406030204" pitchFamily="18" charset="0"/>
                              </a:rPr>
                              <m:t>𝜂</m:t>
                            </m:r>
                          </m:e>
                          <m:sub>
                            <m:r>
                              <a:rPr lang="en-US" altLang="zh-CN" sz="2400">
                                <a:solidFill>
                                  <a:srgbClr val="006699"/>
                                </a:solidFill>
                                <a:latin typeface="Cambria Math" panose="02040503050406030204" pitchFamily="18" charset="0"/>
                              </a:rPr>
                              <m:t>𝑖</m:t>
                            </m:r>
                          </m:sub>
                        </m:sSub>
                      </m:e>
                    </m:d>
                  </m:oMath>
                </a14:m>
                <a:endParaRPr lang="zh-CN" altLang="zh-CN" sz="3200" dirty="0">
                  <a:solidFill>
                    <a:srgbClr val="006699"/>
                  </a:solidFill>
                  <a:latin typeface="Verdana" panose="020B0604030504040204" pitchFamily="34" charset="0"/>
                </a:endParaRPr>
              </a:p>
            </p:txBody>
          </p:sp>
        </mc:Choice>
        <mc:Fallback xmlns="">
          <p:sp>
            <p:nvSpPr>
              <p:cNvPr id="4" name="文本框 3">
                <a:extLst>
                  <a:ext uri="{FF2B5EF4-FFF2-40B4-BE49-F238E27FC236}">
                    <a16:creationId xmlns:a16="http://schemas.microsoft.com/office/drawing/2014/main" id="{ADF71436-3241-D623-193A-93C3EF883497}"/>
                  </a:ext>
                </a:extLst>
              </p:cNvPr>
              <p:cNvSpPr txBox="1">
                <a:spLocks noRot="1" noChangeAspect="1" noMove="1" noResize="1" noEditPoints="1" noAdjustHandles="1" noChangeArrowheads="1" noChangeShapeType="1" noTextEdit="1"/>
              </p:cNvSpPr>
              <p:nvPr/>
            </p:nvSpPr>
            <p:spPr>
              <a:xfrm>
                <a:off x="6551" y="1444025"/>
                <a:ext cx="9448415" cy="4897046"/>
              </a:xfrm>
              <a:prstGeom prst="rect">
                <a:avLst/>
              </a:prstGeom>
              <a:blipFill>
                <a:blip r:embed="rId2"/>
                <a:stretch>
                  <a:fillRect l="-968" t="-1245"/>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250955527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3.2.4 </a:t>
            </a:r>
            <a:r>
              <a:rPr lang="zh-CN" altLang="en-US" dirty="0"/>
              <a:t>高维定积分</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0" y="1043735"/>
            <a:ext cx="9159875" cy="294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比较随机投点法</a:t>
            </a:r>
            <a:r>
              <a:rPr lang="en-US" altLang="zh-CN" sz="3200" dirty="0">
                <a:solidFill>
                  <a:srgbClr val="006699"/>
                </a:solidFill>
                <a:latin typeface="Verdana" panose="020B0604030504040204" pitchFamily="34" charset="0"/>
              </a:rPr>
              <a:t>(11.20)</a:t>
            </a:r>
            <a:r>
              <a:rPr lang="zh-CN" altLang="en-US" sz="3200" dirty="0">
                <a:solidFill>
                  <a:srgbClr val="006699"/>
                </a:solidFill>
                <a:latin typeface="Verdana" panose="020B0604030504040204" pitchFamily="34" charset="0"/>
              </a:rPr>
              <a:t>与平均值法</a:t>
            </a:r>
            <a:r>
              <a:rPr lang="en-US" altLang="zh-CN" sz="3200" dirty="0">
                <a:solidFill>
                  <a:srgbClr val="006699"/>
                </a:solidFill>
                <a:latin typeface="Verdana" panose="020B0604030504040204" pitchFamily="34" charset="0"/>
              </a:rPr>
              <a:t>(11.22)</a:t>
            </a:r>
          </a:p>
          <a:p>
            <a:pPr marL="0" indent="0" eaLnBrk="1" hangingPunct="1">
              <a:spcBef>
                <a:spcPct val="20000"/>
              </a:spcBef>
            </a:pPr>
            <a:r>
              <a:rPr lang="zh-CN" altLang="en-US" sz="3200" dirty="0">
                <a:solidFill>
                  <a:srgbClr val="006699"/>
                </a:solidFill>
                <a:latin typeface="Verdana" panose="020B0604030504040204" pitchFamily="34" charset="0"/>
              </a:rPr>
              <a:t>设随机投点法的估计为</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      平均值法的估计为</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不妨设上界</a:t>
            </a:r>
            <a:r>
              <a:rPr lang="en-US" altLang="zh-CN" sz="3200" dirty="0">
                <a:solidFill>
                  <a:srgbClr val="006699"/>
                </a:solidFill>
                <a:latin typeface="Verdana" panose="020B0604030504040204" pitchFamily="34" charset="0"/>
              </a:rPr>
              <a:t>M=1</a:t>
            </a:r>
            <a:r>
              <a:rPr lang="zh-CN" altLang="en-US" sz="3200" dirty="0">
                <a:solidFill>
                  <a:srgbClr val="006699"/>
                </a:solidFill>
                <a:latin typeface="Verdana" panose="020B0604030504040204" pitchFamily="34" charset="0"/>
              </a:rPr>
              <a:t>：</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56</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AD36B42-09D3-4D1F-B9FB-EE3545F9DE35}"/>
                  </a:ext>
                </a:extLst>
              </p:cNvPr>
              <p:cNvSpPr txBox="1"/>
              <p:nvPr/>
            </p:nvSpPr>
            <p:spPr>
              <a:xfrm>
                <a:off x="1994606" y="1688516"/>
                <a:ext cx="4699000" cy="598369"/>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smtClean="0">
                              <a:solidFill>
                                <a:srgbClr val="836967"/>
                              </a:solidFill>
                              <a:latin typeface="Cambria Math" panose="02040503050406030204" pitchFamily="18" charset="0"/>
                            </a:rPr>
                          </m:ctrlPr>
                        </m:sSubPr>
                        <m:e>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𝐼</m:t>
                              </m:r>
                            </m:e>
                          </m:acc>
                        </m:e>
                        <m:sub>
                          <m:r>
                            <a:rPr lang="zh-CN" altLang="en-US" sz="3200" i="0">
                              <a:latin typeface="Cambria Math" panose="02040503050406030204" pitchFamily="18" charset="0"/>
                            </a:rPr>
                            <m:t>1</m:t>
                          </m:r>
                        </m:sub>
                      </m:sSub>
                    </m:oMath>
                  </m:oMathPara>
                </a14:m>
                <a:endParaRPr lang="zh-CN" altLang="en-US" sz="3200" dirty="0"/>
              </a:p>
            </p:txBody>
          </p:sp>
        </mc:Choice>
        <mc:Fallback xmlns="">
          <p:sp>
            <p:nvSpPr>
              <p:cNvPr id="10" name="文本框 9">
                <a:extLst>
                  <a:ext uri="{FF2B5EF4-FFF2-40B4-BE49-F238E27FC236}">
                    <a16:creationId xmlns:a16="http://schemas.microsoft.com/office/drawing/2014/main" id="{9AD36B42-09D3-4D1F-B9FB-EE3545F9DE35}"/>
                  </a:ext>
                </a:extLst>
              </p:cNvPr>
              <p:cNvSpPr txBox="1">
                <a:spLocks noRot="1" noChangeAspect="1" noMove="1" noResize="1" noEditPoints="1" noAdjustHandles="1" noChangeArrowheads="1" noChangeShapeType="1" noTextEdit="1"/>
              </p:cNvSpPr>
              <p:nvPr/>
            </p:nvSpPr>
            <p:spPr>
              <a:xfrm>
                <a:off x="1994606" y="1688516"/>
                <a:ext cx="4699000" cy="598369"/>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EA40854-D899-4F63-9429-FFCA5008F4A1}"/>
                  </a:ext>
                </a:extLst>
              </p:cNvPr>
              <p:cNvSpPr txBox="1"/>
              <p:nvPr/>
            </p:nvSpPr>
            <p:spPr>
              <a:xfrm>
                <a:off x="4093393" y="2172626"/>
                <a:ext cx="501426" cy="598369"/>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smtClean="0">
                              <a:solidFill>
                                <a:srgbClr val="836967"/>
                              </a:solidFill>
                              <a:latin typeface="Cambria Math" panose="02040503050406030204" pitchFamily="18" charset="0"/>
                            </a:rPr>
                          </m:ctrlPr>
                        </m:sSubPr>
                        <m:e>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𝐼</m:t>
                              </m:r>
                            </m:e>
                          </m:acc>
                        </m:e>
                        <m:sub>
                          <m:r>
                            <a:rPr lang="zh-CN" altLang="en-US" sz="3200" i="0">
                              <a:latin typeface="Cambria Math" panose="02040503050406030204" pitchFamily="18" charset="0"/>
                            </a:rPr>
                            <m:t>2</m:t>
                          </m:r>
                        </m:sub>
                      </m:sSub>
                    </m:oMath>
                  </m:oMathPara>
                </a14:m>
                <a:endParaRPr lang="zh-CN" altLang="en-US" sz="3200" dirty="0"/>
              </a:p>
            </p:txBody>
          </p:sp>
        </mc:Choice>
        <mc:Fallback xmlns="">
          <p:sp>
            <p:nvSpPr>
              <p:cNvPr id="12" name="文本框 11">
                <a:extLst>
                  <a:ext uri="{FF2B5EF4-FFF2-40B4-BE49-F238E27FC236}">
                    <a16:creationId xmlns:a16="http://schemas.microsoft.com/office/drawing/2014/main" id="{DEA40854-D899-4F63-9429-FFCA5008F4A1}"/>
                  </a:ext>
                </a:extLst>
              </p:cNvPr>
              <p:cNvSpPr txBox="1">
                <a:spLocks noRot="1" noChangeAspect="1" noMove="1" noResize="1" noEditPoints="1" noAdjustHandles="1" noChangeArrowheads="1" noChangeShapeType="1" noTextEdit="1"/>
              </p:cNvSpPr>
              <p:nvPr/>
            </p:nvSpPr>
            <p:spPr>
              <a:xfrm>
                <a:off x="4093393" y="2172626"/>
                <a:ext cx="501426" cy="598369"/>
              </a:xfrm>
              <a:prstGeom prst="rect">
                <a:avLst/>
              </a:prstGeom>
              <a:blipFill>
                <a:blip r:embed="rId3"/>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0ECD81FF-65D3-48B8-9D9F-03361CBAFEAC}"/>
                  </a:ext>
                </a:extLst>
              </p:cNvPr>
              <p:cNvSpPr txBox="1"/>
              <p:nvPr/>
            </p:nvSpPr>
            <p:spPr>
              <a:xfrm>
                <a:off x="21450" y="2857494"/>
                <a:ext cx="4809066"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smtClean="0">
                          <a:latin typeface="Cambria Math" panose="02040503050406030204" pitchFamily="18" charset="0"/>
                        </a:rPr>
                        <m:t>0</m:t>
                      </m:r>
                      <m:r>
                        <a:rPr lang="zh-CN" altLang="en-US" sz="3200" i="0">
                          <a:latin typeface="Cambria Math" panose="02040503050406030204" pitchFamily="18" charset="0"/>
                        </a:rPr>
                        <m:t>≤</m:t>
                      </m:r>
                      <m:r>
                        <a:rPr lang="zh-CN" altLang="en-US" sz="3200" i="1">
                          <a:latin typeface="Cambria Math" panose="02040503050406030204" pitchFamily="18" charset="0"/>
                        </a:rPr>
                        <m:t>h</m:t>
                      </m:r>
                      <m:d>
                        <m:dPr>
                          <m:ctrlPr>
                            <a:rPr lang="zh-CN" altLang="en-US" sz="3200" i="1">
                              <a:latin typeface="Cambria Math" panose="02040503050406030204" pitchFamily="18" charset="0"/>
                            </a:rPr>
                          </m:ctrlPr>
                        </m:dPr>
                        <m:e>
                          <m:r>
                            <a:rPr lang="zh-CN" altLang="en-US" sz="3200" b="1" i="0">
                              <a:latin typeface="Cambria Math" panose="02040503050406030204" pitchFamily="18" charset="0"/>
                            </a:rPr>
                            <m:t>𝐱</m:t>
                          </m:r>
                        </m:e>
                      </m:d>
                      <m:r>
                        <a:rPr lang="zh-CN" altLang="en-US" sz="3200" b="0" i="0">
                          <a:latin typeface="Cambria Math" panose="02040503050406030204" pitchFamily="18" charset="0"/>
                        </a:rPr>
                        <m:t>≤</m:t>
                      </m:r>
                      <m:r>
                        <a:rPr lang="zh-CN" altLang="en-US" sz="3200" b="0" i="1">
                          <a:latin typeface="Cambria Math" panose="02040503050406030204" pitchFamily="18" charset="0"/>
                        </a:rPr>
                        <m:t>𝑀</m:t>
                      </m:r>
                    </m:oMath>
                  </m:oMathPara>
                </a14:m>
                <a:endParaRPr lang="zh-CN" altLang="en-US" sz="3200" dirty="0"/>
              </a:p>
            </p:txBody>
          </p:sp>
        </mc:Choice>
        <mc:Fallback xmlns="">
          <p:sp>
            <p:nvSpPr>
              <p:cNvPr id="16" name="文本框 15">
                <a:extLst>
                  <a:ext uri="{FF2B5EF4-FFF2-40B4-BE49-F238E27FC236}">
                    <a16:creationId xmlns:a16="http://schemas.microsoft.com/office/drawing/2014/main" id="{0ECD81FF-65D3-48B8-9D9F-03361CBAFEAC}"/>
                  </a:ext>
                </a:extLst>
              </p:cNvPr>
              <p:cNvSpPr txBox="1">
                <a:spLocks noRot="1" noChangeAspect="1" noMove="1" noResize="1" noEditPoints="1" noAdjustHandles="1" noChangeArrowheads="1" noChangeShapeType="1" noTextEdit="1"/>
              </p:cNvSpPr>
              <p:nvPr/>
            </p:nvSpPr>
            <p:spPr>
              <a:xfrm>
                <a:off x="21450" y="2857494"/>
                <a:ext cx="4809066" cy="584775"/>
              </a:xfrm>
              <a:prstGeom prst="rect">
                <a:avLst/>
              </a:prstGeom>
              <a:blipFill>
                <a:blip r:embed="rId4"/>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A82CE52B-A37A-4FE1-B9F3-186836495B6D}"/>
                  </a:ext>
                </a:extLst>
              </p:cNvPr>
              <p:cNvSpPr txBox="1"/>
              <p:nvPr/>
            </p:nvSpPr>
            <p:spPr>
              <a:xfrm>
                <a:off x="0" y="4049115"/>
                <a:ext cx="4953000"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smtClean="0">
                          <a:latin typeface="Cambria Math" panose="02040503050406030204" pitchFamily="18" charset="0"/>
                        </a:rPr>
                        <m:t>0</m:t>
                      </m:r>
                      <m:r>
                        <a:rPr lang="zh-CN" altLang="en-US" sz="3200" i="0">
                          <a:latin typeface="Cambria Math" panose="02040503050406030204" pitchFamily="18" charset="0"/>
                        </a:rPr>
                        <m:t>≤</m:t>
                      </m:r>
                      <m:r>
                        <a:rPr lang="zh-CN" altLang="en-US" sz="3200" i="1">
                          <a:latin typeface="Cambria Math" panose="02040503050406030204" pitchFamily="18" charset="0"/>
                        </a:rPr>
                        <m:t>h</m:t>
                      </m:r>
                      <m:d>
                        <m:dPr>
                          <m:ctrlPr>
                            <a:rPr lang="zh-CN" altLang="en-US" sz="3200" i="1">
                              <a:latin typeface="Cambria Math" panose="02040503050406030204" pitchFamily="18" charset="0"/>
                            </a:rPr>
                          </m:ctrlPr>
                        </m:dPr>
                        <m:e>
                          <m:r>
                            <a:rPr lang="zh-CN" altLang="en-US" sz="3200" b="1" i="0">
                              <a:latin typeface="Cambria Math" panose="02040503050406030204" pitchFamily="18" charset="0"/>
                            </a:rPr>
                            <m:t>𝐱</m:t>
                          </m:r>
                        </m:e>
                      </m:d>
                      <m:r>
                        <a:rPr lang="zh-CN" altLang="en-US" sz="3200" b="0" i="0">
                          <a:latin typeface="Cambria Math" panose="02040503050406030204" pitchFamily="18" charset="0"/>
                        </a:rPr>
                        <m:t>≤1</m:t>
                      </m:r>
                    </m:oMath>
                  </m:oMathPara>
                </a14:m>
                <a:endParaRPr lang="zh-CN" altLang="en-US" dirty="0"/>
              </a:p>
            </p:txBody>
          </p:sp>
        </mc:Choice>
        <mc:Fallback xmlns="">
          <p:sp>
            <p:nvSpPr>
              <p:cNvPr id="17" name="文本框 16">
                <a:extLst>
                  <a:ext uri="{FF2B5EF4-FFF2-40B4-BE49-F238E27FC236}">
                    <a16:creationId xmlns:a16="http://schemas.microsoft.com/office/drawing/2014/main" id="{A82CE52B-A37A-4FE1-B9F3-186836495B6D}"/>
                  </a:ext>
                </a:extLst>
              </p:cNvPr>
              <p:cNvSpPr txBox="1">
                <a:spLocks noRot="1" noChangeAspect="1" noMove="1" noResize="1" noEditPoints="1" noAdjustHandles="1" noChangeArrowheads="1" noChangeShapeType="1" noTextEdit="1"/>
              </p:cNvSpPr>
              <p:nvPr/>
            </p:nvSpPr>
            <p:spPr>
              <a:xfrm>
                <a:off x="0" y="4049115"/>
                <a:ext cx="4953000" cy="584775"/>
              </a:xfrm>
              <a:prstGeom prst="rect">
                <a:avLst/>
              </a:prstGeom>
              <a:blipFill>
                <a:blip r:embed="rId5"/>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70048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3.2.4 </a:t>
            </a:r>
            <a:r>
              <a:rPr lang="zh-CN" altLang="en-US" dirty="0"/>
              <a:t>高维定积分</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8893" y="5596563"/>
            <a:ext cx="91598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可见平均值法精度更高</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57</a:t>
            </a:fld>
            <a:endParaRPr lang="zh-CN" altLang="en-US">
              <a:solidFill>
                <a:srgbClr val="898989"/>
              </a:solidFill>
            </a:endParaRPr>
          </a:p>
        </p:txBody>
      </p:sp>
      <p:pic>
        <p:nvPicPr>
          <p:cNvPr id="3" name="图片 2">
            <a:extLst>
              <a:ext uri="{FF2B5EF4-FFF2-40B4-BE49-F238E27FC236}">
                <a16:creationId xmlns:a16="http://schemas.microsoft.com/office/drawing/2014/main" id="{A68778DE-5592-4CA9-98E8-E6AEC3FB8553}"/>
              </a:ext>
            </a:extLst>
          </p:cNvPr>
          <p:cNvPicPr>
            <a:picLocks noChangeAspect="1"/>
          </p:cNvPicPr>
          <p:nvPr/>
        </p:nvPicPr>
        <p:blipFill>
          <a:blip r:embed="rId2"/>
          <a:stretch>
            <a:fillRect/>
          </a:stretch>
        </p:blipFill>
        <p:spPr>
          <a:xfrm>
            <a:off x="324649" y="995751"/>
            <a:ext cx="8030934" cy="4600812"/>
          </a:xfrm>
          <a:prstGeom prst="rect">
            <a:avLst/>
          </a:prstGeom>
        </p:spPr>
      </p:pic>
    </p:spTree>
    <p:extLst>
      <p:ext uri="{BB962C8B-B14F-4D97-AF65-F5344CB8AC3E}">
        <p14:creationId xmlns:p14="http://schemas.microsoft.com/office/powerpoint/2010/main" val="298249517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例</a:t>
            </a:r>
            <a:r>
              <a:rPr lang="en-US" altLang="zh-CN" dirty="0"/>
              <a:t>11.3</a:t>
            </a:r>
            <a:endParaRPr lang="zh-CN" altLang="en-US" dirty="0"/>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967" y="894523"/>
            <a:ext cx="104083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考虑</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58</a:t>
            </a:fld>
            <a:endParaRPr lang="zh-CN" altLang="en-US">
              <a:solidFill>
                <a:srgbClr val="898989"/>
              </a:solidFill>
            </a:endParaRPr>
          </a:p>
        </p:txBody>
      </p:sp>
      <p:sp>
        <p:nvSpPr>
          <p:cNvPr id="7" name="文本框 6">
            <a:extLst>
              <a:ext uri="{FF2B5EF4-FFF2-40B4-BE49-F238E27FC236}">
                <a16:creationId xmlns:a16="http://schemas.microsoft.com/office/drawing/2014/main" id="{7CD212D5-FBAA-47F8-BB59-CFE22DE0DCF5}"/>
              </a:ext>
            </a:extLst>
          </p:cNvPr>
          <p:cNvSpPr txBox="1"/>
          <p:nvPr/>
        </p:nvSpPr>
        <p:spPr>
          <a:xfrm>
            <a:off x="160867" y="2442347"/>
            <a:ext cx="1481666" cy="584775"/>
          </a:xfrm>
          <a:prstGeom prst="rect">
            <a:avLst/>
          </a:prstGeom>
          <a:noFill/>
          <a:ln w="25400">
            <a:noFill/>
          </a:ln>
        </p:spPr>
        <p:txBody>
          <a:bodyPr wrap="square">
            <a:sp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的积分</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p:txBody>
      </p:sp>
      <p:pic>
        <p:nvPicPr>
          <p:cNvPr id="4" name="图片 3">
            <a:extLst>
              <a:ext uri="{FF2B5EF4-FFF2-40B4-BE49-F238E27FC236}">
                <a16:creationId xmlns:a16="http://schemas.microsoft.com/office/drawing/2014/main" id="{95DC2B06-735B-44D1-8711-AA9560511056}"/>
              </a:ext>
            </a:extLst>
          </p:cNvPr>
          <p:cNvPicPr>
            <a:picLocks noChangeAspect="1"/>
          </p:cNvPicPr>
          <p:nvPr/>
        </p:nvPicPr>
        <p:blipFill>
          <a:blip r:embed="rId2"/>
          <a:stretch>
            <a:fillRect/>
          </a:stretch>
        </p:blipFill>
        <p:spPr>
          <a:xfrm>
            <a:off x="341530" y="1596301"/>
            <a:ext cx="8171850" cy="549517"/>
          </a:xfrm>
          <a:prstGeom prst="rect">
            <a:avLst/>
          </a:prstGeom>
        </p:spPr>
      </p:pic>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6C84C7F-8F5F-43AB-AF96-5429C0F7AB14}"/>
                  </a:ext>
                </a:extLst>
              </p:cNvPr>
              <p:cNvSpPr txBox="1"/>
              <p:nvPr/>
            </p:nvSpPr>
            <p:spPr>
              <a:xfrm>
                <a:off x="399507" y="2956306"/>
                <a:ext cx="8055895" cy="1634743"/>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𝐼</m:t>
                      </m:r>
                      <m:r>
                        <a:rPr lang="zh-CN" altLang="en-US" sz="3200" i="0">
                          <a:latin typeface="Cambria Math" panose="02040503050406030204" pitchFamily="18" charset="0"/>
                        </a:rPr>
                        <m:t>=</m:t>
                      </m:r>
                      <m:nary>
                        <m:naryPr>
                          <m:limLoc m:val="subSup"/>
                          <m:grow m:val="on"/>
                          <m:ctrlPr>
                            <a:rPr lang="zh-CN" altLang="en-US" sz="3200" i="1">
                              <a:latin typeface="Cambria Math" panose="02040503050406030204" pitchFamily="18" charset="0"/>
                            </a:rPr>
                          </m:ctrlPr>
                        </m:naryPr>
                        <m:sub>
                          <m:r>
                            <a:rPr lang="zh-CN" altLang="en-US" sz="3200" i="0">
                              <a:latin typeface="Cambria Math" panose="02040503050406030204" pitchFamily="18" charset="0"/>
                            </a:rPr>
                            <m:t>0</m:t>
                          </m:r>
                        </m:sub>
                        <m:sup>
                          <m:r>
                            <a:rPr lang="zh-CN" altLang="en-US" sz="3200" i="0">
                              <a:latin typeface="Cambria Math" panose="02040503050406030204" pitchFamily="18" charset="0"/>
                            </a:rPr>
                            <m:t>1</m:t>
                          </m:r>
                        </m:sup>
                        <m:e>
                          <m:r>
                            <a:rPr lang="zh-CN" altLang="en-US" sz="3200" i="0">
                              <a:latin typeface="Cambria Math" panose="02040503050406030204" pitchFamily="18" charset="0"/>
                            </a:rPr>
                            <m:t>⋯</m:t>
                          </m:r>
                        </m:e>
                      </m:nary>
                      <m:nary>
                        <m:naryPr>
                          <m:limLoc m:val="subSup"/>
                          <m:grow m:val="on"/>
                          <m:ctrlPr>
                            <a:rPr lang="zh-CN" altLang="en-US" sz="3200" i="1">
                              <a:latin typeface="Cambria Math" panose="02040503050406030204" pitchFamily="18" charset="0"/>
                            </a:rPr>
                          </m:ctrlPr>
                        </m:naryPr>
                        <m:sub>
                          <m:r>
                            <a:rPr lang="zh-CN" altLang="en-US" sz="3200" i="0">
                              <a:latin typeface="Cambria Math" panose="02040503050406030204" pitchFamily="18" charset="0"/>
                            </a:rPr>
                            <m:t>0</m:t>
                          </m:r>
                        </m:sub>
                        <m:sup>
                          <m:r>
                            <a:rPr lang="zh-CN" altLang="en-US" sz="3200" i="0">
                              <a:latin typeface="Cambria Math" panose="02040503050406030204" pitchFamily="18" charset="0"/>
                            </a:rPr>
                            <m:t>1</m:t>
                          </m:r>
                        </m:sup>
                        <m:e>
                          <m:nary>
                            <m:naryPr>
                              <m:limLoc m:val="subSup"/>
                              <m:grow m:val="on"/>
                              <m:ctrlPr>
                                <a:rPr lang="zh-CN" altLang="en-US" sz="3200" i="1">
                                  <a:latin typeface="Cambria Math" panose="02040503050406030204" pitchFamily="18" charset="0"/>
                                </a:rPr>
                              </m:ctrlPr>
                            </m:naryPr>
                            <m:sub>
                              <m:r>
                                <a:rPr lang="zh-CN" altLang="en-US" sz="3200" i="0">
                                  <a:latin typeface="Cambria Math" panose="02040503050406030204" pitchFamily="18" charset="0"/>
                                </a:rPr>
                                <m:t>0</m:t>
                              </m:r>
                            </m:sub>
                            <m:sup>
                              <m:r>
                                <a:rPr lang="zh-CN" altLang="en-US" sz="3200" i="0">
                                  <a:latin typeface="Cambria Math" panose="02040503050406030204" pitchFamily="18" charset="0"/>
                                </a:rPr>
                                <m:t>1</m:t>
                              </m:r>
                            </m:sup>
                            <m:e>
                              <m:sSubSup>
                                <m:sSubSupPr>
                                  <m:ctrlPr>
                                    <a:rPr lang="zh-CN" altLang="en-US" sz="3200" i="1">
                                      <a:solidFill>
                                        <a:srgbClr val="836967"/>
                                      </a:solidFill>
                                      <a:latin typeface="Cambria Math" panose="02040503050406030204" pitchFamily="18" charset="0"/>
                                    </a:rPr>
                                  </m:ctrlPr>
                                </m:sSubSupPr>
                                <m:e>
                                  <m:r>
                                    <a:rPr lang="zh-CN" altLang="en-US" sz="3200" i="1">
                                      <a:latin typeface="Cambria Math" panose="02040503050406030204" pitchFamily="18" charset="0"/>
                                    </a:rPr>
                                    <m:t>𝑥</m:t>
                                  </m:r>
                                </m:e>
                                <m:sub>
                                  <m:r>
                                    <a:rPr lang="zh-CN" altLang="en-US" sz="3200" i="0">
                                      <a:latin typeface="Cambria Math" panose="02040503050406030204" pitchFamily="18" charset="0"/>
                                    </a:rPr>
                                    <m:t>1</m:t>
                                  </m:r>
                                </m:sub>
                                <m:sup>
                                  <m:r>
                                    <a:rPr lang="zh-CN" altLang="en-US" sz="3200" i="0">
                                      <a:latin typeface="Cambria Math" panose="02040503050406030204" pitchFamily="18" charset="0"/>
                                    </a:rPr>
                                    <m:t>2</m:t>
                                  </m:r>
                                </m:sup>
                              </m:sSubSup>
                            </m:e>
                          </m:nary>
                        </m:e>
                      </m:nary>
                      <m:sSubSup>
                        <m:sSubSupPr>
                          <m:ctrlPr>
                            <a:rPr lang="zh-CN" altLang="en-US" sz="3200" i="1">
                              <a:solidFill>
                                <a:srgbClr val="836967"/>
                              </a:solidFill>
                              <a:latin typeface="Cambria Math" panose="02040503050406030204" pitchFamily="18" charset="0"/>
                            </a:rPr>
                          </m:ctrlPr>
                        </m:sSubSupPr>
                        <m:e>
                          <m:r>
                            <a:rPr lang="zh-CN" altLang="en-US" sz="3200" i="1">
                              <a:latin typeface="Cambria Math" panose="02040503050406030204" pitchFamily="18" charset="0"/>
                            </a:rPr>
                            <m:t>𝑥</m:t>
                          </m:r>
                        </m:e>
                        <m:sub>
                          <m:r>
                            <a:rPr lang="zh-CN" altLang="en-US" sz="3200" i="0">
                              <a:latin typeface="Cambria Math" panose="02040503050406030204" pitchFamily="18" charset="0"/>
                            </a:rPr>
                            <m:t>2</m:t>
                          </m:r>
                        </m:sub>
                        <m:sup>
                          <m:r>
                            <a:rPr lang="zh-CN" altLang="en-US" sz="3200" i="0">
                              <a:latin typeface="Cambria Math" panose="02040503050406030204" pitchFamily="18" charset="0"/>
                            </a:rPr>
                            <m:t>2</m:t>
                          </m:r>
                        </m:sup>
                      </m:sSubSup>
                      <m:r>
                        <a:rPr lang="zh-CN" altLang="en-US" sz="3200" i="0">
                          <a:latin typeface="Cambria Math" panose="02040503050406030204" pitchFamily="18" charset="0"/>
                        </a:rPr>
                        <m:t>⋯</m:t>
                      </m:r>
                      <m:sSubSup>
                        <m:sSubSupPr>
                          <m:ctrlPr>
                            <a:rPr lang="zh-CN" altLang="en-US" sz="3200" i="1">
                              <a:solidFill>
                                <a:srgbClr val="836967"/>
                              </a:solidFill>
                              <a:latin typeface="Cambria Math" panose="02040503050406030204" pitchFamily="18" charset="0"/>
                            </a:rPr>
                          </m:ctrlPr>
                        </m:sSubSupPr>
                        <m:e>
                          <m:r>
                            <a:rPr lang="zh-CN" altLang="en-US" sz="3200" i="1">
                              <a:latin typeface="Cambria Math" panose="02040503050406030204" pitchFamily="18" charset="0"/>
                            </a:rPr>
                            <m:t>𝑥</m:t>
                          </m:r>
                        </m:e>
                        <m:sub>
                          <m:r>
                            <a:rPr lang="zh-CN" altLang="en-US" sz="3200" i="1">
                              <a:latin typeface="Cambria Math" panose="02040503050406030204" pitchFamily="18" charset="0"/>
                            </a:rPr>
                            <m:t>𝑑</m:t>
                          </m:r>
                        </m:sub>
                        <m:sup>
                          <m:r>
                            <a:rPr lang="zh-CN" altLang="en-US" sz="3200" i="0">
                              <a:latin typeface="Cambria Math" panose="02040503050406030204" pitchFamily="18" charset="0"/>
                            </a:rPr>
                            <m:t>2</m:t>
                          </m:r>
                        </m:sup>
                      </m:sSubSup>
                      <m:r>
                        <a:rPr lang="zh-CN" altLang="en-US" sz="3200" i="1">
                          <a:latin typeface="Cambria Math" panose="02040503050406030204" pitchFamily="18" charset="0"/>
                        </a:rPr>
                        <m:t>𝑑</m:t>
                      </m:r>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0">
                              <a:latin typeface="Cambria Math" panose="02040503050406030204" pitchFamily="18" charset="0"/>
                            </a:rPr>
                            <m:t>1</m:t>
                          </m:r>
                        </m:sub>
                      </m:sSub>
                      <m:r>
                        <a:rPr lang="zh-CN" altLang="en-US" sz="3200" i="1">
                          <a:latin typeface="Cambria Math" panose="02040503050406030204" pitchFamily="18" charset="0"/>
                        </a:rPr>
                        <m:t>𝑑</m:t>
                      </m:r>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0">
                              <a:latin typeface="Cambria Math" panose="02040503050406030204" pitchFamily="18" charset="0"/>
                            </a:rPr>
                            <m:t>2</m:t>
                          </m:r>
                        </m:sub>
                      </m:sSub>
                      <m:r>
                        <a:rPr lang="zh-CN" altLang="en-US" sz="3200" i="0">
                          <a:latin typeface="Cambria Math" panose="02040503050406030204" pitchFamily="18" charset="0"/>
                        </a:rPr>
                        <m:t>⋯</m:t>
                      </m:r>
                      <m:r>
                        <a:rPr lang="zh-CN" altLang="en-US" sz="3200" i="1">
                          <a:latin typeface="Cambria Math" panose="02040503050406030204" pitchFamily="18" charset="0"/>
                        </a:rPr>
                        <m:t>𝑑</m:t>
                      </m:r>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1">
                              <a:latin typeface="Cambria Math" panose="02040503050406030204" pitchFamily="18" charset="0"/>
                            </a:rPr>
                            <m:t>𝑑</m:t>
                          </m:r>
                        </m:sub>
                      </m:sSub>
                    </m:oMath>
                  </m:oMathPara>
                </a14:m>
                <a:endParaRPr lang="zh-CN" altLang="en-US" dirty="0"/>
              </a:p>
            </p:txBody>
          </p:sp>
        </mc:Choice>
        <mc:Fallback xmlns="">
          <p:sp>
            <p:nvSpPr>
              <p:cNvPr id="11" name="文本框 10">
                <a:extLst>
                  <a:ext uri="{FF2B5EF4-FFF2-40B4-BE49-F238E27FC236}">
                    <a16:creationId xmlns:a16="http://schemas.microsoft.com/office/drawing/2014/main" id="{06C84C7F-8F5F-43AB-AF96-5429C0F7AB14}"/>
                  </a:ext>
                </a:extLst>
              </p:cNvPr>
              <p:cNvSpPr txBox="1">
                <a:spLocks noRot="1" noChangeAspect="1" noMove="1" noResize="1" noEditPoints="1" noAdjustHandles="1" noChangeArrowheads="1" noChangeShapeType="1" noTextEdit="1"/>
              </p:cNvSpPr>
              <p:nvPr/>
            </p:nvSpPr>
            <p:spPr>
              <a:xfrm>
                <a:off x="399507" y="2956306"/>
                <a:ext cx="8055895" cy="1634743"/>
              </a:xfrm>
              <a:prstGeom prst="rect">
                <a:avLst/>
              </a:prstGeom>
              <a:blipFill>
                <a:blip r:embed="rId3"/>
                <a:stretch>
                  <a:fillRect/>
                </a:stretch>
              </a:blipFill>
              <a:ln w="25400">
                <a:noFill/>
              </a:ln>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E13616DC-9824-4E9A-BCFC-7624C9FC068D}"/>
              </a:ext>
            </a:extLst>
          </p:cNvPr>
          <p:cNvSpPr txBox="1"/>
          <p:nvPr/>
        </p:nvSpPr>
        <p:spPr>
          <a:xfrm>
            <a:off x="95248" y="5056324"/>
            <a:ext cx="8998365" cy="1077218"/>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以</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d=8</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为例</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比较</a:t>
            </a:r>
            <a:r>
              <a:rPr kumimoji="0" lang="zh-CN" altLang="en-US"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网格点法</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r>
              <a:rPr kumimoji="0" lang="zh-CN" altLang="en-US"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随机投点法</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r>
              <a:rPr kumimoji="0" lang="zh-CN" altLang="en-US"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平均值法</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的精度</a:t>
            </a:r>
            <a:endParaRPr lang="zh-CN" altLang="en-US" dirty="0"/>
          </a:p>
        </p:txBody>
      </p:sp>
    </p:spTree>
    <p:extLst>
      <p:ext uri="{BB962C8B-B14F-4D97-AF65-F5344CB8AC3E}">
        <p14:creationId xmlns:p14="http://schemas.microsoft.com/office/powerpoint/2010/main" val="15282845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dirty="0"/>
              <a:t>例</a:t>
            </a:r>
            <a:r>
              <a:rPr lang="en-US" altLang="zh-CN" dirty="0"/>
              <a:t>11.3</a:t>
            </a:r>
            <a:endParaRPr lang="zh-CN" altLang="en-US" dirty="0"/>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59</a:t>
            </a:fld>
            <a:endParaRPr lang="zh-CN" altLang="en-US">
              <a:solidFill>
                <a:srgbClr val="898989"/>
              </a:solidFill>
            </a:endParaRPr>
          </a:p>
        </p:txBody>
      </p:sp>
      <p:sp>
        <p:nvSpPr>
          <p:cNvPr id="13" name="文本框 12">
            <a:extLst>
              <a:ext uri="{FF2B5EF4-FFF2-40B4-BE49-F238E27FC236}">
                <a16:creationId xmlns:a16="http://schemas.microsoft.com/office/drawing/2014/main" id="{E13616DC-9824-4E9A-BCFC-7624C9FC068D}"/>
              </a:ext>
            </a:extLst>
          </p:cNvPr>
          <p:cNvSpPr txBox="1"/>
          <p:nvPr/>
        </p:nvSpPr>
        <p:spPr>
          <a:xfrm>
            <a:off x="156927" y="1178750"/>
            <a:ext cx="8998365" cy="3539430"/>
          </a:xfrm>
          <a:prstGeom prst="rect">
            <a:avLst/>
          </a:prstGeom>
          <a:noFill/>
          <a:ln w="25400">
            <a:noFill/>
          </a:ln>
        </p:spPr>
        <p:txBody>
          <a:bodyPr wrap="square">
            <a:spAutoFit/>
          </a:bodyPr>
          <a:lstStyle/>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网格点法</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随机投点法</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平均值法</a:t>
            </a:r>
            <a:endParaRPr lang="zh-CN" altLang="en-US" dirty="0"/>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81E2E17C-9FE5-4974-AF66-D6E07BB264AE}"/>
                  </a:ext>
                </a:extLst>
              </p:cNvPr>
              <p:cNvSpPr txBox="1"/>
              <p:nvPr/>
            </p:nvSpPr>
            <p:spPr>
              <a:xfrm>
                <a:off x="2591780" y="1161480"/>
                <a:ext cx="6549135" cy="1555106"/>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000" i="1" smtClean="0">
                              <a:solidFill>
                                <a:srgbClr val="836967"/>
                              </a:solidFill>
                              <a:latin typeface="Cambria Math" panose="02040503050406030204" pitchFamily="18" charset="0"/>
                            </a:rPr>
                          </m:ctrlPr>
                        </m:sSubPr>
                        <m:e>
                          <m:r>
                            <a:rPr lang="zh-CN" altLang="en-US" sz="2000" i="1">
                              <a:latin typeface="Cambria Math" panose="02040503050406030204" pitchFamily="18" charset="0"/>
                            </a:rPr>
                            <m:t>𝐼</m:t>
                          </m:r>
                        </m:e>
                        <m:sub>
                          <m:r>
                            <a:rPr lang="zh-CN" altLang="en-US" sz="2000" i="0">
                              <a:latin typeface="Cambria Math" panose="02040503050406030204" pitchFamily="18" charset="0"/>
                            </a:rPr>
                            <m:t>0</m:t>
                          </m:r>
                        </m:sub>
                      </m:sSub>
                      <m:r>
                        <a:rPr lang="zh-CN" altLang="en-US" sz="2000" i="0">
                          <a:latin typeface="Cambria Math" panose="02040503050406030204" pitchFamily="18" charset="0"/>
                        </a:rPr>
                        <m:t>=</m:t>
                      </m:r>
                      <m:f>
                        <m:fPr>
                          <m:ctrlPr>
                            <a:rPr lang="zh-CN" altLang="en-US" sz="2000" i="1">
                              <a:solidFill>
                                <a:srgbClr val="836967"/>
                              </a:solidFill>
                              <a:latin typeface="Cambria Math" panose="02040503050406030204" pitchFamily="18" charset="0"/>
                            </a:rPr>
                          </m:ctrlPr>
                        </m:fPr>
                        <m:num>
                          <m:r>
                            <a:rPr lang="zh-CN" altLang="en-US" sz="2000" i="0">
                              <a:latin typeface="Cambria Math" panose="02040503050406030204" pitchFamily="18" charset="0"/>
                            </a:rPr>
                            <m:t>1</m:t>
                          </m:r>
                        </m:num>
                        <m:den>
                          <m:r>
                            <a:rPr lang="zh-CN" altLang="en-US" sz="2000" i="1">
                              <a:latin typeface="Cambria Math" panose="02040503050406030204" pitchFamily="18" charset="0"/>
                            </a:rPr>
                            <m:t>𝑁</m:t>
                          </m:r>
                        </m:den>
                      </m:f>
                      <m:nary>
                        <m:naryPr>
                          <m:chr m:val="∑"/>
                          <m:limLoc m:val="undOvr"/>
                          <m:grow m:val="on"/>
                          <m:ctrlPr>
                            <a:rPr lang="zh-CN" altLang="en-US" sz="2000" i="1">
                              <a:latin typeface="Cambria Math" panose="02040503050406030204" pitchFamily="18" charset="0"/>
                            </a:rPr>
                          </m:ctrlPr>
                        </m:naryPr>
                        <m:sub>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𝑖</m:t>
                              </m:r>
                            </m:e>
                            <m:sub>
                              <m:r>
                                <a:rPr lang="zh-CN" altLang="en-US" sz="2000" i="0">
                                  <a:latin typeface="Cambria Math" panose="02040503050406030204" pitchFamily="18" charset="0"/>
                                </a:rPr>
                                <m:t>1</m:t>
                              </m:r>
                            </m:sub>
                          </m:sSub>
                          <m:r>
                            <a:rPr lang="zh-CN" altLang="en-US" sz="2000" i="0">
                              <a:latin typeface="Cambria Math" panose="02040503050406030204" pitchFamily="18" charset="0"/>
                            </a:rPr>
                            <m:t>=1</m:t>
                          </m:r>
                        </m:sub>
                        <m:sup>
                          <m:r>
                            <a:rPr lang="zh-CN" altLang="en-US" sz="2000" i="1">
                              <a:latin typeface="Cambria Math" panose="02040503050406030204" pitchFamily="18" charset="0"/>
                            </a:rPr>
                            <m:t>𝑛</m:t>
                          </m:r>
                        </m:sup>
                        <m:e>
                          <m:nary>
                            <m:naryPr>
                              <m:chr m:val="∑"/>
                              <m:limLoc m:val="undOvr"/>
                              <m:grow m:val="on"/>
                              <m:ctrlPr>
                                <a:rPr lang="zh-CN" altLang="en-US" sz="2000" i="1">
                                  <a:latin typeface="Cambria Math" panose="02040503050406030204" pitchFamily="18" charset="0"/>
                                </a:rPr>
                              </m:ctrlPr>
                            </m:naryPr>
                            <m:sub>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𝑖</m:t>
                                  </m:r>
                                </m:e>
                                <m:sub>
                                  <m:r>
                                    <a:rPr lang="zh-CN" altLang="en-US" sz="2000" i="0">
                                      <a:latin typeface="Cambria Math" panose="02040503050406030204" pitchFamily="18" charset="0"/>
                                    </a:rPr>
                                    <m:t>2</m:t>
                                  </m:r>
                                </m:sub>
                              </m:sSub>
                              <m:r>
                                <a:rPr lang="zh-CN" altLang="en-US" sz="2000" i="0">
                                  <a:latin typeface="Cambria Math" panose="02040503050406030204" pitchFamily="18" charset="0"/>
                                </a:rPr>
                                <m:t>=1</m:t>
                              </m:r>
                            </m:sub>
                            <m:sup>
                              <m:r>
                                <a:rPr lang="zh-CN" altLang="en-US" sz="2000" i="1">
                                  <a:latin typeface="Cambria Math" panose="02040503050406030204" pitchFamily="18" charset="0"/>
                                </a:rPr>
                                <m:t>𝑛</m:t>
                              </m:r>
                            </m:sup>
                            <m:e>
                              <m:r>
                                <a:rPr lang="zh-CN" altLang="en-US" sz="2000" i="0">
                                  <a:latin typeface="Cambria Math" panose="02040503050406030204" pitchFamily="18" charset="0"/>
                                </a:rPr>
                                <m:t>⋯</m:t>
                              </m:r>
                            </m:e>
                          </m:nary>
                        </m:e>
                      </m:nary>
                      <m:nary>
                        <m:naryPr>
                          <m:chr m:val="∑"/>
                          <m:limLoc m:val="undOvr"/>
                          <m:grow m:val="on"/>
                          <m:ctrlPr>
                            <a:rPr lang="zh-CN" altLang="en-US" sz="2000" i="1">
                              <a:latin typeface="Cambria Math" panose="02040503050406030204" pitchFamily="18" charset="0"/>
                            </a:rPr>
                          </m:ctrlPr>
                        </m:naryPr>
                        <m:sub>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𝑖</m:t>
                              </m:r>
                            </m:e>
                            <m:sub>
                              <m:r>
                                <a:rPr lang="zh-CN" altLang="en-US" sz="2000" i="1">
                                  <a:latin typeface="Cambria Math" panose="02040503050406030204" pitchFamily="18" charset="0"/>
                                </a:rPr>
                                <m:t>𝑑</m:t>
                              </m:r>
                            </m:sub>
                          </m:sSub>
                          <m:r>
                            <a:rPr lang="zh-CN" altLang="en-US" sz="2000" i="0">
                              <a:latin typeface="Cambria Math" panose="02040503050406030204" pitchFamily="18" charset="0"/>
                            </a:rPr>
                            <m:t>=1</m:t>
                          </m:r>
                        </m:sub>
                        <m:sup>
                          <m:r>
                            <a:rPr lang="zh-CN" altLang="en-US" sz="2000" i="1">
                              <a:latin typeface="Cambria Math" panose="02040503050406030204" pitchFamily="18" charset="0"/>
                            </a:rPr>
                            <m:t>𝑛</m:t>
                          </m:r>
                        </m:sup>
                        <m:e>
                          <m:r>
                            <a:rPr lang="zh-CN" altLang="en-US" sz="2000" i="1">
                              <a:latin typeface="Cambria Math" panose="02040503050406030204" pitchFamily="18" charset="0"/>
                            </a:rPr>
                            <m:t>𝑓</m:t>
                          </m:r>
                        </m:e>
                      </m:nary>
                      <m:d>
                        <m:dPr>
                          <m:sepChr m:val=","/>
                          <m:ctrlPr>
                            <a:rPr lang="zh-CN" altLang="en-US" sz="2000" i="1">
                              <a:latin typeface="Cambria Math" panose="02040503050406030204" pitchFamily="18" charset="0"/>
                            </a:rPr>
                          </m:ctrlPr>
                        </m:dPr>
                        <m:e>
                          <m:f>
                            <m:fPr>
                              <m:ctrlPr>
                                <a:rPr lang="zh-CN" altLang="en-US" sz="2000" i="1">
                                  <a:solidFill>
                                    <a:srgbClr val="836967"/>
                                  </a:solidFill>
                                  <a:latin typeface="Cambria Math" panose="02040503050406030204" pitchFamily="18" charset="0"/>
                                </a:rPr>
                              </m:ctrlPr>
                            </m:fPr>
                            <m:num>
                              <m:r>
                                <a:rPr lang="zh-CN" altLang="en-US" sz="2000" i="0">
                                  <a:latin typeface="Cambria Math" panose="02040503050406030204" pitchFamily="18" charset="0"/>
                                </a:rPr>
                                <m:t>2</m:t>
                              </m:r>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𝑖</m:t>
                                  </m:r>
                                </m:e>
                                <m:sub>
                                  <m:r>
                                    <a:rPr lang="zh-CN" altLang="en-US" sz="2000" i="0">
                                      <a:latin typeface="Cambria Math" panose="02040503050406030204" pitchFamily="18" charset="0"/>
                                    </a:rPr>
                                    <m:t>1</m:t>
                                  </m:r>
                                </m:sub>
                              </m:sSub>
                              <m:r>
                                <a:rPr lang="zh-CN" altLang="en-US" sz="2000" i="0">
                                  <a:latin typeface="Cambria Math" panose="02040503050406030204" pitchFamily="18" charset="0"/>
                                </a:rPr>
                                <m:t>−1</m:t>
                              </m:r>
                            </m:num>
                            <m:den>
                              <m:r>
                                <a:rPr lang="zh-CN" altLang="en-US" sz="2000" i="0">
                                  <a:latin typeface="Cambria Math" panose="02040503050406030204" pitchFamily="18" charset="0"/>
                                </a:rPr>
                                <m:t>2</m:t>
                              </m:r>
                              <m:r>
                                <a:rPr lang="zh-CN" altLang="en-US" sz="2000" i="1">
                                  <a:latin typeface="Cambria Math" panose="02040503050406030204" pitchFamily="18" charset="0"/>
                                </a:rPr>
                                <m:t>𝑛</m:t>
                              </m:r>
                            </m:den>
                          </m:f>
                        </m:e>
                        <m:e>
                          <m:f>
                            <m:fPr>
                              <m:ctrlPr>
                                <a:rPr lang="zh-CN" altLang="en-US" sz="2000" i="1">
                                  <a:solidFill>
                                    <a:srgbClr val="836967"/>
                                  </a:solidFill>
                                  <a:latin typeface="Cambria Math" panose="02040503050406030204" pitchFamily="18" charset="0"/>
                                </a:rPr>
                              </m:ctrlPr>
                            </m:fPr>
                            <m:num>
                              <m:r>
                                <a:rPr lang="zh-CN" altLang="en-US" sz="2000" i="0">
                                  <a:latin typeface="Cambria Math" panose="02040503050406030204" pitchFamily="18" charset="0"/>
                                </a:rPr>
                                <m:t>2</m:t>
                              </m:r>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𝑖</m:t>
                                  </m:r>
                                </m:e>
                                <m:sub>
                                  <m:r>
                                    <a:rPr lang="zh-CN" altLang="en-US" sz="2000" i="0">
                                      <a:latin typeface="Cambria Math" panose="02040503050406030204" pitchFamily="18" charset="0"/>
                                    </a:rPr>
                                    <m:t>2</m:t>
                                  </m:r>
                                </m:sub>
                              </m:sSub>
                              <m:r>
                                <a:rPr lang="zh-CN" altLang="en-US" sz="2000" i="0">
                                  <a:latin typeface="Cambria Math" panose="02040503050406030204" pitchFamily="18" charset="0"/>
                                </a:rPr>
                                <m:t>−1</m:t>
                              </m:r>
                            </m:num>
                            <m:den>
                              <m:r>
                                <a:rPr lang="zh-CN" altLang="en-US" sz="2000" i="0">
                                  <a:latin typeface="Cambria Math" panose="02040503050406030204" pitchFamily="18" charset="0"/>
                                </a:rPr>
                                <m:t>2</m:t>
                              </m:r>
                              <m:r>
                                <a:rPr lang="zh-CN" altLang="en-US" sz="2000" i="1">
                                  <a:latin typeface="Cambria Math" panose="02040503050406030204" pitchFamily="18" charset="0"/>
                                </a:rPr>
                                <m:t>𝑛</m:t>
                              </m:r>
                            </m:den>
                          </m:f>
                        </m:e>
                        <m:e>
                          <m:r>
                            <a:rPr lang="zh-CN" altLang="en-US" sz="2000" i="0">
                              <a:latin typeface="Cambria Math" panose="02040503050406030204" pitchFamily="18" charset="0"/>
                            </a:rPr>
                            <m:t>…</m:t>
                          </m:r>
                        </m:e>
                        <m:e>
                          <m:f>
                            <m:fPr>
                              <m:ctrlPr>
                                <a:rPr lang="zh-CN" altLang="en-US" sz="2000" i="1">
                                  <a:solidFill>
                                    <a:srgbClr val="836967"/>
                                  </a:solidFill>
                                  <a:latin typeface="Cambria Math" panose="02040503050406030204" pitchFamily="18" charset="0"/>
                                </a:rPr>
                              </m:ctrlPr>
                            </m:fPr>
                            <m:num>
                              <m:r>
                                <a:rPr lang="zh-CN" altLang="en-US" sz="2000" i="0">
                                  <a:latin typeface="Cambria Math" panose="02040503050406030204" pitchFamily="18" charset="0"/>
                                </a:rPr>
                                <m:t>2</m:t>
                              </m:r>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𝑖</m:t>
                                  </m:r>
                                </m:e>
                                <m:sub>
                                  <m:r>
                                    <a:rPr lang="zh-CN" altLang="en-US" sz="2000" i="1">
                                      <a:latin typeface="Cambria Math" panose="02040503050406030204" pitchFamily="18" charset="0"/>
                                    </a:rPr>
                                    <m:t>𝑑</m:t>
                                  </m:r>
                                </m:sub>
                              </m:sSub>
                              <m:r>
                                <a:rPr lang="zh-CN" altLang="en-US" sz="2000" i="0">
                                  <a:latin typeface="Cambria Math" panose="02040503050406030204" pitchFamily="18" charset="0"/>
                                </a:rPr>
                                <m:t>−1</m:t>
                              </m:r>
                            </m:num>
                            <m:den>
                              <m:r>
                                <a:rPr lang="zh-CN" altLang="en-US" sz="2000" i="0">
                                  <a:latin typeface="Cambria Math" panose="02040503050406030204" pitchFamily="18" charset="0"/>
                                </a:rPr>
                                <m:t>2</m:t>
                              </m:r>
                              <m:r>
                                <a:rPr lang="zh-CN" altLang="en-US" sz="2000" i="1">
                                  <a:latin typeface="Cambria Math" panose="02040503050406030204" pitchFamily="18" charset="0"/>
                                </a:rPr>
                                <m:t>𝑛</m:t>
                              </m:r>
                            </m:den>
                          </m:f>
                        </m:e>
                      </m:d>
                    </m:oMath>
                  </m:oMathPara>
                </a14:m>
                <a:endParaRPr lang="zh-CN" altLang="en-US" sz="1600" dirty="0"/>
              </a:p>
            </p:txBody>
          </p:sp>
        </mc:Choice>
        <mc:Fallback xmlns="">
          <p:sp>
            <p:nvSpPr>
              <p:cNvPr id="10" name="文本框 9">
                <a:extLst>
                  <a:ext uri="{FF2B5EF4-FFF2-40B4-BE49-F238E27FC236}">
                    <a16:creationId xmlns:a16="http://schemas.microsoft.com/office/drawing/2014/main" id="{81E2E17C-9FE5-4974-AF66-D6E07BB264AE}"/>
                  </a:ext>
                </a:extLst>
              </p:cNvPr>
              <p:cNvSpPr txBox="1">
                <a:spLocks noRot="1" noChangeAspect="1" noMove="1" noResize="1" noEditPoints="1" noAdjustHandles="1" noChangeArrowheads="1" noChangeShapeType="1" noTextEdit="1"/>
              </p:cNvSpPr>
              <p:nvPr/>
            </p:nvSpPr>
            <p:spPr>
              <a:xfrm>
                <a:off x="2591780" y="1161480"/>
                <a:ext cx="6549135" cy="1555106"/>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EAEE0DC-B97A-43EA-8771-585DD1FE0474}"/>
                  </a:ext>
                </a:extLst>
              </p:cNvPr>
              <p:cNvSpPr txBox="1"/>
              <p:nvPr/>
            </p:nvSpPr>
            <p:spPr>
              <a:xfrm>
                <a:off x="2591780" y="4626180"/>
                <a:ext cx="4690532" cy="1130822"/>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smtClean="0">
                              <a:solidFill>
                                <a:srgbClr val="836967"/>
                              </a:solidFill>
                              <a:latin typeface="Cambria Math" panose="02040503050406030204" pitchFamily="18" charset="0"/>
                            </a:rPr>
                          </m:ctrlPr>
                        </m:sSubPr>
                        <m:e>
                          <m:acc>
                            <m:accPr>
                              <m:chr m:val="̂"/>
                              <m:ctrlPr>
                                <a:rPr lang="zh-CN" altLang="en-US" sz="2400" i="1">
                                  <a:solidFill>
                                    <a:srgbClr val="836967"/>
                                  </a:solidFill>
                                  <a:latin typeface="Cambria Math" panose="02040503050406030204" pitchFamily="18" charset="0"/>
                                </a:rPr>
                              </m:ctrlPr>
                            </m:accPr>
                            <m:e>
                              <m:r>
                                <a:rPr lang="zh-CN" altLang="en-US" sz="2400" i="1">
                                  <a:latin typeface="Cambria Math" panose="02040503050406030204" pitchFamily="18" charset="0"/>
                                </a:rPr>
                                <m:t>𝐼</m:t>
                              </m:r>
                            </m:e>
                          </m:acc>
                        </m:e>
                        <m:sub>
                          <m:r>
                            <a:rPr lang="zh-CN" altLang="en-US" sz="2400" i="0">
                              <a:latin typeface="Cambria Math" panose="02040503050406030204" pitchFamily="18" charset="0"/>
                            </a:rPr>
                            <m:t>2</m:t>
                          </m:r>
                        </m:sub>
                      </m:sSub>
                      <m:r>
                        <a:rPr lang="zh-CN" altLang="en-US" sz="2400" i="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i="0">
                              <a:latin typeface="Cambria Math" panose="02040503050406030204" pitchFamily="18" charset="0"/>
                            </a:rPr>
                            <m:t>1</m:t>
                          </m:r>
                        </m:num>
                        <m:den>
                          <m:r>
                            <a:rPr lang="zh-CN" altLang="en-US" sz="2400" i="1">
                              <a:latin typeface="Cambria Math" panose="02040503050406030204" pitchFamily="18" charset="0"/>
                            </a:rPr>
                            <m:t>𝑁</m:t>
                          </m:r>
                        </m:den>
                      </m:f>
                      <m:nary>
                        <m:naryPr>
                          <m:chr m:val="∑"/>
                          <m:limLoc m:val="undOvr"/>
                          <m:grow m:val="on"/>
                          <m:ctrlPr>
                            <a:rPr lang="zh-CN" altLang="en-US" sz="2400" i="1">
                              <a:latin typeface="Cambria Math" panose="02040503050406030204" pitchFamily="18" charset="0"/>
                            </a:rPr>
                          </m:ctrlPr>
                        </m:naryPr>
                        <m:sub>
                          <m:r>
                            <a:rPr lang="zh-CN" altLang="en-US" sz="2400" i="1">
                              <a:latin typeface="Cambria Math" panose="02040503050406030204" pitchFamily="18" charset="0"/>
                            </a:rPr>
                            <m:t>𝑖</m:t>
                          </m:r>
                          <m:r>
                            <a:rPr lang="zh-CN" altLang="en-US" sz="2400" i="0">
                              <a:latin typeface="Cambria Math" panose="02040503050406030204" pitchFamily="18" charset="0"/>
                            </a:rPr>
                            <m:t>=1</m:t>
                          </m:r>
                        </m:sub>
                        <m:sup>
                          <m:r>
                            <a:rPr lang="zh-CN" altLang="en-US" sz="2400" i="1">
                              <a:latin typeface="Cambria Math" panose="02040503050406030204" pitchFamily="18" charset="0"/>
                            </a:rPr>
                            <m:t>𝑁</m:t>
                          </m:r>
                        </m:sup>
                        <m:e>
                          <m:r>
                            <a:rPr lang="zh-CN" altLang="en-US" sz="2400" i="1">
                              <a:latin typeface="Cambria Math" panose="02040503050406030204" pitchFamily="18" charset="0"/>
                            </a:rPr>
                            <m:t>𝑓</m:t>
                          </m:r>
                        </m:e>
                      </m:nary>
                      <m:d>
                        <m:dPr>
                          <m:sepChr m:val=","/>
                          <m:ctrlPr>
                            <a:rPr lang="zh-CN" altLang="en-US" sz="2400" i="1">
                              <a:latin typeface="Cambria Math" panose="02040503050406030204" pitchFamily="18" charset="0"/>
                            </a:rPr>
                          </m:ctrlPr>
                        </m:dPr>
                        <m:e>
                          <m:sSubSup>
                            <m:sSubSupPr>
                              <m:ctrlPr>
                                <a:rPr lang="zh-CN" altLang="en-US" sz="2400" i="1">
                                  <a:solidFill>
                                    <a:srgbClr val="836967"/>
                                  </a:solidFill>
                                  <a:latin typeface="Cambria Math" panose="02040503050406030204" pitchFamily="18" charset="0"/>
                                </a:rPr>
                              </m:ctrlPr>
                            </m:sSubSupPr>
                            <m:e>
                              <m:r>
                                <a:rPr lang="zh-CN" altLang="en-US" sz="2400" i="1">
                                  <a:latin typeface="Cambria Math" panose="02040503050406030204" pitchFamily="18" charset="0"/>
                                </a:rPr>
                                <m:t>𝜉</m:t>
                              </m:r>
                            </m:e>
                            <m:sub>
                              <m:r>
                                <a:rPr lang="zh-CN" altLang="en-US" sz="2400" i="1">
                                  <a:latin typeface="Cambria Math" panose="02040503050406030204" pitchFamily="18" charset="0"/>
                                </a:rPr>
                                <m:t>𝑖</m:t>
                              </m:r>
                            </m:sub>
                            <m:sup>
                              <m:d>
                                <m:dPr>
                                  <m:ctrlPr>
                                    <a:rPr lang="zh-CN" altLang="en-US" sz="2400" i="1">
                                      <a:latin typeface="Cambria Math" panose="02040503050406030204" pitchFamily="18" charset="0"/>
                                    </a:rPr>
                                  </m:ctrlPr>
                                </m:dPr>
                                <m:e>
                                  <m:r>
                                    <a:rPr lang="zh-CN" altLang="en-US" sz="2400" i="0">
                                      <a:latin typeface="Cambria Math" panose="02040503050406030204" pitchFamily="18" charset="0"/>
                                    </a:rPr>
                                    <m:t>1</m:t>
                                  </m:r>
                                </m:e>
                              </m:d>
                            </m:sup>
                          </m:sSubSup>
                        </m:e>
                        <m:e>
                          <m:sSubSup>
                            <m:sSubSupPr>
                              <m:ctrlPr>
                                <a:rPr lang="zh-CN" altLang="en-US" sz="2400" i="1">
                                  <a:solidFill>
                                    <a:srgbClr val="836967"/>
                                  </a:solidFill>
                                  <a:latin typeface="Cambria Math" panose="02040503050406030204" pitchFamily="18" charset="0"/>
                                </a:rPr>
                              </m:ctrlPr>
                            </m:sSubSupPr>
                            <m:e>
                              <m:r>
                                <a:rPr lang="zh-CN" altLang="en-US" sz="2400" i="1">
                                  <a:latin typeface="Cambria Math" panose="02040503050406030204" pitchFamily="18" charset="0"/>
                                </a:rPr>
                                <m:t>𝜉</m:t>
                              </m:r>
                            </m:e>
                            <m:sub>
                              <m:r>
                                <a:rPr lang="zh-CN" altLang="en-US" sz="2400" i="1">
                                  <a:latin typeface="Cambria Math" panose="02040503050406030204" pitchFamily="18" charset="0"/>
                                </a:rPr>
                                <m:t>𝑖</m:t>
                              </m:r>
                            </m:sub>
                            <m:sup>
                              <m:d>
                                <m:dPr>
                                  <m:ctrlPr>
                                    <a:rPr lang="zh-CN" altLang="en-US" sz="2400" i="1">
                                      <a:latin typeface="Cambria Math" panose="02040503050406030204" pitchFamily="18" charset="0"/>
                                    </a:rPr>
                                  </m:ctrlPr>
                                </m:dPr>
                                <m:e>
                                  <m:r>
                                    <a:rPr lang="zh-CN" altLang="en-US" sz="2400" i="0">
                                      <a:latin typeface="Cambria Math" panose="02040503050406030204" pitchFamily="18" charset="0"/>
                                    </a:rPr>
                                    <m:t>2</m:t>
                                  </m:r>
                                </m:e>
                              </m:d>
                            </m:sup>
                          </m:sSubSup>
                        </m:e>
                        <m:e>
                          <m:r>
                            <a:rPr lang="zh-CN" altLang="en-US" sz="2400" i="0">
                              <a:latin typeface="Cambria Math" panose="02040503050406030204" pitchFamily="18" charset="0"/>
                            </a:rPr>
                            <m:t>⋯</m:t>
                          </m:r>
                        </m:e>
                        <m:e>
                          <m:sSubSup>
                            <m:sSubSupPr>
                              <m:ctrlPr>
                                <a:rPr lang="zh-CN" altLang="en-US" sz="2400" i="1">
                                  <a:solidFill>
                                    <a:srgbClr val="836967"/>
                                  </a:solidFill>
                                  <a:latin typeface="Cambria Math" panose="02040503050406030204" pitchFamily="18" charset="0"/>
                                </a:rPr>
                              </m:ctrlPr>
                            </m:sSubSupPr>
                            <m:e>
                              <m:r>
                                <a:rPr lang="zh-CN" altLang="en-US" sz="2400" i="1">
                                  <a:latin typeface="Cambria Math" panose="02040503050406030204" pitchFamily="18" charset="0"/>
                                </a:rPr>
                                <m:t>𝜉</m:t>
                              </m:r>
                            </m:e>
                            <m:sub>
                              <m:r>
                                <a:rPr lang="zh-CN" altLang="en-US" sz="2400" i="1">
                                  <a:latin typeface="Cambria Math" panose="02040503050406030204" pitchFamily="18" charset="0"/>
                                </a:rPr>
                                <m:t>𝑖</m:t>
                              </m:r>
                            </m:sub>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𝑑</m:t>
                                  </m:r>
                                </m:e>
                              </m:d>
                            </m:sup>
                          </m:sSubSup>
                        </m:e>
                      </m:d>
                    </m:oMath>
                  </m:oMathPara>
                </a14:m>
                <a:endParaRPr lang="zh-CN" altLang="en-US" dirty="0"/>
              </a:p>
            </p:txBody>
          </p:sp>
        </mc:Choice>
        <mc:Fallback xmlns="">
          <p:sp>
            <p:nvSpPr>
              <p:cNvPr id="12" name="文本框 11">
                <a:extLst>
                  <a:ext uri="{FF2B5EF4-FFF2-40B4-BE49-F238E27FC236}">
                    <a16:creationId xmlns:a16="http://schemas.microsoft.com/office/drawing/2014/main" id="{6EAEE0DC-B97A-43EA-8771-585DD1FE0474}"/>
                  </a:ext>
                </a:extLst>
              </p:cNvPr>
              <p:cNvSpPr txBox="1">
                <a:spLocks noRot="1" noChangeAspect="1" noMove="1" noResize="1" noEditPoints="1" noAdjustHandles="1" noChangeArrowheads="1" noChangeShapeType="1" noTextEdit="1"/>
              </p:cNvSpPr>
              <p:nvPr/>
            </p:nvSpPr>
            <p:spPr>
              <a:xfrm>
                <a:off x="2591780" y="4626180"/>
                <a:ext cx="4690532" cy="1130822"/>
              </a:xfrm>
              <a:prstGeom prst="rect">
                <a:avLst/>
              </a:prstGeom>
              <a:blipFill>
                <a:blip r:embed="rId3"/>
                <a:stretch>
                  <a:fillRect/>
                </a:stretch>
              </a:blipFill>
              <a:ln w="25400">
                <a:noFill/>
              </a:ln>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B66D8FF3-7197-4845-9554-E30F978F4E19}"/>
              </a:ext>
            </a:extLst>
          </p:cNvPr>
          <p:cNvPicPr>
            <a:picLocks noChangeAspect="1"/>
          </p:cNvPicPr>
          <p:nvPr/>
        </p:nvPicPr>
        <p:blipFill>
          <a:blip r:embed="rId4"/>
          <a:stretch>
            <a:fillRect/>
          </a:stretch>
        </p:blipFill>
        <p:spPr>
          <a:xfrm>
            <a:off x="2188465" y="3140881"/>
            <a:ext cx="6549135" cy="911742"/>
          </a:xfrm>
          <a:prstGeom prst="rect">
            <a:avLst/>
          </a:prstGeom>
        </p:spPr>
      </p:pic>
    </p:spTree>
    <p:extLst>
      <p:ext uri="{BB962C8B-B14F-4D97-AF65-F5344CB8AC3E}">
        <p14:creationId xmlns:p14="http://schemas.microsoft.com/office/powerpoint/2010/main" val="10927164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9BFFE0E-7451-47FD-BB84-27BFC2710C49}"/>
              </a:ext>
            </a:extLst>
          </p:cNvPr>
          <p:cNvSpPr>
            <a:spLocks noGrp="1"/>
          </p:cNvSpPr>
          <p:nvPr>
            <p:ph type="title"/>
          </p:nvPr>
        </p:nvSpPr>
        <p:spPr>
          <a:xfrm>
            <a:off x="792163" y="3962400"/>
            <a:ext cx="7772400" cy="1362075"/>
          </a:xfrm>
        </p:spPr>
        <p:txBody>
          <a:bodyPr/>
          <a:lstStyle/>
          <a:p>
            <a:pPr>
              <a:defRPr/>
            </a:pPr>
            <a:r>
              <a:rPr lang="en-US" altLang="zh-CN" sz="3200" b="0" dirty="0">
                <a:latin typeface="+mn-lt"/>
                <a:ea typeface="+mn-ea"/>
              </a:rPr>
              <a:t>3.3.1 </a:t>
            </a:r>
            <a:r>
              <a:rPr lang="zh-CN" altLang="en-US" sz="3200" b="0" dirty="0">
                <a:latin typeface="+mn-lt"/>
                <a:ea typeface="+mn-ea"/>
              </a:rPr>
              <a:t>标准化重要抽样法</a:t>
            </a:r>
            <a:br>
              <a:rPr lang="en-US" altLang="zh-CN" sz="3200" b="0" dirty="0">
                <a:latin typeface="+mn-lt"/>
                <a:ea typeface="+mn-ea"/>
              </a:rPr>
            </a:br>
            <a:r>
              <a:rPr lang="en-US" altLang="zh-CN" sz="3200" b="0" dirty="0">
                <a:latin typeface="+mn-lt"/>
                <a:ea typeface="+mn-ea"/>
              </a:rPr>
              <a:t>3.3.2 </a:t>
            </a:r>
            <a:r>
              <a:rPr lang="zh-CN" altLang="en-US" sz="3200" b="0" dirty="0">
                <a:latin typeface="+mn-lt"/>
                <a:ea typeface="+mn-ea"/>
              </a:rPr>
              <a:t>带有舍选控制的重要抽样法</a:t>
            </a:r>
          </a:p>
        </p:txBody>
      </p:sp>
      <p:sp>
        <p:nvSpPr>
          <p:cNvPr id="5" name="文本占位符 4">
            <a:extLst>
              <a:ext uri="{FF2B5EF4-FFF2-40B4-BE49-F238E27FC236}">
                <a16:creationId xmlns:a16="http://schemas.microsoft.com/office/drawing/2014/main" id="{876E711A-B3DA-459A-AF28-A432B77A449E}"/>
              </a:ext>
            </a:extLst>
          </p:cNvPr>
          <p:cNvSpPr>
            <a:spLocks noGrp="1"/>
          </p:cNvSpPr>
          <p:nvPr>
            <p:ph type="body" idx="1"/>
          </p:nvPr>
        </p:nvSpPr>
        <p:spPr>
          <a:xfrm>
            <a:off x="722313" y="1554163"/>
            <a:ext cx="7772400" cy="1500187"/>
          </a:xfrm>
        </p:spPr>
        <p:txBody>
          <a:bodyPr/>
          <a:lstStyle/>
          <a:p>
            <a:pPr>
              <a:defRPr/>
            </a:pPr>
            <a:r>
              <a:rPr lang="en-US" altLang="zh-CN" sz="4800" dirty="0">
                <a:solidFill>
                  <a:schemeClr val="tx1"/>
                </a:solidFill>
                <a:latin typeface="微软雅黑" panose="020B0503020204020204" pitchFamily="34" charset="-122"/>
                <a:ea typeface="微软雅黑" panose="020B0503020204020204" pitchFamily="34" charset="-122"/>
              </a:rPr>
              <a:t>3.3 </a:t>
            </a:r>
            <a:r>
              <a:rPr lang="zh-CN" altLang="en-US" sz="4800" dirty="0">
                <a:solidFill>
                  <a:schemeClr val="tx1"/>
                </a:solidFill>
                <a:latin typeface="微软雅黑" panose="020B0503020204020204" pitchFamily="34" charset="-122"/>
                <a:ea typeface="微软雅黑" panose="020B0503020204020204" pitchFamily="34" charset="-122"/>
              </a:rPr>
              <a:t>重要抽样法</a:t>
            </a:r>
          </a:p>
          <a:p>
            <a:pPr>
              <a:defRPr/>
            </a:pPr>
            <a:endParaRPr lang="zh-CN" altLang="en-US" dirty="0"/>
          </a:p>
        </p:txBody>
      </p:sp>
      <p:sp>
        <p:nvSpPr>
          <p:cNvPr id="46084" name="灯片编号占位符 2">
            <a:extLst>
              <a:ext uri="{FF2B5EF4-FFF2-40B4-BE49-F238E27FC236}">
                <a16:creationId xmlns:a16="http://schemas.microsoft.com/office/drawing/2014/main" id="{9BF0444B-A272-4A53-B7C2-16D6DFD262F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60</a:t>
            </a:fld>
            <a:endParaRPr lang="zh-CN" altLang="en-US">
              <a:solidFill>
                <a:srgbClr val="898989"/>
              </a:solidFill>
            </a:endParaRPr>
          </a:p>
        </p:txBody>
      </p:sp>
    </p:spTree>
    <p:extLst>
      <p:ext uri="{BB962C8B-B14F-4D97-AF65-F5344CB8AC3E}">
        <p14:creationId xmlns:p14="http://schemas.microsoft.com/office/powerpoint/2010/main" val="18481472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3.3 </a:t>
            </a:r>
            <a:r>
              <a:rPr lang="zh-CN" altLang="en-US" dirty="0"/>
              <a:t>重要抽样法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09625" y="2004859"/>
            <a:ext cx="8686800" cy="117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积分区域</a:t>
            </a:r>
            <a:r>
              <a:rPr lang="en-US" altLang="zh-CN" sz="3200" i="1" dirty="0">
                <a:solidFill>
                  <a:srgbClr val="006699"/>
                </a:solidFill>
                <a:latin typeface="Verdana" panose="020B0604030504040204" pitchFamily="34" charset="0"/>
              </a:rPr>
              <a:t>C</a:t>
            </a:r>
            <a:r>
              <a:rPr lang="zh-CN" altLang="en-US" sz="3200" dirty="0">
                <a:solidFill>
                  <a:srgbClr val="006699"/>
                </a:solidFill>
                <a:latin typeface="Verdana" panose="020B0604030504040204" pitchFamily="34" charset="0"/>
              </a:rPr>
              <a:t>可能是任意形状的</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也可能无界</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en-US" altLang="zh-CN" sz="3200" i="1" dirty="0">
                <a:solidFill>
                  <a:srgbClr val="006699"/>
                </a:solidFill>
                <a:latin typeface="Verdana" panose="020B0604030504040204" pitchFamily="34" charset="0"/>
              </a:rPr>
              <a:t>h</a:t>
            </a:r>
            <a:r>
              <a:rPr lang="en-US" altLang="zh-CN" sz="3200" dirty="0">
                <a:solidFill>
                  <a:srgbClr val="006699"/>
                </a:solidFill>
                <a:latin typeface="Verdana" panose="020B0604030504040204" pitchFamily="34" charset="0"/>
              </a:rPr>
              <a:t>(</a:t>
            </a:r>
            <a:r>
              <a:rPr lang="en-US" altLang="zh-CN" sz="3200" b="1" i="1" dirty="0">
                <a:solidFill>
                  <a:srgbClr val="006699"/>
                </a:solidFill>
                <a:latin typeface="Verdana" panose="020B0604030504040204" pitchFamily="34" charset="0"/>
              </a:rPr>
              <a:t>x</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在</a:t>
            </a:r>
            <a:r>
              <a:rPr lang="en-US" altLang="zh-CN" sz="3200" i="1" dirty="0">
                <a:solidFill>
                  <a:srgbClr val="006699"/>
                </a:solidFill>
                <a:latin typeface="Verdana" panose="020B0604030504040204" pitchFamily="34" charset="0"/>
              </a:rPr>
              <a:t>C</a:t>
            </a:r>
            <a:r>
              <a:rPr lang="zh-CN" altLang="en-US" sz="3200" dirty="0">
                <a:solidFill>
                  <a:srgbClr val="006699"/>
                </a:solidFill>
                <a:latin typeface="Verdana" panose="020B0604030504040204" pitchFamily="34" charset="0"/>
              </a:rPr>
              <a:t>内各处的取值大小差异可能很大</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61</a:t>
            </a:fld>
            <a:endParaRPr lang="zh-CN" altLang="en-US">
              <a:solidFill>
                <a:srgbClr val="898989"/>
              </a:solidFill>
            </a:endParaRPr>
          </a:p>
        </p:txBody>
      </p:sp>
      <p:sp>
        <p:nvSpPr>
          <p:cNvPr id="7" name="文本框 6">
            <a:extLst>
              <a:ext uri="{FF2B5EF4-FFF2-40B4-BE49-F238E27FC236}">
                <a16:creationId xmlns:a16="http://schemas.microsoft.com/office/drawing/2014/main" id="{7CD212D5-FBAA-47F8-BB59-CFE22DE0DCF5}"/>
              </a:ext>
            </a:extLst>
          </p:cNvPr>
          <p:cNvSpPr txBox="1"/>
          <p:nvPr/>
        </p:nvSpPr>
        <p:spPr>
          <a:xfrm>
            <a:off x="95248" y="1068328"/>
            <a:ext cx="2046482" cy="584775"/>
          </a:xfrm>
          <a:prstGeom prst="rect">
            <a:avLst/>
          </a:prstGeom>
          <a:noFill/>
          <a:ln w="25400">
            <a:noFill/>
          </a:ln>
        </p:spPr>
        <p:txBody>
          <a:bodyPr wrap="square">
            <a:sp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zh-CN" altLang="en-US" sz="3200" dirty="0">
                <a:solidFill>
                  <a:srgbClr val="006699"/>
                </a:solidFill>
                <a:latin typeface="Verdana" panose="020B0604030504040204" pitchFamily="34" charset="0"/>
              </a:rPr>
              <a:t>在定</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积分</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p:txBody>
      </p:sp>
      <p:sp>
        <p:nvSpPr>
          <p:cNvPr id="13" name="文本框 12">
            <a:extLst>
              <a:ext uri="{FF2B5EF4-FFF2-40B4-BE49-F238E27FC236}">
                <a16:creationId xmlns:a16="http://schemas.microsoft.com/office/drawing/2014/main" id="{E13616DC-9824-4E9A-BCFC-7624C9FC068D}"/>
              </a:ext>
            </a:extLst>
          </p:cNvPr>
          <p:cNvSpPr txBox="1"/>
          <p:nvPr/>
        </p:nvSpPr>
        <p:spPr>
          <a:xfrm>
            <a:off x="145635" y="3156062"/>
            <a:ext cx="8998365" cy="584775"/>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用非均匀抽样</a:t>
            </a:r>
            <a:endParaRPr lang="zh-CN" altLang="en-US"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7E00DDE-66E1-4B60-B7B8-258D08417C90}"/>
                  </a:ext>
                </a:extLst>
              </p:cNvPr>
              <p:cNvSpPr txBox="1"/>
              <p:nvPr/>
            </p:nvSpPr>
            <p:spPr>
              <a:xfrm>
                <a:off x="1961710" y="902378"/>
                <a:ext cx="3340382" cy="110248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𝐼</m:t>
                      </m:r>
                      <m:r>
                        <a:rPr lang="zh-CN" altLang="en-US" sz="3200" i="0">
                          <a:latin typeface="Cambria Math" panose="02040503050406030204" pitchFamily="18" charset="0"/>
                        </a:rPr>
                        <m:t>=</m:t>
                      </m:r>
                      <m:nary>
                        <m:naryPr>
                          <m:limLoc m:val="subSup"/>
                          <m:grow m:val="on"/>
                          <m:supHide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𝐶</m:t>
                          </m:r>
                        </m:sub>
                        <m:sup/>
                        <m:e>
                          <m:r>
                            <a:rPr lang="zh-CN" altLang="en-US" sz="3200" i="1">
                              <a:latin typeface="Cambria Math" panose="02040503050406030204" pitchFamily="18" charset="0"/>
                            </a:rPr>
                            <m:t>h</m:t>
                          </m:r>
                        </m:e>
                      </m:nary>
                      <m:d>
                        <m:dPr>
                          <m:ctrlPr>
                            <a:rPr lang="zh-CN" altLang="en-US" sz="3200" i="1">
                              <a:latin typeface="Cambria Math" panose="02040503050406030204" pitchFamily="18" charset="0"/>
                            </a:rPr>
                          </m:ctrlPr>
                        </m:dPr>
                        <m:e>
                          <m:r>
                            <a:rPr lang="zh-CN" altLang="en-US" sz="3200" b="1" i="0">
                              <a:latin typeface="Cambria Math" panose="02040503050406030204" pitchFamily="18" charset="0"/>
                            </a:rPr>
                            <m:t>𝐱</m:t>
                          </m:r>
                        </m:e>
                      </m:d>
                      <m:r>
                        <a:rPr lang="zh-CN" altLang="en-US" sz="3200" b="0" i="1">
                          <a:latin typeface="Cambria Math" panose="02040503050406030204" pitchFamily="18" charset="0"/>
                        </a:rPr>
                        <m:t>𝑑</m:t>
                      </m:r>
                      <m:r>
                        <a:rPr lang="zh-CN" altLang="en-US" sz="3200" b="1" i="0">
                          <a:latin typeface="Cambria Math" panose="02040503050406030204" pitchFamily="18" charset="0"/>
                        </a:rPr>
                        <m:t>𝐱</m:t>
                      </m:r>
                    </m:oMath>
                  </m:oMathPara>
                </a14:m>
                <a:endParaRPr lang="zh-CN" altLang="en-US" dirty="0"/>
              </a:p>
            </p:txBody>
          </p:sp>
        </mc:Choice>
        <mc:Fallback xmlns="">
          <p:sp>
            <p:nvSpPr>
              <p:cNvPr id="12" name="文本框 11">
                <a:extLst>
                  <a:ext uri="{FF2B5EF4-FFF2-40B4-BE49-F238E27FC236}">
                    <a16:creationId xmlns:a16="http://schemas.microsoft.com/office/drawing/2014/main" id="{87E00DDE-66E1-4B60-B7B8-258D08417C90}"/>
                  </a:ext>
                </a:extLst>
              </p:cNvPr>
              <p:cNvSpPr txBox="1">
                <a:spLocks noRot="1" noChangeAspect="1" noMove="1" noResize="1" noEditPoints="1" noAdjustHandles="1" noChangeArrowheads="1" noChangeShapeType="1" noTextEdit="1"/>
              </p:cNvSpPr>
              <p:nvPr/>
            </p:nvSpPr>
            <p:spPr>
              <a:xfrm>
                <a:off x="1961710" y="902378"/>
                <a:ext cx="3340382" cy="1102481"/>
              </a:xfrm>
              <a:prstGeom prst="rect">
                <a:avLst/>
              </a:prstGeom>
              <a:blipFill>
                <a:blip r:embed="rId2"/>
                <a:stretch>
                  <a:fillRect/>
                </a:stretch>
              </a:blipFill>
              <a:ln w="25400">
                <a:noFill/>
              </a:ln>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3A7D79CC-335C-4E36-8661-54BD603AF50F}"/>
              </a:ext>
            </a:extLst>
          </p:cNvPr>
          <p:cNvPicPr>
            <a:picLocks noChangeAspect="1"/>
          </p:cNvPicPr>
          <p:nvPr/>
        </p:nvPicPr>
        <p:blipFill>
          <a:blip r:embed="rId3"/>
          <a:stretch>
            <a:fillRect/>
          </a:stretch>
        </p:blipFill>
        <p:spPr>
          <a:xfrm>
            <a:off x="791580" y="3726950"/>
            <a:ext cx="7084067" cy="2427090"/>
          </a:xfrm>
          <a:prstGeom prst="rect">
            <a:avLst/>
          </a:prstGeom>
        </p:spPr>
      </p:pic>
    </p:spTree>
    <p:extLst>
      <p:ext uri="{BB962C8B-B14F-4D97-AF65-F5344CB8AC3E}">
        <p14:creationId xmlns:p14="http://schemas.microsoft.com/office/powerpoint/2010/main" val="3018750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3.3 </a:t>
            </a:r>
            <a:r>
              <a:rPr lang="zh-CN" altLang="en-US" dirty="0"/>
              <a:t>重要抽样法</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62</a:t>
            </a:fld>
            <a:endParaRPr lang="zh-CN" altLang="en-US">
              <a:solidFill>
                <a:srgbClr val="898989"/>
              </a:solidFill>
            </a:endParaRPr>
          </a:p>
        </p:txBody>
      </p:sp>
      <p:sp>
        <p:nvSpPr>
          <p:cNvPr id="7" name="文本框 6">
            <a:extLst>
              <a:ext uri="{FF2B5EF4-FFF2-40B4-BE49-F238E27FC236}">
                <a16:creationId xmlns:a16="http://schemas.microsoft.com/office/drawing/2014/main" id="{7CD212D5-FBAA-47F8-BB59-CFE22DE0DCF5}"/>
              </a:ext>
            </a:extLst>
          </p:cNvPr>
          <p:cNvSpPr txBox="1"/>
          <p:nvPr/>
        </p:nvSpPr>
        <p:spPr>
          <a:xfrm>
            <a:off x="95248" y="1068328"/>
            <a:ext cx="2046482" cy="1175706"/>
          </a:xfrm>
          <a:prstGeom prst="rect">
            <a:avLst/>
          </a:prstGeom>
          <a:noFill/>
          <a:ln w="25400">
            <a:noFill/>
          </a:ln>
        </p:spPr>
        <p:txBody>
          <a:bodyPr wrap="square">
            <a:sp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zh-CN" altLang="en-US" sz="3200" dirty="0">
                <a:solidFill>
                  <a:srgbClr val="006699"/>
                </a:solidFill>
                <a:latin typeface="Verdana" panose="020B0604030504040204" pitchFamily="34" charset="0"/>
              </a:rPr>
              <a:t>设</a:t>
            </a:r>
            <a:endParaRPr lang="en-US" altLang="zh-CN" sz="3200" dirty="0">
              <a:solidFill>
                <a:srgbClr val="006699"/>
              </a:solidFill>
              <a:latin typeface="Verdana" panose="020B060403050404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lang="zh-CN" altLang="en-US" sz="3200" dirty="0">
                <a:solidFill>
                  <a:srgbClr val="006699"/>
                </a:solidFill>
                <a:latin typeface="Verdana" panose="020B0604030504040204" pitchFamily="34" charset="0"/>
              </a:rPr>
              <a:t>令</a:t>
            </a:r>
            <a:endParaRPr lang="en-US" altLang="zh-CN" sz="3200" dirty="0">
              <a:solidFill>
                <a:srgbClr val="006699"/>
              </a:solidFill>
              <a:latin typeface="Verdana" panose="020B0604030504040204" pitchFamily="34" charset="0"/>
            </a:endParaRPr>
          </a:p>
        </p:txBody>
      </p:sp>
      <p:sp>
        <p:nvSpPr>
          <p:cNvPr id="13" name="文本框 12">
            <a:extLst>
              <a:ext uri="{FF2B5EF4-FFF2-40B4-BE49-F238E27FC236}">
                <a16:creationId xmlns:a16="http://schemas.microsoft.com/office/drawing/2014/main" id="{E13616DC-9824-4E9A-BCFC-7624C9FC068D}"/>
              </a:ext>
            </a:extLst>
          </p:cNvPr>
          <p:cNvSpPr txBox="1"/>
          <p:nvPr/>
        </p:nvSpPr>
        <p:spPr>
          <a:xfrm>
            <a:off x="138187" y="2852214"/>
            <a:ext cx="8998365"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则</a:t>
            </a:r>
            <a:endParaRPr lang="zh-CN" altLang="en-US" dirty="0"/>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76991FA2-E15B-4341-9F24-10F207044E49}"/>
                  </a:ext>
                </a:extLst>
              </p:cNvPr>
              <p:cNvSpPr txBox="1"/>
              <p:nvPr/>
            </p:nvSpPr>
            <p:spPr>
              <a:xfrm>
                <a:off x="746575" y="1117535"/>
                <a:ext cx="4690532"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3200" b="1" i="1" smtClean="0">
                              <a:solidFill>
                                <a:srgbClr val="836967"/>
                              </a:solidFill>
                              <a:latin typeface="Cambria Math" panose="02040503050406030204" pitchFamily="18" charset="0"/>
                            </a:rPr>
                          </m:ctrlPr>
                        </m:sSubPr>
                        <m:e>
                          <m:r>
                            <a:rPr lang="zh-CN" altLang="en-US" sz="3200" b="1">
                              <a:latin typeface="Cambria Math" panose="02040503050406030204" pitchFamily="18" charset="0"/>
                            </a:rPr>
                            <m:t>𝐗</m:t>
                          </m:r>
                        </m:e>
                        <m:sub>
                          <m:r>
                            <a:rPr lang="zh-CN" altLang="en-US" sz="3200" b="0" i="1">
                              <a:latin typeface="Cambria Math" panose="02040503050406030204" pitchFamily="18" charset="0"/>
                            </a:rPr>
                            <m:t>𝑖</m:t>
                          </m:r>
                        </m:sub>
                      </m:sSub>
                      <m:r>
                        <a:rPr lang="zh-CN" altLang="en-US" sz="3200" b="0" i="1">
                          <a:latin typeface="Cambria Math" panose="02040503050406030204" pitchFamily="18" charset="0"/>
                        </a:rPr>
                        <m:t>𝑖𝑖𝑑</m:t>
                      </m:r>
                      <m:r>
                        <a:rPr lang="zh-CN" altLang="en-US" sz="3200" b="0" i="0">
                          <a:latin typeface="Cambria Math" panose="02040503050406030204" pitchFamily="18" charset="0"/>
                        </a:rPr>
                        <m:t>~</m:t>
                      </m:r>
                      <m:r>
                        <a:rPr lang="zh-CN" altLang="en-US" sz="3200" b="0" i="1">
                          <a:latin typeface="Cambria Math" panose="02040503050406030204" pitchFamily="18" charset="0"/>
                        </a:rPr>
                        <m:t>𝑔</m:t>
                      </m:r>
                      <m:d>
                        <m:dPr>
                          <m:ctrlPr>
                            <a:rPr lang="zh-CN" altLang="en-US" sz="3200" b="0" i="1">
                              <a:latin typeface="Cambria Math" panose="02040503050406030204" pitchFamily="18" charset="0"/>
                            </a:rPr>
                          </m:ctrlPr>
                        </m:dPr>
                        <m:e>
                          <m:r>
                            <a:rPr lang="zh-CN" altLang="en-US" sz="3200" b="1" i="0">
                              <a:latin typeface="Cambria Math" panose="02040503050406030204" pitchFamily="18" charset="0"/>
                            </a:rPr>
                            <m:t>𝐱</m:t>
                          </m:r>
                        </m:e>
                      </m:d>
                      <m:r>
                        <a:rPr lang="zh-CN" altLang="en-US" sz="3200" b="0" i="0">
                          <a:latin typeface="Cambria Math" panose="02040503050406030204" pitchFamily="18" charset="0"/>
                        </a:rPr>
                        <m:t>,</m:t>
                      </m:r>
                      <m:r>
                        <a:rPr lang="zh-CN" altLang="en-US" sz="3200" b="0" i="1">
                          <a:latin typeface="Cambria Math" panose="02040503050406030204" pitchFamily="18" charset="0"/>
                        </a:rPr>
                        <m:t>𝑖</m:t>
                      </m:r>
                      <m:r>
                        <a:rPr lang="zh-CN" altLang="en-US" sz="3200" b="0" i="0">
                          <a:latin typeface="Cambria Math" panose="02040503050406030204" pitchFamily="18" charset="0"/>
                        </a:rPr>
                        <m:t>=1,2,…,</m:t>
                      </m:r>
                      <m:r>
                        <a:rPr lang="zh-CN" altLang="en-US" sz="3200" b="0" i="1">
                          <a:latin typeface="Cambria Math" panose="02040503050406030204" pitchFamily="18" charset="0"/>
                        </a:rPr>
                        <m:t>𝑁</m:t>
                      </m:r>
                    </m:oMath>
                  </m:oMathPara>
                </a14:m>
                <a:endParaRPr lang="zh-CN" altLang="en-US" dirty="0"/>
              </a:p>
            </p:txBody>
          </p:sp>
        </mc:Choice>
        <mc:Fallback xmlns="">
          <p:sp>
            <p:nvSpPr>
              <p:cNvPr id="10" name="文本框 9">
                <a:extLst>
                  <a:ext uri="{FF2B5EF4-FFF2-40B4-BE49-F238E27FC236}">
                    <a16:creationId xmlns:a16="http://schemas.microsoft.com/office/drawing/2014/main" id="{76991FA2-E15B-4341-9F24-10F207044E49}"/>
                  </a:ext>
                </a:extLst>
              </p:cNvPr>
              <p:cNvSpPr txBox="1">
                <a:spLocks noRot="1" noChangeAspect="1" noMove="1" noResize="1" noEditPoints="1" noAdjustHandles="1" noChangeArrowheads="1" noChangeShapeType="1" noTextEdit="1"/>
              </p:cNvSpPr>
              <p:nvPr/>
            </p:nvSpPr>
            <p:spPr>
              <a:xfrm>
                <a:off x="746575" y="1117535"/>
                <a:ext cx="4690532" cy="584775"/>
              </a:xfrm>
              <a:prstGeom prst="rect">
                <a:avLst/>
              </a:prstGeom>
              <a:blipFill>
                <a:blip r:embed="rId2"/>
                <a:stretch>
                  <a:fillRect/>
                </a:stretch>
              </a:blipFill>
              <a:ln w="25400">
                <a:noFill/>
              </a:ln>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4D938512-7027-433F-B1E1-A35C599D3C8B}"/>
              </a:ext>
            </a:extLst>
          </p:cNvPr>
          <p:cNvPicPr>
            <a:picLocks noChangeAspect="1"/>
          </p:cNvPicPr>
          <p:nvPr/>
        </p:nvPicPr>
        <p:blipFill>
          <a:blip r:embed="rId3"/>
          <a:stretch>
            <a:fillRect/>
          </a:stretch>
        </p:blipFill>
        <p:spPr>
          <a:xfrm>
            <a:off x="975159" y="1872924"/>
            <a:ext cx="3596841" cy="1022260"/>
          </a:xfrm>
          <a:prstGeom prst="rect">
            <a:avLst/>
          </a:prstGeom>
        </p:spPr>
      </p:pic>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E4A7D499-2B6C-4BD5-AA4C-03E3A9B28156}"/>
                  </a:ext>
                </a:extLst>
              </p:cNvPr>
              <p:cNvSpPr txBox="1"/>
              <p:nvPr/>
            </p:nvSpPr>
            <p:spPr>
              <a:xfrm>
                <a:off x="746575" y="2976056"/>
                <a:ext cx="7467150" cy="153869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𝐸</m:t>
                      </m:r>
                      <m:r>
                        <a:rPr lang="zh-CN" altLang="en-US" sz="3200" i="1">
                          <a:latin typeface="Cambria Math" panose="02040503050406030204" pitchFamily="18" charset="0"/>
                        </a:rPr>
                        <m:t>𝜂</m:t>
                      </m:r>
                      <m:r>
                        <a:rPr lang="zh-CN" altLang="en-US" sz="3200" i="0">
                          <a:latin typeface="Cambria Math" panose="02040503050406030204" pitchFamily="18" charset="0"/>
                        </a:rPr>
                        <m:t>=</m:t>
                      </m:r>
                      <m:nary>
                        <m:naryPr>
                          <m:limLoc m:val="subSup"/>
                          <m:grow m:val="on"/>
                          <m:supHide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𝐶</m:t>
                          </m:r>
                        </m:sub>
                        <m:sup/>
                        <m:e>
                          <m:f>
                            <m:fPr>
                              <m:ctrlPr>
                                <a:rPr lang="zh-CN" altLang="en-US" sz="3200" i="1">
                                  <a:solidFill>
                                    <a:srgbClr val="836967"/>
                                  </a:solidFill>
                                  <a:latin typeface="Cambria Math" panose="02040503050406030204" pitchFamily="18" charset="0"/>
                                </a:rPr>
                              </m:ctrlPr>
                            </m:fPr>
                            <m:num>
                              <m:r>
                                <a:rPr lang="zh-CN" altLang="en-US" sz="3200" i="1">
                                  <a:latin typeface="Cambria Math" panose="02040503050406030204" pitchFamily="18" charset="0"/>
                                </a:rPr>
                                <m:t>h</m:t>
                              </m:r>
                              <m:d>
                                <m:dPr>
                                  <m:ctrlPr>
                                    <a:rPr lang="zh-CN" altLang="en-US" sz="3200" i="1">
                                      <a:latin typeface="Cambria Math" panose="02040503050406030204" pitchFamily="18" charset="0"/>
                                    </a:rPr>
                                  </m:ctrlPr>
                                </m:dPr>
                                <m:e>
                                  <m:r>
                                    <a:rPr lang="zh-CN" altLang="en-US" sz="3200" b="1" i="0">
                                      <a:latin typeface="Cambria Math" panose="02040503050406030204" pitchFamily="18" charset="0"/>
                                    </a:rPr>
                                    <m:t>𝐱</m:t>
                                  </m:r>
                                </m:e>
                              </m:d>
                            </m:num>
                            <m:den>
                              <m:r>
                                <a:rPr lang="zh-CN" altLang="en-US" sz="3200" b="0" i="1">
                                  <a:latin typeface="Cambria Math" panose="02040503050406030204" pitchFamily="18" charset="0"/>
                                </a:rPr>
                                <m:t>𝑔</m:t>
                              </m:r>
                              <m:d>
                                <m:dPr>
                                  <m:ctrlPr>
                                    <a:rPr lang="zh-CN" altLang="en-US" sz="3200" b="0" i="1">
                                      <a:latin typeface="Cambria Math" panose="02040503050406030204" pitchFamily="18" charset="0"/>
                                    </a:rPr>
                                  </m:ctrlPr>
                                </m:dPr>
                                <m:e>
                                  <m:r>
                                    <a:rPr lang="zh-CN" altLang="en-US" sz="3200" b="1" i="0">
                                      <a:latin typeface="Cambria Math" panose="02040503050406030204" pitchFamily="18" charset="0"/>
                                    </a:rPr>
                                    <m:t>𝐱</m:t>
                                  </m:r>
                                </m:e>
                              </m:d>
                            </m:den>
                          </m:f>
                        </m:e>
                      </m:nary>
                      <m:r>
                        <a:rPr lang="zh-CN" altLang="en-US" sz="3200" b="0" i="1">
                          <a:latin typeface="Cambria Math" panose="02040503050406030204" pitchFamily="18" charset="0"/>
                        </a:rPr>
                        <m:t>𝑔</m:t>
                      </m:r>
                      <m:d>
                        <m:dPr>
                          <m:ctrlPr>
                            <a:rPr lang="zh-CN" altLang="en-US" sz="3200" b="0" i="1">
                              <a:latin typeface="Cambria Math" panose="02040503050406030204" pitchFamily="18" charset="0"/>
                            </a:rPr>
                          </m:ctrlPr>
                        </m:dPr>
                        <m:e>
                          <m:r>
                            <a:rPr lang="zh-CN" altLang="en-US" sz="3200" b="1" i="0">
                              <a:latin typeface="Cambria Math" panose="02040503050406030204" pitchFamily="18" charset="0"/>
                            </a:rPr>
                            <m:t>𝐱</m:t>
                          </m:r>
                        </m:e>
                      </m:d>
                      <m:r>
                        <a:rPr lang="zh-CN" altLang="en-US" sz="3200" b="0" i="1">
                          <a:latin typeface="Cambria Math" panose="02040503050406030204" pitchFamily="18" charset="0"/>
                        </a:rPr>
                        <m:t>𝑑</m:t>
                      </m:r>
                      <m:r>
                        <a:rPr lang="zh-CN" altLang="en-US" sz="3200" b="1" i="0">
                          <a:latin typeface="Cambria Math" panose="02040503050406030204" pitchFamily="18" charset="0"/>
                        </a:rPr>
                        <m:t>𝐱</m:t>
                      </m:r>
                      <m:r>
                        <a:rPr lang="zh-CN" altLang="en-US" sz="3200" b="0" i="0">
                          <a:latin typeface="Cambria Math" panose="02040503050406030204" pitchFamily="18" charset="0"/>
                        </a:rPr>
                        <m:t>=</m:t>
                      </m:r>
                      <m:nary>
                        <m:naryPr>
                          <m:limLoc m:val="subSup"/>
                          <m:grow m:val="on"/>
                          <m:supHide m:val="on"/>
                          <m:ctrlPr>
                            <a:rPr lang="zh-CN" altLang="en-US" sz="3200" b="0" i="1">
                              <a:latin typeface="Cambria Math" panose="02040503050406030204" pitchFamily="18" charset="0"/>
                            </a:rPr>
                          </m:ctrlPr>
                        </m:naryPr>
                        <m:sub>
                          <m:r>
                            <a:rPr lang="zh-CN" altLang="en-US" sz="3200" b="0" i="1">
                              <a:latin typeface="Cambria Math" panose="02040503050406030204" pitchFamily="18" charset="0"/>
                            </a:rPr>
                            <m:t>𝐶</m:t>
                          </m:r>
                        </m:sub>
                        <m:sup/>
                        <m:e>
                          <m:r>
                            <a:rPr lang="zh-CN" altLang="en-US" sz="3200" b="0" i="1">
                              <a:latin typeface="Cambria Math" panose="02040503050406030204" pitchFamily="18" charset="0"/>
                            </a:rPr>
                            <m:t>h</m:t>
                          </m:r>
                        </m:e>
                      </m:nary>
                      <m:d>
                        <m:dPr>
                          <m:ctrlPr>
                            <a:rPr lang="zh-CN" altLang="en-US" sz="3200" b="0" i="1">
                              <a:latin typeface="Cambria Math" panose="02040503050406030204" pitchFamily="18" charset="0"/>
                            </a:rPr>
                          </m:ctrlPr>
                        </m:dPr>
                        <m:e>
                          <m:r>
                            <a:rPr lang="zh-CN" altLang="en-US" sz="3200" b="1" i="0">
                              <a:latin typeface="Cambria Math" panose="02040503050406030204" pitchFamily="18" charset="0"/>
                            </a:rPr>
                            <m:t>𝐱</m:t>
                          </m:r>
                        </m:e>
                      </m:d>
                      <m:r>
                        <a:rPr lang="zh-CN" altLang="en-US" sz="3200" b="0" i="1">
                          <a:latin typeface="Cambria Math" panose="02040503050406030204" pitchFamily="18" charset="0"/>
                        </a:rPr>
                        <m:t>𝑑</m:t>
                      </m:r>
                      <m:r>
                        <a:rPr lang="zh-CN" altLang="en-US" sz="3200" b="1" i="0">
                          <a:latin typeface="Cambria Math" panose="02040503050406030204" pitchFamily="18" charset="0"/>
                        </a:rPr>
                        <m:t>𝐱</m:t>
                      </m:r>
                      <m:r>
                        <a:rPr lang="zh-CN" altLang="en-US" sz="3200" b="0" i="0">
                          <a:latin typeface="Cambria Math" panose="02040503050406030204" pitchFamily="18" charset="0"/>
                        </a:rPr>
                        <m:t>=</m:t>
                      </m:r>
                      <m:r>
                        <a:rPr lang="zh-CN" altLang="en-US" sz="3200" b="0" i="1">
                          <a:latin typeface="Cambria Math" panose="02040503050406030204" pitchFamily="18" charset="0"/>
                        </a:rPr>
                        <m:t>𝐼</m:t>
                      </m:r>
                    </m:oMath>
                  </m:oMathPara>
                </a14:m>
                <a:endParaRPr lang="zh-CN" altLang="en-US" dirty="0"/>
              </a:p>
            </p:txBody>
          </p:sp>
        </mc:Choice>
        <mc:Fallback xmlns="">
          <p:sp>
            <p:nvSpPr>
              <p:cNvPr id="16" name="文本框 15">
                <a:extLst>
                  <a:ext uri="{FF2B5EF4-FFF2-40B4-BE49-F238E27FC236}">
                    <a16:creationId xmlns:a16="http://schemas.microsoft.com/office/drawing/2014/main" id="{E4A7D499-2B6C-4BD5-AA4C-03E3A9B28156}"/>
                  </a:ext>
                </a:extLst>
              </p:cNvPr>
              <p:cNvSpPr txBox="1">
                <a:spLocks noRot="1" noChangeAspect="1" noMove="1" noResize="1" noEditPoints="1" noAdjustHandles="1" noChangeArrowheads="1" noChangeShapeType="1" noTextEdit="1"/>
              </p:cNvSpPr>
              <p:nvPr/>
            </p:nvSpPr>
            <p:spPr>
              <a:xfrm>
                <a:off x="746575" y="2976056"/>
                <a:ext cx="7467150" cy="1538691"/>
              </a:xfrm>
              <a:prstGeom prst="rect">
                <a:avLst/>
              </a:prstGeom>
              <a:blipFill>
                <a:blip r:embed="rId4"/>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21902504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3.3 </a:t>
            </a:r>
            <a:r>
              <a:rPr lang="zh-CN" altLang="en-US" dirty="0"/>
              <a:t>重要抽样法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3131840" y="988491"/>
            <a:ext cx="490607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的</a:t>
            </a:r>
            <a:r>
              <a:rPr lang="zh-CN" altLang="en-US" sz="3200" b="1" dirty="0">
                <a:solidFill>
                  <a:srgbClr val="006699"/>
                </a:solidFill>
                <a:latin typeface="Verdana" panose="020B0604030504040204" pitchFamily="34" charset="0"/>
              </a:rPr>
              <a:t>样本平均值</a:t>
            </a:r>
            <a:r>
              <a:rPr lang="zh-CN" altLang="en-US" sz="3200" dirty="0">
                <a:solidFill>
                  <a:srgbClr val="006699"/>
                </a:solidFill>
                <a:latin typeface="Verdana" panose="020B0604030504040204" pitchFamily="34" charset="0"/>
              </a:rPr>
              <a:t>来估计</a:t>
            </a:r>
            <a:r>
              <a:rPr lang="en-US" altLang="zh-CN" sz="3200" i="1" dirty="0">
                <a:solidFill>
                  <a:srgbClr val="006699"/>
                </a:solidFill>
                <a:latin typeface="Verdana" panose="020B0604030504040204" pitchFamily="34" charset="0"/>
              </a:rPr>
              <a:t>I</a:t>
            </a:r>
            <a:r>
              <a:rPr lang="zh-CN" altLang="en-US" sz="3200" dirty="0">
                <a:solidFill>
                  <a:srgbClr val="006699"/>
                </a:solidFill>
                <a:latin typeface="Verdana" panose="020B0604030504040204" pitchFamily="34" charset="0"/>
              </a:rPr>
              <a:t>，即</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63</a:t>
            </a:fld>
            <a:endParaRPr lang="zh-CN" altLang="en-US">
              <a:solidFill>
                <a:srgbClr val="898989"/>
              </a:solidFill>
            </a:endParaRPr>
          </a:p>
        </p:txBody>
      </p:sp>
      <p:sp>
        <p:nvSpPr>
          <p:cNvPr id="13" name="文本框 12">
            <a:extLst>
              <a:ext uri="{FF2B5EF4-FFF2-40B4-BE49-F238E27FC236}">
                <a16:creationId xmlns:a16="http://schemas.microsoft.com/office/drawing/2014/main" id="{E13616DC-9824-4E9A-BCFC-7624C9FC068D}"/>
              </a:ext>
            </a:extLst>
          </p:cNvPr>
          <p:cNvSpPr txBox="1"/>
          <p:nvPr/>
        </p:nvSpPr>
        <p:spPr>
          <a:xfrm>
            <a:off x="0" y="3446471"/>
            <a:ext cx="8998365"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是</a:t>
            </a:r>
            <a:r>
              <a:rPr kumimoji="0" lang="en-US" altLang="zh-CN" sz="3200" b="0"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I</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的无偏估计和强相合估计</a:t>
            </a:r>
            <a:endParaRPr lang="zh-CN" altLang="en-US" dirty="0"/>
          </a:p>
        </p:txBody>
      </p:sp>
      <p:sp>
        <p:nvSpPr>
          <p:cNvPr id="12" name="文本框 11">
            <a:extLst>
              <a:ext uri="{FF2B5EF4-FFF2-40B4-BE49-F238E27FC236}">
                <a16:creationId xmlns:a16="http://schemas.microsoft.com/office/drawing/2014/main" id="{A030EF61-8CCA-4237-848E-7E095FB346F0}"/>
              </a:ext>
            </a:extLst>
          </p:cNvPr>
          <p:cNvSpPr txBox="1"/>
          <p:nvPr/>
        </p:nvSpPr>
        <p:spPr>
          <a:xfrm>
            <a:off x="-15875" y="4098307"/>
            <a:ext cx="1857172" cy="584775"/>
          </a:xfrm>
          <a:prstGeom prst="rect">
            <a:avLst/>
          </a:prstGeom>
          <a:noFill/>
          <a:ln w="25400">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渐近方差</a:t>
            </a:r>
            <a:endParaRPr lang="en-US" altLang="zh-CN" sz="3200" dirty="0">
              <a:solidFill>
                <a:srgbClr val="006699"/>
              </a:solidFill>
              <a:latin typeface="Verdana" panose="020B0604030504040204" pitchFamily="34" charset="0"/>
            </a:endParaRPr>
          </a:p>
        </p:txBody>
      </p:sp>
      <p:pic>
        <p:nvPicPr>
          <p:cNvPr id="21" name="图片 20">
            <a:extLst>
              <a:ext uri="{FF2B5EF4-FFF2-40B4-BE49-F238E27FC236}">
                <a16:creationId xmlns:a16="http://schemas.microsoft.com/office/drawing/2014/main" id="{E2F4CF00-CFCD-4C17-851A-EB9767702898}"/>
              </a:ext>
            </a:extLst>
          </p:cNvPr>
          <p:cNvPicPr>
            <a:picLocks noChangeAspect="1"/>
          </p:cNvPicPr>
          <p:nvPr/>
        </p:nvPicPr>
        <p:blipFill>
          <a:blip r:embed="rId2"/>
          <a:stretch>
            <a:fillRect/>
          </a:stretch>
        </p:blipFill>
        <p:spPr>
          <a:xfrm>
            <a:off x="49789" y="1022377"/>
            <a:ext cx="3082051" cy="667011"/>
          </a:xfrm>
          <a:prstGeom prst="rect">
            <a:avLst/>
          </a:prstGeom>
        </p:spPr>
      </p:pic>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2E698DA1-2999-4D2D-9F43-E647CAD9A5EA}"/>
                  </a:ext>
                </a:extLst>
              </p:cNvPr>
              <p:cNvSpPr txBox="1"/>
              <p:nvPr/>
            </p:nvSpPr>
            <p:spPr>
              <a:xfrm>
                <a:off x="1883138" y="1568649"/>
                <a:ext cx="4690532" cy="1877822"/>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smtClean="0">
                              <a:solidFill>
                                <a:srgbClr val="836967"/>
                              </a:solidFill>
                              <a:latin typeface="Cambria Math" panose="02040503050406030204" pitchFamily="18" charset="0"/>
                            </a:rPr>
                          </m:ctrlPr>
                        </m:sSubPr>
                        <m:e>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𝐼</m:t>
                              </m:r>
                            </m:e>
                          </m:acc>
                        </m:e>
                        <m:sub>
                          <m:r>
                            <a:rPr lang="zh-CN" altLang="en-US" sz="3200" i="0">
                              <a:latin typeface="Cambria Math" panose="02040503050406030204" pitchFamily="18" charset="0"/>
                            </a:rPr>
                            <m:t>3</m:t>
                          </m:r>
                        </m:sub>
                      </m:sSub>
                      <m:r>
                        <a:rPr lang="zh-CN" altLang="en-US" sz="3200" i="0">
                          <a:latin typeface="Cambria Math" panose="02040503050406030204" pitchFamily="18" charset="0"/>
                        </a:rPr>
                        <m:t>=</m:t>
                      </m:r>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𝜂</m:t>
                          </m:r>
                        </m:e>
                      </m:acc>
                      <m:r>
                        <a:rPr lang="zh-CN" altLang="en-US" sz="3200" i="0">
                          <a:latin typeface="Cambria Math" panose="02040503050406030204" pitchFamily="18" charset="0"/>
                        </a:rPr>
                        <m:t>=</m:t>
                      </m:r>
                      <m:f>
                        <m:fPr>
                          <m:ctrlPr>
                            <a:rPr lang="zh-CN" altLang="en-US" sz="3200" i="1">
                              <a:solidFill>
                                <a:srgbClr val="836967"/>
                              </a:solidFill>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1">
                              <a:latin typeface="Cambria Math" panose="02040503050406030204" pitchFamily="18" charset="0"/>
                            </a:rPr>
                            <m:t>𝑁</m:t>
                          </m:r>
                        </m:den>
                      </m:f>
                      <m:nary>
                        <m:naryPr>
                          <m:chr m:val="∑"/>
                          <m:limLoc m:val="undOvr"/>
                          <m:grow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𝑖</m:t>
                          </m:r>
                          <m:r>
                            <a:rPr lang="zh-CN" altLang="en-US" sz="3200" i="0">
                              <a:latin typeface="Cambria Math" panose="02040503050406030204" pitchFamily="18" charset="0"/>
                            </a:rPr>
                            <m:t>=1</m:t>
                          </m:r>
                        </m:sub>
                        <m:sup>
                          <m:r>
                            <a:rPr lang="zh-CN" altLang="en-US" sz="3200" i="1">
                              <a:latin typeface="Cambria Math" panose="02040503050406030204" pitchFamily="18" charset="0"/>
                            </a:rPr>
                            <m:t>𝑁</m:t>
                          </m:r>
                        </m:sup>
                        <m:e>
                          <m:f>
                            <m:fPr>
                              <m:ctrlPr>
                                <a:rPr lang="zh-CN" altLang="en-US" sz="3200" i="1">
                                  <a:solidFill>
                                    <a:srgbClr val="836967"/>
                                  </a:solidFill>
                                  <a:latin typeface="Cambria Math" panose="02040503050406030204" pitchFamily="18" charset="0"/>
                                </a:rPr>
                              </m:ctrlPr>
                            </m:fPr>
                            <m:num>
                              <m:r>
                                <a:rPr lang="zh-CN" altLang="en-US" sz="3200" i="1">
                                  <a:latin typeface="Cambria Math" panose="02040503050406030204" pitchFamily="18" charset="0"/>
                                </a:rPr>
                                <m:t>h</m:t>
                              </m:r>
                              <m:d>
                                <m:dPr>
                                  <m:ctrlPr>
                                    <a:rPr lang="zh-CN" altLang="en-US" sz="3200" i="1">
                                      <a:latin typeface="Cambria Math" panose="02040503050406030204" pitchFamily="18" charset="0"/>
                                    </a:rPr>
                                  </m:ctrlPr>
                                </m:dPr>
                                <m:e>
                                  <m:sSub>
                                    <m:sSubPr>
                                      <m:ctrlPr>
                                        <a:rPr lang="zh-CN" altLang="en-US" sz="3200" i="1">
                                          <a:solidFill>
                                            <a:srgbClr val="836967"/>
                                          </a:solidFill>
                                          <a:latin typeface="Cambria Math" panose="02040503050406030204" pitchFamily="18" charset="0"/>
                                        </a:rPr>
                                      </m:ctrlPr>
                                    </m:sSubPr>
                                    <m:e>
                                      <m:r>
                                        <a:rPr lang="zh-CN" altLang="en-US" sz="3200" b="1" i="0">
                                          <a:latin typeface="Cambria Math" panose="02040503050406030204" pitchFamily="18" charset="0"/>
                                        </a:rPr>
                                        <m:t>𝐗</m:t>
                                      </m:r>
                                    </m:e>
                                    <m:sub>
                                      <m:r>
                                        <a:rPr lang="zh-CN" altLang="en-US" sz="3200" b="0" i="1">
                                          <a:latin typeface="Cambria Math" panose="02040503050406030204" pitchFamily="18" charset="0"/>
                                        </a:rPr>
                                        <m:t>𝑖</m:t>
                                      </m:r>
                                    </m:sub>
                                  </m:sSub>
                                </m:e>
                              </m:d>
                            </m:num>
                            <m:den>
                              <m:r>
                                <a:rPr lang="zh-CN" altLang="en-US" sz="3200" b="0" i="1">
                                  <a:latin typeface="Cambria Math" panose="02040503050406030204" pitchFamily="18" charset="0"/>
                                </a:rPr>
                                <m:t>𝑔</m:t>
                              </m:r>
                              <m:d>
                                <m:dPr>
                                  <m:ctrlPr>
                                    <a:rPr lang="zh-CN" altLang="en-US" sz="3200" b="0" i="1">
                                      <a:latin typeface="Cambria Math" panose="02040503050406030204" pitchFamily="18" charset="0"/>
                                    </a:rPr>
                                  </m:ctrlPr>
                                </m:dPr>
                                <m:e>
                                  <m:sSub>
                                    <m:sSubPr>
                                      <m:ctrlPr>
                                        <a:rPr lang="zh-CN" altLang="en-US" sz="3200" b="0" i="1">
                                          <a:solidFill>
                                            <a:srgbClr val="836967"/>
                                          </a:solidFill>
                                          <a:latin typeface="Cambria Math" panose="02040503050406030204" pitchFamily="18" charset="0"/>
                                        </a:rPr>
                                      </m:ctrlPr>
                                    </m:sSubPr>
                                    <m:e>
                                      <m:r>
                                        <a:rPr lang="zh-CN" altLang="en-US" sz="3200" b="1" i="0">
                                          <a:latin typeface="Cambria Math" panose="02040503050406030204" pitchFamily="18" charset="0"/>
                                        </a:rPr>
                                        <m:t>𝐗</m:t>
                                      </m:r>
                                    </m:e>
                                    <m:sub>
                                      <m:r>
                                        <a:rPr lang="zh-CN" altLang="en-US" sz="3200" b="0" i="1">
                                          <a:latin typeface="Cambria Math" panose="02040503050406030204" pitchFamily="18" charset="0"/>
                                        </a:rPr>
                                        <m:t>𝑖</m:t>
                                      </m:r>
                                    </m:sub>
                                  </m:sSub>
                                </m:e>
                              </m:d>
                            </m:den>
                          </m:f>
                        </m:e>
                      </m:nary>
                    </m:oMath>
                  </m:oMathPara>
                </a14:m>
                <a:endParaRPr lang="zh-CN" altLang="en-US" dirty="0"/>
              </a:p>
            </p:txBody>
          </p:sp>
        </mc:Choice>
        <mc:Fallback xmlns="">
          <p:sp>
            <p:nvSpPr>
              <p:cNvPr id="26" name="文本框 25">
                <a:extLst>
                  <a:ext uri="{FF2B5EF4-FFF2-40B4-BE49-F238E27FC236}">
                    <a16:creationId xmlns:a16="http://schemas.microsoft.com/office/drawing/2014/main" id="{2E698DA1-2999-4D2D-9F43-E647CAD9A5EA}"/>
                  </a:ext>
                </a:extLst>
              </p:cNvPr>
              <p:cNvSpPr txBox="1">
                <a:spLocks noRot="1" noChangeAspect="1" noMove="1" noResize="1" noEditPoints="1" noAdjustHandles="1" noChangeArrowheads="1" noChangeShapeType="1" noTextEdit="1"/>
              </p:cNvSpPr>
              <p:nvPr/>
            </p:nvSpPr>
            <p:spPr>
              <a:xfrm>
                <a:off x="1883138" y="1568649"/>
                <a:ext cx="4690532" cy="1877822"/>
              </a:xfrm>
              <a:prstGeom prst="rect">
                <a:avLst/>
              </a:prstGeom>
              <a:blipFill>
                <a:blip r:embed="rId3"/>
                <a:stretch>
                  <a:fillRect/>
                </a:stretch>
              </a:blipFill>
              <a:ln w="25400">
                <a:noFill/>
              </a:ln>
            </p:spPr>
            <p:txBody>
              <a:bodyPr/>
              <a:lstStyle/>
              <a:p>
                <a:r>
                  <a:rPr lang="zh-CN" altLang="en-US">
                    <a:noFill/>
                  </a:rPr>
                  <a:t> </a:t>
                </a:r>
              </a:p>
            </p:txBody>
          </p:sp>
        </mc:Fallback>
      </mc:AlternateContent>
      <p:sp>
        <p:nvSpPr>
          <p:cNvPr id="27" name="文本框 26">
            <a:extLst>
              <a:ext uri="{FF2B5EF4-FFF2-40B4-BE49-F238E27FC236}">
                <a16:creationId xmlns:a16="http://schemas.microsoft.com/office/drawing/2014/main" id="{F7102A93-F7C6-499C-BD37-409A2B68947C}"/>
              </a:ext>
            </a:extLst>
          </p:cNvPr>
          <p:cNvSpPr txBox="1"/>
          <p:nvPr/>
        </p:nvSpPr>
        <p:spPr>
          <a:xfrm>
            <a:off x="7281332" y="2209860"/>
            <a:ext cx="1889873"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(12.1)</a:t>
            </a:r>
            <a:endParaRPr lang="zh-CN" altLang="en-US" dirty="0"/>
          </a:p>
        </p:txBody>
      </p:sp>
      <p:pic>
        <p:nvPicPr>
          <p:cNvPr id="28" name="图片 27">
            <a:extLst>
              <a:ext uri="{FF2B5EF4-FFF2-40B4-BE49-F238E27FC236}">
                <a16:creationId xmlns:a16="http://schemas.microsoft.com/office/drawing/2014/main" id="{0D9A3DDF-6D62-4C38-AAEE-81A0306AD81B}"/>
              </a:ext>
            </a:extLst>
          </p:cNvPr>
          <p:cNvPicPr>
            <a:picLocks noChangeAspect="1"/>
          </p:cNvPicPr>
          <p:nvPr/>
        </p:nvPicPr>
        <p:blipFill>
          <a:blip r:embed="rId4"/>
          <a:stretch>
            <a:fillRect/>
          </a:stretch>
        </p:blipFill>
        <p:spPr>
          <a:xfrm>
            <a:off x="1506082" y="4534709"/>
            <a:ext cx="4569434" cy="1009526"/>
          </a:xfrm>
          <a:prstGeom prst="rect">
            <a:avLst/>
          </a:prstGeom>
        </p:spPr>
      </p:pic>
      <p:sp>
        <p:nvSpPr>
          <p:cNvPr id="32" name="文本框 31">
            <a:extLst>
              <a:ext uri="{FF2B5EF4-FFF2-40B4-BE49-F238E27FC236}">
                <a16:creationId xmlns:a16="http://schemas.microsoft.com/office/drawing/2014/main" id="{F24442EA-DFD7-4575-A118-F2DD44181D6A}"/>
              </a:ext>
            </a:extLst>
          </p:cNvPr>
          <p:cNvSpPr txBox="1"/>
          <p:nvPr/>
        </p:nvSpPr>
        <p:spPr>
          <a:xfrm>
            <a:off x="7248630" y="4592742"/>
            <a:ext cx="1889873"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(12.2)</a:t>
            </a:r>
            <a:endParaRPr lang="zh-CN" altLang="en-US" dirty="0"/>
          </a:p>
        </p:txBody>
      </p:sp>
    </p:spTree>
    <p:extLst>
      <p:ext uri="{BB962C8B-B14F-4D97-AF65-F5344CB8AC3E}">
        <p14:creationId xmlns:p14="http://schemas.microsoft.com/office/powerpoint/2010/main" val="15022218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3.3 </a:t>
            </a:r>
            <a:r>
              <a:rPr lang="zh-CN" altLang="en-US" dirty="0"/>
              <a:t>重要抽样法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966" y="894523"/>
            <a:ext cx="589618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b="1" dirty="0">
                <a:solidFill>
                  <a:srgbClr val="FF0000"/>
                </a:solidFill>
                <a:latin typeface="Verdana" panose="020B0604030504040204" pitchFamily="34" charset="0"/>
              </a:rPr>
              <a:t>求随机变量函数的期望问题</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64</a:t>
            </a:fld>
            <a:endParaRPr lang="zh-CN" altLang="en-US">
              <a:solidFill>
                <a:srgbClr val="898989"/>
              </a:solidFill>
            </a:endParaRPr>
          </a:p>
        </p:txBody>
      </p:sp>
      <p:sp>
        <p:nvSpPr>
          <p:cNvPr id="13" name="文本框 12">
            <a:extLst>
              <a:ext uri="{FF2B5EF4-FFF2-40B4-BE49-F238E27FC236}">
                <a16:creationId xmlns:a16="http://schemas.microsoft.com/office/drawing/2014/main" id="{E13616DC-9824-4E9A-BCFC-7624C9FC068D}"/>
              </a:ext>
            </a:extLst>
          </p:cNvPr>
          <p:cNvSpPr txBox="1"/>
          <p:nvPr/>
        </p:nvSpPr>
        <p:spPr>
          <a:xfrm>
            <a:off x="119669" y="1479298"/>
            <a:ext cx="8998365" cy="452431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设</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r>
              <a:rPr lang="zh-CN" altLang="en-US" sz="3200" dirty="0">
                <a:solidFill>
                  <a:srgbClr val="006699"/>
                </a:solidFill>
                <a:latin typeface="Verdana" panose="020B0604030504040204" pitchFamily="34" charset="0"/>
              </a:rPr>
              <a:t>求期望值</a:t>
            </a:r>
            <a:endParaRPr lang="en-US" altLang="zh-CN" sz="3200" dirty="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用</a:t>
            </a:r>
            <a:r>
              <a:rPr kumimoji="0" lang="zh-CN" altLang="en-US"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重要抽样法</a:t>
            </a:r>
            <a:r>
              <a:rPr lang="zh-CN" altLang="en-US" sz="3200" dirty="0">
                <a:solidFill>
                  <a:srgbClr val="006699"/>
                </a:solidFill>
                <a:latin typeface="Verdana" panose="020B0604030504040204" pitchFamily="34" charset="0"/>
              </a:rPr>
              <a:t>估计</a:t>
            </a:r>
            <a:r>
              <a:rPr lang="en-US" altLang="zh-CN" sz="3200" dirty="0">
                <a:solidFill>
                  <a:srgbClr val="006699"/>
                </a:solidFill>
                <a:latin typeface="Verdana" panose="020B0604030504040204" pitchFamily="34" charset="0"/>
              </a:rPr>
              <a:t>E</a:t>
            </a:r>
            <a:r>
              <a:rPr lang="en-US" altLang="zh-CN" sz="3200" i="1" dirty="0">
                <a:solidFill>
                  <a:srgbClr val="006699"/>
                </a:solidFill>
                <a:latin typeface="Verdana" panose="020B0604030504040204" pitchFamily="34" charset="0"/>
              </a:rPr>
              <a:t>h</a:t>
            </a:r>
            <a:r>
              <a:rPr lang="en-US" altLang="zh-CN" sz="3200" dirty="0">
                <a:solidFill>
                  <a:srgbClr val="006699"/>
                </a:solidFill>
                <a:latin typeface="Verdana" panose="020B0604030504040204" pitchFamily="34" charset="0"/>
              </a:rPr>
              <a:t>(</a:t>
            </a:r>
            <a:r>
              <a:rPr lang="en-US" altLang="zh-CN" sz="3200" b="1" i="1" dirty="0">
                <a:solidFill>
                  <a:srgbClr val="006699"/>
                </a:solidFill>
                <a:latin typeface="Verdana" panose="020B0604030504040204" pitchFamily="34" charset="0"/>
              </a:rPr>
              <a:t>Y</a:t>
            </a:r>
            <a:r>
              <a:rPr lang="en-US" altLang="zh-CN" sz="3200" dirty="0">
                <a:solidFill>
                  <a:srgbClr val="006699"/>
                </a:solidFill>
                <a:latin typeface="Verdana" panose="020B0604030504040204" pitchFamily="34" charset="0"/>
              </a:rPr>
              <a:t>)</a:t>
            </a: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找试投密度</a:t>
            </a:r>
            <a:r>
              <a:rPr lang="en-US" altLang="zh-CN" sz="3200" i="1" dirty="0">
                <a:solidFill>
                  <a:srgbClr val="006699"/>
                </a:solidFill>
                <a:latin typeface="Verdana" panose="020B0604030504040204" pitchFamily="34" charset="0"/>
              </a:rPr>
              <a:t>g</a:t>
            </a:r>
            <a:r>
              <a:rPr lang="en-US" altLang="zh-CN" sz="3200" dirty="0">
                <a:solidFill>
                  <a:srgbClr val="006699"/>
                </a:solidFill>
                <a:latin typeface="Verdana" panose="020B0604030504040204" pitchFamily="34" charset="0"/>
              </a:rPr>
              <a:t>(</a:t>
            </a:r>
            <a:r>
              <a:rPr lang="en-US" altLang="zh-CN" sz="3200" i="1" dirty="0">
                <a:solidFill>
                  <a:srgbClr val="006699"/>
                </a:solidFill>
                <a:latin typeface="Verdana" panose="020B0604030504040204" pitchFamily="34" charset="0"/>
              </a:rPr>
              <a:t>x</a:t>
            </a:r>
            <a:r>
              <a:rPr lang="en-US" altLang="zh-CN" sz="3200" dirty="0">
                <a:solidFill>
                  <a:srgbClr val="006699"/>
                </a:solidFill>
                <a:latin typeface="Verdana" panose="020B0604030504040204" pitchFamily="34" charset="0"/>
              </a:rPr>
              <a:t>)</a:t>
            </a: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从</a:t>
            </a:r>
            <a:r>
              <a:rPr lang="en-US" altLang="zh-CN" sz="3200" i="1" dirty="0">
                <a:solidFill>
                  <a:srgbClr val="006699"/>
                </a:solidFill>
                <a:latin typeface="Verdana" panose="020B0604030504040204" pitchFamily="34" charset="0"/>
              </a:rPr>
              <a:t>g</a:t>
            </a:r>
            <a:r>
              <a:rPr lang="en-US" altLang="zh-CN" sz="3200" dirty="0">
                <a:solidFill>
                  <a:srgbClr val="006699"/>
                </a:solidFill>
                <a:latin typeface="Verdana" panose="020B0604030504040204" pitchFamily="34" charset="0"/>
              </a:rPr>
              <a:t>(</a:t>
            </a:r>
            <a:r>
              <a:rPr lang="en-US" altLang="zh-CN" sz="3200" i="1" dirty="0">
                <a:solidFill>
                  <a:srgbClr val="006699"/>
                </a:solidFill>
                <a:latin typeface="Verdana" panose="020B0604030504040204" pitchFamily="34" charset="0"/>
              </a:rPr>
              <a:t>x</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产生随机数</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则有</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endParaRPr lang="zh-CN" altLang="en-US"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E27D7FE6-3FEF-4E10-A1DE-6332B72B6648}"/>
                  </a:ext>
                </a:extLst>
              </p:cNvPr>
              <p:cNvSpPr txBox="1"/>
              <p:nvPr/>
            </p:nvSpPr>
            <p:spPr>
              <a:xfrm>
                <a:off x="628792" y="1477269"/>
                <a:ext cx="1513275"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b="1" smtClean="0">
                          <a:latin typeface="Cambria Math" panose="02040503050406030204" pitchFamily="18" charset="0"/>
                        </a:rPr>
                        <m:t>𝐘</m:t>
                      </m:r>
                      <m:r>
                        <a:rPr lang="zh-CN" altLang="en-US" sz="3200" b="0" i="0">
                          <a:latin typeface="Cambria Math" panose="02040503050406030204" pitchFamily="18" charset="0"/>
                        </a:rPr>
                        <m:t>~</m:t>
                      </m:r>
                      <m:r>
                        <a:rPr lang="zh-CN" altLang="en-US" sz="3200" b="0" i="1">
                          <a:latin typeface="Cambria Math" panose="02040503050406030204" pitchFamily="18" charset="0"/>
                        </a:rPr>
                        <m:t>𝑓</m:t>
                      </m:r>
                      <m:d>
                        <m:dPr>
                          <m:ctrlPr>
                            <a:rPr lang="zh-CN" altLang="en-US" sz="3200" b="0" i="1">
                              <a:latin typeface="Cambria Math" panose="02040503050406030204" pitchFamily="18" charset="0"/>
                            </a:rPr>
                          </m:ctrlPr>
                        </m:dPr>
                        <m:e>
                          <m:r>
                            <a:rPr lang="zh-CN" altLang="en-US" sz="3200" b="1" i="0">
                              <a:latin typeface="Cambria Math" panose="02040503050406030204" pitchFamily="18" charset="0"/>
                            </a:rPr>
                            <m:t>𝐲</m:t>
                          </m:r>
                        </m:e>
                      </m:d>
                    </m:oMath>
                  </m:oMathPara>
                </a14:m>
                <a:endParaRPr lang="zh-CN" altLang="en-US" dirty="0"/>
              </a:p>
            </p:txBody>
          </p:sp>
        </mc:Choice>
        <mc:Fallback xmlns="">
          <p:sp>
            <p:nvSpPr>
              <p:cNvPr id="16" name="文本框 15">
                <a:extLst>
                  <a:ext uri="{FF2B5EF4-FFF2-40B4-BE49-F238E27FC236}">
                    <a16:creationId xmlns:a16="http://schemas.microsoft.com/office/drawing/2014/main" id="{E27D7FE6-3FEF-4E10-A1DE-6332B72B6648}"/>
                  </a:ext>
                </a:extLst>
              </p:cNvPr>
              <p:cNvSpPr txBox="1">
                <a:spLocks noRot="1" noChangeAspect="1" noMove="1" noResize="1" noEditPoints="1" noAdjustHandles="1" noChangeArrowheads="1" noChangeShapeType="1" noTextEdit="1"/>
              </p:cNvSpPr>
              <p:nvPr/>
            </p:nvSpPr>
            <p:spPr>
              <a:xfrm>
                <a:off x="628792" y="1477269"/>
                <a:ext cx="1513275" cy="584775"/>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B6A609FE-2CEB-42D9-9459-020339914B73}"/>
                  </a:ext>
                </a:extLst>
              </p:cNvPr>
              <p:cNvSpPr txBox="1"/>
              <p:nvPr/>
            </p:nvSpPr>
            <p:spPr>
              <a:xfrm>
                <a:off x="1847992" y="1813905"/>
                <a:ext cx="4690532" cy="1099404"/>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𝐸h</m:t>
                      </m:r>
                      <m:d>
                        <m:dPr>
                          <m:ctrlPr>
                            <a:rPr lang="zh-CN" altLang="en-US" sz="3200" i="1">
                              <a:latin typeface="Cambria Math" panose="02040503050406030204" pitchFamily="18" charset="0"/>
                            </a:rPr>
                          </m:ctrlPr>
                        </m:dPr>
                        <m:e>
                          <m:r>
                            <a:rPr lang="zh-CN" altLang="en-US" sz="3200" b="1" i="0">
                              <a:latin typeface="Cambria Math" panose="02040503050406030204" pitchFamily="18" charset="0"/>
                            </a:rPr>
                            <m:t>𝐘</m:t>
                          </m:r>
                        </m:e>
                      </m:d>
                      <m:r>
                        <a:rPr lang="zh-CN" altLang="en-US" sz="3200" b="0" i="0">
                          <a:latin typeface="Cambria Math" panose="02040503050406030204" pitchFamily="18" charset="0"/>
                        </a:rPr>
                        <m:t>=</m:t>
                      </m:r>
                      <m:nary>
                        <m:naryPr>
                          <m:grow m:val="on"/>
                          <m:subHide m:val="on"/>
                          <m:supHide m:val="on"/>
                          <m:ctrlPr>
                            <a:rPr lang="zh-CN" altLang="en-US" sz="3200" b="0" i="1">
                              <a:latin typeface="Cambria Math" panose="02040503050406030204" pitchFamily="18" charset="0"/>
                            </a:rPr>
                          </m:ctrlPr>
                        </m:naryPr>
                        <m:sub/>
                        <m:sup/>
                        <m:e>
                          <m:r>
                            <a:rPr lang="zh-CN" altLang="en-US" sz="3200" b="0" i="1">
                              <a:latin typeface="Cambria Math" panose="02040503050406030204" pitchFamily="18" charset="0"/>
                            </a:rPr>
                            <m:t>h</m:t>
                          </m:r>
                        </m:e>
                      </m:nary>
                      <m:d>
                        <m:dPr>
                          <m:ctrlPr>
                            <a:rPr lang="zh-CN" altLang="en-US" sz="3200" b="0" i="1">
                              <a:latin typeface="Cambria Math" panose="02040503050406030204" pitchFamily="18" charset="0"/>
                            </a:rPr>
                          </m:ctrlPr>
                        </m:dPr>
                        <m:e>
                          <m:r>
                            <a:rPr lang="zh-CN" altLang="en-US" sz="3200" b="1" i="0">
                              <a:latin typeface="Cambria Math" panose="02040503050406030204" pitchFamily="18" charset="0"/>
                            </a:rPr>
                            <m:t>𝐲</m:t>
                          </m:r>
                        </m:e>
                      </m:d>
                      <m:r>
                        <a:rPr lang="zh-CN" altLang="en-US" sz="3200" b="0" i="1">
                          <a:latin typeface="Cambria Math" panose="02040503050406030204" pitchFamily="18" charset="0"/>
                        </a:rPr>
                        <m:t>𝑓</m:t>
                      </m:r>
                      <m:d>
                        <m:dPr>
                          <m:ctrlPr>
                            <a:rPr lang="zh-CN" altLang="en-US" sz="3200" b="0" i="1">
                              <a:latin typeface="Cambria Math" panose="02040503050406030204" pitchFamily="18" charset="0"/>
                            </a:rPr>
                          </m:ctrlPr>
                        </m:dPr>
                        <m:e>
                          <m:r>
                            <a:rPr lang="zh-CN" altLang="en-US" sz="3200" b="1" i="0">
                              <a:latin typeface="Cambria Math" panose="02040503050406030204" pitchFamily="18" charset="0"/>
                            </a:rPr>
                            <m:t>𝐲</m:t>
                          </m:r>
                        </m:e>
                      </m:d>
                      <m:r>
                        <a:rPr lang="zh-CN" altLang="en-US" sz="3200" b="0" i="1">
                          <a:latin typeface="Cambria Math" panose="02040503050406030204" pitchFamily="18" charset="0"/>
                        </a:rPr>
                        <m:t>𝑑</m:t>
                      </m:r>
                      <m:r>
                        <a:rPr lang="zh-CN" altLang="en-US" sz="3200" b="1" i="0">
                          <a:latin typeface="Cambria Math" panose="02040503050406030204" pitchFamily="18" charset="0"/>
                        </a:rPr>
                        <m:t>𝐲</m:t>
                      </m:r>
                    </m:oMath>
                  </m:oMathPara>
                </a14:m>
                <a:endParaRPr lang="zh-CN" altLang="en-US" dirty="0"/>
              </a:p>
            </p:txBody>
          </p:sp>
        </mc:Choice>
        <mc:Fallback xmlns="">
          <p:sp>
            <p:nvSpPr>
              <p:cNvPr id="17" name="文本框 16">
                <a:extLst>
                  <a:ext uri="{FF2B5EF4-FFF2-40B4-BE49-F238E27FC236}">
                    <a16:creationId xmlns:a16="http://schemas.microsoft.com/office/drawing/2014/main" id="{B6A609FE-2CEB-42D9-9459-020339914B73}"/>
                  </a:ext>
                </a:extLst>
              </p:cNvPr>
              <p:cNvSpPr txBox="1">
                <a:spLocks noRot="1" noChangeAspect="1" noMove="1" noResize="1" noEditPoints="1" noAdjustHandles="1" noChangeArrowheads="1" noChangeShapeType="1" noTextEdit="1"/>
              </p:cNvSpPr>
              <p:nvPr/>
            </p:nvSpPr>
            <p:spPr>
              <a:xfrm>
                <a:off x="1847992" y="1813905"/>
                <a:ext cx="4690532" cy="1099404"/>
              </a:xfrm>
              <a:prstGeom prst="rect">
                <a:avLst/>
              </a:prstGeom>
              <a:blipFill>
                <a:blip r:embed="rId3"/>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55631F94-9727-4474-AF30-E11BDB1A0CE0}"/>
                  </a:ext>
                </a:extLst>
              </p:cNvPr>
              <p:cNvSpPr txBox="1"/>
              <p:nvPr/>
            </p:nvSpPr>
            <p:spPr>
              <a:xfrm>
                <a:off x="1753659" y="4713144"/>
                <a:ext cx="4690532" cy="147707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smtClean="0">
                              <a:solidFill>
                                <a:srgbClr val="836967"/>
                              </a:solidFill>
                              <a:latin typeface="Cambria Math" panose="02040503050406030204" pitchFamily="18" charset="0"/>
                            </a:rPr>
                          </m:ctrlPr>
                        </m:sSubPr>
                        <m:e>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𝐼</m:t>
                              </m:r>
                            </m:e>
                          </m:acc>
                        </m:e>
                        <m:sub>
                          <m:r>
                            <a:rPr lang="zh-CN" altLang="en-US" sz="3200" i="0">
                              <a:latin typeface="Cambria Math" panose="02040503050406030204" pitchFamily="18" charset="0"/>
                            </a:rPr>
                            <m:t>3.1</m:t>
                          </m:r>
                        </m:sub>
                      </m:sSub>
                      <m:r>
                        <a:rPr lang="zh-CN" altLang="en-US" sz="3200" i="0">
                          <a:latin typeface="Cambria Math" panose="02040503050406030204" pitchFamily="18" charset="0"/>
                        </a:rPr>
                        <m:t>=</m:t>
                      </m:r>
                      <m:f>
                        <m:fPr>
                          <m:ctrlPr>
                            <a:rPr lang="zh-CN" altLang="en-US" sz="3200" i="1">
                              <a:solidFill>
                                <a:srgbClr val="836967"/>
                              </a:solidFill>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1">
                              <a:latin typeface="Cambria Math" panose="02040503050406030204" pitchFamily="18" charset="0"/>
                            </a:rPr>
                            <m:t>𝑁</m:t>
                          </m:r>
                        </m:den>
                      </m:f>
                      <m:nary>
                        <m:naryPr>
                          <m:chr m:val="∑"/>
                          <m:limLoc m:val="undOvr"/>
                          <m:grow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𝑖</m:t>
                          </m:r>
                          <m:r>
                            <a:rPr lang="zh-CN" altLang="en-US" sz="3200" i="0">
                              <a:latin typeface="Cambria Math" panose="02040503050406030204" pitchFamily="18" charset="0"/>
                            </a:rPr>
                            <m:t>=1</m:t>
                          </m:r>
                        </m:sub>
                        <m:sup>
                          <m:r>
                            <a:rPr lang="zh-CN" altLang="en-US" sz="3200" i="1">
                              <a:latin typeface="Cambria Math" panose="02040503050406030204" pitchFamily="18" charset="0"/>
                            </a:rPr>
                            <m:t>𝑁</m:t>
                          </m:r>
                        </m:sup>
                        <m:e>
                          <m:r>
                            <a:rPr lang="zh-CN" altLang="en-US" sz="3200" i="1">
                              <a:latin typeface="Cambria Math" panose="02040503050406030204" pitchFamily="18" charset="0"/>
                            </a:rPr>
                            <m:t>h</m:t>
                          </m:r>
                        </m:e>
                      </m:nary>
                      <m:d>
                        <m:dPr>
                          <m:ctrlPr>
                            <a:rPr lang="zh-CN" altLang="en-US" sz="3200" i="1">
                              <a:latin typeface="Cambria Math" panose="02040503050406030204" pitchFamily="18" charset="0"/>
                            </a:rPr>
                          </m:ctrlPr>
                        </m:dPr>
                        <m:e>
                          <m:sSub>
                            <m:sSubPr>
                              <m:ctrlPr>
                                <a:rPr lang="zh-CN" altLang="en-US" sz="3200" i="1">
                                  <a:solidFill>
                                    <a:srgbClr val="836967"/>
                                  </a:solidFill>
                                  <a:latin typeface="Cambria Math" panose="02040503050406030204" pitchFamily="18" charset="0"/>
                                </a:rPr>
                              </m:ctrlPr>
                            </m:sSubPr>
                            <m:e>
                              <m:r>
                                <a:rPr lang="zh-CN" altLang="en-US" sz="3200" b="1" i="0">
                                  <a:latin typeface="Cambria Math" panose="02040503050406030204" pitchFamily="18" charset="0"/>
                                </a:rPr>
                                <m:t>𝐗</m:t>
                              </m:r>
                            </m:e>
                            <m:sub>
                              <m:r>
                                <a:rPr lang="zh-CN" altLang="en-US" sz="3200" b="0" i="1">
                                  <a:latin typeface="Cambria Math" panose="02040503050406030204" pitchFamily="18" charset="0"/>
                                </a:rPr>
                                <m:t>𝑖</m:t>
                              </m:r>
                            </m:sub>
                          </m:sSub>
                        </m:e>
                      </m:d>
                      <m:f>
                        <m:fPr>
                          <m:ctrlPr>
                            <a:rPr lang="zh-CN" altLang="en-US" sz="3200" b="0" i="1">
                              <a:solidFill>
                                <a:srgbClr val="836967"/>
                              </a:solidFill>
                              <a:latin typeface="Cambria Math" panose="02040503050406030204" pitchFamily="18" charset="0"/>
                            </a:rPr>
                          </m:ctrlPr>
                        </m:fPr>
                        <m:num>
                          <m:r>
                            <a:rPr lang="zh-CN" altLang="en-US" sz="3200" b="0" i="1">
                              <a:latin typeface="Cambria Math" panose="02040503050406030204" pitchFamily="18" charset="0"/>
                            </a:rPr>
                            <m:t>𝑓</m:t>
                          </m:r>
                          <m:d>
                            <m:dPr>
                              <m:ctrlPr>
                                <a:rPr lang="zh-CN" altLang="en-US" sz="3200" b="0" i="1">
                                  <a:latin typeface="Cambria Math" panose="02040503050406030204" pitchFamily="18" charset="0"/>
                                </a:rPr>
                              </m:ctrlPr>
                            </m:dPr>
                            <m:e>
                              <m:sSub>
                                <m:sSubPr>
                                  <m:ctrlPr>
                                    <a:rPr lang="zh-CN" altLang="en-US" sz="3200" b="0" i="1">
                                      <a:solidFill>
                                        <a:srgbClr val="836967"/>
                                      </a:solidFill>
                                      <a:latin typeface="Cambria Math" panose="02040503050406030204" pitchFamily="18" charset="0"/>
                                    </a:rPr>
                                  </m:ctrlPr>
                                </m:sSubPr>
                                <m:e>
                                  <m:r>
                                    <a:rPr lang="zh-CN" altLang="en-US" sz="3200" b="1" i="0">
                                      <a:latin typeface="Cambria Math" panose="02040503050406030204" pitchFamily="18" charset="0"/>
                                    </a:rPr>
                                    <m:t>𝐗</m:t>
                                  </m:r>
                                </m:e>
                                <m:sub>
                                  <m:r>
                                    <a:rPr lang="zh-CN" altLang="en-US" sz="3200" b="0" i="1">
                                      <a:latin typeface="Cambria Math" panose="02040503050406030204" pitchFamily="18" charset="0"/>
                                    </a:rPr>
                                    <m:t>𝑖</m:t>
                                  </m:r>
                                </m:sub>
                              </m:sSub>
                            </m:e>
                          </m:d>
                        </m:num>
                        <m:den>
                          <m:r>
                            <a:rPr lang="zh-CN" altLang="en-US" sz="3200" b="0" i="1">
                              <a:latin typeface="Cambria Math" panose="02040503050406030204" pitchFamily="18" charset="0"/>
                            </a:rPr>
                            <m:t>𝑔</m:t>
                          </m:r>
                          <m:d>
                            <m:dPr>
                              <m:ctrlPr>
                                <a:rPr lang="zh-CN" altLang="en-US" sz="3200" b="0" i="1">
                                  <a:latin typeface="Cambria Math" panose="02040503050406030204" pitchFamily="18" charset="0"/>
                                </a:rPr>
                              </m:ctrlPr>
                            </m:dPr>
                            <m:e>
                              <m:sSub>
                                <m:sSubPr>
                                  <m:ctrlPr>
                                    <a:rPr lang="zh-CN" altLang="en-US" sz="3200" b="0" i="1">
                                      <a:solidFill>
                                        <a:srgbClr val="836967"/>
                                      </a:solidFill>
                                      <a:latin typeface="Cambria Math" panose="02040503050406030204" pitchFamily="18" charset="0"/>
                                    </a:rPr>
                                  </m:ctrlPr>
                                </m:sSubPr>
                                <m:e>
                                  <m:r>
                                    <a:rPr lang="zh-CN" altLang="en-US" sz="3200" b="1" i="0">
                                      <a:latin typeface="Cambria Math" panose="02040503050406030204" pitchFamily="18" charset="0"/>
                                    </a:rPr>
                                    <m:t>𝐗</m:t>
                                  </m:r>
                                </m:e>
                                <m:sub>
                                  <m:r>
                                    <a:rPr lang="zh-CN" altLang="en-US" sz="3200" b="0" i="1">
                                      <a:latin typeface="Cambria Math" panose="02040503050406030204" pitchFamily="18" charset="0"/>
                                    </a:rPr>
                                    <m:t>𝑖</m:t>
                                  </m:r>
                                </m:sub>
                              </m:sSub>
                            </m:e>
                          </m:d>
                        </m:den>
                      </m:f>
                    </m:oMath>
                  </m:oMathPara>
                </a14:m>
                <a:endParaRPr lang="zh-CN" altLang="en-US" dirty="0"/>
              </a:p>
            </p:txBody>
          </p:sp>
        </mc:Choice>
        <mc:Fallback xmlns="">
          <p:sp>
            <p:nvSpPr>
              <p:cNvPr id="19" name="文本框 18">
                <a:extLst>
                  <a:ext uri="{FF2B5EF4-FFF2-40B4-BE49-F238E27FC236}">
                    <a16:creationId xmlns:a16="http://schemas.microsoft.com/office/drawing/2014/main" id="{55631F94-9727-4474-AF30-E11BDB1A0CE0}"/>
                  </a:ext>
                </a:extLst>
              </p:cNvPr>
              <p:cNvSpPr txBox="1">
                <a:spLocks noRot="1" noChangeAspect="1" noMove="1" noResize="1" noEditPoints="1" noAdjustHandles="1" noChangeArrowheads="1" noChangeShapeType="1" noTextEdit="1"/>
              </p:cNvSpPr>
              <p:nvPr/>
            </p:nvSpPr>
            <p:spPr>
              <a:xfrm>
                <a:off x="1753659" y="4713144"/>
                <a:ext cx="4690532" cy="1477071"/>
              </a:xfrm>
              <a:prstGeom prst="rect">
                <a:avLst/>
              </a:prstGeom>
              <a:blipFill>
                <a:blip r:embed="rId4"/>
                <a:stretch>
                  <a:fillRect/>
                </a:stretch>
              </a:blipFill>
              <a:ln w="25400">
                <a:noFill/>
              </a:ln>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86342182-8484-46ED-8CED-9252497088E1}"/>
              </a:ext>
            </a:extLst>
          </p:cNvPr>
          <p:cNvSpPr txBox="1"/>
          <p:nvPr/>
        </p:nvSpPr>
        <p:spPr>
          <a:xfrm>
            <a:off x="7216869" y="5221497"/>
            <a:ext cx="1889873"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(12.4)</a:t>
            </a:r>
            <a:endParaRPr lang="zh-CN" altLang="en-US"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71D23AC8-5403-4D75-A02D-E390FBA83D52}"/>
                  </a:ext>
                </a:extLst>
              </p:cNvPr>
              <p:cNvSpPr txBox="1"/>
              <p:nvPr/>
            </p:nvSpPr>
            <p:spPr>
              <a:xfrm>
                <a:off x="3955289" y="3927300"/>
                <a:ext cx="2665644" cy="523220"/>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800" b="1" i="1" smtClean="0">
                              <a:solidFill>
                                <a:srgbClr val="836967"/>
                              </a:solidFill>
                              <a:latin typeface="Cambria Math" panose="02040503050406030204" pitchFamily="18" charset="0"/>
                            </a:rPr>
                          </m:ctrlPr>
                        </m:sSubPr>
                        <m:e>
                          <m:r>
                            <a:rPr lang="zh-CN" altLang="en-US" sz="2800" b="1">
                              <a:latin typeface="Cambria Math" panose="02040503050406030204" pitchFamily="18" charset="0"/>
                            </a:rPr>
                            <m:t>𝐗</m:t>
                          </m:r>
                        </m:e>
                        <m:sub>
                          <m:r>
                            <a:rPr lang="zh-CN" altLang="en-US" sz="2800" b="0" i="1">
                              <a:latin typeface="Cambria Math" panose="02040503050406030204" pitchFamily="18" charset="0"/>
                            </a:rPr>
                            <m:t>𝑖</m:t>
                          </m:r>
                        </m:sub>
                      </m:sSub>
                      <m:r>
                        <a:rPr lang="zh-CN" altLang="en-US" sz="2800" b="0" i="0">
                          <a:latin typeface="Cambria Math" panose="02040503050406030204" pitchFamily="18" charset="0"/>
                        </a:rPr>
                        <m:t>,</m:t>
                      </m:r>
                      <m:r>
                        <a:rPr lang="zh-CN" altLang="en-US" sz="2800" b="0" i="1">
                          <a:latin typeface="Cambria Math" panose="02040503050406030204" pitchFamily="18" charset="0"/>
                        </a:rPr>
                        <m:t>𝑖</m:t>
                      </m:r>
                      <m:r>
                        <a:rPr lang="zh-CN" altLang="en-US" sz="2800" b="0" i="0">
                          <a:latin typeface="Cambria Math" panose="02040503050406030204" pitchFamily="18" charset="0"/>
                        </a:rPr>
                        <m:t>=1,2,…,</m:t>
                      </m:r>
                      <m:r>
                        <a:rPr lang="zh-CN" altLang="en-US" sz="2800" b="0" i="1">
                          <a:latin typeface="Cambria Math" panose="02040503050406030204" pitchFamily="18" charset="0"/>
                        </a:rPr>
                        <m:t>𝑁</m:t>
                      </m:r>
                    </m:oMath>
                  </m:oMathPara>
                </a14:m>
                <a:endParaRPr lang="zh-CN" altLang="en-US" dirty="0"/>
              </a:p>
            </p:txBody>
          </p:sp>
        </mc:Choice>
        <mc:Fallback xmlns="">
          <p:sp>
            <p:nvSpPr>
              <p:cNvPr id="12" name="文本框 11">
                <a:extLst>
                  <a:ext uri="{FF2B5EF4-FFF2-40B4-BE49-F238E27FC236}">
                    <a16:creationId xmlns:a16="http://schemas.microsoft.com/office/drawing/2014/main" id="{71D23AC8-5403-4D75-A02D-E390FBA83D52}"/>
                  </a:ext>
                </a:extLst>
              </p:cNvPr>
              <p:cNvSpPr txBox="1">
                <a:spLocks noRot="1" noChangeAspect="1" noMove="1" noResize="1" noEditPoints="1" noAdjustHandles="1" noChangeArrowheads="1" noChangeShapeType="1" noTextEdit="1"/>
              </p:cNvSpPr>
              <p:nvPr/>
            </p:nvSpPr>
            <p:spPr>
              <a:xfrm>
                <a:off x="3955289" y="3927300"/>
                <a:ext cx="2665644" cy="523220"/>
              </a:xfrm>
              <a:prstGeom prst="rect">
                <a:avLst/>
              </a:prstGeom>
              <a:blipFill>
                <a:blip r:embed="rId5"/>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254040987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3.3 </a:t>
            </a:r>
            <a:r>
              <a:rPr lang="zh-CN" altLang="en-US" dirty="0"/>
              <a:t>重要抽样法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966" y="894523"/>
            <a:ext cx="589618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b="1" dirty="0">
                <a:solidFill>
                  <a:srgbClr val="FF0000"/>
                </a:solidFill>
                <a:latin typeface="Verdana" panose="020B0604030504040204" pitchFamily="34" charset="0"/>
              </a:rPr>
              <a:t>求随机变量函数的期望问题</a:t>
            </a:r>
            <a:endParaRPr lang="en-US" altLang="zh-CN" sz="3200" dirty="0">
              <a:solidFill>
                <a:srgbClr val="006699"/>
              </a:solidFill>
              <a:latin typeface="Verdana" panose="020B0604030504040204" pitchFamily="34" charset="0"/>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65</a:t>
            </a:fld>
            <a:endParaRPr lang="zh-CN" altLang="en-US">
              <a:solidFill>
                <a:srgbClr val="898989"/>
              </a:solidFill>
            </a:endParaRPr>
          </a:p>
        </p:txBody>
      </p:sp>
      <p:sp>
        <p:nvSpPr>
          <p:cNvPr id="21" name="文本框 20">
            <a:extLst>
              <a:ext uri="{FF2B5EF4-FFF2-40B4-BE49-F238E27FC236}">
                <a16:creationId xmlns:a16="http://schemas.microsoft.com/office/drawing/2014/main" id="{86342182-8484-46ED-8CED-9252497088E1}"/>
              </a:ext>
            </a:extLst>
          </p:cNvPr>
          <p:cNvSpPr txBox="1"/>
          <p:nvPr/>
        </p:nvSpPr>
        <p:spPr>
          <a:xfrm>
            <a:off x="7254127" y="5143395"/>
            <a:ext cx="1889873"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(12.5)</a:t>
            </a:r>
            <a:endParaRPr lang="zh-CN" altLang="en-US"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9E8740A1-F8D3-44F7-97FA-E28A08043F75}"/>
                  </a:ext>
                </a:extLst>
              </p:cNvPr>
              <p:cNvSpPr txBox="1"/>
              <p:nvPr/>
            </p:nvSpPr>
            <p:spPr>
              <a:xfrm>
                <a:off x="2743600" y="1545996"/>
                <a:ext cx="2710649" cy="598369"/>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𝐸</m:t>
                      </m:r>
                      <m:sSub>
                        <m:sSubPr>
                          <m:ctrlPr>
                            <a:rPr lang="zh-CN" altLang="en-US" sz="3200" i="1">
                              <a:solidFill>
                                <a:srgbClr val="836967"/>
                              </a:solidFill>
                              <a:latin typeface="Cambria Math" panose="02040503050406030204" pitchFamily="18" charset="0"/>
                            </a:rPr>
                          </m:ctrlPr>
                        </m:sSubPr>
                        <m:e>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𝐼</m:t>
                              </m:r>
                            </m:e>
                          </m:acc>
                        </m:e>
                        <m:sub>
                          <m:r>
                            <a:rPr lang="zh-CN" altLang="en-US" sz="3200" i="0">
                              <a:latin typeface="Cambria Math" panose="02040503050406030204" pitchFamily="18" charset="0"/>
                            </a:rPr>
                            <m:t>3.1</m:t>
                          </m:r>
                        </m:sub>
                      </m:sSub>
                      <m:r>
                        <a:rPr lang="zh-CN" altLang="en-US" sz="3200" i="0">
                          <a:latin typeface="Cambria Math" panose="02040503050406030204" pitchFamily="18" charset="0"/>
                        </a:rPr>
                        <m:t>=</m:t>
                      </m:r>
                      <m:r>
                        <a:rPr lang="zh-CN" altLang="en-US" sz="3200" i="1">
                          <a:latin typeface="Cambria Math" panose="02040503050406030204" pitchFamily="18" charset="0"/>
                        </a:rPr>
                        <m:t>𝐸h</m:t>
                      </m:r>
                      <m:d>
                        <m:dPr>
                          <m:ctrlPr>
                            <a:rPr lang="zh-CN" altLang="en-US" sz="3200" i="1">
                              <a:latin typeface="Cambria Math" panose="02040503050406030204" pitchFamily="18" charset="0"/>
                            </a:rPr>
                          </m:ctrlPr>
                        </m:dPr>
                        <m:e>
                          <m:r>
                            <a:rPr lang="zh-CN" altLang="en-US" sz="3200" b="1" i="0">
                              <a:latin typeface="Cambria Math" panose="02040503050406030204" pitchFamily="18" charset="0"/>
                            </a:rPr>
                            <m:t>𝐘</m:t>
                          </m:r>
                        </m:e>
                      </m:d>
                    </m:oMath>
                  </m:oMathPara>
                </a14:m>
                <a:endParaRPr lang="zh-CN" altLang="en-US" dirty="0"/>
              </a:p>
            </p:txBody>
          </p:sp>
        </mc:Choice>
        <mc:Fallback xmlns="">
          <p:sp>
            <p:nvSpPr>
              <p:cNvPr id="12" name="文本框 11">
                <a:extLst>
                  <a:ext uri="{FF2B5EF4-FFF2-40B4-BE49-F238E27FC236}">
                    <a16:creationId xmlns:a16="http://schemas.microsoft.com/office/drawing/2014/main" id="{9E8740A1-F8D3-44F7-97FA-E28A08043F75}"/>
                  </a:ext>
                </a:extLst>
              </p:cNvPr>
              <p:cNvSpPr txBox="1">
                <a:spLocks noRot="1" noChangeAspect="1" noMove="1" noResize="1" noEditPoints="1" noAdjustHandles="1" noChangeArrowheads="1" noChangeShapeType="1" noTextEdit="1"/>
              </p:cNvSpPr>
              <p:nvPr/>
            </p:nvSpPr>
            <p:spPr>
              <a:xfrm>
                <a:off x="2743600" y="1545996"/>
                <a:ext cx="2710649" cy="598369"/>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8E12CF4-0DE4-427F-B3D2-5D55EE220028}"/>
                  </a:ext>
                </a:extLst>
              </p:cNvPr>
              <p:cNvSpPr txBox="1"/>
              <p:nvPr/>
            </p:nvSpPr>
            <p:spPr>
              <a:xfrm>
                <a:off x="2743600" y="2479200"/>
                <a:ext cx="2485624" cy="1134413"/>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smtClean="0">
                              <a:solidFill>
                                <a:srgbClr val="836967"/>
                              </a:solidFill>
                              <a:latin typeface="Cambria Math" panose="02040503050406030204" pitchFamily="18" charset="0"/>
                            </a:rPr>
                          </m:ctrlPr>
                        </m:sSubPr>
                        <m:e>
                          <m:r>
                            <a:rPr lang="zh-CN" altLang="en-US" sz="3200" i="1">
                              <a:latin typeface="Cambria Math" panose="02040503050406030204" pitchFamily="18" charset="0"/>
                            </a:rPr>
                            <m:t>𝑊</m:t>
                          </m:r>
                        </m:e>
                        <m:sub>
                          <m:r>
                            <a:rPr lang="zh-CN" altLang="en-US" sz="3200" i="1">
                              <a:latin typeface="Cambria Math" panose="02040503050406030204" pitchFamily="18" charset="0"/>
                            </a:rPr>
                            <m:t>𝑖</m:t>
                          </m:r>
                        </m:sub>
                      </m:sSub>
                      <m:r>
                        <a:rPr lang="zh-CN" altLang="en-US" sz="3200" i="0">
                          <a:latin typeface="Cambria Math" panose="02040503050406030204" pitchFamily="18" charset="0"/>
                        </a:rPr>
                        <m:t>=</m:t>
                      </m:r>
                      <m:f>
                        <m:fPr>
                          <m:ctrlPr>
                            <a:rPr lang="zh-CN" altLang="en-US" sz="3200" i="1">
                              <a:solidFill>
                                <a:srgbClr val="836967"/>
                              </a:solidFill>
                              <a:latin typeface="Cambria Math" panose="02040503050406030204" pitchFamily="18" charset="0"/>
                            </a:rPr>
                          </m:ctrlPr>
                        </m:fPr>
                        <m:num>
                          <m:r>
                            <a:rPr lang="zh-CN" altLang="en-US" sz="3200" i="1">
                              <a:latin typeface="Cambria Math" panose="02040503050406030204" pitchFamily="18" charset="0"/>
                            </a:rPr>
                            <m:t>𝑓</m:t>
                          </m:r>
                          <m:d>
                            <m:dPr>
                              <m:ctrlPr>
                                <a:rPr lang="zh-CN" altLang="en-US" sz="3200" i="1">
                                  <a:latin typeface="Cambria Math" panose="02040503050406030204" pitchFamily="18" charset="0"/>
                                </a:rPr>
                              </m:ctrlPr>
                            </m:dPr>
                            <m:e>
                              <m:sSub>
                                <m:sSubPr>
                                  <m:ctrlPr>
                                    <a:rPr lang="zh-CN" altLang="en-US" sz="3200" i="1">
                                      <a:solidFill>
                                        <a:srgbClr val="836967"/>
                                      </a:solidFill>
                                      <a:latin typeface="Cambria Math" panose="02040503050406030204" pitchFamily="18" charset="0"/>
                                    </a:rPr>
                                  </m:ctrlPr>
                                </m:sSubPr>
                                <m:e>
                                  <m:r>
                                    <a:rPr lang="zh-CN" altLang="en-US" sz="3200" b="1" i="0">
                                      <a:latin typeface="Cambria Math" panose="02040503050406030204" pitchFamily="18" charset="0"/>
                                    </a:rPr>
                                    <m:t>𝐗</m:t>
                                  </m:r>
                                </m:e>
                                <m:sub>
                                  <m:r>
                                    <a:rPr lang="zh-CN" altLang="en-US" sz="3200" b="0" i="1">
                                      <a:latin typeface="Cambria Math" panose="02040503050406030204" pitchFamily="18" charset="0"/>
                                    </a:rPr>
                                    <m:t>𝑖</m:t>
                                  </m:r>
                                </m:sub>
                              </m:sSub>
                            </m:e>
                          </m:d>
                        </m:num>
                        <m:den>
                          <m:r>
                            <a:rPr lang="zh-CN" altLang="en-US" sz="3200" b="0" i="1">
                              <a:latin typeface="Cambria Math" panose="02040503050406030204" pitchFamily="18" charset="0"/>
                            </a:rPr>
                            <m:t>𝑔</m:t>
                          </m:r>
                          <m:d>
                            <m:dPr>
                              <m:ctrlPr>
                                <a:rPr lang="zh-CN" altLang="en-US" sz="3200" b="0" i="1">
                                  <a:latin typeface="Cambria Math" panose="02040503050406030204" pitchFamily="18" charset="0"/>
                                </a:rPr>
                              </m:ctrlPr>
                            </m:dPr>
                            <m:e>
                              <m:sSub>
                                <m:sSubPr>
                                  <m:ctrlPr>
                                    <a:rPr lang="zh-CN" altLang="en-US" sz="3200" b="0" i="1">
                                      <a:solidFill>
                                        <a:srgbClr val="836967"/>
                                      </a:solidFill>
                                      <a:latin typeface="Cambria Math" panose="02040503050406030204" pitchFamily="18" charset="0"/>
                                    </a:rPr>
                                  </m:ctrlPr>
                                </m:sSubPr>
                                <m:e>
                                  <m:r>
                                    <a:rPr lang="zh-CN" altLang="en-US" sz="3200" b="1" i="0">
                                      <a:latin typeface="Cambria Math" panose="02040503050406030204" pitchFamily="18" charset="0"/>
                                    </a:rPr>
                                    <m:t>𝐗</m:t>
                                  </m:r>
                                </m:e>
                                <m:sub>
                                  <m:r>
                                    <a:rPr lang="zh-CN" altLang="en-US" sz="3200" b="0" i="1">
                                      <a:latin typeface="Cambria Math" panose="02040503050406030204" pitchFamily="18" charset="0"/>
                                    </a:rPr>
                                    <m:t>𝑖</m:t>
                                  </m:r>
                                </m:sub>
                              </m:sSub>
                            </m:e>
                          </m:d>
                        </m:den>
                      </m:f>
                    </m:oMath>
                  </m:oMathPara>
                </a14:m>
                <a:endParaRPr lang="zh-CN" altLang="en-US" dirty="0"/>
              </a:p>
            </p:txBody>
          </p:sp>
        </mc:Choice>
        <mc:Fallback xmlns="">
          <p:sp>
            <p:nvSpPr>
              <p:cNvPr id="14" name="文本框 13">
                <a:extLst>
                  <a:ext uri="{FF2B5EF4-FFF2-40B4-BE49-F238E27FC236}">
                    <a16:creationId xmlns:a16="http://schemas.microsoft.com/office/drawing/2014/main" id="{08E12CF4-0DE4-427F-B3D2-5D55EE220028}"/>
                  </a:ext>
                </a:extLst>
              </p:cNvPr>
              <p:cNvSpPr txBox="1">
                <a:spLocks noRot="1" noChangeAspect="1" noMove="1" noResize="1" noEditPoints="1" noAdjustHandles="1" noChangeArrowheads="1" noChangeShapeType="1" noTextEdit="1"/>
              </p:cNvSpPr>
              <p:nvPr/>
            </p:nvSpPr>
            <p:spPr>
              <a:xfrm>
                <a:off x="2743600" y="2479200"/>
                <a:ext cx="2485624" cy="1134413"/>
              </a:xfrm>
              <a:prstGeom prst="rect">
                <a:avLst/>
              </a:prstGeom>
              <a:blipFill>
                <a:blip r:embed="rId3"/>
                <a:stretch>
                  <a:fillRect/>
                </a:stretch>
              </a:blipFill>
              <a:ln w="25400">
                <a:noFill/>
              </a:ln>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BC3F7382-4314-4361-85F8-4A536F081B1D}"/>
              </a:ext>
            </a:extLst>
          </p:cNvPr>
          <p:cNvSpPr txBox="1"/>
          <p:nvPr/>
        </p:nvSpPr>
        <p:spPr>
          <a:xfrm>
            <a:off x="398334" y="3575904"/>
            <a:ext cx="4690532" cy="1569660"/>
          </a:xfrm>
          <a:prstGeom prst="rect">
            <a:avLst/>
          </a:prstGeom>
          <a:noFill/>
          <a:ln w="25400">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为</a:t>
            </a:r>
            <a:r>
              <a:rPr kumimoji="0" lang="zh-CN" altLang="en-US"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重要性权重</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p>
          <a:p>
            <a:pPr>
              <a:defRPr/>
            </a:pPr>
            <a:r>
              <a:rPr lang="zh-CN" altLang="en-US" sz="3200" dirty="0">
                <a:solidFill>
                  <a:srgbClr val="006699"/>
                </a:solidFill>
                <a:latin typeface="Verdana" panose="020B0604030504040204" pitchFamily="34" charset="0"/>
              </a:rPr>
              <a:t>则</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(12.4)</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改成</a:t>
            </a:r>
            <a:endParaRPr lang="zh-CN" altLang="en-US" sz="3200" dirty="0"/>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p:txBody>
      </p:sp>
      <p:sp>
        <p:nvSpPr>
          <p:cNvPr id="22" name="文本框 21">
            <a:extLst>
              <a:ext uri="{FF2B5EF4-FFF2-40B4-BE49-F238E27FC236}">
                <a16:creationId xmlns:a16="http://schemas.microsoft.com/office/drawing/2014/main" id="{F7749C0C-2C28-4154-A549-96756BD3E3E8}"/>
              </a:ext>
            </a:extLst>
          </p:cNvPr>
          <p:cNvSpPr txBox="1"/>
          <p:nvPr/>
        </p:nvSpPr>
        <p:spPr>
          <a:xfrm>
            <a:off x="307459" y="2203220"/>
            <a:ext cx="4724400" cy="584775"/>
          </a:xfrm>
          <a:prstGeom prst="rect">
            <a:avLst/>
          </a:prstGeom>
          <a:noFill/>
          <a:ln w="25400">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设</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D628F4C9-2084-4303-B9DF-863026DB620E}"/>
                  </a:ext>
                </a:extLst>
              </p:cNvPr>
              <p:cNvSpPr txBox="1"/>
              <p:nvPr/>
            </p:nvSpPr>
            <p:spPr>
              <a:xfrm>
                <a:off x="1613300" y="4573468"/>
                <a:ext cx="4336625" cy="147707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smtClean="0">
                              <a:solidFill>
                                <a:srgbClr val="836967"/>
                              </a:solidFill>
                              <a:latin typeface="Cambria Math" panose="02040503050406030204" pitchFamily="18" charset="0"/>
                            </a:rPr>
                          </m:ctrlPr>
                        </m:sSubPr>
                        <m:e>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𝐼</m:t>
                              </m:r>
                            </m:e>
                          </m:acc>
                        </m:e>
                        <m:sub>
                          <m:r>
                            <a:rPr lang="zh-CN" altLang="en-US" sz="3200" i="0">
                              <a:latin typeface="Cambria Math" panose="02040503050406030204" pitchFamily="18" charset="0"/>
                            </a:rPr>
                            <m:t>3.1</m:t>
                          </m:r>
                        </m:sub>
                      </m:sSub>
                      <m:r>
                        <a:rPr lang="zh-CN" altLang="en-US" sz="3200" i="0">
                          <a:latin typeface="Cambria Math" panose="02040503050406030204" pitchFamily="18" charset="0"/>
                        </a:rPr>
                        <m:t>=</m:t>
                      </m:r>
                      <m:f>
                        <m:fPr>
                          <m:ctrlPr>
                            <a:rPr lang="zh-CN" altLang="en-US" sz="3200" i="1">
                              <a:solidFill>
                                <a:srgbClr val="836967"/>
                              </a:solidFill>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1">
                              <a:latin typeface="Cambria Math" panose="02040503050406030204" pitchFamily="18" charset="0"/>
                            </a:rPr>
                            <m:t>𝑁</m:t>
                          </m:r>
                        </m:den>
                      </m:f>
                      <m:nary>
                        <m:naryPr>
                          <m:chr m:val="∑"/>
                          <m:limLoc m:val="undOvr"/>
                          <m:grow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𝑖</m:t>
                          </m:r>
                          <m:r>
                            <a:rPr lang="zh-CN" altLang="en-US" sz="3200" i="0">
                              <a:latin typeface="Cambria Math" panose="02040503050406030204" pitchFamily="18" charset="0"/>
                            </a:rPr>
                            <m:t>=1</m:t>
                          </m:r>
                        </m:sub>
                        <m:sup>
                          <m:r>
                            <a:rPr lang="zh-CN" altLang="en-US" sz="3200" i="1">
                              <a:latin typeface="Cambria Math" panose="02040503050406030204" pitchFamily="18" charset="0"/>
                            </a:rPr>
                            <m:t>𝑁</m:t>
                          </m:r>
                        </m:sup>
                        <m:e>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𝑊</m:t>
                              </m:r>
                            </m:e>
                            <m:sub>
                              <m:r>
                                <a:rPr lang="zh-CN" altLang="en-US" sz="3200" i="1">
                                  <a:latin typeface="Cambria Math" panose="02040503050406030204" pitchFamily="18" charset="0"/>
                                </a:rPr>
                                <m:t>𝑖</m:t>
                              </m:r>
                            </m:sub>
                          </m:sSub>
                        </m:e>
                      </m:nary>
                      <m:r>
                        <a:rPr lang="zh-CN" altLang="en-US" sz="3200" i="1">
                          <a:latin typeface="Cambria Math" panose="02040503050406030204" pitchFamily="18" charset="0"/>
                        </a:rPr>
                        <m:t>h</m:t>
                      </m:r>
                      <m:d>
                        <m:dPr>
                          <m:ctrlPr>
                            <a:rPr lang="zh-CN" altLang="en-US" sz="3200" i="1">
                              <a:latin typeface="Cambria Math" panose="02040503050406030204" pitchFamily="18" charset="0"/>
                            </a:rPr>
                          </m:ctrlPr>
                        </m:dPr>
                        <m:e>
                          <m:sSub>
                            <m:sSubPr>
                              <m:ctrlPr>
                                <a:rPr lang="zh-CN" altLang="en-US" sz="3200" i="1">
                                  <a:solidFill>
                                    <a:srgbClr val="836967"/>
                                  </a:solidFill>
                                  <a:latin typeface="Cambria Math" panose="02040503050406030204" pitchFamily="18" charset="0"/>
                                </a:rPr>
                              </m:ctrlPr>
                            </m:sSubPr>
                            <m:e>
                              <m:r>
                                <a:rPr lang="zh-CN" altLang="en-US" sz="3200" b="1" i="0">
                                  <a:latin typeface="Cambria Math" panose="02040503050406030204" pitchFamily="18" charset="0"/>
                                </a:rPr>
                                <m:t>𝐗</m:t>
                              </m:r>
                            </m:e>
                            <m:sub>
                              <m:r>
                                <a:rPr lang="zh-CN" altLang="en-US" sz="3200" b="0" i="1">
                                  <a:latin typeface="Cambria Math" panose="02040503050406030204" pitchFamily="18" charset="0"/>
                                </a:rPr>
                                <m:t>𝑖</m:t>
                              </m:r>
                            </m:sub>
                          </m:sSub>
                        </m:e>
                      </m:d>
                    </m:oMath>
                  </m:oMathPara>
                </a14:m>
                <a:endParaRPr lang="zh-CN" altLang="en-US" dirty="0"/>
              </a:p>
            </p:txBody>
          </p:sp>
        </mc:Choice>
        <mc:Fallback xmlns="">
          <p:sp>
            <p:nvSpPr>
              <p:cNvPr id="23" name="文本框 22">
                <a:extLst>
                  <a:ext uri="{FF2B5EF4-FFF2-40B4-BE49-F238E27FC236}">
                    <a16:creationId xmlns:a16="http://schemas.microsoft.com/office/drawing/2014/main" id="{D628F4C9-2084-4303-B9DF-863026DB620E}"/>
                  </a:ext>
                </a:extLst>
              </p:cNvPr>
              <p:cNvSpPr txBox="1">
                <a:spLocks noRot="1" noChangeAspect="1" noMove="1" noResize="1" noEditPoints="1" noAdjustHandles="1" noChangeArrowheads="1" noChangeShapeType="1" noTextEdit="1"/>
              </p:cNvSpPr>
              <p:nvPr/>
            </p:nvSpPr>
            <p:spPr>
              <a:xfrm>
                <a:off x="1613300" y="4573468"/>
                <a:ext cx="4336625" cy="1477071"/>
              </a:xfrm>
              <a:prstGeom prst="rect">
                <a:avLst/>
              </a:prstGeom>
              <a:blipFill>
                <a:blip r:embed="rId4"/>
                <a:stretch>
                  <a:fillRect/>
                </a:stretch>
              </a:blipFill>
              <a:ln w="25400">
                <a:noFill/>
              </a:ln>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A7660303-9A30-4946-A638-6E3B505982B8}"/>
              </a:ext>
            </a:extLst>
          </p:cNvPr>
          <p:cNvSpPr txBox="1"/>
          <p:nvPr/>
        </p:nvSpPr>
        <p:spPr>
          <a:xfrm>
            <a:off x="307459" y="1490989"/>
            <a:ext cx="4724400" cy="584775"/>
          </a:xfrm>
          <a:prstGeom prst="rect">
            <a:avLst/>
          </a:prstGeom>
          <a:noFill/>
          <a:ln w="25400">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易见</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p:txBody>
      </p:sp>
    </p:spTree>
    <p:extLst>
      <p:ext uri="{BB962C8B-B14F-4D97-AF65-F5344CB8AC3E}">
        <p14:creationId xmlns:p14="http://schemas.microsoft.com/office/powerpoint/2010/main" val="35560261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3.3.1 </a:t>
            </a:r>
            <a:r>
              <a:rPr lang="zh-CN" altLang="en-US" sz="3600" b="0" dirty="0">
                <a:latin typeface="+mn-lt"/>
                <a:ea typeface="+mn-ea"/>
              </a:rPr>
              <a:t>标准化重要抽样法</a:t>
            </a:r>
            <a:endParaRPr lang="zh-CN" altLang="en-US" dirty="0"/>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66</a:t>
            </a:fld>
            <a:endParaRPr lang="zh-CN" altLang="en-US">
              <a:solidFill>
                <a:srgbClr val="898989"/>
              </a:solidFill>
            </a:endParaRPr>
          </a:p>
        </p:txBody>
      </p:sp>
      <p:sp>
        <p:nvSpPr>
          <p:cNvPr id="21" name="文本框 20">
            <a:extLst>
              <a:ext uri="{FF2B5EF4-FFF2-40B4-BE49-F238E27FC236}">
                <a16:creationId xmlns:a16="http://schemas.microsoft.com/office/drawing/2014/main" id="{86342182-8484-46ED-8CED-9252497088E1}"/>
              </a:ext>
            </a:extLst>
          </p:cNvPr>
          <p:cNvSpPr txBox="1"/>
          <p:nvPr/>
        </p:nvSpPr>
        <p:spPr>
          <a:xfrm>
            <a:off x="7576764" y="5134428"/>
            <a:ext cx="1548343"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(12.7)</a:t>
            </a:r>
            <a:endParaRPr lang="zh-CN" altLang="en-US" dirty="0"/>
          </a:p>
        </p:txBody>
      </p:sp>
      <p:sp>
        <p:nvSpPr>
          <p:cNvPr id="22" name="文本框 21">
            <a:extLst>
              <a:ext uri="{FF2B5EF4-FFF2-40B4-BE49-F238E27FC236}">
                <a16:creationId xmlns:a16="http://schemas.microsoft.com/office/drawing/2014/main" id="{F7749C0C-2C28-4154-A549-96756BD3E3E8}"/>
              </a:ext>
            </a:extLst>
          </p:cNvPr>
          <p:cNvSpPr txBox="1"/>
          <p:nvPr/>
        </p:nvSpPr>
        <p:spPr>
          <a:xfrm>
            <a:off x="1608406" y="980726"/>
            <a:ext cx="4724400" cy="584775"/>
          </a:xfrm>
          <a:prstGeom prst="rect">
            <a:avLst/>
          </a:prstGeom>
          <a:noFill/>
          <a:ln w="25400">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很难直接抽样，或者</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6BC03732-F9EE-4A97-8BB0-F0E59FF334AE}"/>
                  </a:ext>
                </a:extLst>
              </p:cNvPr>
              <p:cNvSpPr txBox="1"/>
              <p:nvPr/>
            </p:nvSpPr>
            <p:spPr>
              <a:xfrm>
                <a:off x="67887" y="980726"/>
                <a:ext cx="1540519"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b="1" smtClean="0">
                          <a:latin typeface="Cambria Math" panose="02040503050406030204" pitchFamily="18" charset="0"/>
                        </a:rPr>
                        <m:t>𝐘</m:t>
                      </m:r>
                      <m:r>
                        <a:rPr lang="zh-CN" altLang="en-US" sz="3200" b="0" i="0">
                          <a:latin typeface="Cambria Math" panose="02040503050406030204" pitchFamily="18" charset="0"/>
                        </a:rPr>
                        <m:t>~</m:t>
                      </m:r>
                      <m:r>
                        <a:rPr lang="zh-CN" altLang="en-US" sz="3200" b="0" i="1">
                          <a:latin typeface="Cambria Math" panose="02040503050406030204" pitchFamily="18" charset="0"/>
                        </a:rPr>
                        <m:t>𝑓</m:t>
                      </m:r>
                      <m:d>
                        <m:dPr>
                          <m:ctrlPr>
                            <a:rPr lang="zh-CN" altLang="en-US" sz="3200" b="0" i="1">
                              <a:latin typeface="Cambria Math" panose="02040503050406030204" pitchFamily="18" charset="0"/>
                            </a:rPr>
                          </m:ctrlPr>
                        </m:dPr>
                        <m:e>
                          <m:r>
                            <a:rPr lang="zh-CN" altLang="en-US" sz="3200" b="0" i="0">
                              <a:latin typeface="Cambria Math" panose="02040503050406030204" pitchFamily="18" charset="0"/>
                            </a:rPr>
                            <m:t>⋅</m:t>
                          </m:r>
                        </m:e>
                      </m:d>
                    </m:oMath>
                  </m:oMathPara>
                </a14:m>
                <a:endParaRPr lang="zh-CN" altLang="en-US" dirty="0"/>
              </a:p>
            </p:txBody>
          </p:sp>
        </mc:Choice>
        <mc:Fallback xmlns="">
          <p:sp>
            <p:nvSpPr>
              <p:cNvPr id="13" name="文本框 12">
                <a:extLst>
                  <a:ext uri="{FF2B5EF4-FFF2-40B4-BE49-F238E27FC236}">
                    <a16:creationId xmlns:a16="http://schemas.microsoft.com/office/drawing/2014/main" id="{6BC03732-F9EE-4A97-8BB0-F0E59FF334AE}"/>
                  </a:ext>
                </a:extLst>
              </p:cNvPr>
              <p:cNvSpPr txBox="1">
                <a:spLocks noRot="1" noChangeAspect="1" noMove="1" noResize="1" noEditPoints="1" noAdjustHandles="1" noChangeArrowheads="1" noChangeShapeType="1" noTextEdit="1"/>
              </p:cNvSpPr>
              <p:nvPr/>
            </p:nvSpPr>
            <p:spPr>
              <a:xfrm>
                <a:off x="67887" y="980726"/>
                <a:ext cx="1540519" cy="584775"/>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0D3473A-E301-46E0-8EC5-429E1E10E04A}"/>
                  </a:ext>
                </a:extLst>
              </p:cNvPr>
              <p:cNvSpPr txBox="1"/>
              <p:nvPr/>
            </p:nvSpPr>
            <p:spPr>
              <a:xfrm>
                <a:off x="292911" y="1575568"/>
                <a:ext cx="1090469"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b="0" i="1">
                          <a:latin typeface="Cambria Math" panose="02040503050406030204" pitchFamily="18" charset="0"/>
                        </a:rPr>
                        <m:t>𝑓</m:t>
                      </m:r>
                      <m:d>
                        <m:dPr>
                          <m:ctrlPr>
                            <a:rPr lang="zh-CN" altLang="en-US" sz="3200" b="0" i="1">
                              <a:latin typeface="Cambria Math" panose="02040503050406030204" pitchFamily="18" charset="0"/>
                            </a:rPr>
                          </m:ctrlPr>
                        </m:dPr>
                        <m:e>
                          <m:r>
                            <a:rPr lang="zh-CN" altLang="en-US" sz="3200" b="0" i="0">
                              <a:latin typeface="Cambria Math" panose="02040503050406030204" pitchFamily="18" charset="0"/>
                            </a:rPr>
                            <m:t>⋅</m:t>
                          </m:r>
                        </m:e>
                      </m:d>
                    </m:oMath>
                  </m:oMathPara>
                </a14:m>
                <a:endParaRPr lang="zh-CN" altLang="en-US" dirty="0"/>
              </a:p>
            </p:txBody>
          </p:sp>
        </mc:Choice>
        <mc:Fallback xmlns="">
          <p:sp>
            <p:nvSpPr>
              <p:cNvPr id="15" name="文本框 14">
                <a:extLst>
                  <a:ext uri="{FF2B5EF4-FFF2-40B4-BE49-F238E27FC236}">
                    <a16:creationId xmlns:a16="http://schemas.microsoft.com/office/drawing/2014/main" id="{B0D3473A-E301-46E0-8EC5-429E1E10E04A}"/>
                  </a:ext>
                </a:extLst>
              </p:cNvPr>
              <p:cNvSpPr txBox="1">
                <a:spLocks noRot="1" noChangeAspect="1" noMove="1" noResize="1" noEditPoints="1" noAdjustHandles="1" noChangeArrowheads="1" noChangeShapeType="1" noTextEdit="1"/>
              </p:cNvSpPr>
              <p:nvPr/>
            </p:nvSpPr>
            <p:spPr>
              <a:xfrm>
                <a:off x="292911" y="1575568"/>
                <a:ext cx="1090469" cy="584775"/>
              </a:xfrm>
              <a:prstGeom prst="rect">
                <a:avLst/>
              </a:prstGeom>
              <a:blipFill>
                <a:blip r:embed="rId3"/>
                <a:stretch>
                  <a:fillRect/>
                </a:stretch>
              </a:blipFill>
              <a:ln w="25400">
                <a:noFill/>
              </a:ln>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771B29E1-2AA6-4E03-B617-FA942448FA77}"/>
              </a:ext>
            </a:extLst>
          </p:cNvPr>
          <p:cNvSpPr txBox="1"/>
          <p:nvPr/>
        </p:nvSpPr>
        <p:spPr>
          <a:xfrm>
            <a:off x="1642274" y="1616599"/>
            <a:ext cx="4690532" cy="584775"/>
          </a:xfrm>
          <a:prstGeom prst="rect">
            <a:avLst/>
          </a:prstGeom>
          <a:noFill/>
          <a:ln w="25400">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本身未知</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C5E63C24-4B4B-4C03-ACE5-993E66E0F3D8}"/>
                  </a:ext>
                </a:extLst>
              </p:cNvPr>
              <p:cNvSpPr txBox="1"/>
              <p:nvPr/>
            </p:nvSpPr>
            <p:spPr>
              <a:xfrm>
                <a:off x="1642274" y="2358603"/>
                <a:ext cx="2620639" cy="606000"/>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3200" i="1" smtClean="0">
                              <a:solidFill>
                                <a:srgbClr val="836967"/>
                              </a:solidFill>
                              <a:latin typeface="Cambria Math" panose="02040503050406030204" pitchFamily="18" charset="0"/>
                            </a:rPr>
                          </m:ctrlPr>
                        </m:accPr>
                        <m:e>
                          <m:r>
                            <a:rPr lang="zh-CN" altLang="en-US" sz="3200" i="1">
                              <a:latin typeface="Cambria Math" panose="02040503050406030204" pitchFamily="18" charset="0"/>
                            </a:rPr>
                            <m:t>𝑓</m:t>
                          </m:r>
                        </m:e>
                      </m:acc>
                      <m:d>
                        <m:dPr>
                          <m:ctrlPr>
                            <a:rPr lang="zh-CN" altLang="en-US" sz="3200" i="1">
                              <a:latin typeface="Cambria Math" panose="02040503050406030204" pitchFamily="18" charset="0"/>
                            </a:rPr>
                          </m:ctrlPr>
                        </m:dPr>
                        <m:e>
                          <m:r>
                            <a:rPr lang="zh-CN" altLang="en-US" sz="3200" b="1" i="0">
                              <a:latin typeface="Cambria Math" panose="02040503050406030204" pitchFamily="18" charset="0"/>
                            </a:rPr>
                            <m:t>𝐱</m:t>
                          </m:r>
                        </m:e>
                      </m:d>
                      <m:r>
                        <a:rPr lang="zh-CN" altLang="en-US" sz="3200" b="0" i="0">
                          <a:latin typeface="Cambria Math" panose="02040503050406030204" pitchFamily="18" charset="0"/>
                        </a:rPr>
                        <m:t>=</m:t>
                      </m:r>
                      <m:r>
                        <a:rPr lang="zh-CN" altLang="en-US" sz="3200" b="0" i="1">
                          <a:latin typeface="Cambria Math" panose="02040503050406030204" pitchFamily="18" charset="0"/>
                        </a:rPr>
                        <m:t>𝑐𝑓</m:t>
                      </m:r>
                      <m:d>
                        <m:dPr>
                          <m:ctrlPr>
                            <a:rPr lang="zh-CN" altLang="en-US" sz="3200" b="0" i="1">
                              <a:latin typeface="Cambria Math" panose="02040503050406030204" pitchFamily="18" charset="0"/>
                            </a:rPr>
                          </m:ctrlPr>
                        </m:dPr>
                        <m:e>
                          <m:r>
                            <a:rPr lang="zh-CN" altLang="en-US" sz="3200" b="1" i="0">
                              <a:latin typeface="Cambria Math" panose="02040503050406030204" pitchFamily="18" charset="0"/>
                            </a:rPr>
                            <m:t>𝐱</m:t>
                          </m:r>
                        </m:e>
                      </m:d>
                    </m:oMath>
                  </m:oMathPara>
                </a14:m>
                <a:endParaRPr lang="zh-CN" altLang="en-US" dirty="0"/>
              </a:p>
            </p:txBody>
          </p:sp>
        </mc:Choice>
        <mc:Fallback xmlns="">
          <p:sp>
            <p:nvSpPr>
              <p:cNvPr id="19" name="文本框 18">
                <a:extLst>
                  <a:ext uri="{FF2B5EF4-FFF2-40B4-BE49-F238E27FC236}">
                    <a16:creationId xmlns:a16="http://schemas.microsoft.com/office/drawing/2014/main" id="{C5E63C24-4B4B-4C03-ACE5-993E66E0F3D8}"/>
                  </a:ext>
                </a:extLst>
              </p:cNvPr>
              <p:cNvSpPr txBox="1">
                <a:spLocks noRot="1" noChangeAspect="1" noMove="1" noResize="1" noEditPoints="1" noAdjustHandles="1" noChangeArrowheads="1" noChangeShapeType="1" noTextEdit="1"/>
              </p:cNvSpPr>
              <p:nvPr/>
            </p:nvSpPr>
            <p:spPr>
              <a:xfrm>
                <a:off x="1642274" y="2358603"/>
                <a:ext cx="2620639" cy="606000"/>
              </a:xfrm>
              <a:prstGeom prst="rect">
                <a:avLst/>
              </a:prstGeom>
              <a:blipFill>
                <a:blip r:embed="rId4"/>
                <a:stretch>
                  <a:fillRect/>
                </a:stretch>
              </a:blipFill>
              <a:ln w="25400">
                <a:noFill/>
              </a:ln>
            </p:spPr>
            <p:txBody>
              <a:bodyPr/>
              <a:lstStyle/>
              <a:p>
                <a:r>
                  <a:rPr lang="zh-CN" altLang="en-US">
                    <a:noFill/>
                  </a:rPr>
                  <a:t> </a:t>
                </a:r>
              </a:p>
            </p:txBody>
          </p:sp>
        </mc:Fallback>
      </mc:AlternateContent>
      <p:sp>
        <p:nvSpPr>
          <p:cNvPr id="24" name="文本框 23">
            <a:extLst>
              <a:ext uri="{FF2B5EF4-FFF2-40B4-BE49-F238E27FC236}">
                <a16:creationId xmlns:a16="http://schemas.microsoft.com/office/drawing/2014/main" id="{C3C34F55-73FA-4DBF-999C-CDE19AAA6A8B}"/>
              </a:ext>
            </a:extLst>
          </p:cNvPr>
          <p:cNvSpPr txBox="1"/>
          <p:nvPr/>
        </p:nvSpPr>
        <p:spPr>
          <a:xfrm>
            <a:off x="194736" y="2379828"/>
            <a:ext cx="5817424" cy="3046988"/>
          </a:xfrm>
          <a:prstGeom prst="rect">
            <a:avLst/>
          </a:prstGeom>
          <a:noFill/>
          <a:ln w="25400">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已知</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3200" dirty="0">
                <a:solidFill>
                  <a:srgbClr val="006699"/>
                </a:solidFill>
                <a:latin typeface="Verdana" panose="020B0604030504040204" pitchFamily="34" charset="0"/>
              </a:rPr>
              <a:t>其中：常数</a:t>
            </a:r>
            <a:r>
              <a:rPr lang="en-US" altLang="zh-CN" sz="3200" dirty="0">
                <a:solidFill>
                  <a:srgbClr val="006699"/>
                </a:solidFill>
                <a:latin typeface="Verdana" panose="020B0604030504040204" pitchFamily="34" charset="0"/>
              </a:rPr>
              <a:t>C</a:t>
            </a:r>
            <a:r>
              <a:rPr lang="zh-CN" altLang="en-US" sz="3200" dirty="0">
                <a:solidFill>
                  <a:srgbClr val="006699"/>
                </a:solidFill>
                <a:latin typeface="Verdana" panose="020B0604030504040204" pitchFamily="34" charset="0"/>
              </a:rPr>
              <a:t>未知，且计算困难</a:t>
            </a:r>
            <a:endParaRPr lang="en-US" altLang="zh-CN" sz="3200" dirty="0">
              <a:solidFill>
                <a:srgbClr val="006699"/>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定义重要性权重为</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en-US" altLang="zh-CN" sz="3200" dirty="0">
              <a:solidFill>
                <a:srgbClr val="006699"/>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公式</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(12.5)</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可以改成</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4538D21D-713A-44AB-962F-725F143F0572}"/>
                  </a:ext>
                </a:extLst>
              </p:cNvPr>
              <p:cNvSpPr txBox="1"/>
              <p:nvPr/>
            </p:nvSpPr>
            <p:spPr>
              <a:xfrm>
                <a:off x="3581890" y="3467134"/>
                <a:ext cx="2620639" cy="1189493"/>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smtClean="0">
                              <a:solidFill>
                                <a:srgbClr val="836967"/>
                              </a:solidFill>
                              <a:latin typeface="Cambria Math" panose="02040503050406030204" pitchFamily="18" charset="0"/>
                            </a:rPr>
                          </m:ctrlPr>
                        </m:sSubPr>
                        <m:e>
                          <m:r>
                            <a:rPr lang="zh-CN" altLang="en-US" sz="3200" i="1">
                              <a:latin typeface="Cambria Math" panose="02040503050406030204" pitchFamily="18" charset="0"/>
                            </a:rPr>
                            <m:t>𝑊</m:t>
                          </m:r>
                        </m:e>
                        <m:sub>
                          <m:r>
                            <a:rPr lang="zh-CN" altLang="en-US" sz="3200" i="1">
                              <a:latin typeface="Cambria Math" panose="02040503050406030204" pitchFamily="18" charset="0"/>
                            </a:rPr>
                            <m:t>𝑖</m:t>
                          </m:r>
                        </m:sub>
                      </m:sSub>
                      <m:r>
                        <a:rPr lang="zh-CN" altLang="en-US" sz="3200" i="0">
                          <a:latin typeface="Cambria Math" panose="02040503050406030204" pitchFamily="18" charset="0"/>
                        </a:rPr>
                        <m:t>=</m:t>
                      </m:r>
                      <m:f>
                        <m:fPr>
                          <m:ctrlPr>
                            <a:rPr lang="zh-CN" altLang="en-US" sz="3200" i="1">
                              <a:solidFill>
                                <a:srgbClr val="836967"/>
                              </a:solidFill>
                              <a:latin typeface="Cambria Math" panose="02040503050406030204" pitchFamily="18" charset="0"/>
                            </a:rPr>
                          </m:ctrlPr>
                        </m:fPr>
                        <m:num>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𝑓</m:t>
                              </m:r>
                            </m:e>
                          </m:acc>
                          <m:d>
                            <m:dPr>
                              <m:ctrlPr>
                                <a:rPr lang="zh-CN" altLang="en-US" sz="3200" i="1">
                                  <a:latin typeface="Cambria Math" panose="02040503050406030204" pitchFamily="18" charset="0"/>
                                </a:rPr>
                              </m:ctrlPr>
                            </m:dPr>
                            <m:e>
                              <m:sSub>
                                <m:sSubPr>
                                  <m:ctrlPr>
                                    <a:rPr lang="zh-CN" altLang="en-US" sz="3200" i="1">
                                      <a:solidFill>
                                        <a:srgbClr val="836967"/>
                                      </a:solidFill>
                                      <a:latin typeface="Cambria Math" panose="02040503050406030204" pitchFamily="18" charset="0"/>
                                    </a:rPr>
                                  </m:ctrlPr>
                                </m:sSubPr>
                                <m:e>
                                  <m:r>
                                    <a:rPr lang="zh-CN" altLang="en-US" sz="3200" b="1" i="0">
                                      <a:latin typeface="Cambria Math" panose="02040503050406030204" pitchFamily="18" charset="0"/>
                                    </a:rPr>
                                    <m:t>𝐗</m:t>
                                  </m:r>
                                </m:e>
                                <m:sub>
                                  <m:r>
                                    <a:rPr lang="zh-CN" altLang="en-US" sz="3200" b="0" i="1">
                                      <a:latin typeface="Cambria Math" panose="02040503050406030204" pitchFamily="18" charset="0"/>
                                    </a:rPr>
                                    <m:t>𝑖</m:t>
                                  </m:r>
                                </m:sub>
                              </m:sSub>
                            </m:e>
                          </m:d>
                        </m:num>
                        <m:den>
                          <m:r>
                            <a:rPr lang="zh-CN" altLang="en-US" sz="3200" b="0" i="1">
                              <a:latin typeface="Cambria Math" panose="02040503050406030204" pitchFamily="18" charset="0"/>
                            </a:rPr>
                            <m:t>𝑔</m:t>
                          </m:r>
                          <m:d>
                            <m:dPr>
                              <m:ctrlPr>
                                <a:rPr lang="zh-CN" altLang="en-US" sz="3200" b="0" i="1">
                                  <a:latin typeface="Cambria Math" panose="02040503050406030204" pitchFamily="18" charset="0"/>
                                </a:rPr>
                              </m:ctrlPr>
                            </m:dPr>
                            <m:e>
                              <m:sSub>
                                <m:sSubPr>
                                  <m:ctrlPr>
                                    <a:rPr lang="zh-CN" altLang="en-US" sz="3200" b="0" i="1">
                                      <a:solidFill>
                                        <a:srgbClr val="836967"/>
                                      </a:solidFill>
                                      <a:latin typeface="Cambria Math" panose="02040503050406030204" pitchFamily="18" charset="0"/>
                                    </a:rPr>
                                  </m:ctrlPr>
                                </m:sSubPr>
                                <m:e>
                                  <m:r>
                                    <a:rPr lang="zh-CN" altLang="en-US" sz="3200" b="1" i="0">
                                      <a:latin typeface="Cambria Math" panose="02040503050406030204" pitchFamily="18" charset="0"/>
                                    </a:rPr>
                                    <m:t>𝐗</m:t>
                                  </m:r>
                                </m:e>
                                <m:sub>
                                  <m:r>
                                    <a:rPr lang="zh-CN" altLang="en-US" sz="3200" b="0" i="1">
                                      <a:latin typeface="Cambria Math" panose="02040503050406030204" pitchFamily="18" charset="0"/>
                                    </a:rPr>
                                    <m:t>𝑖</m:t>
                                  </m:r>
                                </m:sub>
                              </m:sSub>
                            </m:e>
                          </m:d>
                        </m:den>
                      </m:f>
                    </m:oMath>
                  </m:oMathPara>
                </a14:m>
                <a:endParaRPr lang="zh-CN" altLang="en-US" dirty="0"/>
              </a:p>
            </p:txBody>
          </p:sp>
        </mc:Choice>
        <mc:Fallback xmlns="">
          <p:sp>
            <p:nvSpPr>
              <p:cNvPr id="25" name="文本框 24">
                <a:extLst>
                  <a:ext uri="{FF2B5EF4-FFF2-40B4-BE49-F238E27FC236}">
                    <a16:creationId xmlns:a16="http://schemas.microsoft.com/office/drawing/2014/main" id="{4538D21D-713A-44AB-962F-725F143F0572}"/>
                  </a:ext>
                </a:extLst>
              </p:cNvPr>
              <p:cNvSpPr txBox="1">
                <a:spLocks noRot="1" noChangeAspect="1" noMove="1" noResize="1" noEditPoints="1" noAdjustHandles="1" noChangeArrowheads="1" noChangeShapeType="1" noTextEdit="1"/>
              </p:cNvSpPr>
              <p:nvPr/>
            </p:nvSpPr>
            <p:spPr>
              <a:xfrm>
                <a:off x="3581890" y="3467134"/>
                <a:ext cx="2620639" cy="1189493"/>
              </a:xfrm>
              <a:prstGeom prst="rect">
                <a:avLst/>
              </a:prstGeom>
              <a:blipFill>
                <a:blip r:embed="rId5"/>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C1559E2B-7C89-4AF0-B9E8-923315F1DF22}"/>
                  </a:ext>
                </a:extLst>
              </p:cNvPr>
              <p:cNvSpPr txBox="1"/>
              <p:nvPr/>
            </p:nvSpPr>
            <p:spPr>
              <a:xfrm>
                <a:off x="3508531" y="4695128"/>
                <a:ext cx="4690532" cy="1227259"/>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smtClean="0">
                              <a:solidFill>
                                <a:srgbClr val="836967"/>
                              </a:solidFill>
                              <a:latin typeface="Cambria Math" panose="02040503050406030204" pitchFamily="18" charset="0"/>
                            </a:rPr>
                          </m:ctrlPr>
                        </m:sSubPr>
                        <m:e>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𝐼</m:t>
                              </m:r>
                            </m:e>
                          </m:acc>
                        </m:e>
                        <m:sub>
                          <m:r>
                            <a:rPr lang="zh-CN" altLang="en-US" sz="3200" i="0">
                              <a:latin typeface="Cambria Math" panose="02040503050406030204" pitchFamily="18" charset="0"/>
                            </a:rPr>
                            <m:t>4</m:t>
                          </m:r>
                        </m:sub>
                      </m:sSub>
                      <m:r>
                        <a:rPr lang="zh-CN" altLang="en-US" sz="3200" i="0">
                          <a:latin typeface="Cambria Math" panose="02040503050406030204" pitchFamily="18" charset="0"/>
                        </a:rPr>
                        <m:t>=</m:t>
                      </m:r>
                      <m:f>
                        <m:fPr>
                          <m:ctrlPr>
                            <a:rPr lang="zh-CN" altLang="en-US" sz="3200" i="1">
                              <a:solidFill>
                                <a:srgbClr val="836967"/>
                              </a:solidFill>
                              <a:latin typeface="Cambria Math" panose="02040503050406030204" pitchFamily="18" charset="0"/>
                            </a:rPr>
                          </m:ctrlPr>
                        </m:fPr>
                        <m:num>
                          <m:nary>
                            <m:naryPr>
                              <m:chr m:val="∑"/>
                              <m:limLoc m:val="undOvr"/>
                              <m:grow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𝑖</m:t>
                              </m:r>
                              <m:r>
                                <a:rPr lang="zh-CN" altLang="en-US" sz="3200" i="0">
                                  <a:latin typeface="Cambria Math" panose="02040503050406030204" pitchFamily="18" charset="0"/>
                                </a:rPr>
                                <m:t>=1</m:t>
                              </m:r>
                            </m:sub>
                            <m:sup>
                              <m:r>
                                <a:rPr lang="zh-CN" altLang="en-US" sz="3200" i="1">
                                  <a:latin typeface="Cambria Math" panose="02040503050406030204" pitchFamily="18" charset="0"/>
                                </a:rPr>
                                <m:t>𝑁</m:t>
                              </m:r>
                            </m:sup>
                            <m:e>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𝑊</m:t>
                                  </m:r>
                                </m:e>
                                <m:sub>
                                  <m:r>
                                    <a:rPr lang="zh-CN" altLang="en-US" sz="3200" i="1">
                                      <a:latin typeface="Cambria Math" panose="02040503050406030204" pitchFamily="18" charset="0"/>
                                    </a:rPr>
                                    <m:t>𝑖</m:t>
                                  </m:r>
                                </m:sub>
                              </m:sSub>
                            </m:e>
                          </m:nary>
                          <m:r>
                            <a:rPr lang="zh-CN" altLang="en-US" sz="3200" i="1">
                              <a:latin typeface="Cambria Math" panose="02040503050406030204" pitchFamily="18" charset="0"/>
                            </a:rPr>
                            <m:t>h</m:t>
                          </m:r>
                          <m:d>
                            <m:dPr>
                              <m:ctrlPr>
                                <a:rPr lang="zh-CN" altLang="en-US" sz="3200" i="1">
                                  <a:latin typeface="Cambria Math" panose="02040503050406030204" pitchFamily="18" charset="0"/>
                                </a:rPr>
                              </m:ctrlPr>
                            </m:dPr>
                            <m:e>
                              <m:sSub>
                                <m:sSubPr>
                                  <m:ctrlPr>
                                    <a:rPr lang="zh-CN" altLang="en-US" sz="3200" i="1">
                                      <a:solidFill>
                                        <a:srgbClr val="836967"/>
                                      </a:solidFill>
                                      <a:latin typeface="Cambria Math" panose="02040503050406030204" pitchFamily="18" charset="0"/>
                                    </a:rPr>
                                  </m:ctrlPr>
                                </m:sSubPr>
                                <m:e>
                                  <m:r>
                                    <a:rPr lang="zh-CN" altLang="en-US" sz="3200" b="1" i="0">
                                      <a:latin typeface="Cambria Math" panose="02040503050406030204" pitchFamily="18" charset="0"/>
                                    </a:rPr>
                                    <m:t>𝐗</m:t>
                                  </m:r>
                                </m:e>
                                <m:sub>
                                  <m:r>
                                    <a:rPr lang="zh-CN" altLang="en-US" sz="3200" b="0" i="1">
                                      <a:latin typeface="Cambria Math" panose="02040503050406030204" pitchFamily="18" charset="0"/>
                                    </a:rPr>
                                    <m:t>𝑖</m:t>
                                  </m:r>
                                </m:sub>
                              </m:sSub>
                            </m:e>
                          </m:d>
                        </m:num>
                        <m:den>
                          <m:nary>
                            <m:naryPr>
                              <m:chr m:val="∑"/>
                              <m:limLoc m:val="undOvr"/>
                              <m:grow m:val="on"/>
                              <m:ctrlPr>
                                <a:rPr lang="zh-CN" altLang="en-US" sz="3200" b="0" i="1">
                                  <a:latin typeface="Cambria Math" panose="02040503050406030204" pitchFamily="18" charset="0"/>
                                </a:rPr>
                              </m:ctrlPr>
                            </m:naryPr>
                            <m:sub>
                              <m:r>
                                <a:rPr lang="zh-CN" altLang="en-US" sz="3200" b="0" i="1">
                                  <a:latin typeface="Cambria Math" panose="02040503050406030204" pitchFamily="18" charset="0"/>
                                </a:rPr>
                                <m:t>𝑖</m:t>
                              </m:r>
                              <m:r>
                                <a:rPr lang="zh-CN" altLang="en-US" sz="3200" b="0" i="0">
                                  <a:latin typeface="Cambria Math" panose="02040503050406030204" pitchFamily="18" charset="0"/>
                                </a:rPr>
                                <m:t>=1</m:t>
                              </m:r>
                            </m:sub>
                            <m:sup>
                              <m:r>
                                <a:rPr lang="zh-CN" altLang="en-US" sz="3200" b="0" i="1">
                                  <a:latin typeface="Cambria Math" panose="02040503050406030204" pitchFamily="18" charset="0"/>
                                </a:rPr>
                                <m:t>𝑁</m:t>
                              </m:r>
                            </m:sup>
                            <m:e>
                              <m:sSub>
                                <m:sSubPr>
                                  <m:ctrlPr>
                                    <a:rPr lang="zh-CN" altLang="en-US" sz="3200" b="0" i="1">
                                      <a:solidFill>
                                        <a:srgbClr val="836967"/>
                                      </a:solidFill>
                                      <a:latin typeface="Cambria Math" panose="02040503050406030204" pitchFamily="18" charset="0"/>
                                    </a:rPr>
                                  </m:ctrlPr>
                                </m:sSubPr>
                                <m:e>
                                  <m:r>
                                    <a:rPr lang="zh-CN" altLang="en-US" sz="3200" b="0" i="1">
                                      <a:latin typeface="Cambria Math" panose="02040503050406030204" pitchFamily="18" charset="0"/>
                                    </a:rPr>
                                    <m:t>𝑊</m:t>
                                  </m:r>
                                </m:e>
                                <m:sub>
                                  <m:r>
                                    <a:rPr lang="zh-CN" altLang="en-US" sz="3200" b="0" i="1">
                                      <a:latin typeface="Cambria Math" panose="02040503050406030204" pitchFamily="18" charset="0"/>
                                    </a:rPr>
                                    <m:t>𝑖</m:t>
                                  </m:r>
                                </m:sub>
                              </m:sSub>
                            </m:e>
                          </m:nary>
                        </m:den>
                      </m:f>
                    </m:oMath>
                  </m:oMathPara>
                </a14:m>
                <a:endParaRPr lang="zh-CN" altLang="en-US" dirty="0"/>
              </a:p>
            </p:txBody>
          </p:sp>
        </mc:Choice>
        <mc:Fallback xmlns="">
          <p:sp>
            <p:nvSpPr>
              <p:cNvPr id="26" name="文本框 25">
                <a:extLst>
                  <a:ext uri="{FF2B5EF4-FFF2-40B4-BE49-F238E27FC236}">
                    <a16:creationId xmlns:a16="http://schemas.microsoft.com/office/drawing/2014/main" id="{C1559E2B-7C89-4AF0-B9E8-923315F1DF22}"/>
                  </a:ext>
                </a:extLst>
              </p:cNvPr>
              <p:cNvSpPr txBox="1">
                <a:spLocks noRot="1" noChangeAspect="1" noMove="1" noResize="1" noEditPoints="1" noAdjustHandles="1" noChangeArrowheads="1" noChangeShapeType="1" noTextEdit="1"/>
              </p:cNvSpPr>
              <p:nvPr/>
            </p:nvSpPr>
            <p:spPr>
              <a:xfrm>
                <a:off x="3508531" y="4695128"/>
                <a:ext cx="4690532" cy="1227259"/>
              </a:xfrm>
              <a:prstGeom prst="rect">
                <a:avLst/>
              </a:prstGeom>
              <a:blipFill>
                <a:blip r:embed="rId6"/>
                <a:stretch>
                  <a:fillRect/>
                </a:stretch>
              </a:blipFill>
              <a:ln w="25400">
                <a:noFill/>
              </a:ln>
            </p:spPr>
            <p:txBody>
              <a:bodyPr/>
              <a:lstStyle/>
              <a:p>
                <a:r>
                  <a:rPr lang="zh-CN" altLang="en-US">
                    <a:noFill/>
                  </a:rPr>
                  <a:t> </a:t>
                </a:r>
              </a:p>
            </p:txBody>
          </p:sp>
        </mc:Fallback>
      </mc:AlternateContent>
      <p:pic>
        <p:nvPicPr>
          <p:cNvPr id="14" name="图片 13">
            <a:extLst>
              <a:ext uri="{FF2B5EF4-FFF2-40B4-BE49-F238E27FC236}">
                <a16:creationId xmlns:a16="http://schemas.microsoft.com/office/drawing/2014/main" id="{73320E78-4D76-4067-AAE0-B86C9740E7AD}"/>
              </a:ext>
            </a:extLst>
          </p:cNvPr>
          <p:cNvPicPr>
            <a:picLocks noChangeAspect="1"/>
          </p:cNvPicPr>
          <p:nvPr/>
        </p:nvPicPr>
        <p:blipFill>
          <a:blip r:embed="rId7"/>
          <a:stretch>
            <a:fillRect/>
          </a:stretch>
        </p:blipFill>
        <p:spPr>
          <a:xfrm>
            <a:off x="268301" y="5822281"/>
            <a:ext cx="4261856" cy="334549"/>
          </a:xfrm>
          <a:prstGeom prst="rect">
            <a:avLst/>
          </a:prstGeom>
        </p:spPr>
      </p:pic>
    </p:spTree>
    <p:extLst>
      <p:ext uri="{BB962C8B-B14F-4D97-AF65-F5344CB8AC3E}">
        <p14:creationId xmlns:p14="http://schemas.microsoft.com/office/powerpoint/2010/main" val="42325875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3.3.1 </a:t>
            </a:r>
            <a:r>
              <a:rPr lang="zh-CN" altLang="en-US" sz="3600" b="0" dirty="0">
                <a:latin typeface="+mn-lt"/>
                <a:ea typeface="+mn-ea"/>
              </a:rPr>
              <a:t>标准化重要抽样法</a:t>
            </a:r>
            <a:endParaRPr lang="zh-CN" altLang="en-US" dirty="0"/>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67</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8867685-5776-7C2C-1240-CD8EC8CC0964}"/>
                  </a:ext>
                </a:extLst>
              </p:cNvPr>
              <p:cNvSpPr txBox="1"/>
              <p:nvPr/>
            </p:nvSpPr>
            <p:spPr>
              <a:xfrm>
                <a:off x="0" y="1043735"/>
                <a:ext cx="8982490" cy="4960782"/>
              </a:xfrm>
              <a:prstGeom prst="rect">
                <a:avLst/>
              </a:prstGeom>
              <a:noFill/>
              <a:ln w="25400">
                <a:noFill/>
              </a:ln>
            </p:spPr>
            <p:txBody>
              <a:bodyPr wrap="square">
                <a:spAutoFit/>
              </a:bodyPr>
              <a:lstStyle/>
              <a:p>
                <a:pPr>
                  <a:spcBef>
                    <a:spcPts val="900"/>
                  </a:spcBef>
                  <a:spcAft>
                    <a:spcPts val="900"/>
                  </a:spcAft>
                </a:pPr>
                <a:r>
                  <a:rPr lang="en-US" altLang="zh-CN" sz="3200" b="1" dirty="0">
                    <a:solidFill>
                      <a:srgbClr val="FF0000"/>
                    </a:solidFill>
                    <a:latin typeface="Verdana" panose="020B0604030504040204" pitchFamily="34" charset="0"/>
                  </a:rPr>
                  <a:t>定义12.1 (</a:t>
                </a:r>
                <a:r>
                  <a:rPr lang="en-US" altLang="zh-CN" sz="3200" b="1" dirty="0" err="1">
                    <a:solidFill>
                      <a:srgbClr val="FF0000"/>
                    </a:solidFill>
                    <a:latin typeface="Verdana" panose="020B0604030504040204" pitchFamily="34" charset="0"/>
                  </a:rPr>
                  <a:t>适当加权抽样</a:t>
                </a:r>
                <a:r>
                  <a:rPr lang="en-US" altLang="zh-CN" sz="3200" b="1" dirty="0">
                    <a:solidFill>
                      <a:srgbClr val="FF0000"/>
                    </a:solidFill>
                    <a:latin typeface="Verdana" panose="020B0604030504040204" pitchFamily="34" charset="0"/>
                  </a:rPr>
                  <a:t>)</a:t>
                </a:r>
                <a:r>
                  <a:rPr lang="en-US" altLang="zh-CN" sz="3200" dirty="0">
                    <a:solidFill>
                      <a:srgbClr val="006699"/>
                    </a:solidFill>
                    <a:latin typeface="Verdana" panose="020B0604030504040204" pitchFamily="34" charset="0"/>
                  </a:rPr>
                  <a:t> </a:t>
                </a:r>
                <a:endParaRPr lang="zh-CN" altLang="zh-CN" sz="3200" dirty="0">
                  <a:solidFill>
                    <a:srgbClr val="006699"/>
                  </a:solidFill>
                  <a:latin typeface="Verdana" panose="020B0604030504040204" pitchFamily="34" charset="0"/>
                </a:endParaRPr>
              </a:p>
              <a:p>
                <a:pPr>
                  <a:spcBef>
                    <a:spcPts val="900"/>
                  </a:spcBef>
                  <a:spcAft>
                    <a:spcPts val="900"/>
                  </a:spcAft>
                </a:pPr>
                <a:r>
                  <a:rPr lang="en-US" altLang="zh-CN" sz="3200" dirty="0" err="1">
                    <a:solidFill>
                      <a:srgbClr val="006699"/>
                    </a:solidFill>
                    <a:latin typeface="Verdana" panose="020B0604030504040204" pitchFamily="34" charset="0"/>
                  </a:rPr>
                  <a:t>随机变量序列</a:t>
                </a:r>
                <a14:m>
                  <m:oMath xmlns:m="http://schemas.openxmlformats.org/officeDocument/2006/math">
                    <m:r>
                      <a:rPr lang="en-US" altLang="zh-CN" sz="3200">
                        <a:solidFill>
                          <a:srgbClr val="006699"/>
                        </a:solidFill>
                        <a:latin typeface="Cambria Math" panose="02040503050406030204" pitchFamily="18" charset="0"/>
                      </a:rPr>
                      <m:t>{</m:t>
                    </m:r>
                    <m:d>
                      <m:dPr>
                        <m:ctrlPr>
                          <a:rPr lang="zh-CN" altLang="zh-CN" sz="3200" i="1">
                            <a:solidFill>
                              <a:srgbClr val="006699"/>
                            </a:solidFill>
                            <a:latin typeface="Cambria Math" panose="02040503050406030204" pitchFamily="18" charset="0"/>
                          </a:rPr>
                        </m:ctrlPr>
                      </m:dPr>
                      <m:e>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𝐗</m:t>
                            </m:r>
                          </m:e>
                          <m:sub>
                            <m:r>
                              <a:rPr lang="en-US" altLang="zh-CN" sz="3200">
                                <a:solidFill>
                                  <a:srgbClr val="006699"/>
                                </a:solidFill>
                                <a:latin typeface="Cambria Math" panose="02040503050406030204" pitchFamily="18" charset="0"/>
                              </a:rPr>
                              <m:t>𝑖</m:t>
                            </m:r>
                          </m:sub>
                        </m:sSub>
                        <m:r>
                          <a:rPr lang="en-US" altLang="zh-CN" sz="3200">
                            <a:solidFill>
                              <a:srgbClr val="006699"/>
                            </a:solidFill>
                            <a:latin typeface="Cambria Math" panose="02040503050406030204" pitchFamily="18" charset="0"/>
                          </a:rPr>
                          <m:t>,</m:t>
                        </m:r>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𝑊</m:t>
                            </m:r>
                          </m:e>
                          <m:sub>
                            <m:r>
                              <a:rPr lang="en-US" altLang="zh-CN" sz="3200">
                                <a:solidFill>
                                  <a:srgbClr val="006699"/>
                                </a:solidFill>
                                <a:latin typeface="Cambria Math" panose="02040503050406030204" pitchFamily="18" charset="0"/>
                              </a:rPr>
                              <m:t>𝑖</m:t>
                            </m:r>
                          </m:sub>
                        </m:sSub>
                      </m:e>
                    </m:d>
                    <m:r>
                      <a:rPr lang="en-US" altLang="zh-CN" sz="3200">
                        <a:solidFill>
                          <a:srgbClr val="006699"/>
                        </a:solidFill>
                        <a:latin typeface="Cambria Math" panose="02040503050406030204" pitchFamily="18" charset="0"/>
                      </a:rPr>
                      <m:t>, </m:t>
                    </m:r>
                    <m:r>
                      <a:rPr lang="en-US" altLang="zh-CN" sz="3200">
                        <a:solidFill>
                          <a:srgbClr val="006699"/>
                        </a:solidFill>
                        <a:latin typeface="Cambria Math" panose="02040503050406030204" pitchFamily="18" charset="0"/>
                      </a:rPr>
                      <m:t>𝑖</m:t>
                    </m:r>
                    <m:r>
                      <a:rPr lang="en-US" altLang="zh-CN" sz="3200">
                        <a:solidFill>
                          <a:srgbClr val="006699"/>
                        </a:solidFill>
                        <a:latin typeface="Cambria Math" panose="02040503050406030204" pitchFamily="18" charset="0"/>
                      </a:rPr>
                      <m:t>=1,2,…,</m:t>
                    </m:r>
                    <m:r>
                      <a:rPr lang="en-US" altLang="zh-CN" sz="3200">
                        <a:solidFill>
                          <a:srgbClr val="006699"/>
                        </a:solidFill>
                        <a:latin typeface="Cambria Math" panose="02040503050406030204" pitchFamily="18" charset="0"/>
                      </a:rPr>
                      <m:t>𝑁</m:t>
                    </m:r>
                    <m:r>
                      <a:rPr lang="en-US" altLang="zh-CN" sz="3200">
                        <a:solidFill>
                          <a:srgbClr val="006699"/>
                        </a:solidFill>
                        <a:latin typeface="Cambria Math" panose="02040503050406030204" pitchFamily="18" charset="0"/>
                      </a:rPr>
                      <m:t>}</m:t>
                    </m:r>
                  </m:oMath>
                </a14:m>
                <a:r>
                  <a:rPr lang="en-US" altLang="zh-CN" sz="3200" dirty="0" err="1">
                    <a:solidFill>
                      <a:srgbClr val="006699"/>
                    </a:solidFill>
                    <a:latin typeface="Verdana" panose="020B0604030504040204" pitchFamily="34" charset="0"/>
                  </a:rPr>
                  <a:t>称为关于密度</a:t>
                </a:r>
                <a14:m>
                  <m:oMath xmlns:m="http://schemas.openxmlformats.org/officeDocument/2006/math">
                    <m:r>
                      <a:rPr lang="en-US" altLang="zh-CN" sz="3200">
                        <a:solidFill>
                          <a:srgbClr val="006699"/>
                        </a:solidFill>
                        <a:latin typeface="Cambria Math" panose="02040503050406030204" pitchFamily="18" charset="0"/>
                      </a:rPr>
                      <m:t>𝑓</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m:t>
                        </m:r>
                      </m:e>
                    </m:d>
                  </m:oMath>
                </a14:m>
                <a:r>
                  <a:rPr lang="en-US" altLang="zh-CN" sz="3200" dirty="0">
                    <a:solidFill>
                      <a:srgbClr val="006699"/>
                    </a:solidFill>
                    <a:latin typeface="Verdana" panose="020B0604030504040204" pitchFamily="34" charset="0"/>
                  </a:rPr>
                  <a:t>的适当加权抽样, </a:t>
                </a:r>
              </a:p>
              <a:p>
                <a:pPr>
                  <a:spcBef>
                    <a:spcPts val="900"/>
                  </a:spcBef>
                  <a:spcAft>
                    <a:spcPts val="900"/>
                  </a:spcAft>
                </a:pPr>
                <a:r>
                  <a:rPr lang="en-US" altLang="zh-CN" sz="3200" dirty="0" err="1">
                    <a:solidFill>
                      <a:srgbClr val="006699"/>
                    </a:solidFill>
                    <a:latin typeface="Verdana" panose="020B0604030504040204" pitchFamily="34" charset="0"/>
                  </a:rPr>
                  <a:t>如果对于任何平方可积函数</a:t>
                </a:r>
                <a14:m>
                  <m:oMath xmlns:m="http://schemas.openxmlformats.org/officeDocument/2006/math">
                    <m:r>
                      <a:rPr lang="en-US" altLang="zh-CN" sz="3200">
                        <a:solidFill>
                          <a:srgbClr val="006699"/>
                        </a:solidFill>
                        <a:latin typeface="Cambria Math" panose="02040503050406030204" pitchFamily="18" charset="0"/>
                      </a:rPr>
                      <m:t>h</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m:t>
                        </m:r>
                      </m:e>
                    </m:d>
                  </m:oMath>
                </a14:m>
                <a:r>
                  <a:rPr lang="en-US" altLang="zh-CN" sz="3200" dirty="0">
                    <a:solidFill>
                      <a:srgbClr val="006699"/>
                    </a:solidFill>
                    <a:latin typeface="Verdana" panose="020B0604030504040204" pitchFamily="34" charset="0"/>
                  </a:rPr>
                  <a:t>都有</a:t>
                </a:r>
              </a:p>
              <a:p>
                <a:pPr>
                  <a:spcBef>
                    <a:spcPts val="900"/>
                  </a:spcBef>
                  <a:spcAft>
                    <a:spcPts val="900"/>
                  </a:spcAft>
                </a:pPr>
                <a:endParaRPr lang="zh-CN" altLang="zh-CN" sz="3200" dirty="0">
                  <a:solidFill>
                    <a:srgbClr val="006699"/>
                  </a:solidFill>
                  <a:latin typeface="Verdana" panose="020B0604030504040204" pitchFamily="34"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zh-CN" sz="2800" i="1">
                              <a:solidFill>
                                <a:srgbClr val="006699"/>
                              </a:solidFill>
                              <a:latin typeface="Cambria Math" panose="02040503050406030204" pitchFamily="18" charset="0"/>
                            </a:rPr>
                          </m:ctrlPr>
                        </m:mPr>
                        <m:mr>
                          <m:e>
                            <m:r>
                              <a:rPr lang="en-US" altLang="zh-CN" sz="2800">
                                <a:solidFill>
                                  <a:srgbClr val="006699"/>
                                </a:solidFill>
                                <a:latin typeface="Cambria Math" panose="02040503050406030204" pitchFamily="18" charset="0"/>
                              </a:rPr>
                              <m:t>𝐸</m:t>
                            </m:r>
                            <m:d>
                              <m:dPr>
                                <m:begChr m:val="["/>
                                <m:endChr m:val="]"/>
                                <m:ctrlPr>
                                  <a:rPr lang="zh-CN" altLang="zh-CN" sz="2800" i="1">
                                    <a:solidFill>
                                      <a:srgbClr val="006699"/>
                                    </a:solidFill>
                                    <a:latin typeface="Cambria Math" panose="02040503050406030204" pitchFamily="18" charset="0"/>
                                  </a:rPr>
                                </m:ctrlPr>
                              </m:dPr>
                              <m:e>
                                <m:r>
                                  <a:rPr lang="en-US" altLang="zh-CN" sz="2800">
                                    <a:solidFill>
                                      <a:srgbClr val="006699"/>
                                    </a:solidFill>
                                    <a:latin typeface="Cambria Math" panose="02040503050406030204" pitchFamily="18" charset="0"/>
                                  </a:rPr>
                                  <m:t>h</m:t>
                                </m:r>
                                <m:d>
                                  <m:dPr>
                                    <m:ctrlPr>
                                      <a:rPr lang="zh-CN" altLang="zh-CN" sz="2800" i="1">
                                        <a:solidFill>
                                          <a:srgbClr val="006699"/>
                                        </a:solidFill>
                                        <a:latin typeface="Cambria Math" panose="02040503050406030204" pitchFamily="18" charset="0"/>
                                      </a:rPr>
                                    </m:ctrlPr>
                                  </m:dPr>
                                  <m:e>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𝑋</m:t>
                                        </m:r>
                                      </m:e>
                                      <m:sub>
                                        <m:r>
                                          <a:rPr lang="en-US" altLang="zh-CN" sz="2800">
                                            <a:solidFill>
                                              <a:srgbClr val="006699"/>
                                            </a:solidFill>
                                            <a:latin typeface="Cambria Math" panose="02040503050406030204" pitchFamily="18" charset="0"/>
                                          </a:rPr>
                                          <m:t>𝑖</m:t>
                                        </m:r>
                                      </m:sub>
                                    </m:sSub>
                                  </m:e>
                                </m:d>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𝑊</m:t>
                                    </m:r>
                                  </m:e>
                                  <m:sub>
                                    <m:r>
                                      <a:rPr lang="en-US" altLang="zh-CN" sz="2800">
                                        <a:solidFill>
                                          <a:srgbClr val="006699"/>
                                        </a:solidFill>
                                        <a:latin typeface="Cambria Math" panose="02040503050406030204" pitchFamily="18" charset="0"/>
                                      </a:rPr>
                                      <m:t>𝑖</m:t>
                                    </m:r>
                                  </m:sub>
                                </m:sSub>
                              </m:e>
                            </m:d>
                            <m:r>
                              <a:rPr lang="en-US" altLang="zh-CN" sz="2800">
                                <a:solidFill>
                                  <a:srgbClr val="006699"/>
                                </a:solidFill>
                                <a:latin typeface="Cambria Math" panose="02040503050406030204" pitchFamily="18" charset="0"/>
                              </a:rPr>
                              <m:t>=</m:t>
                            </m:r>
                            <m:r>
                              <a:rPr lang="en-US" altLang="zh-CN" sz="2800">
                                <a:solidFill>
                                  <a:srgbClr val="006699"/>
                                </a:solidFill>
                                <a:latin typeface="Cambria Math" panose="02040503050406030204" pitchFamily="18" charset="0"/>
                              </a:rPr>
                              <m:t>𝑐</m:t>
                            </m:r>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𝐸</m:t>
                                </m:r>
                              </m:e>
                              <m:sub>
                                <m:r>
                                  <a:rPr lang="en-US" altLang="zh-CN" sz="2800">
                                    <a:solidFill>
                                      <a:srgbClr val="006699"/>
                                    </a:solidFill>
                                    <a:latin typeface="Cambria Math" panose="02040503050406030204" pitchFamily="18" charset="0"/>
                                  </a:rPr>
                                  <m:t>𝑓</m:t>
                                </m:r>
                              </m:sub>
                            </m:sSub>
                            <m:d>
                              <m:dPr>
                                <m:begChr m:val="["/>
                                <m:endChr m:val="]"/>
                                <m:ctrlPr>
                                  <a:rPr lang="zh-CN" altLang="zh-CN" sz="2800" i="1">
                                    <a:solidFill>
                                      <a:srgbClr val="006699"/>
                                    </a:solidFill>
                                    <a:latin typeface="Cambria Math" panose="02040503050406030204" pitchFamily="18" charset="0"/>
                                  </a:rPr>
                                </m:ctrlPr>
                              </m:dPr>
                              <m:e>
                                <m:r>
                                  <a:rPr lang="en-US" altLang="zh-CN" sz="2800">
                                    <a:solidFill>
                                      <a:srgbClr val="006699"/>
                                    </a:solidFill>
                                    <a:latin typeface="Cambria Math" panose="02040503050406030204" pitchFamily="18" charset="0"/>
                                  </a:rPr>
                                  <m:t>h</m:t>
                                </m:r>
                                <m:d>
                                  <m:dPr>
                                    <m:ctrlPr>
                                      <a:rPr lang="zh-CN" altLang="zh-CN" sz="2800" i="1">
                                        <a:solidFill>
                                          <a:srgbClr val="006699"/>
                                        </a:solidFill>
                                        <a:latin typeface="Cambria Math" panose="02040503050406030204" pitchFamily="18" charset="0"/>
                                      </a:rPr>
                                    </m:ctrlPr>
                                  </m:dPr>
                                  <m:e>
                                    <m:r>
                                      <a:rPr lang="en-US" altLang="zh-CN" sz="2800">
                                        <a:solidFill>
                                          <a:srgbClr val="006699"/>
                                        </a:solidFill>
                                        <a:latin typeface="Cambria Math" panose="02040503050406030204" pitchFamily="18" charset="0"/>
                                      </a:rPr>
                                      <m:t>𝑋</m:t>
                                    </m:r>
                                  </m:e>
                                </m:d>
                              </m:e>
                            </m:d>
                            <m:r>
                              <a:rPr lang="en-US" altLang="zh-CN" sz="2800">
                                <a:solidFill>
                                  <a:srgbClr val="006699"/>
                                </a:solidFill>
                                <a:latin typeface="Cambria Math" panose="02040503050406030204" pitchFamily="18" charset="0"/>
                              </a:rPr>
                              <m:t>=</m:t>
                            </m:r>
                            <m:r>
                              <a:rPr lang="en-US" altLang="zh-CN" sz="2800">
                                <a:solidFill>
                                  <a:srgbClr val="006699"/>
                                </a:solidFill>
                                <a:latin typeface="Cambria Math" panose="02040503050406030204" pitchFamily="18" charset="0"/>
                              </a:rPr>
                              <m:t>𝑐</m:t>
                            </m:r>
                            <m:r>
                              <a:rPr lang="en-US" altLang="zh-CN" sz="2800">
                                <a:solidFill>
                                  <a:srgbClr val="006699"/>
                                </a:solidFill>
                                <a:latin typeface="Cambria Math" panose="02040503050406030204" pitchFamily="18" charset="0"/>
                              </a:rPr>
                              <m:t>∫</m:t>
                            </m:r>
                            <m:r>
                              <a:rPr lang="en-US" altLang="zh-CN" sz="2800">
                                <a:solidFill>
                                  <a:srgbClr val="006699"/>
                                </a:solidFill>
                                <a:latin typeface="Cambria Math" panose="02040503050406030204" pitchFamily="18" charset="0"/>
                              </a:rPr>
                              <m:t>h</m:t>
                            </m:r>
                            <m:d>
                              <m:dPr>
                                <m:ctrlPr>
                                  <a:rPr lang="zh-CN" altLang="zh-CN" sz="2800" i="1">
                                    <a:solidFill>
                                      <a:srgbClr val="006699"/>
                                    </a:solidFill>
                                    <a:latin typeface="Cambria Math" panose="02040503050406030204" pitchFamily="18" charset="0"/>
                                  </a:rPr>
                                </m:ctrlPr>
                              </m:dPr>
                              <m:e>
                                <m:r>
                                  <a:rPr lang="en-US" altLang="zh-CN" sz="2800">
                                    <a:solidFill>
                                      <a:srgbClr val="006699"/>
                                    </a:solidFill>
                                    <a:latin typeface="Cambria Math" panose="02040503050406030204" pitchFamily="18" charset="0"/>
                                  </a:rPr>
                                  <m:t>𝐱</m:t>
                                </m:r>
                              </m:e>
                            </m:d>
                            <m:r>
                              <a:rPr lang="en-US" altLang="zh-CN" sz="2800">
                                <a:solidFill>
                                  <a:srgbClr val="006699"/>
                                </a:solidFill>
                                <a:latin typeface="Cambria Math" panose="02040503050406030204" pitchFamily="18" charset="0"/>
                              </a:rPr>
                              <m:t>𝑓</m:t>
                            </m:r>
                            <m:d>
                              <m:dPr>
                                <m:ctrlPr>
                                  <a:rPr lang="zh-CN" altLang="zh-CN" sz="2800" i="1">
                                    <a:solidFill>
                                      <a:srgbClr val="006699"/>
                                    </a:solidFill>
                                    <a:latin typeface="Cambria Math" panose="02040503050406030204" pitchFamily="18" charset="0"/>
                                  </a:rPr>
                                </m:ctrlPr>
                              </m:dPr>
                              <m:e>
                                <m:r>
                                  <a:rPr lang="en-US" altLang="zh-CN" sz="2800">
                                    <a:solidFill>
                                      <a:srgbClr val="006699"/>
                                    </a:solidFill>
                                    <a:latin typeface="Cambria Math" panose="02040503050406030204" pitchFamily="18" charset="0"/>
                                  </a:rPr>
                                  <m:t>𝐱</m:t>
                                </m:r>
                              </m:e>
                            </m:d>
                            <m:r>
                              <a:rPr lang="en-US" altLang="zh-CN" sz="2800">
                                <a:solidFill>
                                  <a:srgbClr val="006699"/>
                                </a:solidFill>
                                <a:latin typeface="Cambria Math" panose="02040503050406030204" pitchFamily="18" charset="0"/>
                              </a:rPr>
                              <m:t> </m:t>
                            </m:r>
                            <m:r>
                              <a:rPr lang="en-US" altLang="zh-CN" sz="2800">
                                <a:solidFill>
                                  <a:srgbClr val="006699"/>
                                </a:solidFill>
                                <a:latin typeface="Cambria Math" panose="02040503050406030204" pitchFamily="18" charset="0"/>
                              </a:rPr>
                              <m:t>𝑑</m:t>
                            </m:r>
                            <m:r>
                              <a:rPr lang="en-US" altLang="zh-CN" sz="2800">
                                <a:solidFill>
                                  <a:srgbClr val="006699"/>
                                </a:solidFill>
                                <a:latin typeface="Cambria Math" panose="02040503050406030204" pitchFamily="18" charset="0"/>
                              </a:rPr>
                              <m:t>𝐱</m:t>
                            </m:r>
                            <m:r>
                              <a:rPr lang="en-US" altLang="zh-CN" sz="2800">
                                <a:solidFill>
                                  <a:srgbClr val="006699"/>
                                </a:solidFill>
                                <a:latin typeface="Cambria Math" panose="02040503050406030204" pitchFamily="18" charset="0"/>
                              </a:rPr>
                              <m:t>, </m:t>
                            </m:r>
                            <m:r>
                              <a:rPr lang="en-US" altLang="zh-CN" sz="2800">
                                <a:solidFill>
                                  <a:srgbClr val="006699"/>
                                </a:solidFill>
                                <a:latin typeface="Cambria Math" panose="02040503050406030204" pitchFamily="18" charset="0"/>
                              </a:rPr>
                              <m:t>𝑖</m:t>
                            </m:r>
                            <m:r>
                              <a:rPr lang="en-US" altLang="zh-CN" sz="2800">
                                <a:solidFill>
                                  <a:srgbClr val="006699"/>
                                </a:solidFill>
                                <a:latin typeface="Cambria Math" panose="02040503050406030204" pitchFamily="18" charset="0"/>
                              </a:rPr>
                              <m:t>=1,2,…,</m:t>
                            </m:r>
                            <m:r>
                              <a:rPr lang="en-US" altLang="zh-CN" sz="2800">
                                <a:solidFill>
                                  <a:srgbClr val="006699"/>
                                </a:solidFill>
                                <a:latin typeface="Cambria Math" panose="02040503050406030204" pitchFamily="18" charset="0"/>
                              </a:rPr>
                              <m:t>𝑁</m:t>
                            </m:r>
                            <m:r>
                              <a:rPr lang="en-US" altLang="zh-CN" sz="2800">
                                <a:solidFill>
                                  <a:srgbClr val="006699"/>
                                </a:solidFill>
                                <a:latin typeface="Cambria Math" panose="02040503050406030204" pitchFamily="18" charset="0"/>
                              </a:rPr>
                              <m:t>,</m:t>
                            </m:r>
                          </m:e>
                        </m:mr>
                      </m:m>
                    </m:oMath>
                  </m:oMathPara>
                </a14:m>
                <a:endParaRPr lang="zh-CN" altLang="zh-CN" sz="3200" dirty="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r>
                  <a:rPr lang="en-US" altLang="zh-CN" sz="3200" dirty="0" err="1">
                    <a:solidFill>
                      <a:srgbClr val="006699"/>
                    </a:solidFill>
                    <a:latin typeface="Verdana" panose="020B0604030504040204" pitchFamily="34" charset="0"/>
                  </a:rPr>
                  <a:t>其中</a:t>
                </a:r>
                <a14:m>
                  <m:oMath xmlns:m="http://schemas.openxmlformats.org/officeDocument/2006/math">
                    <m:r>
                      <a:rPr lang="en-US" altLang="zh-CN" sz="3200">
                        <a:solidFill>
                          <a:srgbClr val="006699"/>
                        </a:solidFill>
                        <a:latin typeface="Cambria Math" panose="02040503050406030204" pitchFamily="18" charset="0"/>
                      </a:rPr>
                      <m:t>𝑐</m:t>
                    </m:r>
                  </m:oMath>
                </a14:m>
                <a:r>
                  <a:rPr lang="en-US" altLang="zh-CN" sz="3200" dirty="0" err="1">
                    <a:solidFill>
                      <a:srgbClr val="006699"/>
                    </a:solidFill>
                    <a:latin typeface="Verdana" panose="020B0604030504040204" pitchFamily="34" charset="0"/>
                  </a:rPr>
                  <a:t>是归一化常数</a:t>
                </a:r>
                <a:r>
                  <a:rPr lang="en-US" altLang="zh-CN" sz="3200" dirty="0">
                    <a:solidFill>
                      <a:srgbClr val="006699"/>
                    </a:solidFill>
                    <a:latin typeface="Verdana" panose="020B0604030504040204" pitchFamily="34" charset="0"/>
                  </a:rPr>
                  <a:t>。</a:t>
                </a:r>
                <a:endParaRPr lang="zh-CN" altLang="en-US" sz="3200" dirty="0">
                  <a:solidFill>
                    <a:srgbClr val="006699"/>
                  </a:solidFill>
                  <a:latin typeface="Verdana" panose="020B0604030504040204" pitchFamily="34" charset="0"/>
                </a:endParaRPr>
              </a:p>
            </p:txBody>
          </p:sp>
        </mc:Choice>
        <mc:Fallback xmlns="">
          <p:sp>
            <p:nvSpPr>
              <p:cNvPr id="4" name="文本框 3">
                <a:extLst>
                  <a:ext uri="{FF2B5EF4-FFF2-40B4-BE49-F238E27FC236}">
                    <a16:creationId xmlns:a16="http://schemas.microsoft.com/office/drawing/2014/main" id="{78867685-5776-7C2C-1240-CD8EC8CC0964}"/>
                  </a:ext>
                </a:extLst>
              </p:cNvPr>
              <p:cNvSpPr txBox="1">
                <a:spLocks noRot="1" noChangeAspect="1" noMove="1" noResize="1" noEditPoints="1" noAdjustHandles="1" noChangeArrowheads="1" noChangeShapeType="1" noTextEdit="1"/>
              </p:cNvSpPr>
              <p:nvPr/>
            </p:nvSpPr>
            <p:spPr>
              <a:xfrm>
                <a:off x="0" y="1043735"/>
                <a:ext cx="8982490" cy="4960782"/>
              </a:xfrm>
              <a:prstGeom prst="rect">
                <a:avLst/>
              </a:prstGeom>
              <a:blipFill>
                <a:blip r:embed="rId2"/>
                <a:stretch>
                  <a:fillRect l="-1696" t="-1843" b="-2703"/>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51996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3.3.1 </a:t>
            </a:r>
            <a:r>
              <a:rPr lang="zh-CN" altLang="en-US" sz="3600" b="0" dirty="0">
                <a:latin typeface="+mn-lt"/>
                <a:ea typeface="+mn-ea"/>
              </a:rPr>
              <a:t>标准化重要抽样法</a:t>
            </a:r>
            <a:endParaRPr lang="zh-CN" altLang="en-US" dirty="0"/>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68</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E2C0BEE-49A9-E4C4-2A4F-01B776B024CF}"/>
                  </a:ext>
                </a:extLst>
              </p:cNvPr>
              <p:cNvSpPr txBox="1"/>
              <p:nvPr/>
            </p:nvSpPr>
            <p:spPr>
              <a:xfrm>
                <a:off x="71500" y="1088740"/>
                <a:ext cx="9001000" cy="4990084"/>
              </a:xfrm>
              <a:prstGeom prst="rect">
                <a:avLst/>
              </a:prstGeom>
              <a:noFill/>
              <a:ln w="25400">
                <a:noFill/>
              </a:ln>
            </p:spPr>
            <p:txBody>
              <a:bodyPr wrap="square">
                <a:spAutoFit/>
              </a:bodyPr>
              <a:lstStyle/>
              <a:p>
                <a:pPr>
                  <a:spcBef>
                    <a:spcPts val="900"/>
                  </a:spcBef>
                  <a:spcAft>
                    <a:spcPts val="900"/>
                  </a:spcAft>
                </a:pPr>
                <a:r>
                  <a:rPr lang="en-US" altLang="zh-CN" sz="3200" dirty="0">
                    <a:solidFill>
                      <a:srgbClr val="006699"/>
                    </a:solidFill>
                    <a:latin typeface="Verdana" panose="020B0604030504040204" pitchFamily="34" charset="0"/>
                  </a:rPr>
                  <a:t>设随机变量</a:t>
                </a:r>
                <a14:m>
                  <m:oMath xmlns:m="http://schemas.openxmlformats.org/officeDocument/2006/math">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𝐗</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𝑊</m:t>
                        </m:r>
                      </m:e>
                    </m:d>
                  </m:oMath>
                </a14:m>
                <a:r>
                  <a:rPr lang="en-US" altLang="zh-CN" sz="3200" dirty="0" err="1">
                    <a:solidFill>
                      <a:srgbClr val="006699"/>
                    </a:solidFill>
                    <a:latin typeface="Verdana" panose="020B0604030504040204" pitchFamily="34" charset="0"/>
                  </a:rPr>
                  <a:t>联合密度为</a:t>
                </a:r>
                <a14:m>
                  <m:oMath xmlns:m="http://schemas.openxmlformats.org/officeDocument/2006/math">
                    <m:r>
                      <a:rPr lang="en-US" altLang="zh-CN" sz="3200">
                        <a:solidFill>
                          <a:srgbClr val="006699"/>
                        </a:solidFill>
                        <a:latin typeface="Cambria Math" panose="02040503050406030204" pitchFamily="18" charset="0"/>
                      </a:rPr>
                      <m:t>𝑔</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𝐱</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𝑤</m:t>
                        </m:r>
                      </m:e>
                    </m:d>
                  </m:oMath>
                </a14:m>
                <a:r>
                  <a:rPr lang="en-US" altLang="zh-CN" sz="3200" dirty="0">
                    <a:solidFill>
                      <a:srgbClr val="006699"/>
                    </a:solidFill>
                    <a:latin typeface="Verdana" panose="020B0604030504040204" pitchFamily="34" charset="0"/>
                  </a:rPr>
                  <a:t>， </a:t>
                </a:r>
              </a:p>
              <a:p>
                <a:pPr>
                  <a:spcBef>
                    <a:spcPts val="900"/>
                  </a:spcBef>
                  <a:spcAft>
                    <a:spcPts val="900"/>
                  </a:spcAft>
                </a:pPr>
                <a:r>
                  <a:rPr lang="en-US" altLang="zh-CN" sz="3200" dirty="0">
                    <a:solidFill>
                      <a:srgbClr val="006699"/>
                    </a:solidFill>
                    <a:latin typeface="Verdana" panose="020B0604030504040204" pitchFamily="34" charset="0"/>
                  </a:rPr>
                  <a:t>则</a:t>
                </a:r>
                <a14:m>
                  <m:oMath xmlns:m="http://schemas.openxmlformats.org/officeDocument/2006/math">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𝐗</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𝑊</m:t>
                        </m:r>
                      </m:e>
                    </m:d>
                  </m:oMath>
                </a14:m>
                <a:r>
                  <a:rPr lang="en-US" altLang="zh-CN" sz="3200" dirty="0" err="1">
                    <a:solidFill>
                      <a:srgbClr val="006699"/>
                    </a:solidFill>
                    <a:latin typeface="Verdana" panose="020B0604030504040204" pitchFamily="34" charset="0"/>
                  </a:rPr>
                  <a:t>的样本为密度</a:t>
                </a:r>
                <a14:m>
                  <m:oMath xmlns:m="http://schemas.openxmlformats.org/officeDocument/2006/math">
                    <m:r>
                      <a:rPr lang="en-US" altLang="zh-CN" sz="3200">
                        <a:solidFill>
                          <a:srgbClr val="006699"/>
                        </a:solidFill>
                        <a:latin typeface="Cambria Math" panose="02040503050406030204" pitchFamily="18" charset="0"/>
                      </a:rPr>
                      <m:t>𝑓</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m:t>
                        </m:r>
                      </m:e>
                    </m:d>
                  </m:oMath>
                </a14:m>
                <a:r>
                  <a:rPr lang="en-US" altLang="zh-CN" sz="3200" dirty="0" err="1">
                    <a:solidFill>
                      <a:srgbClr val="006699"/>
                    </a:solidFill>
                    <a:latin typeface="Verdana" panose="020B0604030504040204" pitchFamily="34" charset="0"/>
                  </a:rPr>
                  <a:t>的适当加权抽样的</a:t>
                </a:r>
                <a:r>
                  <a:rPr lang="en-US" altLang="zh-CN" sz="3200" dirty="0" err="1">
                    <a:solidFill>
                      <a:srgbClr val="FF0000"/>
                    </a:solidFill>
                    <a:latin typeface="Verdana" panose="020B0604030504040204" pitchFamily="34" charset="0"/>
                  </a:rPr>
                  <a:t>充分必要条件</a:t>
                </a:r>
                <a:r>
                  <a:rPr lang="en-US" altLang="zh-CN" sz="3200" dirty="0" err="1">
                    <a:solidFill>
                      <a:srgbClr val="006699"/>
                    </a:solidFill>
                    <a:latin typeface="Verdana" panose="020B0604030504040204" pitchFamily="34" charset="0"/>
                  </a:rPr>
                  <a:t>是</a:t>
                </a:r>
                <a:endParaRPr lang="zh-CN" altLang="zh-CN" sz="3200" dirty="0">
                  <a:solidFill>
                    <a:srgbClr val="006699"/>
                  </a:solidFill>
                  <a:latin typeface="Verdana" panose="020B0604030504040204" pitchFamily="34"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zh-CN" sz="3200" i="1">
                              <a:solidFill>
                                <a:srgbClr val="006699"/>
                              </a:solidFill>
                              <a:latin typeface="Cambria Math" panose="02040503050406030204" pitchFamily="18" charset="0"/>
                            </a:rPr>
                          </m:ctrlPr>
                        </m:mPr>
                        <m:mr>
                          <m:e>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𝐸</m:t>
                                </m:r>
                              </m:e>
                              <m:sub>
                                <m:r>
                                  <a:rPr lang="en-US" altLang="zh-CN" sz="3200">
                                    <a:solidFill>
                                      <a:srgbClr val="006699"/>
                                    </a:solidFill>
                                    <a:latin typeface="Cambria Math" panose="02040503050406030204" pitchFamily="18" charset="0"/>
                                  </a:rPr>
                                  <m:t>𝑔</m:t>
                                </m:r>
                              </m:sub>
                            </m:sSub>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𝑊</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𝐱</m:t>
                                </m:r>
                              </m:e>
                            </m:d>
                            <m:r>
                              <a:rPr lang="en-US" altLang="zh-CN" sz="3200">
                                <a:solidFill>
                                  <a:srgbClr val="006699"/>
                                </a:solidFill>
                                <a:latin typeface="Cambria Math" panose="02040503050406030204" pitchFamily="18" charset="0"/>
                              </a:rPr>
                              <m:t>=</m:t>
                            </m:r>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𝐸</m:t>
                                </m:r>
                              </m:e>
                              <m:sub>
                                <m:r>
                                  <a:rPr lang="en-US" altLang="zh-CN" sz="3200">
                                    <a:solidFill>
                                      <a:srgbClr val="006699"/>
                                    </a:solidFill>
                                    <a:latin typeface="Cambria Math" panose="02040503050406030204" pitchFamily="18" charset="0"/>
                                  </a:rPr>
                                  <m:t>𝑔</m:t>
                                </m:r>
                              </m:sub>
                            </m:sSub>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𝑊</m:t>
                                </m:r>
                              </m:e>
                            </m:d>
                            <m:f>
                              <m:fPr>
                                <m:ctrlPr>
                                  <a:rPr lang="zh-CN" altLang="zh-CN" sz="3200" i="1">
                                    <a:solidFill>
                                      <a:srgbClr val="006699"/>
                                    </a:solidFill>
                                    <a:latin typeface="Cambria Math" panose="02040503050406030204" pitchFamily="18" charset="0"/>
                                  </a:rPr>
                                </m:ctrlPr>
                              </m:fPr>
                              <m:num>
                                <m:r>
                                  <a:rPr lang="en-US" altLang="zh-CN" sz="3200">
                                    <a:solidFill>
                                      <a:srgbClr val="006699"/>
                                    </a:solidFill>
                                    <a:latin typeface="Cambria Math" panose="02040503050406030204" pitchFamily="18" charset="0"/>
                                  </a:rPr>
                                  <m:t>𝑓</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𝐱</m:t>
                                    </m:r>
                                  </m:e>
                                </m:d>
                              </m:num>
                              <m:den>
                                <m:r>
                                  <a:rPr lang="en-US" altLang="zh-CN" sz="3200">
                                    <a:solidFill>
                                      <a:srgbClr val="006699"/>
                                    </a:solidFill>
                                    <a:latin typeface="Cambria Math" panose="02040503050406030204" pitchFamily="18" charset="0"/>
                                  </a:rPr>
                                  <m:t>𝑔</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𝐱</m:t>
                                    </m:r>
                                  </m:e>
                                </m:d>
                              </m:den>
                            </m:f>
                            <m:r>
                              <a:rPr lang="en-US" altLang="zh-CN" sz="3200">
                                <a:solidFill>
                                  <a:srgbClr val="006699"/>
                                </a:solidFill>
                                <a:latin typeface="Cambria Math" panose="02040503050406030204" pitchFamily="18" charset="0"/>
                              </a:rPr>
                              <m:t>, ∀</m:t>
                            </m:r>
                            <m:r>
                              <a:rPr lang="en-US" altLang="zh-CN" sz="3200">
                                <a:solidFill>
                                  <a:srgbClr val="006699"/>
                                </a:solidFill>
                                <a:latin typeface="Cambria Math" panose="02040503050406030204" pitchFamily="18" charset="0"/>
                              </a:rPr>
                              <m:t>𝐱</m:t>
                            </m:r>
                            <m:r>
                              <a:rPr lang="en-US" altLang="zh-CN" sz="3200">
                                <a:solidFill>
                                  <a:srgbClr val="006699"/>
                                </a:solidFill>
                                <a:latin typeface="Cambria Math" panose="02040503050406030204" pitchFamily="18" charset="0"/>
                              </a:rPr>
                              <m:t>,</m:t>
                            </m:r>
                          </m:e>
                        </m:mr>
                      </m:m>
                    </m:oMath>
                  </m:oMathPara>
                </a14:m>
                <a:endParaRPr lang="zh-CN" altLang="zh-CN" sz="3200" dirty="0">
                  <a:solidFill>
                    <a:srgbClr val="006699"/>
                  </a:solidFill>
                  <a:latin typeface="Verdana" panose="020B0604030504040204" pitchFamily="34" charset="0"/>
                </a:endParaRPr>
              </a:p>
              <a:p>
                <a:pPr>
                  <a:spcBef>
                    <a:spcPts val="900"/>
                  </a:spcBef>
                  <a:spcAft>
                    <a:spcPts val="900"/>
                  </a:spcAft>
                </a:pPr>
                <a:r>
                  <a:rPr lang="en-US" altLang="zh-CN" sz="3200" dirty="0" err="1">
                    <a:solidFill>
                      <a:srgbClr val="006699"/>
                    </a:solidFill>
                    <a:latin typeface="Verdana" panose="020B0604030504040204" pitchFamily="34" charset="0"/>
                  </a:rPr>
                  <a:t>其中</a:t>
                </a:r>
                <a:r>
                  <a:rPr lang="zh-CN" altLang="en-US" sz="3200" dirty="0">
                    <a:solidFill>
                      <a:srgbClr val="006699"/>
                    </a:solidFill>
                    <a:latin typeface="Verdana" panose="020B0604030504040204" pitchFamily="34" charset="0"/>
                  </a:rPr>
                  <a:t>：</a:t>
                </a:r>
                <a14:m>
                  <m:oMath xmlns:m="http://schemas.openxmlformats.org/officeDocument/2006/math">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𝐸</m:t>
                        </m:r>
                      </m:e>
                      <m:sub>
                        <m:r>
                          <a:rPr lang="en-US" altLang="zh-CN" sz="3200">
                            <a:solidFill>
                              <a:srgbClr val="006699"/>
                            </a:solidFill>
                            <a:latin typeface="Cambria Math" panose="02040503050406030204" pitchFamily="18" charset="0"/>
                          </a:rPr>
                          <m:t>𝑔</m:t>
                        </m:r>
                      </m:sub>
                    </m:sSub>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𝑊</m:t>
                        </m:r>
                      </m:e>
                    </m:d>
                  </m:oMath>
                </a14:m>
                <a:r>
                  <a:rPr lang="en-US" altLang="zh-CN" sz="3200" dirty="0" err="1">
                    <a:solidFill>
                      <a:srgbClr val="006699"/>
                    </a:solidFill>
                    <a:latin typeface="Verdana" panose="020B0604030504040204" pitchFamily="34" charset="0"/>
                  </a:rPr>
                  <a:t>是关于</a:t>
                </a:r>
                <a14:m>
                  <m:oMath xmlns:m="http://schemas.openxmlformats.org/officeDocument/2006/math">
                    <m:r>
                      <a:rPr lang="en-US" altLang="zh-CN" sz="3200">
                        <a:solidFill>
                          <a:srgbClr val="006699"/>
                        </a:solidFill>
                        <a:latin typeface="Cambria Math" panose="02040503050406030204" pitchFamily="18" charset="0"/>
                      </a:rPr>
                      <m:t>𝑊</m:t>
                    </m:r>
                  </m:oMath>
                </a14:m>
                <a:r>
                  <a:rPr lang="en-US" altLang="zh-CN" sz="3200" dirty="0" err="1">
                    <a:solidFill>
                      <a:srgbClr val="006699"/>
                    </a:solidFill>
                    <a:latin typeface="Verdana" panose="020B0604030504040204" pitchFamily="34" charset="0"/>
                  </a:rPr>
                  <a:t>的边缘密度的期望</a:t>
                </a:r>
                <a:r>
                  <a:rPr lang="en-US" altLang="zh-CN" sz="3200" dirty="0">
                    <a:solidFill>
                      <a:srgbClr val="006699"/>
                    </a:solidFill>
                    <a:latin typeface="Verdana" panose="020B0604030504040204" pitchFamily="34" charset="0"/>
                  </a:rPr>
                  <a:t>，</a:t>
                </a:r>
              </a:p>
              <a:p>
                <a:pPr>
                  <a:spcBef>
                    <a:spcPts val="900"/>
                  </a:spcBef>
                  <a:spcAft>
                    <a:spcPts val="900"/>
                  </a:spcAft>
                </a:pPr>
                <a14:m>
                  <m:oMath xmlns:m="http://schemas.openxmlformats.org/officeDocument/2006/math">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𝐸</m:t>
                        </m:r>
                      </m:e>
                      <m:sub>
                        <m:r>
                          <a:rPr lang="en-US" altLang="zh-CN" sz="3200">
                            <a:solidFill>
                              <a:srgbClr val="006699"/>
                            </a:solidFill>
                            <a:latin typeface="Cambria Math" panose="02040503050406030204" pitchFamily="18" charset="0"/>
                          </a:rPr>
                          <m:t>𝑔</m:t>
                        </m:r>
                      </m:sub>
                    </m:sSub>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𝑊</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𝐱</m:t>
                        </m:r>
                      </m:e>
                    </m:d>
                  </m:oMath>
                </a14:m>
                <a:r>
                  <a:rPr lang="en-US" altLang="zh-CN" sz="3200" dirty="0" err="1">
                    <a:solidFill>
                      <a:srgbClr val="006699"/>
                    </a:solidFill>
                    <a:latin typeface="Verdana" panose="020B0604030504040204" pitchFamily="34" charset="0"/>
                  </a:rPr>
                  <a:t>是在</a:t>
                </a:r>
                <a14:m>
                  <m:oMath xmlns:m="http://schemas.openxmlformats.org/officeDocument/2006/math">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𝐗</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𝑊</m:t>
                        </m:r>
                      </m:e>
                    </m:d>
                  </m:oMath>
                </a14:m>
                <a:r>
                  <a:rPr lang="en-US" altLang="zh-CN" sz="3200" dirty="0" err="1">
                    <a:solidFill>
                      <a:srgbClr val="006699"/>
                    </a:solidFill>
                    <a:latin typeface="Verdana" panose="020B0604030504040204" pitchFamily="34" charset="0"/>
                  </a:rPr>
                  <a:t>的联合密度下条件期望</a:t>
                </a:r>
                <a14:m>
                  <m:oMath xmlns:m="http://schemas.openxmlformats.org/officeDocument/2006/math">
                    <m:r>
                      <a:rPr lang="en-US" altLang="zh-CN" sz="3200">
                        <a:solidFill>
                          <a:srgbClr val="006699"/>
                        </a:solidFill>
                        <a:latin typeface="Cambria Math" panose="02040503050406030204" pitchFamily="18" charset="0"/>
                      </a:rPr>
                      <m:t>𝐸</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𝑊</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𝐗</m:t>
                        </m:r>
                      </m:e>
                    </m:d>
                  </m:oMath>
                </a14:m>
                <a:r>
                  <a:rPr lang="en-US" altLang="zh-CN" sz="3200" dirty="0">
                    <a:solidFill>
                      <a:srgbClr val="006699"/>
                    </a:solidFill>
                    <a:latin typeface="Verdana" panose="020B0604030504040204" pitchFamily="34" charset="0"/>
                  </a:rPr>
                  <a:t>在</a:t>
                </a:r>
                <a14:m>
                  <m:oMath xmlns:m="http://schemas.openxmlformats.org/officeDocument/2006/math">
                    <m:r>
                      <a:rPr lang="en-US" altLang="zh-CN" sz="3200">
                        <a:solidFill>
                          <a:srgbClr val="006699"/>
                        </a:solidFill>
                        <a:latin typeface="Cambria Math" panose="02040503050406030204" pitchFamily="18" charset="0"/>
                      </a:rPr>
                      <m:t>𝐗</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𝐱</m:t>
                    </m:r>
                  </m:oMath>
                </a14:m>
                <a:r>
                  <a:rPr lang="en-US" altLang="zh-CN" sz="3200" dirty="0" err="1">
                    <a:solidFill>
                      <a:srgbClr val="006699"/>
                    </a:solidFill>
                    <a:latin typeface="Verdana" panose="020B0604030504040204" pitchFamily="34" charset="0"/>
                  </a:rPr>
                  <a:t>处的值</a:t>
                </a:r>
                <a:r>
                  <a:rPr lang="en-US" altLang="zh-CN" sz="3200" dirty="0">
                    <a:solidFill>
                      <a:srgbClr val="006699"/>
                    </a:solidFill>
                    <a:latin typeface="Verdana" panose="020B0604030504040204" pitchFamily="34" charset="0"/>
                  </a:rPr>
                  <a:t>。</a:t>
                </a:r>
                <a:endParaRPr lang="zh-CN" altLang="zh-CN" sz="3200" dirty="0">
                  <a:solidFill>
                    <a:srgbClr val="006699"/>
                  </a:solidFill>
                  <a:latin typeface="Verdana" panose="020B0604030504040204" pitchFamily="34" charset="0"/>
                </a:endParaRPr>
              </a:p>
            </p:txBody>
          </p:sp>
        </mc:Choice>
        <mc:Fallback xmlns="">
          <p:sp>
            <p:nvSpPr>
              <p:cNvPr id="4" name="文本框 3">
                <a:extLst>
                  <a:ext uri="{FF2B5EF4-FFF2-40B4-BE49-F238E27FC236}">
                    <a16:creationId xmlns:a16="http://schemas.microsoft.com/office/drawing/2014/main" id="{AE2C0BEE-49A9-E4C4-2A4F-01B776B024CF}"/>
                  </a:ext>
                </a:extLst>
              </p:cNvPr>
              <p:cNvSpPr txBox="1">
                <a:spLocks noRot="1" noChangeAspect="1" noMove="1" noResize="1" noEditPoints="1" noAdjustHandles="1" noChangeArrowheads="1" noChangeShapeType="1" noTextEdit="1"/>
              </p:cNvSpPr>
              <p:nvPr/>
            </p:nvSpPr>
            <p:spPr>
              <a:xfrm>
                <a:off x="71500" y="1088740"/>
                <a:ext cx="9001000" cy="4990084"/>
              </a:xfrm>
              <a:prstGeom prst="rect">
                <a:avLst/>
              </a:prstGeom>
              <a:blipFill>
                <a:blip r:embed="rId2"/>
                <a:stretch>
                  <a:fillRect l="-1762" t="-1956" r="-1016" b="-2689"/>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4345772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3.3.2 </a:t>
            </a:r>
            <a:r>
              <a:rPr lang="zh-CN" altLang="en-US" sz="3600" b="0" dirty="0">
                <a:latin typeface="+mn-lt"/>
                <a:ea typeface="+mn-ea"/>
              </a:rPr>
              <a:t>带有舍选控制的重要抽样法</a:t>
            </a:r>
            <a:endParaRPr lang="zh-CN" altLang="en-US" dirty="0"/>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69</a:t>
            </a:fld>
            <a:endParaRPr lang="zh-CN" altLang="en-US">
              <a:solidFill>
                <a:srgbClr val="898989"/>
              </a:solidFill>
            </a:endParaRPr>
          </a:p>
        </p:txBody>
      </p:sp>
      <p:sp>
        <p:nvSpPr>
          <p:cNvPr id="22" name="文本框 21">
            <a:extLst>
              <a:ext uri="{FF2B5EF4-FFF2-40B4-BE49-F238E27FC236}">
                <a16:creationId xmlns:a16="http://schemas.microsoft.com/office/drawing/2014/main" id="{F7749C0C-2C28-4154-A549-96756BD3E3E8}"/>
              </a:ext>
            </a:extLst>
          </p:cNvPr>
          <p:cNvSpPr txBox="1"/>
          <p:nvPr/>
        </p:nvSpPr>
        <p:spPr>
          <a:xfrm>
            <a:off x="0" y="929775"/>
            <a:ext cx="9144000" cy="1077218"/>
          </a:xfrm>
          <a:prstGeom prst="rect">
            <a:avLst/>
          </a:prstGeom>
          <a:noFill/>
          <a:ln w="25400">
            <a:noFill/>
          </a:ln>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舍弃权重太小的样本点， 重新抽样替换</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称为</a:t>
            </a:r>
            <a:r>
              <a:rPr kumimoji="0" lang="zh-CN" altLang="en-US"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带有舍选控制的重要抽样法</a:t>
            </a:r>
            <a:endParaRPr kumimoji="0" lang="en-US" altLang="zh-CN"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sp>
        <p:nvSpPr>
          <p:cNvPr id="13" name="文本框 12">
            <a:extLst>
              <a:ext uri="{FF2B5EF4-FFF2-40B4-BE49-F238E27FC236}">
                <a16:creationId xmlns:a16="http://schemas.microsoft.com/office/drawing/2014/main" id="{BED688A0-C1CF-455B-8656-321735BBAABB}"/>
              </a:ext>
            </a:extLst>
          </p:cNvPr>
          <p:cNvSpPr txBox="1"/>
          <p:nvPr/>
        </p:nvSpPr>
        <p:spPr>
          <a:xfrm>
            <a:off x="-1" y="2035651"/>
            <a:ext cx="8229600" cy="584775"/>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需要预先选定权重的一个阈值</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C</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，并计算</a:t>
            </a:r>
            <a:endParaRPr lang="zh-CN" altLang="en-US" dirty="0"/>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C23790D-E7A5-4CDD-9C83-F2AB8F8C9B9B}"/>
                  </a:ext>
                </a:extLst>
              </p:cNvPr>
              <p:cNvSpPr txBox="1"/>
              <p:nvPr/>
            </p:nvSpPr>
            <p:spPr>
              <a:xfrm>
                <a:off x="1286635" y="2745063"/>
                <a:ext cx="5545964" cy="2360070"/>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sz="3200" i="1" smtClean="0">
                              <a:solidFill>
                                <a:srgbClr val="836967"/>
                              </a:solidFill>
                              <a:latin typeface="Cambria Math" panose="02040503050406030204" pitchFamily="18" charset="0"/>
                            </a:rPr>
                          </m:ctrlPr>
                        </m:mPr>
                        <m:mr>
                          <m:e>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𝑝</m:t>
                                </m:r>
                              </m:e>
                              <m:sub>
                                <m:r>
                                  <a:rPr lang="zh-CN" altLang="en-US" sz="3200" i="1">
                                    <a:latin typeface="Cambria Math" panose="02040503050406030204" pitchFamily="18" charset="0"/>
                                  </a:rPr>
                                  <m:t>𝑐</m:t>
                                </m:r>
                              </m:sub>
                            </m:sSub>
                            <m:r>
                              <a:rPr lang="zh-CN" altLang="en-US" sz="3200" i="0">
                                <a:latin typeface="Cambria Math" panose="02040503050406030204" pitchFamily="18" charset="0"/>
                              </a:rPr>
                              <m:t>=</m:t>
                            </m:r>
                            <m:nary>
                              <m:naryPr>
                                <m:grow m:val="on"/>
                                <m:subHide m:val="on"/>
                                <m:supHide m:val="on"/>
                                <m:ctrlPr>
                                  <a:rPr lang="zh-CN" altLang="en-US" sz="3200" i="1">
                                    <a:latin typeface="Cambria Math" panose="02040503050406030204" pitchFamily="18" charset="0"/>
                                  </a:rPr>
                                </m:ctrlPr>
                              </m:naryPr>
                              <m:sub/>
                              <m:sup/>
                              <m:e>
                                <m:r>
                                  <m:rPr>
                                    <m:sty m:val="p"/>
                                  </m:rPr>
                                  <a:rPr lang="zh-CN" altLang="en-US" sz="3200" i="0">
                                    <a:latin typeface="Cambria Math" panose="02040503050406030204" pitchFamily="18" charset="0"/>
                                  </a:rPr>
                                  <m:t>min</m:t>
                                </m:r>
                              </m:e>
                            </m:nary>
                            <m:d>
                              <m:dPr>
                                <m:begChr m:val="{"/>
                                <m:endChr m:val="}"/>
                                <m:ctrlPr>
                                  <a:rPr lang="zh-CN" altLang="en-US" sz="3200" i="1">
                                    <a:solidFill>
                                      <a:srgbClr val="836967"/>
                                    </a:solidFill>
                                    <a:latin typeface="Cambria Math" panose="02040503050406030204" pitchFamily="18" charset="0"/>
                                  </a:rPr>
                                </m:ctrlPr>
                              </m:dPr>
                              <m:e>
                                <m:r>
                                  <a:rPr lang="zh-CN" altLang="en-US" sz="3200" i="0">
                                    <a:latin typeface="Cambria Math" panose="02040503050406030204" pitchFamily="18" charset="0"/>
                                  </a:rPr>
                                  <m:t>1,</m:t>
                                </m:r>
                                <m:f>
                                  <m:fPr>
                                    <m:ctrlPr>
                                      <a:rPr lang="zh-CN" altLang="en-US" sz="3200" i="1">
                                        <a:solidFill>
                                          <a:srgbClr val="836967"/>
                                        </a:solidFill>
                                        <a:latin typeface="Cambria Math" panose="02040503050406030204" pitchFamily="18" charset="0"/>
                                      </a:rPr>
                                    </m:ctrlPr>
                                  </m:fPr>
                                  <m:num>
                                    <m:r>
                                      <a:rPr lang="zh-CN" altLang="en-US" sz="3200" i="1">
                                        <a:latin typeface="Cambria Math" panose="02040503050406030204" pitchFamily="18" charset="0"/>
                                      </a:rPr>
                                      <m:t>𝑓</m:t>
                                    </m:r>
                                    <m:d>
                                      <m:dPr>
                                        <m:ctrlPr>
                                          <a:rPr lang="zh-CN" altLang="en-US" sz="3200" i="1">
                                            <a:latin typeface="Cambria Math" panose="02040503050406030204" pitchFamily="18" charset="0"/>
                                          </a:rPr>
                                        </m:ctrlPr>
                                      </m:dPr>
                                      <m:e>
                                        <m:r>
                                          <a:rPr lang="zh-CN" altLang="en-US" sz="3200" b="1" i="0">
                                            <a:latin typeface="Cambria Math" panose="02040503050406030204" pitchFamily="18" charset="0"/>
                                          </a:rPr>
                                          <m:t>𝐱</m:t>
                                        </m:r>
                                      </m:e>
                                    </m:d>
                                  </m:num>
                                  <m:den>
                                    <m:r>
                                      <a:rPr lang="zh-CN" altLang="en-US" sz="3200" b="0" i="1">
                                        <a:latin typeface="Cambria Math" panose="02040503050406030204" pitchFamily="18" charset="0"/>
                                      </a:rPr>
                                      <m:t>𝑐𝑔</m:t>
                                    </m:r>
                                    <m:d>
                                      <m:dPr>
                                        <m:ctrlPr>
                                          <a:rPr lang="zh-CN" altLang="en-US" sz="3200" b="0" i="1">
                                            <a:latin typeface="Cambria Math" panose="02040503050406030204" pitchFamily="18" charset="0"/>
                                          </a:rPr>
                                        </m:ctrlPr>
                                      </m:dPr>
                                      <m:e>
                                        <m:r>
                                          <a:rPr lang="zh-CN" altLang="en-US" sz="3200" b="1" i="0">
                                            <a:latin typeface="Cambria Math" panose="02040503050406030204" pitchFamily="18" charset="0"/>
                                          </a:rPr>
                                          <m:t>𝐱</m:t>
                                        </m:r>
                                      </m:e>
                                    </m:d>
                                  </m:den>
                                </m:f>
                              </m:e>
                            </m:d>
                            <m:r>
                              <a:rPr lang="zh-CN" altLang="en-US" sz="3200" b="0" i="1">
                                <a:latin typeface="Cambria Math" panose="02040503050406030204" pitchFamily="18" charset="0"/>
                              </a:rPr>
                              <m:t>𝑔</m:t>
                            </m:r>
                            <m:d>
                              <m:dPr>
                                <m:ctrlPr>
                                  <a:rPr lang="zh-CN" altLang="en-US" sz="3200" b="0" i="1">
                                    <a:latin typeface="Cambria Math" panose="02040503050406030204" pitchFamily="18" charset="0"/>
                                  </a:rPr>
                                </m:ctrlPr>
                              </m:dPr>
                              <m:e>
                                <m:r>
                                  <a:rPr lang="zh-CN" altLang="en-US" sz="3200" b="1" i="0">
                                    <a:latin typeface="Cambria Math" panose="02040503050406030204" pitchFamily="18" charset="0"/>
                                  </a:rPr>
                                  <m:t>𝐱</m:t>
                                </m:r>
                              </m:e>
                            </m:d>
                            <m:r>
                              <a:rPr lang="zh-CN" altLang="en-US" sz="3200" b="0" i="1">
                                <a:latin typeface="Cambria Math" panose="02040503050406030204" pitchFamily="18" charset="0"/>
                              </a:rPr>
                              <m:t>𝑑</m:t>
                            </m:r>
                            <m:r>
                              <a:rPr lang="zh-CN" altLang="en-US" sz="3200" b="1" i="0">
                                <a:latin typeface="Cambria Math" panose="02040503050406030204" pitchFamily="18" charset="0"/>
                              </a:rPr>
                              <m:t>𝐱</m:t>
                            </m:r>
                          </m:e>
                        </m:mr>
                        <m:mr>
                          <m:e>
                            <m:r>
                              <a:rPr lang="zh-CN" altLang="en-US" sz="3200" b="0" i="0">
                                <a:latin typeface="Cambria Math" panose="02040503050406030204" pitchFamily="18" charset="0"/>
                              </a:rPr>
                              <m:t>=</m:t>
                            </m:r>
                            <m:nary>
                              <m:naryPr>
                                <m:grow m:val="on"/>
                                <m:subHide m:val="on"/>
                                <m:supHide m:val="on"/>
                                <m:ctrlPr>
                                  <a:rPr lang="zh-CN" altLang="en-US" sz="3200" b="0" i="1">
                                    <a:latin typeface="Cambria Math" panose="02040503050406030204" pitchFamily="18" charset="0"/>
                                  </a:rPr>
                                </m:ctrlPr>
                              </m:naryPr>
                              <m:sub/>
                              <m:sup/>
                              <m:e>
                                <m:r>
                                  <m:rPr>
                                    <m:sty m:val="p"/>
                                  </m:rPr>
                                  <a:rPr lang="zh-CN" altLang="en-US" sz="3200" b="0" i="0">
                                    <a:latin typeface="Cambria Math" panose="02040503050406030204" pitchFamily="18" charset="0"/>
                                  </a:rPr>
                                  <m:t>min</m:t>
                                </m:r>
                              </m:e>
                            </m:nary>
                            <m:d>
                              <m:dPr>
                                <m:begChr m:val="{"/>
                                <m:endChr m:val="}"/>
                                <m:ctrlPr>
                                  <a:rPr lang="zh-CN" altLang="en-US" sz="3200" b="0" i="1">
                                    <a:solidFill>
                                      <a:srgbClr val="836967"/>
                                    </a:solidFill>
                                    <a:latin typeface="Cambria Math" panose="02040503050406030204" pitchFamily="18" charset="0"/>
                                  </a:rPr>
                                </m:ctrlPr>
                              </m:dPr>
                              <m:e>
                                <m:r>
                                  <a:rPr lang="zh-CN" altLang="en-US" sz="3200" b="0" i="1">
                                    <a:latin typeface="Cambria Math" panose="02040503050406030204" pitchFamily="18" charset="0"/>
                                  </a:rPr>
                                  <m:t>𝑔</m:t>
                                </m:r>
                                <m:d>
                                  <m:dPr>
                                    <m:ctrlPr>
                                      <a:rPr lang="zh-CN" altLang="en-US" sz="3200" b="0" i="1">
                                        <a:latin typeface="Cambria Math" panose="02040503050406030204" pitchFamily="18" charset="0"/>
                                      </a:rPr>
                                    </m:ctrlPr>
                                  </m:dPr>
                                  <m:e>
                                    <m:r>
                                      <a:rPr lang="zh-CN" altLang="en-US" sz="3200" b="1" i="0">
                                        <a:latin typeface="Cambria Math" panose="02040503050406030204" pitchFamily="18" charset="0"/>
                                      </a:rPr>
                                      <m:t>𝐱</m:t>
                                    </m:r>
                                  </m:e>
                                </m:d>
                                <m:r>
                                  <a:rPr lang="zh-CN" altLang="en-US" sz="3200" b="0" i="0">
                                    <a:latin typeface="Cambria Math" panose="02040503050406030204" pitchFamily="18" charset="0"/>
                                  </a:rPr>
                                  <m:t>,</m:t>
                                </m:r>
                                <m:f>
                                  <m:fPr>
                                    <m:ctrlPr>
                                      <a:rPr lang="zh-CN" altLang="en-US" sz="3200" b="0" i="1">
                                        <a:solidFill>
                                          <a:srgbClr val="836967"/>
                                        </a:solidFill>
                                        <a:latin typeface="Cambria Math" panose="02040503050406030204" pitchFamily="18" charset="0"/>
                                      </a:rPr>
                                    </m:ctrlPr>
                                  </m:fPr>
                                  <m:num>
                                    <m:r>
                                      <a:rPr lang="zh-CN" altLang="en-US" sz="3200" b="0" i="1">
                                        <a:latin typeface="Cambria Math" panose="02040503050406030204" pitchFamily="18" charset="0"/>
                                      </a:rPr>
                                      <m:t>𝑓</m:t>
                                    </m:r>
                                    <m:d>
                                      <m:dPr>
                                        <m:ctrlPr>
                                          <a:rPr lang="zh-CN" altLang="en-US" sz="3200" b="0" i="1">
                                            <a:latin typeface="Cambria Math" panose="02040503050406030204" pitchFamily="18" charset="0"/>
                                          </a:rPr>
                                        </m:ctrlPr>
                                      </m:dPr>
                                      <m:e>
                                        <m:r>
                                          <a:rPr lang="zh-CN" altLang="en-US" sz="3200" b="1" i="0">
                                            <a:latin typeface="Cambria Math" panose="02040503050406030204" pitchFamily="18" charset="0"/>
                                          </a:rPr>
                                          <m:t>𝐱</m:t>
                                        </m:r>
                                      </m:e>
                                    </m:d>
                                  </m:num>
                                  <m:den>
                                    <m:r>
                                      <a:rPr lang="zh-CN" altLang="en-US" sz="3200" b="0" i="1">
                                        <a:latin typeface="Cambria Math" panose="02040503050406030204" pitchFamily="18" charset="0"/>
                                      </a:rPr>
                                      <m:t>𝑐</m:t>
                                    </m:r>
                                  </m:den>
                                </m:f>
                              </m:e>
                            </m:d>
                            <m:r>
                              <a:rPr lang="zh-CN" altLang="en-US" sz="3200" b="0" i="1">
                                <a:latin typeface="Cambria Math" panose="02040503050406030204" pitchFamily="18" charset="0"/>
                              </a:rPr>
                              <m:t>𝑑</m:t>
                            </m:r>
                            <m:r>
                              <a:rPr lang="zh-CN" altLang="en-US" sz="3200" b="1" i="0">
                                <a:latin typeface="Cambria Math" panose="02040503050406030204" pitchFamily="18" charset="0"/>
                              </a:rPr>
                              <m:t>𝐱</m:t>
                            </m:r>
                          </m:e>
                        </m:mr>
                      </m:m>
                    </m:oMath>
                  </m:oMathPara>
                </a14:m>
                <a:endParaRPr lang="zh-CN" altLang="en-US" dirty="0"/>
              </a:p>
            </p:txBody>
          </p:sp>
        </mc:Choice>
        <mc:Fallback xmlns="">
          <p:sp>
            <p:nvSpPr>
              <p:cNvPr id="15" name="文本框 14">
                <a:extLst>
                  <a:ext uri="{FF2B5EF4-FFF2-40B4-BE49-F238E27FC236}">
                    <a16:creationId xmlns:a16="http://schemas.microsoft.com/office/drawing/2014/main" id="{EC23790D-E7A5-4CDD-9C83-F2AB8F8C9B9B}"/>
                  </a:ext>
                </a:extLst>
              </p:cNvPr>
              <p:cNvSpPr txBox="1">
                <a:spLocks noRot="1" noChangeAspect="1" noMove="1" noResize="1" noEditPoints="1" noAdjustHandles="1" noChangeArrowheads="1" noChangeShapeType="1" noTextEdit="1"/>
              </p:cNvSpPr>
              <p:nvPr/>
            </p:nvSpPr>
            <p:spPr>
              <a:xfrm>
                <a:off x="1286635" y="2745063"/>
                <a:ext cx="5545964" cy="2360070"/>
              </a:xfrm>
              <a:prstGeom prst="rect">
                <a:avLst/>
              </a:prstGeom>
              <a:blipFill>
                <a:blip r:embed="rId2"/>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14838777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3.3.2 </a:t>
            </a:r>
            <a:r>
              <a:rPr lang="zh-CN" altLang="en-US" sz="3600" b="0" dirty="0">
                <a:latin typeface="+mn-lt"/>
                <a:ea typeface="+mn-ea"/>
              </a:rPr>
              <a:t>带有舍选控制的重要抽样法</a:t>
            </a:r>
            <a:endParaRPr lang="zh-CN" altLang="en-US" dirty="0"/>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70</a:t>
            </a:fld>
            <a:endParaRPr lang="zh-CN" altLang="en-US">
              <a:solidFill>
                <a:srgbClr val="898989"/>
              </a:solidFill>
            </a:endParaRPr>
          </a:p>
        </p:txBody>
      </p:sp>
      <p:sp>
        <p:nvSpPr>
          <p:cNvPr id="22" name="文本框 21">
            <a:extLst>
              <a:ext uri="{FF2B5EF4-FFF2-40B4-BE49-F238E27FC236}">
                <a16:creationId xmlns:a16="http://schemas.microsoft.com/office/drawing/2014/main" id="{F7749C0C-2C28-4154-A549-96756BD3E3E8}"/>
              </a:ext>
            </a:extLst>
          </p:cNvPr>
          <p:cNvSpPr txBox="1"/>
          <p:nvPr/>
        </p:nvSpPr>
        <p:spPr>
          <a:xfrm>
            <a:off x="-15875" y="1088740"/>
            <a:ext cx="9144000" cy="3539430"/>
          </a:xfrm>
          <a:prstGeom prst="rect">
            <a:avLst/>
          </a:prstGeom>
          <a:noFill/>
          <a:ln w="25400">
            <a:noFill/>
          </a:ln>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在产生每个抽样点</a:t>
            </a:r>
            <a:r>
              <a:rPr kumimoji="0" lang="en-US" altLang="zh-CN" sz="3200" b="1"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X</a:t>
            </a:r>
            <a:r>
              <a:rPr kumimoji="0" lang="en-US" altLang="zh-CN" sz="3200" b="1" i="1" u="none" strike="noStrike" kern="1200" cap="none" spc="0" normalizeH="0" baseline="-25000" noProof="0" dirty="0">
                <a:ln>
                  <a:noFill/>
                </a:ln>
                <a:solidFill>
                  <a:srgbClr val="006699"/>
                </a:solidFill>
                <a:effectLst/>
                <a:uLnTx/>
                <a:uFillTx/>
                <a:latin typeface="Verdana" panose="020B0604030504040204" pitchFamily="34" charset="0"/>
                <a:ea typeface="宋体" panose="02010600030101010101" pitchFamily="2" charset="-122"/>
                <a:cs typeface="+mn-cs"/>
              </a:rPr>
              <a:t>i</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时，计算权重</a:t>
            </a:r>
            <a:r>
              <a:rPr kumimoji="0" lang="en-US" altLang="zh-CN" sz="3200" b="1"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W</a:t>
            </a:r>
            <a:r>
              <a:rPr kumimoji="0" lang="en-US" altLang="zh-CN" sz="3200" b="1" i="1" u="none" strike="noStrike" kern="1200" cap="none" spc="0" normalizeH="0" baseline="-25000" noProof="0" dirty="0">
                <a:ln>
                  <a:noFill/>
                </a:ln>
                <a:solidFill>
                  <a:srgbClr val="006699"/>
                </a:solidFill>
                <a:effectLst/>
                <a:uLnTx/>
                <a:uFillTx/>
                <a:latin typeface="Verdana" panose="020B0604030504040204" pitchFamily="34" charset="0"/>
                <a:ea typeface="宋体" panose="02010600030101010101" pitchFamily="2" charset="-122"/>
                <a:cs typeface="+mn-cs"/>
              </a:rPr>
              <a:t>i </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当权重</a:t>
            </a:r>
            <a:r>
              <a:rPr kumimoji="0" lang="en-US" altLang="zh-CN" sz="3200" b="1" i="1" u="none" strike="noStrike" kern="1200" cap="none" spc="0" normalizeH="0" noProof="0" dirty="0" err="1">
                <a:ln>
                  <a:noFill/>
                </a:ln>
                <a:solidFill>
                  <a:srgbClr val="006699"/>
                </a:solidFill>
                <a:effectLst/>
                <a:uLnTx/>
                <a:uFillTx/>
                <a:latin typeface="Verdana" panose="020B0604030504040204" pitchFamily="34" charset="0"/>
                <a:ea typeface="宋体" panose="02010600030101010101" pitchFamily="2" charset="-122"/>
                <a:cs typeface="+mn-cs"/>
              </a:rPr>
              <a:t>W</a:t>
            </a:r>
            <a:r>
              <a:rPr kumimoji="0" lang="en-US" altLang="zh-CN" sz="3200" b="1" i="1" u="none" strike="noStrike" kern="1200" cap="none" spc="0" normalizeH="0" baseline="-25000" noProof="0" dirty="0" err="1">
                <a:ln>
                  <a:noFill/>
                </a:ln>
                <a:solidFill>
                  <a:srgbClr val="006699"/>
                </a:solidFill>
                <a:effectLst/>
                <a:uLnTx/>
                <a:uFillTx/>
                <a:latin typeface="Verdana" panose="020B0604030504040204" pitchFamily="34" charset="0"/>
                <a:ea typeface="宋体" panose="02010600030101010101" pitchFamily="2" charset="-122"/>
                <a:cs typeface="+mn-cs"/>
              </a:rPr>
              <a:t>i</a:t>
            </a:r>
            <a:r>
              <a:rPr kumimoji="0" lang="en-US" altLang="zh-CN" sz="3200" u="none" strike="noStrike" kern="1200" cap="none" spc="0" normalizeH="0" noProof="0" dirty="0" err="1">
                <a:ln>
                  <a:noFill/>
                </a:ln>
                <a:solidFill>
                  <a:srgbClr val="006699"/>
                </a:solidFill>
                <a:effectLst/>
                <a:uLnTx/>
                <a:uFillTx/>
                <a:latin typeface="Verdana" panose="020B0604030504040204" pitchFamily="34" charset="0"/>
                <a:ea typeface="宋体" panose="02010600030101010101" pitchFamily="2" charset="-122"/>
                <a:cs typeface="+mn-cs"/>
              </a:rPr>
              <a:t>≥</a:t>
            </a:r>
            <a:r>
              <a:rPr kumimoji="0" lang="en-US" altLang="zh-CN" sz="3200" b="1" i="1" u="none" strike="noStrike" kern="1200" cap="none" spc="0" normalizeH="0" noProof="0" dirty="0" err="1">
                <a:ln>
                  <a:noFill/>
                </a:ln>
                <a:solidFill>
                  <a:srgbClr val="006699"/>
                </a:solidFill>
                <a:effectLst/>
                <a:uLnTx/>
                <a:uFillTx/>
                <a:latin typeface="Verdana" panose="020B0604030504040204" pitchFamily="34" charset="0"/>
                <a:ea typeface="宋体" panose="02010600030101010101" pitchFamily="2" charset="-122"/>
                <a:cs typeface="+mn-cs"/>
              </a:rPr>
              <a:t>C</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时接受此抽样点，但权重改为</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zh-CN" sz="3200" dirty="0">
              <a:solidFill>
                <a:srgbClr val="006699"/>
              </a:solidFill>
              <a:latin typeface="Verdana" panose="020B060403050404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 当</a:t>
            </a:r>
            <a:r>
              <a:rPr kumimoji="0" lang="en-US" altLang="zh-CN" sz="3200" b="1" i="1" u="none" strike="noStrike" kern="1200" cap="none" spc="0" normalizeH="0" noProof="0" dirty="0">
                <a:ln>
                  <a:noFill/>
                </a:ln>
                <a:solidFill>
                  <a:srgbClr val="006699"/>
                </a:solidFill>
                <a:effectLst/>
                <a:uLnTx/>
                <a:uFillTx/>
                <a:latin typeface="Verdana" panose="020B0604030504040204" pitchFamily="34" charset="0"/>
                <a:ea typeface="宋体" panose="02010600030101010101" pitchFamily="2" charset="-122"/>
                <a:cs typeface="+mn-cs"/>
              </a:rPr>
              <a:t>W</a:t>
            </a:r>
            <a:r>
              <a:rPr kumimoji="0" lang="en-US" altLang="zh-CN" sz="3200" b="1" i="1" u="none" strike="noStrike" kern="1200" cap="none" spc="0" normalizeH="0" baseline="-25000" noProof="0" dirty="0">
                <a:ln>
                  <a:noFill/>
                </a:ln>
                <a:solidFill>
                  <a:srgbClr val="006699"/>
                </a:solidFill>
                <a:effectLst/>
                <a:uLnTx/>
                <a:uFillTx/>
                <a:latin typeface="Verdana" panose="020B0604030504040204" pitchFamily="34" charset="0"/>
                <a:ea typeface="宋体" panose="02010600030101010101" pitchFamily="2" charset="-122"/>
                <a:cs typeface="+mn-cs"/>
              </a:rPr>
              <a:t>i</a:t>
            </a:r>
            <a:r>
              <a:rPr kumimoji="0" lang="en-US" altLang="zh-CN" sz="3200" u="none" strike="noStrike" kern="1200" cap="none" spc="0" normalizeH="0" noProof="0" dirty="0">
                <a:ln>
                  <a:noFill/>
                </a:ln>
                <a:solidFill>
                  <a:srgbClr val="006699"/>
                </a:solidFill>
                <a:effectLst/>
                <a:uLnTx/>
                <a:uFillTx/>
                <a:latin typeface="Verdana" panose="020B0604030504040204" pitchFamily="34" charset="0"/>
                <a:ea typeface="宋体" panose="02010600030101010101" pitchFamily="2" charset="-122"/>
                <a:cs typeface="+mn-cs"/>
              </a:rPr>
              <a:t>&lt;</a:t>
            </a:r>
            <a:r>
              <a:rPr kumimoji="0" lang="en-US" altLang="zh-CN" sz="3200" b="1" i="1" u="none" strike="noStrike" kern="1200" cap="none" spc="0" normalizeH="0" noProof="0" dirty="0">
                <a:ln>
                  <a:noFill/>
                </a:ln>
                <a:solidFill>
                  <a:srgbClr val="006699"/>
                </a:solidFill>
                <a:effectLst/>
                <a:uLnTx/>
                <a:uFillTx/>
                <a:latin typeface="Verdana" panose="020B0604030504040204" pitchFamily="34" charset="0"/>
                <a:ea typeface="宋体" panose="02010600030101010101" pitchFamily="2" charset="-122"/>
                <a:cs typeface="+mn-cs"/>
              </a:rPr>
              <a:t>C</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时仅以</a:t>
            </a:r>
            <a:r>
              <a:rPr kumimoji="0" lang="en-US" altLang="zh-CN" sz="3200" b="1" i="1" u="none" strike="noStrike" kern="1200" cap="none" spc="0" normalizeH="0" noProof="0" dirty="0">
                <a:ln>
                  <a:noFill/>
                </a:ln>
                <a:solidFill>
                  <a:srgbClr val="006699"/>
                </a:solidFill>
                <a:effectLst/>
                <a:uLnTx/>
                <a:uFillTx/>
                <a:latin typeface="Verdana" panose="020B0604030504040204" pitchFamily="34" charset="0"/>
                <a:ea typeface="宋体" panose="02010600030101010101" pitchFamily="2" charset="-122"/>
                <a:cs typeface="+mn-cs"/>
              </a:rPr>
              <a:t>W</a:t>
            </a:r>
            <a:r>
              <a:rPr kumimoji="0" lang="en-US" altLang="zh-CN" sz="3200" b="1" i="1" u="none" strike="noStrike" kern="1200" cap="none" spc="0" normalizeH="0" baseline="-25000" noProof="0" dirty="0">
                <a:ln>
                  <a:noFill/>
                </a:ln>
                <a:solidFill>
                  <a:srgbClr val="006699"/>
                </a:solidFill>
                <a:effectLst/>
                <a:uLnTx/>
                <a:uFillTx/>
                <a:latin typeface="Verdana" panose="020B0604030504040204" pitchFamily="34" charset="0"/>
                <a:ea typeface="宋体" panose="02010600030101010101" pitchFamily="2" charset="-122"/>
                <a:cs typeface="+mn-cs"/>
              </a:rPr>
              <a:t>i</a:t>
            </a:r>
            <a:r>
              <a:rPr kumimoji="0" lang="en-US" altLang="zh-CN" sz="3200" u="none" strike="noStrike" kern="1200" cap="none" spc="0" normalizeH="0" noProof="0" dirty="0">
                <a:ln>
                  <a:noFill/>
                </a:ln>
                <a:solidFill>
                  <a:srgbClr val="006699"/>
                </a:solidFill>
                <a:effectLst/>
                <a:uLnTx/>
                <a:uFillTx/>
                <a:latin typeface="Verdana" panose="020B0604030504040204" pitchFamily="34" charset="0"/>
                <a:ea typeface="宋体" panose="02010600030101010101" pitchFamily="2" charset="-122"/>
                <a:cs typeface="+mn-cs"/>
              </a:rPr>
              <a:t>/</a:t>
            </a:r>
            <a:r>
              <a:rPr kumimoji="0" lang="en-US" altLang="zh-CN" sz="3200" b="1" i="1" u="none" strike="noStrike" kern="1200" cap="none" spc="0" normalizeH="0" noProof="0" dirty="0">
                <a:ln>
                  <a:noFill/>
                </a:ln>
                <a:solidFill>
                  <a:srgbClr val="006699"/>
                </a:solidFill>
                <a:effectLst/>
                <a:uLnTx/>
                <a:uFillTx/>
                <a:latin typeface="Verdana" panose="020B0604030504040204" pitchFamily="34" charset="0"/>
                <a:ea typeface="宋体" panose="02010600030101010101" pitchFamily="2" charset="-122"/>
                <a:cs typeface="+mn-cs"/>
              </a:rPr>
              <a:t>C</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的概率接受此抽样点，并调整权重为</a:t>
            </a:r>
            <a:r>
              <a:rPr kumimoji="0" lang="en-US" altLang="zh-CN" sz="3200" b="1"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P</a:t>
            </a:r>
            <a:r>
              <a:rPr kumimoji="0" lang="en-US" altLang="zh-CN" sz="3200" b="1" i="1" u="none" strike="noStrike" kern="1200" cap="none" spc="0" normalizeH="0" baseline="-25000" noProof="0" dirty="0">
                <a:ln>
                  <a:noFill/>
                </a:ln>
                <a:solidFill>
                  <a:srgbClr val="006699"/>
                </a:solidFill>
                <a:effectLst/>
                <a:uLnTx/>
                <a:uFillTx/>
                <a:latin typeface="Verdana" panose="020B0604030504040204" pitchFamily="34" charset="0"/>
                <a:ea typeface="宋体" panose="02010600030101010101" pitchFamily="2" charset="-122"/>
                <a:cs typeface="+mn-cs"/>
              </a:rPr>
              <a:t>C</a:t>
            </a:r>
            <a:r>
              <a:rPr kumimoji="0" lang="en-US" altLang="zh-CN" sz="3200" b="1"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C</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 </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zh-CN" sz="3200" dirty="0">
              <a:solidFill>
                <a:srgbClr val="006699"/>
              </a:solidFill>
              <a:latin typeface="Verdana" panose="020B060403050404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如果没有被接受则重新从</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g(</a:t>
            </a:r>
            <a:r>
              <a:rPr lang="en-US" altLang="zh-CN" sz="3200" dirty="0">
                <a:solidFill>
                  <a:srgbClr val="006699"/>
                </a:solidFill>
                <a:latin typeface="Verdana" panose="020B0604030504040204" pitchFamily="34" charset="0"/>
              </a:rPr>
              <a:t>.</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中抽取</a:t>
            </a:r>
            <a:endParaRPr kumimoji="0" lang="en-US" altLang="zh-CN"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0B5998F-5FAB-417E-B2BD-DF5EE45ED540}"/>
                  </a:ext>
                </a:extLst>
              </p:cNvPr>
              <p:cNvSpPr txBox="1"/>
              <p:nvPr/>
            </p:nvSpPr>
            <p:spPr>
              <a:xfrm>
                <a:off x="2210859" y="2135051"/>
                <a:ext cx="4690532" cy="46192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CN" altLang="en-US" sz="2400" i="1" smtClean="0">
                              <a:solidFill>
                                <a:srgbClr val="836967"/>
                              </a:solidFill>
                              <a:latin typeface="Cambria Math" panose="02040503050406030204" pitchFamily="18" charset="0"/>
                            </a:rPr>
                          </m:ctrlPr>
                        </m:sSubSupPr>
                        <m:e>
                          <m:r>
                            <a:rPr lang="zh-CN" altLang="en-US" sz="2400" i="1">
                              <a:latin typeface="Cambria Math" panose="02040503050406030204" pitchFamily="18" charset="0"/>
                            </a:rPr>
                            <m:t>𝑊</m:t>
                          </m:r>
                        </m:e>
                        <m:sub>
                          <m:r>
                            <a:rPr lang="zh-CN" altLang="en-US" sz="2400" i="1">
                              <a:latin typeface="Cambria Math" panose="02040503050406030204" pitchFamily="18" charset="0"/>
                            </a:rPr>
                            <m:t>𝑖</m:t>
                          </m:r>
                        </m:sub>
                        <m:sup>
                          <m:r>
                            <a:rPr lang="zh-CN" altLang="en-US" sz="2400" i="0">
                              <a:latin typeface="Cambria Math" panose="02040503050406030204" pitchFamily="18" charset="0"/>
                            </a:rPr>
                            <m:t>∗</m:t>
                          </m:r>
                        </m:sup>
                      </m:sSubSup>
                      <m:r>
                        <a:rPr lang="zh-CN" altLang="en-US" sz="2400" i="0">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1">
                              <a:latin typeface="Cambria Math" panose="02040503050406030204" pitchFamily="18" charset="0"/>
                            </a:rPr>
                            <m:t>𝑐</m:t>
                          </m:r>
                        </m:sub>
                      </m:sSub>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𝑊</m:t>
                          </m:r>
                        </m:e>
                        <m:sub>
                          <m:r>
                            <a:rPr lang="zh-CN" altLang="en-US" sz="2400" i="1">
                              <a:latin typeface="Cambria Math" panose="02040503050406030204" pitchFamily="18" charset="0"/>
                            </a:rPr>
                            <m:t>𝑖</m:t>
                          </m:r>
                        </m:sub>
                      </m:sSub>
                    </m:oMath>
                  </m:oMathPara>
                </a14:m>
                <a:endParaRPr lang="zh-CN" altLang="en-US" dirty="0"/>
              </a:p>
            </p:txBody>
          </p:sp>
        </mc:Choice>
        <mc:Fallback xmlns="">
          <p:sp>
            <p:nvSpPr>
              <p:cNvPr id="8" name="文本框 7">
                <a:extLst>
                  <a:ext uri="{FF2B5EF4-FFF2-40B4-BE49-F238E27FC236}">
                    <a16:creationId xmlns:a16="http://schemas.microsoft.com/office/drawing/2014/main" id="{E0B5998F-5FAB-417E-B2BD-DF5EE45ED540}"/>
                  </a:ext>
                </a:extLst>
              </p:cNvPr>
              <p:cNvSpPr txBox="1">
                <a:spLocks noRot="1" noChangeAspect="1" noMove="1" noResize="1" noEditPoints="1" noAdjustHandles="1" noChangeArrowheads="1" noChangeShapeType="1" noTextEdit="1"/>
              </p:cNvSpPr>
              <p:nvPr/>
            </p:nvSpPr>
            <p:spPr>
              <a:xfrm>
                <a:off x="2210859" y="2135051"/>
                <a:ext cx="4690532" cy="461921"/>
              </a:xfrm>
              <a:prstGeom prst="rect">
                <a:avLst/>
              </a:prstGeom>
              <a:blipFill>
                <a:blip r:embed="rId2"/>
                <a:stretch>
                  <a:fillRect b="-11842"/>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41122030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3.3.2 </a:t>
            </a:r>
            <a:r>
              <a:rPr lang="zh-CN" altLang="en-US" sz="3600" b="0" dirty="0">
                <a:latin typeface="+mn-lt"/>
                <a:ea typeface="+mn-ea"/>
              </a:rPr>
              <a:t>带有舍选控制的重要抽样法</a:t>
            </a:r>
            <a:endParaRPr lang="zh-CN" altLang="en-US" dirty="0"/>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71</a:t>
            </a:fld>
            <a:endParaRPr lang="zh-CN" altLang="en-US">
              <a:solidFill>
                <a:srgbClr val="898989"/>
              </a:solidFill>
            </a:endParaRPr>
          </a:p>
        </p:txBody>
      </p:sp>
      <p:pic>
        <p:nvPicPr>
          <p:cNvPr id="3" name="图片 2">
            <a:extLst>
              <a:ext uri="{FF2B5EF4-FFF2-40B4-BE49-F238E27FC236}">
                <a16:creationId xmlns:a16="http://schemas.microsoft.com/office/drawing/2014/main" id="{980E919B-5009-4BC0-9562-3FFD205695C5}"/>
              </a:ext>
            </a:extLst>
          </p:cNvPr>
          <p:cNvPicPr>
            <a:picLocks noChangeAspect="1"/>
          </p:cNvPicPr>
          <p:nvPr/>
        </p:nvPicPr>
        <p:blipFill>
          <a:blip r:embed="rId2"/>
          <a:stretch>
            <a:fillRect/>
          </a:stretch>
        </p:blipFill>
        <p:spPr>
          <a:xfrm>
            <a:off x="2813349" y="918130"/>
            <a:ext cx="2571152" cy="5796995"/>
          </a:xfrm>
          <a:prstGeom prst="rect">
            <a:avLst/>
          </a:prstGeom>
        </p:spPr>
      </p:pic>
    </p:spTree>
    <p:extLst>
      <p:ext uri="{BB962C8B-B14F-4D97-AF65-F5344CB8AC3E}">
        <p14:creationId xmlns:p14="http://schemas.microsoft.com/office/powerpoint/2010/main" val="27614210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12.1</a:t>
            </a:r>
            <a:endParaRPr lang="zh-CN" altLang="en-US" dirty="0"/>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72</a:t>
            </a:fld>
            <a:endParaRPr lang="zh-CN" altLang="en-US">
              <a:solidFill>
                <a:srgbClr val="898989"/>
              </a:solidFill>
            </a:endParaRPr>
          </a:p>
        </p:txBody>
      </p:sp>
      <p:sp>
        <p:nvSpPr>
          <p:cNvPr id="22" name="文本框 21">
            <a:extLst>
              <a:ext uri="{FF2B5EF4-FFF2-40B4-BE49-F238E27FC236}">
                <a16:creationId xmlns:a16="http://schemas.microsoft.com/office/drawing/2014/main" id="{F7749C0C-2C28-4154-A549-96756BD3E3E8}"/>
              </a:ext>
            </a:extLst>
          </p:cNvPr>
          <p:cNvSpPr txBox="1"/>
          <p:nvPr/>
        </p:nvSpPr>
        <p:spPr>
          <a:xfrm>
            <a:off x="-15875" y="1088740"/>
            <a:ext cx="9144000" cy="584775"/>
          </a:xfrm>
          <a:prstGeom prst="rect">
            <a:avLst/>
          </a:prstGeom>
          <a:noFill/>
          <a:ln w="25400">
            <a:noFill/>
          </a:ln>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用</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MC</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积分法计算 </a:t>
            </a:r>
            <a:endParaRPr kumimoji="0" lang="en-US" altLang="zh-CN"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4748E6C-0AEB-4C66-A042-89DC5BAC08C1}"/>
                  </a:ext>
                </a:extLst>
              </p:cNvPr>
              <p:cNvSpPr txBox="1"/>
              <p:nvPr/>
            </p:nvSpPr>
            <p:spPr>
              <a:xfrm>
                <a:off x="1900998" y="1683337"/>
                <a:ext cx="5310253" cy="1198533"/>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𝐼</m:t>
                      </m:r>
                      <m:r>
                        <a:rPr lang="zh-CN" altLang="en-US" sz="3200" i="0">
                          <a:latin typeface="Cambria Math" panose="02040503050406030204" pitchFamily="18" charset="0"/>
                        </a:rPr>
                        <m:t>=</m:t>
                      </m:r>
                      <m:nary>
                        <m:naryPr>
                          <m:limLoc m:val="subSup"/>
                          <m:grow m:val="on"/>
                          <m:ctrlPr>
                            <a:rPr lang="zh-CN" altLang="en-US" sz="3200" i="1">
                              <a:latin typeface="Cambria Math" panose="02040503050406030204" pitchFamily="18" charset="0"/>
                            </a:rPr>
                          </m:ctrlPr>
                        </m:naryPr>
                        <m:sub>
                          <m:r>
                            <a:rPr lang="zh-CN" altLang="en-US" sz="3200" i="0">
                              <a:latin typeface="Cambria Math" panose="02040503050406030204" pitchFamily="18" charset="0"/>
                            </a:rPr>
                            <m:t>0</m:t>
                          </m:r>
                        </m:sub>
                        <m:sup>
                          <m:r>
                            <a:rPr lang="zh-CN" altLang="en-US" sz="3200" i="0">
                              <a:latin typeface="Cambria Math" panose="02040503050406030204" pitchFamily="18" charset="0"/>
                            </a:rPr>
                            <m:t>1</m:t>
                          </m:r>
                        </m:sup>
                        <m:e>
                          <m:sSup>
                            <m:sSupPr>
                              <m:ctrlPr>
                                <a:rPr lang="zh-CN" altLang="en-US" sz="3200" i="1">
                                  <a:solidFill>
                                    <a:srgbClr val="836967"/>
                                  </a:solidFill>
                                  <a:latin typeface="Cambria Math" panose="02040503050406030204" pitchFamily="18" charset="0"/>
                                </a:rPr>
                              </m:ctrlPr>
                            </m:sSupPr>
                            <m:e>
                              <m:r>
                                <a:rPr lang="zh-CN" altLang="en-US" sz="3200" i="1">
                                  <a:latin typeface="Cambria Math" panose="02040503050406030204" pitchFamily="18" charset="0"/>
                                </a:rPr>
                                <m:t>𝑒</m:t>
                              </m:r>
                            </m:e>
                            <m:sup>
                              <m:r>
                                <a:rPr lang="zh-CN" altLang="en-US" sz="3200" i="1">
                                  <a:latin typeface="Cambria Math" panose="02040503050406030204" pitchFamily="18" charset="0"/>
                                </a:rPr>
                                <m:t>𝑥</m:t>
                              </m:r>
                            </m:sup>
                          </m:sSup>
                        </m:e>
                      </m:nary>
                      <m:r>
                        <a:rPr lang="zh-CN" altLang="en-US" sz="3200" i="1">
                          <a:latin typeface="Cambria Math" panose="02040503050406030204" pitchFamily="18" charset="0"/>
                        </a:rPr>
                        <m:t>𝑑𝑥</m:t>
                      </m:r>
                      <m:r>
                        <a:rPr lang="zh-CN" altLang="en-US" sz="3200" i="0">
                          <a:latin typeface="Cambria Math" panose="02040503050406030204" pitchFamily="18" charset="0"/>
                        </a:rPr>
                        <m:t>=</m:t>
                      </m:r>
                      <m:r>
                        <a:rPr lang="zh-CN" altLang="en-US" sz="3200" i="1">
                          <a:latin typeface="Cambria Math" panose="02040503050406030204" pitchFamily="18" charset="0"/>
                        </a:rPr>
                        <m:t>𝑒</m:t>
                      </m:r>
                      <m:r>
                        <a:rPr lang="zh-CN" altLang="en-US" sz="3200" i="0">
                          <a:latin typeface="Cambria Math" panose="02040503050406030204" pitchFamily="18" charset="0"/>
                        </a:rPr>
                        <m:t>−1≈1.718</m:t>
                      </m:r>
                    </m:oMath>
                  </m:oMathPara>
                </a14:m>
                <a:endParaRPr lang="zh-CN" altLang="en-US" dirty="0"/>
              </a:p>
            </p:txBody>
          </p:sp>
        </mc:Choice>
        <mc:Fallback xmlns="">
          <p:sp>
            <p:nvSpPr>
              <p:cNvPr id="7" name="文本框 6">
                <a:extLst>
                  <a:ext uri="{FF2B5EF4-FFF2-40B4-BE49-F238E27FC236}">
                    <a16:creationId xmlns:a16="http://schemas.microsoft.com/office/drawing/2014/main" id="{C4748E6C-0AEB-4C66-A042-89DC5BAC08C1}"/>
                  </a:ext>
                </a:extLst>
              </p:cNvPr>
              <p:cNvSpPr txBox="1">
                <a:spLocks noRot="1" noChangeAspect="1" noMove="1" noResize="1" noEditPoints="1" noAdjustHandles="1" noChangeArrowheads="1" noChangeShapeType="1" noTextEdit="1"/>
              </p:cNvSpPr>
              <p:nvPr/>
            </p:nvSpPr>
            <p:spPr>
              <a:xfrm>
                <a:off x="1900998" y="1683337"/>
                <a:ext cx="5310253" cy="1198533"/>
              </a:xfrm>
              <a:prstGeom prst="rect">
                <a:avLst/>
              </a:prstGeom>
              <a:blipFill>
                <a:blip r:embed="rId2"/>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0309721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12.1</a:t>
            </a:r>
            <a:endParaRPr lang="zh-CN" altLang="en-US" dirty="0"/>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73</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B3A5CBA-1872-3B81-C2C5-885FDF443E45}"/>
                  </a:ext>
                </a:extLst>
              </p:cNvPr>
              <p:cNvSpPr txBox="1"/>
              <p:nvPr/>
            </p:nvSpPr>
            <p:spPr>
              <a:xfrm>
                <a:off x="-15875" y="908720"/>
                <a:ext cx="9144000" cy="4913653"/>
              </a:xfrm>
              <a:prstGeom prst="rect">
                <a:avLst/>
              </a:prstGeom>
              <a:noFill/>
              <a:ln w="25400">
                <a:noFill/>
              </a:ln>
            </p:spPr>
            <p:txBody>
              <a:bodyPr wrap="square">
                <a:spAutoFit/>
              </a:bodyPr>
              <a:lstStyle/>
              <a:p>
                <a:pPr>
                  <a:spcBef>
                    <a:spcPts val="900"/>
                  </a:spcBef>
                  <a:spcAft>
                    <a:spcPts val="900"/>
                  </a:spcAft>
                </a:pPr>
                <a:r>
                  <a:rPr lang="en-US" altLang="zh-CN" sz="3200" b="1" dirty="0">
                    <a:solidFill>
                      <a:srgbClr val="FF0000"/>
                    </a:solidFill>
                    <a:latin typeface="Verdana" panose="020B0604030504040204" pitchFamily="34" charset="0"/>
                  </a:rPr>
                  <a:t>解</a:t>
                </a:r>
                <a:r>
                  <a:rPr lang="en-US" altLang="zh-CN" sz="3200" b="1" dirty="0" err="1">
                    <a:solidFill>
                      <a:srgbClr val="FF0000"/>
                    </a:solidFill>
                    <a:latin typeface="Verdana" panose="020B0604030504040204" pitchFamily="34" charset="0"/>
                  </a:rPr>
                  <a:t>：</a:t>
                </a:r>
                <a:r>
                  <a:rPr lang="en-US" altLang="zh-CN" sz="3200" dirty="0" err="1">
                    <a:solidFill>
                      <a:srgbClr val="006699"/>
                    </a:solidFill>
                    <a:latin typeface="Verdana" panose="020B0604030504040204" pitchFamily="34" charset="0"/>
                  </a:rPr>
                  <a:t>对被积函数</a:t>
                </a:r>
                <a14:m>
                  <m:oMath xmlns:m="http://schemas.openxmlformats.org/officeDocument/2006/math">
                    <m:r>
                      <a:rPr lang="en-US" altLang="zh-CN" sz="3200">
                        <a:solidFill>
                          <a:srgbClr val="006699"/>
                        </a:solidFill>
                        <a:latin typeface="Cambria Math" panose="02040503050406030204" pitchFamily="18" charset="0"/>
                      </a:rPr>
                      <m:t>h</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𝑥</m:t>
                        </m:r>
                      </m:e>
                    </m:d>
                    <m:r>
                      <a:rPr lang="en-US" altLang="zh-CN" sz="3200">
                        <a:solidFill>
                          <a:srgbClr val="006699"/>
                        </a:solidFill>
                        <a:latin typeface="Cambria Math" panose="02040503050406030204" pitchFamily="18" charset="0"/>
                      </a:rPr>
                      <m:t>=</m:t>
                    </m:r>
                    <m:sSup>
                      <m:sSupPr>
                        <m:ctrlPr>
                          <a:rPr lang="zh-CN" altLang="zh-CN" sz="3200" i="1">
                            <a:solidFill>
                              <a:srgbClr val="006699"/>
                            </a:solidFill>
                            <a:latin typeface="Cambria Math" panose="02040503050406030204" pitchFamily="18" charset="0"/>
                          </a:rPr>
                        </m:ctrlPr>
                      </m:sSupPr>
                      <m:e>
                        <m:r>
                          <a:rPr lang="en-US" altLang="zh-CN" sz="3200">
                            <a:solidFill>
                              <a:srgbClr val="006699"/>
                            </a:solidFill>
                            <a:latin typeface="Cambria Math" panose="02040503050406030204" pitchFamily="18" charset="0"/>
                          </a:rPr>
                          <m:t>𝑒</m:t>
                        </m:r>
                      </m:e>
                      <m:sup>
                        <m:r>
                          <a:rPr lang="en-US" altLang="zh-CN" sz="3200">
                            <a:solidFill>
                              <a:srgbClr val="006699"/>
                            </a:solidFill>
                            <a:latin typeface="Cambria Math" panose="02040503050406030204" pitchFamily="18" charset="0"/>
                          </a:rPr>
                          <m:t>𝑥</m:t>
                        </m:r>
                      </m:sup>
                    </m:sSup>
                  </m:oMath>
                </a14:m>
                <a:r>
                  <a:rPr lang="en-US" altLang="zh-CN" sz="3200" dirty="0" err="1">
                    <a:solidFill>
                      <a:srgbClr val="006699"/>
                    </a:solidFill>
                    <a:latin typeface="Verdana" panose="020B0604030504040204" pitchFamily="34" charset="0"/>
                  </a:rPr>
                  <a:t>做泰勒展开得</a:t>
                </a:r>
                <a:endParaRPr lang="zh-CN" altLang="zh-CN" sz="3200" dirty="0">
                  <a:solidFill>
                    <a:srgbClr val="006699"/>
                  </a:solidFill>
                  <a:latin typeface="Verdana" panose="020B0604030504040204" pitchFamily="34"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zh-CN" sz="3200" i="1">
                              <a:solidFill>
                                <a:srgbClr val="006699"/>
                              </a:solidFill>
                              <a:latin typeface="Cambria Math" panose="02040503050406030204" pitchFamily="18" charset="0"/>
                            </a:rPr>
                          </m:ctrlPr>
                        </m:mPr>
                        <m:mr>
                          <m:e>
                            <m:sSup>
                              <m:sSupPr>
                                <m:ctrlPr>
                                  <a:rPr lang="zh-CN" altLang="zh-CN" sz="3200" i="1">
                                    <a:solidFill>
                                      <a:srgbClr val="006699"/>
                                    </a:solidFill>
                                    <a:latin typeface="Cambria Math" panose="02040503050406030204" pitchFamily="18" charset="0"/>
                                  </a:rPr>
                                </m:ctrlPr>
                              </m:sSupPr>
                              <m:e>
                                <m:r>
                                  <a:rPr lang="en-US" altLang="zh-CN" sz="3200">
                                    <a:solidFill>
                                      <a:srgbClr val="006699"/>
                                    </a:solidFill>
                                    <a:latin typeface="Cambria Math" panose="02040503050406030204" pitchFamily="18" charset="0"/>
                                  </a:rPr>
                                  <m:t>𝑒</m:t>
                                </m:r>
                              </m:e>
                              <m:sup>
                                <m:r>
                                  <a:rPr lang="en-US" altLang="zh-CN" sz="3200">
                                    <a:solidFill>
                                      <a:srgbClr val="006699"/>
                                    </a:solidFill>
                                    <a:latin typeface="Cambria Math" panose="02040503050406030204" pitchFamily="18" charset="0"/>
                                  </a:rPr>
                                  <m:t>𝑥</m:t>
                                </m:r>
                              </m:sup>
                            </m:sSup>
                            <m:r>
                              <a:rPr lang="en-US" altLang="zh-CN" sz="3200">
                                <a:solidFill>
                                  <a:srgbClr val="006699"/>
                                </a:solidFill>
                                <a:latin typeface="Cambria Math" panose="02040503050406030204" pitchFamily="18" charset="0"/>
                              </a:rPr>
                              <m:t>=1+</m:t>
                            </m:r>
                            <m:r>
                              <a:rPr lang="en-US" altLang="zh-CN" sz="3200">
                                <a:solidFill>
                                  <a:srgbClr val="006699"/>
                                </a:solidFill>
                                <a:latin typeface="Cambria Math" panose="02040503050406030204" pitchFamily="18" charset="0"/>
                              </a:rPr>
                              <m:t>𝑥</m:t>
                            </m:r>
                            <m:r>
                              <a:rPr lang="en-US" altLang="zh-CN" sz="3200">
                                <a:solidFill>
                                  <a:srgbClr val="006699"/>
                                </a:solidFill>
                                <a:latin typeface="Cambria Math" panose="02040503050406030204" pitchFamily="18" charset="0"/>
                              </a:rPr>
                              <m:t>+</m:t>
                            </m:r>
                            <m:f>
                              <m:fPr>
                                <m:ctrlPr>
                                  <a:rPr lang="zh-CN" altLang="zh-CN" sz="3200" i="1">
                                    <a:solidFill>
                                      <a:srgbClr val="006699"/>
                                    </a:solidFill>
                                    <a:latin typeface="Cambria Math" panose="02040503050406030204" pitchFamily="18" charset="0"/>
                                  </a:rPr>
                                </m:ctrlPr>
                              </m:fPr>
                              <m:num>
                                <m:sSup>
                                  <m:sSupPr>
                                    <m:ctrlPr>
                                      <a:rPr lang="zh-CN" altLang="zh-CN" sz="3200" i="1">
                                        <a:solidFill>
                                          <a:srgbClr val="006699"/>
                                        </a:solidFill>
                                        <a:latin typeface="Cambria Math" panose="02040503050406030204" pitchFamily="18" charset="0"/>
                                      </a:rPr>
                                    </m:ctrlPr>
                                  </m:sSupPr>
                                  <m:e>
                                    <m:r>
                                      <a:rPr lang="en-US" altLang="zh-CN" sz="3200">
                                        <a:solidFill>
                                          <a:srgbClr val="006699"/>
                                        </a:solidFill>
                                        <a:latin typeface="Cambria Math" panose="02040503050406030204" pitchFamily="18" charset="0"/>
                                      </a:rPr>
                                      <m:t>𝑥</m:t>
                                    </m:r>
                                  </m:e>
                                  <m:sup>
                                    <m:r>
                                      <a:rPr lang="en-US" altLang="zh-CN" sz="3200">
                                        <a:solidFill>
                                          <a:srgbClr val="006699"/>
                                        </a:solidFill>
                                        <a:latin typeface="Cambria Math" panose="02040503050406030204" pitchFamily="18" charset="0"/>
                                      </a:rPr>
                                      <m:t>2</m:t>
                                    </m:r>
                                  </m:sup>
                                </m:sSup>
                              </m:num>
                              <m:den>
                                <m:r>
                                  <a:rPr lang="en-US" altLang="zh-CN" sz="3200">
                                    <a:solidFill>
                                      <a:srgbClr val="006699"/>
                                    </a:solidFill>
                                    <a:latin typeface="Cambria Math" panose="02040503050406030204" pitchFamily="18" charset="0"/>
                                  </a:rPr>
                                  <m:t>2!</m:t>
                                </m:r>
                              </m:den>
                            </m:f>
                            <m:r>
                              <a:rPr lang="en-US" altLang="zh-CN" sz="3200">
                                <a:solidFill>
                                  <a:srgbClr val="006699"/>
                                </a:solidFill>
                                <a:latin typeface="Cambria Math" panose="02040503050406030204" pitchFamily="18" charset="0"/>
                              </a:rPr>
                              <m:t>+⋯</m:t>
                            </m:r>
                          </m:e>
                        </m:mr>
                      </m:m>
                    </m:oMath>
                  </m:oMathPara>
                </a14:m>
                <a:endParaRPr lang="zh-CN" altLang="zh-CN" sz="3200" dirty="0">
                  <a:solidFill>
                    <a:srgbClr val="006699"/>
                  </a:solidFill>
                  <a:latin typeface="Verdana" panose="020B0604030504040204" pitchFamily="34" charset="0"/>
                </a:endParaRPr>
              </a:p>
              <a:p>
                <a:pPr>
                  <a:spcBef>
                    <a:spcPts val="900"/>
                  </a:spcBef>
                  <a:spcAft>
                    <a:spcPts val="900"/>
                  </a:spcAft>
                </a:pPr>
                <a:r>
                  <a:rPr lang="en-US" altLang="zh-CN" sz="3200" dirty="0">
                    <a:solidFill>
                      <a:srgbClr val="006699"/>
                    </a:solidFill>
                    <a:latin typeface="Verdana" panose="020B0604030504040204" pitchFamily="34" charset="0"/>
                  </a:rPr>
                  <a:t>取</a:t>
                </a:r>
                <a14:m>
                  <m:oMath xmlns:m="http://schemas.openxmlformats.org/officeDocument/2006/math">
                    <m:r>
                      <a:rPr lang="en-US" altLang="zh-CN" sz="3200" b="0" i="0" smtClean="0">
                        <a:solidFill>
                          <a:srgbClr val="006699"/>
                        </a:solidFill>
                        <a:latin typeface="Cambria Math" panose="02040503050406030204" pitchFamily="18" charset="0"/>
                      </a:rPr>
                      <m:t> </m:t>
                    </m:r>
                    <m:m>
                      <m:mPr>
                        <m:plcHide m:val="on"/>
                        <m:mcs>
                          <m:mc>
                            <m:mcPr>
                              <m:count m:val="1"/>
                              <m:mcJc m:val="center"/>
                            </m:mcPr>
                          </m:mc>
                        </m:mcs>
                        <m:ctrlPr>
                          <a:rPr lang="zh-CN" altLang="zh-CN" sz="3200" i="1">
                            <a:solidFill>
                              <a:srgbClr val="006699"/>
                            </a:solidFill>
                            <a:latin typeface="Cambria Math" panose="02040503050406030204" pitchFamily="18" charset="0"/>
                          </a:rPr>
                        </m:ctrlPr>
                      </m:mPr>
                      <m:mr>
                        <m:e>
                          <m:r>
                            <a:rPr lang="en-US" altLang="zh-CN" sz="3200">
                              <a:solidFill>
                                <a:srgbClr val="006699"/>
                              </a:solidFill>
                              <a:latin typeface="Cambria Math" panose="02040503050406030204" pitchFamily="18" charset="0"/>
                            </a:rPr>
                            <m:t>𝑔</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𝑥</m:t>
                              </m:r>
                            </m:e>
                          </m:d>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𝑐</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1+</m:t>
                              </m:r>
                              <m:r>
                                <a:rPr lang="en-US" altLang="zh-CN" sz="3200">
                                  <a:solidFill>
                                    <a:srgbClr val="006699"/>
                                  </a:solidFill>
                                  <a:latin typeface="Cambria Math" panose="02040503050406030204" pitchFamily="18" charset="0"/>
                                </a:rPr>
                                <m:t>𝑥</m:t>
                              </m:r>
                            </m:e>
                          </m:d>
                          <m:r>
                            <a:rPr lang="en-US" altLang="zh-CN" sz="3200">
                              <a:solidFill>
                                <a:srgbClr val="006699"/>
                              </a:solidFill>
                              <a:latin typeface="Cambria Math" panose="02040503050406030204" pitchFamily="18" charset="0"/>
                            </a:rPr>
                            <m:t>=</m:t>
                          </m:r>
                          <m:f>
                            <m:fPr>
                              <m:ctrlPr>
                                <a:rPr lang="zh-CN" altLang="zh-CN" sz="3200" i="1">
                                  <a:solidFill>
                                    <a:srgbClr val="006699"/>
                                  </a:solidFill>
                                  <a:latin typeface="Cambria Math" panose="02040503050406030204" pitchFamily="18" charset="0"/>
                                </a:rPr>
                              </m:ctrlPr>
                            </m:fPr>
                            <m:num>
                              <m:r>
                                <a:rPr lang="en-US" altLang="zh-CN" sz="3200">
                                  <a:solidFill>
                                    <a:srgbClr val="006699"/>
                                  </a:solidFill>
                                  <a:latin typeface="Cambria Math" panose="02040503050406030204" pitchFamily="18" charset="0"/>
                                </a:rPr>
                                <m:t>2</m:t>
                              </m:r>
                            </m:num>
                            <m:den>
                              <m:r>
                                <a:rPr lang="en-US" altLang="zh-CN" sz="3200">
                                  <a:solidFill>
                                    <a:srgbClr val="006699"/>
                                  </a:solidFill>
                                  <a:latin typeface="Cambria Math" panose="02040503050406030204" pitchFamily="18" charset="0"/>
                                </a:rPr>
                                <m:t>3</m:t>
                              </m:r>
                            </m:den>
                          </m:f>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1+</m:t>
                              </m:r>
                              <m:r>
                                <a:rPr lang="en-US" altLang="zh-CN" sz="3200">
                                  <a:solidFill>
                                    <a:srgbClr val="006699"/>
                                  </a:solidFill>
                                  <a:latin typeface="Cambria Math" panose="02040503050406030204" pitchFamily="18" charset="0"/>
                                </a:rPr>
                                <m:t>𝑥</m:t>
                              </m:r>
                            </m:e>
                          </m:d>
                        </m:e>
                      </m:mr>
                    </m:m>
                  </m:oMath>
                </a14:m>
                <a:endParaRPr lang="zh-CN" altLang="zh-CN" sz="3200" dirty="0">
                  <a:solidFill>
                    <a:srgbClr val="006699"/>
                  </a:solidFill>
                  <a:latin typeface="Verdana" panose="020B0604030504040204" pitchFamily="34" charset="0"/>
                </a:endParaRPr>
              </a:p>
              <a:p>
                <a:pPr>
                  <a:spcBef>
                    <a:spcPts val="900"/>
                  </a:spcBef>
                  <a:spcAft>
                    <a:spcPts val="900"/>
                  </a:spcAft>
                </a:pPr>
                <a:r>
                  <a:rPr lang="en-US" altLang="zh-CN" sz="3200" dirty="0" err="1">
                    <a:solidFill>
                      <a:srgbClr val="006699"/>
                    </a:solidFill>
                    <a:latin typeface="Verdana" panose="020B0604030504040204" pitchFamily="34" charset="0"/>
                  </a:rPr>
                  <a:t>要产生</a:t>
                </a:r>
                <a14:m>
                  <m:oMath xmlns:m="http://schemas.openxmlformats.org/officeDocument/2006/math">
                    <m:r>
                      <a:rPr lang="en-US" altLang="zh-CN" sz="3200">
                        <a:solidFill>
                          <a:srgbClr val="006699"/>
                        </a:solidFill>
                        <a:latin typeface="Cambria Math" panose="02040503050406030204" pitchFamily="18" charset="0"/>
                      </a:rPr>
                      <m:t>𝑔</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𝑥</m:t>
                        </m:r>
                      </m:e>
                    </m:d>
                  </m:oMath>
                </a14:m>
                <a:r>
                  <a:rPr lang="en-US" altLang="zh-CN" sz="3200" dirty="0">
                    <a:solidFill>
                      <a:srgbClr val="006699"/>
                    </a:solidFill>
                    <a:latin typeface="Verdana" panose="020B0604030504040204" pitchFamily="34" charset="0"/>
                  </a:rPr>
                  <a:t>的随机数可以用逆变换法， </a:t>
                </a:r>
              </a:p>
              <a:p>
                <a:pPr>
                  <a:spcBef>
                    <a:spcPts val="900"/>
                  </a:spcBef>
                  <a:spcAft>
                    <a:spcPts val="900"/>
                  </a:spcAft>
                </a:pPr>
                <a:r>
                  <a:rPr lang="en-US" altLang="zh-CN" sz="3200" dirty="0" err="1">
                    <a:solidFill>
                      <a:srgbClr val="006699"/>
                    </a:solidFill>
                    <a:latin typeface="Verdana" panose="020B0604030504040204" pitchFamily="34" charset="0"/>
                  </a:rPr>
                  <a:t>密度</a:t>
                </a:r>
                <a14:m>
                  <m:oMath xmlns:m="http://schemas.openxmlformats.org/officeDocument/2006/math">
                    <m:r>
                      <a:rPr lang="en-US" altLang="zh-CN" sz="3200">
                        <a:solidFill>
                          <a:srgbClr val="006699"/>
                        </a:solidFill>
                        <a:latin typeface="Cambria Math" panose="02040503050406030204" pitchFamily="18" charset="0"/>
                      </a:rPr>
                      <m:t>𝑔</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𝑥</m:t>
                        </m:r>
                      </m:e>
                    </m:d>
                  </m:oMath>
                </a14:m>
                <a:r>
                  <a:rPr lang="en-US" altLang="zh-CN" sz="3200" dirty="0" err="1">
                    <a:solidFill>
                      <a:srgbClr val="006699"/>
                    </a:solidFill>
                    <a:latin typeface="Verdana" panose="020B0604030504040204" pitchFamily="34" charset="0"/>
                  </a:rPr>
                  <a:t>的分布函数</a:t>
                </a:r>
                <a14:m>
                  <m:oMath xmlns:m="http://schemas.openxmlformats.org/officeDocument/2006/math">
                    <m:r>
                      <a:rPr lang="en-US" altLang="zh-CN" sz="3200">
                        <a:solidFill>
                          <a:srgbClr val="006699"/>
                        </a:solidFill>
                        <a:latin typeface="Cambria Math" panose="02040503050406030204" pitchFamily="18" charset="0"/>
                      </a:rPr>
                      <m:t>𝐺</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𝑥</m:t>
                        </m:r>
                      </m:e>
                    </m:d>
                  </m:oMath>
                </a14:m>
                <a:r>
                  <a:rPr lang="en-US" altLang="zh-CN" sz="3200" dirty="0" err="1">
                    <a:solidFill>
                      <a:srgbClr val="006699"/>
                    </a:solidFill>
                    <a:latin typeface="Verdana" panose="020B0604030504040204" pitchFamily="34" charset="0"/>
                  </a:rPr>
                  <a:t>的反函数为</a:t>
                </a:r>
                <a:endParaRPr lang="zh-CN" altLang="zh-CN" sz="3200" dirty="0">
                  <a:solidFill>
                    <a:srgbClr val="006699"/>
                  </a:solidFill>
                  <a:latin typeface="Verdana" panose="020B0604030504040204" pitchFamily="34"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zh-CN" sz="3200" i="1">
                              <a:solidFill>
                                <a:srgbClr val="006699"/>
                              </a:solidFill>
                              <a:latin typeface="Cambria Math" panose="02040503050406030204" pitchFamily="18" charset="0"/>
                            </a:rPr>
                          </m:ctrlPr>
                        </m:mPr>
                        <m:mr>
                          <m:e>
                            <m:sSup>
                              <m:sSupPr>
                                <m:ctrlPr>
                                  <a:rPr lang="zh-CN" altLang="zh-CN" sz="3200" i="1">
                                    <a:solidFill>
                                      <a:srgbClr val="006699"/>
                                    </a:solidFill>
                                    <a:latin typeface="Cambria Math" panose="02040503050406030204" pitchFamily="18" charset="0"/>
                                  </a:rPr>
                                </m:ctrlPr>
                              </m:sSupPr>
                              <m:e>
                                <m:r>
                                  <a:rPr lang="en-US" altLang="zh-CN" sz="3200">
                                    <a:solidFill>
                                      <a:srgbClr val="006699"/>
                                    </a:solidFill>
                                    <a:latin typeface="Cambria Math" panose="02040503050406030204" pitchFamily="18" charset="0"/>
                                  </a:rPr>
                                  <m:t>𝐺</m:t>
                                </m:r>
                              </m:e>
                              <m:sup>
                                <m:r>
                                  <a:rPr lang="en-US" altLang="zh-CN" sz="3200">
                                    <a:solidFill>
                                      <a:srgbClr val="006699"/>
                                    </a:solidFill>
                                    <a:latin typeface="Cambria Math" panose="02040503050406030204" pitchFamily="18" charset="0"/>
                                  </a:rPr>
                                  <m:t>−1</m:t>
                                </m:r>
                              </m:sup>
                            </m:sSup>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𝑦</m:t>
                                </m:r>
                              </m:e>
                            </m:d>
                            <m:r>
                              <a:rPr lang="en-US" altLang="zh-CN" sz="3200">
                                <a:solidFill>
                                  <a:srgbClr val="006699"/>
                                </a:solidFill>
                                <a:latin typeface="Cambria Math" panose="02040503050406030204" pitchFamily="18" charset="0"/>
                              </a:rPr>
                              <m:t>=</m:t>
                            </m:r>
                            <m:rad>
                              <m:radPr>
                                <m:degHide m:val="on"/>
                                <m:ctrlPr>
                                  <a:rPr lang="zh-CN" altLang="zh-CN" sz="3200" i="1">
                                    <a:solidFill>
                                      <a:srgbClr val="006699"/>
                                    </a:solidFill>
                                    <a:latin typeface="Cambria Math" panose="02040503050406030204" pitchFamily="18" charset="0"/>
                                  </a:rPr>
                                </m:ctrlPr>
                              </m:radPr>
                              <m:deg/>
                              <m:e>
                                <m:r>
                                  <a:rPr lang="en-US" altLang="zh-CN" sz="3200">
                                    <a:solidFill>
                                      <a:srgbClr val="006699"/>
                                    </a:solidFill>
                                    <a:latin typeface="Cambria Math" panose="02040503050406030204" pitchFamily="18" charset="0"/>
                                  </a:rPr>
                                  <m:t>1+3</m:t>
                                </m:r>
                                <m:r>
                                  <a:rPr lang="en-US" altLang="zh-CN" sz="3200">
                                    <a:solidFill>
                                      <a:srgbClr val="006699"/>
                                    </a:solidFill>
                                    <a:latin typeface="Cambria Math" panose="02040503050406030204" pitchFamily="18" charset="0"/>
                                  </a:rPr>
                                  <m:t>𝑦</m:t>
                                </m:r>
                              </m:e>
                            </m:rad>
                            <m:r>
                              <a:rPr lang="en-US" altLang="zh-CN" sz="3200">
                                <a:solidFill>
                                  <a:srgbClr val="006699"/>
                                </a:solidFill>
                                <a:latin typeface="Cambria Math" panose="02040503050406030204" pitchFamily="18" charset="0"/>
                              </a:rPr>
                              <m:t>−1, 0&lt;</m:t>
                            </m:r>
                            <m:r>
                              <a:rPr lang="en-US" altLang="zh-CN" sz="3200">
                                <a:solidFill>
                                  <a:srgbClr val="006699"/>
                                </a:solidFill>
                                <a:latin typeface="Cambria Math" panose="02040503050406030204" pitchFamily="18" charset="0"/>
                              </a:rPr>
                              <m:t>𝑦</m:t>
                            </m:r>
                            <m:r>
                              <a:rPr lang="en-US" altLang="zh-CN" sz="3200">
                                <a:solidFill>
                                  <a:srgbClr val="006699"/>
                                </a:solidFill>
                                <a:latin typeface="Cambria Math" panose="02040503050406030204" pitchFamily="18" charset="0"/>
                              </a:rPr>
                              <m:t>&lt;1</m:t>
                            </m:r>
                          </m:e>
                        </m:mr>
                      </m:m>
                    </m:oMath>
                  </m:oMathPara>
                </a14:m>
                <a:endParaRPr lang="zh-CN" altLang="zh-CN" sz="3200" dirty="0">
                  <a:solidFill>
                    <a:srgbClr val="006699"/>
                  </a:solidFill>
                  <a:latin typeface="Verdana" panose="020B0604030504040204" pitchFamily="34" charset="0"/>
                </a:endParaRPr>
              </a:p>
            </p:txBody>
          </p:sp>
        </mc:Choice>
        <mc:Fallback xmlns="">
          <p:sp>
            <p:nvSpPr>
              <p:cNvPr id="4" name="文本框 3">
                <a:extLst>
                  <a:ext uri="{FF2B5EF4-FFF2-40B4-BE49-F238E27FC236}">
                    <a16:creationId xmlns:a16="http://schemas.microsoft.com/office/drawing/2014/main" id="{BB3A5CBA-1872-3B81-C2C5-885FDF443E45}"/>
                  </a:ext>
                </a:extLst>
              </p:cNvPr>
              <p:cNvSpPr txBox="1">
                <a:spLocks noRot="1" noChangeAspect="1" noMove="1" noResize="1" noEditPoints="1" noAdjustHandles="1" noChangeArrowheads="1" noChangeShapeType="1" noTextEdit="1"/>
              </p:cNvSpPr>
              <p:nvPr/>
            </p:nvSpPr>
            <p:spPr>
              <a:xfrm>
                <a:off x="-15875" y="908720"/>
                <a:ext cx="9144000" cy="4913653"/>
              </a:xfrm>
              <a:prstGeom prst="rect">
                <a:avLst/>
              </a:prstGeom>
              <a:blipFill>
                <a:blip r:embed="rId2"/>
                <a:stretch>
                  <a:fillRect l="-1667" t="-1985"/>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162344976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12.1</a:t>
            </a:r>
            <a:endParaRPr lang="zh-CN" altLang="en-US" dirty="0"/>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74</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FEEB08B-4F94-2E52-0223-58DF241ACD8D}"/>
                  </a:ext>
                </a:extLst>
              </p:cNvPr>
              <p:cNvSpPr txBox="1"/>
              <p:nvPr/>
            </p:nvSpPr>
            <p:spPr>
              <a:xfrm>
                <a:off x="71500" y="907010"/>
                <a:ext cx="8955995" cy="5548314"/>
              </a:xfrm>
              <a:prstGeom prst="rect">
                <a:avLst/>
              </a:prstGeom>
              <a:noFill/>
              <a:ln w="25400">
                <a:noFill/>
              </a:ln>
            </p:spPr>
            <p:txBody>
              <a:bodyPr wrap="square">
                <a:spAutoFit/>
              </a:bodyPr>
              <a:lstStyle/>
              <a:p>
                <a:pPr>
                  <a:spcBef>
                    <a:spcPts val="900"/>
                  </a:spcBef>
                  <a:spcAft>
                    <a:spcPts val="900"/>
                  </a:spcAft>
                </a:pPr>
                <a:r>
                  <a:rPr lang="en-US" altLang="zh-CN" sz="3200" dirty="0" err="1">
                    <a:solidFill>
                      <a:srgbClr val="006699"/>
                    </a:solidFill>
                    <a:latin typeface="Verdana" panose="020B0604030504040204" pitchFamily="34" charset="0"/>
                  </a:rPr>
                  <a:t>因此，取</a:t>
                </a:r>
                <a14:m>
                  <m:oMath xmlns:m="http://schemas.openxmlformats.org/officeDocument/2006/math">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𝑈</m:t>
                        </m:r>
                      </m:e>
                      <m:sub>
                        <m:r>
                          <a:rPr lang="en-US" altLang="zh-CN" sz="3200">
                            <a:solidFill>
                              <a:srgbClr val="006699"/>
                            </a:solidFill>
                            <a:latin typeface="Cambria Math" panose="02040503050406030204" pitchFamily="18" charset="0"/>
                          </a:rPr>
                          <m:t>𝑖</m:t>
                        </m:r>
                      </m:sub>
                    </m:sSub>
                    <m:r>
                      <a:rPr lang="en-US" altLang="zh-CN" sz="3200">
                        <a:solidFill>
                          <a:srgbClr val="006699"/>
                        </a:solidFill>
                        <a:latin typeface="Cambria Math" panose="02040503050406030204" pitchFamily="18" charset="0"/>
                      </a:rPr>
                      <m:t>𝑖𝑖𝑑𝑈</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0,1</m:t>
                        </m:r>
                      </m:e>
                    </m:d>
                  </m:oMath>
                </a14:m>
                <a:r>
                  <a:rPr lang="en-US" altLang="zh-CN" sz="3200" dirty="0">
                    <a:solidFill>
                      <a:srgbClr val="006699"/>
                    </a:solidFill>
                    <a:latin typeface="Verdana" panose="020B0604030504040204" pitchFamily="34" charset="0"/>
                  </a:rPr>
                  <a:t>, </a:t>
                </a:r>
              </a:p>
              <a:p>
                <a:pPr>
                  <a:spcBef>
                    <a:spcPts val="900"/>
                  </a:spcBef>
                  <a:spcAft>
                    <a:spcPts val="900"/>
                  </a:spcAft>
                </a:pPr>
                <a:r>
                  <a:rPr lang="en-US" altLang="zh-CN" sz="3200" dirty="0">
                    <a:solidFill>
                      <a:srgbClr val="006699"/>
                    </a:solidFill>
                    <a:latin typeface="Verdana" panose="020B0604030504040204" pitchFamily="34" charset="0"/>
                  </a:rPr>
                  <a:t>令</a:t>
                </a:r>
                <a14:m>
                  <m:oMath xmlns:m="http://schemas.openxmlformats.org/officeDocument/2006/math">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𝑋</m:t>
                        </m:r>
                      </m:e>
                      <m:sub>
                        <m:r>
                          <a:rPr lang="en-US" altLang="zh-CN" sz="3200">
                            <a:solidFill>
                              <a:srgbClr val="006699"/>
                            </a:solidFill>
                            <a:latin typeface="Cambria Math" panose="02040503050406030204" pitchFamily="18" charset="0"/>
                          </a:rPr>
                          <m:t>𝑖</m:t>
                        </m:r>
                      </m:sub>
                    </m:sSub>
                    <m:r>
                      <a:rPr lang="en-US" altLang="zh-CN" sz="3200">
                        <a:solidFill>
                          <a:srgbClr val="006699"/>
                        </a:solidFill>
                        <a:latin typeface="Cambria Math" panose="02040503050406030204" pitchFamily="18" charset="0"/>
                      </a:rPr>
                      <m:t>=</m:t>
                    </m:r>
                    <m:rad>
                      <m:radPr>
                        <m:degHide m:val="on"/>
                        <m:ctrlPr>
                          <a:rPr lang="zh-CN" altLang="zh-CN" sz="3200" i="1">
                            <a:solidFill>
                              <a:srgbClr val="006699"/>
                            </a:solidFill>
                            <a:latin typeface="Cambria Math" panose="02040503050406030204" pitchFamily="18" charset="0"/>
                          </a:rPr>
                        </m:ctrlPr>
                      </m:radPr>
                      <m:deg/>
                      <m:e>
                        <m:r>
                          <a:rPr lang="en-US" altLang="zh-CN" sz="3200">
                            <a:solidFill>
                              <a:srgbClr val="006699"/>
                            </a:solidFill>
                            <a:latin typeface="Cambria Math" panose="02040503050406030204" pitchFamily="18" charset="0"/>
                          </a:rPr>
                          <m:t>1+3</m:t>
                        </m:r>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𝑈</m:t>
                            </m:r>
                          </m:e>
                          <m:sub>
                            <m:r>
                              <a:rPr lang="en-US" altLang="zh-CN" sz="3200">
                                <a:solidFill>
                                  <a:srgbClr val="006699"/>
                                </a:solidFill>
                                <a:latin typeface="Cambria Math" panose="02040503050406030204" pitchFamily="18" charset="0"/>
                              </a:rPr>
                              <m:t>𝑖</m:t>
                            </m:r>
                          </m:sub>
                        </m:sSub>
                      </m:e>
                    </m:rad>
                    <m:r>
                      <a:rPr lang="en-US" altLang="zh-CN" sz="3200">
                        <a:solidFill>
                          <a:srgbClr val="006699"/>
                        </a:solidFill>
                        <a:latin typeface="Cambria Math" panose="02040503050406030204" pitchFamily="18" charset="0"/>
                      </a:rPr>
                      <m:t>−1,</m:t>
                    </m:r>
                    <m:r>
                      <a:rPr lang="en-US" altLang="zh-CN" sz="3200">
                        <a:solidFill>
                          <a:srgbClr val="006699"/>
                        </a:solidFill>
                        <a:latin typeface="Cambria Math" panose="02040503050406030204" pitchFamily="18" charset="0"/>
                      </a:rPr>
                      <m:t>𝑖</m:t>
                    </m:r>
                    <m:r>
                      <a:rPr lang="en-US" altLang="zh-CN" sz="3200">
                        <a:solidFill>
                          <a:srgbClr val="006699"/>
                        </a:solidFill>
                        <a:latin typeface="Cambria Math" panose="02040503050406030204" pitchFamily="18" charset="0"/>
                      </a:rPr>
                      <m:t>=1,2,…,</m:t>
                    </m:r>
                    <m:r>
                      <a:rPr lang="en-US" altLang="zh-CN" sz="3200">
                        <a:solidFill>
                          <a:srgbClr val="006699"/>
                        </a:solidFill>
                        <a:latin typeface="Cambria Math" panose="02040503050406030204" pitchFamily="18" charset="0"/>
                      </a:rPr>
                      <m:t>𝑁</m:t>
                    </m:r>
                  </m:oMath>
                </a14:m>
                <a:r>
                  <a:rPr lang="en-US" altLang="zh-CN" sz="3200" dirty="0">
                    <a:solidFill>
                      <a:srgbClr val="006699"/>
                    </a:solidFill>
                    <a:latin typeface="Verdana" panose="020B0604030504040204" pitchFamily="34" charset="0"/>
                  </a:rPr>
                  <a:t>, </a:t>
                </a:r>
                <a:endParaRPr lang="zh-CN" altLang="zh-CN" sz="3200" dirty="0">
                  <a:solidFill>
                    <a:srgbClr val="006699"/>
                  </a:solidFill>
                  <a:latin typeface="Verdana" panose="020B0604030504040204" pitchFamily="34" charset="0"/>
                </a:endParaRPr>
              </a:p>
              <a:p>
                <a:pPr>
                  <a:spcBef>
                    <a:spcPts val="900"/>
                  </a:spcBef>
                  <a:spcAft>
                    <a:spcPts val="900"/>
                  </a:spcAft>
                </a:pPr>
                <a:r>
                  <a:rPr lang="en-US" altLang="zh-CN" sz="3200" dirty="0" err="1">
                    <a:solidFill>
                      <a:srgbClr val="006699"/>
                    </a:solidFill>
                    <a:latin typeface="Verdana" panose="020B0604030504040204" pitchFamily="34" charset="0"/>
                  </a:rPr>
                  <a:t>则重要抽样法的积分公式为</a:t>
                </a:r>
                <a:endParaRPr lang="zh-CN" altLang="zh-CN" sz="3200" dirty="0">
                  <a:solidFill>
                    <a:srgbClr val="006699"/>
                  </a:solidFill>
                  <a:latin typeface="Verdana" panose="020B0604030504040204" pitchFamily="34"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zh-CN" sz="2800" i="1">
                              <a:solidFill>
                                <a:srgbClr val="006699"/>
                              </a:solidFill>
                              <a:latin typeface="Cambria Math" panose="02040503050406030204" pitchFamily="18" charset="0"/>
                            </a:rPr>
                          </m:ctrlPr>
                        </m:mPr>
                        <m:mr>
                          <m:e>
                            <m:sSub>
                              <m:sSubPr>
                                <m:ctrlPr>
                                  <a:rPr lang="zh-CN" altLang="zh-CN" sz="2800" i="1">
                                    <a:solidFill>
                                      <a:srgbClr val="006699"/>
                                    </a:solidFill>
                                    <a:latin typeface="Cambria Math" panose="02040503050406030204" pitchFamily="18" charset="0"/>
                                  </a:rPr>
                                </m:ctrlPr>
                              </m:sSubPr>
                              <m:e>
                                <m:acc>
                                  <m:accPr>
                                    <m:chr m:val="̂"/>
                                    <m:ctrlPr>
                                      <a:rPr lang="zh-CN" altLang="zh-CN" sz="2800" i="1">
                                        <a:solidFill>
                                          <a:srgbClr val="006699"/>
                                        </a:solidFill>
                                        <a:latin typeface="Cambria Math" panose="02040503050406030204" pitchFamily="18" charset="0"/>
                                      </a:rPr>
                                    </m:ctrlPr>
                                  </m:accPr>
                                  <m:e>
                                    <m:r>
                                      <a:rPr lang="en-US" altLang="zh-CN" sz="2800">
                                        <a:solidFill>
                                          <a:srgbClr val="006699"/>
                                        </a:solidFill>
                                        <a:latin typeface="Cambria Math" panose="02040503050406030204" pitchFamily="18" charset="0"/>
                                      </a:rPr>
                                      <m:t>𝐼</m:t>
                                    </m:r>
                                  </m:e>
                                </m:acc>
                              </m:e>
                              <m:sub>
                                <m:r>
                                  <a:rPr lang="en-US" altLang="zh-CN" sz="2800">
                                    <a:solidFill>
                                      <a:srgbClr val="006699"/>
                                    </a:solidFill>
                                    <a:latin typeface="Cambria Math" panose="02040503050406030204" pitchFamily="18" charset="0"/>
                                  </a:rPr>
                                  <m:t>3</m:t>
                                </m:r>
                              </m:sub>
                            </m:sSub>
                            <m:r>
                              <a:rPr lang="en-US" altLang="zh-CN" sz="2800">
                                <a:solidFill>
                                  <a:srgbClr val="006699"/>
                                </a:solidFill>
                                <a:latin typeface="Cambria Math" panose="02040503050406030204" pitchFamily="18" charset="0"/>
                              </a:rPr>
                              <m:t>=</m:t>
                            </m:r>
                            <m:f>
                              <m:fPr>
                                <m:ctrlPr>
                                  <a:rPr lang="zh-CN" altLang="zh-CN" sz="2800" i="1">
                                    <a:solidFill>
                                      <a:srgbClr val="006699"/>
                                    </a:solidFill>
                                    <a:latin typeface="Cambria Math" panose="02040503050406030204" pitchFamily="18" charset="0"/>
                                  </a:rPr>
                                </m:ctrlPr>
                              </m:fPr>
                              <m:num>
                                <m:r>
                                  <a:rPr lang="en-US" altLang="zh-CN" sz="2800">
                                    <a:solidFill>
                                      <a:srgbClr val="006699"/>
                                    </a:solidFill>
                                    <a:latin typeface="Cambria Math" panose="02040503050406030204" pitchFamily="18" charset="0"/>
                                  </a:rPr>
                                  <m:t>1</m:t>
                                </m:r>
                              </m:num>
                              <m:den>
                                <m:r>
                                  <a:rPr lang="en-US" altLang="zh-CN" sz="2800">
                                    <a:solidFill>
                                      <a:srgbClr val="006699"/>
                                    </a:solidFill>
                                    <a:latin typeface="Cambria Math" panose="02040503050406030204" pitchFamily="18" charset="0"/>
                                  </a:rPr>
                                  <m:t>𝑁</m:t>
                                </m:r>
                              </m:den>
                            </m:f>
                            <m:nary>
                              <m:naryPr>
                                <m:chr m:val="∑"/>
                                <m:limLoc m:val="undOvr"/>
                                <m:ctrlPr>
                                  <a:rPr lang="zh-CN" altLang="zh-CN" sz="2800" i="1">
                                    <a:solidFill>
                                      <a:srgbClr val="006699"/>
                                    </a:solidFill>
                                    <a:latin typeface="Cambria Math" panose="02040503050406030204" pitchFamily="18" charset="0"/>
                                  </a:rPr>
                                </m:ctrlPr>
                              </m:naryPr>
                              <m:sub>
                                <m:r>
                                  <a:rPr lang="en-US" altLang="zh-CN" sz="2800">
                                    <a:solidFill>
                                      <a:srgbClr val="006699"/>
                                    </a:solidFill>
                                    <a:latin typeface="Cambria Math" panose="02040503050406030204" pitchFamily="18" charset="0"/>
                                  </a:rPr>
                                  <m:t>𝑖</m:t>
                                </m:r>
                                <m:r>
                                  <a:rPr lang="en-US" altLang="zh-CN" sz="2800">
                                    <a:solidFill>
                                      <a:srgbClr val="006699"/>
                                    </a:solidFill>
                                    <a:latin typeface="Cambria Math" panose="02040503050406030204" pitchFamily="18" charset="0"/>
                                  </a:rPr>
                                  <m:t>=1</m:t>
                                </m:r>
                              </m:sub>
                              <m:sup>
                                <m:r>
                                  <a:rPr lang="en-US" altLang="zh-CN" sz="2800">
                                    <a:solidFill>
                                      <a:srgbClr val="006699"/>
                                    </a:solidFill>
                                    <a:latin typeface="Cambria Math" panose="02040503050406030204" pitchFamily="18" charset="0"/>
                                  </a:rPr>
                                  <m:t>𝑁</m:t>
                                </m:r>
                              </m:sup>
                              <m:e>
                                <m:f>
                                  <m:fPr>
                                    <m:ctrlPr>
                                      <a:rPr lang="zh-CN" altLang="zh-CN" sz="2800" i="1">
                                        <a:solidFill>
                                          <a:srgbClr val="006699"/>
                                        </a:solidFill>
                                        <a:latin typeface="Cambria Math" panose="02040503050406030204" pitchFamily="18" charset="0"/>
                                      </a:rPr>
                                    </m:ctrlPr>
                                  </m:fPr>
                                  <m:num>
                                    <m:sSup>
                                      <m:sSupPr>
                                        <m:ctrlPr>
                                          <a:rPr lang="zh-CN" altLang="zh-CN" sz="2800" i="1">
                                            <a:solidFill>
                                              <a:srgbClr val="006699"/>
                                            </a:solidFill>
                                            <a:latin typeface="Cambria Math" panose="02040503050406030204" pitchFamily="18" charset="0"/>
                                          </a:rPr>
                                        </m:ctrlPr>
                                      </m:sSupPr>
                                      <m:e>
                                        <m:r>
                                          <a:rPr lang="en-US" altLang="zh-CN" sz="2800">
                                            <a:solidFill>
                                              <a:srgbClr val="006699"/>
                                            </a:solidFill>
                                            <a:latin typeface="Cambria Math" panose="02040503050406030204" pitchFamily="18" charset="0"/>
                                          </a:rPr>
                                          <m:t>𝑒</m:t>
                                        </m:r>
                                      </m:e>
                                      <m:sup>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𝑋</m:t>
                                            </m:r>
                                          </m:e>
                                          <m:sub>
                                            <m:r>
                                              <a:rPr lang="en-US" altLang="zh-CN" sz="2800">
                                                <a:solidFill>
                                                  <a:srgbClr val="006699"/>
                                                </a:solidFill>
                                                <a:latin typeface="Cambria Math" panose="02040503050406030204" pitchFamily="18" charset="0"/>
                                              </a:rPr>
                                              <m:t>𝑖</m:t>
                                            </m:r>
                                          </m:sub>
                                        </m:sSub>
                                      </m:sup>
                                    </m:sSup>
                                  </m:num>
                                  <m:den>
                                    <m:f>
                                      <m:fPr>
                                        <m:ctrlPr>
                                          <a:rPr lang="zh-CN" altLang="zh-CN" sz="2800" i="1">
                                            <a:solidFill>
                                              <a:srgbClr val="006699"/>
                                            </a:solidFill>
                                            <a:latin typeface="Cambria Math" panose="02040503050406030204" pitchFamily="18" charset="0"/>
                                          </a:rPr>
                                        </m:ctrlPr>
                                      </m:fPr>
                                      <m:num>
                                        <m:r>
                                          <a:rPr lang="en-US" altLang="zh-CN" sz="2800">
                                            <a:solidFill>
                                              <a:srgbClr val="006699"/>
                                            </a:solidFill>
                                            <a:latin typeface="Cambria Math" panose="02040503050406030204" pitchFamily="18" charset="0"/>
                                          </a:rPr>
                                          <m:t>2</m:t>
                                        </m:r>
                                      </m:num>
                                      <m:den>
                                        <m:r>
                                          <a:rPr lang="en-US" altLang="zh-CN" sz="2800">
                                            <a:solidFill>
                                              <a:srgbClr val="006699"/>
                                            </a:solidFill>
                                            <a:latin typeface="Cambria Math" panose="02040503050406030204" pitchFamily="18" charset="0"/>
                                          </a:rPr>
                                          <m:t>3</m:t>
                                        </m:r>
                                      </m:den>
                                    </m:f>
                                    <m:d>
                                      <m:dPr>
                                        <m:ctrlPr>
                                          <a:rPr lang="zh-CN" altLang="zh-CN" sz="2800" i="1">
                                            <a:solidFill>
                                              <a:srgbClr val="006699"/>
                                            </a:solidFill>
                                            <a:latin typeface="Cambria Math" panose="02040503050406030204" pitchFamily="18" charset="0"/>
                                          </a:rPr>
                                        </m:ctrlPr>
                                      </m:dPr>
                                      <m:e>
                                        <m:r>
                                          <a:rPr lang="en-US" altLang="zh-CN" sz="2800">
                                            <a:solidFill>
                                              <a:srgbClr val="006699"/>
                                            </a:solidFill>
                                            <a:latin typeface="Cambria Math" panose="02040503050406030204" pitchFamily="18" charset="0"/>
                                          </a:rPr>
                                          <m:t>1+</m:t>
                                        </m:r>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𝑋</m:t>
                                            </m:r>
                                          </m:e>
                                          <m:sub>
                                            <m:r>
                                              <a:rPr lang="en-US" altLang="zh-CN" sz="2800">
                                                <a:solidFill>
                                                  <a:srgbClr val="006699"/>
                                                </a:solidFill>
                                                <a:latin typeface="Cambria Math" panose="02040503050406030204" pitchFamily="18" charset="0"/>
                                              </a:rPr>
                                              <m:t>𝑖</m:t>
                                            </m:r>
                                          </m:sub>
                                        </m:sSub>
                                      </m:e>
                                    </m:d>
                                  </m:den>
                                </m:f>
                              </m:e>
                            </m:nary>
                          </m:e>
                        </m:mr>
                      </m:m>
                    </m:oMath>
                  </m:oMathPara>
                </a14:m>
                <a:endParaRPr lang="zh-CN" altLang="zh-CN" sz="3200" dirty="0">
                  <a:solidFill>
                    <a:srgbClr val="006699"/>
                  </a:solidFill>
                  <a:latin typeface="Verdana" panose="020B0604030504040204" pitchFamily="34" charset="0"/>
                </a:endParaRPr>
              </a:p>
              <a:p>
                <a:pPr>
                  <a:spcBef>
                    <a:spcPts val="900"/>
                  </a:spcBef>
                  <a:spcAft>
                    <a:spcPts val="900"/>
                  </a:spcAft>
                </a:pPr>
                <a:r>
                  <a:rPr lang="en-US" altLang="zh-CN" sz="3200" dirty="0" err="1">
                    <a:solidFill>
                      <a:srgbClr val="006699"/>
                    </a:solidFill>
                    <a:latin typeface="Verdana" panose="020B0604030504040204" pitchFamily="34" charset="0"/>
                  </a:rPr>
                  <a:t>渐近方差为</a:t>
                </a:r>
                <a:endParaRPr lang="zh-CN" altLang="zh-CN" sz="3200" dirty="0">
                  <a:solidFill>
                    <a:srgbClr val="006699"/>
                  </a:solidFill>
                  <a:latin typeface="Verdana" panose="020B0604030504040204" pitchFamily="34"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zh-CN" sz="2800" i="1">
                              <a:solidFill>
                                <a:srgbClr val="006699"/>
                              </a:solidFill>
                              <a:latin typeface="Cambria Math" panose="02040503050406030204" pitchFamily="18" charset="0"/>
                            </a:rPr>
                          </m:ctrlPr>
                        </m:mPr>
                        <m:mr>
                          <m:e>
                            <m:r>
                              <m:rPr>
                                <m:nor/>
                              </m:rPr>
                              <a:rPr lang="en-US" altLang="zh-CN" sz="2800">
                                <a:solidFill>
                                  <a:srgbClr val="006699"/>
                                </a:solidFill>
                                <a:latin typeface="Verdana" panose="020B0604030504040204" pitchFamily="34" charset="0"/>
                              </a:rPr>
                              <m:t>Var</m:t>
                            </m:r>
                            <m:d>
                              <m:dPr>
                                <m:ctrlPr>
                                  <a:rPr lang="zh-CN" altLang="zh-CN" sz="2800" i="1">
                                    <a:solidFill>
                                      <a:srgbClr val="006699"/>
                                    </a:solidFill>
                                    <a:latin typeface="Cambria Math" panose="02040503050406030204" pitchFamily="18" charset="0"/>
                                  </a:rPr>
                                </m:ctrlPr>
                              </m:dPr>
                              <m:e>
                                <m:sSub>
                                  <m:sSubPr>
                                    <m:ctrlPr>
                                      <a:rPr lang="zh-CN" altLang="zh-CN" sz="2800" i="1">
                                        <a:solidFill>
                                          <a:srgbClr val="006699"/>
                                        </a:solidFill>
                                        <a:latin typeface="Cambria Math" panose="02040503050406030204" pitchFamily="18" charset="0"/>
                                      </a:rPr>
                                    </m:ctrlPr>
                                  </m:sSubPr>
                                  <m:e>
                                    <m:acc>
                                      <m:accPr>
                                        <m:chr m:val="̂"/>
                                        <m:ctrlPr>
                                          <a:rPr lang="zh-CN" altLang="zh-CN" sz="2800" i="1">
                                            <a:solidFill>
                                              <a:srgbClr val="006699"/>
                                            </a:solidFill>
                                            <a:latin typeface="Cambria Math" panose="02040503050406030204" pitchFamily="18" charset="0"/>
                                          </a:rPr>
                                        </m:ctrlPr>
                                      </m:accPr>
                                      <m:e>
                                        <m:r>
                                          <a:rPr lang="en-US" altLang="zh-CN" sz="2800">
                                            <a:solidFill>
                                              <a:srgbClr val="006699"/>
                                            </a:solidFill>
                                            <a:latin typeface="Cambria Math" panose="02040503050406030204" pitchFamily="18" charset="0"/>
                                          </a:rPr>
                                          <m:t>𝐼</m:t>
                                        </m:r>
                                      </m:e>
                                    </m:acc>
                                  </m:e>
                                  <m:sub>
                                    <m:r>
                                      <a:rPr lang="en-US" altLang="zh-CN" sz="2800">
                                        <a:solidFill>
                                          <a:srgbClr val="006699"/>
                                        </a:solidFill>
                                        <a:latin typeface="Cambria Math" panose="02040503050406030204" pitchFamily="18" charset="0"/>
                                      </a:rPr>
                                      <m:t>3</m:t>
                                    </m:r>
                                  </m:sub>
                                </m:sSub>
                              </m:e>
                            </m:d>
                            <m:r>
                              <a:rPr lang="en-US" altLang="zh-CN" sz="2800">
                                <a:solidFill>
                                  <a:srgbClr val="006699"/>
                                </a:solidFill>
                                <a:latin typeface="Cambria Math" panose="02040503050406030204" pitchFamily="18" charset="0"/>
                              </a:rPr>
                              <m:t>=</m:t>
                            </m:r>
                            <m:f>
                              <m:fPr>
                                <m:ctrlPr>
                                  <a:rPr lang="zh-CN" altLang="zh-CN" sz="2800" i="1">
                                    <a:solidFill>
                                      <a:srgbClr val="006699"/>
                                    </a:solidFill>
                                    <a:latin typeface="Cambria Math" panose="02040503050406030204" pitchFamily="18" charset="0"/>
                                  </a:rPr>
                                </m:ctrlPr>
                              </m:fPr>
                              <m:num>
                                <m:r>
                                  <a:rPr lang="en-US" altLang="zh-CN" sz="2800">
                                    <a:solidFill>
                                      <a:srgbClr val="006699"/>
                                    </a:solidFill>
                                    <a:latin typeface="Cambria Math" panose="02040503050406030204" pitchFamily="18" charset="0"/>
                                  </a:rPr>
                                  <m:t>1</m:t>
                                </m:r>
                              </m:num>
                              <m:den>
                                <m:r>
                                  <a:rPr lang="en-US" altLang="zh-CN" sz="2800">
                                    <a:solidFill>
                                      <a:srgbClr val="006699"/>
                                    </a:solidFill>
                                    <a:latin typeface="Cambria Math" panose="02040503050406030204" pitchFamily="18" charset="0"/>
                                  </a:rPr>
                                  <m:t>𝑁</m:t>
                                </m:r>
                              </m:den>
                            </m:f>
                            <m:d>
                              <m:dPr>
                                <m:ctrlPr>
                                  <a:rPr lang="zh-CN" altLang="zh-CN" sz="2800" i="1">
                                    <a:solidFill>
                                      <a:srgbClr val="006699"/>
                                    </a:solidFill>
                                    <a:latin typeface="Cambria Math" panose="02040503050406030204" pitchFamily="18" charset="0"/>
                                  </a:rPr>
                                </m:ctrlPr>
                              </m:dPr>
                              <m:e>
                                <m:f>
                                  <m:fPr>
                                    <m:ctrlPr>
                                      <a:rPr lang="zh-CN" altLang="zh-CN" sz="2800" i="1">
                                        <a:solidFill>
                                          <a:srgbClr val="006699"/>
                                        </a:solidFill>
                                        <a:latin typeface="Cambria Math" panose="02040503050406030204" pitchFamily="18" charset="0"/>
                                      </a:rPr>
                                    </m:ctrlPr>
                                  </m:fPr>
                                  <m:num>
                                    <m:r>
                                      <a:rPr lang="en-US" altLang="zh-CN" sz="2800">
                                        <a:solidFill>
                                          <a:srgbClr val="006699"/>
                                        </a:solidFill>
                                        <a:latin typeface="Cambria Math" panose="02040503050406030204" pitchFamily="18" charset="0"/>
                                      </a:rPr>
                                      <m:t>3</m:t>
                                    </m:r>
                                  </m:num>
                                  <m:den>
                                    <m:r>
                                      <a:rPr lang="en-US" altLang="zh-CN" sz="2800">
                                        <a:solidFill>
                                          <a:srgbClr val="006699"/>
                                        </a:solidFill>
                                        <a:latin typeface="Cambria Math" panose="02040503050406030204" pitchFamily="18" charset="0"/>
                                      </a:rPr>
                                      <m:t>2</m:t>
                                    </m:r>
                                  </m:den>
                                </m:f>
                                <m:nary>
                                  <m:naryPr>
                                    <m:limLoc m:val="subSup"/>
                                    <m:ctrlPr>
                                      <a:rPr lang="zh-CN" altLang="zh-CN" sz="2800" i="1">
                                        <a:solidFill>
                                          <a:srgbClr val="006699"/>
                                        </a:solidFill>
                                        <a:latin typeface="Cambria Math" panose="02040503050406030204" pitchFamily="18" charset="0"/>
                                      </a:rPr>
                                    </m:ctrlPr>
                                  </m:naryPr>
                                  <m:sub>
                                    <m:r>
                                      <a:rPr lang="en-US" altLang="zh-CN" sz="2800">
                                        <a:solidFill>
                                          <a:srgbClr val="006699"/>
                                        </a:solidFill>
                                        <a:latin typeface="Cambria Math" panose="02040503050406030204" pitchFamily="18" charset="0"/>
                                      </a:rPr>
                                      <m:t>0</m:t>
                                    </m:r>
                                  </m:sub>
                                  <m:sup>
                                    <m:r>
                                      <a:rPr lang="en-US" altLang="zh-CN" sz="2800">
                                        <a:solidFill>
                                          <a:srgbClr val="006699"/>
                                        </a:solidFill>
                                        <a:latin typeface="Cambria Math" panose="02040503050406030204" pitchFamily="18" charset="0"/>
                                      </a:rPr>
                                      <m:t>1</m:t>
                                    </m:r>
                                  </m:sup>
                                  <m:e>
                                    <m:f>
                                      <m:fPr>
                                        <m:ctrlPr>
                                          <a:rPr lang="zh-CN" altLang="zh-CN" sz="2800" i="1">
                                            <a:solidFill>
                                              <a:srgbClr val="006699"/>
                                            </a:solidFill>
                                            <a:latin typeface="Cambria Math" panose="02040503050406030204" pitchFamily="18" charset="0"/>
                                          </a:rPr>
                                        </m:ctrlPr>
                                      </m:fPr>
                                      <m:num>
                                        <m:sSup>
                                          <m:sSupPr>
                                            <m:ctrlPr>
                                              <a:rPr lang="zh-CN" altLang="zh-CN" sz="2800" i="1">
                                                <a:solidFill>
                                                  <a:srgbClr val="006699"/>
                                                </a:solidFill>
                                                <a:latin typeface="Cambria Math" panose="02040503050406030204" pitchFamily="18" charset="0"/>
                                              </a:rPr>
                                            </m:ctrlPr>
                                          </m:sSupPr>
                                          <m:e>
                                            <m:r>
                                              <a:rPr lang="en-US" altLang="zh-CN" sz="2800">
                                                <a:solidFill>
                                                  <a:srgbClr val="006699"/>
                                                </a:solidFill>
                                                <a:latin typeface="Cambria Math" panose="02040503050406030204" pitchFamily="18" charset="0"/>
                                              </a:rPr>
                                              <m:t>𝑒</m:t>
                                            </m:r>
                                          </m:e>
                                          <m:sup>
                                            <m:r>
                                              <a:rPr lang="en-US" altLang="zh-CN" sz="2800">
                                                <a:solidFill>
                                                  <a:srgbClr val="006699"/>
                                                </a:solidFill>
                                                <a:latin typeface="Cambria Math" panose="02040503050406030204" pitchFamily="18" charset="0"/>
                                              </a:rPr>
                                              <m:t>2</m:t>
                                            </m:r>
                                            <m:r>
                                              <a:rPr lang="en-US" altLang="zh-CN" sz="2800">
                                                <a:solidFill>
                                                  <a:srgbClr val="006699"/>
                                                </a:solidFill>
                                                <a:latin typeface="Cambria Math" panose="02040503050406030204" pitchFamily="18" charset="0"/>
                                              </a:rPr>
                                              <m:t>𝑥</m:t>
                                            </m:r>
                                          </m:sup>
                                        </m:sSup>
                                      </m:num>
                                      <m:den>
                                        <m:r>
                                          <a:rPr lang="en-US" altLang="zh-CN" sz="2800">
                                            <a:solidFill>
                                              <a:srgbClr val="006699"/>
                                            </a:solidFill>
                                            <a:latin typeface="Cambria Math" panose="02040503050406030204" pitchFamily="18" charset="0"/>
                                          </a:rPr>
                                          <m:t>1+</m:t>
                                        </m:r>
                                        <m:r>
                                          <a:rPr lang="en-US" altLang="zh-CN" sz="2800">
                                            <a:solidFill>
                                              <a:srgbClr val="006699"/>
                                            </a:solidFill>
                                            <a:latin typeface="Cambria Math" panose="02040503050406030204" pitchFamily="18" charset="0"/>
                                          </a:rPr>
                                          <m:t>𝑥</m:t>
                                        </m:r>
                                      </m:den>
                                    </m:f>
                                  </m:e>
                                </m:nary>
                                <m:r>
                                  <a:rPr lang="en-US" altLang="zh-CN" sz="2800">
                                    <a:solidFill>
                                      <a:srgbClr val="006699"/>
                                    </a:solidFill>
                                    <a:latin typeface="Cambria Math" panose="02040503050406030204" pitchFamily="18" charset="0"/>
                                  </a:rPr>
                                  <m:t>𝑑𝑥</m:t>
                                </m:r>
                                <m:r>
                                  <a:rPr lang="en-US" altLang="zh-CN" sz="2800">
                                    <a:solidFill>
                                      <a:srgbClr val="006699"/>
                                    </a:solidFill>
                                    <a:latin typeface="Cambria Math" panose="02040503050406030204" pitchFamily="18" charset="0"/>
                                  </a:rPr>
                                  <m:t>−</m:t>
                                </m:r>
                                <m:sSup>
                                  <m:sSupPr>
                                    <m:ctrlPr>
                                      <a:rPr lang="zh-CN" altLang="zh-CN" sz="2800" i="1">
                                        <a:solidFill>
                                          <a:srgbClr val="006699"/>
                                        </a:solidFill>
                                        <a:latin typeface="Cambria Math" panose="02040503050406030204" pitchFamily="18" charset="0"/>
                                      </a:rPr>
                                    </m:ctrlPr>
                                  </m:sSupPr>
                                  <m:e>
                                    <m:r>
                                      <a:rPr lang="en-US" altLang="zh-CN" sz="2800">
                                        <a:solidFill>
                                          <a:srgbClr val="006699"/>
                                        </a:solidFill>
                                        <a:latin typeface="Cambria Math" panose="02040503050406030204" pitchFamily="18" charset="0"/>
                                      </a:rPr>
                                      <m:t>𝐼</m:t>
                                    </m:r>
                                  </m:e>
                                  <m:sup>
                                    <m:r>
                                      <a:rPr lang="en-US" altLang="zh-CN" sz="2800">
                                        <a:solidFill>
                                          <a:srgbClr val="006699"/>
                                        </a:solidFill>
                                        <a:latin typeface="Cambria Math" panose="02040503050406030204" pitchFamily="18" charset="0"/>
                                      </a:rPr>
                                      <m:t>2</m:t>
                                    </m:r>
                                  </m:sup>
                                </m:sSup>
                              </m:e>
                            </m:d>
                            <m:r>
                              <a:rPr lang="en-US" altLang="zh-CN" sz="2800">
                                <a:solidFill>
                                  <a:srgbClr val="006699"/>
                                </a:solidFill>
                                <a:latin typeface="Cambria Math" panose="02040503050406030204" pitchFamily="18" charset="0"/>
                              </a:rPr>
                              <m:t>≈0.02691/</m:t>
                            </m:r>
                            <m:r>
                              <a:rPr lang="en-US" altLang="zh-CN" sz="2800">
                                <a:solidFill>
                                  <a:srgbClr val="006699"/>
                                </a:solidFill>
                                <a:latin typeface="Cambria Math" panose="02040503050406030204" pitchFamily="18" charset="0"/>
                              </a:rPr>
                              <m:t>𝑁</m:t>
                            </m:r>
                            <m:r>
                              <a:rPr lang="en-US" altLang="zh-CN" sz="2800">
                                <a:solidFill>
                                  <a:srgbClr val="006699"/>
                                </a:solidFill>
                                <a:latin typeface="Cambria Math" panose="02040503050406030204" pitchFamily="18" charset="0"/>
                              </a:rPr>
                              <m:t>.</m:t>
                            </m:r>
                          </m:e>
                        </m:mr>
                      </m:m>
                    </m:oMath>
                  </m:oMathPara>
                </a14:m>
                <a:endParaRPr lang="zh-CN" altLang="zh-CN" sz="3200" dirty="0">
                  <a:solidFill>
                    <a:srgbClr val="006699"/>
                  </a:solidFill>
                  <a:latin typeface="Verdana" panose="020B0604030504040204" pitchFamily="34" charset="0"/>
                </a:endParaRPr>
              </a:p>
            </p:txBody>
          </p:sp>
        </mc:Choice>
        <mc:Fallback xmlns="">
          <p:sp>
            <p:nvSpPr>
              <p:cNvPr id="4" name="文本框 3">
                <a:extLst>
                  <a:ext uri="{FF2B5EF4-FFF2-40B4-BE49-F238E27FC236}">
                    <a16:creationId xmlns:a16="http://schemas.microsoft.com/office/drawing/2014/main" id="{BFEEB08B-4F94-2E52-0223-58DF241ACD8D}"/>
                  </a:ext>
                </a:extLst>
              </p:cNvPr>
              <p:cNvSpPr txBox="1">
                <a:spLocks noRot="1" noChangeAspect="1" noMove="1" noResize="1" noEditPoints="1" noAdjustHandles="1" noChangeArrowheads="1" noChangeShapeType="1" noTextEdit="1"/>
              </p:cNvSpPr>
              <p:nvPr/>
            </p:nvSpPr>
            <p:spPr>
              <a:xfrm>
                <a:off x="71500" y="907010"/>
                <a:ext cx="8955995" cy="5548314"/>
              </a:xfrm>
              <a:prstGeom prst="rect">
                <a:avLst/>
              </a:prstGeom>
              <a:blipFill>
                <a:blip r:embed="rId2"/>
                <a:stretch>
                  <a:fillRect l="-1770" t="-1758"/>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5337838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12.1</a:t>
            </a:r>
            <a:endParaRPr lang="zh-CN" altLang="en-US" dirty="0"/>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75</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FC20139-FFD6-2176-184C-EAD0FAFD9F2C}"/>
                  </a:ext>
                </a:extLst>
              </p:cNvPr>
              <p:cNvSpPr txBox="1"/>
              <p:nvPr/>
            </p:nvSpPr>
            <p:spPr>
              <a:xfrm>
                <a:off x="116505" y="953725"/>
                <a:ext cx="8910990" cy="4392036"/>
              </a:xfrm>
              <a:prstGeom prst="rect">
                <a:avLst/>
              </a:prstGeom>
              <a:noFill/>
              <a:ln w="25400">
                <a:noFill/>
              </a:ln>
            </p:spPr>
            <p:txBody>
              <a:bodyPr wrap="square">
                <a:spAutoFit/>
              </a:bodyPr>
              <a:lstStyle/>
              <a:p>
                <a:pPr>
                  <a:spcBef>
                    <a:spcPts val="900"/>
                  </a:spcBef>
                  <a:spcAft>
                    <a:spcPts val="900"/>
                  </a:spcAft>
                </a:pPr>
                <a:r>
                  <a:rPr lang="en-US" altLang="zh-CN" sz="3200" dirty="0" err="1">
                    <a:solidFill>
                      <a:srgbClr val="006699"/>
                    </a:solidFill>
                    <a:latin typeface="Verdana" panose="020B0604030504040204" pitchFamily="34" charset="0"/>
                  </a:rPr>
                  <a:t>如果用</a:t>
                </a:r>
                <a:r>
                  <a:rPr lang="en-US" altLang="zh-CN" sz="3200" b="1" dirty="0" err="1">
                    <a:solidFill>
                      <a:srgbClr val="FF0000"/>
                    </a:solidFill>
                    <a:latin typeface="Verdana" panose="020B0604030504040204" pitchFamily="34" charset="0"/>
                  </a:rPr>
                  <a:t>平均值法</a:t>
                </a:r>
                <a:r>
                  <a:rPr lang="en-US" altLang="zh-CN" sz="3200" dirty="0">
                    <a:solidFill>
                      <a:srgbClr val="006699"/>
                    </a:solidFill>
                    <a:latin typeface="Verdana" panose="020B0604030504040204" pitchFamily="34" charset="0"/>
                  </a:rPr>
                  <a:t>， </a:t>
                </a:r>
                <a:r>
                  <a:rPr lang="en-US" altLang="zh-CN" sz="3200" dirty="0" err="1">
                    <a:solidFill>
                      <a:srgbClr val="006699"/>
                    </a:solidFill>
                    <a:latin typeface="Verdana" panose="020B0604030504040204" pitchFamily="34" charset="0"/>
                  </a:rPr>
                  <a:t>估计公式为</a:t>
                </a:r>
                <a:endParaRPr lang="zh-CN" altLang="zh-CN" sz="3200" dirty="0">
                  <a:solidFill>
                    <a:srgbClr val="006699"/>
                  </a:solidFill>
                  <a:latin typeface="Verdana" panose="020B0604030504040204" pitchFamily="34"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zh-CN" sz="3200" i="1">
                              <a:solidFill>
                                <a:srgbClr val="006699"/>
                              </a:solidFill>
                              <a:latin typeface="Cambria Math" panose="02040503050406030204" pitchFamily="18" charset="0"/>
                            </a:rPr>
                          </m:ctrlPr>
                        </m:mPr>
                        <m:mr>
                          <m:e>
                            <m:sSub>
                              <m:sSubPr>
                                <m:ctrlPr>
                                  <a:rPr lang="zh-CN" altLang="zh-CN" sz="3200" i="1">
                                    <a:solidFill>
                                      <a:srgbClr val="006699"/>
                                    </a:solidFill>
                                    <a:latin typeface="Cambria Math" panose="02040503050406030204" pitchFamily="18" charset="0"/>
                                  </a:rPr>
                                </m:ctrlPr>
                              </m:sSubPr>
                              <m:e>
                                <m:acc>
                                  <m:accPr>
                                    <m:chr m:val="̂"/>
                                    <m:ctrlPr>
                                      <a:rPr lang="zh-CN" altLang="zh-CN" sz="3200" i="1">
                                        <a:solidFill>
                                          <a:srgbClr val="006699"/>
                                        </a:solidFill>
                                        <a:latin typeface="Cambria Math" panose="02040503050406030204" pitchFamily="18" charset="0"/>
                                      </a:rPr>
                                    </m:ctrlPr>
                                  </m:accPr>
                                  <m:e>
                                    <m:r>
                                      <a:rPr lang="en-US" altLang="zh-CN" sz="3200">
                                        <a:solidFill>
                                          <a:srgbClr val="006699"/>
                                        </a:solidFill>
                                        <a:latin typeface="Cambria Math" panose="02040503050406030204" pitchFamily="18" charset="0"/>
                                      </a:rPr>
                                      <m:t>𝐼</m:t>
                                    </m:r>
                                  </m:e>
                                </m:acc>
                              </m:e>
                              <m:sub>
                                <m:r>
                                  <a:rPr lang="en-US" altLang="zh-CN" sz="3200">
                                    <a:solidFill>
                                      <a:srgbClr val="006699"/>
                                    </a:solidFill>
                                    <a:latin typeface="Cambria Math" panose="02040503050406030204" pitchFamily="18" charset="0"/>
                                  </a:rPr>
                                  <m:t>2</m:t>
                                </m:r>
                              </m:sub>
                            </m:sSub>
                            <m:r>
                              <a:rPr lang="en-US" altLang="zh-CN" sz="3200">
                                <a:solidFill>
                                  <a:srgbClr val="006699"/>
                                </a:solidFill>
                                <a:latin typeface="Cambria Math" panose="02040503050406030204" pitchFamily="18" charset="0"/>
                              </a:rPr>
                              <m:t>=</m:t>
                            </m:r>
                            <m:f>
                              <m:fPr>
                                <m:ctrlPr>
                                  <a:rPr lang="zh-CN" altLang="zh-CN" sz="3200" i="1">
                                    <a:solidFill>
                                      <a:srgbClr val="006699"/>
                                    </a:solidFill>
                                    <a:latin typeface="Cambria Math" panose="02040503050406030204" pitchFamily="18" charset="0"/>
                                  </a:rPr>
                                </m:ctrlPr>
                              </m:fPr>
                              <m:num>
                                <m:r>
                                  <a:rPr lang="en-US" altLang="zh-CN" sz="3200">
                                    <a:solidFill>
                                      <a:srgbClr val="006699"/>
                                    </a:solidFill>
                                    <a:latin typeface="Cambria Math" panose="02040503050406030204" pitchFamily="18" charset="0"/>
                                  </a:rPr>
                                  <m:t>1</m:t>
                                </m:r>
                              </m:num>
                              <m:den>
                                <m:r>
                                  <a:rPr lang="en-US" altLang="zh-CN" sz="3200">
                                    <a:solidFill>
                                      <a:srgbClr val="006699"/>
                                    </a:solidFill>
                                    <a:latin typeface="Cambria Math" panose="02040503050406030204" pitchFamily="18" charset="0"/>
                                  </a:rPr>
                                  <m:t>𝑁</m:t>
                                </m:r>
                              </m:den>
                            </m:f>
                            <m:nary>
                              <m:naryPr>
                                <m:chr m:val="∑"/>
                                <m:limLoc m:val="undOvr"/>
                                <m:ctrlPr>
                                  <a:rPr lang="zh-CN" altLang="zh-CN" sz="3200" i="1">
                                    <a:solidFill>
                                      <a:srgbClr val="006699"/>
                                    </a:solidFill>
                                    <a:latin typeface="Cambria Math" panose="02040503050406030204" pitchFamily="18" charset="0"/>
                                  </a:rPr>
                                </m:ctrlPr>
                              </m:naryPr>
                              <m:sub>
                                <m:r>
                                  <a:rPr lang="en-US" altLang="zh-CN" sz="3200">
                                    <a:solidFill>
                                      <a:srgbClr val="006699"/>
                                    </a:solidFill>
                                    <a:latin typeface="Cambria Math" panose="02040503050406030204" pitchFamily="18" charset="0"/>
                                  </a:rPr>
                                  <m:t>𝑖</m:t>
                                </m:r>
                                <m:r>
                                  <a:rPr lang="en-US" altLang="zh-CN" sz="3200">
                                    <a:solidFill>
                                      <a:srgbClr val="006699"/>
                                    </a:solidFill>
                                    <a:latin typeface="Cambria Math" panose="02040503050406030204" pitchFamily="18" charset="0"/>
                                  </a:rPr>
                                  <m:t>=1</m:t>
                                </m:r>
                              </m:sub>
                              <m:sup>
                                <m:r>
                                  <a:rPr lang="en-US" altLang="zh-CN" sz="3200">
                                    <a:solidFill>
                                      <a:srgbClr val="006699"/>
                                    </a:solidFill>
                                    <a:latin typeface="Cambria Math" panose="02040503050406030204" pitchFamily="18" charset="0"/>
                                  </a:rPr>
                                  <m:t>𝑁</m:t>
                                </m:r>
                              </m:sup>
                              <m:e>
                                <m:sSup>
                                  <m:sSupPr>
                                    <m:ctrlPr>
                                      <a:rPr lang="zh-CN" altLang="zh-CN" sz="3200" i="1">
                                        <a:solidFill>
                                          <a:srgbClr val="006699"/>
                                        </a:solidFill>
                                        <a:latin typeface="Cambria Math" panose="02040503050406030204" pitchFamily="18" charset="0"/>
                                      </a:rPr>
                                    </m:ctrlPr>
                                  </m:sSupPr>
                                  <m:e>
                                    <m:r>
                                      <a:rPr lang="en-US" altLang="zh-CN" sz="3200">
                                        <a:solidFill>
                                          <a:srgbClr val="006699"/>
                                        </a:solidFill>
                                        <a:latin typeface="Cambria Math" panose="02040503050406030204" pitchFamily="18" charset="0"/>
                                      </a:rPr>
                                      <m:t>𝑒</m:t>
                                    </m:r>
                                  </m:e>
                                  <m:sup>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𝑈</m:t>
                                        </m:r>
                                      </m:e>
                                      <m:sub>
                                        <m:r>
                                          <a:rPr lang="en-US" altLang="zh-CN" sz="3200">
                                            <a:solidFill>
                                              <a:srgbClr val="006699"/>
                                            </a:solidFill>
                                            <a:latin typeface="Cambria Math" panose="02040503050406030204" pitchFamily="18" charset="0"/>
                                          </a:rPr>
                                          <m:t>𝑖</m:t>
                                        </m:r>
                                      </m:sub>
                                    </m:sSub>
                                  </m:sup>
                                </m:sSup>
                              </m:e>
                            </m:nary>
                            <m:r>
                              <a:rPr lang="en-US" altLang="zh-CN" sz="3200">
                                <a:solidFill>
                                  <a:srgbClr val="006699"/>
                                </a:solidFill>
                                <a:latin typeface="Cambria Math" panose="02040503050406030204" pitchFamily="18" charset="0"/>
                              </a:rPr>
                              <m:t>,</m:t>
                            </m:r>
                          </m:e>
                        </m:mr>
                      </m:m>
                    </m:oMath>
                  </m:oMathPara>
                </a14:m>
                <a:endParaRPr lang="zh-CN" altLang="zh-CN" sz="3200" dirty="0">
                  <a:solidFill>
                    <a:srgbClr val="006699"/>
                  </a:solidFill>
                  <a:latin typeface="Verdana" panose="020B0604030504040204" pitchFamily="34" charset="0"/>
                </a:endParaRPr>
              </a:p>
              <a:p>
                <a:pPr>
                  <a:spcBef>
                    <a:spcPts val="900"/>
                  </a:spcBef>
                  <a:spcAft>
                    <a:spcPts val="900"/>
                  </a:spcAft>
                </a:pPr>
                <a:r>
                  <a:rPr lang="en-US" altLang="zh-CN" sz="3200" dirty="0" err="1">
                    <a:solidFill>
                      <a:srgbClr val="006699"/>
                    </a:solidFill>
                    <a:latin typeface="Verdana" panose="020B0604030504040204" pitchFamily="34" charset="0"/>
                  </a:rPr>
                  <a:t>渐近方差为</a:t>
                </a:r>
                <a:endParaRPr lang="zh-CN" altLang="zh-CN" sz="3200" dirty="0">
                  <a:solidFill>
                    <a:srgbClr val="006699"/>
                  </a:solidFill>
                  <a:latin typeface="Verdana" panose="020B0604030504040204" pitchFamily="34"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zh-CN" sz="2400" i="1">
                              <a:solidFill>
                                <a:srgbClr val="006699"/>
                              </a:solidFill>
                              <a:latin typeface="Cambria Math" panose="02040503050406030204" pitchFamily="18" charset="0"/>
                            </a:rPr>
                          </m:ctrlPr>
                        </m:mPr>
                        <m:mr>
                          <m:e>
                            <m:r>
                              <m:rPr>
                                <m:nor/>
                              </m:rPr>
                              <a:rPr lang="en-US" altLang="zh-CN" sz="2400">
                                <a:solidFill>
                                  <a:srgbClr val="006699"/>
                                </a:solidFill>
                                <a:latin typeface="Verdana" panose="020B0604030504040204" pitchFamily="34" charset="0"/>
                              </a:rPr>
                              <m:t>Var</m:t>
                            </m:r>
                            <m:d>
                              <m:dPr>
                                <m:ctrlPr>
                                  <a:rPr lang="zh-CN" altLang="zh-CN" sz="2400" i="1">
                                    <a:solidFill>
                                      <a:srgbClr val="006699"/>
                                    </a:solidFill>
                                    <a:latin typeface="Cambria Math" panose="02040503050406030204" pitchFamily="18" charset="0"/>
                                  </a:rPr>
                                </m:ctrlPr>
                              </m:dPr>
                              <m:e>
                                <m:sSub>
                                  <m:sSubPr>
                                    <m:ctrlPr>
                                      <a:rPr lang="zh-CN" altLang="zh-CN" sz="2400" i="1">
                                        <a:solidFill>
                                          <a:srgbClr val="006699"/>
                                        </a:solidFill>
                                        <a:latin typeface="Cambria Math" panose="02040503050406030204" pitchFamily="18" charset="0"/>
                                      </a:rPr>
                                    </m:ctrlPr>
                                  </m:sSubPr>
                                  <m:e>
                                    <m:acc>
                                      <m:accPr>
                                        <m:chr m:val="̂"/>
                                        <m:ctrlPr>
                                          <a:rPr lang="zh-CN" altLang="zh-CN" sz="2400" i="1">
                                            <a:solidFill>
                                              <a:srgbClr val="006699"/>
                                            </a:solidFill>
                                            <a:latin typeface="Cambria Math" panose="02040503050406030204" pitchFamily="18" charset="0"/>
                                          </a:rPr>
                                        </m:ctrlPr>
                                      </m:accPr>
                                      <m:e>
                                        <m:r>
                                          <a:rPr lang="en-US" altLang="zh-CN" sz="2400">
                                            <a:solidFill>
                                              <a:srgbClr val="006699"/>
                                            </a:solidFill>
                                            <a:latin typeface="Cambria Math" panose="02040503050406030204" pitchFamily="18" charset="0"/>
                                          </a:rPr>
                                          <m:t>𝐼</m:t>
                                        </m:r>
                                      </m:e>
                                    </m:acc>
                                  </m:e>
                                  <m:sub>
                                    <m:r>
                                      <a:rPr lang="en-US" altLang="zh-CN" sz="2400">
                                        <a:solidFill>
                                          <a:srgbClr val="006699"/>
                                        </a:solidFill>
                                        <a:latin typeface="Cambria Math" panose="02040503050406030204" pitchFamily="18" charset="0"/>
                                      </a:rPr>
                                      <m:t>2</m:t>
                                    </m:r>
                                  </m:sub>
                                </m:sSub>
                              </m:e>
                            </m:d>
                            <m:r>
                              <a:rPr lang="en-US" altLang="zh-CN" sz="2400">
                                <a:solidFill>
                                  <a:srgbClr val="006699"/>
                                </a:solidFill>
                                <a:latin typeface="Cambria Math" panose="02040503050406030204" pitchFamily="18" charset="0"/>
                              </a:rPr>
                              <m:t>=</m:t>
                            </m:r>
                            <m:f>
                              <m:fPr>
                                <m:ctrlPr>
                                  <a:rPr lang="zh-CN" altLang="zh-CN" sz="2400" i="1">
                                    <a:solidFill>
                                      <a:srgbClr val="006699"/>
                                    </a:solidFill>
                                    <a:latin typeface="Cambria Math" panose="02040503050406030204" pitchFamily="18" charset="0"/>
                                  </a:rPr>
                                </m:ctrlPr>
                              </m:fPr>
                              <m:num>
                                <m:r>
                                  <a:rPr lang="en-US" altLang="zh-CN" sz="2400">
                                    <a:solidFill>
                                      <a:srgbClr val="006699"/>
                                    </a:solidFill>
                                    <a:latin typeface="Cambria Math" panose="02040503050406030204" pitchFamily="18" charset="0"/>
                                  </a:rPr>
                                  <m:t>1</m:t>
                                </m:r>
                              </m:num>
                              <m:den>
                                <m:r>
                                  <a:rPr lang="en-US" altLang="zh-CN" sz="2400">
                                    <a:solidFill>
                                      <a:srgbClr val="006699"/>
                                    </a:solidFill>
                                    <a:latin typeface="Cambria Math" panose="02040503050406030204" pitchFamily="18" charset="0"/>
                                  </a:rPr>
                                  <m:t>𝑁</m:t>
                                </m:r>
                              </m:den>
                            </m:f>
                            <m:d>
                              <m:dPr>
                                <m:ctrlPr>
                                  <a:rPr lang="zh-CN" altLang="zh-CN" sz="2400" i="1">
                                    <a:solidFill>
                                      <a:srgbClr val="006699"/>
                                    </a:solidFill>
                                    <a:latin typeface="Cambria Math" panose="02040503050406030204" pitchFamily="18" charset="0"/>
                                  </a:rPr>
                                </m:ctrlPr>
                              </m:dPr>
                              <m:e>
                                <m:nary>
                                  <m:naryPr>
                                    <m:limLoc m:val="subSup"/>
                                    <m:ctrlPr>
                                      <a:rPr lang="zh-CN" altLang="zh-CN" sz="2400" i="1">
                                        <a:solidFill>
                                          <a:srgbClr val="006699"/>
                                        </a:solidFill>
                                        <a:latin typeface="Cambria Math" panose="02040503050406030204" pitchFamily="18" charset="0"/>
                                      </a:rPr>
                                    </m:ctrlPr>
                                  </m:naryPr>
                                  <m:sub>
                                    <m:r>
                                      <a:rPr lang="en-US" altLang="zh-CN" sz="2400">
                                        <a:solidFill>
                                          <a:srgbClr val="006699"/>
                                        </a:solidFill>
                                        <a:latin typeface="Cambria Math" panose="02040503050406030204" pitchFamily="18" charset="0"/>
                                      </a:rPr>
                                      <m:t>0</m:t>
                                    </m:r>
                                  </m:sub>
                                  <m:sup>
                                    <m:r>
                                      <a:rPr lang="en-US" altLang="zh-CN" sz="2400">
                                        <a:solidFill>
                                          <a:srgbClr val="006699"/>
                                        </a:solidFill>
                                        <a:latin typeface="Cambria Math" panose="02040503050406030204" pitchFamily="18" charset="0"/>
                                      </a:rPr>
                                      <m:t>1</m:t>
                                    </m:r>
                                  </m:sup>
                                  <m:e>
                                    <m:sSup>
                                      <m:sSupPr>
                                        <m:ctrlPr>
                                          <a:rPr lang="zh-CN" altLang="zh-CN" sz="2400" i="1">
                                            <a:solidFill>
                                              <a:srgbClr val="006699"/>
                                            </a:solidFill>
                                            <a:latin typeface="Cambria Math" panose="02040503050406030204" pitchFamily="18" charset="0"/>
                                          </a:rPr>
                                        </m:ctrlPr>
                                      </m:sSupPr>
                                      <m:e>
                                        <m:r>
                                          <a:rPr lang="en-US" altLang="zh-CN" sz="2400">
                                            <a:solidFill>
                                              <a:srgbClr val="006699"/>
                                            </a:solidFill>
                                            <a:latin typeface="Cambria Math" panose="02040503050406030204" pitchFamily="18" charset="0"/>
                                          </a:rPr>
                                          <m:t>𝑒</m:t>
                                        </m:r>
                                      </m:e>
                                      <m:sup>
                                        <m:r>
                                          <a:rPr lang="en-US" altLang="zh-CN" sz="2400">
                                            <a:solidFill>
                                              <a:srgbClr val="006699"/>
                                            </a:solidFill>
                                            <a:latin typeface="Cambria Math" panose="02040503050406030204" pitchFamily="18" charset="0"/>
                                          </a:rPr>
                                          <m:t>2</m:t>
                                        </m:r>
                                        <m:r>
                                          <a:rPr lang="en-US" altLang="zh-CN" sz="2400">
                                            <a:solidFill>
                                              <a:srgbClr val="006699"/>
                                            </a:solidFill>
                                            <a:latin typeface="Cambria Math" panose="02040503050406030204" pitchFamily="18" charset="0"/>
                                          </a:rPr>
                                          <m:t>𝑥</m:t>
                                        </m:r>
                                      </m:sup>
                                    </m:sSup>
                                  </m:e>
                                </m:nary>
                                <m:r>
                                  <a:rPr lang="en-US" altLang="zh-CN" sz="2400">
                                    <a:solidFill>
                                      <a:srgbClr val="006699"/>
                                    </a:solidFill>
                                    <a:latin typeface="Cambria Math" panose="02040503050406030204" pitchFamily="18" charset="0"/>
                                  </a:rPr>
                                  <m:t> </m:t>
                                </m:r>
                                <m:r>
                                  <a:rPr lang="en-US" altLang="zh-CN" sz="2400">
                                    <a:solidFill>
                                      <a:srgbClr val="006699"/>
                                    </a:solidFill>
                                    <a:latin typeface="Cambria Math" panose="02040503050406030204" pitchFamily="18" charset="0"/>
                                  </a:rPr>
                                  <m:t>𝑑𝑥</m:t>
                                </m:r>
                                <m:r>
                                  <a:rPr lang="en-US" altLang="zh-CN" sz="2400">
                                    <a:solidFill>
                                      <a:srgbClr val="006699"/>
                                    </a:solidFill>
                                    <a:latin typeface="Cambria Math" panose="02040503050406030204" pitchFamily="18" charset="0"/>
                                  </a:rPr>
                                  <m:t>−</m:t>
                                </m:r>
                                <m:sSup>
                                  <m:sSupPr>
                                    <m:ctrlPr>
                                      <a:rPr lang="zh-CN" altLang="zh-CN" sz="2400" i="1">
                                        <a:solidFill>
                                          <a:srgbClr val="006699"/>
                                        </a:solidFill>
                                        <a:latin typeface="Cambria Math" panose="02040503050406030204" pitchFamily="18" charset="0"/>
                                      </a:rPr>
                                    </m:ctrlPr>
                                  </m:sSupPr>
                                  <m:e>
                                    <m:r>
                                      <a:rPr lang="en-US" altLang="zh-CN" sz="2400">
                                        <a:solidFill>
                                          <a:srgbClr val="006699"/>
                                        </a:solidFill>
                                        <a:latin typeface="Cambria Math" panose="02040503050406030204" pitchFamily="18" charset="0"/>
                                      </a:rPr>
                                      <m:t>𝐼</m:t>
                                    </m:r>
                                  </m:e>
                                  <m:sup>
                                    <m:r>
                                      <a:rPr lang="en-US" altLang="zh-CN" sz="2400">
                                        <a:solidFill>
                                          <a:srgbClr val="006699"/>
                                        </a:solidFill>
                                        <a:latin typeface="Cambria Math" panose="02040503050406030204" pitchFamily="18" charset="0"/>
                                      </a:rPr>
                                      <m:t>2</m:t>
                                    </m:r>
                                  </m:sup>
                                </m:sSup>
                              </m:e>
                            </m:d>
                            <m:r>
                              <a:rPr lang="en-US" altLang="zh-CN" sz="2400">
                                <a:solidFill>
                                  <a:srgbClr val="006699"/>
                                </a:solidFill>
                                <a:latin typeface="Cambria Math" panose="02040503050406030204" pitchFamily="18" charset="0"/>
                              </a:rPr>
                              <m:t>≈0.2420/</m:t>
                            </m:r>
                            <m:r>
                              <a:rPr lang="en-US" altLang="zh-CN" sz="2400">
                                <a:solidFill>
                                  <a:srgbClr val="006699"/>
                                </a:solidFill>
                                <a:latin typeface="Cambria Math" panose="02040503050406030204" pitchFamily="18" charset="0"/>
                              </a:rPr>
                              <m:t>𝑁</m:t>
                            </m:r>
                            <m:r>
                              <a:rPr lang="en-US" altLang="zh-CN" sz="2400">
                                <a:solidFill>
                                  <a:srgbClr val="006699"/>
                                </a:solidFill>
                                <a:latin typeface="Cambria Math" panose="02040503050406030204" pitchFamily="18" charset="0"/>
                              </a:rPr>
                              <m:t>≈9.0×</m:t>
                            </m:r>
                            <m:r>
                              <m:rPr>
                                <m:nor/>
                              </m:rPr>
                              <a:rPr lang="en-US" altLang="zh-CN" sz="2400">
                                <a:solidFill>
                                  <a:srgbClr val="006699"/>
                                </a:solidFill>
                                <a:latin typeface="Verdana" panose="020B0604030504040204" pitchFamily="34" charset="0"/>
                              </a:rPr>
                              <m:t>Var</m:t>
                            </m:r>
                            <m:d>
                              <m:dPr>
                                <m:ctrlPr>
                                  <a:rPr lang="zh-CN" altLang="zh-CN" sz="2400" i="1">
                                    <a:solidFill>
                                      <a:srgbClr val="006699"/>
                                    </a:solidFill>
                                    <a:latin typeface="Cambria Math" panose="02040503050406030204" pitchFamily="18" charset="0"/>
                                  </a:rPr>
                                </m:ctrlPr>
                              </m:dPr>
                              <m:e>
                                <m:sSub>
                                  <m:sSubPr>
                                    <m:ctrlPr>
                                      <a:rPr lang="zh-CN" altLang="zh-CN" sz="2400" i="1">
                                        <a:solidFill>
                                          <a:srgbClr val="006699"/>
                                        </a:solidFill>
                                        <a:latin typeface="Cambria Math" panose="02040503050406030204" pitchFamily="18" charset="0"/>
                                      </a:rPr>
                                    </m:ctrlPr>
                                  </m:sSubPr>
                                  <m:e>
                                    <m:acc>
                                      <m:accPr>
                                        <m:chr m:val="̂"/>
                                        <m:ctrlPr>
                                          <a:rPr lang="zh-CN" altLang="zh-CN" sz="2400" i="1">
                                            <a:solidFill>
                                              <a:srgbClr val="006699"/>
                                            </a:solidFill>
                                            <a:latin typeface="Cambria Math" panose="02040503050406030204" pitchFamily="18" charset="0"/>
                                          </a:rPr>
                                        </m:ctrlPr>
                                      </m:accPr>
                                      <m:e>
                                        <m:r>
                                          <a:rPr lang="en-US" altLang="zh-CN" sz="2400">
                                            <a:solidFill>
                                              <a:srgbClr val="006699"/>
                                            </a:solidFill>
                                            <a:latin typeface="Cambria Math" panose="02040503050406030204" pitchFamily="18" charset="0"/>
                                          </a:rPr>
                                          <m:t>𝐼</m:t>
                                        </m:r>
                                      </m:e>
                                    </m:acc>
                                  </m:e>
                                  <m:sub>
                                    <m:r>
                                      <a:rPr lang="en-US" altLang="zh-CN" sz="2400">
                                        <a:solidFill>
                                          <a:srgbClr val="006699"/>
                                        </a:solidFill>
                                        <a:latin typeface="Cambria Math" panose="02040503050406030204" pitchFamily="18" charset="0"/>
                                      </a:rPr>
                                      <m:t>3</m:t>
                                    </m:r>
                                  </m:sub>
                                </m:sSub>
                              </m:e>
                            </m:d>
                          </m:e>
                        </m:mr>
                      </m:m>
                    </m:oMath>
                  </m:oMathPara>
                </a14:m>
                <a:endParaRPr lang="zh-CN" altLang="zh-CN" sz="2400" dirty="0">
                  <a:solidFill>
                    <a:srgbClr val="006699"/>
                  </a:solidFill>
                  <a:latin typeface="Verdana" panose="020B0604030504040204" pitchFamily="34" charset="0"/>
                </a:endParaRPr>
              </a:p>
              <a:p>
                <a:r>
                  <a:rPr lang="en-US" altLang="zh-CN" sz="3200" dirty="0">
                    <a:solidFill>
                      <a:srgbClr val="006699"/>
                    </a:solidFill>
                    <a:latin typeface="Verdana" panose="020B0604030504040204" pitchFamily="34" charset="0"/>
                  </a:rPr>
                  <a:t>是重要抽样法方差的9倍。</a:t>
                </a:r>
                <a:endParaRPr lang="zh-CN" altLang="en-US" sz="3200" dirty="0">
                  <a:solidFill>
                    <a:srgbClr val="006699"/>
                  </a:solidFill>
                  <a:latin typeface="Verdana" panose="020B0604030504040204" pitchFamily="34" charset="0"/>
                </a:endParaRPr>
              </a:p>
            </p:txBody>
          </p:sp>
        </mc:Choice>
        <mc:Fallback xmlns="">
          <p:sp>
            <p:nvSpPr>
              <p:cNvPr id="4" name="文本框 3">
                <a:extLst>
                  <a:ext uri="{FF2B5EF4-FFF2-40B4-BE49-F238E27FC236}">
                    <a16:creationId xmlns:a16="http://schemas.microsoft.com/office/drawing/2014/main" id="{5FC20139-FFD6-2176-184C-EAD0FAFD9F2C}"/>
                  </a:ext>
                </a:extLst>
              </p:cNvPr>
              <p:cNvSpPr txBox="1">
                <a:spLocks noRot="1" noChangeAspect="1" noMove="1" noResize="1" noEditPoints="1" noAdjustHandles="1" noChangeArrowheads="1" noChangeShapeType="1" noTextEdit="1"/>
              </p:cNvSpPr>
              <p:nvPr/>
            </p:nvSpPr>
            <p:spPr>
              <a:xfrm>
                <a:off x="116505" y="953725"/>
                <a:ext cx="8910990" cy="4392036"/>
              </a:xfrm>
              <a:prstGeom prst="rect">
                <a:avLst/>
              </a:prstGeom>
              <a:blipFill>
                <a:blip r:embed="rId2"/>
                <a:stretch>
                  <a:fillRect l="-1710" t="-2080" b="-3606"/>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28383614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12.1</a:t>
            </a:r>
            <a:endParaRPr lang="zh-CN" altLang="en-US" dirty="0"/>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76</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1F90C6C-68D5-ABB8-DD01-EA481F53E824}"/>
                  </a:ext>
                </a:extLst>
              </p:cNvPr>
              <p:cNvSpPr txBox="1"/>
              <p:nvPr/>
            </p:nvSpPr>
            <p:spPr>
              <a:xfrm>
                <a:off x="-108520" y="1105736"/>
                <a:ext cx="9252520" cy="4264565"/>
              </a:xfrm>
              <a:prstGeom prst="rect">
                <a:avLst/>
              </a:prstGeom>
              <a:noFill/>
              <a:ln w="25400">
                <a:noFill/>
              </a:ln>
            </p:spPr>
            <p:txBody>
              <a:bodyPr wrap="square">
                <a:spAutoFit/>
              </a:bodyPr>
              <a:lstStyle/>
              <a:p>
                <a:pPr>
                  <a:spcBef>
                    <a:spcPts val="900"/>
                  </a:spcBef>
                  <a:spcAft>
                    <a:spcPts val="900"/>
                  </a:spcAft>
                </a:pPr>
                <a:r>
                  <a:rPr lang="en-US" altLang="zh-CN" sz="3200" dirty="0" err="1">
                    <a:solidFill>
                      <a:srgbClr val="006699"/>
                    </a:solidFill>
                    <a:latin typeface="Verdana" panose="020B0604030504040204" pitchFamily="34" charset="0"/>
                  </a:rPr>
                  <a:t>如果用</a:t>
                </a:r>
                <a:r>
                  <a:rPr lang="en-US" altLang="zh-CN" sz="3200" dirty="0" err="1">
                    <a:solidFill>
                      <a:srgbClr val="FF0000"/>
                    </a:solidFill>
                    <a:latin typeface="Verdana" panose="020B0604030504040204" pitchFamily="34" charset="0"/>
                  </a:rPr>
                  <a:t>随机投点法</a:t>
                </a:r>
                <a:r>
                  <a:rPr lang="en-US" altLang="zh-CN" sz="3200" dirty="0">
                    <a:solidFill>
                      <a:srgbClr val="006699"/>
                    </a:solidFill>
                    <a:latin typeface="Verdana" panose="020B0604030504040204" pitchFamily="34" charset="0"/>
                  </a:rPr>
                  <a:t>，</a:t>
                </a:r>
                <a:endParaRPr lang="zh-CN" altLang="zh-CN" sz="3200" dirty="0">
                  <a:solidFill>
                    <a:srgbClr val="006699"/>
                  </a:solidFill>
                  <a:latin typeface="Verdana" panose="020B0604030504040204" pitchFamily="34" charset="0"/>
                </a:endParaRPr>
              </a:p>
              <a:p>
                <a:pPr>
                  <a:spcBef>
                    <a:spcPts val="900"/>
                  </a:spcBef>
                  <a:spcAft>
                    <a:spcPts val="900"/>
                  </a:spcAft>
                </a:pPr>
                <a14:m>
                  <m:oMath xmlns:m="http://schemas.openxmlformats.org/officeDocument/2006/math">
                    <m:r>
                      <a:rPr lang="en-US" altLang="zh-CN" sz="3200">
                        <a:solidFill>
                          <a:srgbClr val="006699"/>
                        </a:solidFill>
                        <a:latin typeface="Cambria Math" panose="02040503050406030204" pitchFamily="18" charset="0"/>
                      </a:rPr>
                      <m:t>h</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𝑥</m:t>
                        </m:r>
                      </m:e>
                    </m:d>
                    <m:r>
                      <a:rPr lang="en-US" altLang="zh-CN" sz="3200">
                        <a:solidFill>
                          <a:srgbClr val="006699"/>
                        </a:solidFill>
                        <a:latin typeface="Cambria Math" panose="02040503050406030204" pitchFamily="18" charset="0"/>
                      </a:rPr>
                      <m:t>=</m:t>
                    </m:r>
                    <m:sSup>
                      <m:sSupPr>
                        <m:ctrlPr>
                          <a:rPr lang="zh-CN" altLang="zh-CN" sz="3200" i="1">
                            <a:solidFill>
                              <a:srgbClr val="006699"/>
                            </a:solidFill>
                            <a:latin typeface="Cambria Math" panose="02040503050406030204" pitchFamily="18" charset="0"/>
                          </a:rPr>
                        </m:ctrlPr>
                      </m:sSupPr>
                      <m:e>
                        <m:r>
                          <a:rPr lang="en-US" altLang="zh-CN" sz="3200">
                            <a:solidFill>
                              <a:srgbClr val="006699"/>
                            </a:solidFill>
                            <a:latin typeface="Cambria Math" panose="02040503050406030204" pitchFamily="18" charset="0"/>
                          </a:rPr>
                          <m:t>𝑒</m:t>
                        </m:r>
                      </m:e>
                      <m:sup>
                        <m:r>
                          <a:rPr lang="en-US" altLang="zh-CN" sz="3200">
                            <a:solidFill>
                              <a:srgbClr val="006699"/>
                            </a:solidFill>
                            <a:latin typeface="Cambria Math" panose="02040503050406030204" pitchFamily="18" charset="0"/>
                          </a:rPr>
                          <m:t>𝑥</m:t>
                        </m:r>
                      </m:sup>
                    </m:sSup>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𝑒</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0&lt;</m:t>
                        </m:r>
                        <m:r>
                          <a:rPr lang="en-US" altLang="zh-CN" sz="3200">
                            <a:solidFill>
                              <a:srgbClr val="006699"/>
                            </a:solidFill>
                            <a:latin typeface="Cambria Math" panose="02040503050406030204" pitchFamily="18" charset="0"/>
                          </a:rPr>
                          <m:t>𝑥</m:t>
                        </m:r>
                        <m:r>
                          <a:rPr lang="en-US" altLang="zh-CN" sz="3200">
                            <a:solidFill>
                              <a:srgbClr val="006699"/>
                            </a:solidFill>
                            <a:latin typeface="Cambria Math" panose="02040503050406030204" pitchFamily="18" charset="0"/>
                          </a:rPr>
                          <m:t>&lt;1</m:t>
                        </m:r>
                      </m:e>
                    </m:d>
                  </m:oMath>
                </a14:m>
                <a:r>
                  <a:rPr lang="en-US" altLang="zh-CN" sz="3200" dirty="0">
                    <a:solidFill>
                      <a:srgbClr val="006699"/>
                    </a:solidFill>
                    <a:latin typeface="Verdana" panose="020B0604030504040204" pitchFamily="34" charset="0"/>
                  </a:rPr>
                  <a:t>, </a:t>
                </a:r>
              </a:p>
              <a:p>
                <a:pPr>
                  <a:spcBef>
                    <a:spcPts val="900"/>
                  </a:spcBef>
                  <a:spcAft>
                    <a:spcPts val="900"/>
                  </a:spcAft>
                </a:pPr>
                <a:r>
                  <a:rPr lang="en-US" altLang="zh-CN" sz="3200" dirty="0" err="1">
                    <a:solidFill>
                      <a:srgbClr val="006699"/>
                    </a:solidFill>
                    <a:latin typeface="Verdana" panose="020B0604030504040204" pitchFamily="34" charset="0"/>
                  </a:rPr>
                  <a:t>取上界</a:t>
                </a:r>
                <a14:m>
                  <m:oMath xmlns:m="http://schemas.openxmlformats.org/officeDocument/2006/math">
                    <m:r>
                      <a:rPr lang="en-US" altLang="zh-CN" sz="3200">
                        <a:solidFill>
                          <a:srgbClr val="006699"/>
                        </a:solidFill>
                        <a:latin typeface="Cambria Math" panose="02040503050406030204" pitchFamily="18" charset="0"/>
                      </a:rPr>
                      <m:t>𝑀</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𝑒</m:t>
                    </m:r>
                  </m:oMath>
                </a14:m>
                <a:r>
                  <a:rPr lang="en-US" altLang="zh-CN" sz="3200" dirty="0">
                    <a:solidFill>
                      <a:srgbClr val="006699"/>
                    </a:solidFill>
                    <a:latin typeface="Verdana" panose="020B0604030504040204" pitchFamily="34" charset="0"/>
                  </a:rPr>
                  <a:t>, </a:t>
                </a:r>
              </a:p>
              <a:p>
                <a:pPr>
                  <a:spcBef>
                    <a:spcPts val="900"/>
                  </a:spcBef>
                  <a:spcAft>
                    <a:spcPts val="900"/>
                  </a:spcAft>
                </a:pPr>
                <a:r>
                  <a:rPr lang="en-US" altLang="zh-CN" sz="3200" dirty="0">
                    <a:solidFill>
                      <a:srgbClr val="006699"/>
                    </a:solidFill>
                    <a:latin typeface="Verdana" panose="020B0604030504040204" pitchFamily="34" charset="0"/>
                  </a:rPr>
                  <a:t>向</a:t>
                </a:r>
                <a14:m>
                  <m:oMath xmlns:m="http://schemas.openxmlformats.org/officeDocument/2006/math">
                    <m:d>
                      <m:dPr>
                        <m:begChr m:val="["/>
                        <m:endChr m:val="]"/>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0,1</m:t>
                        </m:r>
                      </m:e>
                    </m:d>
                    <m:r>
                      <a:rPr lang="en-US" altLang="zh-CN" sz="3200">
                        <a:solidFill>
                          <a:srgbClr val="006699"/>
                        </a:solidFill>
                        <a:latin typeface="Cambria Math" panose="02040503050406030204" pitchFamily="18" charset="0"/>
                      </a:rPr>
                      <m:t>×</m:t>
                    </m:r>
                    <m:d>
                      <m:dPr>
                        <m:begChr m:val="["/>
                        <m:endChr m:val="]"/>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0,</m:t>
                        </m:r>
                        <m:r>
                          <a:rPr lang="en-US" altLang="zh-CN" sz="3200">
                            <a:solidFill>
                              <a:srgbClr val="006699"/>
                            </a:solidFill>
                            <a:latin typeface="Cambria Math" panose="02040503050406030204" pitchFamily="18" charset="0"/>
                          </a:rPr>
                          <m:t>𝑀</m:t>
                        </m:r>
                      </m:e>
                    </m:d>
                  </m:oMath>
                </a14:m>
                <a:r>
                  <a:rPr lang="en-US" altLang="zh-CN" sz="3200" dirty="0" err="1">
                    <a:solidFill>
                      <a:srgbClr val="006699"/>
                    </a:solidFill>
                    <a:latin typeface="Verdana" panose="020B0604030504040204" pitchFamily="34" charset="0"/>
                  </a:rPr>
                  <a:t>随机投点，</a:t>
                </a:r>
                <a:endParaRPr lang="en-US" altLang="zh-CN" sz="3200" dirty="0">
                  <a:solidFill>
                    <a:srgbClr val="006699"/>
                  </a:solidFill>
                  <a:latin typeface="Verdana" panose="020B0604030504040204" pitchFamily="34" charset="0"/>
                </a:endParaRPr>
              </a:p>
              <a:p>
                <a:pPr>
                  <a:spcBef>
                    <a:spcPts val="900"/>
                  </a:spcBef>
                  <a:spcAft>
                    <a:spcPts val="900"/>
                  </a:spcAft>
                </a:pPr>
                <a:r>
                  <a:rPr lang="en-US" altLang="zh-CN" sz="3200" dirty="0" err="1">
                    <a:solidFill>
                      <a:srgbClr val="006699"/>
                    </a:solidFill>
                    <a:latin typeface="Verdana" panose="020B0604030504040204" pitchFamily="34" charset="0"/>
                  </a:rPr>
                  <a:t>落到</a:t>
                </a:r>
                <a14:m>
                  <m:oMath xmlns:m="http://schemas.openxmlformats.org/officeDocument/2006/math">
                    <m:r>
                      <a:rPr lang="en-US" altLang="zh-CN" sz="3200">
                        <a:solidFill>
                          <a:srgbClr val="006699"/>
                        </a:solidFill>
                        <a:latin typeface="Cambria Math" panose="02040503050406030204" pitchFamily="18" charset="0"/>
                      </a:rPr>
                      <m:t>𝑓</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𝑥</m:t>
                        </m:r>
                      </m:e>
                    </m:d>
                  </m:oMath>
                </a14:m>
                <a:r>
                  <a:rPr lang="en-US" altLang="zh-CN" sz="3200" dirty="0" err="1">
                    <a:solidFill>
                      <a:srgbClr val="006699"/>
                    </a:solidFill>
                    <a:latin typeface="Verdana" panose="020B0604030504040204" pitchFamily="34" charset="0"/>
                  </a:rPr>
                  <a:t>下方的概率为</a:t>
                </a:r>
                <a:endParaRPr lang="zh-CN" altLang="zh-CN" sz="3200" dirty="0">
                  <a:solidFill>
                    <a:srgbClr val="006699"/>
                  </a:solidFill>
                  <a:latin typeface="Verdana" panose="020B0604030504040204" pitchFamily="34"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zh-CN" sz="3200" i="1">
                              <a:solidFill>
                                <a:srgbClr val="006699"/>
                              </a:solidFill>
                              <a:latin typeface="Cambria Math" panose="02040503050406030204" pitchFamily="18" charset="0"/>
                            </a:rPr>
                          </m:ctrlPr>
                        </m:mPr>
                        <m:mr>
                          <m:e>
                            <m:r>
                              <a:rPr lang="en-US" altLang="zh-CN" sz="3200">
                                <a:solidFill>
                                  <a:srgbClr val="006699"/>
                                </a:solidFill>
                                <a:latin typeface="Cambria Math" panose="02040503050406030204" pitchFamily="18" charset="0"/>
                              </a:rPr>
                              <m:t>𝑝</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𝐼</m:t>
                            </m:r>
                            <m:r>
                              <a:rPr lang="en-US" altLang="zh-CN" sz="3200">
                                <a:solidFill>
                                  <a:srgbClr val="006699"/>
                                </a:solidFill>
                                <a:latin typeface="Cambria Math" panose="02040503050406030204" pitchFamily="18" charset="0"/>
                              </a:rPr>
                              <m:t>/</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𝑀</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𝑏</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𝑎</m:t>
                                    </m:r>
                                  </m:e>
                                </m:d>
                              </m:e>
                            </m:d>
                            <m:r>
                              <a:rPr lang="en-US" altLang="zh-CN" sz="3200">
                                <a:solidFill>
                                  <a:srgbClr val="006699"/>
                                </a:solidFill>
                                <a:latin typeface="Cambria Math" panose="02040503050406030204" pitchFamily="18" charset="0"/>
                              </a:rPr>
                              <m:t>=</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𝑒</m:t>
                                </m:r>
                                <m:r>
                                  <a:rPr lang="en-US" altLang="zh-CN" sz="3200">
                                    <a:solidFill>
                                      <a:srgbClr val="006699"/>
                                    </a:solidFill>
                                    <a:latin typeface="Cambria Math" panose="02040503050406030204" pitchFamily="18" charset="0"/>
                                  </a:rPr>
                                  <m:t>−1</m:t>
                                </m:r>
                              </m:e>
                            </m:d>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𝑒</m:t>
                            </m:r>
                            <m:r>
                              <a:rPr lang="en-US" altLang="zh-CN" sz="3200">
                                <a:solidFill>
                                  <a:srgbClr val="006699"/>
                                </a:solidFill>
                                <a:latin typeface="Cambria Math" panose="02040503050406030204" pitchFamily="18" charset="0"/>
                              </a:rPr>
                              <m:t>,</m:t>
                            </m:r>
                          </m:e>
                        </m:mr>
                      </m:m>
                    </m:oMath>
                  </m:oMathPara>
                </a14:m>
                <a:endParaRPr lang="zh-CN" altLang="zh-CN" sz="3200" dirty="0">
                  <a:solidFill>
                    <a:srgbClr val="006699"/>
                  </a:solidFill>
                  <a:latin typeface="Verdana" panose="020B0604030504040204" pitchFamily="34" charset="0"/>
                </a:endParaRPr>
              </a:p>
            </p:txBody>
          </p:sp>
        </mc:Choice>
        <mc:Fallback xmlns="">
          <p:sp>
            <p:nvSpPr>
              <p:cNvPr id="3" name="文本框 2">
                <a:extLst>
                  <a:ext uri="{FF2B5EF4-FFF2-40B4-BE49-F238E27FC236}">
                    <a16:creationId xmlns:a16="http://schemas.microsoft.com/office/drawing/2014/main" id="{A1F90C6C-68D5-ABB8-DD01-EA481F53E824}"/>
                  </a:ext>
                </a:extLst>
              </p:cNvPr>
              <p:cNvSpPr txBox="1">
                <a:spLocks noRot="1" noChangeAspect="1" noMove="1" noResize="1" noEditPoints="1" noAdjustHandles="1" noChangeArrowheads="1" noChangeShapeType="1" noTextEdit="1"/>
              </p:cNvSpPr>
              <p:nvPr/>
            </p:nvSpPr>
            <p:spPr>
              <a:xfrm>
                <a:off x="-108520" y="1105736"/>
                <a:ext cx="9252520" cy="4264565"/>
              </a:xfrm>
              <a:prstGeom prst="rect">
                <a:avLst/>
              </a:prstGeom>
              <a:blipFill>
                <a:blip r:embed="rId2"/>
                <a:stretch>
                  <a:fillRect l="-1647" t="-2143"/>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8161020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12.1</a:t>
            </a:r>
            <a:endParaRPr lang="zh-CN" altLang="en-US" dirty="0"/>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77</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1F90C6C-68D5-ABB8-DD01-EA481F53E824}"/>
                  </a:ext>
                </a:extLst>
              </p:cNvPr>
              <p:cNvSpPr txBox="1"/>
              <p:nvPr/>
            </p:nvSpPr>
            <p:spPr>
              <a:xfrm>
                <a:off x="-27816" y="998730"/>
                <a:ext cx="9252520" cy="5045869"/>
              </a:xfrm>
              <a:prstGeom prst="rect">
                <a:avLst/>
              </a:prstGeom>
              <a:noFill/>
              <a:ln w="25400">
                <a:noFill/>
              </a:ln>
            </p:spPr>
            <p:txBody>
              <a:bodyPr wrap="square">
                <a:spAutoFit/>
              </a:bodyPr>
              <a:lstStyle/>
              <a:p>
                <a:pPr>
                  <a:spcBef>
                    <a:spcPts val="900"/>
                  </a:spcBef>
                  <a:spcAft>
                    <a:spcPts val="900"/>
                  </a:spcAft>
                </a:pPr>
                <a:r>
                  <a:rPr lang="en-US" altLang="zh-CN" sz="3200" dirty="0">
                    <a:solidFill>
                      <a:srgbClr val="006699"/>
                    </a:solidFill>
                    <a:latin typeface="Verdana" panose="020B0604030504040204" pitchFamily="34" charset="0"/>
                  </a:rPr>
                  <a:t>设投</a:t>
                </a:r>
                <a14:m>
                  <m:oMath xmlns:m="http://schemas.openxmlformats.org/officeDocument/2006/math">
                    <m:r>
                      <a:rPr lang="en-US" altLang="zh-CN" sz="3200">
                        <a:solidFill>
                          <a:srgbClr val="006699"/>
                        </a:solidFill>
                        <a:latin typeface="Cambria Math" panose="02040503050406030204" pitchFamily="18" charset="0"/>
                      </a:rPr>
                      <m:t>𝑁</m:t>
                    </m:r>
                  </m:oMath>
                </a14:m>
                <a:r>
                  <a:rPr lang="en-US" altLang="zh-CN" sz="3200" dirty="0" err="1">
                    <a:solidFill>
                      <a:srgbClr val="006699"/>
                    </a:solidFill>
                    <a:latin typeface="Verdana" panose="020B0604030504040204" pitchFamily="34" charset="0"/>
                  </a:rPr>
                  <a:t>点落到</a:t>
                </a:r>
                <a14:m>
                  <m:oMath xmlns:m="http://schemas.openxmlformats.org/officeDocument/2006/math">
                    <m:r>
                      <a:rPr lang="en-US" altLang="zh-CN" sz="3200">
                        <a:solidFill>
                          <a:srgbClr val="006699"/>
                        </a:solidFill>
                        <a:latin typeface="Cambria Math" panose="02040503050406030204" pitchFamily="18" charset="0"/>
                      </a:rPr>
                      <m:t>h</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𝑥</m:t>
                        </m:r>
                      </m:e>
                    </m:d>
                  </m:oMath>
                </a14:m>
                <a:r>
                  <a:rPr lang="en-US" altLang="zh-CN" sz="3200" dirty="0" err="1">
                    <a:solidFill>
                      <a:srgbClr val="006699"/>
                    </a:solidFill>
                    <a:latin typeface="Verdana" panose="020B0604030504040204" pitchFamily="34" charset="0"/>
                  </a:rPr>
                  <a:t>下方的频率为</a:t>
                </a:r>
                <a14:m>
                  <m:oMath xmlns:m="http://schemas.openxmlformats.org/officeDocument/2006/math">
                    <m:acc>
                      <m:accPr>
                        <m:chr m:val="̂"/>
                        <m:ctrlPr>
                          <a:rPr lang="zh-CN" altLang="zh-CN" sz="3200" i="1">
                            <a:solidFill>
                              <a:srgbClr val="006699"/>
                            </a:solidFill>
                            <a:latin typeface="Cambria Math" panose="02040503050406030204" pitchFamily="18" charset="0"/>
                          </a:rPr>
                        </m:ctrlPr>
                      </m:accPr>
                      <m:e>
                        <m:r>
                          <a:rPr lang="en-US" altLang="zh-CN" sz="3200">
                            <a:solidFill>
                              <a:srgbClr val="006699"/>
                            </a:solidFill>
                            <a:latin typeface="Cambria Math" panose="02040503050406030204" pitchFamily="18" charset="0"/>
                          </a:rPr>
                          <m:t>𝑝</m:t>
                        </m:r>
                      </m:e>
                    </m:acc>
                  </m:oMath>
                </a14:m>
                <a:r>
                  <a:rPr lang="en-US" altLang="zh-CN" sz="3200" dirty="0">
                    <a:solidFill>
                      <a:srgbClr val="006699"/>
                    </a:solidFill>
                    <a:latin typeface="Verdana" panose="020B0604030504040204" pitchFamily="34" charset="0"/>
                  </a:rPr>
                  <a:t>, </a:t>
                </a:r>
              </a:p>
              <a:p>
                <a:pPr>
                  <a:spcBef>
                    <a:spcPts val="900"/>
                  </a:spcBef>
                  <a:spcAft>
                    <a:spcPts val="900"/>
                  </a:spcAft>
                </a:pPr>
                <a:r>
                  <a:rPr lang="en-US" altLang="zh-CN" sz="3200" dirty="0" err="1">
                    <a:solidFill>
                      <a:srgbClr val="006699"/>
                    </a:solidFill>
                    <a:latin typeface="Verdana" panose="020B0604030504040204" pitchFamily="34" charset="0"/>
                  </a:rPr>
                  <a:t>用随机投点法估计I的公式为</a:t>
                </a:r>
                <a:endParaRPr lang="zh-CN" altLang="zh-CN" sz="3200" dirty="0">
                  <a:solidFill>
                    <a:srgbClr val="006699"/>
                  </a:solidFill>
                  <a:latin typeface="Verdana" panose="020B0604030504040204" pitchFamily="34"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zh-CN" sz="3200" i="1">
                              <a:solidFill>
                                <a:srgbClr val="006699"/>
                              </a:solidFill>
                              <a:latin typeface="Cambria Math" panose="02040503050406030204" pitchFamily="18" charset="0"/>
                            </a:rPr>
                          </m:ctrlPr>
                        </m:mPr>
                        <m:mr>
                          <m:e>
                            <m:sSub>
                              <m:sSubPr>
                                <m:ctrlPr>
                                  <a:rPr lang="zh-CN" altLang="zh-CN" sz="3200" i="1">
                                    <a:solidFill>
                                      <a:srgbClr val="006699"/>
                                    </a:solidFill>
                                    <a:latin typeface="Cambria Math" panose="02040503050406030204" pitchFamily="18" charset="0"/>
                                  </a:rPr>
                                </m:ctrlPr>
                              </m:sSubPr>
                              <m:e>
                                <m:acc>
                                  <m:accPr>
                                    <m:chr m:val="̂"/>
                                    <m:ctrlPr>
                                      <a:rPr lang="zh-CN" altLang="zh-CN" sz="3200" i="1">
                                        <a:solidFill>
                                          <a:srgbClr val="006699"/>
                                        </a:solidFill>
                                        <a:latin typeface="Cambria Math" panose="02040503050406030204" pitchFamily="18" charset="0"/>
                                      </a:rPr>
                                    </m:ctrlPr>
                                  </m:accPr>
                                  <m:e>
                                    <m:r>
                                      <a:rPr lang="en-US" altLang="zh-CN" sz="3200">
                                        <a:solidFill>
                                          <a:srgbClr val="006699"/>
                                        </a:solidFill>
                                        <a:latin typeface="Cambria Math" panose="02040503050406030204" pitchFamily="18" charset="0"/>
                                      </a:rPr>
                                      <m:t>𝐼</m:t>
                                    </m:r>
                                  </m:e>
                                </m:acc>
                              </m:e>
                              <m:sub>
                                <m:r>
                                  <a:rPr lang="en-US" altLang="zh-CN" sz="3200">
                                    <a:solidFill>
                                      <a:srgbClr val="006699"/>
                                    </a:solidFill>
                                    <a:latin typeface="Cambria Math" panose="02040503050406030204" pitchFamily="18" charset="0"/>
                                  </a:rPr>
                                  <m:t>1</m:t>
                                </m:r>
                              </m:sub>
                            </m:sSub>
                            <m:r>
                              <a:rPr lang="en-US" altLang="zh-CN" sz="3200">
                                <a:solidFill>
                                  <a:srgbClr val="006699"/>
                                </a:solidFill>
                                <a:latin typeface="Cambria Math" panose="02040503050406030204" pitchFamily="18" charset="0"/>
                              </a:rPr>
                              <m:t>=</m:t>
                            </m:r>
                            <m:acc>
                              <m:accPr>
                                <m:chr m:val="̂"/>
                                <m:ctrlPr>
                                  <a:rPr lang="zh-CN" altLang="zh-CN" sz="3200" i="1">
                                    <a:solidFill>
                                      <a:srgbClr val="006699"/>
                                    </a:solidFill>
                                    <a:latin typeface="Cambria Math" panose="02040503050406030204" pitchFamily="18" charset="0"/>
                                  </a:rPr>
                                </m:ctrlPr>
                              </m:accPr>
                              <m:e>
                                <m:r>
                                  <a:rPr lang="en-US" altLang="zh-CN" sz="3200">
                                    <a:solidFill>
                                      <a:srgbClr val="006699"/>
                                    </a:solidFill>
                                    <a:latin typeface="Cambria Math" panose="02040503050406030204" pitchFamily="18" charset="0"/>
                                  </a:rPr>
                                  <m:t>𝑝</m:t>
                                </m:r>
                              </m:e>
                            </m:acc>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𝑀</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𝑏</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𝑎</m:t>
                                </m:r>
                              </m:e>
                            </m:d>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𝑒</m:t>
                            </m:r>
                            <m:acc>
                              <m:accPr>
                                <m:chr m:val="̂"/>
                                <m:ctrlPr>
                                  <a:rPr lang="zh-CN" altLang="zh-CN" sz="3200" i="1">
                                    <a:solidFill>
                                      <a:srgbClr val="006699"/>
                                    </a:solidFill>
                                    <a:latin typeface="Cambria Math" panose="02040503050406030204" pitchFamily="18" charset="0"/>
                                  </a:rPr>
                                </m:ctrlPr>
                              </m:accPr>
                              <m:e>
                                <m:r>
                                  <a:rPr lang="en-US" altLang="zh-CN" sz="3200">
                                    <a:solidFill>
                                      <a:srgbClr val="006699"/>
                                    </a:solidFill>
                                    <a:latin typeface="Cambria Math" panose="02040503050406030204" pitchFamily="18" charset="0"/>
                                  </a:rPr>
                                  <m:t>𝑝</m:t>
                                </m:r>
                              </m:e>
                            </m:acc>
                            <m:r>
                              <a:rPr lang="en-US" altLang="zh-CN" sz="3200">
                                <a:solidFill>
                                  <a:srgbClr val="006699"/>
                                </a:solidFill>
                                <a:latin typeface="Cambria Math" panose="02040503050406030204" pitchFamily="18" charset="0"/>
                              </a:rPr>
                              <m:t>,</m:t>
                            </m:r>
                          </m:e>
                        </m:mr>
                      </m:m>
                    </m:oMath>
                  </m:oMathPara>
                </a14:m>
                <a:endParaRPr lang="zh-CN" altLang="zh-CN" sz="3200" dirty="0">
                  <a:solidFill>
                    <a:srgbClr val="006699"/>
                  </a:solidFill>
                  <a:latin typeface="Verdana" panose="020B0604030504040204" pitchFamily="34" charset="0"/>
                </a:endParaRPr>
              </a:p>
              <a:p>
                <a:pPr>
                  <a:spcBef>
                    <a:spcPts val="900"/>
                  </a:spcBef>
                  <a:spcAft>
                    <a:spcPts val="900"/>
                  </a:spcAft>
                </a:pPr>
                <a:r>
                  <a:rPr lang="en-US" altLang="zh-CN" sz="3200" dirty="0" err="1">
                    <a:solidFill>
                      <a:srgbClr val="006699"/>
                    </a:solidFill>
                    <a:latin typeface="Verdana" panose="020B0604030504040204" pitchFamily="34" charset="0"/>
                  </a:rPr>
                  <a:t>渐近方差为</a:t>
                </a:r>
                <a:endParaRPr lang="zh-CN" altLang="zh-CN" sz="3200" dirty="0">
                  <a:solidFill>
                    <a:srgbClr val="006699"/>
                  </a:solidFill>
                  <a:latin typeface="Verdana" panose="020B0604030504040204" pitchFamily="34"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zh-CN" sz="3200" i="1">
                              <a:solidFill>
                                <a:srgbClr val="006699"/>
                              </a:solidFill>
                              <a:latin typeface="Cambria Math" panose="02040503050406030204" pitchFamily="18" charset="0"/>
                            </a:rPr>
                          </m:ctrlPr>
                        </m:mPr>
                        <m:mr>
                          <m:e>
                            <m:eqArr>
                              <m:eqArrPr>
                                <m:ctrlPr>
                                  <a:rPr lang="en-US" altLang="zh-CN" sz="3200" i="1">
                                    <a:solidFill>
                                      <a:srgbClr val="006699"/>
                                    </a:solidFill>
                                    <a:latin typeface="Cambria Math" panose="02040503050406030204" pitchFamily="18" charset="0"/>
                                  </a:rPr>
                                </m:ctrlPr>
                              </m:eqArrPr>
                              <m:e>
                                <m:r>
                                  <m:rPr>
                                    <m:nor/>
                                  </m:rPr>
                                  <a:rPr lang="en-US" altLang="zh-CN" sz="3200">
                                    <a:solidFill>
                                      <a:srgbClr val="006699"/>
                                    </a:solidFill>
                                    <a:latin typeface="Verdana" panose="020B0604030504040204" pitchFamily="34" charset="0"/>
                                  </a:rPr>
                                  <m:t>Var</m:t>
                                </m:r>
                                <m:d>
                                  <m:dPr>
                                    <m:ctrlPr>
                                      <a:rPr lang="zh-CN" altLang="zh-CN" sz="3200" i="1">
                                        <a:solidFill>
                                          <a:srgbClr val="006699"/>
                                        </a:solidFill>
                                        <a:latin typeface="Cambria Math" panose="02040503050406030204" pitchFamily="18" charset="0"/>
                                      </a:rPr>
                                    </m:ctrlPr>
                                  </m:dPr>
                                  <m:e>
                                    <m:sSub>
                                      <m:sSubPr>
                                        <m:ctrlPr>
                                          <a:rPr lang="zh-CN" altLang="zh-CN" sz="3200" i="1">
                                            <a:solidFill>
                                              <a:srgbClr val="006699"/>
                                            </a:solidFill>
                                            <a:latin typeface="Cambria Math" panose="02040503050406030204" pitchFamily="18" charset="0"/>
                                          </a:rPr>
                                        </m:ctrlPr>
                                      </m:sSubPr>
                                      <m:e>
                                        <m:acc>
                                          <m:accPr>
                                            <m:chr m:val="̂"/>
                                            <m:ctrlPr>
                                              <a:rPr lang="zh-CN" altLang="zh-CN" sz="3200" i="1">
                                                <a:solidFill>
                                                  <a:srgbClr val="006699"/>
                                                </a:solidFill>
                                                <a:latin typeface="Cambria Math" panose="02040503050406030204" pitchFamily="18" charset="0"/>
                                              </a:rPr>
                                            </m:ctrlPr>
                                          </m:accPr>
                                          <m:e>
                                            <m:r>
                                              <a:rPr lang="en-US" altLang="zh-CN" sz="3200">
                                                <a:solidFill>
                                                  <a:srgbClr val="006699"/>
                                                </a:solidFill>
                                                <a:latin typeface="Cambria Math" panose="02040503050406030204" pitchFamily="18" charset="0"/>
                                              </a:rPr>
                                              <m:t>𝐼</m:t>
                                            </m:r>
                                          </m:e>
                                        </m:acc>
                                      </m:e>
                                      <m:sub>
                                        <m:r>
                                          <a:rPr lang="en-US" altLang="zh-CN" sz="3200">
                                            <a:solidFill>
                                              <a:srgbClr val="006699"/>
                                            </a:solidFill>
                                            <a:latin typeface="Cambria Math" panose="02040503050406030204" pitchFamily="18" charset="0"/>
                                          </a:rPr>
                                          <m:t>1</m:t>
                                        </m:r>
                                      </m:sub>
                                    </m:sSub>
                                  </m:e>
                                </m:d>
                                <m:r>
                                  <a:rPr lang="en-US" altLang="zh-CN" sz="3200">
                                    <a:solidFill>
                                      <a:srgbClr val="006699"/>
                                    </a:solidFill>
                                    <a:latin typeface="Cambria Math" panose="02040503050406030204" pitchFamily="18" charset="0"/>
                                  </a:rPr>
                                  <m:t>=</m:t>
                                </m:r>
                                <m:sSup>
                                  <m:sSupPr>
                                    <m:ctrlPr>
                                      <a:rPr lang="zh-CN" altLang="zh-CN" sz="3200" i="1">
                                        <a:solidFill>
                                          <a:srgbClr val="006699"/>
                                        </a:solidFill>
                                        <a:latin typeface="Cambria Math" panose="02040503050406030204" pitchFamily="18" charset="0"/>
                                      </a:rPr>
                                    </m:ctrlPr>
                                  </m:sSupPr>
                                  <m:e>
                                    <m:r>
                                      <a:rPr lang="en-US" altLang="zh-CN" sz="3200">
                                        <a:solidFill>
                                          <a:srgbClr val="006699"/>
                                        </a:solidFill>
                                        <a:latin typeface="Cambria Math" panose="02040503050406030204" pitchFamily="18" charset="0"/>
                                      </a:rPr>
                                      <m:t>𝑒</m:t>
                                    </m:r>
                                  </m:e>
                                  <m:sup>
                                    <m:r>
                                      <a:rPr lang="en-US" altLang="zh-CN" sz="3200">
                                        <a:solidFill>
                                          <a:srgbClr val="006699"/>
                                        </a:solidFill>
                                        <a:latin typeface="Cambria Math" panose="02040503050406030204" pitchFamily="18" charset="0"/>
                                      </a:rPr>
                                      <m:t>2</m:t>
                                    </m:r>
                                  </m:sup>
                                </m:sSup>
                                <m:r>
                                  <a:rPr lang="en-US" altLang="zh-CN" sz="3200">
                                    <a:solidFill>
                                      <a:srgbClr val="006699"/>
                                    </a:solidFill>
                                    <a:latin typeface="Cambria Math" panose="02040503050406030204" pitchFamily="18" charset="0"/>
                                  </a:rPr>
                                  <m:t>𝑝</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1−</m:t>
                                    </m:r>
                                    <m:r>
                                      <a:rPr lang="en-US" altLang="zh-CN" sz="3200">
                                        <a:solidFill>
                                          <a:srgbClr val="006699"/>
                                        </a:solidFill>
                                        <a:latin typeface="Cambria Math" panose="02040503050406030204" pitchFamily="18" charset="0"/>
                                      </a:rPr>
                                      <m:t>𝑝</m:t>
                                    </m:r>
                                  </m:e>
                                </m:d>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𝑁</m:t>
                                </m:r>
                                <m:r>
                                  <a:rPr lang="en-US" altLang="zh-CN" sz="3200">
                                    <a:solidFill>
                                      <a:srgbClr val="006699"/>
                                    </a:solidFill>
                                    <a:latin typeface="Cambria Math" panose="02040503050406030204" pitchFamily="18" charset="0"/>
                                  </a:rPr>
                                  <m:t>=</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𝑒</m:t>
                                    </m:r>
                                    <m:r>
                                      <a:rPr lang="en-US" altLang="zh-CN" sz="3200">
                                        <a:solidFill>
                                          <a:srgbClr val="006699"/>
                                        </a:solidFill>
                                        <a:latin typeface="Cambria Math" panose="02040503050406030204" pitchFamily="18" charset="0"/>
                                      </a:rPr>
                                      <m:t>−1</m:t>
                                    </m:r>
                                  </m:e>
                                </m:d>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𝑁</m:t>
                                </m:r>
                                <m:r>
                                  <a:rPr lang="en-US" altLang="zh-CN" sz="3200">
                                    <a:solidFill>
                                      <a:srgbClr val="006699"/>
                                    </a:solidFill>
                                    <a:latin typeface="Cambria Math" panose="02040503050406030204" pitchFamily="18" charset="0"/>
                                  </a:rPr>
                                  <m:t>≈1.718/</m:t>
                                </m:r>
                                <m:r>
                                  <a:rPr lang="en-US" altLang="zh-CN" sz="3200">
                                    <a:solidFill>
                                      <a:srgbClr val="006699"/>
                                    </a:solidFill>
                                    <a:latin typeface="Cambria Math" panose="02040503050406030204" pitchFamily="18" charset="0"/>
                                  </a:rPr>
                                  <m:t>𝑁</m:t>
                                </m:r>
                              </m:e>
                              <m:e>
                                <m:r>
                                  <a:rPr lang="en-US" altLang="zh-CN" sz="3200">
                                    <a:solidFill>
                                      <a:srgbClr val="006699"/>
                                    </a:solidFill>
                                    <a:latin typeface="Cambria Math" panose="02040503050406030204" pitchFamily="18" charset="0"/>
                                  </a:rPr>
                                  <m:t>≈7.1×</m:t>
                                </m:r>
                                <m:r>
                                  <m:rPr>
                                    <m:nor/>
                                  </m:rPr>
                                  <a:rPr lang="en-US" altLang="zh-CN" sz="3200">
                                    <a:solidFill>
                                      <a:srgbClr val="006699"/>
                                    </a:solidFill>
                                    <a:latin typeface="Verdana" panose="020B0604030504040204" pitchFamily="34" charset="0"/>
                                  </a:rPr>
                                  <m:t>Var</m:t>
                                </m:r>
                                <m:d>
                                  <m:dPr>
                                    <m:ctrlPr>
                                      <a:rPr lang="zh-CN" altLang="zh-CN" sz="3200" i="1">
                                        <a:solidFill>
                                          <a:srgbClr val="006699"/>
                                        </a:solidFill>
                                        <a:latin typeface="Cambria Math" panose="02040503050406030204" pitchFamily="18" charset="0"/>
                                      </a:rPr>
                                    </m:ctrlPr>
                                  </m:dPr>
                                  <m:e>
                                    <m:sSub>
                                      <m:sSubPr>
                                        <m:ctrlPr>
                                          <a:rPr lang="zh-CN" altLang="zh-CN" sz="3200" i="1">
                                            <a:solidFill>
                                              <a:srgbClr val="006699"/>
                                            </a:solidFill>
                                            <a:latin typeface="Cambria Math" panose="02040503050406030204" pitchFamily="18" charset="0"/>
                                          </a:rPr>
                                        </m:ctrlPr>
                                      </m:sSubPr>
                                      <m:e>
                                        <m:acc>
                                          <m:accPr>
                                            <m:chr m:val="̂"/>
                                            <m:ctrlPr>
                                              <a:rPr lang="zh-CN" altLang="zh-CN" sz="3200" i="1">
                                                <a:solidFill>
                                                  <a:srgbClr val="006699"/>
                                                </a:solidFill>
                                                <a:latin typeface="Cambria Math" panose="02040503050406030204" pitchFamily="18" charset="0"/>
                                              </a:rPr>
                                            </m:ctrlPr>
                                          </m:accPr>
                                          <m:e>
                                            <m:r>
                                              <a:rPr lang="en-US" altLang="zh-CN" sz="3200">
                                                <a:solidFill>
                                                  <a:srgbClr val="006699"/>
                                                </a:solidFill>
                                                <a:latin typeface="Cambria Math" panose="02040503050406030204" pitchFamily="18" charset="0"/>
                                              </a:rPr>
                                              <m:t>𝐼</m:t>
                                            </m:r>
                                          </m:e>
                                        </m:acc>
                                      </m:e>
                                      <m:sub>
                                        <m:r>
                                          <a:rPr lang="en-US" altLang="zh-CN" sz="3200">
                                            <a:solidFill>
                                              <a:srgbClr val="006699"/>
                                            </a:solidFill>
                                            <a:latin typeface="Cambria Math" panose="02040503050406030204" pitchFamily="18" charset="0"/>
                                          </a:rPr>
                                          <m:t>2</m:t>
                                        </m:r>
                                      </m:sub>
                                    </m:sSub>
                                  </m:e>
                                </m:d>
                                <m:r>
                                  <a:rPr lang="en-US" altLang="zh-CN" sz="3200">
                                    <a:solidFill>
                                      <a:srgbClr val="006699"/>
                                    </a:solidFill>
                                    <a:latin typeface="Cambria Math" panose="02040503050406030204" pitchFamily="18" charset="0"/>
                                  </a:rPr>
                                  <m:t>≈64.8×</m:t>
                                </m:r>
                                <m:r>
                                  <m:rPr>
                                    <m:nor/>
                                  </m:rPr>
                                  <a:rPr lang="en-US" altLang="zh-CN" sz="3200">
                                    <a:solidFill>
                                      <a:srgbClr val="006699"/>
                                    </a:solidFill>
                                    <a:latin typeface="Verdana" panose="020B0604030504040204" pitchFamily="34" charset="0"/>
                                  </a:rPr>
                                  <m:t>Var</m:t>
                                </m:r>
                                <m:d>
                                  <m:dPr>
                                    <m:ctrlPr>
                                      <a:rPr lang="zh-CN" altLang="zh-CN" sz="3200" i="1">
                                        <a:solidFill>
                                          <a:srgbClr val="006699"/>
                                        </a:solidFill>
                                        <a:latin typeface="Cambria Math" panose="02040503050406030204" pitchFamily="18" charset="0"/>
                                      </a:rPr>
                                    </m:ctrlPr>
                                  </m:dPr>
                                  <m:e>
                                    <m:sSub>
                                      <m:sSubPr>
                                        <m:ctrlPr>
                                          <a:rPr lang="zh-CN" altLang="zh-CN" sz="3200" i="1">
                                            <a:solidFill>
                                              <a:srgbClr val="006699"/>
                                            </a:solidFill>
                                            <a:latin typeface="Cambria Math" panose="02040503050406030204" pitchFamily="18" charset="0"/>
                                          </a:rPr>
                                        </m:ctrlPr>
                                      </m:sSubPr>
                                      <m:e>
                                        <m:acc>
                                          <m:accPr>
                                            <m:chr m:val="̂"/>
                                            <m:ctrlPr>
                                              <a:rPr lang="zh-CN" altLang="zh-CN" sz="3200" i="1">
                                                <a:solidFill>
                                                  <a:srgbClr val="006699"/>
                                                </a:solidFill>
                                                <a:latin typeface="Cambria Math" panose="02040503050406030204" pitchFamily="18" charset="0"/>
                                              </a:rPr>
                                            </m:ctrlPr>
                                          </m:accPr>
                                          <m:e>
                                            <m:r>
                                              <a:rPr lang="en-US" altLang="zh-CN" sz="3200">
                                                <a:solidFill>
                                                  <a:srgbClr val="006699"/>
                                                </a:solidFill>
                                                <a:latin typeface="Cambria Math" panose="02040503050406030204" pitchFamily="18" charset="0"/>
                                              </a:rPr>
                                              <m:t>𝐼</m:t>
                                            </m:r>
                                          </m:e>
                                        </m:acc>
                                      </m:e>
                                      <m:sub>
                                        <m:r>
                                          <a:rPr lang="en-US" altLang="zh-CN" sz="3200">
                                            <a:solidFill>
                                              <a:srgbClr val="006699"/>
                                            </a:solidFill>
                                            <a:latin typeface="Cambria Math" panose="02040503050406030204" pitchFamily="18" charset="0"/>
                                          </a:rPr>
                                          <m:t>3</m:t>
                                        </m:r>
                                      </m:sub>
                                    </m:sSub>
                                  </m:e>
                                </m:d>
                              </m:e>
                            </m:eqArr>
                          </m:e>
                        </m:mr>
                      </m:m>
                    </m:oMath>
                  </m:oMathPara>
                </a14:m>
                <a:endParaRPr lang="zh-CN" altLang="zh-CN" sz="3200" dirty="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en-US" altLang="zh-CN" sz="3200" dirty="0">
                    <a:solidFill>
                      <a:srgbClr val="006699"/>
                    </a:solidFill>
                    <a:latin typeface="Verdana" panose="020B0604030504040204" pitchFamily="34" charset="0"/>
                  </a:rPr>
                  <a:t>重要抽样法只需要随机投点法的1/65的样本量</a:t>
                </a:r>
                <a:endParaRPr lang="zh-CN" altLang="en-US" sz="3200" dirty="0">
                  <a:solidFill>
                    <a:srgbClr val="006699"/>
                  </a:solidFill>
                  <a:latin typeface="Verdana" panose="020B0604030504040204" pitchFamily="34" charset="0"/>
                </a:endParaRPr>
              </a:p>
            </p:txBody>
          </p:sp>
        </mc:Choice>
        <mc:Fallback xmlns="">
          <p:sp>
            <p:nvSpPr>
              <p:cNvPr id="3" name="文本框 2">
                <a:extLst>
                  <a:ext uri="{FF2B5EF4-FFF2-40B4-BE49-F238E27FC236}">
                    <a16:creationId xmlns:a16="http://schemas.microsoft.com/office/drawing/2014/main" id="{A1F90C6C-68D5-ABB8-DD01-EA481F53E824}"/>
                  </a:ext>
                </a:extLst>
              </p:cNvPr>
              <p:cNvSpPr txBox="1">
                <a:spLocks noRot="1" noChangeAspect="1" noMove="1" noResize="1" noEditPoints="1" noAdjustHandles="1" noChangeArrowheads="1" noChangeShapeType="1" noTextEdit="1"/>
              </p:cNvSpPr>
              <p:nvPr/>
            </p:nvSpPr>
            <p:spPr>
              <a:xfrm>
                <a:off x="-27816" y="998730"/>
                <a:ext cx="9252520" cy="5045869"/>
              </a:xfrm>
              <a:prstGeom prst="rect">
                <a:avLst/>
              </a:prstGeom>
              <a:blipFill>
                <a:blip r:embed="rId2"/>
                <a:stretch>
                  <a:fillRect l="-1647" t="-1932" b="-3019"/>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1225254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12.2</a:t>
            </a:r>
            <a:endParaRPr lang="zh-CN" altLang="en-US" dirty="0"/>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78</a:t>
            </a:fld>
            <a:endParaRPr lang="zh-CN" altLang="en-US">
              <a:solidFill>
                <a:srgbClr val="898989"/>
              </a:solidFill>
            </a:endParaRPr>
          </a:p>
        </p:txBody>
      </p:sp>
      <p:sp>
        <p:nvSpPr>
          <p:cNvPr id="22" name="文本框 21">
            <a:extLst>
              <a:ext uri="{FF2B5EF4-FFF2-40B4-BE49-F238E27FC236}">
                <a16:creationId xmlns:a16="http://schemas.microsoft.com/office/drawing/2014/main" id="{F7749C0C-2C28-4154-A549-96756BD3E3E8}"/>
              </a:ext>
            </a:extLst>
          </p:cNvPr>
          <p:cNvSpPr txBox="1"/>
          <p:nvPr/>
        </p:nvSpPr>
        <p:spPr>
          <a:xfrm>
            <a:off x="-15875" y="1088740"/>
            <a:ext cx="9144000" cy="2554545"/>
          </a:xfrm>
          <a:prstGeom prst="rect">
            <a:avLst/>
          </a:prstGeom>
          <a:noFill/>
          <a:ln w="25400">
            <a:noFill/>
          </a:ln>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用</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MC</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积分法计算二重定积分</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zh-CN" sz="3200" dirty="0">
              <a:solidFill>
                <a:srgbClr val="006699"/>
              </a:solidFill>
              <a:latin typeface="Verdana" panose="020B060403050404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zh-CN" sz="3200" dirty="0">
              <a:solidFill>
                <a:srgbClr val="006699"/>
              </a:solidFill>
              <a:latin typeface="Verdana" panose="020B0604030504040204" pitchFamily="34" charset="0"/>
            </a:endParaRPr>
          </a:p>
          <a:p>
            <a:pPr marR="0" lvl="0" algn="l" defTabSz="914400" rtl="0" eaLnBrk="0" fontAlgn="base" latinLnBrk="0" hangingPunct="0">
              <a:lnSpc>
                <a:spcPct val="100000"/>
              </a:lnSpc>
              <a:spcBef>
                <a:spcPct val="0"/>
              </a:spcBef>
              <a:spcAft>
                <a:spcPct val="0"/>
              </a:spcAft>
              <a:buClrTx/>
              <a:buSzTx/>
              <a:tabLst/>
              <a:defRPr/>
            </a:pPr>
            <a:r>
              <a:rPr lang="zh-CN" altLang="en-US" sz="3200" dirty="0">
                <a:solidFill>
                  <a:srgbClr val="006699"/>
                </a:solidFill>
                <a:latin typeface="Verdana" panose="020B0604030504040204" pitchFamily="34" charset="0"/>
              </a:rPr>
              <a:t>其中</a:t>
            </a:r>
            <a:endParaRPr kumimoji="0" lang="en-US" altLang="zh-CN"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DE6DAB20-845B-4F47-B396-9852D25068F0}"/>
                  </a:ext>
                </a:extLst>
              </p:cNvPr>
              <p:cNvSpPr txBox="1"/>
              <p:nvPr/>
            </p:nvSpPr>
            <p:spPr>
              <a:xfrm>
                <a:off x="381225" y="3654025"/>
                <a:ext cx="8381550" cy="116269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sz="2800" i="1" smtClean="0">
                              <a:solidFill>
                                <a:srgbClr val="836967"/>
                              </a:solidFill>
                              <a:latin typeface="Cambria Math" panose="02040503050406030204" pitchFamily="18" charset="0"/>
                            </a:rPr>
                          </m:ctrlPr>
                        </m:mPr>
                        <m:mr>
                          <m:e>
                            <m:r>
                              <a:rPr lang="zh-CN" altLang="en-US" sz="2800" i="1">
                                <a:latin typeface="Cambria Math" panose="02040503050406030204" pitchFamily="18" charset="0"/>
                              </a:rPr>
                              <m:t>𝑓</m:t>
                            </m:r>
                            <m:d>
                              <m:dPr>
                                <m:sepChr m:val=","/>
                                <m:ctrlPr>
                                  <a:rPr lang="zh-CN" altLang="en-US" sz="2800" i="1">
                                    <a:latin typeface="Cambria Math" panose="02040503050406030204" pitchFamily="18" charset="0"/>
                                  </a:rPr>
                                </m:ctrlPr>
                              </m:dPr>
                              <m:e>
                                <m:r>
                                  <a:rPr lang="zh-CN" altLang="en-US" sz="2800" i="1">
                                    <a:latin typeface="Cambria Math" panose="02040503050406030204" pitchFamily="18" charset="0"/>
                                  </a:rPr>
                                  <m:t>𝑥</m:t>
                                </m:r>
                              </m:e>
                              <m:e>
                                <m:r>
                                  <a:rPr lang="zh-CN" altLang="en-US" sz="2800" i="1">
                                    <a:latin typeface="Cambria Math" panose="02040503050406030204" pitchFamily="18" charset="0"/>
                                  </a:rPr>
                                  <m:t>𝑦</m:t>
                                </m:r>
                              </m:e>
                            </m:d>
                            <m:r>
                              <a:rPr lang="zh-CN" altLang="en-US" sz="2800" i="0">
                                <a:latin typeface="Cambria Math" panose="02040503050406030204" pitchFamily="18" charset="0"/>
                              </a:rPr>
                              <m:t>=</m:t>
                            </m:r>
                            <m:r>
                              <m:rPr>
                                <m:sty m:val="p"/>
                              </m:rPr>
                              <a:rPr lang="zh-CN" altLang="en-US" sz="2800" i="0">
                                <a:latin typeface="Cambria Math" panose="02040503050406030204" pitchFamily="18" charset="0"/>
                              </a:rPr>
                              <m:t>exp</m:t>
                            </m:r>
                            <m:d>
                              <m:dPr>
                                <m:begChr m:val="{"/>
                                <m:endChr m:val="}"/>
                                <m:ctrlPr>
                                  <a:rPr lang="zh-CN" altLang="en-US" sz="2800" i="1">
                                    <a:latin typeface="Cambria Math" panose="02040503050406030204" pitchFamily="18" charset="0"/>
                                  </a:rPr>
                                </m:ctrlPr>
                              </m:dPr>
                              <m:e>
                                <m:r>
                                  <a:rPr lang="zh-CN" altLang="en-US" sz="2800" i="0">
                                    <a:latin typeface="Cambria Math" panose="02040503050406030204" pitchFamily="18" charset="0"/>
                                  </a:rPr>
                                  <m:t>−45</m:t>
                                </m:r>
                                <m:sSup>
                                  <m:sSupPr>
                                    <m:ctrlPr>
                                      <a:rPr lang="zh-CN" altLang="en-US" sz="2800" i="1">
                                        <a:solidFill>
                                          <a:srgbClr val="836967"/>
                                        </a:solidFill>
                                        <a:latin typeface="Cambria Math" panose="02040503050406030204" pitchFamily="18" charset="0"/>
                                      </a:rPr>
                                    </m:ctrlPr>
                                  </m:sSupPr>
                                  <m:e>
                                    <m:d>
                                      <m:dPr>
                                        <m:begChr m:val=""/>
                                        <m:endChr m:val=""/>
                                        <m:ctrlPr>
                                          <a:rPr lang="zh-CN" altLang="en-US" sz="2800" i="1">
                                            <a:latin typeface="Cambria Math" panose="02040503050406030204" pitchFamily="18" charset="0"/>
                                          </a:rPr>
                                        </m:ctrlPr>
                                      </m:dPr>
                                      <m:e>
                                        <m:d>
                                          <m:dPr>
                                            <m:begChr m:val=""/>
                                            <m:endChr m:val=""/>
                                            <m:ctrlPr>
                                              <a:rPr lang="zh-CN" altLang="en-US" sz="2800" i="1">
                                                <a:latin typeface="Cambria Math" panose="02040503050406030204" pitchFamily="18" charset="0"/>
                                              </a:rPr>
                                            </m:ctrlPr>
                                          </m:dPr>
                                          <m:e>
                                            <m:r>
                                              <a:rPr lang="zh-CN" altLang="en-US" sz="2800" i="0">
                                                <a:latin typeface="Cambria Math" panose="02040503050406030204" pitchFamily="18" charset="0"/>
                                              </a:rPr>
                                              <m:t>(</m:t>
                                            </m:r>
                                          </m:e>
                                        </m:d>
                                        <m:r>
                                          <a:rPr lang="zh-CN" altLang="en-US" sz="2800" i="1">
                                            <a:latin typeface="Cambria Math" panose="02040503050406030204" pitchFamily="18" charset="0"/>
                                          </a:rPr>
                                          <m:t>𝑥</m:t>
                                        </m:r>
                                        <m:r>
                                          <a:rPr lang="zh-CN" altLang="en-US" sz="2800" i="0">
                                            <a:latin typeface="Cambria Math" panose="02040503050406030204" pitchFamily="18" charset="0"/>
                                          </a:rPr>
                                          <m:t>+0.4)</m:t>
                                        </m:r>
                                      </m:e>
                                    </m:d>
                                  </m:e>
                                  <m:sup>
                                    <m:r>
                                      <a:rPr lang="zh-CN" altLang="en-US" sz="2800" i="0">
                                        <a:latin typeface="Cambria Math" panose="02040503050406030204" pitchFamily="18" charset="0"/>
                                      </a:rPr>
                                      <m:t>2</m:t>
                                    </m:r>
                                  </m:sup>
                                </m:sSup>
                                <m:r>
                                  <a:rPr lang="zh-CN" altLang="en-US" sz="2800" i="0">
                                    <a:latin typeface="Cambria Math" panose="02040503050406030204" pitchFamily="18" charset="0"/>
                                  </a:rPr>
                                  <m:t>−60</m:t>
                                </m:r>
                                <m:sSup>
                                  <m:sSupPr>
                                    <m:ctrlPr>
                                      <a:rPr lang="zh-CN" altLang="en-US" sz="2800" i="1">
                                        <a:solidFill>
                                          <a:srgbClr val="836967"/>
                                        </a:solidFill>
                                        <a:latin typeface="Cambria Math" panose="02040503050406030204" pitchFamily="18" charset="0"/>
                                      </a:rPr>
                                    </m:ctrlPr>
                                  </m:sSupPr>
                                  <m:e>
                                    <m:d>
                                      <m:dPr>
                                        <m:begChr m:val=""/>
                                        <m:endChr m:val=""/>
                                        <m:ctrlPr>
                                          <a:rPr lang="zh-CN" altLang="en-US" sz="2800" i="1">
                                            <a:latin typeface="Cambria Math" panose="02040503050406030204" pitchFamily="18" charset="0"/>
                                          </a:rPr>
                                        </m:ctrlPr>
                                      </m:dPr>
                                      <m:e>
                                        <m:d>
                                          <m:dPr>
                                            <m:begChr m:val=""/>
                                            <m:endChr m:val=""/>
                                            <m:ctrlPr>
                                              <a:rPr lang="zh-CN" altLang="en-US" sz="2800" i="1">
                                                <a:latin typeface="Cambria Math" panose="02040503050406030204" pitchFamily="18" charset="0"/>
                                              </a:rPr>
                                            </m:ctrlPr>
                                          </m:dPr>
                                          <m:e>
                                            <m:r>
                                              <a:rPr lang="zh-CN" altLang="en-US" sz="2800" i="0">
                                                <a:latin typeface="Cambria Math" panose="02040503050406030204" pitchFamily="18" charset="0"/>
                                              </a:rPr>
                                              <m:t>(</m:t>
                                            </m:r>
                                          </m:e>
                                        </m:d>
                                        <m:r>
                                          <a:rPr lang="zh-CN" altLang="en-US" sz="2800" i="1">
                                            <a:latin typeface="Cambria Math" panose="02040503050406030204" pitchFamily="18" charset="0"/>
                                          </a:rPr>
                                          <m:t>𝑦</m:t>
                                        </m:r>
                                        <m:r>
                                          <a:rPr lang="zh-CN" altLang="en-US" sz="2800" i="0">
                                            <a:latin typeface="Cambria Math" panose="02040503050406030204" pitchFamily="18" charset="0"/>
                                          </a:rPr>
                                          <m:t>−0.5)</m:t>
                                        </m:r>
                                      </m:e>
                                    </m:d>
                                  </m:e>
                                  <m:sup>
                                    <m:r>
                                      <a:rPr lang="zh-CN" altLang="en-US" sz="2800" i="0">
                                        <a:latin typeface="Cambria Math" panose="02040503050406030204" pitchFamily="18" charset="0"/>
                                      </a:rPr>
                                      <m:t>2</m:t>
                                    </m:r>
                                  </m:sup>
                                </m:sSup>
                              </m:e>
                            </m:d>
                          </m:e>
                        </m:mr>
                        <m:mr>
                          <m:e>
                            <m:r>
                              <a:rPr lang="zh-CN" altLang="en-US" sz="2800" i="0">
                                <a:latin typeface="Cambria Math" panose="02040503050406030204" pitchFamily="18" charset="0"/>
                              </a:rPr>
                              <m:t>+0.5</m:t>
                            </m:r>
                            <m:r>
                              <m:rPr>
                                <m:sty m:val="p"/>
                              </m:rPr>
                              <a:rPr lang="zh-CN" altLang="en-US" sz="2800" i="0">
                                <a:latin typeface="Cambria Math" panose="02040503050406030204" pitchFamily="18" charset="0"/>
                              </a:rPr>
                              <m:t>exp</m:t>
                            </m:r>
                            <m:d>
                              <m:dPr>
                                <m:begChr m:val="{"/>
                                <m:endChr m:val="}"/>
                                <m:ctrlPr>
                                  <a:rPr lang="zh-CN" altLang="en-US" sz="2800" i="1">
                                    <a:latin typeface="Cambria Math" panose="02040503050406030204" pitchFamily="18" charset="0"/>
                                  </a:rPr>
                                </m:ctrlPr>
                              </m:dPr>
                              <m:e>
                                <m:r>
                                  <a:rPr lang="zh-CN" altLang="en-US" sz="2800" i="0">
                                    <a:latin typeface="Cambria Math" panose="02040503050406030204" pitchFamily="18" charset="0"/>
                                  </a:rPr>
                                  <m:t>−90</m:t>
                                </m:r>
                                <m:sSup>
                                  <m:sSupPr>
                                    <m:ctrlPr>
                                      <a:rPr lang="zh-CN" altLang="en-US" sz="2800" i="1">
                                        <a:solidFill>
                                          <a:srgbClr val="836967"/>
                                        </a:solidFill>
                                        <a:latin typeface="Cambria Math" panose="02040503050406030204" pitchFamily="18" charset="0"/>
                                      </a:rPr>
                                    </m:ctrlPr>
                                  </m:sSupPr>
                                  <m:e>
                                    <m:d>
                                      <m:dPr>
                                        <m:begChr m:val=""/>
                                        <m:endChr m:val=""/>
                                        <m:ctrlPr>
                                          <a:rPr lang="zh-CN" altLang="en-US" sz="2800" i="1">
                                            <a:latin typeface="Cambria Math" panose="02040503050406030204" pitchFamily="18" charset="0"/>
                                          </a:rPr>
                                        </m:ctrlPr>
                                      </m:dPr>
                                      <m:e>
                                        <m:d>
                                          <m:dPr>
                                            <m:begChr m:val=""/>
                                            <m:endChr m:val=""/>
                                            <m:ctrlPr>
                                              <a:rPr lang="zh-CN" altLang="en-US" sz="2800" i="1">
                                                <a:latin typeface="Cambria Math" panose="02040503050406030204" pitchFamily="18" charset="0"/>
                                              </a:rPr>
                                            </m:ctrlPr>
                                          </m:dPr>
                                          <m:e>
                                            <m:r>
                                              <a:rPr lang="zh-CN" altLang="en-US" sz="2800" i="0">
                                                <a:latin typeface="Cambria Math" panose="02040503050406030204" pitchFamily="18" charset="0"/>
                                              </a:rPr>
                                              <m:t>(</m:t>
                                            </m:r>
                                          </m:e>
                                        </m:d>
                                        <m:r>
                                          <a:rPr lang="zh-CN" altLang="en-US" sz="2800" i="1">
                                            <a:latin typeface="Cambria Math" panose="02040503050406030204" pitchFamily="18" charset="0"/>
                                          </a:rPr>
                                          <m:t>𝑥</m:t>
                                        </m:r>
                                        <m:r>
                                          <a:rPr lang="zh-CN" altLang="en-US" sz="2800" i="0">
                                            <a:latin typeface="Cambria Math" panose="02040503050406030204" pitchFamily="18" charset="0"/>
                                          </a:rPr>
                                          <m:t>−0.5)</m:t>
                                        </m:r>
                                      </m:e>
                                    </m:d>
                                  </m:e>
                                  <m:sup>
                                    <m:r>
                                      <a:rPr lang="zh-CN" altLang="en-US" sz="2800" i="0">
                                        <a:latin typeface="Cambria Math" panose="02040503050406030204" pitchFamily="18" charset="0"/>
                                      </a:rPr>
                                      <m:t>2</m:t>
                                    </m:r>
                                  </m:sup>
                                </m:sSup>
                                <m:r>
                                  <a:rPr lang="zh-CN" altLang="en-US" sz="2800" i="0">
                                    <a:latin typeface="Cambria Math" panose="02040503050406030204" pitchFamily="18" charset="0"/>
                                  </a:rPr>
                                  <m:t>−45</m:t>
                                </m:r>
                                <m:sSup>
                                  <m:sSupPr>
                                    <m:ctrlPr>
                                      <a:rPr lang="zh-CN" altLang="en-US" sz="2800" i="1">
                                        <a:solidFill>
                                          <a:srgbClr val="836967"/>
                                        </a:solidFill>
                                        <a:latin typeface="Cambria Math" panose="02040503050406030204" pitchFamily="18" charset="0"/>
                                      </a:rPr>
                                    </m:ctrlPr>
                                  </m:sSupPr>
                                  <m:e>
                                    <m:d>
                                      <m:dPr>
                                        <m:begChr m:val=""/>
                                        <m:endChr m:val=""/>
                                        <m:ctrlPr>
                                          <a:rPr lang="zh-CN" altLang="en-US" sz="2800" i="1">
                                            <a:latin typeface="Cambria Math" panose="02040503050406030204" pitchFamily="18" charset="0"/>
                                          </a:rPr>
                                        </m:ctrlPr>
                                      </m:dPr>
                                      <m:e>
                                        <m:d>
                                          <m:dPr>
                                            <m:begChr m:val=""/>
                                            <m:endChr m:val=""/>
                                            <m:ctrlPr>
                                              <a:rPr lang="zh-CN" altLang="en-US" sz="2800" i="1">
                                                <a:latin typeface="Cambria Math" panose="02040503050406030204" pitchFamily="18" charset="0"/>
                                              </a:rPr>
                                            </m:ctrlPr>
                                          </m:dPr>
                                          <m:e>
                                            <m:r>
                                              <a:rPr lang="zh-CN" altLang="en-US" sz="2800" i="0">
                                                <a:latin typeface="Cambria Math" panose="02040503050406030204" pitchFamily="18" charset="0"/>
                                              </a:rPr>
                                              <m:t>(</m:t>
                                            </m:r>
                                          </m:e>
                                        </m:d>
                                        <m:r>
                                          <a:rPr lang="zh-CN" altLang="en-US" sz="2800" i="1">
                                            <a:latin typeface="Cambria Math" panose="02040503050406030204" pitchFamily="18" charset="0"/>
                                          </a:rPr>
                                          <m:t>𝑦</m:t>
                                        </m:r>
                                        <m:r>
                                          <a:rPr lang="zh-CN" altLang="en-US" sz="2800" i="0">
                                            <a:latin typeface="Cambria Math" panose="02040503050406030204" pitchFamily="18" charset="0"/>
                                          </a:rPr>
                                          <m:t>+0.1)</m:t>
                                        </m:r>
                                      </m:e>
                                    </m:d>
                                  </m:e>
                                  <m:sup>
                                    <m:r>
                                      <a:rPr lang="zh-CN" altLang="en-US" sz="2800" i="0">
                                        <a:latin typeface="Cambria Math" panose="02040503050406030204" pitchFamily="18" charset="0"/>
                                      </a:rPr>
                                      <m:t>4</m:t>
                                    </m:r>
                                  </m:sup>
                                </m:sSup>
                              </m:e>
                            </m:d>
                          </m:e>
                        </m:mr>
                      </m:m>
                    </m:oMath>
                  </m:oMathPara>
                </a14:m>
                <a:endParaRPr lang="zh-CN" altLang="en-US" sz="2800" dirty="0"/>
              </a:p>
            </p:txBody>
          </p:sp>
        </mc:Choice>
        <mc:Fallback xmlns="">
          <p:sp>
            <p:nvSpPr>
              <p:cNvPr id="13" name="文本框 12">
                <a:extLst>
                  <a:ext uri="{FF2B5EF4-FFF2-40B4-BE49-F238E27FC236}">
                    <a16:creationId xmlns:a16="http://schemas.microsoft.com/office/drawing/2014/main" id="{DE6DAB20-845B-4F47-B396-9852D25068F0}"/>
                  </a:ext>
                </a:extLst>
              </p:cNvPr>
              <p:cNvSpPr txBox="1">
                <a:spLocks noRot="1" noChangeAspect="1" noMove="1" noResize="1" noEditPoints="1" noAdjustHandles="1" noChangeArrowheads="1" noChangeShapeType="1" noTextEdit="1"/>
              </p:cNvSpPr>
              <p:nvPr/>
            </p:nvSpPr>
            <p:spPr>
              <a:xfrm>
                <a:off x="381225" y="3654025"/>
                <a:ext cx="8381550" cy="1162691"/>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6AAC5872-233C-418D-872E-021FA60A43F2}"/>
                  </a:ext>
                </a:extLst>
              </p:cNvPr>
              <p:cNvSpPr txBox="1"/>
              <p:nvPr/>
            </p:nvSpPr>
            <p:spPr>
              <a:xfrm>
                <a:off x="1873883" y="1615092"/>
                <a:ext cx="4690532" cy="163166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𝐼</m:t>
                      </m:r>
                      <m:r>
                        <a:rPr lang="zh-CN" altLang="en-US" sz="3200" i="0">
                          <a:latin typeface="Cambria Math" panose="02040503050406030204" pitchFamily="18" charset="0"/>
                        </a:rPr>
                        <m:t>=</m:t>
                      </m:r>
                      <m:nary>
                        <m:naryPr>
                          <m:limLoc m:val="subSup"/>
                          <m:grow m:val="on"/>
                          <m:ctrlPr>
                            <a:rPr lang="zh-CN" altLang="en-US" sz="3200" i="1">
                              <a:latin typeface="Cambria Math" panose="02040503050406030204" pitchFamily="18" charset="0"/>
                            </a:rPr>
                          </m:ctrlPr>
                        </m:naryPr>
                        <m:sub>
                          <m:r>
                            <a:rPr lang="zh-CN" altLang="en-US" sz="3200" i="0">
                              <a:latin typeface="Cambria Math" panose="02040503050406030204" pitchFamily="18" charset="0"/>
                            </a:rPr>
                            <m:t>−1</m:t>
                          </m:r>
                        </m:sub>
                        <m:sup>
                          <m:r>
                            <a:rPr lang="zh-CN" altLang="en-US" sz="3200" i="0">
                              <a:latin typeface="Cambria Math" panose="02040503050406030204" pitchFamily="18" charset="0"/>
                            </a:rPr>
                            <m:t>1</m:t>
                          </m:r>
                        </m:sup>
                        <m:e>
                          <m:nary>
                            <m:naryPr>
                              <m:limLoc m:val="subSup"/>
                              <m:grow m:val="on"/>
                              <m:ctrlPr>
                                <a:rPr lang="zh-CN" altLang="en-US" sz="3200" i="1">
                                  <a:latin typeface="Cambria Math" panose="02040503050406030204" pitchFamily="18" charset="0"/>
                                </a:rPr>
                              </m:ctrlPr>
                            </m:naryPr>
                            <m:sub>
                              <m:r>
                                <a:rPr lang="zh-CN" altLang="en-US" sz="3200" i="0">
                                  <a:latin typeface="Cambria Math" panose="02040503050406030204" pitchFamily="18" charset="0"/>
                                </a:rPr>
                                <m:t>−1</m:t>
                              </m:r>
                            </m:sub>
                            <m:sup>
                              <m:r>
                                <a:rPr lang="zh-CN" altLang="en-US" sz="3200" i="0">
                                  <a:latin typeface="Cambria Math" panose="02040503050406030204" pitchFamily="18" charset="0"/>
                                </a:rPr>
                                <m:t>1</m:t>
                              </m:r>
                            </m:sup>
                            <m:e>
                              <m:r>
                                <a:rPr lang="zh-CN" altLang="en-US" sz="3200" i="1">
                                  <a:latin typeface="Cambria Math" panose="02040503050406030204" pitchFamily="18" charset="0"/>
                                </a:rPr>
                                <m:t>𝑓</m:t>
                              </m:r>
                            </m:e>
                          </m:nary>
                        </m:e>
                      </m:nary>
                      <m:d>
                        <m:dPr>
                          <m:sepChr m:val=","/>
                          <m:ctrlPr>
                            <a:rPr lang="zh-CN" altLang="en-US" sz="3200" i="1">
                              <a:latin typeface="Cambria Math" panose="02040503050406030204" pitchFamily="18" charset="0"/>
                            </a:rPr>
                          </m:ctrlPr>
                        </m:dPr>
                        <m:e>
                          <m:r>
                            <a:rPr lang="zh-CN" altLang="en-US" sz="3200" i="1">
                              <a:latin typeface="Cambria Math" panose="02040503050406030204" pitchFamily="18" charset="0"/>
                            </a:rPr>
                            <m:t>𝑥</m:t>
                          </m:r>
                        </m:e>
                        <m:e>
                          <m:r>
                            <a:rPr lang="zh-CN" altLang="en-US" sz="3200" i="1">
                              <a:latin typeface="Cambria Math" panose="02040503050406030204" pitchFamily="18" charset="0"/>
                            </a:rPr>
                            <m:t>𝑦</m:t>
                          </m:r>
                        </m:e>
                      </m:d>
                      <m:r>
                        <a:rPr lang="zh-CN" altLang="en-US" sz="3200" i="1">
                          <a:latin typeface="Cambria Math" panose="02040503050406030204" pitchFamily="18" charset="0"/>
                        </a:rPr>
                        <m:t>𝑑𝑥𝑑𝑦</m:t>
                      </m:r>
                    </m:oMath>
                  </m:oMathPara>
                </a14:m>
                <a:endParaRPr lang="zh-CN" altLang="en-US" dirty="0"/>
              </a:p>
            </p:txBody>
          </p:sp>
        </mc:Choice>
        <mc:Fallback xmlns="">
          <p:sp>
            <p:nvSpPr>
              <p:cNvPr id="15" name="文本框 14">
                <a:extLst>
                  <a:ext uri="{FF2B5EF4-FFF2-40B4-BE49-F238E27FC236}">
                    <a16:creationId xmlns:a16="http://schemas.microsoft.com/office/drawing/2014/main" id="{6AAC5872-233C-418D-872E-021FA60A43F2}"/>
                  </a:ext>
                </a:extLst>
              </p:cNvPr>
              <p:cNvSpPr txBox="1">
                <a:spLocks noRot="1" noChangeAspect="1" noMove="1" noResize="1" noEditPoints="1" noAdjustHandles="1" noChangeArrowheads="1" noChangeShapeType="1" noTextEdit="1"/>
              </p:cNvSpPr>
              <p:nvPr/>
            </p:nvSpPr>
            <p:spPr>
              <a:xfrm>
                <a:off x="1873883" y="1615092"/>
                <a:ext cx="4690532" cy="1631665"/>
              </a:xfrm>
              <a:prstGeom prst="rect">
                <a:avLst/>
              </a:prstGeom>
              <a:blipFill>
                <a:blip r:embed="rId3"/>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19614313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12.2</a:t>
            </a:r>
            <a:endParaRPr lang="zh-CN" altLang="en-US" dirty="0"/>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79</a:t>
            </a:fld>
            <a:endParaRPr lang="zh-CN" altLang="en-US">
              <a:solidFill>
                <a:srgbClr val="898989"/>
              </a:solidFill>
            </a:endParaRPr>
          </a:p>
        </p:txBody>
      </p:sp>
      <p:sp>
        <p:nvSpPr>
          <p:cNvPr id="5" name="文本框 4">
            <a:extLst>
              <a:ext uri="{FF2B5EF4-FFF2-40B4-BE49-F238E27FC236}">
                <a16:creationId xmlns:a16="http://schemas.microsoft.com/office/drawing/2014/main" id="{2B77397C-33AA-2D9C-A5DE-6D012EC9286C}"/>
              </a:ext>
            </a:extLst>
          </p:cNvPr>
          <p:cNvSpPr txBox="1"/>
          <p:nvPr/>
        </p:nvSpPr>
        <p:spPr>
          <a:xfrm>
            <a:off x="114154" y="1076451"/>
            <a:ext cx="3827775" cy="584775"/>
          </a:xfrm>
          <a:prstGeom prst="rect">
            <a:avLst/>
          </a:prstGeom>
          <a:noFill/>
          <a:ln w="25400">
            <a:noFill/>
          </a:ln>
        </p:spPr>
        <p:txBody>
          <a:bodyPr wrap="square">
            <a:spAutoFit/>
          </a:bodyPr>
          <a:lstStyle/>
          <a:p>
            <a:pPr>
              <a:spcBef>
                <a:spcPts val="900"/>
              </a:spcBef>
              <a:spcAft>
                <a:spcPts val="900"/>
              </a:spcAft>
            </a:pPr>
            <a:r>
              <a:rPr lang="zh-CN" altLang="en-US" sz="3200" dirty="0">
                <a:solidFill>
                  <a:srgbClr val="FF0000"/>
                </a:solidFill>
                <a:latin typeface="Verdana" panose="020B0604030504040204" pitchFamily="34" charset="0"/>
              </a:rPr>
              <a:t>解：</a:t>
            </a:r>
            <a:r>
              <a:rPr lang="en-US" altLang="zh-CN" sz="3200" dirty="0" err="1">
                <a:solidFill>
                  <a:srgbClr val="006699"/>
                </a:solidFill>
                <a:latin typeface="Verdana" panose="020B0604030504040204" pitchFamily="34" charset="0"/>
              </a:rPr>
              <a:t>取试投密度为</a:t>
            </a:r>
            <a:endParaRPr lang="zh-CN" altLang="zh-CN"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30DF718-DE15-1EDF-A05D-26D8E5AB6AF2}"/>
                  </a:ext>
                </a:extLst>
              </p:cNvPr>
              <p:cNvSpPr txBox="1"/>
              <p:nvPr/>
            </p:nvSpPr>
            <p:spPr>
              <a:xfrm>
                <a:off x="-15875" y="2518301"/>
                <a:ext cx="7748845" cy="107638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0" lang="en-US" altLang="zh-CN"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exp</m:t>
                      </m:r>
                      <m:r>
                        <a:rPr kumimoji="0" lang="en-US" altLang="zh-CN"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{−45</m:t>
                      </m:r>
                      <m:sSup>
                        <m:sSupPr>
                          <m:ctrlPr>
                            <a:rPr kumimoji="0" lang="zh-CN" altLang="zh-CN"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sSupPr>
                        <m:e>
                          <m:d>
                            <m:dPr>
                              <m:ctrlPr>
                                <a:rPr kumimoji="0" lang="zh-CN" altLang="zh-CN"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dPr>
                            <m:e>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𝑥</m:t>
                              </m:r>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+0.4</m:t>
                              </m:r>
                            </m:e>
                          </m:d>
                        </m:e>
                        <m:sup>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2</m:t>
                          </m:r>
                        </m:sup>
                      </m:sSup>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−60</m:t>
                      </m:r>
                      <m:sSup>
                        <m:sSupPr>
                          <m:ctrlPr>
                            <a:rPr kumimoji="0" lang="zh-CN" altLang="zh-CN"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sSupPr>
                        <m:e>
                          <m:d>
                            <m:dPr>
                              <m:ctrlPr>
                                <a:rPr kumimoji="0" lang="zh-CN" altLang="zh-CN"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dPr>
                            <m:e>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𝑦</m:t>
                              </m:r>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−0.5</m:t>
                              </m:r>
                            </m:e>
                          </m:d>
                        </m:e>
                        <m:sup>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2</m:t>
                          </m:r>
                        </m:sup>
                      </m:sSup>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}+0.5</m:t>
                      </m:r>
                      <m:r>
                        <m:rPr>
                          <m:sty m:val="p"/>
                        </m:rP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exp</m:t>
                      </m:r>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{−90</m:t>
                      </m:r>
                      <m:sSup>
                        <m:sSupPr>
                          <m:ctrlPr>
                            <a:rPr kumimoji="0" lang="zh-CN" altLang="zh-CN"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sSupPr>
                        <m:e>
                          <m:d>
                            <m:dPr>
                              <m:ctrlPr>
                                <a:rPr kumimoji="0" lang="zh-CN" altLang="zh-CN"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dPr>
                            <m:e>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𝑥</m:t>
                              </m:r>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−0.5</m:t>
                              </m:r>
                            </m:e>
                          </m:d>
                        </m:e>
                        <m:sup>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2</m:t>
                          </m:r>
                        </m:sup>
                      </m:sSup>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−10</m:t>
                      </m:r>
                      <m:sSup>
                        <m:sSupPr>
                          <m:ctrlPr>
                            <a:rPr kumimoji="0" lang="zh-CN" altLang="zh-CN"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sSupPr>
                        <m:e>
                          <m:d>
                            <m:dPr>
                              <m:ctrlPr>
                                <a:rPr kumimoji="0" lang="zh-CN" altLang="zh-CN"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dPr>
                            <m:e>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𝑦</m:t>
                              </m:r>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+0.1</m:t>
                              </m:r>
                            </m:e>
                          </m:d>
                        </m:e>
                        <m:sup>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2</m:t>
                          </m:r>
                        </m:sup>
                      </m:sSup>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m:t>
                      </m:r>
                    </m:oMath>
                  </m:oMathPara>
                </a14:m>
                <a:endParaRPr lang="zh-CN" altLang="en-US" dirty="0"/>
              </a:p>
            </p:txBody>
          </p:sp>
        </mc:Choice>
        <mc:Fallback xmlns="">
          <p:sp>
            <p:nvSpPr>
              <p:cNvPr id="9" name="文本框 8">
                <a:extLst>
                  <a:ext uri="{FF2B5EF4-FFF2-40B4-BE49-F238E27FC236}">
                    <a16:creationId xmlns:a16="http://schemas.microsoft.com/office/drawing/2014/main" id="{930DF718-DE15-1EDF-A05D-26D8E5AB6AF2}"/>
                  </a:ext>
                </a:extLst>
              </p:cNvPr>
              <p:cNvSpPr txBox="1">
                <a:spLocks noRot="1" noChangeAspect="1" noMove="1" noResize="1" noEditPoints="1" noAdjustHandles="1" noChangeArrowheads="1" noChangeShapeType="1" noTextEdit="1"/>
              </p:cNvSpPr>
              <p:nvPr/>
            </p:nvSpPr>
            <p:spPr>
              <a:xfrm>
                <a:off x="-15875" y="2518301"/>
                <a:ext cx="7748845" cy="1076385"/>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34A6B8B-C64C-ADE4-6F56-1BB51F8DE0FF}"/>
                  </a:ext>
                </a:extLst>
              </p:cNvPr>
              <p:cNvSpPr txBox="1"/>
              <p:nvPr/>
            </p:nvSpPr>
            <p:spPr>
              <a:xfrm>
                <a:off x="-198530" y="4149080"/>
                <a:ext cx="5310554"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altLang="zh-CN"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−∞&lt;</m:t>
                      </m:r>
                      <m:r>
                        <a:rPr kumimoji="0" lang="en-US" altLang="zh-CN"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𝑥</m:t>
                      </m:r>
                      <m:r>
                        <a:rPr kumimoji="0" lang="en-US" altLang="zh-CN"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&lt;∞,−∞&lt;</m:t>
                      </m:r>
                      <m:r>
                        <a:rPr kumimoji="0" lang="en-US" altLang="zh-CN"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𝑦</m:t>
                      </m:r>
                      <m:r>
                        <a:rPr kumimoji="0" lang="en-US" altLang="zh-CN"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&lt;∞</m:t>
                      </m:r>
                    </m:oMath>
                  </m:oMathPara>
                </a14:m>
                <a:endParaRPr lang="zh-CN" altLang="en-US" dirty="0"/>
              </a:p>
            </p:txBody>
          </p:sp>
        </mc:Choice>
        <mc:Fallback xmlns="">
          <p:sp>
            <p:nvSpPr>
              <p:cNvPr id="11" name="文本框 10">
                <a:extLst>
                  <a:ext uri="{FF2B5EF4-FFF2-40B4-BE49-F238E27FC236}">
                    <a16:creationId xmlns:a16="http://schemas.microsoft.com/office/drawing/2014/main" id="{234A6B8B-C64C-ADE4-6F56-1BB51F8DE0FF}"/>
                  </a:ext>
                </a:extLst>
              </p:cNvPr>
              <p:cNvSpPr txBox="1">
                <a:spLocks noRot="1" noChangeAspect="1" noMove="1" noResize="1" noEditPoints="1" noAdjustHandles="1" noChangeArrowheads="1" noChangeShapeType="1" noTextEdit="1"/>
              </p:cNvSpPr>
              <p:nvPr/>
            </p:nvSpPr>
            <p:spPr>
              <a:xfrm>
                <a:off x="-198530" y="4149080"/>
                <a:ext cx="5310554" cy="584775"/>
              </a:xfrm>
              <a:prstGeom prst="rect">
                <a:avLst/>
              </a:prstGeom>
              <a:blipFill>
                <a:blip r:embed="rId3"/>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7970D9FB-070D-5A56-46F5-C4E7E92AE4A7}"/>
                  </a:ext>
                </a:extLst>
              </p:cNvPr>
              <p:cNvSpPr txBox="1"/>
              <p:nvPr/>
            </p:nvSpPr>
            <p:spPr>
              <a:xfrm>
                <a:off x="-405683" y="1925487"/>
                <a:ext cx="4690696"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altLang="zh-CN"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𝑔</m:t>
                      </m:r>
                      <m:d>
                        <m:dPr>
                          <m:ctrlPr>
                            <a:rPr kumimoji="0" lang="zh-CN" altLang="zh-CN"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dPr>
                        <m:e>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𝑥</m:t>
                          </m:r>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m:t>
                          </m:r>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𝑦</m:t>
                          </m:r>
                        </m:e>
                      </m:d>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m:t>
                      </m:r>
                      <m:acc>
                        <m:accPr>
                          <m:chr m:val="̃"/>
                          <m:ctrlPr>
                            <a:rPr kumimoji="0" lang="zh-CN" altLang="zh-CN"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accPr>
                        <m:e>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𝑔</m:t>
                          </m:r>
                        </m:e>
                      </m:acc>
                      <m:d>
                        <m:dPr>
                          <m:ctrlPr>
                            <a:rPr kumimoji="0" lang="zh-CN" altLang="zh-CN"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dPr>
                        <m:e>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𝑥</m:t>
                          </m:r>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m:t>
                          </m:r>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𝑦</m:t>
                          </m:r>
                        </m:e>
                      </m:d>
                      <m:r>
                        <a:rPr kumimoji="0" lang="en-US" altLang="zh-CN" sz="3200" b="0" i="0" u="none" strike="noStrike" kern="1200" cap="none" spc="0" normalizeH="0" baseline="0" noProof="0">
                          <a:ln>
                            <a:noFill/>
                          </a:ln>
                          <a:solidFill>
                            <a:srgbClr val="006699"/>
                          </a:solidFill>
                          <a:effectLst/>
                          <a:uLnTx/>
                          <a:uFillTx/>
                          <a:latin typeface="Cambria Math" panose="02040503050406030204" pitchFamily="18" charset="0"/>
                          <a:cs typeface="+mn-cs"/>
                        </a:rPr>
                        <m:t>=</m:t>
                      </m:r>
                    </m:oMath>
                  </m:oMathPara>
                </a14:m>
                <a:endParaRPr lang="zh-CN" altLang="en-US" dirty="0"/>
              </a:p>
            </p:txBody>
          </p:sp>
        </mc:Choice>
        <mc:Fallback xmlns="">
          <p:sp>
            <p:nvSpPr>
              <p:cNvPr id="13" name="文本框 12">
                <a:extLst>
                  <a:ext uri="{FF2B5EF4-FFF2-40B4-BE49-F238E27FC236}">
                    <a16:creationId xmlns:a16="http://schemas.microsoft.com/office/drawing/2014/main" id="{7970D9FB-070D-5A56-46F5-C4E7E92AE4A7}"/>
                  </a:ext>
                </a:extLst>
              </p:cNvPr>
              <p:cNvSpPr txBox="1">
                <a:spLocks noRot="1" noChangeAspect="1" noMove="1" noResize="1" noEditPoints="1" noAdjustHandles="1" noChangeArrowheads="1" noChangeShapeType="1" noTextEdit="1"/>
              </p:cNvSpPr>
              <p:nvPr/>
            </p:nvSpPr>
            <p:spPr>
              <a:xfrm>
                <a:off x="-405683" y="1925487"/>
                <a:ext cx="4690696" cy="584775"/>
              </a:xfrm>
              <a:prstGeom prst="rect">
                <a:avLst/>
              </a:prstGeom>
              <a:blipFill>
                <a:blip r:embed="rId4"/>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24269701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12.2</a:t>
            </a:r>
            <a:endParaRPr lang="zh-CN" altLang="en-US" dirty="0"/>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80</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86E4AD1-5E60-6D27-A8C7-48A07C656765}"/>
                  </a:ext>
                </a:extLst>
              </p:cNvPr>
              <p:cNvSpPr txBox="1"/>
              <p:nvPr/>
            </p:nvSpPr>
            <p:spPr>
              <a:xfrm>
                <a:off x="-15875" y="896456"/>
                <a:ext cx="7333180" cy="1371466"/>
              </a:xfrm>
              <a:prstGeom prst="rect">
                <a:avLst/>
              </a:prstGeom>
              <a:noFill/>
              <a:ln w="25400">
                <a:noFill/>
              </a:ln>
            </p:spPr>
            <p:txBody>
              <a:bodyPr wrap="square">
                <a:spAutoFit/>
              </a:bodyPr>
              <a:lstStyle/>
              <a:p>
                <a:pPr>
                  <a:spcBef>
                    <a:spcPts val="900"/>
                  </a:spcBef>
                  <a:spcAft>
                    <a:spcPts val="900"/>
                  </a:spcAft>
                </a:pPr>
                <a:r>
                  <a:rPr lang="en-US" altLang="zh-CN" sz="3200" dirty="0">
                    <a:solidFill>
                      <a:srgbClr val="006699"/>
                    </a:solidFill>
                    <a:latin typeface="Verdana" panose="020B0604030504040204" pitchFamily="34" charset="0"/>
                  </a:rPr>
                  <a:t>记</a:t>
                </a:r>
                <a14:m>
                  <m:oMath xmlns:m="http://schemas.openxmlformats.org/officeDocument/2006/math">
                    <m:r>
                      <a:rPr lang="en-US" altLang="zh-CN" sz="3200">
                        <a:solidFill>
                          <a:srgbClr val="006699"/>
                        </a:solidFill>
                        <a:latin typeface="Cambria Math" panose="02040503050406030204" pitchFamily="18" charset="0"/>
                      </a:rPr>
                      <m:t>𝑁</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𝜇</m:t>
                        </m:r>
                        <m:r>
                          <a:rPr lang="en-US" altLang="zh-CN" sz="3200">
                            <a:solidFill>
                              <a:srgbClr val="006699"/>
                            </a:solidFill>
                            <a:latin typeface="Cambria Math" panose="02040503050406030204" pitchFamily="18" charset="0"/>
                          </a:rPr>
                          <m:t>,</m:t>
                        </m:r>
                        <m:sSup>
                          <m:sSupPr>
                            <m:ctrlPr>
                              <a:rPr lang="zh-CN" altLang="zh-CN" sz="3200" i="1">
                                <a:solidFill>
                                  <a:srgbClr val="006699"/>
                                </a:solidFill>
                                <a:latin typeface="Cambria Math" panose="02040503050406030204" pitchFamily="18" charset="0"/>
                              </a:rPr>
                            </m:ctrlPr>
                          </m:sSupPr>
                          <m:e>
                            <m:r>
                              <a:rPr lang="en-US" altLang="zh-CN" sz="3200">
                                <a:solidFill>
                                  <a:srgbClr val="006699"/>
                                </a:solidFill>
                                <a:latin typeface="Cambria Math" panose="02040503050406030204" pitchFamily="18" charset="0"/>
                              </a:rPr>
                              <m:t>𝜎</m:t>
                            </m:r>
                          </m:e>
                          <m:sup>
                            <m:r>
                              <a:rPr lang="en-US" altLang="zh-CN" sz="3200">
                                <a:solidFill>
                                  <a:srgbClr val="006699"/>
                                </a:solidFill>
                                <a:latin typeface="Cambria Math" panose="02040503050406030204" pitchFamily="18" charset="0"/>
                              </a:rPr>
                              <m:t>2</m:t>
                            </m:r>
                          </m:sup>
                        </m:sSup>
                      </m:e>
                    </m:d>
                  </m:oMath>
                </a14:m>
                <a:r>
                  <a:rPr lang="en-US" altLang="zh-CN" sz="3200" dirty="0" err="1">
                    <a:solidFill>
                      <a:srgbClr val="006699"/>
                    </a:solidFill>
                    <a:latin typeface="Verdana" panose="020B0604030504040204" pitchFamily="34" charset="0"/>
                  </a:rPr>
                  <a:t>的分布密度为</a:t>
                </a:r>
                <a:r>
                  <a:rPr lang="en-US" altLang="zh-CN" sz="3200" dirty="0">
                    <a:solidFill>
                      <a:srgbClr val="006699"/>
                    </a:solidFill>
                    <a:latin typeface="Verdana" panose="020B0604030504040204" pitchFamily="34" charset="0"/>
                  </a:rPr>
                  <a:t> </a:t>
                </a:r>
                <a14:m>
                  <m:oMath xmlns:m="http://schemas.openxmlformats.org/officeDocument/2006/math">
                    <m:r>
                      <a:rPr lang="en-US" altLang="zh-CN" sz="3200">
                        <a:solidFill>
                          <a:srgbClr val="006699"/>
                        </a:solidFill>
                        <a:latin typeface="Cambria Math" panose="02040503050406030204" pitchFamily="18" charset="0"/>
                      </a:rPr>
                      <m:t>𝑓</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𝑥</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𝜇</m:t>
                        </m:r>
                        <m:r>
                          <a:rPr lang="en-US" altLang="zh-CN" sz="3200">
                            <a:solidFill>
                              <a:srgbClr val="006699"/>
                            </a:solidFill>
                            <a:latin typeface="Cambria Math" panose="02040503050406030204" pitchFamily="18" charset="0"/>
                          </a:rPr>
                          <m:t>,</m:t>
                        </m:r>
                        <m:sSup>
                          <m:sSupPr>
                            <m:ctrlPr>
                              <a:rPr lang="zh-CN" altLang="zh-CN" sz="3200" i="1">
                                <a:solidFill>
                                  <a:srgbClr val="006699"/>
                                </a:solidFill>
                                <a:latin typeface="Cambria Math" panose="02040503050406030204" pitchFamily="18" charset="0"/>
                              </a:rPr>
                            </m:ctrlPr>
                          </m:sSupPr>
                          <m:e>
                            <m:r>
                              <a:rPr lang="en-US" altLang="zh-CN" sz="3200">
                                <a:solidFill>
                                  <a:srgbClr val="006699"/>
                                </a:solidFill>
                                <a:latin typeface="Cambria Math" panose="02040503050406030204" pitchFamily="18" charset="0"/>
                              </a:rPr>
                              <m:t>𝜎</m:t>
                            </m:r>
                          </m:e>
                          <m:sup>
                            <m:r>
                              <a:rPr lang="en-US" altLang="zh-CN" sz="3200">
                                <a:solidFill>
                                  <a:srgbClr val="006699"/>
                                </a:solidFill>
                                <a:latin typeface="Cambria Math" panose="02040503050406030204" pitchFamily="18" charset="0"/>
                              </a:rPr>
                              <m:t>2</m:t>
                            </m:r>
                          </m:sup>
                        </m:sSup>
                      </m:e>
                    </m:d>
                  </m:oMath>
                </a14:m>
                <a:r>
                  <a:rPr lang="en-US" altLang="zh-CN" sz="3200" dirty="0">
                    <a:solidFill>
                      <a:srgbClr val="006699"/>
                    </a:solidFill>
                    <a:latin typeface="Verdana" panose="020B0604030504040204" pitchFamily="34" charset="0"/>
                  </a:rPr>
                  <a:t>，</a:t>
                </a:r>
              </a:p>
              <a:p>
                <a:pPr>
                  <a:spcBef>
                    <a:spcPts val="900"/>
                  </a:spcBef>
                  <a:spcAft>
                    <a:spcPts val="900"/>
                  </a:spcAft>
                </a:pPr>
                <a:r>
                  <a:rPr lang="en-US" altLang="zh-CN" sz="3200" dirty="0">
                    <a:solidFill>
                      <a:srgbClr val="006699"/>
                    </a:solidFill>
                    <a:latin typeface="Verdana" panose="020B0604030504040204" pitchFamily="34" charset="0"/>
                  </a:rPr>
                  <a:t>对</a:t>
                </a:r>
                <a14:m>
                  <m:oMath xmlns:m="http://schemas.openxmlformats.org/officeDocument/2006/math">
                    <m:acc>
                      <m:accPr>
                        <m:chr m:val="̃"/>
                        <m:ctrlPr>
                          <a:rPr lang="zh-CN" altLang="zh-CN" sz="3200" i="1">
                            <a:solidFill>
                              <a:srgbClr val="006699"/>
                            </a:solidFill>
                            <a:latin typeface="Cambria Math" panose="02040503050406030204" pitchFamily="18" charset="0"/>
                          </a:rPr>
                        </m:ctrlPr>
                      </m:accPr>
                      <m:e>
                        <m:r>
                          <a:rPr lang="en-US" altLang="zh-CN" sz="3200">
                            <a:solidFill>
                              <a:srgbClr val="006699"/>
                            </a:solidFill>
                            <a:latin typeface="Cambria Math" panose="02040503050406030204" pitchFamily="18" charset="0"/>
                          </a:rPr>
                          <m:t>𝑔</m:t>
                        </m:r>
                      </m:e>
                    </m:acc>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𝑥</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𝑦</m:t>
                        </m:r>
                      </m:e>
                    </m:d>
                  </m:oMath>
                </a14:m>
                <a:r>
                  <a:rPr lang="en-US" altLang="zh-CN" sz="3200" dirty="0">
                    <a:solidFill>
                      <a:srgbClr val="006699"/>
                    </a:solidFill>
                    <a:latin typeface="Verdana" panose="020B0604030504040204" pitchFamily="34" charset="0"/>
                  </a:rPr>
                  <a:t>积分得</a:t>
                </a:r>
                <a:endParaRPr lang="zh-CN" altLang="zh-CN" sz="3200" dirty="0">
                  <a:solidFill>
                    <a:srgbClr val="006699"/>
                  </a:solidFill>
                  <a:latin typeface="Verdana" panose="020B0604030504040204" pitchFamily="34" charset="0"/>
                </a:endParaRPr>
              </a:p>
            </p:txBody>
          </p:sp>
        </mc:Choice>
        <mc:Fallback xmlns="">
          <p:sp>
            <p:nvSpPr>
              <p:cNvPr id="3" name="文本框 2">
                <a:extLst>
                  <a:ext uri="{FF2B5EF4-FFF2-40B4-BE49-F238E27FC236}">
                    <a16:creationId xmlns:a16="http://schemas.microsoft.com/office/drawing/2014/main" id="{286E4AD1-5E60-6D27-A8C7-48A07C656765}"/>
                  </a:ext>
                </a:extLst>
              </p:cNvPr>
              <p:cNvSpPr txBox="1">
                <a:spLocks noRot="1" noChangeAspect="1" noMove="1" noResize="1" noEditPoints="1" noAdjustHandles="1" noChangeArrowheads="1" noChangeShapeType="1" noTextEdit="1"/>
              </p:cNvSpPr>
              <p:nvPr/>
            </p:nvSpPr>
            <p:spPr>
              <a:xfrm>
                <a:off x="-15875" y="896456"/>
                <a:ext cx="7333180" cy="1371466"/>
              </a:xfrm>
              <a:prstGeom prst="rect">
                <a:avLst/>
              </a:prstGeom>
              <a:blipFill>
                <a:blip r:embed="rId2"/>
                <a:stretch>
                  <a:fillRect l="-2078" t="-5778" b="-12444"/>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E3F678A-917D-337A-0380-32C666375B68}"/>
                  </a:ext>
                </a:extLst>
              </p:cNvPr>
              <p:cNvSpPr txBox="1"/>
              <p:nvPr/>
            </p:nvSpPr>
            <p:spPr>
              <a:xfrm>
                <a:off x="8772" y="2539846"/>
                <a:ext cx="8910991" cy="889154"/>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ad>
                        <m:radPr>
                          <m:degHide m:val="on"/>
                          <m:ctrlPr>
                            <a:rPr kumimoji="0" lang="zh-CN" altLang="zh-CN" sz="2400" b="0" i="1" u="none" strike="noStrike" kern="1200" cap="none" spc="0" normalizeH="0" baseline="0" noProof="0" smtClean="0">
                              <a:ln>
                                <a:noFill/>
                              </a:ln>
                              <a:solidFill>
                                <a:srgbClr val="006699"/>
                              </a:solidFill>
                              <a:effectLst/>
                              <a:uLnTx/>
                              <a:uFillTx/>
                              <a:latin typeface="Cambria Math" panose="02040503050406030204" pitchFamily="18" charset="0"/>
                              <a:cs typeface="+mn-cs"/>
                            </a:rPr>
                          </m:ctrlPr>
                        </m:radPr>
                        <m:deg/>
                        <m:e>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2</m:t>
                          </m:r>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𝜋</m:t>
                          </m:r>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/90</m:t>
                          </m:r>
                        </m:e>
                      </m:rad>
                      <m:nary>
                        <m:naryPr>
                          <m:limLoc m:val="subSup"/>
                          <m:ctrlPr>
                            <a:rPr kumimoji="0" lang="zh-CN" altLang="zh-CN" sz="2400" b="0" i="1" u="none" strike="noStrike" kern="1200" cap="none" spc="0" normalizeH="0" baseline="0" noProof="0">
                              <a:ln>
                                <a:noFill/>
                              </a:ln>
                              <a:solidFill>
                                <a:srgbClr val="006699"/>
                              </a:solidFill>
                              <a:effectLst/>
                              <a:uLnTx/>
                              <a:uFillTx/>
                              <a:latin typeface="Cambria Math" panose="02040503050406030204" pitchFamily="18" charset="0"/>
                              <a:cs typeface="+mn-cs"/>
                            </a:rPr>
                          </m:ctrlPr>
                        </m:naryPr>
                        <m:sub>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m:t>
                          </m:r>
                        </m:sub>
                        <m:sup>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m:t>
                          </m:r>
                        </m:sup>
                        <m:e>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𝑓</m:t>
                          </m:r>
                        </m:e>
                      </m:nary>
                      <m:d>
                        <m:dPr>
                          <m:ctrlPr>
                            <a:rPr kumimoji="0" lang="zh-CN" altLang="zh-CN" sz="2400" b="0" i="1" u="none" strike="noStrike" kern="1200" cap="none" spc="0" normalizeH="0" baseline="0" noProof="0">
                              <a:ln>
                                <a:noFill/>
                              </a:ln>
                              <a:solidFill>
                                <a:srgbClr val="006699"/>
                              </a:solidFill>
                              <a:effectLst/>
                              <a:uLnTx/>
                              <a:uFillTx/>
                              <a:latin typeface="Cambria Math" panose="02040503050406030204" pitchFamily="18" charset="0"/>
                              <a:cs typeface="+mn-cs"/>
                            </a:rPr>
                          </m:ctrlPr>
                        </m:dPr>
                        <m:e>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𝑥</m:t>
                          </m:r>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;−0.4,</m:t>
                          </m:r>
                          <m:sSup>
                            <m:sSupPr>
                              <m:ctrlPr>
                                <a:rPr kumimoji="0" lang="zh-CN" altLang="zh-CN" sz="2400" b="0" i="1" u="none" strike="noStrike" kern="1200" cap="none" spc="0" normalizeH="0" baseline="0" noProof="0">
                                  <a:ln>
                                    <a:noFill/>
                                  </a:ln>
                                  <a:solidFill>
                                    <a:srgbClr val="006699"/>
                                  </a:solidFill>
                                  <a:effectLst/>
                                  <a:uLnTx/>
                                  <a:uFillTx/>
                                  <a:latin typeface="Cambria Math" panose="02040503050406030204" pitchFamily="18" charset="0"/>
                                  <a:cs typeface="+mn-cs"/>
                                </a:rPr>
                              </m:ctrlPr>
                            </m:sSupPr>
                            <m:e>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90</m:t>
                              </m:r>
                            </m:e>
                            <m:sup>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−1</m:t>
                              </m:r>
                            </m:sup>
                          </m:sSup>
                        </m:e>
                      </m:d>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𝑑𝑥</m:t>
                      </m:r>
                      <m:r>
                        <a:rPr lang="en-US" altLang="zh-CN" sz="2400">
                          <a:solidFill>
                            <a:srgbClr val="006699"/>
                          </a:solidFill>
                          <a:latin typeface="Cambria Math" panose="02040503050406030204" pitchFamily="18" charset="0"/>
                        </a:rPr>
                        <m:t>⋅</m:t>
                      </m:r>
                      <m:rad>
                        <m:radPr>
                          <m:degHide m:val="on"/>
                          <m:ctrlPr>
                            <a:rPr lang="zh-CN" altLang="zh-CN" sz="2400" i="1">
                              <a:solidFill>
                                <a:srgbClr val="006699"/>
                              </a:solidFill>
                              <a:latin typeface="Cambria Math" panose="02040503050406030204" pitchFamily="18" charset="0"/>
                            </a:rPr>
                          </m:ctrlPr>
                        </m:radPr>
                        <m:deg/>
                        <m:e>
                          <m:r>
                            <a:rPr lang="en-US" altLang="zh-CN" sz="2400">
                              <a:solidFill>
                                <a:srgbClr val="006699"/>
                              </a:solidFill>
                              <a:latin typeface="Cambria Math" panose="02040503050406030204" pitchFamily="18" charset="0"/>
                            </a:rPr>
                            <m:t>2</m:t>
                          </m:r>
                          <m:r>
                            <a:rPr lang="en-US" altLang="zh-CN" sz="2400">
                              <a:solidFill>
                                <a:srgbClr val="006699"/>
                              </a:solidFill>
                              <a:latin typeface="Cambria Math" panose="02040503050406030204" pitchFamily="18" charset="0"/>
                            </a:rPr>
                            <m:t>𝜋</m:t>
                          </m:r>
                          <m:r>
                            <a:rPr lang="en-US" altLang="zh-CN" sz="2400">
                              <a:solidFill>
                                <a:srgbClr val="006699"/>
                              </a:solidFill>
                              <a:latin typeface="Cambria Math" panose="02040503050406030204" pitchFamily="18" charset="0"/>
                            </a:rPr>
                            <m:t>/120</m:t>
                          </m:r>
                        </m:e>
                      </m:rad>
                      <m:nary>
                        <m:naryPr>
                          <m:limLoc m:val="subSup"/>
                          <m:ctrlPr>
                            <a:rPr lang="zh-CN" altLang="zh-CN" sz="2400" i="1">
                              <a:solidFill>
                                <a:srgbClr val="006699"/>
                              </a:solidFill>
                              <a:latin typeface="Cambria Math" panose="02040503050406030204" pitchFamily="18" charset="0"/>
                            </a:rPr>
                          </m:ctrlPr>
                        </m:naryPr>
                        <m:sub>
                          <m:r>
                            <a:rPr lang="en-US" altLang="zh-CN" sz="2400">
                              <a:solidFill>
                                <a:srgbClr val="006699"/>
                              </a:solidFill>
                              <a:latin typeface="Cambria Math" panose="02040503050406030204" pitchFamily="18" charset="0"/>
                            </a:rPr>
                            <m:t>−∞</m:t>
                          </m:r>
                        </m:sub>
                        <m:sup>
                          <m:r>
                            <a:rPr lang="en-US" altLang="zh-CN" sz="2400">
                              <a:solidFill>
                                <a:srgbClr val="006699"/>
                              </a:solidFill>
                              <a:latin typeface="Cambria Math" panose="02040503050406030204" pitchFamily="18" charset="0"/>
                            </a:rPr>
                            <m:t>∞</m:t>
                          </m:r>
                        </m:sup>
                        <m:e>
                          <m:r>
                            <a:rPr lang="en-US" altLang="zh-CN" sz="2400">
                              <a:solidFill>
                                <a:srgbClr val="006699"/>
                              </a:solidFill>
                              <a:latin typeface="Cambria Math" panose="02040503050406030204" pitchFamily="18" charset="0"/>
                            </a:rPr>
                            <m:t>𝑓</m:t>
                          </m:r>
                        </m:e>
                      </m:nary>
                      <m:d>
                        <m:dPr>
                          <m:ctrlPr>
                            <a:rPr lang="zh-CN" altLang="zh-CN" sz="2400" i="1">
                              <a:solidFill>
                                <a:srgbClr val="006699"/>
                              </a:solidFill>
                              <a:latin typeface="Cambria Math" panose="02040503050406030204" pitchFamily="18" charset="0"/>
                            </a:rPr>
                          </m:ctrlPr>
                        </m:dPr>
                        <m:e>
                          <m:r>
                            <a:rPr lang="en-US" altLang="zh-CN" sz="2400">
                              <a:solidFill>
                                <a:srgbClr val="006699"/>
                              </a:solidFill>
                              <a:latin typeface="Cambria Math" panose="02040503050406030204" pitchFamily="18" charset="0"/>
                            </a:rPr>
                            <m:t>𝑦</m:t>
                          </m:r>
                          <m:r>
                            <a:rPr lang="en-US" altLang="zh-CN" sz="2400">
                              <a:solidFill>
                                <a:srgbClr val="006699"/>
                              </a:solidFill>
                              <a:latin typeface="Cambria Math" panose="02040503050406030204" pitchFamily="18" charset="0"/>
                            </a:rPr>
                            <m:t>;0.5,</m:t>
                          </m:r>
                          <m:sSup>
                            <m:sSupPr>
                              <m:ctrlPr>
                                <a:rPr lang="zh-CN" altLang="zh-CN" sz="2400" i="1">
                                  <a:solidFill>
                                    <a:srgbClr val="006699"/>
                                  </a:solidFill>
                                  <a:latin typeface="Cambria Math" panose="02040503050406030204" pitchFamily="18" charset="0"/>
                                </a:rPr>
                              </m:ctrlPr>
                            </m:sSupPr>
                            <m:e>
                              <m:r>
                                <a:rPr lang="en-US" altLang="zh-CN" sz="2400">
                                  <a:solidFill>
                                    <a:srgbClr val="006699"/>
                                  </a:solidFill>
                                  <a:latin typeface="Cambria Math" panose="02040503050406030204" pitchFamily="18" charset="0"/>
                                </a:rPr>
                                <m:t>120</m:t>
                              </m:r>
                            </m:e>
                            <m:sup>
                              <m:r>
                                <a:rPr lang="en-US" altLang="zh-CN" sz="2400">
                                  <a:solidFill>
                                    <a:srgbClr val="006699"/>
                                  </a:solidFill>
                                  <a:latin typeface="Cambria Math" panose="02040503050406030204" pitchFamily="18" charset="0"/>
                                </a:rPr>
                                <m:t>−1</m:t>
                              </m:r>
                            </m:sup>
                          </m:sSup>
                        </m:e>
                      </m:d>
                      <m:r>
                        <a:rPr lang="en-US" altLang="zh-CN" sz="2400">
                          <a:solidFill>
                            <a:srgbClr val="006699"/>
                          </a:solidFill>
                          <a:latin typeface="Cambria Math" panose="02040503050406030204" pitchFamily="18" charset="0"/>
                        </a:rPr>
                        <m:t>𝑑𝑦</m:t>
                      </m:r>
                    </m:oMath>
                  </m:oMathPara>
                </a14:m>
                <a:endParaRPr lang="zh-CN" altLang="en-US" sz="1400" dirty="0"/>
              </a:p>
            </p:txBody>
          </p:sp>
        </mc:Choice>
        <mc:Fallback xmlns="">
          <p:sp>
            <p:nvSpPr>
              <p:cNvPr id="7" name="文本框 6">
                <a:extLst>
                  <a:ext uri="{FF2B5EF4-FFF2-40B4-BE49-F238E27FC236}">
                    <a16:creationId xmlns:a16="http://schemas.microsoft.com/office/drawing/2014/main" id="{FE3F678A-917D-337A-0380-32C666375B68}"/>
                  </a:ext>
                </a:extLst>
              </p:cNvPr>
              <p:cNvSpPr txBox="1">
                <a:spLocks noRot="1" noChangeAspect="1" noMove="1" noResize="1" noEditPoints="1" noAdjustHandles="1" noChangeArrowheads="1" noChangeShapeType="1" noTextEdit="1"/>
              </p:cNvSpPr>
              <p:nvPr/>
            </p:nvSpPr>
            <p:spPr>
              <a:xfrm>
                <a:off x="8772" y="2539846"/>
                <a:ext cx="8910991" cy="889154"/>
              </a:xfrm>
              <a:prstGeom prst="rect">
                <a:avLst/>
              </a:prstGeom>
              <a:blipFill>
                <a:blip r:embed="rId3"/>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8946ABE8-70A4-B63A-3B92-B86D01CE1F83}"/>
                  </a:ext>
                </a:extLst>
              </p:cNvPr>
              <p:cNvSpPr txBox="1"/>
              <p:nvPr/>
            </p:nvSpPr>
            <p:spPr>
              <a:xfrm>
                <a:off x="-718377" y="3432841"/>
                <a:ext cx="9405177" cy="756426"/>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altLang="zh-CN" sz="2000" b="0" i="0" u="none" strike="noStrike" kern="1200" cap="none" spc="0" normalizeH="0" baseline="0" noProof="0" smtClean="0">
                          <a:ln>
                            <a:noFill/>
                          </a:ln>
                          <a:solidFill>
                            <a:srgbClr val="006699"/>
                          </a:solidFill>
                          <a:effectLst/>
                          <a:uLnTx/>
                          <a:uFillTx/>
                          <a:latin typeface="Cambria Math" panose="02040503050406030204" pitchFamily="18" charset="0"/>
                          <a:cs typeface="+mn-cs"/>
                        </a:rPr>
                        <m:t>+0.5</m:t>
                      </m:r>
                      <m:rad>
                        <m:radPr>
                          <m:degHide m:val="on"/>
                          <m:ctrlPr>
                            <a:rPr kumimoji="0" lang="zh-CN" altLang="zh-CN" sz="2000" b="0" i="1" u="none" strike="noStrike" kern="1200" cap="none" spc="0" normalizeH="0" baseline="0" noProof="0">
                              <a:ln>
                                <a:noFill/>
                              </a:ln>
                              <a:solidFill>
                                <a:srgbClr val="006699"/>
                              </a:solidFill>
                              <a:effectLst/>
                              <a:uLnTx/>
                              <a:uFillTx/>
                              <a:latin typeface="Cambria Math" panose="02040503050406030204" pitchFamily="18" charset="0"/>
                              <a:cs typeface="+mn-cs"/>
                            </a:rPr>
                          </m:ctrlPr>
                        </m:radPr>
                        <m:deg/>
                        <m:e>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2</m:t>
                          </m:r>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𝜋</m:t>
                          </m:r>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/180</m:t>
                          </m:r>
                        </m:e>
                      </m:rad>
                      <m:nary>
                        <m:naryPr>
                          <m:limLoc m:val="subSup"/>
                          <m:ctrlPr>
                            <a:rPr kumimoji="0" lang="zh-CN" altLang="zh-CN" sz="2000" b="0" i="1" u="none" strike="noStrike" kern="1200" cap="none" spc="0" normalizeH="0" baseline="0" noProof="0">
                              <a:ln>
                                <a:noFill/>
                              </a:ln>
                              <a:solidFill>
                                <a:srgbClr val="006699"/>
                              </a:solidFill>
                              <a:effectLst/>
                              <a:uLnTx/>
                              <a:uFillTx/>
                              <a:latin typeface="Cambria Math" panose="02040503050406030204" pitchFamily="18" charset="0"/>
                              <a:cs typeface="+mn-cs"/>
                            </a:rPr>
                          </m:ctrlPr>
                        </m:naryPr>
                        <m:sub>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m:t>
                          </m:r>
                        </m:sub>
                        <m:sup>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m:t>
                          </m:r>
                        </m:sup>
                        <m:e>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𝑓</m:t>
                          </m:r>
                        </m:e>
                      </m:nary>
                      <m:d>
                        <m:dPr>
                          <m:ctrlPr>
                            <a:rPr kumimoji="0" lang="zh-CN" altLang="zh-CN" sz="2000" b="0" i="1" u="none" strike="noStrike" kern="1200" cap="none" spc="0" normalizeH="0" baseline="0" noProof="0">
                              <a:ln>
                                <a:noFill/>
                              </a:ln>
                              <a:solidFill>
                                <a:srgbClr val="006699"/>
                              </a:solidFill>
                              <a:effectLst/>
                              <a:uLnTx/>
                              <a:uFillTx/>
                              <a:latin typeface="Cambria Math" panose="02040503050406030204" pitchFamily="18" charset="0"/>
                              <a:cs typeface="+mn-cs"/>
                            </a:rPr>
                          </m:ctrlPr>
                        </m:dPr>
                        <m:e>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𝑥</m:t>
                          </m:r>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;0.5,</m:t>
                          </m:r>
                          <m:sSup>
                            <m:sSupPr>
                              <m:ctrlPr>
                                <a:rPr kumimoji="0" lang="zh-CN" altLang="zh-CN" sz="2000" b="0" i="1" u="none" strike="noStrike" kern="1200" cap="none" spc="0" normalizeH="0" baseline="0" noProof="0">
                                  <a:ln>
                                    <a:noFill/>
                                  </a:ln>
                                  <a:solidFill>
                                    <a:srgbClr val="006699"/>
                                  </a:solidFill>
                                  <a:effectLst/>
                                  <a:uLnTx/>
                                  <a:uFillTx/>
                                  <a:latin typeface="Cambria Math" panose="02040503050406030204" pitchFamily="18" charset="0"/>
                                  <a:cs typeface="+mn-cs"/>
                                </a:rPr>
                              </m:ctrlPr>
                            </m:sSupPr>
                            <m:e>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180</m:t>
                              </m:r>
                            </m:e>
                            <m:sup>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−1</m:t>
                              </m:r>
                            </m:sup>
                          </m:sSup>
                        </m:e>
                      </m:d>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𝑑𝑥</m:t>
                      </m:r>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m:t>
                      </m:r>
                      <m:rad>
                        <m:radPr>
                          <m:degHide m:val="on"/>
                          <m:ctrlPr>
                            <a:rPr kumimoji="0" lang="zh-CN" altLang="zh-CN" sz="2000" b="0" i="1" u="none" strike="noStrike" kern="1200" cap="none" spc="0" normalizeH="0" baseline="0" noProof="0">
                              <a:ln>
                                <a:noFill/>
                              </a:ln>
                              <a:solidFill>
                                <a:srgbClr val="006699"/>
                              </a:solidFill>
                              <a:effectLst/>
                              <a:uLnTx/>
                              <a:uFillTx/>
                              <a:latin typeface="Cambria Math" panose="02040503050406030204" pitchFamily="18" charset="0"/>
                              <a:cs typeface="+mn-cs"/>
                            </a:rPr>
                          </m:ctrlPr>
                        </m:radPr>
                        <m:deg/>
                        <m:e>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2</m:t>
                          </m:r>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𝜋</m:t>
                          </m:r>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/20</m:t>
                          </m:r>
                        </m:e>
                      </m:rad>
                      <m:nary>
                        <m:naryPr>
                          <m:limLoc m:val="subSup"/>
                          <m:ctrlPr>
                            <a:rPr kumimoji="0" lang="zh-CN" altLang="zh-CN" sz="2000" b="0" i="1" u="none" strike="noStrike" kern="1200" cap="none" spc="0" normalizeH="0" baseline="0" noProof="0">
                              <a:ln>
                                <a:noFill/>
                              </a:ln>
                              <a:solidFill>
                                <a:srgbClr val="006699"/>
                              </a:solidFill>
                              <a:effectLst/>
                              <a:uLnTx/>
                              <a:uFillTx/>
                              <a:latin typeface="Cambria Math" panose="02040503050406030204" pitchFamily="18" charset="0"/>
                              <a:cs typeface="+mn-cs"/>
                            </a:rPr>
                          </m:ctrlPr>
                        </m:naryPr>
                        <m:sub>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m:t>
                          </m:r>
                        </m:sub>
                        <m:sup>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m:t>
                          </m:r>
                        </m:sup>
                        <m:e>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𝑓</m:t>
                          </m:r>
                        </m:e>
                      </m:nary>
                      <m:d>
                        <m:dPr>
                          <m:ctrlPr>
                            <a:rPr kumimoji="0" lang="zh-CN" altLang="zh-CN" sz="2000" b="0" i="1" u="none" strike="noStrike" kern="1200" cap="none" spc="0" normalizeH="0" baseline="0" noProof="0">
                              <a:ln>
                                <a:noFill/>
                              </a:ln>
                              <a:solidFill>
                                <a:srgbClr val="006699"/>
                              </a:solidFill>
                              <a:effectLst/>
                              <a:uLnTx/>
                              <a:uFillTx/>
                              <a:latin typeface="Cambria Math" panose="02040503050406030204" pitchFamily="18" charset="0"/>
                              <a:cs typeface="+mn-cs"/>
                            </a:rPr>
                          </m:ctrlPr>
                        </m:dPr>
                        <m:e>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𝑦</m:t>
                          </m:r>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;−0.1,</m:t>
                          </m:r>
                          <m:sSup>
                            <m:sSupPr>
                              <m:ctrlPr>
                                <a:rPr kumimoji="0" lang="zh-CN" altLang="zh-CN" sz="2000" b="0" i="1" u="none" strike="noStrike" kern="1200" cap="none" spc="0" normalizeH="0" baseline="0" noProof="0">
                                  <a:ln>
                                    <a:noFill/>
                                  </a:ln>
                                  <a:solidFill>
                                    <a:srgbClr val="006699"/>
                                  </a:solidFill>
                                  <a:effectLst/>
                                  <a:uLnTx/>
                                  <a:uFillTx/>
                                  <a:latin typeface="Cambria Math" panose="02040503050406030204" pitchFamily="18" charset="0"/>
                                  <a:cs typeface="+mn-cs"/>
                                </a:rPr>
                              </m:ctrlPr>
                            </m:sSupPr>
                            <m:e>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20</m:t>
                              </m:r>
                            </m:e>
                            <m:sup>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−1</m:t>
                              </m:r>
                            </m:sup>
                          </m:sSup>
                        </m:e>
                      </m:d>
                      <m:r>
                        <a:rPr kumimoji="0" lang="en-US" altLang="zh-CN" sz="2000" b="0" i="0" u="none" strike="noStrike" kern="1200" cap="none" spc="0" normalizeH="0" baseline="0" noProof="0">
                          <a:ln>
                            <a:noFill/>
                          </a:ln>
                          <a:solidFill>
                            <a:srgbClr val="006699"/>
                          </a:solidFill>
                          <a:effectLst/>
                          <a:uLnTx/>
                          <a:uFillTx/>
                          <a:latin typeface="Cambria Math" panose="02040503050406030204" pitchFamily="18" charset="0"/>
                          <a:cs typeface="+mn-cs"/>
                        </a:rPr>
                        <m:t>𝑑𝑦</m:t>
                      </m:r>
                    </m:oMath>
                  </m:oMathPara>
                </a14:m>
                <a:endParaRPr lang="zh-CN" altLang="en-US" sz="1200" dirty="0"/>
              </a:p>
            </p:txBody>
          </p:sp>
        </mc:Choice>
        <mc:Fallback xmlns="">
          <p:sp>
            <p:nvSpPr>
              <p:cNvPr id="11" name="文本框 10">
                <a:extLst>
                  <a:ext uri="{FF2B5EF4-FFF2-40B4-BE49-F238E27FC236}">
                    <a16:creationId xmlns:a16="http://schemas.microsoft.com/office/drawing/2014/main" id="{8946ABE8-70A4-B63A-3B92-B86D01CE1F83}"/>
                  </a:ext>
                </a:extLst>
              </p:cNvPr>
              <p:cNvSpPr txBox="1">
                <a:spLocks noRot="1" noChangeAspect="1" noMove="1" noResize="1" noEditPoints="1" noAdjustHandles="1" noChangeArrowheads="1" noChangeShapeType="1" noTextEdit="1"/>
              </p:cNvSpPr>
              <p:nvPr/>
            </p:nvSpPr>
            <p:spPr>
              <a:xfrm>
                <a:off x="-718377" y="3432841"/>
                <a:ext cx="9405177" cy="756426"/>
              </a:xfrm>
              <a:prstGeom prst="rect">
                <a:avLst/>
              </a:prstGeom>
              <a:blipFill>
                <a:blip r:embed="rId4"/>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1651CF4E-A819-2D28-453B-EDEF6492ED69}"/>
                  </a:ext>
                </a:extLst>
              </p:cNvPr>
              <p:cNvSpPr txBox="1"/>
              <p:nvPr/>
            </p:nvSpPr>
            <p:spPr>
              <a:xfrm>
                <a:off x="-513565" y="4532915"/>
                <a:ext cx="6937130" cy="53957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altLang="zh-CN" sz="2400" b="0" i="1" u="none" strike="noStrike" kern="1200" cap="none" spc="0" normalizeH="0" baseline="0" noProof="0" smtClean="0">
                          <a:ln>
                            <a:noFill/>
                          </a:ln>
                          <a:solidFill>
                            <a:srgbClr val="006699"/>
                          </a:solidFill>
                          <a:effectLst/>
                          <a:uLnTx/>
                          <a:uFillTx/>
                          <a:latin typeface="Cambria Math" panose="02040503050406030204" pitchFamily="18" charset="0"/>
                          <a:cs typeface="+mn-cs"/>
                        </a:rPr>
                        <m:t>=</m:t>
                      </m:r>
                      <m:rad>
                        <m:radPr>
                          <m:degHide m:val="on"/>
                          <m:ctrlPr>
                            <a:rPr kumimoji="0" lang="zh-CN" altLang="zh-CN" sz="2400" b="0" i="1" u="none" strike="noStrike" kern="1200" cap="none" spc="0" normalizeH="0" baseline="0" noProof="0" smtClean="0">
                              <a:ln>
                                <a:noFill/>
                              </a:ln>
                              <a:solidFill>
                                <a:srgbClr val="006699"/>
                              </a:solidFill>
                              <a:effectLst/>
                              <a:uLnTx/>
                              <a:uFillTx/>
                              <a:latin typeface="Cambria Math" panose="02040503050406030204" pitchFamily="18" charset="0"/>
                              <a:cs typeface="+mn-cs"/>
                            </a:rPr>
                          </m:ctrlPr>
                        </m:radPr>
                        <m:deg/>
                        <m:e>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2</m:t>
                          </m:r>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𝜋</m:t>
                          </m:r>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/90</m:t>
                          </m:r>
                        </m:e>
                      </m:rad>
                      <m:rad>
                        <m:radPr>
                          <m:degHide m:val="on"/>
                          <m:ctrlPr>
                            <a:rPr kumimoji="0" lang="zh-CN" altLang="zh-CN" sz="2400" b="0" i="1" u="none" strike="noStrike" kern="1200" cap="none" spc="0" normalizeH="0" baseline="0" noProof="0">
                              <a:ln>
                                <a:noFill/>
                              </a:ln>
                              <a:solidFill>
                                <a:srgbClr val="006699"/>
                              </a:solidFill>
                              <a:effectLst/>
                              <a:uLnTx/>
                              <a:uFillTx/>
                              <a:latin typeface="Cambria Math" panose="02040503050406030204" pitchFamily="18" charset="0"/>
                              <a:cs typeface="+mn-cs"/>
                            </a:rPr>
                          </m:ctrlPr>
                        </m:radPr>
                        <m:deg/>
                        <m:e>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2</m:t>
                          </m:r>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𝜋</m:t>
                          </m:r>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/120</m:t>
                          </m:r>
                        </m:e>
                      </m:rad>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+0.5</m:t>
                      </m:r>
                      <m:rad>
                        <m:radPr>
                          <m:degHide m:val="on"/>
                          <m:ctrlPr>
                            <a:rPr kumimoji="0" lang="zh-CN" altLang="zh-CN" sz="2400" b="0" i="1" u="none" strike="noStrike" kern="1200" cap="none" spc="0" normalizeH="0" baseline="0" noProof="0">
                              <a:ln>
                                <a:noFill/>
                              </a:ln>
                              <a:solidFill>
                                <a:srgbClr val="006699"/>
                              </a:solidFill>
                              <a:effectLst/>
                              <a:uLnTx/>
                              <a:uFillTx/>
                              <a:latin typeface="Cambria Math" panose="02040503050406030204" pitchFamily="18" charset="0"/>
                              <a:cs typeface="+mn-cs"/>
                            </a:rPr>
                          </m:ctrlPr>
                        </m:radPr>
                        <m:deg/>
                        <m:e>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2</m:t>
                          </m:r>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𝜋</m:t>
                          </m:r>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/180</m:t>
                          </m:r>
                        </m:e>
                      </m:rad>
                      <m:rad>
                        <m:radPr>
                          <m:degHide m:val="on"/>
                          <m:ctrlPr>
                            <a:rPr kumimoji="0" lang="zh-CN" altLang="zh-CN" sz="2400" b="0" i="1" u="none" strike="noStrike" kern="1200" cap="none" spc="0" normalizeH="0" baseline="0" noProof="0">
                              <a:ln>
                                <a:noFill/>
                              </a:ln>
                              <a:solidFill>
                                <a:srgbClr val="006699"/>
                              </a:solidFill>
                              <a:effectLst/>
                              <a:uLnTx/>
                              <a:uFillTx/>
                              <a:latin typeface="Cambria Math" panose="02040503050406030204" pitchFamily="18" charset="0"/>
                              <a:cs typeface="+mn-cs"/>
                            </a:rPr>
                          </m:ctrlPr>
                        </m:radPr>
                        <m:deg/>
                        <m:e>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2</m:t>
                          </m:r>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𝜋</m:t>
                          </m:r>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/20</m:t>
                          </m:r>
                        </m:e>
                      </m:rad>
                    </m:oMath>
                  </m:oMathPara>
                </a14:m>
                <a:endParaRPr lang="zh-CN" altLang="en-US" sz="1400" dirty="0"/>
              </a:p>
            </p:txBody>
          </p:sp>
        </mc:Choice>
        <mc:Fallback xmlns="">
          <p:sp>
            <p:nvSpPr>
              <p:cNvPr id="13" name="文本框 12">
                <a:extLst>
                  <a:ext uri="{FF2B5EF4-FFF2-40B4-BE49-F238E27FC236}">
                    <a16:creationId xmlns:a16="http://schemas.microsoft.com/office/drawing/2014/main" id="{1651CF4E-A819-2D28-453B-EDEF6492ED69}"/>
                  </a:ext>
                </a:extLst>
              </p:cNvPr>
              <p:cNvSpPr txBox="1">
                <a:spLocks noRot="1" noChangeAspect="1" noMove="1" noResize="1" noEditPoints="1" noAdjustHandles="1" noChangeArrowheads="1" noChangeShapeType="1" noTextEdit="1"/>
              </p:cNvSpPr>
              <p:nvPr/>
            </p:nvSpPr>
            <p:spPr>
              <a:xfrm>
                <a:off x="-513565" y="4532915"/>
                <a:ext cx="6937130" cy="539571"/>
              </a:xfrm>
              <a:prstGeom prst="rect">
                <a:avLst/>
              </a:prstGeom>
              <a:blipFill>
                <a:blip r:embed="rId5"/>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2FCF0E16-B4A7-A372-A11B-00C88AF77594}"/>
                  </a:ext>
                </a:extLst>
              </p:cNvPr>
              <p:cNvSpPr txBox="1"/>
              <p:nvPr/>
            </p:nvSpPr>
            <p:spPr>
              <a:xfrm>
                <a:off x="-198530" y="5354186"/>
                <a:ext cx="2815818"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altLang="zh-CN"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≈0.1128199</m:t>
                      </m:r>
                    </m:oMath>
                  </m:oMathPara>
                </a14:m>
                <a:endParaRPr lang="zh-CN" altLang="en-US" dirty="0"/>
              </a:p>
            </p:txBody>
          </p:sp>
        </mc:Choice>
        <mc:Fallback xmlns="">
          <p:sp>
            <p:nvSpPr>
              <p:cNvPr id="15" name="文本框 14">
                <a:extLst>
                  <a:ext uri="{FF2B5EF4-FFF2-40B4-BE49-F238E27FC236}">
                    <a16:creationId xmlns:a16="http://schemas.microsoft.com/office/drawing/2014/main" id="{2FCF0E16-B4A7-A372-A11B-00C88AF77594}"/>
                  </a:ext>
                </a:extLst>
              </p:cNvPr>
              <p:cNvSpPr txBox="1">
                <a:spLocks noRot="1" noChangeAspect="1" noMove="1" noResize="1" noEditPoints="1" noAdjustHandles="1" noChangeArrowheads="1" noChangeShapeType="1" noTextEdit="1"/>
              </p:cNvSpPr>
              <p:nvPr/>
            </p:nvSpPr>
            <p:spPr>
              <a:xfrm>
                <a:off x="-198530" y="5354186"/>
                <a:ext cx="2815818" cy="584775"/>
              </a:xfrm>
              <a:prstGeom prst="rect">
                <a:avLst/>
              </a:prstGeom>
              <a:blipFill>
                <a:blip r:embed="rId6"/>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D3BB64CE-6FF1-0E87-D35E-A75732261879}"/>
                  </a:ext>
                </a:extLst>
              </p:cNvPr>
              <p:cNvSpPr txBox="1"/>
              <p:nvPr/>
            </p:nvSpPr>
            <p:spPr>
              <a:xfrm>
                <a:off x="2456765" y="1568110"/>
                <a:ext cx="3490511" cy="889154"/>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nary>
                        <m:naryPr>
                          <m:limLoc m:val="subSup"/>
                          <m:ctrlPr>
                            <a:rPr kumimoji="0" lang="zh-CN" altLang="zh-CN" sz="2400" b="0" i="1" u="none" strike="noStrike" kern="1200" cap="none" spc="0" normalizeH="0" baseline="0" noProof="0" smtClean="0">
                              <a:ln>
                                <a:noFill/>
                              </a:ln>
                              <a:solidFill>
                                <a:srgbClr val="006699"/>
                              </a:solidFill>
                              <a:effectLst/>
                              <a:uLnTx/>
                              <a:uFillTx/>
                              <a:latin typeface="Cambria Math" panose="02040503050406030204" pitchFamily="18" charset="0"/>
                              <a:cs typeface="+mn-cs"/>
                            </a:rPr>
                          </m:ctrlPr>
                        </m:naryPr>
                        <m:sub>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m:t>
                          </m:r>
                        </m:sub>
                        <m:sup>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m:t>
                          </m:r>
                        </m:sup>
                        <m:e>
                          <m:nary>
                            <m:naryPr>
                              <m:limLoc m:val="subSup"/>
                              <m:ctrlPr>
                                <a:rPr kumimoji="0" lang="zh-CN" altLang="zh-CN" sz="2400" b="0" i="1" u="none" strike="noStrike" kern="1200" cap="none" spc="0" normalizeH="0" baseline="0" noProof="0">
                                  <a:ln>
                                    <a:noFill/>
                                  </a:ln>
                                  <a:solidFill>
                                    <a:srgbClr val="006699"/>
                                  </a:solidFill>
                                  <a:effectLst/>
                                  <a:uLnTx/>
                                  <a:uFillTx/>
                                  <a:latin typeface="Cambria Math" panose="02040503050406030204" pitchFamily="18" charset="0"/>
                                  <a:cs typeface="+mn-cs"/>
                                </a:rPr>
                              </m:ctrlPr>
                            </m:naryPr>
                            <m:sub>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m:t>
                              </m:r>
                            </m:sub>
                            <m:sup>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m:t>
                              </m:r>
                            </m:sup>
                            <m:e>
                              <m:acc>
                                <m:accPr>
                                  <m:chr m:val="̃"/>
                                  <m:ctrlPr>
                                    <a:rPr kumimoji="0" lang="zh-CN" altLang="zh-CN" sz="2400" b="0" i="1" u="none" strike="noStrike" kern="1200" cap="none" spc="0" normalizeH="0" baseline="0" noProof="0">
                                      <a:ln>
                                        <a:noFill/>
                                      </a:ln>
                                      <a:solidFill>
                                        <a:srgbClr val="006699"/>
                                      </a:solidFill>
                                      <a:effectLst/>
                                      <a:uLnTx/>
                                      <a:uFillTx/>
                                      <a:latin typeface="Cambria Math" panose="02040503050406030204" pitchFamily="18" charset="0"/>
                                      <a:cs typeface="+mn-cs"/>
                                    </a:rPr>
                                  </m:ctrlPr>
                                </m:accPr>
                                <m:e>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𝑔</m:t>
                                  </m:r>
                                </m:e>
                              </m:acc>
                            </m:e>
                          </m:nary>
                        </m:e>
                      </m:nary>
                      <m:d>
                        <m:dPr>
                          <m:ctrlPr>
                            <a:rPr kumimoji="0" lang="zh-CN" altLang="zh-CN" sz="2400" b="0" i="1" u="none" strike="noStrike" kern="1200" cap="none" spc="0" normalizeH="0" baseline="0" noProof="0">
                              <a:ln>
                                <a:noFill/>
                              </a:ln>
                              <a:solidFill>
                                <a:srgbClr val="006699"/>
                              </a:solidFill>
                              <a:effectLst/>
                              <a:uLnTx/>
                              <a:uFillTx/>
                              <a:latin typeface="Cambria Math" panose="02040503050406030204" pitchFamily="18" charset="0"/>
                              <a:cs typeface="+mn-cs"/>
                            </a:rPr>
                          </m:ctrlPr>
                        </m:dPr>
                        <m:e>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𝑥</m:t>
                          </m:r>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m:t>
                          </m:r>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𝑦</m:t>
                          </m:r>
                        </m:e>
                      </m:d>
                      <m:r>
                        <a:rPr kumimoji="0" lang="en-US" altLang="zh-CN" sz="2400" b="0" i="0" u="none" strike="noStrike" kern="1200" cap="none" spc="0" normalizeH="0" baseline="0" noProof="0">
                          <a:ln>
                            <a:noFill/>
                          </a:ln>
                          <a:solidFill>
                            <a:srgbClr val="006699"/>
                          </a:solidFill>
                          <a:effectLst/>
                          <a:uLnTx/>
                          <a:uFillTx/>
                          <a:latin typeface="Cambria Math" panose="02040503050406030204" pitchFamily="18" charset="0"/>
                          <a:cs typeface="+mn-cs"/>
                        </a:rPr>
                        <m:t>=</m:t>
                      </m:r>
                    </m:oMath>
                  </m:oMathPara>
                </a14:m>
                <a:endParaRPr lang="zh-CN" altLang="en-US" sz="1400" dirty="0"/>
              </a:p>
            </p:txBody>
          </p:sp>
        </mc:Choice>
        <mc:Fallback xmlns="">
          <p:sp>
            <p:nvSpPr>
              <p:cNvPr id="17" name="文本框 16">
                <a:extLst>
                  <a:ext uri="{FF2B5EF4-FFF2-40B4-BE49-F238E27FC236}">
                    <a16:creationId xmlns:a16="http://schemas.microsoft.com/office/drawing/2014/main" id="{D3BB64CE-6FF1-0E87-D35E-A75732261879}"/>
                  </a:ext>
                </a:extLst>
              </p:cNvPr>
              <p:cNvSpPr txBox="1">
                <a:spLocks noRot="1" noChangeAspect="1" noMove="1" noResize="1" noEditPoints="1" noAdjustHandles="1" noChangeArrowheads="1" noChangeShapeType="1" noTextEdit="1"/>
              </p:cNvSpPr>
              <p:nvPr/>
            </p:nvSpPr>
            <p:spPr>
              <a:xfrm>
                <a:off x="2456765" y="1568110"/>
                <a:ext cx="3490511" cy="889154"/>
              </a:xfrm>
              <a:prstGeom prst="rect">
                <a:avLst/>
              </a:prstGeom>
              <a:blipFill>
                <a:blip r:embed="rId7"/>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3433790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12.2</a:t>
            </a:r>
            <a:endParaRPr lang="zh-CN" altLang="en-US" dirty="0"/>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81</a:t>
            </a:fld>
            <a:endParaRPr lang="zh-CN" altLang="en-US">
              <a:solidFill>
                <a:srgbClr val="898989"/>
              </a:solidFill>
            </a:endParaRPr>
          </a:p>
        </p:txBody>
      </p:sp>
      <p:sp>
        <p:nvSpPr>
          <p:cNvPr id="7" name="文本框 6">
            <a:extLst>
              <a:ext uri="{FF2B5EF4-FFF2-40B4-BE49-F238E27FC236}">
                <a16:creationId xmlns:a16="http://schemas.microsoft.com/office/drawing/2014/main" id="{0355B3F7-5ADE-4C6D-A81B-B5B00BC74F06}"/>
              </a:ext>
            </a:extLst>
          </p:cNvPr>
          <p:cNvSpPr txBox="1"/>
          <p:nvPr/>
        </p:nvSpPr>
        <p:spPr>
          <a:xfrm>
            <a:off x="0" y="1088740"/>
            <a:ext cx="4690532" cy="584775"/>
          </a:xfrm>
          <a:prstGeom prst="rect">
            <a:avLst/>
          </a:prstGeom>
          <a:noFill/>
          <a:ln w="25400">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于是令</a:t>
            </a:r>
            <a:endParaRPr kumimoji="0" lang="en-US" altLang="zh-CN"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sp>
        <p:nvSpPr>
          <p:cNvPr id="8" name="文本框 7">
            <a:extLst>
              <a:ext uri="{FF2B5EF4-FFF2-40B4-BE49-F238E27FC236}">
                <a16:creationId xmlns:a16="http://schemas.microsoft.com/office/drawing/2014/main" id="{A016D20B-8F12-4275-A37A-05026859061D}"/>
              </a:ext>
            </a:extLst>
          </p:cNvPr>
          <p:cNvSpPr txBox="1"/>
          <p:nvPr/>
        </p:nvSpPr>
        <p:spPr>
          <a:xfrm>
            <a:off x="151258" y="4989054"/>
            <a:ext cx="8535542" cy="1077218"/>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用复合抽样法对</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g(</a:t>
            </a:r>
            <a:r>
              <a:rPr kumimoji="0" lang="en-US" altLang="zh-CN" sz="3200" b="0" i="0" u="none" strike="noStrike" kern="1200" cap="none" spc="0" normalizeH="0" baseline="0" noProof="0" dirty="0" err="1">
                <a:ln>
                  <a:noFill/>
                </a:ln>
                <a:solidFill>
                  <a:srgbClr val="006699"/>
                </a:solidFill>
                <a:effectLst/>
                <a:uLnTx/>
                <a:uFillTx/>
                <a:latin typeface="Verdana" panose="020B0604030504040204" pitchFamily="34" charset="0"/>
                <a:ea typeface="宋体" panose="02010600030101010101" pitchFamily="2" charset="-122"/>
                <a:cs typeface="+mn-cs"/>
              </a:rPr>
              <a:t>x,y</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抽样</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然后用重要抽样法得到估计值</a:t>
            </a:r>
            <a:endParaRPr lang="zh-CN" altLang="en-US" dirty="0"/>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7521288-16FF-BF16-C884-2310F1F50D46}"/>
                  </a:ext>
                </a:extLst>
              </p:cNvPr>
              <p:cNvSpPr txBox="1"/>
              <p:nvPr/>
            </p:nvSpPr>
            <p:spPr>
              <a:xfrm>
                <a:off x="251646" y="2477534"/>
                <a:ext cx="7116618"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kumimoji="0" lang="zh-CN" altLang="en-US"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0.5358984</m:t>
                      </m:r>
                      <m:r>
                        <a:rPr kumimoji="0" lang="zh-CN" altLang="en-US"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𝑓</m:t>
                      </m:r>
                      <m:d>
                        <m:dPr>
                          <m:ctrlPr>
                            <a:rPr kumimoji="0" lang="zh-CN" altLang="en-US"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dPr>
                        <m:e>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𝑥</m:t>
                          </m:r>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;−0.4,</m:t>
                          </m:r>
                          <m:sSup>
                            <m:sSupPr>
                              <m:ctrlPr>
                                <a:rPr kumimoji="0" lang="zh-CN" altLang="en-US"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sSupPr>
                            <m:e>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90</m:t>
                              </m:r>
                            </m:e>
                            <m:sup>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−1</m:t>
                              </m:r>
                            </m:sup>
                          </m:sSup>
                        </m:e>
                      </m:d>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𝑓</m:t>
                      </m:r>
                      <m:d>
                        <m:dPr>
                          <m:ctrlPr>
                            <a:rPr kumimoji="0" lang="zh-CN" altLang="en-US"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dPr>
                        <m:e>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𝑦</m:t>
                          </m:r>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;0.5,</m:t>
                          </m:r>
                          <m:sSup>
                            <m:sSupPr>
                              <m:ctrlPr>
                                <a:rPr kumimoji="0" lang="zh-CN" altLang="en-US"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sSupPr>
                            <m:e>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120</m:t>
                              </m:r>
                            </m:e>
                            <m:sup>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−1</m:t>
                              </m:r>
                            </m:sup>
                          </m:sSup>
                        </m:e>
                      </m:d>
                    </m:oMath>
                  </m:oMathPara>
                </a14:m>
                <a:endParaRPr lang="zh-CN" altLang="en-US" dirty="0"/>
              </a:p>
            </p:txBody>
          </p:sp>
        </mc:Choice>
        <mc:Fallback xmlns="">
          <p:sp>
            <p:nvSpPr>
              <p:cNvPr id="9" name="文本框 8">
                <a:extLst>
                  <a:ext uri="{FF2B5EF4-FFF2-40B4-BE49-F238E27FC236}">
                    <a16:creationId xmlns:a16="http://schemas.microsoft.com/office/drawing/2014/main" id="{57521288-16FF-BF16-C884-2310F1F50D46}"/>
                  </a:ext>
                </a:extLst>
              </p:cNvPr>
              <p:cNvSpPr txBox="1">
                <a:spLocks noRot="1" noChangeAspect="1" noMove="1" noResize="1" noEditPoints="1" noAdjustHandles="1" noChangeArrowheads="1" noChangeShapeType="1" noTextEdit="1"/>
              </p:cNvSpPr>
              <p:nvPr/>
            </p:nvSpPr>
            <p:spPr>
              <a:xfrm>
                <a:off x="251646" y="2477534"/>
                <a:ext cx="7116618" cy="584775"/>
              </a:xfrm>
              <a:prstGeom prst="rect">
                <a:avLst/>
              </a:prstGeom>
              <a:blipFill>
                <a:blip r:embed="rId2"/>
                <a:stretch>
                  <a:fillRect r="-5736"/>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BDF933B8-8FA4-C28B-2D61-2F3FB0FDF46E}"/>
                  </a:ext>
                </a:extLst>
              </p:cNvPr>
              <p:cNvSpPr txBox="1"/>
              <p:nvPr/>
            </p:nvSpPr>
            <p:spPr>
              <a:xfrm>
                <a:off x="251646" y="3211689"/>
                <a:ext cx="5684982"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kumimoji="0" lang="zh-CN" altLang="en-US"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+0.4641016</m:t>
                      </m:r>
                      <m:r>
                        <a:rPr kumimoji="0" lang="zh-CN" altLang="en-US"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𝑓</m:t>
                      </m:r>
                      <m:d>
                        <m:dPr>
                          <m:ctrlPr>
                            <a:rPr kumimoji="0" lang="zh-CN" altLang="en-US"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dPr>
                        <m:e>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𝑥</m:t>
                          </m:r>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;0.5,</m:t>
                          </m:r>
                          <m:sSup>
                            <m:sSupPr>
                              <m:ctrlPr>
                                <a:rPr kumimoji="0" lang="zh-CN" altLang="en-US"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sSupPr>
                            <m:e>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180</m:t>
                              </m:r>
                            </m:e>
                            <m:sup>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−1</m:t>
                              </m:r>
                            </m:sup>
                          </m:sSup>
                        </m:e>
                      </m:d>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𝑓</m:t>
                      </m:r>
                      <m:d>
                        <m:dPr>
                          <m:ctrlPr>
                            <a:rPr kumimoji="0" lang="zh-CN" altLang="en-US"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dPr>
                        <m:e>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𝑦</m:t>
                          </m:r>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;−0.1,</m:t>
                          </m:r>
                          <m:sSup>
                            <m:sSupPr>
                              <m:ctrlPr>
                                <a:rPr kumimoji="0" lang="zh-CN" altLang="en-US"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sSupPr>
                            <m:e>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20</m:t>
                              </m:r>
                            </m:e>
                            <m:sup>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−1</m:t>
                              </m:r>
                            </m:sup>
                          </m:sSup>
                        </m:e>
                      </m:d>
                    </m:oMath>
                  </m:oMathPara>
                </a14:m>
                <a:endParaRPr lang="zh-CN" altLang="en-US" dirty="0"/>
              </a:p>
            </p:txBody>
          </p:sp>
        </mc:Choice>
        <mc:Fallback xmlns="">
          <p:sp>
            <p:nvSpPr>
              <p:cNvPr id="11" name="文本框 10">
                <a:extLst>
                  <a:ext uri="{FF2B5EF4-FFF2-40B4-BE49-F238E27FC236}">
                    <a16:creationId xmlns:a16="http://schemas.microsoft.com/office/drawing/2014/main" id="{BDF933B8-8FA4-C28B-2D61-2F3FB0FDF46E}"/>
                  </a:ext>
                </a:extLst>
              </p:cNvPr>
              <p:cNvSpPr txBox="1">
                <a:spLocks noRot="1" noChangeAspect="1" noMove="1" noResize="1" noEditPoints="1" noAdjustHandles="1" noChangeArrowheads="1" noChangeShapeType="1" noTextEdit="1"/>
              </p:cNvSpPr>
              <p:nvPr/>
            </p:nvSpPr>
            <p:spPr>
              <a:xfrm>
                <a:off x="251646" y="3211689"/>
                <a:ext cx="5684982" cy="584775"/>
              </a:xfrm>
              <a:prstGeom prst="rect">
                <a:avLst/>
              </a:prstGeom>
              <a:blipFill>
                <a:blip r:embed="rId3"/>
                <a:stretch>
                  <a:fillRect r="-37728"/>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9CC5F009-B173-9E7C-9C96-FC00A9EA0251}"/>
                  </a:ext>
                </a:extLst>
              </p:cNvPr>
              <p:cNvSpPr txBox="1"/>
              <p:nvPr/>
            </p:nvSpPr>
            <p:spPr>
              <a:xfrm>
                <a:off x="-108520" y="3969060"/>
                <a:ext cx="7278254"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kumimoji="0" lang="zh-CN" altLang="en-US"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−∞&lt;</m:t>
                      </m:r>
                      <m:r>
                        <a:rPr kumimoji="0" lang="zh-CN" altLang="en-US"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𝑥</m:t>
                      </m:r>
                      <m:r>
                        <a:rPr kumimoji="0" lang="zh-CN" altLang="en-US"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&lt;∞,−∞&lt;</m:t>
                      </m:r>
                      <m:r>
                        <a:rPr kumimoji="0" lang="zh-CN" altLang="en-US"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𝑦</m:t>
                      </m:r>
                      <m:r>
                        <a:rPr kumimoji="0" lang="zh-CN" altLang="en-US"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&lt;∞</m:t>
                      </m:r>
                    </m:oMath>
                  </m:oMathPara>
                </a14:m>
                <a:endParaRPr lang="zh-CN" altLang="en-US" dirty="0"/>
              </a:p>
            </p:txBody>
          </p:sp>
        </mc:Choice>
        <mc:Fallback xmlns="">
          <p:sp>
            <p:nvSpPr>
              <p:cNvPr id="13" name="文本框 12">
                <a:extLst>
                  <a:ext uri="{FF2B5EF4-FFF2-40B4-BE49-F238E27FC236}">
                    <a16:creationId xmlns:a16="http://schemas.microsoft.com/office/drawing/2014/main" id="{9CC5F009-B173-9E7C-9C96-FC00A9EA0251}"/>
                  </a:ext>
                </a:extLst>
              </p:cNvPr>
              <p:cNvSpPr txBox="1">
                <a:spLocks noRot="1" noChangeAspect="1" noMove="1" noResize="1" noEditPoints="1" noAdjustHandles="1" noChangeArrowheads="1" noChangeShapeType="1" noTextEdit="1"/>
              </p:cNvSpPr>
              <p:nvPr/>
            </p:nvSpPr>
            <p:spPr>
              <a:xfrm>
                <a:off x="-108520" y="3969060"/>
                <a:ext cx="7278254" cy="584775"/>
              </a:xfrm>
              <a:prstGeom prst="rect">
                <a:avLst/>
              </a:prstGeom>
              <a:blipFill>
                <a:blip r:embed="rId4"/>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0100F9B8-A5EB-1B35-2673-2F3776F82C2C}"/>
                  </a:ext>
                </a:extLst>
              </p:cNvPr>
              <p:cNvSpPr txBox="1"/>
              <p:nvPr/>
            </p:nvSpPr>
            <p:spPr>
              <a:xfrm>
                <a:off x="35019" y="1795411"/>
                <a:ext cx="5901609"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kumimoji="0" lang="zh-CN" altLang="en-US"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𝑔</m:t>
                      </m:r>
                      <m:d>
                        <m:dPr>
                          <m:ctrlPr>
                            <a:rPr kumimoji="0" lang="zh-CN" altLang="en-US"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dPr>
                        <m:e>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𝑥</m:t>
                          </m:r>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m:t>
                          </m:r>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𝑦</m:t>
                          </m:r>
                        </m:e>
                      </m:d>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m:t>
                      </m:r>
                      <m:acc>
                        <m:accPr>
                          <m:chr m:val="̃"/>
                          <m:ctrlPr>
                            <a:rPr kumimoji="0" lang="zh-CN" altLang="en-US"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accPr>
                        <m:e>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𝑔</m:t>
                          </m:r>
                        </m:e>
                      </m:acc>
                      <m:f>
                        <m:fPr>
                          <m:type m:val="lin"/>
                          <m:ctrlPr>
                            <a:rPr kumimoji="0" lang="zh-CN" altLang="en-US"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fPr>
                        <m:num>
                          <m:d>
                            <m:dPr>
                              <m:ctrlPr>
                                <a:rPr kumimoji="0" lang="zh-CN" altLang="en-US"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dPr>
                            <m:e>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𝑥</m:t>
                              </m:r>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m:t>
                              </m:r>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𝑦</m:t>
                              </m:r>
                            </m:e>
                          </m:d>
                        </m:num>
                        <m:den>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0.1128199</m:t>
                          </m:r>
                          <m:r>
                            <a:rPr kumimoji="0" lang="en-US" altLang="zh-CN"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m:t>
                          </m:r>
                        </m:den>
                      </m:f>
                    </m:oMath>
                  </m:oMathPara>
                </a14:m>
                <a:endParaRPr lang="zh-CN" altLang="en-US" dirty="0"/>
              </a:p>
            </p:txBody>
          </p:sp>
        </mc:Choice>
        <mc:Fallback xmlns="">
          <p:sp>
            <p:nvSpPr>
              <p:cNvPr id="15" name="文本框 14">
                <a:extLst>
                  <a:ext uri="{FF2B5EF4-FFF2-40B4-BE49-F238E27FC236}">
                    <a16:creationId xmlns:a16="http://schemas.microsoft.com/office/drawing/2014/main" id="{0100F9B8-A5EB-1B35-2673-2F3776F82C2C}"/>
                  </a:ext>
                </a:extLst>
              </p:cNvPr>
              <p:cNvSpPr txBox="1">
                <a:spLocks noRot="1" noChangeAspect="1" noMove="1" noResize="1" noEditPoints="1" noAdjustHandles="1" noChangeArrowheads="1" noChangeShapeType="1" noTextEdit="1"/>
              </p:cNvSpPr>
              <p:nvPr/>
            </p:nvSpPr>
            <p:spPr>
              <a:xfrm>
                <a:off x="35019" y="1795411"/>
                <a:ext cx="5901609" cy="584775"/>
              </a:xfrm>
              <a:prstGeom prst="rect">
                <a:avLst/>
              </a:prstGeom>
              <a:blipFill>
                <a:blip r:embed="rId5"/>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5238069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876E711A-B3DA-459A-AF28-A432B77A449E}"/>
              </a:ext>
            </a:extLst>
          </p:cNvPr>
          <p:cNvSpPr>
            <a:spLocks noGrp="1"/>
          </p:cNvSpPr>
          <p:nvPr>
            <p:ph type="body" idx="1"/>
          </p:nvPr>
        </p:nvSpPr>
        <p:spPr>
          <a:xfrm>
            <a:off x="722313" y="1554163"/>
            <a:ext cx="7772400" cy="1500187"/>
          </a:xfrm>
        </p:spPr>
        <p:txBody>
          <a:bodyPr/>
          <a:lstStyle/>
          <a:p>
            <a:pPr>
              <a:defRPr/>
            </a:pPr>
            <a:r>
              <a:rPr lang="en-US" altLang="zh-CN" sz="4800" dirty="0">
                <a:solidFill>
                  <a:schemeClr val="tx1"/>
                </a:solidFill>
                <a:latin typeface="微软雅黑" panose="020B0503020204020204" pitchFamily="34" charset="-122"/>
                <a:ea typeface="微软雅黑" panose="020B0503020204020204" pitchFamily="34" charset="-122"/>
              </a:rPr>
              <a:t>3.4 </a:t>
            </a:r>
            <a:r>
              <a:rPr lang="zh-CN" altLang="en-US" sz="4800" dirty="0">
                <a:solidFill>
                  <a:schemeClr val="tx1"/>
                </a:solidFill>
                <a:latin typeface="微软雅黑" panose="020B0503020204020204" pitchFamily="34" charset="-122"/>
                <a:ea typeface="微软雅黑" panose="020B0503020204020204" pitchFamily="34" charset="-122"/>
              </a:rPr>
              <a:t>分层抽样法</a:t>
            </a:r>
          </a:p>
          <a:p>
            <a:pPr>
              <a:defRPr/>
            </a:pPr>
            <a:endParaRPr lang="zh-CN" altLang="en-US" dirty="0"/>
          </a:p>
        </p:txBody>
      </p:sp>
      <p:sp>
        <p:nvSpPr>
          <p:cNvPr id="46084" name="灯片编号占位符 2">
            <a:extLst>
              <a:ext uri="{FF2B5EF4-FFF2-40B4-BE49-F238E27FC236}">
                <a16:creationId xmlns:a16="http://schemas.microsoft.com/office/drawing/2014/main" id="{9BF0444B-A272-4A53-B7C2-16D6DFD262F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82</a:t>
            </a:fld>
            <a:endParaRPr lang="zh-CN" altLang="en-US">
              <a:solidFill>
                <a:srgbClr val="898989"/>
              </a:solidFill>
            </a:endParaRPr>
          </a:p>
        </p:txBody>
      </p:sp>
    </p:spTree>
    <p:extLst>
      <p:ext uri="{BB962C8B-B14F-4D97-AF65-F5344CB8AC3E}">
        <p14:creationId xmlns:p14="http://schemas.microsoft.com/office/powerpoint/2010/main" val="66241891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3.4 </a:t>
            </a:r>
            <a:r>
              <a:rPr lang="zh-CN" altLang="en-US" sz="3600" b="0" dirty="0">
                <a:latin typeface="+mn-lt"/>
                <a:ea typeface="+mn-ea"/>
              </a:rPr>
              <a:t>分层抽样法</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83</a:t>
            </a:fld>
            <a:endParaRPr lang="zh-CN" altLang="en-US">
              <a:solidFill>
                <a:srgbClr val="898989"/>
              </a:solidFill>
            </a:endParaRPr>
          </a:p>
        </p:txBody>
      </p:sp>
      <p:sp>
        <p:nvSpPr>
          <p:cNvPr id="22" name="文本框 21">
            <a:extLst>
              <a:ext uri="{FF2B5EF4-FFF2-40B4-BE49-F238E27FC236}">
                <a16:creationId xmlns:a16="http://schemas.microsoft.com/office/drawing/2014/main" id="{F7749C0C-2C28-4154-A549-96756BD3E3E8}"/>
              </a:ext>
            </a:extLst>
          </p:cNvPr>
          <p:cNvSpPr txBox="1"/>
          <p:nvPr/>
        </p:nvSpPr>
        <p:spPr>
          <a:xfrm>
            <a:off x="6775" y="2587050"/>
            <a:ext cx="9144000" cy="2554545"/>
          </a:xfrm>
          <a:prstGeom prst="rect">
            <a:avLst/>
          </a:prstGeom>
          <a:noFill/>
          <a:ln w="25400">
            <a:noFill/>
          </a:ln>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把</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C</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上的</a:t>
            </a:r>
            <a:r>
              <a:rPr kumimoji="0" lang="zh-CN" altLang="en-US" sz="3200" b="1"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积分分解为</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若干个子集上的积分， </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使得</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h</a:t>
            </a:r>
            <a:r>
              <a:rPr lang="en-US" altLang="zh-CN" sz="3200" dirty="0">
                <a:solidFill>
                  <a:srgbClr val="006699"/>
                </a:solidFill>
                <a:latin typeface="Verdana" panose="020B0604030504040204" pitchFamily="34" charset="0"/>
              </a:rPr>
              <a:t>(</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x)</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在每个子集上变化不大， </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分别计算各个子集上的积分再求和， </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可以提高估计精度。 </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这种方法叫做</a:t>
            </a:r>
            <a:r>
              <a:rPr kumimoji="0" lang="zh-CN" altLang="en-US"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分层抽样法</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 </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7F451A08-C6C1-4733-B424-AB61E7FACA9D}"/>
                  </a:ext>
                </a:extLst>
              </p:cNvPr>
              <p:cNvSpPr txBox="1"/>
              <p:nvPr/>
            </p:nvSpPr>
            <p:spPr>
              <a:xfrm>
                <a:off x="2225042" y="1187277"/>
                <a:ext cx="4707466" cy="110248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nary>
                        <m:naryPr>
                          <m:limLoc m:val="subSup"/>
                          <m:grow m:val="on"/>
                          <m:supHide m:val="on"/>
                          <m:ctrlPr>
                            <a:rPr lang="zh-CN" altLang="en-US" sz="3200" i="1" smtClean="0">
                              <a:latin typeface="Cambria Math" panose="02040503050406030204" pitchFamily="18" charset="0"/>
                            </a:rPr>
                          </m:ctrlPr>
                        </m:naryPr>
                        <m:sub>
                          <m:r>
                            <a:rPr lang="zh-CN" altLang="en-US" sz="3200" i="1">
                              <a:latin typeface="Cambria Math" panose="02040503050406030204" pitchFamily="18" charset="0"/>
                            </a:rPr>
                            <m:t>𝐶</m:t>
                          </m:r>
                        </m:sub>
                        <m:sup/>
                        <m:e>
                          <m:r>
                            <a:rPr lang="zh-CN" altLang="en-US" sz="3200" i="1">
                              <a:latin typeface="Cambria Math" panose="02040503050406030204" pitchFamily="18" charset="0"/>
                            </a:rPr>
                            <m:t>h</m:t>
                          </m:r>
                        </m:e>
                      </m:nary>
                      <m:d>
                        <m:dPr>
                          <m:ctrlPr>
                            <a:rPr lang="zh-CN" altLang="en-US" sz="3200" i="1">
                              <a:latin typeface="Cambria Math" panose="02040503050406030204" pitchFamily="18" charset="0"/>
                            </a:rPr>
                          </m:ctrlPr>
                        </m:dPr>
                        <m:e>
                          <m:r>
                            <a:rPr lang="zh-CN" altLang="en-US" sz="3200" b="1" i="0">
                              <a:latin typeface="Cambria Math" panose="02040503050406030204" pitchFamily="18" charset="0"/>
                            </a:rPr>
                            <m:t>𝐱</m:t>
                          </m:r>
                        </m:e>
                      </m:d>
                      <m:r>
                        <a:rPr lang="zh-CN" altLang="en-US" sz="3200" b="0" i="1">
                          <a:latin typeface="Cambria Math" panose="02040503050406030204" pitchFamily="18" charset="0"/>
                        </a:rPr>
                        <m:t>𝑑</m:t>
                      </m:r>
                      <m:r>
                        <a:rPr lang="zh-CN" altLang="en-US" sz="3200" b="1" i="0">
                          <a:latin typeface="Cambria Math" panose="02040503050406030204" pitchFamily="18" charset="0"/>
                        </a:rPr>
                        <m:t>𝐱</m:t>
                      </m:r>
                    </m:oMath>
                  </m:oMathPara>
                </a14:m>
                <a:endParaRPr lang="zh-CN" altLang="en-US" dirty="0"/>
              </a:p>
            </p:txBody>
          </p:sp>
        </mc:Choice>
        <mc:Fallback xmlns="">
          <p:sp>
            <p:nvSpPr>
              <p:cNvPr id="8" name="文本框 7">
                <a:extLst>
                  <a:ext uri="{FF2B5EF4-FFF2-40B4-BE49-F238E27FC236}">
                    <a16:creationId xmlns:a16="http://schemas.microsoft.com/office/drawing/2014/main" id="{7F451A08-C6C1-4733-B424-AB61E7FACA9D}"/>
                  </a:ext>
                </a:extLst>
              </p:cNvPr>
              <p:cNvSpPr txBox="1">
                <a:spLocks noRot="1" noChangeAspect="1" noMove="1" noResize="1" noEditPoints="1" noAdjustHandles="1" noChangeArrowheads="1" noChangeShapeType="1" noTextEdit="1"/>
              </p:cNvSpPr>
              <p:nvPr/>
            </p:nvSpPr>
            <p:spPr>
              <a:xfrm>
                <a:off x="2225042" y="1187277"/>
                <a:ext cx="4707466" cy="1102481"/>
              </a:xfrm>
              <a:prstGeom prst="rect">
                <a:avLst/>
              </a:prstGeom>
              <a:blipFill>
                <a:blip r:embed="rId2"/>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6283318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13.1 </a:t>
            </a:r>
            <a:endParaRPr lang="zh-CN" altLang="en-US" sz="3600" b="0" dirty="0">
              <a:latin typeface="+mn-lt"/>
              <a:ea typeface="+mn-ea"/>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84</a:t>
            </a:fld>
            <a:endParaRPr lang="zh-CN" altLang="en-US">
              <a:solidFill>
                <a:srgbClr val="898989"/>
              </a:solidFill>
            </a:endParaRPr>
          </a:p>
        </p:txBody>
      </p:sp>
      <p:sp>
        <p:nvSpPr>
          <p:cNvPr id="22" name="文本框 21">
            <a:extLst>
              <a:ext uri="{FF2B5EF4-FFF2-40B4-BE49-F238E27FC236}">
                <a16:creationId xmlns:a16="http://schemas.microsoft.com/office/drawing/2014/main" id="{F7749C0C-2C28-4154-A549-96756BD3E3E8}"/>
              </a:ext>
            </a:extLst>
          </p:cNvPr>
          <p:cNvSpPr txBox="1"/>
          <p:nvPr/>
        </p:nvSpPr>
        <p:spPr>
          <a:xfrm>
            <a:off x="6775" y="1153742"/>
            <a:ext cx="9144000" cy="1569660"/>
          </a:xfrm>
          <a:prstGeom prst="rect">
            <a:avLst/>
          </a:prstGeom>
          <a:noFill/>
          <a:ln w="25400">
            <a:noFill/>
          </a:ln>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求定积分</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zh-CN" sz="3200" dirty="0">
              <a:solidFill>
                <a:srgbClr val="006699"/>
              </a:solidFill>
              <a:latin typeface="Verdana" panose="020B0604030504040204" pitchFamily="34" charset="0"/>
            </a:endParaRPr>
          </a:p>
          <a:p>
            <a:pPr marR="0" lvl="0" algn="l" defTabSz="914400" rtl="0" eaLnBrk="0" fontAlgn="base" latinLnBrk="0" hangingPunct="0">
              <a:lnSpc>
                <a:spcPct val="100000"/>
              </a:lnSpc>
              <a:spcBef>
                <a:spcPct val="0"/>
              </a:spcBef>
              <a:spcAft>
                <a:spcPct val="0"/>
              </a:spcAft>
              <a:buClrTx/>
              <a:buSzTx/>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其中</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A23AB39B-C2B3-49EF-8F22-ACB227D7D4BE}"/>
                  </a:ext>
                </a:extLst>
              </p:cNvPr>
              <p:cNvSpPr txBox="1"/>
              <p:nvPr/>
            </p:nvSpPr>
            <p:spPr>
              <a:xfrm>
                <a:off x="2226734" y="846862"/>
                <a:ext cx="4690532" cy="1198533"/>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𝐼</m:t>
                      </m:r>
                      <m:r>
                        <a:rPr lang="zh-CN" altLang="en-US" sz="3200" i="0">
                          <a:latin typeface="Cambria Math" panose="02040503050406030204" pitchFamily="18" charset="0"/>
                        </a:rPr>
                        <m:t>=</m:t>
                      </m:r>
                      <m:nary>
                        <m:naryPr>
                          <m:limLoc m:val="subSup"/>
                          <m:grow m:val="on"/>
                          <m:ctrlPr>
                            <a:rPr lang="zh-CN" altLang="en-US" sz="3200" i="1">
                              <a:latin typeface="Cambria Math" panose="02040503050406030204" pitchFamily="18" charset="0"/>
                            </a:rPr>
                          </m:ctrlPr>
                        </m:naryPr>
                        <m:sub>
                          <m:r>
                            <a:rPr lang="zh-CN" altLang="en-US" sz="3200" i="0">
                              <a:latin typeface="Cambria Math" panose="02040503050406030204" pitchFamily="18" charset="0"/>
                            </a:rPr>
                            <m:t>0</m:t>
                          </m:r>
                        </m:sub>
                        <m:sup>
                          <m:r>
                            <a:rPr lang="zh-CN" altLang="en-US" sz="3200" i="0">
                              <a:latin typeface="Cambria Math" panose="02040503050406030204" pitchFamily="18" charset="0"/>
                            </a:rPr>
                            <m:t>1</m:t>
                          </m:r>
                        </m:sup>
                        <m:e>
                          <m:r>
                            <a:rPr lang="zh-CN" altLang="en-US" sz="3200" i="1">
                              <a:latin typeface="Cambria Math" panose="02040503050406030204" pitchFamily="18" charset="0"/>
                            </a:rPr>
                            <m:t>h</m:t>
                          </m:r>
                        </m:e>
                      </m:nary>
                      <m:d>
                        <m:dPr>
                          <m:ctrlPr>
                            <a:rPr lang="zh-CN" altLang="en-US" sz="3200" i="1">
                              <a:latin typeface="Cambria Math" panose="02040503050406030204" pitchFamily="18" charset="0"/>
                            </a:rPr>
                          </m:ctrlPr>
                        </m:dPr>
                        <m:e>
                          <m:r>
                            <a:rPr lang="zh-CN" altLang="en-US" sz="3200" i="1">
                              <a:latin typeface="Cambria Math" panose="02040503050406030204" pitchFamily="18" charset="0"/>
                            </a:rPr>
                            <m:t>𝑥</m:t>
                          </m:r>
                        </m:e>
                      </m:d>
                      <m:r>
                        <a:rPr lang="zh-CN" altLang="en-US" sz="3200" i="1">
                          <a:latin typeface="Cambria Math" panose="02040503050406030204" pitchFamily="18" charset="0"/>
                        </a:rPr>
                        <m:t>𝑑𝑥</m:t>
                      </m:r>
                    </m:oMath>
                  </m:oMathPara>
                </a14:m>
                <a:endParaRPr lang="zh-CN" altLang="en-US" dirty="0"/>
              </a:p>
            </p:txBody>
          </p:sp>
        </mc:Choice>
        <mc:Fallback xmlns="">
          <p:sp>
            <p:nvSpPr>
              <p:cNvPr id="7" name="文本框 6">
                <a:extLst>
                  <a:ext uri="{FF2B5EF4-FFF2-40B4-BE49-F238E27FC236}">
                    <a16:creationId xmlns:a16="http://schemas.microsoft.com/office/drawing/2014/main" id="{A23AB39B-C2B3-49EF-8F22-ACB227D7D4BE}"/>
                  </a:ext>
                </a:extLst>
              </p:cNvPr>
              <p:cNvSpPr txBox="1">
                <a:spLocks noRot="1" noChangeAspect="1" noMove="1" noResize="1" noEditPoints="1" noAdjustHandles="1" noChangeArrowheads="1" noChangeShapeType="1" noTextEdit="1"/>
              </p:cNvSpPr>
              <p:nvPr/>
            </p:nvSpPr>
            <p:spPr>
              <a:xfrm>
                <a:off x="2226734" y="846862"/>
                <a:ext cx="4690532" cy="1198533"/>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89835280-6CE7-48CF-A967-5CC0A0A12EB4}"/>
                  </a:ext>
                </a:extLst>
              </p:cNvPr>
              <p:cNvSpPr txBox="1"/>
              <p:nvPr/>
            </p:nvSpPr>
            <p:spPr>
              <a:xfrm>
                <a:off x="2142067" y="2268489"/>
                <a:ext cx="6345368" cy="197740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h</m:t>
                      </m:r>
                      <m:d>
                        <m:dPr>
                          <m:ctrlPr>
                            <a:rPr lang="zh-CN" altLang="en-US" sz="3200" i="1">
                              <a:latin typeface="Cambria Math" panose="02040503050406030204" pitchFamily="18" charset="0"/>
                            </a:rPr>
                          </m:ctrlPr>
                        </m:dPr>
                        <m:e>
                          <m:r>
                            <a:rPr lang="zh-CN" altLang="en-US" sz="3200" i="1">
                              <a:latin typeface="Cambria Math" panose="02040503050406030204" pitchFamily="18" charset="0"/>
                            </a:rPr>
                            <m:t>𝑥</m:t>
                          </m:r>
                        </m:e>
                      </m:d>
                      <m:r>
                        <a:rPr lang="zh-CN" altLang="en-US" sz="3200" i="0">
                          <a:latin typeface="Cambria Math" panose="02040503050406030204" pitchFamily="18" charset="0"/>
                        </a:rPr>
                        <m:t>=</m:t>
                      </m:r>
                      <m:d>
                        <m:dPr>
                          <m:begChr m:val="{"/>
                          <m:endChr m:val=""/>
                          <m:ctrlPr>
                            <a:rPr lang="zh-CN" altLang="en-US" sz="3200" i="1">
                              <a:solidFill>
                                <a:srgbClr val="836967"/>
                              </a:solidFill>
                              <a:latin typeface="Cambria Math" panose="02040503050406030204" pitchFamily="18" charset="0"/>
                            </a:rPr>
                          </m:ctrlPr>
                        </m:dPr>
                        <m:e>
                          <m:m>
                            <m:mPr>
                              <m:plcHide m:val="on"/>
                              <m:mcs>
                                <m:mc>
                                  <m:mcPr>
                                    <m:count m:val="2"/>
                                    <m:mcJc m:val="center"/>
                                  </m:mcPr>
                                </m:mc>
                              </m:mcs>
                              <m:ctrlPr>
                                <a:rPr lang="zh-CN" altLang="en-US" sz="3200" i="1">
                                  <a:solidFill>
                                    <a:srgbClr val="836967"/>
                                  </a:solidFill>
                                  <a:latin typeface="Cambria Math" panose="02040503050406030204" pitchFamily="18" charset="0"/>
                                </a:rPr>
                              </m:ctrlPr>
                            </m:mPr>
                            <m:mr>
                              <m:e>
                                <m:r>
                                  <a:rPr lang="zh-CN" altLang="en-US" sz="3200" i="0">
                                    <a:latin typeface="Cambria Math" panose="02040503050406030204" pitchFamily="18" charset="0"/>
                                  </a:rPr>
                                  <m:t>1+</m:t>
                                </m:r>
                                <m:f>
                                  <m:fPr>
                                    <m:ctrlPr>
                                      <a:rPr lang="zh-CN" altLang="en-US" sz="3200" i="1">
                                        <a:solidFill>
                                          <a:srgbClr val="836967"/>
                                        </a:solidFill>
                                        <a:latin typeface="Cambria Math" panose="02040503050406030204" pitchFamily="18" charset="0"/>
                                      </a:rPr>
                                    </m:ctrlPr>
                                  </m:fPr>
                                  <m:num>
                                    <m:r>
                                      <a:rPr lang="zh-CN" altLang="en-US" sz="3200" i="1">
                                        <a:latin typeface="Cambria Math" panose="02040503050406030204" pitchFamily="18" charset="0"/>
                                      </a:rPr>
                                      <m:t>𝑥</m:t>
                                    </m:r>
                                  </m:num>
                                  <m:den>
                                    <m:r>
                                      <a:rPr lang="zh-CN" altLang="en-US" sz="3200" i="0">
                                        <a:latin typeface="Cambria Math" panose="02040503050406030204" pitchFamily="18" charset="0"/>
                                      </a:rPr>
                                      <m:t>10</m:t>
                                    </m:r>
                                  </m:den>
                                </m:f>
                                <m:r>
                                  <a:rPr lang="zh-CN" altLang="en-US" sz="3200" i="0">
                                    <a:latin typeface="Cambria Math" panose="02040503050406030204" pitchFamily="18" charset="0"/>
                                  </a:rPr>
                                  <m:t>,</m:t>
                                </m:r>
                              </m:e>
                              <m:e>
                                <m:r>
                                  <a:rPr lang="zh-CN" altLang="en-US" sz="3200" i="0">
                                    <a:latin typeface="Cambria Math" panose="02040503050406030204" pitchFamily="18" charset="0"/>
                                  </a:rPr>
                                  <m:t>0≤</m:t>
                                </m:r>
                                <m:r>
                                  <a:rPr lang="zh-CN" altLang="en-US" sz="3200" i="1">
                                    <a:latin typeface="Cambria Math" panose="02040503050406030204" pitchFamily="18" charset="0"/>
                                  </a:rPr>
                                  <m:t>𝑥</m:t>
                                </m:r>
                                <m:r>
                                  <a:rPr lang="zh-CN" altLang="en-US" sz="3200" i="0">
                                    <a:latin typeface="Cambria Math" panose="02040503050406030204" pitchFamily="18" charset="0"/>
                                  </a:rPr>
                                  <m:t>≤0.5</m:t>
                                </m:r>
                              </m:e>
                            </m:mr>
                            <m:mr>
                              <m:e>
                                <m:r>
                                  <a:rPr lang="zh-CN" altLang="en-US" sz="3200" i="0">
                                    <a:latin typeface="Cambria Math" panose="02040503050406030204" pitchFamily="18" charset="0"/>
                                  </a:rPr>
                                  <m:t>−1+</m:t>
                                </m:r>
                                <m:f>
                                  <m:fPr>
                                    <m:ctrlPr>
                                      <a:rPr lang="zh-CN" altLang="en-US" sz="3200" i="1">
                                        <a:solidFill>
                                          <a:srgbClr val="836967"/>
                                        </a:solidFill>
                                        <a:latin typeface="Cambria Math" panose="02040503050406030204" pitchFamily="18" charset="0"/>
                                      </a:rPr>
                                    </m:ctrlPr>
                                  </m:fPr>
                                  <m:num>
                                    <m:r>
                                      <a:rPr lang="zh-CN" altLang="en-US" sz="3200" i="1">
                                        <a:latin typeface="Cambria Math" panose="02040503050406030204" pitchFamily="18" charset="0"/>
                                      </a:rPr>
                                      <m:t>𝑥</m:t>
                                    </m:r>
                                  </m:num>
                                  <m:den>
                                    <m:r>
                                      <a:rPr lang="zh-CN" altLang="en-US" sz="3200" i="0">
                                        <a:latin typeface="Cambria Math" panose="02040503050406030204" pitchFamily="18" charset="0"/>
                                      </a:rPr>
                                      <m:t>10</m:t>
                                    </m:r>
                                  </m:den>
                                </m:f>
                                <m:r>
                                  <a:rPr lang="zh-CN" altLang="en-US" sz="3200" i="0">
                                    <a:latin typeface="Cambria Math" panose="02040503050406030204" pitchFamily="18" charset="0"/>
                                  </a:rPr>
                                  <m:t>,</m:t>
                                </m:r>
                              </m:e>
                              <m:e>
                                <m:r>
                                  <a:rPr lang="zh-CN" altLang="en-US" sz="3200" i="0">
                                    <a:latin typeface="Cambria Math" panose="02040503050406030204" pitchFamily="18" charset="0"/>
                                  </a:rPr>
                                  <m:t>0.5&lt;</m:t>
                                </m:r>
                                <m:r>
                                  <a:rPr lang="zh-CN" altLang="en-US" sz="3200" i="1">
                                    <a:latin typeface="Cambria Math" panose="02040503050406030204" pitchFamily="18" charset="0"/>
                                  </a:rPr>
                                  <m:t>𝑥</m:t>
                                </m:r>
                                <m:r>
                                  <a:rPr lang="zh-CN" altLang="en-US" sz="3200" i="0">
                                    <a:latin typeface="Cambria Math" panose="02040503050406030204" pitchFamily="18" charset="0"/>
                                  </a:rPr>
                                  <m:t>≤1</m:t>
                                </m:r>
                              </m:e>
                            </m:mr>
                          </m:m>
                        </m:e>
                      </m:d>
                    </m:oMath>
                  </m:oMathPara>
                </a14:m>
                <a:endParaRPr lang="zh-CN" altLang="en-US" dirty="0"/>
              </a:p>
            </p:txBody>
          </p:sp>
        </mc:Choice>
        <mc:Fallback xmlns="">
          <p:sp>
            <p:nvSpPr>
              <p:cNvPr id="9" name="文本框 8">
                <a:extLst>
                  <a:ext uri="{FF2B5EF4-FFF2-40B4-BE49-F238E27FC236}">
                    <a16:creationId xmlns:a16="http://schemas.microsoft.com/office/drawing/2014/main" id="{89835280-6CE7-48CF-A967-5CC0A0A12EB4}"/>
                  </a:ext>
                </a:extLst>
              </p:cNvPr>
              <p:cNvSpPr txBox="1">
                <a:spLocks noRot="1" noChangeAspect="1" noMove="1" noResize="1" noEditPoints="1" noAdjustHandles="1" noChangeArrowheads="1" noChangeShapeType="1" noTextEdit="1"/>
              </p:cNvSpPr>
              <p:nvPr/>
            </p:nvSpPr>
            <p:spPr>
              <a:xfrm>
                <a:off x="2142067" y="2268489"/>
                <a:ext cx="6345368" cy="1977401"/>
              </a:xfrm>
              <a:prstGeom prst="rect">
                <a:avLst/>
              </a:prstGeom>
              <a:blipFill>
                <a:blip r:embed="rId3"/>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66783140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13.1 </a:t>
            </a:r>
            <a:endParaRPr lang="zh-CN" altLang="en-US" sz="3600" b="0" dirty="0">
              <a:latin typeface="+mn-lt"/>
              <a:ea typeface="+mn-ea"/>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85</a:t>
            </a:fld>
            <a:endParaRPr lang="zh-CN" altLang="en-US">
              <a:solidFill>
                <a:srgbClr val="898989"/>
              </a:solidFill>
            </a:endParaRPr>
          </a:p>
        </p:txBody>
      </p:sp>
      <p:sp>
        <p:nvSpPr>
          <p:cNvPr id="22" name="文本框 21">
            <a:extLst>
              <a:ext uri="{FF2B5EF4-FFF2-40B4-BE49-F238E27FC236}">
                <a16:creationId xmlns:a16="http://schemas.microsoft.com/office/drawing/2014/main" id="{F7749C0C-2C28-4154-A549-96756BD3E3E8}"/>
              </a:ext>
            </a:extLst>
          </p:cNvPr>
          <p:cNvSpPr txBox="1"/>
          <p:nvPr/>
        </p:nvSpPr>
        <p:spPr>
          <a:xfrm>
            <a:off x="6775" y="1153742"/>
            <a:ext cx="9144000" cy="1077218"/>
          </a:xfrm>
          <a:prstGeom prst="rect">
            <a:avLst/>
          </a:prstGeom>
          <a:noFill/>
          <a:ln w="25400">
            <a:noFill/>
          </a:ln>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在</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(0,1)</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区间随机抽取</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N</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点用</a:t>
            </a:r>
            <a:r>
              <a:rPr kumimoji="0" lang="zh-CN" altLang="en-US"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平均值法</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得</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渐近方差</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EFDDCEC-0E81-43EC-8E49-1CF962D1D2CC}"/>
                  </a:ext>
                </a:extLst>
              </p:cNvPr>
              <p:cNvSpPr txBox="1"/>
              <p:nvPr/>
            </p:nvSpPr>
            <p:spPr>
              <a:xfrm>
                <a:off x="7633243" y="1212479"/>
                <a:ext cx="460399" cy="598369"/>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smtClean="0">
                              <a:solidFill>
                                <a:srgbClr val="836967"/>
                              </a:solidFill>
                              <a:latin typeface="Cambria Math" panose="02040503050406030204" pitchFamily="18" charset="0"/>
                            </a:rPr>
                          </m:ctrlPr>
                        </m:sSubPr>
                        <m:e>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𝐼</m:t>
                              </m:r>
                            </m:e>
                          </m:acc>
                        </m:e>
                        <m:sub>
                          <m:r>
                            <a:rPr lang="zh-CN" altLang="en-US" sz="3200" i="0">
                              <a:latin typeface="Cambria Math" panose="02040503050406030204" pitchFamily="18" charset="0"/>
                            </a:rPr>
                            <m:t>2</m:t>
                          </m:r>
                        </m:sub>
                      </m:sSub>
                    </m:oMath>
                  </m:oMathPara>
                </a14:m>
                <a:endParaRPr lang="zh-CN" altLang="en-US" dirty="0"/>
              </a:p>
            </p:txBody>
          </p:sp>
        </mc:Choice>
        <mc:Fallback xmlns="">
          <p:sp>
            <p:nvSpPr>
              <p:cNvPr id="8" name="文本框 7">
                <a:extLst>
                  <a:ext uri="{FF2B5EF4-FFF2-40B4-BE49-F238E27FC236}">
                    <a16:creationId xmlns:a16="http://schemas.microsoft.com/office/drawing/2014/main" id="{FEFDDCEC-0E81-43EC-8E49-1CF962D1D2CC}"/>
                  </a:ext>
                </a:extLst>
              </p:cNvPr>
              <p:cNvSpPr txBox="1">
                <a:spLocks noRot="1" noChangeAspect="1" noMove="1" noResize="1" noEditPoints="1" noAdjustHandles="1" noChangeArrowheads="1" noChangeShapeType="1" noTextEdit="1"/>
              </p:cNvSpPr>
              <p:nvPr/>
            </p:nvSpPr>
            <p:spPr>
              <a:xfrm>
                <a:off x="7633243" y="1212479"/>
                <a:ext cx="460399" cy="598369"/>
              </a:xfrm>
              <a:prstGeom prst="rect">
                <a:avLst/>
              </a:prstGeom>
              <a:blipFill>
                <a:blip r:embed="rId2"/>
                <a:stretch>
                  <a:fillRect/>
                </a:stretch>
              </a:blipFill>
              <a:ln w="25400">
                <a:noFill/>
              </a:ln>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E0EAE93B-EF1E-4E35-81CC-8D184086D8F9}"/>
              </a:ext>
            </a:extLst>
          </p:cNvPr>
          <p:cNvPicPr>
            <a:picLocks noChangeAspect="1"/>
          </p:cNvPicPr>
          <p:nvPr/>
        </p:nvPicPr>
        <p:blipFill>
          <a:blip r:embed="rId3"/>
          <a:stretch>
            <a:fillRect/>
          </a:stretch>
        </p:blipFill>
        <p:spPr>
          <a:xfrm>
            <a:off x="1556665" y="2650815"/>
            <a:ext cx="4669110" cy="778185"/>
          </a:xfrm>
          <a:prstGeom prst="rect">
            <a:avLst/>
          </a:prstGeom>
        </p:spPr>
      </p:pic>
      <p:sp>
        <p:nvSpPr>
          <p:cNvPr id="14" name="文本框 13">
            <a:extLst>
              <a:ext uri="{FF2B5EF4-FFF2-40B4-BE49-F238E27FC236}">
                <a16:creationId xmlns:a16="http://schemas.microsoft.com/office/drawing/2014/main" id="{C10991DA-031F-4017-930F-76AF16A58824}"/>
              </a:ext>
            </a:extLst>
          </p:cNvPr>
          <p:cNvSpPr txBox="1"/>
          <p:nvPr/>
        </p:nvSpPr>
        <p:spPr>
          <a:xfrm>
            <a:off x="0" y="3610300"/>
            <a:ext cx="8415935" cy="1077218"/>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分层抽样法</a:t>
            </a:r>
            <a:endParaRPr kumimoji="0" lang="en-US" altLang="zh-CN"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把</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I</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拆分为</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[0,0.5]</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和</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[0.5,1]</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上的积分，即</a:t>
            </a:r>
            <a:endParaRPr lang="zh-CN" altLang="en-US" dirty="0"/>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23C262FD-4322-46B5-8A78-13E54EC55DF1}"/>
                  </a:ext>
                </a:extLst>
              </p:cNvPr>
              <p:cNvSpPr txBox="1"/>
              <p:nvPr/>
            </p:nvSpPr>
            <p:spPr>
              <a:xfrm>
                <a:off x="386535" y="4757997"/>
                <a:ext cx="8300265" cy="1206612"/>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𝐼</m:t>
                      </m:r>
                      <m:r>
                        <a:rPr lang="zh-CN" altLang="en-US" sz="3200" i="0">
                          <a:latin typeface="Cambria Math" panose="02040503050406030204" pitchFamily="18" charset="0"/>
                        </a:rPr>
                        <m:t>=</m:t>
                      </m:r>
                      <m:r>
                        <a:rPr lang="zh-CN" altLang="en-US" sz="3200" i="1">
                          <a:latin typeface="Cambria Math" panose="02040503050406030204" pitchFamily="18" charset="0"/>
                        </a:rPr>
                        <m:t>𝑎</m:t>
                      </m:r>
                      <m:r>
                        <a:rPr lang="zh-CN" altLang="en-US" sz="3200" i="0">
                          <a:latin typeface="Cambria Math" panose="02040503050406030204" pitchFamily="18" charset="0"/>
                        </a:rPr>
                        <m:t>+</m:t>
                      </m:r>
                      <m:r>
                        <a:rPr lang="zh-CN" altLang="en-US" sz="3200" i="1">
                          <a:latin typeface="Cambria Math" panose="02040503050406030204" pitchFamily="18" charset="0"/>
                        </a:rPr>
                        <m:t>𝑏</m:t>
                      </m:r>
                      <m:r>
                        <a:rPr lang="zh-CN" altLang="en-US" sz="3200" i="0">
                          <a:latin typeface="Cambria Math" panose="02040503050406030204" pitchFamily="18" charset="0"/>
                        </a:rPr>
                        <m:t>=</m:t>
                      </m:r>
                      <m:nary>
                        <m:naryPr>
                          <m:limLoc m:val="subSup"/>
                          <m:grow m:val="on"/>
                          <m:ctrlPr>
                            <a:rPr lang="zh-CN" altLang="en-US" sz="3200" i="1">
                              <a:latin typeface="Cambria Math" panose="02040503050406030204" pitchFamily="18" charset="0"/>
                            </a:rPr>
                          </m:ctrlPr>
                        </m:naryPr>
                        <m:sub>
                          <m:r>
                            <a:rPr lang="zh-CN" altLang="en-US" sz="3200" i="0">
                              <a:latin typeface="Cambria Math" panose="02040503050406030204" pitchFamily="18" charset="0"/>
                            </a:rPr>
                            <m:t>0</m:t>
                          </m:r>
                        </m:sub>
                        <m:sup>
                          <m:r>
                            <a:rPr lang="zh-CN" altLang="en-US" sz="3200" i="0">
                              <a:latin typeface="Cambria Math" panose="02040503050406030204" pitchFamily="18" charset="0"/>
                            </a:rPr>
                            <m:t>0.5</m:t>
                          </m:r>
                        </m:sup>
                        <m:e>
                          <m:r>
                            <a:rPr lang="zh-CN" altLang="en-US" sz="3200" i="1">
                              <a:latin typeface="Cambria Math" panose="02040503050406030204" pitchFamily="18" charset="0"/>
                            </a:rPr>
                            <m:t>h</m:t>
                          </m:r>
                        </m:e>
                      </m:nary>
                      <m:d>
                        <m:dPr>
                          <m:ctrlPr>
                            <a:rPr lang="zh-CN" altLang="en-US" sz="3200" i="1">
                              <a:latin typeface="Cambria Math" panose="02040503050406030204" pitchFamily="18" charset="0"/>
                            </a:rPr>
                          </m:ctrlPr>
                        </m:dPr>
                        <m:e>
                          <m:r>
                            <a:rPr lang="zh-CN" altLang="en-US" sz="3200" i="1">
                              <a:latin typeface="Cambria Math" panose="02040503050406030204" pitchFamily="18" charset="0"/>
                            </a:rPr>
                            <m:t>𝑥</m:t>
                          </m:r>
                        </m:e>
                      </m:d>
                      <m:r>
                        <a:rPr lang="zh-CN" altLang="en-US" sz="3200" i="1">
                          <a:latin typeface="Cambria Math" panose="02040503050406030204" pitchFamily="18" charset="0"/>
                        </a:rPr>
                        <m:t>𝑑𝑥</m:t>
                      </m:r>
                      <m:r>
                        <a:rPr lang="zh-CN" altLang="en-US" sz="3200" i="0">
                          <a:latin typeface="Cambria Math" panose="02040503050406030204" pitchFamily="18" charset="0"/>
                        </a:rPr>
                        <m:t>+</m:t>
                      </m:r>
                      <m:nary>
                        <m:naryPr>
                          <m:limLoc m:val="subSup"/>
                          <m:grow m:val="on"/>
                          <m:ctrlPr>
                            <a:rPr lang="zh-CN" altLang="en-US" sz="3200" i="1">
                              <a:latin typeface="Cambria Math" panose="02040503050406030204" pitchFamily="18" charset="0"/>
                            </a:rPr>
                          </m:ctrlPr>
                        </m:naryPr>
                        <m:sub>
                          <m:r>
                            <a:rPr lang="zh-CN" altLang="en-US" sz="3200" i="0">
                              <a:latin typeface="Cambria Math" panose="02040503050406030204" pitchFamily="18" charset="0"/>
                            </a:rPr>
                            <m:t>0.5</m:t>
                          </m:r>
                        </m:sub>
                        <m:sup>
                          <m:r>
                            <a:rPr lang="zh-CN" altLang="en-US" sz="3200" i="0">
                              <a:latin typeface="Cambria Math" panose="02040503050406030204" pitchFamily="18" charset="0"/>
                            </a:rPr>
                            <m:t>1</m:t>
                          </m:r>
                        </m:sup>
                        <m:e>
                          <m:r>
                            <a:rPr lang="zh-CN" altLang="en-US" sz="3200" i="1">
                              <a:latin typeface="Cambria Math" panose="02040503050406030204" pitchFamily="18" charset="0"/>
                            </a:rPr>
                            <m:t>h</m:t>
                          </m:r>
                        </m:e>
                      </m:nary>
                      <m:d>
                        <m:dPr>
                          <m:ctrlPr>
                            <a:rPr lang="zh-CN" altLang="en-US" sz="3200" i="1">
                              <a:latin typeface="Cambria Math" panose="02040503050406030204" pitchFamily="18" charset="0"/>
                            </a:rPr>
                          </m:ctrlPr>
                        </m:dPr>
                        <m:e>
                          <m:r>
                            <a:rPr lang="zh-CN" altLang="en-US" sz="3200" i="1">
                              <a:latin typeface="Cambria Math" panose="02040503050406030204" pitchFamily="18" charset="0"/>
                            </a:rPr>
                            <m:t>𝑥</m:t>
                          </m:r>
                        </m:e>
                      </m:d>
                      <m:r>
                        <a:rPr lang="zh-CN" altLang="en-US" sz="3200" i="1">
                          <a:latin typeface="Cambria Math" panose="02040503050406030204" pitchFamily="18" charset="0"/>
                        </a:rPr>
                        <m:t>𝑑𝑥</m:t>
                      </m:r>
                    </m:oMath>
                  </m:oMathPara>
                </a14:m>
                <a:endParaRPr lang="zh-CN" altLang="en-US" dirty="0"/>
              </a:p>
            </p:txBody>
          </p:sp>
        </mc:Choice>
        <mc:Fallback xmlns="">
          <p:sp>
            <p:nvSpPr>
              <p:cNvPr id="16" name="文本框 15">
                <a:extLst>
                  <a:ext uri="{FF2B5EF4-FFF2-40B4-BE49-F238E27FC236}">
                    <a16:creationId xmlns:a16="http://schemas.microsoft.com/office/drawing/2014/main" id="{23C262FD-4322-46B5-8A78-13E54EC55DF1}"/>
                  </a:ext>
                </a:extLst>
              </p:cNvPr>
              <p:cNvSpPr txBox="1">
                <a:spLocks noRot="1" noChangeAspect="1" noMove="1" noResize="1" noEditPoints="1" noAdjustHandles="1" noChangeArrowheads="1" noChangeShapeType="1" noTextEdit="1"/>
              </p:cNvSpPr>
              <p:nvPr/>
            </p:nvSpPr>
            <p:spPr>
              <a:xfrm>
                <a:off x="386535" y="4757997"/>
                <a:ext cx="8300265" cy="1206612"/>
              </a:xfrm>
              <a:prstGeom prst="rect">
                <a:avLst/>
              </a:prstGeom>
              <a:blipFill>
                <a:blip r:embed="rId4"/>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4907250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13.1 </a:t>
            </a:r>
            <a:endParaRPr lang="zh-CN" altLang="en-US" sz="3600" b="0" dirty="0">
              <a:latin typeface="+mn-lt"/>
              <a:ea typeface="+mn-ea"/>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86</a:t>
            </a:fld>
            <a:endParaRPr lang="zh-CN" altLang="en-US">
              <a:solidFill>
                <a:srgbClr val="898989"/>
              </a:solidFill>
            </a:endParaRPr>
          </a:p>
        </p:txBody>
      </p:sp>
      <p:sp>
        <p:nvSpPr>
          <p:cNvPr id="22" name="文本框 21">
            <a:extLst>
              <a:ext uri="{FF2B5EF4-FFF2-40B4-BE49-F238E27FC236}">
                <a16:creationId xmlns:a16="http://schemas.microsoft.com/office/drawing/2014/main" id="{F7749C0C-2C28-4154-A549-96756BD3E3E8}"/>
              </a:ext>
            </a:extLst>
          </p:cNvPr>
          <p:cNvSpPr txBox="1"/>
          <p:nvPr/>
        </p:nvSpPr>
        <p:spPr>
          <a:xfrm>
            <a:off x="6775" y="1153742"/>
            <a:ext cx="9144000" cy="584775"/>
          </a:xfrm>
          <a:prstGeom prst="rect">
            <a:avLst/>
          </a:prstGeom>
          <a:noFill/>
          <a:ln w="25400">
            <a:noFill/>
          </a:ln>
        </p:spPr>
        <p:txBody>
          <a:bodyPr wrap="square">
            <a:spAutoFit/>
          </a:bodyPr>
          <a:lstStyle/>
          <a:p>
            <a:pPr marR="0" lvl="0" algn="l" defTabSz="914400" rtl="0" eaLnBrk="0" fontAlgn="base" latinLnBrk="0" hangingPunct="0">
              <a:lnSpc>
                <a:spcPct val="100000"/>
              </a:lnSpc>
              <a:spcBef>
                <a:spcPct val="0"/>
              </a:spcBef>
              <a:spcAft>
                <a:spcPct val="0"/>
              </a:spcAft>
              <a:buClrTx/>
              <a:buSzTx/>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对</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和</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b</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分别用平均值法，得</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p:txBody>
      </p:sp>
      <p:sp>
        <p:nvSpPr>
          <p:cNvPr id="14" name="文本框 13">
            <a:extLst>
              <a:ext uri="{FF2B5EF4-FFF2-40B4-BE49-F238E27FC236}">
                <a16:creationId xmlns:a16="http://schemas.microsoft.com/office/drawing/2014/main" id="{C10991DA-031F-4017-930F-76AF16A58824}"/>
              </a:ext>
            </a:extLst>
          </p:cNvPr>
          <p:cNvSpPr txBox="1"/>
          <p:nvPr/>
        </p:nvSpPr>
        <p:spPr>
          <a:xfrm>
            <a:off x="21152" y="4073309"/>
            <a:ext cx="8415935" cy="584775"/>
          </a:xfrm>
          <a:prstGeom prst="rect">
            <a:avLst/>
          </a:prstGeom>
          <a:noFill/>
          <a:ln w="25400">
            <a:noFill/>
          </a:ln>
        </p:spPr>
        <p:txBody>
          <a:bodyPr wrap="square">
            <a:spAutoFit/>
          </a:bodyPr>
          <a:lstStyle/>
          <a:p>
            <a:r>
              <a:rPr lang="zh-CN" altLang="en-US" sz="3200" dirty="0">
                <a:solidFill>
                  <a:srgbClr val="006699"/>
                </a:solidFill>
                <a:latin typeface="Verdana" panose="020B0604030504040204" pitchFamily="34" charset="0"/>
              </a:rPr>
              <a:t>渐近方差</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B0DC685-4248-43B9-B0C2-F47451EBA422}"/>
                  </a:ext>
                </a:extLst>
              </p:cNvPr>
              <p:cNvSpPr txBox="1"/>
              <p:nvPr/>
            </p:nvSpPr>
            <p:spPr>
              <a:xfrm>
                <a:off x="-333545" y="1738517"/>
                <a:ext cx="9811090" cy="2286267"/>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sz="2000" i="1" smtClean="0">
                              <a:solidFill>
                                <a:srgbClr val="836967"/>
                              </a:solidFill>
                              <a:latin typeface="Cambria Math" panose="02040503050406030204" pitchFamily="18" charset="0"/>
                            </a:rPr>
                          </m:ctrlPr>
                        </m:mPr>
                        <m:mr>
                          <m:e>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𝑎</m:t>
                                </m:r>
                              </m:e>
                            </m:acc>
                            <m:r>
                              <a:rPr lang="zh-CN" altLang="en-US" sz="2000" i="0">
                                <a:latin typeface="Cambria Math" panose="02040503050406030204" pitchFamily="18" charset="0"/>
                              </a:rPr>
                              <m:t>=</m:t>
                            </m:r>
                            <m:f>
                              <m:fPr>
                                <m:ctrlPr>
                                  <a:rPr lang="zh-CN" altLang="en-US" sz="2000" i="1">
                                    <a:solidFill>
                                      <a:srgbClr val="836967"/>
                                    </a:solidFill>
                                    <a:latin typeface="Cambria Math" panose="02040503050406030204" pitchFamily="18" charset="0"/>
                                  </a:rPr>
                                </m:ctrlPr>
                              </m:fPr>
                              <m:num>
                                <m:r>
                                  <a:rPr lang="zh-CN" altLang="en-US" sz="2000" i="0">
                                    <a:latin typeface="Cambria Math" panose="02040503050406030204" pitchFamily="18" charset="0"/>
                                  </a:rPr>
                                  <m:t>0.5</m:t>
                                </m:r>
                              </m:num>
                              <m:den>
                                <m:f>
                                  <m:fPr>
                                    <m:type m:val="lin"/>
                                    <m:ctrlPr>
                                      <a:rPr lang="zh-CN" altLang="en-US" sz="2000" i="1">
                                        <a:latin typeface="Cambria Math" panose="02040503050406030204" pitchFamily="18" charset="0"/>
                                      </a:rPr>
                                    </m:ctrlPr>
                                  </m:fPr>
                                  <m:num>
                                    <m:r>
                                      <a:rPr lang="zh-CN" altLang="en-US" sz="2000" i="1">
                                        <a:latin typeface="Cambria Math" panose="02040503050406030204" pitchFamily="18" charset="0"/>
                                      </a:rPr>
                                      <m:t>𝑁</m:t>
                                    </m:r>
                                  </m:num>
                                  <m:den>
                                    <m:r>
                                      <a:rPr lang="zh-CN" altLang="en-US" sz="2000" i="0">
                                        <a:latin typeface="Cambria Math" panose="02040503050406030204" pitchFamily="18" charset="0"/>
                                      </a:rPr>
                                      <m:t>2</m:t>
                                    </m:r>
                                  </m:den>
                                </m:f>
                              </m:den>
                            </m:f>
                            <m:nary>
                              <m:naryPr>
                                <m:chr m:val="∑"/>
                                <m:limLoc m:val="undOvr"/>
                                <m:grow m:val="on"/>
                                <m:ctrlPr>
                                  <a:rPr lang="zh-CN" altLang="en-US" sz="2000" i="1">
                                    <a:latin typeface="Cambria Math" panose="02040503050406030204" pitchFamily="18" charset="0"/>
                                  </a:rPr>
                                </m:ctrlPr>
                              </m:naryPr>
                              <m:sub>
                                <m:r>
                                  <a:rPr lang="zh-CN" altLang="en-US" sz="2000" i="1">
                                    <a:latin typeface="Cambria Math" panose="02040503050406030204" pitchFamily="18" charset="0"/>
                                  </a:rPr>
                                  <m:t>𝑖</m:t>
                                </m:r>
                                <m:r>
                                  <a:rPr lang="zh-CN" altLang="en-US" sz="2000" i="0">
                                    <a:latin typeface="Cambria Math" panose="02040503050406030204" pitchFamily="18" charset="0"/>
                                  </a:rPr>
                                  <m:t>=1</m:t>
                                </m:r>
                              </m:sub>
                              <m:sup>
                                <m:f>
                                  <m:fPr>
                                    <m:type m:val="lin"/>
                                    <m:ctrlPr>
                                      <a:rPr lang="zh-CN" altLang="en-US" sz="2000" i="1">
                                        <a:latin typeface="Cambria Math" panose="02040503050406030204" pitchFamily="18" charset="0"/>
                                      </a:rPr>
                                    </m:ctrlPr>
                                  </m:fPr>
                                  <m:num>
                                    <m:r>
                                      <a:rPr lang="zh-CN" altLang="en-US" sz="2000" i="1">
                                        <a:latin typeface="Cambria Math" panose="02040503050406030204" pitchFamily="18" charset="0"/>
                                      </a:rPr>
                                      <m:t>𝑁</m:t>
                                    </m:r>
                                  </m:num>
                                  <m:den>
                                    <m:r>
                                      <a:rPr lang="zh-CN" altLang="en-US" sz="2000" i="0">
                                        <a:latin typeface="Cambria Math" panose="02040503050406030204" pitchFamily="18" charset="0"/>
                                      </a:rPr>
                                      <m:t>2</m:t>
                                    </m:r>
                                  </m:den>
                                </m:f>
                              </m:sup>
                              <m:e>
                                <m:r>
                                  <a:rPr lang="zh-CN" altLang="en-US" sz="2000" i="1">
                                    <a:latin typeface="Cambria Math" panose="02040503050406030204" pitchFamily="18" charset="0"/>
                                  </a:rPr>
                                  <m:t>h</m:t>
                                </m:r>
                              </m:e>
                            </m:nary>
                            <m:d>
                              <m:dPr>
                                <m:ctrlPr>
                                  <a:rPr lang="zh-CN" altLang="en-US" sz="2000" i="1">
                                    <a:latin typeface="Cambria Math" panose="02040503050406030204" pitchFamily="18" charset="0"/>
                                  </a:rPr>
                                </m:ctrlPr>
                              </m:dPr>
                              <m:e>
                                <m:r>
                                  <a:rPr lang="zh-CN" altLang="en-US" sz="2000" i="0">
                                    <a:latin typeface="Cambria Math" panose="02040503050406030204" pitchFamily="18" charset="0"/>
                                  </a:rPr>
                                  <m:t>0.5</m:t>
                                </m:r>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𝑈</m:t>
                                    </m:r>
                                  </m:e>
                                  <m:sub>
                                    <m:r>
                                      <a:rPr lang="zh-CN" altLang="en-US" sz="2000" i="1">
                                        <a:latin typeface="Cambria Math" panose="02040503050406030204" pitchFamily="18" charset="0"/>
                                      </a:rPr>
                                      <m:t>𝑖</m:t>
                                    </m:r>
                                  </m:sub>
                                </m:sSub>
                              </m:e>
                            </m:d>
                            <m:r>
                              <a:rPr lang="zh-CN" altLang="en-US" sz="2000" i="0">
                                <a:latin typeface="Cambria Math" panose="02040503050406030204" pitchFamily="18" charset="0"/>
                              </a:rPr>
                              <m:t>=</m:t>
                            </m:r>
                            <m:f>
                              <m:fPr>
                                <m:ctrlPr>
                                  <a:rPr lang="zh-CN" altLang="en-US" sz="2000" i="1">
                                    <a:solidFill>
                                      <a:srgbClr val="836967"/>
                                    </a:solidFill>
                                    <a:latin typeface="Cambria Math" panose="02040503050406030204" pitchFamily="18" charset="0"/>
                                  </a:rPr>
                                </m:ctrlPr>
                              </m:fPr>
                              <m:num>
                                <m:r>
                                  <a:rPr lang="zh-CN" altLang="en-US" sz="2000" i="0">
                                    <a:latin typeface="Cambria Math" panose="02040503050406030204" pitchFamily="18" charset="0"/>
                                  </a:rPr>
                                  <m:t>0.5</m:t>
                                </m:r>
                              </m:num>
                              <m:den>
                                <m:f>
                                  <m:fPr>
                                    <m:type m:val="lin"/>
                                    <m:ctrlPr>
                                      <a:rPr lang="zh-CN" altLang="en-US" sz="2000" i="1">
                                        <a:latin typeface="Cambria Math" panose="02040503050406030204" pitchFamily="18" charset="0"/>
                                      </a:rPr>
                                    </m:ctrlPr>
                                  </m:fPr>
                                  <m:num>
                                    <m:r>
                                      <a:rPr lang="zh-CN" altLang="en-US" sz="2000" i="1">
                                        <a:latin typeface="Cambria Math" panose="02040503050406030204" pitchFamily="18" charset="0"/>
                                      </a:rPr>
                                      <m:t>𝑁</m:t>
                                    </m:r>
                                  </m:num>
                                  <m:den>
                                    <m:r>
                                      <a:rPr lang="zh-CN" altLang="en-US" sz="2000" i="0">
                                        <a:latin typeface="Cambria Math" panose="02040503050406030204" pitchFamily="18" charset="0"/>
                                      </a:rPr>
                                      <m:t>2</m:t>
                                    </m:r>
                                  </m:den>
                                </m:f>
                              </m:den>
                            </m:f>
                            <m:nary>
                              <m:naryPr>
                                <m:chr m:val="∑"/>
                                <m:limLoc m:val="undOvr"/>
                                <m:grow m:val="on"/>
                                <m:ctrlPr>
                                  <a:rPr lang="zh-CN" altLang="en-US" sz="2000" i="1">
                                    <a:latin typeface="Cambria Math" panose="02040503050406030204" pitchFamily="18" charset="0"/>
                                  </a:rPr>
                                </m:ctrlPr>
                              </m:naryPr>
                              <m:sub>
                                <m:r>
                                  <a:rPr lang="zh-CN" altLang="en-US" sz="2000" i="1">
                                    <a:latin typeface="Cambria Math" panose="02040503050406030204" pitchFamily="18" charset="0"/>
                                  </a:rPr>
                                  <m:t>𝑖</m:t>
                                </m:r>
                                <m:r>
                                  <a:rPr lang="zh-CN" altLang="en-US" sz="2000" i="0">
                                    <a:latin typeface="Cambria Math" panose="02040503050406030204" pitchFamily="18" charset="0"/>
                                  </a:rPr>
                                  <m:t>=1</m:t>
                                </m:r>
                              </m:sub>
                              <m:sup>
                                <m:f>
                                  <m:fPr>
                                    <m:type m:val="lin"/>
                                    <m:ctrlPr>
                                      <a:rPr lang="zh-CN" altLang="en-US" sz="2000" i="1">
                                        <a:latin typeface="Cambria Math" panose="02040503050406030204" pitchFamily="18" charset="0"/>
                                      </a:rPr>
                                    </m:ctrlPr>
                                  </m:fPr>
                                  <m:num>
                                    <m:r>
                                      <a:rPr lang="zh-CN" altLang="en-US" sz="2000" i="1">
                                        <a:latin typeface="Cambria Math" panose="02040503050406030204" pitchFamily="18" charset="0"/>
                                      </a:rPr>
                                      <m:t>𝑁</m:t>
                                    </m:r>
                                  </m:num>
                                  <m:den>
                                    <m:r>
                                      <a:rPr lang="zh-CN" altLang="en-US" sz="2000" i="0">
                                        <a:latin typeface="Cambria Math" panose="02040503050406030204" pitchFamily="18" charset="0"/>
                                      </a:rPr>
                                      <m:t>2</m:t>
                                    </m:r>
                                  </m:den>
                                </m:f>
                              </m:sup>
                              <m:e>
                                <m:d>
                                  <m:dPr>
                                    <m:ctrlPr>
                                      <a:rPr lang="zh-CN" altLang="en-US" sz="2000" i="1">
                                        <a:latin typeface="Cambria Math" panose="02040503050406030204" pitchFamily="18" charset="0"/>
                                      </a:rPr>
                                    </m:ctrlPr>
                                  </m:dPr>
                                  <m:e>
                                    <m:r>
                                      <a:rPr lang="zh-CN" altLang="en-US" sz="2000" i="0">
                                        <a:latin typeface="Cambria Math" panose="02040503050406030204" pitchFamily="18" charset="0"/>
                                      </a:rPr>
                                      <m:t>1+0.05</m:t>
                                    </m:r>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𝑈</m:t>
                                        </m:r>
                                      </m:e>
                                      <m:sub>
                                        <m:r>
                                          <a:rPr lang="zh-CN" altLang="en-US" sz="2000" i="1">
                                            <a:latin typeface="Cambria Math" panose="02040503050406030204" pitchFamily="18" charset="0"/>
                                          </a:rPr>
                                          <m:t>𝑖</m:t>
                                        </m:r>
                                      </m:sub>
                                    </m:sSub>
                                  </m:e>
                                </m:d>
                              </m:e>
                            </m:nary>
                            <m:r>
                              <a:rPr lang="zh-CN" altLang="en-US" sz="2000" i="0">
                                <a:latin typeface="Cambria Math" panose="02040503050406030204" pitchFamily="18" charset="0"/>
                              </a:rPr>
                              <m:t>,</m:t>
                            </m:r>
                          </m:e>
                        </m:mr>
                        <m:mr>
                          <m:e>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𝑏</m:t>
                                </m:r>
                              </m:e>
                            </m:acc>
                            <m:r>
                              <a:rPr lang="zh-CN" altLang="en-US" sz="2000" i="0">
                                <a:latin typeface="Cambria Math" panose="02040503050406030204" pitchFamily="18" charset="0"/>
                              </a:rPr>
                              <m:t>=</m:t>
                            </m:r>
                            <m:f>
                              <m:fPr>
                                <m:ctrlPr>
                                  <a:rPr lang="zh-CN" altLang="en-US" sz="2000" i="1">
                                    <a:solidFill>
                                      <a:srgbClr val="836967"/>
                                    </a:solidFill>
                                    <a:latin typeface="Cambria Math" panose="02040503050406030204" pitchFamily="18" charset="0"/>
                                  </a:rPr>
                                </m:ctrlPr>
                              </m:fPr>
                              <m:num>
                                <m:r>
                                  <a:rPr lang="zh-CN" altLang="en-US" sz="2000" i="0">
                                    <a:latin typeface="Cambria Math" panose="02040503050406030204" pitchFamily="18" charset="0"/>
                                  </a:rPr>
                                  <m:t>0.5</m:t>
                                </m:r>
                              </m:num>
                              <m:den>
                                <m:f>
                                  <m:fPr>
                                    <m:type m:val="lin"/>
                                    <m:ctrlPr>
                                      <a:rPr lang="zh-CN" altLang="en-US" sz="2000" i="1">
                                        <a:latin typeface="Cambria Math" panose="02040503050406030204" pitchFamily="18" charset="0"/>
                                      </a:rPr>
                                    </m:ctrlPr>
                                  </m:fPr>
                                  <m:num>
                                    <m:r>
                                      <a:rPr lang="zh-CN" altLang="en-US" sz="2000" i="1">
                                        <a:latin typeface="Cambria Math" panose="02040503050406030204" pitchFamily="18" charset="0"/>
                                      </a:rPr>
                                      <m:t>𝑁</m:t>
                                    </m:r>
                                  </m:num>
                                  <m:den>
                                    <m:r>
                                      <a:rPr lang="zh-CN" altLang="en-US" sz="2000" i="0">
                                        <a:latin typeface="Cambria Math" panose="02040503050406030204" pitchFamily="18" charset="0"/>
                                      </a:rPr>
                                      <m:t>2</m:t>
                                    </m:r>
                                  </m:den>
                                </m:f>
                              </m:den>
                            </m:f>
                            <m:nary>
                              <m:naryPr>
                                <m:chr m:val="∑"/>
                                <m:limLoc m:val="undOvr"/>
                                <m:grow m:val="on"/>
                                <m:ctrlPr>
                                  <a:rPr lang="zh-CN" altLang="en-US" sz="2000" i="1">
                                    <a:latin typeface="Cambria Math" panose="02040503050406030204" pitchFamily="18" charset="0"/>
                                  </a:rPr>
                                </m:ctrlPr>
                              </m:naryPr>
                              <m:sub>
                                <m:r>
                                  <a:rPr lang="zh-CN" altLang="en-US" sz="2000" i="1">
                                    <a:latin typeface="Cambria Math" panose="02040503050406030204" pitchFamily="18" charset="0"/>
                                  </a:rPr>
                                  <m:t>𝑖</m:t>
                                </m:r>
                                <m:r>
                                  <a:rPr lang="zh-CN" altLang="en-US" sz="2000" i="0">
                                    <a:latin typeface="Cambria Math" panose="02040503050406030204" pitchFamily="18" charset="0"/>
                                  </a:rPr>
                                  <m:t>=</m:t>
                                </m:r>
                                <m:d>
                                  <m:dPr>
                                    <m:ctrlPr>
                                      <a:rPr lang="zh-CN" altLang="en-US" sz="2000" i="1">
                                        <a:latin typeface="Cambria Math" panose="02040503050406030204" pitchFamily="18" charset="0"/>
                                      </a:rPr>
                                    </m:ctrlPr>
                                  </m:dPr>
                                  <m:e>
                                    <m:f>
                                      <m:fPr>
                                        <m:type m:val="lin"/>
                                        <m:ctrlPr>
                                          <a:rPr lang="zh-CN" altLang="en-US" sz="2000" i="1">
                                            <a:latin typeface="Cambria Math" panose="02040503050406030204" pitchFamily="18" charset="0"/>
                                          </a:rPr>
                                        </m:ctrlPr>
                                      </m:fPr>
                                      <m:num>
                                        <m:r>
                                          <a:rPr lang="zh-CN" altLang="en-US" sz="2000" i="1">
                                            <a:latin typeface="Cambria Math" panose="02040503050406030204" pitchFamily="18" charset="0"/>
                                          </a:rPr>
                                          <m:t>𝑁</m:t>
                                        </m:r>
                                      </m:num>
                                      <m:den>
                                        <m:r>
                                          <a:rPr lang="zh-CN" altLang="en-US" sz="2000" i="0">
                                            <a:latin typeface="Cambria Math" panose="02040503050406030204" pitchFamily="18" charset="0"/>
                                          </a:rPr>
                                          <m:t>2</m:t>
                                        </m:r>
                                      </m:den>
                                    </m:f>
                                  </m:e>
                                </m:d>
                                <m:r>
                                  <a:rPr lang="zh-CN" altLang="en-US" sz="2000" i="0">
                                    <a:latin typeface="Cambria Math" panose="02040503050406030204" pitchFamily="18" charset="0"/>
                                  </a:rPr>
                                  <m:t>+1</m:t>
                                </m:r>
                              </m:sub>
                              <m:sup>
                                <m:r>
                                  <a:rPr lang="zh-CN" altLang="en-US" sz="2000" i="1">
                                    <a:latin typeface="Cambria Math" panose="02040503050406030204" pitchFamily="18" charset="0"/>
                                  </a:rPr>
                                  <m:t>𝑁</m:t>
                                </m:r>
                              </m:sup>
                              <m:e>
                                <m:r>
                                  <a:rPr lang="zh-CN" altLang="en-US" sz="2000" i="1">
                                    <a:latin typeface="Cambria Math" panose="02040503050406030204" pitchFamily="18" charset="0"/>
                                  </a:rPr>
                                  <m:t>h</m:t>
                                </m:r>
                              </m:e>
                            </m:nary>
                            <m:d>
                              <m:dPr>
                                <m:ctrlPr>
                                  <a:rPr lang="zh-CN" altLang="en-US" sz="2000" i="1">
                                    <a:latin typeface="Cambria Math" panose="02040503050406030204" pitchFamily="18" charset="0"/>
                                  </a:rPr>
                                </m:ctrlPr>
                              </m:dPr>
                              <m:e>
                                <m:r>
                                  <a:rPr lang="zh-CN" altLang="en-US" sz="2000" i="0">
                                    <a:latin typeface="Cambria Math" panose="02040503050406030204" pitchFamily="18" charset="0"/>
                                  </a:rPr>
                                  <m:t>0.5+0.5</m:t>
                                </m:r>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𝑈</m:t>
                                    </m:r>
                                  </m:e>
                                  <m:sub>
                                    <m:r>
                                      <a:rPr lang="zh-CN" altLang="en-US" sz="2000" i="1">
                                        <a:latin typeface="Cambria Math" panose="02040503050406030204" pitchFamily="18" charset="0"/>
                                      </a:rPr>
                                      <m:t>𝑖</m:t>
                                    </m:r>
                                  </m:sub>
                                </m:sSub>
                              </m:e>
                            </m:d>
                            <m:r>
                              <a:rPr lang="zh-CN" altLang="en-US" sz="2000" i="0">
                                <a:latin typeface="Cambria Math" panose="02040503050406030204" pitchFamily="18" charset="0"/>
                              </a:rPr>
                              <m:t>=</m:t>
                            </m:r>
                            <m:f>
                              <m:fPr>
                                <m:ctrlPr>
                                  <a:rPr lang="zh-CN" altLang="en-US" sz="2000" i="1">
                                    <a:solidFill>
                                      <a:srgbClr val="836967"/>
                                    </a:solidFill>
                                    <a:latin typeface="Cambria Math" panose="02040503050406030204" pitchFamily="18" charset="0"/>
                                  </a:rPr>
                                </m:ctrlPr>
                              </m:fPr>
                              <m:num>
                                <m:r>
                                  <a:rPr lang="zh-CN" altLang="en-US" sz="2000" i="0">
                                    <a:latin typeface="Cambria Math" panose="02040503050406030204" pitchFamily="18" charset="0"/>
                                  </a:rPr>
                                  <m:t>0.5</m:t>
                                </m:r>
                              </m:num>
                              <m:den>
                                <m:f>
                                  <m:fPr>
                                    <m:type m:val="lin"/>
                                    <m:ctrlPr>
                                      <a:rPr lang="zh-CN" altLang="en-US" sz="2000" i="1">
                                        <a:latin typeface="Cambria Math" panose="02040503050406030204" pitchFamily="18" charset="0"/>
                                      </a:rPr>
                                    </m:ctrlPr>
                                  </m:fPr>
                                  <m:num>
                                    <m:r>
                                      <a:rPr lang="zh-CN" altLang="en-US" sz="2000" i="1">
                                        <a:latin typeface="Cambria Math" panose="02040503050406030204" pitchFamily="18" charset="0"/>
                                      </a:rPr>
                                      <m:t>𝑁</m:t>
                                    </m:r>
                                  </m:num>
                                  <m:den>
                                    <m:r>
                                      <a:rPr lang="zh-CN" altLang="en-US" sz="2000" i="0">
                                        <a:latin typeface="Cambria Math" panose="02040503050406030204" pitchFamily="18" charset="0"/>
                                      </a:rPr>
                                      <m:t>2</m:t>
                                    </m:r>
                                  </m:den>
                                </m:f>
                              </m:den>
                            </m:f>
                            <m:nary>
                              <m:naryPr>
                                <m:chr m:val="∑"/>
                                <m:limLoc m:val="undOvr"/>
                                <m:grow m:val="on"/>
                                <m:ctrlPr>
                                  <a:rPr lang="zh-CN" altLang="en-US" sz="2000" i="1">
                                    <a:latin typeface="Cambria Math" panose="02040503050406030204" pitchFamily="18" charset="0"/>
                                  </a:rPr>
                                </m:ctrlPr>
                              </m:naryPr>
                              <m:sub>
                                <m:r>
                                  <a:rPr lang="zh-CN" altLang="en-US" sz="2000" i="1">
                                    <a:latin typeface="Cambria Math" panose="02040503050406030204" pitchFamily="18" charset="0"/>
                                  </a:rPr>
                                  <m:t>𝑖</m:t>
                                </m:r>
                                <m:r>
                                  <a:rPr lang="zh-CN" altLang="en-US" sz="2000" i="0">
                                    <a:latin typeface="Cambria Math" panose="02040503050406030204" pitchFamily="18" charset="0"/>
                                  </a:rPr>
                                  <m:t>=</m:t>
                                </m:r>
                                <m:d>
                                  <m:dPr>
                                    <m:ctrlPr>
                                      <a:rPr lang="zh-CN" altLang="en-US" sz="2000" i="1">
                                        <a:latin typeface="Cambria Math" panose="02040503050406030204" pitchFamily="18" charset="0"/>
                                      </a:rPr>
                                    </m:ctrlPr>
                                  </m:dPr>
                                  <m:e>
                                    <m:f>
                                      <m:fPr>
                                        <m:type m:val="lin"/>
                                        <m:ctrlPr>
                                          <a:rPr lang="zh-CN" altLang="en-US" sz="2000" i="1">
                                            <a:latin typeface="Cambria Math" panose="02040503050406030204" pitchFamily="18" charset="0"/>
                                          </a:rPr>
                                        </m:ctrlPr>
                                      </m:fPr>
                                      <m:num>
                                        <m:r>
                                          <a:rPr lang="zh-CN" altLang="en-US" sz="2000" i="1">
                                            <a:latin typeface="Cambria Math" panose="02040503050406030204" pitchFamily="18" charset="0"/>
                                          </a:rPr>
                                          <m:t>𝑁</m:t>
                                        </m:r>
                                      </m:num>
                                      <m:den>
                                        <m:r>
                                          <a:rPr lang="zh-CN" altLang="en-US" sz="2000" i="0">
                                            <a:latin typeface="Cambria Math" panose="02040503050406030204" pitchFamily="18" charset="0"/>
                                          </a:rPr>
                                          <m:t>2</m:t>
                                        </m:r>
                                      </m:den>
                                    </m:f>
                                  </m:e>
                                </m:d>
                                <m:r>
                                  <a:rPr lang="zh-CN" altLang="en-US" sz="2000" i="0">
                                    <a:latin typeface="Cambria Math" panose="02040503050406030204" pitchFamily="18" charset="0"/>
                                  </a:rPr>
                                  <m:t>+1</m:t>
                                </m:r>
                              </m:sub>
                              <m:sup>
                                <m:r>
                                  <a:rPr lang="zh-CN" altLang="en-US" sz="2000" i="1">
                                    <a:latin typeface="Cambria Math" panose="02040503050406030204" pitchFamily="18" charset="0"/>
                                  </a:rPr>
                                  <m:t>𝑁</m:t>
                                </m:r>
                              </m:sup>
                              <m:e>
                                <m:d>
                                  <m:dPr>
                                    <m:ctrlPr>
                                      <a:rPr lang="zh-CN" altLang="en-US" sz="2000" i="1">
                                        <a:latin typeface="Cambria Math" panose="02040503050406030204" pitchFamily="18" charset="0"/>
                                      </a:rPr>
                                    </m:ctrlPr>
                                  </m:dPr>
                                  <m:e>
                                    <m:r>
                                      <a:rPr lang="zh-CN" altLang="en-US" sz="2000" i="0">
                                        <a:latin typeface="Cambria Math" panose="02040503050406030204" pitchFamily="18" charset="0"/>
                                      </a:rPr>
                                      <m:t>−1+0.05+0.05</m:t>
                                    </m:r>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𝑈</m:t>
                                        </m:r>
                                      </m:e>
                                      <m:sub>
                                        <m:r>
                                          <a:rPr lang="zh-CN" altLang="en-US" sz="2000" i="1">
                                            <a:latin typeface="Cambria Math" panose="02040503050406030204" pitchFamily="18" charset="0"/>
                                          </a:rPr>
                                          <m:t>𝑖</m:t>
                                        </m:r>
                                      </m:sub>
                                    </m:sSub>
                                  </m:e>
                                </m:d>
                              </m:e>
                            </m:nary>
                            <m:r>
                              <a:rPr lang="zh-CN" altLang="en-US" sz="2000" i="0">
                                <a:latin typeface="Cambria Math" panose="02040503050406030204" pitchFamily="18" charset="0"/>
                              </a:rPr>
                              <m:t>,</m:t>
                            </m:r>
                          </m:e>
                        </m:mr>
                        <m:mr>
                          <m:e>
                            <m:sSub>
                              <m:sSubPr>
                                <m:ctrlPr>
                                  <a:rPr lang="zh-CN" altLang="en-US" sz="2000" i="1">
                                    <a:solidFill>
                                      <a:srgbClr val="836967"/>
                                    </a:solidFill>
                                    <a:latin typeface="Cambria Math" panose="02040503050406030204" pitchFamily="18" charset="0"/>
                                  </a:rPr>
                                </m:ctrlPr>
                              </m:sSubPr>
                              <m:e>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𝐼</m:t>
                                    </m:r>
                                  </m:e>
                                </m:acc>
                              </m:e>
                              <m:sub>
                                <m:r>
                                  <a:rPr lang="zh-CN" altLang="en-US" sz="2000" i="0">
                                    <a:latin typeface="Cambria Math" panose="02040503050406030204" pitchFamily="18" charset="0"/>
                                  </a:rPr>
                                  <m:t>5</m:t>
                                </m:r>
                              </m:sub>
                            </m:sSub>
                            <m:r>
                              <a:rPr lang="zh-CN" altLang="en-US" sz="2000" i="0">
                                <a:latin typeface="Cambria Math" panose="02040503050406030204" pitchFamily="18" charset="0"/>
                              </a:rPr>
                              <m:t>=</m:t>
                            </m:r>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𝑎</m:t>
                                </m:r>
                              </m:e>
                            </m:acc>
                            <m:r>
                              <a:rPr lang="zh-CN" altLang="en-US" sz="2000" i="0">
                                <a:latin typeface="Cambria Math" panose="02040503050406030204" pitchFamily="18" charset="0"/>
                              </a:rPr>
                              <m:t>+</m:t>
                            </m:r>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𝑏</m:t>
                                </m:r>
                              </m:e>
                            </m:acc>
                          </m:e>
                        </m:mr>
                      </m:m>
                    </m:oMath>
                  </m:oMathPara>
                </a14:m>
                <a:endParaRPr lang="zh-CN" altLang="en-US" sz="1600" dirty="0"/>
              </a:p>
            </p:txBody>
          </p:sp>
        </mc:Choice>
        <mc:Fallback xmlns="">
          <p:sp>
            <p:nvSpPr>
              <p:cNvPr id="10" name="文本框 9">
                <a:extLst>
                  <a:ext uri="{FF2B5EF4-FFF2-40B4-BE49-F238E27FC236}">
                    <a16:creationId xmlns:a16="http://schemas.microsoft.com/office/drawing/2014/main" id="{CB0DC685-4248-43B9-B0C2-F47451EBA422}"/>
                  </a:ext>
                </a:extLst>
              </p:cNvPr>
              <p:cNvSpPr txBox="1">
                <a:spLocks noRot="1" noChangeAspect="1" noMove="1" noResize="1" noEditPoints="1" noAdjustHandles="1" noChangeArrowheads="1" noChangeShapeType="1" noTextEdit="1"/>
              </p:cNvSpPr>
              <p:nvPr/>
            </p:nvSpPr>
            <p:spPr>
              <a:xfrm>
                <a:off x="-333545" y="1738517"/>
                <a:ext cx="9811090" cy="2286267"/>
              </a:xfrm>
              <a:prstGeom prst="rect">
                <a:avLst/>
              </a:prstGeom>
              <a:blipFill>
                <a:blip r:embed="rId2"/>
                <a:stretch>
                  <a:fillRect/>
                </a:stretch>
              </a:blipFill>
              <a:ln w="25400">
                <a:noFill/>
              </a:ln>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C7FCBEDF-FDEA-47D6-893A-2DEF472BF936}"/>
              </a:ext>
            </a:extLst>
          </p:cNvPr>
          <p:cNvPicPr>
            <a:picLocks noChangeAspect="1"/>
          </p:cNvPicPr>
          <p:nvPr/>
        </p:nvPicPr>
        <p:blipFill>
          <a:blip r:embed="rId3"/>
          <a:stretch>
            <a:fillRect/>
          </a:stretch>
        </p:blipFill>
        <p:spPr>
          <a:xfrm>
            <a:off x="2141730" y="4105008"/>
            <a:ext cx="5209390" cy="1862497"/>
          </a:xfrm>
          <a:prstGeom prst="rect">
            <a:avLst/>
          </a:prstGeom>
        </p:spPr>
      </p:pic>
      <p:sp>
        <p:nvSpPr>
          <p:cNvPr id="17" name="文本框 16">
            <a:extLst>
              <a:ext uri="{FF2B5EF4-FFF2-40B4-BE49-F238E27FC236}">
                <a16:creationId xmlns:a16="http://schemas.microsoft.com/office/drawing/2014/main" id="{2956E25D-F767-4DE2-9306-3146C535275B}"/>
              </a:ext>
            </a:extLst>
          </p:cNvPr>
          <p:cNvSpPr txBox="1"/>
          <p:nvPr/>
        </p:nvSpPr>
        <p:spPr>
          <a:xfrm>
            <a:off x="39517" y="5921509"/>
            <a:ext cx="8961338" cy="400110"/>
          </a:xfrm>
          <a:prstGeom prst="rect">
            <a:avLst/>
          </a:prstGeom>
          <a:noFill/>
          <a:ln w="25400">
            <a:noFill/>
          </a:ln>
        </p:spPr>
        <p:txBody>
          <a:bodyPr wrap="square">
            <a:spAutoFit/>
          </a:bodyPr>
          <a:lstStyle/>
          <a:p>
            <a:pPr marL="342900" indent="-342900">
              <a:buFont typeface="Arial" panose="020B0604020202020204" pitchFamily="34" charset="0"/>
              <a:buChar char="•"/>
            </a:pPr>
            <a:r>
              <a:rPr kumimoji="0" lang="zh-CN" altLang="en-US" sz="20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分层后的估计方差远小于不分层的结果</a:t>
            </a:r>
            <a:r>
              <a:rPr kumimoji="0" lang="en-US" altLang="zh-CN" sz="20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 </a:t>
            </a:r>
            <a:r>
              <a:rPr kumimoji="0" lang="zh-CN" altLang="en-US" sz="20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可以节省样本量约</a:t>
            </a:r>
            <a:r>
              <a:rPr kumimoji="0" lang="en-US" altLang="zh-CN" sz="20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4500</a:t>
            </a:r>
            <a:r>
              <a:rPr kumimoji="0" lang="zh-CN" altLang="en-US" sz="20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倍</a:t>
            </a:r>
            <a:endParaRPr lang="zh-CN" altLang="en-US" sz="1200" dirty="0"/>
          </a:p>
        </p:txBody>
      </p:sp>
    </p:spTree>
    <p:extLst>
      <p:ext uri="{BB962C8B-B14F-4D97-AF65-F5344CB8AC3E}">
        <p14:creationId xmlns:p14="http://schemas.microsoft.com/office/powerpoint/2010/main" val="38577708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3.4 </a:t>
            </a:r>
            <a:r>
              <a:rPr lang="zh-CN" altLang="en-US" sz="3600" b="0" dirty="0">
                <a:latin typeface="+mn-lt"/>
                <a:ea typeface="+mn-ea"/>
              </a:rPr>
              <a:t>分层抽样法</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87</a:t>
            </a:fld>
            <a:endParaRPr lang="zh-CN" altLang="en-US">
              <a:solidFill>
                <a:srgbClr val="898989"/>
              </a:solidFill>
            </a:endParaRPr>
          </a:p>
        </p:txBody>
      </p:sp>
      <p:sp>
        <p:nvSpPr>
          <p:cNvPr id="22" name="文本框 21">
            <a:extLst>
              <a:ext uri="{FF2B5EF4-FFF2-40B4-BE49-F238E27FC236}">
                <a16:creationId xmlns:a16="http://schemas.microsoft.com/office/drawing/2014/main" id="{F7749C0C-2C28-4154-A549-96756BD3E3E8}"/>
              </a:ext>
            </a:extLst>
          </p:cNvPr>
          <p:cNvSpPr txBox="1"/>
          <p:nvPr/>
        </p:nvSpPr>
        <p:spPr>
          <a:xfrm>
            <a:off x="-15875" y="1088740"/>
            <a:ext cx="9144000" cy="2062103"/>
          </a:xfrm>
          <a:prstGeom prst="rect">
            <a:avLst/>
          </a:prstGeom>
          <a:noFill/>
          <a:ln w="25400">
            <a:noFill/>
          </a:ln>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设积分</a:t>
            </a:r>
            <a:endParaRPr lang="en-US" altLang="zh-CN" sz="3200" dirty="0">
              <a:solidFill>
                <a:srgbClr val="006699"/>
              </a:solidFill>
              <a:latin typeface="Verdana" panose="020B060403050404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zh-CN" sz="3200" dirty="0">
              <a:solidFill>
                <a:srgbClr val="006699"/>
              </a:solidFill>
              <a:latin typeface="Verdana" panose="020B0604030504040204" pitchFamily="34" charset="0"/>
            </a:endParaRPr>
          </a:p>
          <a:p>
            <a:pPr marR="0" lvl="0" algn="l" defTabSz="914400" rtl="0" eaLnBrk="0" fontAlgn="base" latinLnBrk="0" hangingPunct="0">
              <a:lnSpc>
                <a:spcPct val="100000"/>
              </a:lnSpc>
              <a:spcBef>
                <a:spcPct val="0"/>
              </a:spcBef>
              <a:spcAft>
                <a:spcPct val="0"/>
              </a:spcAft>
              <a:buClrTx/>
              <a:buSzTx/>
              <a:tabLst/>
              <a:defRPr/>
            </a:pPr>
            <a:r>
              <a:rPr lang="zh-CN" altLang="en-US" sz="3200" dirty="0">
                <a:solidFill>
                  <a:srgbClr val="006699"/>
                </a:solidFill>
                <a:latin typeface="Verdana" panose="020B0604030504040204" pitchFamily="34" charset="0"/>
              </a:rPr>
              <a:t>可以分解为</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个不交的子集</a:t>
            </a:r>
            <a:r>
              <a:rPr lang="en-US" altLang="zh-CN" sz="3200" dirty="0" err="1">
                <a:solidFill>
                  <a:srgbClr val="006699"/>
                </a:solidFill>
                <a:latin typeface="Verdana" panose="020B0604030504040204" pitchFamily="34" charset="0"/>
              </a:rPr>
              <a:t>C</a:t>
            </a:r>
            <a:r>
              <a:rPr lang="en-US" altLang="zh-CN" sz="3200" baseline="-25000" dirty="0" err="1">
                <a:solidFill>
                  <a:srgbClr val="006699"/>
                </a:solidFill>
                <a:latin typeface="Verdana" panose="020B0604030504040204" pitchFamily="34" charset="0"/>
              </a:rPr>
              <a:t>j</a:t>
            </a:r>
            <a:r>
              <a:rPr lang="zh-CN" altLang="en-US" sz="3200" dirty="0">
                <a:solidFill>
                  <a:srgbClr val="006699"/>
                </a:solidFill>
                <a:latin typeface="Verdana" panose="020B0604030504040204" pitchFamily="34" charset="0"/>
              </a:rPr>
              <a:t>上的积分</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即</a:t>
            </a:r>
            <a:endParaRPr kumimoji="0" lang="en-US" altLang="zh-CN"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C87C2E7-D4C2-409E-B17A-70087EA04B0D}"/>
                  </a:ext>
                </a:extLst>
              </p:cNvPr>
              <p:cNvSpPr txBox="1"/>
              <p:nvPr/>
            </p:nvSpPr>
            <p:spPr>
              <a:xfrm>
                <a:off x="1286635" y="1088740"/>
                <a:ext cx="4690532" cy="110248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𝐼</m:t>
                      </m:r>
                      <m:r>
                        <a:rPr lang="zh-CN" altLang="en-US" sz="3200" i="0">
                          <a:latin typeface="Cambria Math" panose="02040503050406030204" pitchFamily="18" charset="0"/>
                        </a:rPr>
                        <m:t>=</m:t>
                      </m:r>
                      <m:nary>
                        <m:naryPr>
                          <m:limLoc m:val="subSup"/>
                          <m:grow m:val="on"/>
                          <m:supHide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𝐶</m:t>
                          </m:r>
                        </m:sub>
                        <m:sup/>
                        <m:e>
                          <m:r>
                            <a:rPr lang="zh-CN" altLang="en-US" sz="3200" i="1">
                              <a:latin typeface="Cambria Math" panose="02040503050406030204" pitchFamily="18" charset="0"/>
                            </a:rPr>
                            <m:t>h</m:t>
                          </m:r>
                        </m:e>
                      </m:nary>
                      <m:d>
                        <m:dPr>
                          <m:ctrlPr>
                            <a:rPr lang="zh-CN" altLang="en-US" sz="3200" i="1">
                              <a:latin typeface="Cambria Math" panose="02040503050406030204" pitchFamily="18" charset="0"/>
                            </a:rPr>
                          </m:ctrlPr>
                        </m:dPr>
                        <m:e>
                          <m:r>
                            <a:rPr lang="zh-CN" altLang="en-US" sz="3200" b="1" i="0">
                              <a:latin typeface="Cambria Math" panose="02040503050406030204" pitchFamily="18" charset="0"/>
                            </a:rPr>
                            <m:t>𝐱</m:t>
                          </m:r>
                        </m:e>
                      </m:d>
                      <m:r>
                        <a:rPr lang="zh-CN" altLang="en-US" sz="3200" b="0" i="1">
                          <a:latin typeface="Cambria Math" panose="02040503050406030204" pitchFamily="18" charset="0"/>
                        </a:rPr>
                        <m:t>𝑑</m:t>
                      </m:r>
                      <m:r>
                        <a:rPr lang="zh-CN" altLang="en-US" sz="3200" b="1" i="0">
                          <a:latin typeface="Cambria Math" panose="02040503050406030204" pitchFamily="18" charset="0"/>
                        </a:rPr>
                        <m:t>𝐱</m:t>
                      </m:r>
                    </m:oMath>
                  </m:oMathPara>
                </a14:m>
                <a:endParaRPr lang="zh-CN" altLang="en-US" dirty="0"/>
              </a:p>
            </p:txBody>
          </p:sp>
        </mc:Choice>
        <mc:Fallback xmlns="">
          <p:sp>
            <p:nvSpPr>
              <p:cNvPr id="8" name="文本框 7">
                <a:extLst>
                  <a:ext uri="{FF2B5EF4-FFF2-40B4-BE49-F238E27FC236}">
                    <a16:creationId xmlns:a16="http://schemas.microsoft.com/office/drawing/2014/main" id="{FC87C2E7-D4C2-409E-B17A-70087EA04B0D}"/>
                  </a:ext>
                </a:extLst>
              </p:cNvPr>
              <p:cNvSpPr txBox="1">
                <a:spLocks noRot="1" noChangeAspect="1" noMove="1" noResize="1" noEditPoints="1" noAdjustHandles="1" noChangeArrowheads="1" noChangeShapeType="1" noTextEdit="1"/>
              </p:cNvSpPr>
              <p:nvPr/>
            </p:nvSpPr>
            <p:spPr>
              <a:xfrm>
                <a:off x="1286635" y="1088740"/>
                <a:ext cx="4690532" cy="1102481"/>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49F757B8-90F8-44AA-8455-DC9008AD2741}"/>
                  </a:ext>
                </a:extLst>
              </p:cNvPr>
              <p:cNvSpPr txBox="1"/>
              <p:nvPr/>
            </p:nvSpPr>
            <p:spPr>
              <a:xfrm>
                <a:off x="-15875" y="3259567"/>
                <a:ext cx="8525290" cy="89518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𝐼</m:t>
                      </m:r>
                      <m:r>
                        <a:rPr lang="zh-CN" altLang="en-US" sz="2400" i="0">
                          <a:latin typeface="Cambria Math" panose="02040503050406030204" pitchFamily="18" charset="0"/>
                        </a:rPr>
                        <m:t>=</m:t>
                      </m:r>
                      <m:nary>
                        <m:naryPr>
                          <m:limLoc m:val="subSup"/>
                          <m:grow m:val="on"/>
                          <m:supHide m:val="on"/>
                          <m:ctrlPr>
                            <a:rPr lang="zh-CN" altLang="en-US" sz="2400" i="1">
                              <a:latin typeface="Cambria Math" panose="02040503050406030204" pitchFamily="18" charset="0"/>
                            </a:rPr>
                          </m:ctrlPr>
                        </m:naryPr>
                        <m:sub>
                          <m:r>
                            <a:rPr lang="zh-CN" altLang="en-US" sz="2400" i="1">
                              <a:latin typeface="Cambria Math" panose="02040503050406030204" pitchFamily="18" charset="0"/>
                            </a:rPr>
                            <m:t>𝐶</m:t>
                          </m:r>
                        </m:sub>
                        <m:sup/>
                        <m:e>
                          <m:r>
                            <a:rPr lang="zh-CN" altLang="en-US" sz="2400" i="1">
                              <a:latin typeface="Cambria Math" panose="02040503050406030204" pitchFamily="18" charset="0"/>
                            </a:rPr>
                            <m:t>h</m:t>
                          </m:r>
                        </m:e>
                      </m:nary>
                      <m:d>
                        <m:dPr>
                          <m:ctrlPr>
                            <a:rPr lang="zh-CN" altLang="en-US" sz="2400" i="1">
                              <a:latin typeface="Cambria Math" panose="02040503050406030204" pitchFamily="18" charset="0"/>
                            </a:rPr>
                          </m:ctrlPr>
                        </m:dPr>
                        <m:e>
                          <m:r>
                            <a:rPr lang="zh-CN" altLang="en-US" sz="2400" b="1" i="0">
                              <a:latin typeface="Cambria Math" panose="02040503050406030204" pitchFamily="18" charset="0"/>
                            </a:rPr>
                            <m:t>𝐱</m:t>
                          </m:r>
                        </m:e>
                      </m:d>
                      <m:r>
                        <a:rPr lang="zh-CN" altLang="en-US" sz="2400" b="0" i="1">
                          <a:latin typeface="Cambria Math" panose="02040503050406030204" pitchFamily="18" charset="0"/>
                        </a:rPr>
                        <m:t>𝑑</m:t>
                      </m:r>
                      <m:r>
                        <a:rPr lang="zh-CN" altLang="en-US" sz="2400" b="1" i="0">
                          <a:latin typeface="Cambria Math" panose="02040503050406030204" pitchFamily="18" charset="0"/>
                        </a:rPr>
                        <m:t>𝐱</m:t>
                      </m:r>
                      <m:r>
                        <a:rPr lang="zh-CN" altLang="en-US" sz="2400" b="0" i="0">
                          <a:latin typeface="Cambria Math" panose="02040503050406030204" pitchFamily="18" charset="0"/>
                        </a:rPr>
                        <m:t>=</m:t>
                      </m:r>
                      <m:nary>
                        <m:naryPr>
                          <m:limLoc m:val="subSup"/>
                          <m:grow m:val="on"/>
                          <m:supHide m:val="on"/>
                          <m:ctrlPr>
                            <a:rPr lang="zh-CN" altLang="en-US" sz="2400" b="0" i="1">
                              <a:latin typeface="Cambria Math" panose="02040503050406030204" pitchFamily="18" charset="0"/>
                            </a:rPr>
                          </m:ctrlPr>
                        </m:naryPr>
                        <m:sub>
                          <m:sSub>
                            <m:sSubPr>
                              <m:ctrlPr>
                                <a:rPr lang="zh-CN" altLang="en-US" sz="2400" b="0" i="1">
                                  <a:solidFill>
                                    <a:srgbClr val="836967"/>
                                  </a:solidFill>
                                  <a:latin typeface="Cambria Math" panose="02040503050406030204" pitchFamily="18" charset="0"/>
                                </a:rPr>
                              </m:ctrlPr>
                            </m:sSubPr>
                            <m:e>
                              <m:r>
                                <a:rPr lang="zh-CN" altLang="en-US" sz="2400" b="0" i="1">
                                  <a:latin typeface="Cambria Math" panose="02040503050406030204" pitchFamily="18" charset="0"/>
                                </a:rPr>
                                <m:t>𝐶</m:t>
                              </m:r>
                            </m:e>
                            <m:sub>
                              <m:r>
                                <a:rPr lang="zh-CN" altLang="en-US" sz="2400" b="0" i="0">
                                  <a:latin typeface="Cambria Math" panose="02040503050406030204" pitchFamily="18" charset="0"/>
                                </a:rPr>
                                <m:t>1</m:t>
                              </m:r>
                            </m:sub>
                          </m:sSub>
                        </m:sub>
                        <m:sup/>
                        <m:e>
                          <m:r>
                            <a:rPr lang="zh-CN" altLang="en-US" sz="2400" b="0" i="1">
                              <a:latin typeface="Cambria Math" panose="02040503050406030204" pitchFamily="18" charset="0"/>
                            </a:rPr>
                            <m:t>h</m:t>
                          </m:r>
                        </m:e>
                      </m:nary>
                      <m:d>
                        <m:dPr>
                          <m:ctrlPr>
                            <a:rPr lang="zh-CN" altLang="en-US" sz="2400" b="0" i="1">
                              <a:latin typeface="Cambria Math" panose="02040503050406030204" pitchFamily="18" charset="0"/>
                            </a:rPr>
                          </m:ctrlPr>
                        </m:dPr>
                        <m:e>
                          <m:r>
                            <a:rPr lang="zh-CN" altLang="en-US" sz="2400" b="1" i="0">
                              <a:latin typeface="Cambria Math" panose="02040503050406030204" pitchFamily="18" charset="0"/>
                            </a:rPr>
                            <m:t>𝐱</m:t>
                          </m:r>
                        </m:e>
                      </m:d>
                      <m:r>
                        <a:rPr lang="zh-CN" altLang="en-US" sz="2400" b="0" i="1">
                          <a:latin typeface="Cambria Math" panose="02040503050406030204" pitchFamily="18" charset="0"/>
                        </a:rPr>
                        <m:t>𝑑</m:t>
                      </m:r>
                      <m:r>
                        <a:rPr lang="zh-CN" altLang="en-US" sz="2400" b="1" i="0">
                          <a:latin typeface="Cambria Math" panose="02040503050406030204" pitchFamily="18" charset="0"/>
                        </a:rPr>
                        <m:t>𝐱</m:t>
                      </m:r>
                      <m:r>
                        <a:rPr lang="zh-CN" altLang="en-US" sz="2400" b="0" i="0">
                          <a:latin typeface="Cambria Math" panose="02040503050406030204" pitchFamily="18" charset="0"/>
                        </a:rPr>
                        <m:t>+</m:t>
                      </m:r>
                      <m:nary>
                        <m:naryPr>
                          <m:limLoc m:val="subSup"/>
                          <m:grow m:val="on"/>
                          <m:supHide m:val="on"/>
                          <m:ctrlPr>
                            <a:rPr lang="zh-CN" altLang="en-US" sz="2400" b="0" i="1">
                              <a:latin typeface="Cambria Math" panose="02040503050406030204" pitchFamily="18" charset="0"/>
                            </a:rPr>
                          </m:ctrlPr>
                        </m:naryPr>
                        <m:sub>
                          <m:sSub>
                            <m:sSubPr>
                              <m:ctrlPr>
                                <a:rPr lang="zh-CN" altLang="en-US" sz="2400" b="0" i="1">
                                  <a:solidFill>
                                    <a:srgbClr val="836967"/>
                                  </a:solidFill>
                                  <a:latin typeface="Cambria Math" panose="02040503050406030204" pitchFamily="18" charset="0"/>
                                </a:rPr>
                              </m:ctrlPr>
                            </m:sSubPr>
                            <m:e>
                              <m:r>
                                <a:rPr lang="zh-CN" altLang="en-US" sz="2400" b="0" i="1">
                                  <a:latin typeface="Cambria Math" panose="02040503050406030204" pitchFamily="18" charset="0"/>
                                </a:rPr>
                                <m:t>𝐶</m:t>
                              </m:r>
                            </m:e>
                            <m:sub>
                              <m:r>
                                <a:rPr lang="zh-CN" altLang="en-US" sz="2400" b="0" i="0">
                                  <a:latin typeface="Cambria Math" panose="02040503050406030204" pitchFamily="18" charset="0"/>
                                </a:rPr>
                                <m:t>2</m:t>
                              </m:r>
                            </m:sub>
                          </m:sSub>
                        </m:sub>
                        <m:sup/>
                        <m:e>
                          <m:r>
                            <a:rPr lang="zh-CN" altLang="en-US" sz="2400" b="0" i="1">
                              <a:latin typeface="Cambria Math" panose="02040503050406030204" pitchFamily="18" charset="0"/>
                            </a:rPr>
                            <m:t>h</m:t>
                          </m:r>
                        </m:e>
                      </m:nary>
                      <m:d>
                        <m:dPr>
                          <m:ctrlPr>
                            <a:rPr lang="zh-CN" altLang="en-US" sz="2400" b="0" i="1">
                              <a:latin typeface="Cambria Math" panose="02040503050406030204" pitchFamily="18" charset="0"/>
                            </a:rPr>
                          </m:ctrlPr>
                        </m:dPr>
                        <m:e>
                          <m:r>
                            <a:rPr lang="zh-CN" altLang="en-US" sz="2400" b="1" i="0">
                              <a:latin typeface="Cambria Math" panose="02040503050406030204" pitchFamily="18" charset="0"/>
                            </a:rPr>
                            <m:t>𝐱</m:t>
                          </m:r>
                        </m:e>
                      </m:d>
                      <m:r>
                        <a:rPr lang="zh-CN" altLang="en-US" sz="2400" b="0" i="1">
                          <a:latin typeface="Cambria Math" panose="02040503050406030204" pitchFamily="18" charset="0"/>
                        </a:rPr>
                        <m:t>𝑑</m:t>
                      </m:r>
                      <m:r>
                        <a:rPr lang="zh-CN" altLang="en-US" sz="2400" b="1" i="0">
                          <a:latin typeface="Cambria Math" panose="02040503050406030204" pitchFamily="18" charset="0"/>
                        </a:rPr>
                        <m:t>𝐱</m:t>
                      </m:r>
                      <m:r>
                        <a:rPr lang="zh-CN" altLang="en-US" sz="2400" b="0" i="0">
                          <a:latin typeface="Cambria Math" panose="02040503050406030204" pitchFamily="18" charset="0"/>
                        </a:rPr>
                        <m:t>+…+</m:t>
                      </m:r>
                      <m:nary>
                        <m:naryPr>
                          <m:limLoc m:val="subSup"/>
                          <m:grow m:val="on"/>
                          <m:supHide m:val="on"/>
                          <m:ctrlPr>
                            <a:rPr lang="zh-CN" altLang="en-US" sz="2400" b="0" i="1">
                              <a:latin typeface="Cambria Math" panose="02040503050406030204" pitchFamily="18" charset="0"/>
                            </a:rPr>
                          </m:ctrlPr>
                        </m:naryPr>
                        <m:sub>
                          <m:sSub>
                            <m:sSubPr>
                              <m:ctrlPr>
                                <a:rPr lang="zh-CN" altLang="en-US" sz="2400" b="0" i="1">
                                  <a:solidFill>
                                    <a:srgbClr val="836967"/>
                                  </a:solidFill>
                                  <a:latin typeface="Cambria Math" panose="02040503050406030204" pitchFamily="18" charset="0"/>
                                </a:rPr>
                              </m:ctrlPr>
                            </m:sSubPr>
                            <m:e>
                              <m:r>
                                <a:rPr lang="zh-CN" altLang="en-US" sz="2400" b="0" i="1">
                                  <a:latin typeface="Cambria Math" panose="02040503050406030204" pitchFamily="18" charset="0"/>
                                </a:rPr>
                                <m:t>𝐶</m:t>
                              </m:r>
                            </m:e>
                            <m:sub>
                              <m:r>
                                <a:rPr lang="zh-CN" altLang="en-US" sz="2400" b="0" i="1">
                                  <a:latin typeface="Cambria Math" panose="02040503050406030204" pitchFamily="18" charset="0"/>
                                </a:rPr>
                                <m:t>𝑚</m:t>
                              </m:r>
                            </m:sub>
                          </m:sSub>
                        </m:sub>
                        <m:sup/>
                        <m:e>
                          <m:r>
                            <a:rPr lang="zh-CN" altLang="en-US" sz="2400" b="0" i="1">
                              <a:latin typeface="Cambria Math" panose="02040503050406030204" pitchFamily="18" charset="0"/>
                            </a:rPr>
                            <m:t>h</m:t>
                          </m:r>
                        </m:e>
                      </m:nary>
                      <m:d>
                        <m:dPr>
                          <m:ctrlPr>
                            <a:rPr lang="zh-CN" altLang="en-US" sz="2400" b="0" i="1">
                              <a:latin typeface="Cambria Math" panose="02040503050406030204" pitchFamily="18" charset="0"/>
                            </a:rPr>
                          </m:ctrlPr>
                        </m:dPr>
                        <m:e>
                          <m:r>
                            <a:rPr lang="zh-CN" altLang="en-US" sz="2400" b="1" i="0">
                              <a:latin typeface="Cambria Math" panose="02040503050406030204" pitchFamily="18" charset="0"/>
                            </a:rPr>
                            <m:t>𝐱</m:t>
                          </m:r>
                        </m:e>
                      </m:d>
                      <m:r>
                        <a:rPr lang="zh-CN" altLang="en-US" sz="2400" b="0" i="1">
                          <a:latin typeface="Cambria Math" panose="02040503050406030204" pitchFamily="18" charset="0"/>
                        </a:rPr>
                        <m:t>𝑑</m:t>
                      </m:r>
                      <m:r>
                        <a:rPr lang="zh-CN" altLang="en-US" sz="2400" b="1" i="0">
                          <a:latin typeface="Cambria Math" panose="02040503050406030204" pitchFamily="18" charset="0"/>
                        </a:rPr>
                        <m:t>𝐱</m:t>
                      </m:r>
                    </m:oMath>
                  </m:oMathPara>
                </a14:m>
                <a:endParaRPr lang="zh-CN" altLang="en-US" dirty="0"/>
              </a:p>
            </p:txBody>
          </p:sp>
        </mc:Choice>
        <mc:Fallback xmlns="">
          <p:sp>
            <p:nvSpPr>
              <p:cNvPr id="10" name="文本框 9">
                <a:extLst>
                  <a:ext uri="{FF2B5EF4-FFF2-40B4-BE49-F238E27FC236}">
                    <a16:creationId xmlns:a16="http://schemas.microsoft.com/office/drawing/2014/main" id="{49F757B8-90F8-44AA-8455-DC9008AD2741}"/>
                  </a:ext>
                </a:extLst>
              </p:cNvPr>
              <p:cNvSpPr txBox="1">
                <a:spLocks noRot="1" noChangeAspect="1" noMove="1" noResize="1" noEditPoints="1" noAdjustHandles="1" noChangeArrowheads="1" noChangeShapeType="1" noTextEdit="1"/>
              </p:cNvSpPr>
              <p:nvPr/>
            </p:nvSpPr>
            <p:spPr>
              <a:xfrm>
                <a:off x="-15875" y="3259567"/>
                <a:ext cx="8525290" cy="895181"/>
              </a:xfrm>
              <a:prstGeom prst="rect">
                <a:avLst/>
              </a:prstGeom>
              <a:blipFill>
                <a:blip r:embed="rId3"/>
                <a:stretch>
                  <a:fillRect/>
                </a:stretch>
              </a:blipFill>
              <a:ln w="25400">
                <a:noFill/>
              </a:ln>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24EDF5EA-5A8F-4EB2-B4A5-80F825C4B8DE}"/>
              </a:ext>
            </a:extLst>
          </p:cNvPr>
          <p:cNvSpPr txBox="1"/>
          <p:nvPr/>
        </p:nvSpPr>
        <p:spPr>
          <a:xfrm>
            <a:off x="-15875" y="4229548"/>
            <a:ext cx="9011620" cy="1569660"/>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在</a:t>
            </a:r>
            <a:r>
              <a:rPr kumimoji="0" lang="en-US" altLang="zh-CN" sz="3200" b="0" i="0" u="none" strike="noStrike" kern="1200" cap="none" spc="0" normalizeH="0" baseline="0" noProof="0" dirty="0" err="1">
                <a:ln>
                  <a:noFill/>
                </a:ln>
                <a:solidFill>
                  <a:srgbClr val="006699"/>
                </a:solidFill>
                <a:effectLst/>
                <a:uLnTx/>
                <a:uFillTx/>
                <a:latin typeface="Verdana" panose="020B0604030504040204" pitchFamily="34" charset="0"/>
                <a:ea typeface="宋体" panose="02010600030101010101" pitchFamily="2" charset="-122"/>
                <a:cs typeface="+mn-cs"/>
              </a:rPr>
              <a:t>C</a:t>
            </a:r>
            <a:r>
              <a:rPr kumimoji="0" lang="en-US" altLang="zh-CN" sz="3200" b="0" i="0" u="none" strike="noStrike" kern="1200" cap="none" spc="0" normalizeH="0" baseline="-25000" noProof="0" dirty="0" err="1">
                <a:ln>
                  <a:noFill/>
                </a:ln>
                <a:solidFill>
                  <a:srgbClr val="006699"/>
                </a:solidFill>
                <a:effectLst/>
                <a:uLnTx/>
                <a:uFillTx/>
                <a:latin typeface="Verdana" panose="020B0604030504040204" pitchFamily="34" charset="0"/>
                <a:ea typeface="宋体" panose="02010600030101010101" pitchFamily="2" charset="-122"/>
                <a:cs typeface="+mn-cs"/>
              </a:rPr>
              <a:t>j</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投</a:t>
            </a:r>
            <a:r>
              <a:rPr kumimoji="0" lang="en-US" altLang="zh-CN" sz="3200" b="0" i="0" u="none" strike="noStrike" kern="1200" cap="none" spc="0" normalizeH="0" baseline="0" noProof="0" dirty="0" err="1">
                <a:ln>
                  <a:noFill/>
                </a:ln>
                <a:solidFill>
                  <a:srgbClr val="006699"/>
                </a:solidFill>
                <a:effectLst/>
                <a:uLnTx/>
                <a:uFillTx/>
                <a:latin typeface="Verdana" panose="020B0604030504040204" pitchFamily="34" charset="0"/>
                <a:ea typeface="宋体" panose="02010600030101010101" pitchFamily="2" charset="-122"/>
                <a:cs typeface="+mn-cs"/>
              </a:rPr>
              <a:t>n</a:t>
            </a:r>
            <a:r>
              <a:rPr kumimoji="0" lang="en-US" altLang="zh-CN" sz="3200" b="0" i="0" u="none" strike="noStrike" kern="1200" cap="none" spc="0" normalizeH="0" baseline="-25000" noProof="0" dirty="0" err="1">
                <a:ln>
                  <a:noFill/>
                </a:ln>
                <a:solidFill>
                  <a:srgbClr val="006699"/>
                </a:solidFill>
                <a:effectLst/>
                <a:uLnTx/>
                <a:uFillTx/>
                <a:latin typeface="Verdana" panose="020B0604030504040204" pitchFamily="34" charset="0"/>
                <a:ea typeface="宋体" panose="02010600030101010101" pitchFamily="2" charset="-122"/>
                <a:cs typeface="+mn-cs"/>
              </a:rPr>
              <a:t>j</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个随机点</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endParaRPr lang="en-US" altLang="zh-CN" sz="3200" dirty="0">
              <a:solidFill>
                <a:srgbClr val="006699"/>
              </a:solidFill>
              <a:latin typeface="Verdana" panose="020B0604030504040204" pitchFamily="34" charset="0"/>
            </a:endParaRPr>
          </a:p>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则</a:t>
            </a:r>
            <a:r>
              <a:rPr kumimoji="0" lang="en-US" altLang="zh-CN" sz="3200" b="0"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I</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a:t>
            </a:r>
            <a:r>
              <a:rPr kumimoji="0" lang="en-US" altLang="zh-CN" sz="3200" b="0"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m</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个部分可以分别用平均值法估计</a:t>
            </a:r>
            <a:endParaRPr lang="zh-CN" altLang="en-US" dirty="0"/>
          </a:p>
        </p:txBody>
      </p:sp>
      <p:pic>
        <p:nvPicPr>
          <p:cNvPr id="9" name="图片 8">
            <a:extLst>
              <a:ext uri="{FF2B5EF4-FFF2-40B4-BE49-F238E27FC236}">
                <a16:creationId xmlns:a16="http://schemas.microsoft.com/office/drawing/2014/main" id="{8ED9766A-E26B-4D0F-ACA8-956420BA1501}"/>
              </a:ext>
            </a:extLst>
          </p:cNvPr>
          <p:cNvPicPr>
            <a:picLocks noChangeAspect="1"/>
          </p:cNvPicPr>
          <p:nvPr/>
        </p:nvPicPr>
        <p:blipFill>
          <a:blip r:embed="rId4"/>
          <a:stretch>
            <a:fillRect/>
          </a:stretch>
        </p:blipFill>
        <p:spPr>
          <a:xfrm>
            <a:off x="3311860" y="4464115"/>
            <a:ext cx="3470446" cy="597688"/>
          </a:xfrm>
          <a:prstGeom prst="rect">
            <a:avLst/>
          </a:prstGeom>
        </p:spPr>
      </p:pic>
    </p:spTree>
    <p:extLst>
      <p:ext uri="{BB962C8B-B14F-4D97-AF65-F5344CB8AC3E}">
        <p14:creationId xmlns:p14="http://schemas.microsoft.com/office/powerpoint/2010/main" val="28239892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3.4 </a:t>
            </a:r>
            <a:r>
              <a:rPr lang="zh-CN" altLang="en-US" sz="3600" b="0" dirty="0">
                <a:latin typeface="+mn-lt"/>
                <a:ea typeface="+mn-ea"/>
              </a:rPr>
              <a:t>分层抽样法</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88</a:t>
            </a:fld>
            <a:endParaRPr lang="zh-CN" altLang="en-US">
              <a:solidFill>
                <a:srgbClr val="898989"/>
              </a:solidFill>
            </a:endParaRPr>
          </a:p>
        </p:txBody>
      </p:sp>
      <p:sp>
        <p:nvSpPr>
          <p:cNvPr id="22" name="文本框 21">
            <a:extLst>
              <a:ext uri="{FF2B5EF4-FFF2-40B4-BE49-F238E27FC236}">
                <a16:creationId xmlns:a16="http://schemas.microsoft.com/office/drawing/2014/main" id="{F7749C0C-2C28-4154-A549-96756BD3E3E8}"/>
              </a:ext>
            </a:extLst>
          </p:cNvPr>
          <p:cNvSpPr txBox="1"/>
          <p:nvPr/>
        </p:nvSpPr>
        <p:spPr>
          <a:xfrm>
            <a:off x="-15875" y="1088740"/>
            <a:ext cx="9144000" cy="584775"/>
          </a:xfrm>
          <a:prstGeom prst="rect">
            <a:avLst/>
          </a:prstGeom>
          <a:noFill/>
          <a:ln w="25400">
            <a:noFill/>
          </a:ln>
        </p:spPr>
        <p:txBody>
          <a:bodyPr wrap="square">
            <a:spAutoFit/>
          </a:bodyPr>
          <a:lstStyle/>
          <a:p>
            <a:pPr marR="0" lvl="0" algn="l" defTabSz="914400" rtl="0" eaLnBrk="0" fontAlgn="base" latinLnBrk="0" hangingPunct="0">
              <a:lnSpc>
                <a:spcPct val="100000"/>
              </a:lnSpc>
              <a:spcBef>
                <a:spcPct val="0"/>
              </a:spcBef>
              <a:spcAft>
                <a:spcPct val="0"/>
              </a:spcAft>
              <a:buClrTx/>
              <a:buSzTx/>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由此得</a:t>
            </a:r>
            <a:r>
              <a:rPr kumimoji="0" lang="en-US" altLang="zh-CN"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I</a:t>
            </a:r>
            <a:r>
              <a:rPr kumimoji="0" lang="zh-CN" altLang="en-US"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的分层估计</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为</a:t>
            </a:r>
            <a:endParaRPr kumimoji="0" lang="en-US" altLang="zh-CN"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sp>
        <p:nvSpPr>
          <p:cNvPr id="12" name="文本框 11">
            <a:extLst>
              <a:ext uri="{FF2B5EF4-FFF2-40B4-BE49-F238E27FC236}">
                <a16:creationId xmlns:a16="http://schemas.microsoft.com/office/drawing/2014/main" id="{24EDF5EA-5A8F-4EB2-B4A5-80F825C4B8DE}"/>
              </a:ext>
            </a:extLst>
          </p:cNvPr>
          <p:cNvSpPr txBox="1"/>
          <p:nvPr/>
        </p:nvSpPr>
        <p:spPr>
          <a:xfrm>
            <a:off x="0" y="3628370"/>
            <a:ext cx="9011620" cy="1569660"/>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记</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r>
              <a:rPr lang="zh-CN" altLang="en-US" sz="3200" dirty="0">
                <a:solidFill>
                  <a:srgbClr val="006699"/>
                </a:solidFill>
                <a:latin typeface="Verdana" panose="020B0604030504040204" pitchFamily="34" charset="0"/>
              </a:rPr>
              <a:t>划分子集时应使每一子集内</a:t>
            </a:r>
            <a:r>
              <a:rPr lang="en-US" altLang="zh-CN" sz="3200" dirty="0">
                <a:solidFill>
                  <a:srgbClr val="006699"/>
                </a:solidFill>
                <a:latin typeface="Verdana" panose="020B0604030504040204" pitchFamily="34" charset="0"/>
              </a:rPr>
              <a:t>h(.)</a:t>
            </a:r>
            <a:r>
              <a:rPr lang="zh-CN" altLang="en-US" sz="3200" dirty="0">
                <a:solidFill>
                  <a:srgbClr val="006699"/>
                </a:solidFill>
                <a:latin typeface="Verdana" panose="020B0604030504040204" pitchFamily="34" charset="0"/>
              </a:rPr>
              <a:t>变化不大，</a:t>
            </a:r>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即     较小，有</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E7A2B42C-CAFD-438F-8055-08DF5F0ED74C}"/>
                  </a:ext>
                </a:extLst>
              </p:cNvPr>
              <p:cNvSpPr txBox="1"/>
              <p:nvPr/>
            </p:nvSpPr>
            <p:spPr>
              <a:xfrm>
                <a:off x="756753" y="1754607"/>
                <a:ext cx="6684344" cy="1893147"/>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smtClean="0">
                              <a:solidFill>
                                <a:srgbClr val="836967"/>
                              </a:solidFill>
                              <a:latin typeface="Cambria Math" panose="02040503050406030204" pitchFamily="18" charset="0"/>
                            </a:rPr>
                          </m:ctrlPr>
                        </m:sSubPr>
                        <m:e>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𝐼</m:t>
                              </m:r>
                            </m:e>
                          </m:acc>
                        </m:e>
                        <m:sub>
                          <m:r>
                            <a:rPr lang="zh-CN" altLang="en-US" sz="3200" i="0">
                              <a:latin typeface="Cambria Math" panose="02040503050406030204" pitchFamily="18" charset="0"/>
                            </a:rPr>
                            <m:t>5</m:t>
                          </m:r>
                        </m:sub>
                      </m:sSub>
                      <m:r>
                        <a:rPr lang="zh-CN" altLang="en-US" sz="3200" i="0">
                          <a:latin typeface="Cambria Math" panose="02040503050406030204" pitchFamily="18" charset="0"/>
                        </a:rPr>
                        <m:t>=</m:t>
                      </m:r>
                      <m:nary>
                        <m:naryPr>
                          <m:chr m:val="∑"/>
                          <m:limLoc m:val="undOvr"/>
                          <m:grow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𝑗</m:t>
                          </m:r>
                          <m:r>
                            <a:rPr lang="zh-CN" altLang="en-US" sz="3200" i="0">
                              <a:latin typeface="Cambria Math" panose="02040503050406030204" pitchFamily="18" charset="0"/>
                            </a:rPr>
                            <m:t>=1</m:t>
                          </m:r>
                        </m:sub>
                        <m:sup>
                          <m:r>
                            <a:rPr lang="zh-CN" altLang="en-US" sz="3200" i="1">
                              <a:latin typeface="Cambria Math" panose="02040503050406030204" pitchFamily="18" charset="0"/>
                            </a:rPr>
                            <m:t>𝑚</m:t>
                          </m:r>
                        </m:sup>
                        <m:e>
                          <m:f>
                            <m:fPr>
                              <m:ctrlPr>
                                <a:rPr lang="zh-CN" altLang="en-US" sz="3200" i="1">
                                  <a:solidFill>
                                    <a:srgbClr val="836967"/>
                                  </a:solidFill>
                                  <a:latin typeface="Cambria Math" panose="02040503050406030204" pitchFamily="18" charset="0"/>
                                </a:rPr>
                              </m:ctrlPr>
                            </m:fPr>
                            <m:num>
                              <m:r>
                                <a:rPr lang="zh-CN" altLang="en-US" sz="3200" i="1">
                                  <a:latin typeface="Cambria Math" panose="02040503050406030204" pitchFamily="18" charset="0"/>
                                </a:rPr>
                                <m:t>𝑉</m:t>
                              </m:r>
                              <m:d>
                                <m:dPr>
                                  <m:ctrlPr>
                                    <a:rPr lang="zh-CN" altLang="en-US" sz="3200" i="1">
                                      <a:latin typeface="Cambria Math" panose="02040503050406030204" pitchFamily="18" charset="0"/>
                                    </a:rPr>
                                  </m:ctrlPr>
                                </m:dPr>
                                <m:e>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𝐶</m:t>
                                      </m:r>
                                    </m:e>
                                    <m:sub>
                                      <m:r>
                                        <a:rPr lang="zh-CN" altLang="en-US" sz="3200" i="1">
                                          <a:latin typeface="Cambria Math" panose="02040503050406030204" pitchFamily="18" charset="0"/>
                                        </a:rPr>
                                        <m:t>𝑗</m:t>
                                      </m:r>
                                    </m:sub>
                                  </m:sSub>
                                </m:e>
                              </m:d>
                            </m:num>
                            <m:den>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𝑛</m:t>
                                  </m:r>
                                </m:e>
                                <m:sub>
                                  <m:r>
                                    <a:rPr lang="zh-CN" altLang="en-US" sz="3200" i="1">
                                      <a:latin typeface="Cambria Math" panose="02040503050406030204" pitchFamily="18" charset="0"/>
                                    </a:rPr>
                                    <m:t>𝑗</m:t>
                                  </m:r>
                                </m:sub>
                              </m:sSub>
                            </m:den>
                          </m:f>
                        </m:e>
                      </m:nary>
                      <m:nary>
                        <m:naryPr>
                          <m:chr m:val="∑"/>
                          <m:limLoc m:val="undOvr"/>
                          <m:grow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𝑖</m:t>
                          </m:r>
                          <m:r>
                            <a:rPr lang="zh-CN" altLang="en-US" sz="3200" i="0">
                              <a:latin typeface="Cambria Math" panose="02040503050406030204" pitchFamily="18" charset="0"/>
                            </a:rPr>
                            <m:t>=1</m:t>
                          </m:r>
                        </m:sub>
                        <m:sup>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𝑛</m:t>
                              </m:r>
                            </m:e>
                            <m:sub>
                              <m:r>
                                <a:rPr lang="zh-CN" altLang="en-US" sz="3200" i="1">
                                  <a:latin typeface="Cambria Math" panose="02040503050406030204" pitchFamily="18" charset="0"/>
                                </a:rPr>
                                <m:t>𝑗</m:t>
                              </m:r>
                            </m:sub>
                          </m:sSub>
                        </m:sup>
                        <m:e>
                          <m:r>
                            <a:rPr lang="zh-CN" altLang="en-US" sz="3200" i="1">
                              <a:latin typeface="Cambria Math" panose="02040503050406030204" pitchFamily="18" charset="0"/>
                            </a:rPr>
                            <m:t>h</m:t>
                          </m:r>
                        </m:e>
                      </m:nary>
                      <m:d>
                        <m:dPr>
                          <m:ctrlPr>
                            <a:rPr lang="zh-CN" altLang="en-US" sz="3200" i="1">
                              <a:latin typeface="Cambria Math" panose="02040503050406030204" pitchFamily="18" charset="0"/>
                            </a:rPr>
                          </m:ctrlPr>
                        </m:dPr>
                        <m:e>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𝑋</m:t>
                              </m:r>
                            </m:e>
                            <m:sub>
                              <m:r>
                                <a:rPr lang="zh-CN" altLang="en-US" sz="3200" i="1">
                                  <a:latin typeface="Cambria Math" panose="02040503050406030204" pitchFamily="18" charset="0"/>
                                </a:rPr>
                                <m:t>𝑗𝑖</m:t>
                              </m:r>
                            </m:sub>
                          </m:sSub>
                        </m:e>
                      </m:d>
                    </m:oMath>
                  </m:oMathPara>
                </a14:m>
                <a:endParaRPr lang="zh-CN" altLang="en-US" dirty="0"/>
              </a:p>
            </p:txBody>
          </p:sp>
        </mc:Choice>
        <mc:Fallback xmlns="">
          <p:sp>
            <p:nvSpPr>
              <p:cNvPr id="11" name="文本框 10">
                <a:extLst>
                  <a:ext uri="{FF2B5EF4-FFF2-40B4-BE49-F238E27FC236}">
                    <a16:creationId xmlns:a16="http://schemas.microsoft.com/office/drawing/2014/main" id="{E7A2B42C-CAFD-438F-8055-08DF5F0ED74C}"/>
                  </a:ext>
                </a:extLst>
              </p:cNvPr>
              <p:cNvSpPr txBox="1">
                <a:spLocks noRot="1" noChangeAspect="1" noMove="1" noResize="1" noEditPoints="1" noAdjustHandles="1" noChangeArrowheads="1" noChangeShapeType="1" noTextEdit="1"/>
              </p:cNvSpPr>
              <p:nvPr/>
            </p:nvSpPr>
            <p:spPr>
              <a:xfrm>
                <a:off x="756753" y="1754607"/>
                <a:ext cx="6684344" cy="1893147"/>
              </a:xfrm>
              <a:prstGeom prst="rect">
                <a:avLst/>
              </a:prstGeom>
              <a:blipFill>
                <a:blip r:embed="rId2"/>
                <a:stretch>
                  <a:fillRect/>
                </a:stretch>
              </a:blipFill>
              <a:ln w="25400">
                <a:noFill/>
              </a:ln>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F668A53A-DAD3-4ED2-87F5-A34C2A18A54B}"/>
              </a:ext>
            </a:extLst>
          </p:cNvPr>
          <p:cNvPicPr>
            <a:picLocks noChangeAspect="1"/>
          </p:cNvPicPr>
          <p:nvPr/>
        </p:nvPicPr>
        <p:blipFill>
          <a:blip r:embed="rId3"/>
          <a:stretch>
            <a:fillRect/>
          </a:stretch>
        </p:blipFill>
        <p:spPr>
          <a:xfrm>
            <a:off x="521550" y="3628946"/>
            <a:ext cx="2503564" cy="584774"/>
          </a:xfrm>
          <a:prstGeom prst="rect">
            <a:avLst/>
          </a:prstGeom>
        </p:spPr>
      </p:pic>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3DCB6EB9-02C4-4F90-AE5E-B24CFB5D02C3}"/>
                  </a:ext>
                </a:extLst>
              </p:cNvPr>
              <p:cNvSpPr txBox="1"/>
              <p:nvPr/>
            </p:nvSpPr>
            <p:spPr>
              <a:xfrm>
                <a:off x="521550" y="4589004"/>
                <a:ext cx="584728" cy="667234"/>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CN" altLang="en-US" sz="3200" i="1" smtClean="0">
                              <a:solidFill>
                                <a:srgbClr val="836967"/>
                              </a:solidFill>
                              <a:latin typeface="Cambria Math" panose="02040503050406030204" pitchFamily="18" charset="0"/>
                            </a:rPr>
                          </m:ctrlPr>
                        </m:sSubSupPr>
                        <m:e>
                          <m:r>
                            <a:rPr lang="zh-CN" altLang="en-US" sz="3200" i="1">
                              <a:latin typeface="Cambria Math" panose="02040503050406030204" pitchFamily="18" charset="0"/>
                            </a:rPr>
                            <m:t>𝜎</m:t>
                          </m:r>
                        </m:e>
                        <m:sub>
                          <m:r>
                            <a:rPr lang="zh-CN" altLang="en-US" sz="3200" i="1">
                              <a:latin typeface="Cambria Math" panose="02040503050406030204" pitchFamily="18" charset="0"/>
                            </a:rPr>
                            <m:t>𝑗</m:t>
                          </m:r>
                        </m:sub>
                        <m:sup>
                          <m:r>
                            <a:rPr lang="zh-CN" altLang="en-US" sz="3200" i="0">
                              <a:latin typeface="Cambria Math" panose="02040503050406030204" pitchFamily="18" charset="0"/>
                            </a:rPr>
                            <m:t>2</m:t>
                          </m:r>
                        </m:sup>
                      </m:sSubSup>
                    </m:oMath>
                  </m:oMathPara>
                </a14:m>
                <a:endParaRPr lang="zh-CN" altLang="en-US" dirty="0"/>
              </a:p>
            </p:txBody>
          </p:sp>
        </mc:Choice>
        <mc:Fallback xmlns="">
          <p:sp>
            <p:nvSpPr>
              <p:cNvPr id="16" name="文本框 15">
                <a:extLst>
                  <a:ext uri="{FF2B5EF4-FFF2-40B4-BE49-F238E27FC236}">
                    <a16:creationId xmlns:a16="http://schemas.microsoft.com/office/drawing/2014/main" id="{3DCB6EB9-02C4-4F90-AE5E-B24CFB5D02C3}"/>
                  </a:ext>
                </a:extLst>
              </p:cNvPr>
              <p:cNvSpPr txBox="1">
                <a:spLocks noRot="1" noChangeAspect="1" noMove="1" noResize="1" noEditPoints="1" noAdjustHandles="1" noChangeArrowheads="1" noChangeShapeType="1" noTextEdit="1"/>
              </p:cNvSpPr>
              <p:nvPr/>
            </p:nvSpPr>
            <p:spPr>
              <a:xfrm>
                <a:off x="521550" y="4589004"/>
                <a:ext cx="584728" cy="667234"/>
              </a:xfrm>
              <a:prstGeom prst="rect">
                <a:avLst/>
              </a:prstGeom>
              <a:blipFill>
                <a:blip r:embed="rId4"/>
                <a:stretch>
                  <a:fillRect/>
                </a:stretch>
              </a:blipFill>
              <a:ln w="25400">
                <a:noFill/>
              </a:ln>
            </p:spPr>
            <p:txBody>
              <a:bodyPr/>
              <a:lstStyle/>
              <a:p>
                <a:r>
                  <a:rPr lang="zh-CN" altLang="en-US">
                    <a:noFill/>
                  </a:rPr>
                  <a:t> </a:t>
                </a:r>
              </a:p>
            </p:txBody>
          </p:sp>
        </mc:Fallback>
      </mc:AlternateContent>
      <p:pic>
        <p:nvPicPr>
          <p:cNvPr id="17" name="图片 16">
            <a:extLst>
              <a:ext uri="{FF2B5EF4-FFF2-40B4-BE49-F238E27FC236}">
                <a16:creationId xmlns:a16="http://schemas.microsoft.com/office/drawing/2014/main" id="{E6534A37-B71B-45F4-9A16-48C060589B57}"/>
              </a:ext>
            </a:extLst>
          </p:cNvPr>
          <p:cNvPicPr>
            <a:picLocks noChangeAspect="1"/>
          </p:cNvPicPr>
          <p:nvPr/>
        </p:nvPicPr>
        <p:blipFill>
          <a:blip r:embed="rId5"/>
          <a:stretch>
            <a:fillRect/>
          </a:stretch>
        </p:blipFill>
        <p:spPr>
          <a:xfrm>
            <a:off x="1863732" y="5234025"/>
            <a:ext cx="3247092" cy="1070470"/>
          </a:xfrm>
          <a:prstGeom prst="rect">
            <a:avLst/>
          </a:prstGeom>
        </p:spPr>
      </p:pic>
    </p:spTree>
    <p:extLst>
      <p:ext uri="{BB962C8B-B14F-4D97-AF65-F5344CB8AC3E}">
        <p14:creationId xmlns:p14="http://schemas.microsoft.com/office/powerpoint/2010/main" val="38243271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3.4 </a:t>
            </a:r>
            <a:r>
              <a:rPr lang="zh-CN" altLang="en-US" sz="3600" b="0" dirty="0">
                <a:latin typeface="+mn-lt"/>
                <a:ea typeface="+mn-ea"/>
              </a:rPr>
              <a:t>分层抽样法</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89</a:t>
            </a:fld>
            <a:endParaRPr lang="zh-CN" altLang="en-US">
              <a:solidFill>
                <a:srgbClr val="898989"/>
              </a:solidFill>
            </a:endParaRPr>
          </a:p>
        </p:txBody>
      </p:sp>
      <p:sp>
        <p:nvSpPr>
          <p:cNvPr id="22" name="文本框 21">
            <a:extLst>
              <a:ext uri="{FF2B5EF4-FFF2-40B4-BE49-F238E27FC236}">
                <a16:creationId xmlns:a16="http://schemas.microsoft.com/office/drawing/2014/main" id="{F7749C0C-2C28-4154-A549-96756BD3E3E8}"/>
              </a:ext>
            </a:extLst>
          </p:cNvPr>
          <p:cNvSpPr txBox="1"/>
          <p:nvPr/>
        </p:nvSpPr>
        <p:spPr>
          <a:xfrm>
            <a:off x="-15875" y="1088740"/>
            <a:ext cx="9144000" cy="584775"/>
          </a:xfrm>
          <a:prstGeom prst="rect">
            <a:avLst/>
          </a:prstGeom>
          <a:noFill/>
          <a:ln w="25400">
            <a:noFill/>
          </a:ln>
        </p:spPr>
        <p:txBody>
          <a:bodyPr wrap="square">
            <a:spAutoFit/>
          </a:bodyPr>
          <a:lstStyle/>
          <a:p>
            <a:pPr marR="0" lvl="0" algn="l" defTabSz="914400" rtl="0" eaLnBrk="0" fontAlgn="base" latinLnBrk="0" hangingPunct="0">
              <a:lnSpc>
                <a:spcPct val="100000"/>
              </a:lnSpc>
              <a:spcBef>
                <a:spcPct val="0"/>
              </a:spcBef>
              <a:spcAft>
                <a:spcPct val="0"/>
              </a:spcAft>
              <a:buClrTx/>
              <a:buSzTx/>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若    可估计， 应取</a:t>
            </a:r>
            <a:r>
              <a:rPr kumimoji="0" lang="en-US" altLang="zh-CN" sz="3200" b="0" i="0" u="none" strike="noStrike" kern="1200" cap="none" spc="0" normalizeH="0" baseline="0" noProof="0" dirty="0" err="1">
                <a:ln>
                  <a:noFill/>
                </a:ln>
                <a:solidFill>
                  <a:srgbClr val="006699"/>
                </a:solidFill>
                <a:effectLst/>
                <a:uLnTx/>
                <a:uFillTx/>
                <a:latin typeface="Verdana" panose="020B0604030504040204" pitchFamily="34" charset="0"/>
                <a:ea typeface="宋体" panose="02010600030101010101" pitchFamily="2" charset="-122"/>
                <a:cs typeface="+mn-cs"/>
              </a:rPr>
              <a:t>n</a:t>
            </a:r>
            <a:r>
              <a:rPr kumimoji="0" lang="en-US" altLang="zh-CN" sz="3200" b="0" i="0" u="none" strike="noStrike" kern="1200" cap="none" spc="0" normalizeH="0" baseline="-25000" noProof="0" dirty="0" err="1">
                <a:ln>
                  <a:noFill/>
                </a:ln>
                <a:solidFill>
                  <a:srgbClr val="006699"/>
                </a:solidFill>
                <a:effectLst/>
                <a:uLnTx/>
                <a:uFillTx/>
                <a:latin typeface="Verdana" panose="020B0604030504040204" pitchFamily="34" charset="0"/>
                <a:ea typeface="宋体" panose="02010600030101010101" pitchFamily="2" charset="-122"/>
                <a:cs typeface="+mn-cs"/>
              </a:rPr>
              <a:t>j</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使</a:t>
            </a:r>
            <a:endParaRPr kumimoji="0" lang="en-US" altLang="zh-CN"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sp>
        <p:nvSpPr>
          <p:cNvPr id="12" name="文本框 11">
            <a:extLst>
              <a:ext uri="{FF2B5EF4-FFF2-40B4-BE49-F238E27FC236}">
                <a16:creationId xmlns:a16="http://schemas.microsoft.com/office/drawing/2014/main" id="{24EDF5EA-5A8F-4EB2-B4A5-80F825C4B8DE}"/>
              </a:ext>
            </a:extLst>
          </p:cNvPr>
          <p:cNvSpPr txBox="1"/>
          <p:nvPr/>
        </p:nvSpPr>
        <p:spPr>
          <a:xfrm>
            <a:off x="0" y="2711381"/>
            <a:ext cx="9011620" cy="584775"/>
          </a:xfrm>
          <a:prstGeom prst="rect">
            <a:avLst/>
          </a:prstGeom>
          <a:noFill/>
          <a:ln w="25400">
            <a:noFill/>
          </a:ln>
        </p:spPr>
        <p:txBody>
          <a:bodyPr wrap="square">
            <a:spAutoFit/>
          </a:bodyPr>
          <a:lstStyle/>
          <a:p>
            <a:r>
              <a:rPr lang="zh-CN" altLang="en-US" sz="3200" dirty="0">
                <a:solidFill>
                  <a:srgbClr val="006699"/>
                </a:solidFill>
                <a:latin typeface="Verdana" panose="020B0604030504040204" pitchFamily="34" charset="0"/>
              </a:rPr>
              <a:t>即</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97AA818A-E0F6-4297-86D2-312AFE5FDD07}"/>
                  </a:ext>
                </a:extLst>
              </p:cNvPr>
              <p:cNvSpPr txBox="1"/>
              <p:nvPr/>
            </p:nvSpPr>
            <p:spPr>
              <a:xfrm>
                <a:off x="481548" y="1068382"/>
                <a:ext cx="550409" cy="667234"/>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CN" altLang="en-US" sz="3200" i="1" smtClean="0">
                              <a:solidFill>
                                <a:srgbClr val="836967"/>
                              </a:solidFill>
                              <a:latin typeface="Cambria Math" panose="02040503050406030204" pitchFamily="18" charset="0"/>
                            </a:rPr>
                          </m:ctrlPr>
                        </m:sSubSupPr>
                        <m:e>
                          <m:r>
                            <a:rPr lang="zh-CN" altLang="en-US" sz="3200" i="1">
                              <a:latin typeface="Cambria Math" panose="02040503050406030204" pitchFamily="18" charset="0"/>
                            </a:rPr>
                            <m:t>𝜎</m:t>
                          </m:r>
                        </m:e>
                        <m:sub>
                          <m:r>
                            <a:rPr lang="zh-CN" altLang="en-US" sz="3200" i="1">
                              <a:latin typeface="Cambria Math" panose="02040503050406030204" pitchFamily="18" charset="0"/>
                            </a:rPr>
                            <m:t>𝑗</m:t>
                          </m:r>
                        </m:sub>
                        <m:sup>
                          <m:r>
                            <a:rPr lang="zh-CN" altLang="en-US" sz="3200" i="0">
                              <a:latin typeface="Cambria Math" panose="02040503050406030204" pitchFamily="18" charset="0"/>
                            </a:rPr>
                            <m:t>2</m:t>
                          </m:r>
                        </m:sup>
                      </m:sSubSup>
                    </m:oMath>
                  </m:oMathPara>
                </a14:m>
                <a:endParaRPr lang="zh-CN" altLang="en-US" dirty="0"/>
              </a:p>
            </p:txBody>
          </p:sp>
        </mc:Choice>
        <mc:Fallback xmlns="">
          <p:sp>
            <p:nvSpPr>
              <p:cNvPr id="13" name="文本框 12">
                <a:extLst>
                  <a:ext uri="{FF2B5EF4-FFF2-40B4-BE49-F238E27FC236}">
                    <a16:creationId xmlns:a16="http://schemas.microsoft.com/office/drawing/2014/main" id="{97AA818A-E0F6-4297-86D2-312AFE5FDD07}"/>
                  </a:ext>
                </a:extLst>
              </p:cNvPr>
              <p:cNvSpPr txBox="1">
                <a:spLocks noRot="1" noChangeAspect="1" noMove="1" noResize="1" noEditPoints="1" noAdjustHandles="1" noChangeArrowheads="1" noChangeShapeType="1" noTextEdit="1"/>
              </p:cNvSpPr>
              <p:nvPr/>
            </p:nvSpPr>
            <p:spPr>
              <a:xfrm>
                <a:off x="481548" y="1068382"/>
                <a:ext cx="550409" cy="667234"/>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FD5B2CEB-7CC8-41AD-8E31-C68FAB3C9FFA}"/>
                  </a:ext>
                </a:extLst>
              </p:cNvPr>
              <p:cNvSpPr txBox="1"/>
              <p:nvPr/>
            </p:nvSpPr>
            <p:spPr>
              <a:xfrm>
                <a:off x="1196625" y="1775521"/>
                <a:ext cx="4690532" cy="659604"/>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smtClean="0">
                              <a:solidFill>
                                <a:srgbClr val="836967"/>
                              </a:solidFill>
                              <a:latin typeface="Cambria Math" panose="02040503050406030204" pitchFamily="18" charset="0"/>
                            </a:rPr>
                          </m:ctrlPr>
                        </m:sSubPr>
                        <m:e>
                          <m:r>
                            <a:rPr lang="zh-CN" altLang="en-US" sz="3200" i="1">
                              <a:latin typeface="Cambria Math" panose="02040503050406030204" pitchFamily="18" charset="0"/>
                            </a:rPr>
                            <m:t>𝑛</m:t>
                          </m:r>
                        </m:e>
                        <m:sub>
                          <m:r>
                            <a:rPr lang="zh-CN" altLang="en-US" sz="3200" i="1">
                              <a:latin typeface="Cambria Math" panose="02040503050406030204" pitchFamily="18" charset="0"/>
                            </a:rPr>
                            <m:t>𝑗</m:t>
                          </m:r>
                        </m:sub>
                      </m:sSub>
                      <m:r>
                        <a:rPr lang="zh-CN" altLang="en-US" sz="3200" i="0">
                          <a:latin typeface="Cambria Math" panose="02040503050406030204" pitchFamily="18" charset="0"/>
                        </a:rPr>
                        <m:t>∝</m:t>
                      </m:r>
                      <m:r>
                        <a:rPr lang="zh-CN" altLang="en-US" sz="3200" i="1">
                          <a:latin typeface="Cambria Math" panose="02040503050406030204" pitchFamily="18" charset="0"/>
                        </a:rPr>
                        <m:t>𝑉</m:t>
                      </m:r>
                      <m:d>
                        <m:dPr>
                          <m:ctrlPr>
                            <a:rPr lang="zh-CN" altLang="en-US" sz="3200" i="1">
                              <a:latin typeface="Cambria Math" panose="02040503050406030204" pitchFamily="18" charset="0"/>
                            </a:rPr>
                          </m:ctrlPr>
                        </m:dPr>
                        <m:e>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𝐶</m:t>
                              </m:r>
                            </m:e>
                            <m:sub>
                              <m:r>
                                <a:rPr lang="zh-CN" altLang="en-US" sz="3200" i="1">
                                  <a:latin typeface="Cambria Math" panose="02040503050406030204" pitchFamily="18" charset="0"/>
                                </a:rPr>
                                <m:t>𝑗</m:t>
                              </m:r>
                            </m:sub>
                          </m:sSub>
                        </m:e>
                      </m:d>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𝜎</m:t>
                          </m:r>
                        </m:e>
                        <m:sub>
                          <m:r>
                            <a:rPr lang="zh-CN" altLang="en-US" sz="3200" i="1">
                              <a:latin typeface="Cambria Math" panose="02040503050406030204" pitchFamily="18" charset="0"/>
                            </a:rPr>
                            <m:t>𝑗</m:t>
                          </m:r>
                        </m:sub>
                      </m:sSub>
                    </m:oMath>
                  </m:oMathPara>
                </a14:m>
                <a:endParaRPr lang="zh-CN" altLang="en-US" dirty="0"/>
              </a:p>
            </p:txBody>
          </p:sp>
        </mc:Choice>
        <mc:Fallback xmlns="">
          <p:sp>
            <p:nvSpPr>
              <p:cNvPr id="14" name="文本框 13">
                <a:extLst>
                  <a:ext uri="{FF2B5EF4-FFF2-40B4-BE49-F238E27FC236}">
                    <a16:creationId xmlns:a16="http://schemas.microsoft.com/office/drawing/2014/main" id="{FD5B2CEB-7CC8-41AD-8E31-C68FAB3C9FFA}"/>
                  </a:ext>
                </a:extLst>
              </p:cNvPr>
              <p:cNvSpPr txBox="1">
                <a:spLocks noRot="1" noChangeAspect="1" noMove="1" noResize="1" noEditPoints="1" noAdjustHandles="1" noChangeArrowheads="1" noChangeShapeType="1" noTextEdit="1"/>
              </p:cNvSpPr>
              <p:nvPr/>
            </p:nvSpPr>
            <p:spPr>
              <a:xfrm>
                <a:off x="1196625" y="1775521"/>
                <a:ext cx="4690532" cy="659604"/>
              </a:xfrm>
              <a:prstGeom prst="rect">
                <a:avLst/>
              </a:prstGeom>
              <a:blipFill>
                <a:blip r:embed="rId3"/>
                <a:stretch>
                  <a:fillRect/>
                </a:stretch>
              </a:blipFill>
              <a:ln w="25400">
                <a:noFill/>
              </a:ln>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29D8DA57-75AF-413B-94B4-90E4AC47050F}"/>
              </a:ext>
            </a:extLst>
          </p:cNvPr>
          <p:cNvSpPr txBox="1"/>
          <p:nvPr/>
        </p:nvSpPr>
        <p:spPr>
          <a:xfrm>
            <a:off x="6957265" y="1976442"/>
            <a:ext cx="1548343"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(13.1)</a:t>
            </a:r>
            <a:endParaRPr lang="zh-CN" altLang="en-US" dirty="0"/>
          </a:p>
        </p:txBody>
      </p:sp>
      <p:pic>
        <p:nvPicPr>
          <p:cNvPr id="8" name="图片 7">
            <a:extLst>
              <a:ext uri="{FF2B5EF4-FFF2-40B4-BE49-F238E27FC236}">
                <a16:creationId xmlns:a16="http://schemas.microsoft.com/office/drawing/2014/main" id="{C1A6FF6B-FD53-4CC4-8D2E-5379EE54EB22}"/>
              </a:ext>
            </a:extLst>
          </p:cNvPr>
          <p:cNvPicPr>
            <a:picLocks noChangeAspect="1"/>
          </p:cNvPicPr>
          <p:nvPr/>
        </p:nvPicPr>
        <p:blipFill>
          <a:blip r:embed="rId4"/>
          <a:stretch>
            <a:fillRect/>
          </a:stretch>
        </p:blipFill>
        <p:spPr>
          <a:xfrm>
            <a:off x="647583" y="2711381"/>
            <a:ext cx="5148380" cy="1622641"/>
          </a:xfrm>
          <a:prstGeom prst="rect">
            <a:avLst/>
          </a:prstGeom>
        </p:spPr>
      </p:pic>
      <p:sp>
        <p:nvSpPr>
          <p:cNvPr id="20" name="文本框 19">
            <a:extLst>
              <a:ext uri="{FF2B5EF4-FFF2-40B4-BE49-F238E27FC236}">
                <a16:creationId xmlns:a16="http://schemas.microsoft.com/office/drawing/2014/main" id="{904D90BE-22EE-4D81-B42B-E398A9FD1292}"/>
              </a:ext>
            </a:extLst>
          </p:cNvPr>
          <p:cNvSpPr txBox="1"/>
          <p:nvPr/>
        </p:nvSpPr>
        <p:spPr>
          <a:xfrm>
            <a:off x="-15952" y="4524957"/>
            <a:ext cx="8879240" cy="1569660"/>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这样取的样本量</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在所有满足</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的取法中使得渐近方差最小。</a:t>
            </a:r>
            <a:endParaRPr lang="zh-CN" altLang="en-US" dirty="0"/>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437EDC55-6025-414A-BC2D-171B0C446F7C}"/>
                  </a:ext>
                </a:extLst>
              </p:cNvPr>
              <p:cNvSpPr txBox="1"/>
              <p:nvPr/>
            </p:nvSpPr>
            <p:spPr>
              <a:xfrm>
                <a:off x="2878615" y="4524957"/>
                <a:ext cx="2440619" cy="523220"/>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d>
                        <m:dPr>
                          <m:sepChr m:val=","/>
                          <m:ctrlPr>
                            <a:rPr lang="zh-CN" altLang="en-US" sz="2800" i="1" smtClean="0">
                              <a:solidFill>
                                <a:srgbClr val="836967"/>
                              </a:solidFill>
                              <a:latin typeface="Cambria Math" panose="02040503050406030204" pitchFamily="18" charset="0"/>
                            </a:rPr>
                          </m:ctrlPr>
                        </m:dPr>
                        <m:e>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𝑛</m:t>
                              </m:r>
                            </m:e>
                            <m:sub>
                              <m:r>
                                <a:rPr lang="zh-CN" altLang="en-US" sz="2800" i="0">
                                  <a:latin typeface="Cambria Math" panose="02040503050406030204" pitchFamily="18" charset="0"/>
                                </a:rPr>
                                <m:t>1</m:t>
                              </m:r>
                            </m:sub>
                          </m:sSub>
                        </m:e>
                        <m:e>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𝑛</m:t>
                              </m:r>
                            </m:e>
                            <m:sub>
                              <m:r>
                                <a:rPr lang="zh-CN" altLang="en-US" sz="2800" i="0">
                                  <a:latin typeface="Cambria Math" panose="02040503050406030204" pitchFamily="18" charset="0"/>
                                </a:rPr>
                                <m:t>2</m:t>
                              </m:r>
                            </m:sub>
                          </m:sSub>
                        </m:e>
                        <m:e>
                          <m:r>
                            <a:rPr lang="zh-CN" altLang="en-US" sz="2800" i="0">
                              <a:latin typeface="Cambria Math" panose="02040503050406030204" pitchFamily="18" charset="0"/>
                            </a:rPr>
                            <m:t>…</m:t>
                          </m:r>
                        </m:e>
                        <m:e>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𝑛</m:t>
                              </m:r>
                            </m:e>
                            <m:sub>
                              <m:r>
                                <a:rPr lang="zh-CN" altLang="en-US" sz="2800" i="1">
                                  <a:latin typeface="Cambria Math" panose="02040503050406030204" pitchFamily="18" charset="0"/>
                                </a:rPr>
                                <m:t>𝑚</m:t>
                              </m:r>
                            </m:sub>
                          </m:sSub>
                        </m:e>
                      </m:d>
                    </m:oMath>
                  </m:oMathPara>
                </a14:m>
                <a:endParaRPr lang="zh-CN" altLang="en-US" dirty="0"/>
              </a:p>
            </p:txBody>
          </p:sp>
        </mc:Choice>
        <mc:Fallback xmlns="">
          <p:sp>
            <p:nvSpPr>
              <p:cNvPr id="23" name="文本框 22">
                <a:extLst>
                  <a:ext uri="{FF2B5EF4-FFF2-40B4-BE49-F238E27FC236}">
                    <a16:creationId xmlns:a16="http://schemas.microsoft.com/office/drawing/2014/main" id="{437EDC55-6025-414A-BC2D-171B0C446F7C}"/>
                  </a:ext>
                </a:extLst>
              </p:cNvPr>
              <p:cNvSpPr txBox="1">
                <a:spLocks noRot="1" noChangeAspect="1" noMove="1" noResize="1" noEditPoints="1" noAdjustHandles="1" noChangeArrowheads="1" noChangeShapeType="1" noTextEdit="1"/>
              </p:cNvSpPr>
              <p:nvPr/>
            </p:nvSpPr>
            <p:spPr>
              <a:xfrm>
                <a:off x="2878615" y="4524957"/>
                <a:ext cx="2440619" cy="523220"/>
              </a:xfrm>
              <a:prstGeom prst="rect">
                <a:avLst/>
              </a:prstGeom>
              <a:blipFill>
                <a:blip r:embed="rId5"/>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99A28875-D5AD-49CB-98D1-3B1EAA9C3BE6}"/>
                  </a:ext>
                </a:extLst>
              </p:cNvPr>
              <p:cNvSpPr txBox="1"/>
              <p:nvPr/>
            </p:nvSpPr>
            <p:spPr>
              <a:xfrm>
                <a:off x="2095204" y="5024957"/>
                <a:ext cx="3700759" cy="523220"/>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800" i="1" smtClean="0">
                              <a:solidFill>
                                <a:srgbClr val="836967"/>
                              </a:solidFill>
                              <a:latin typeface="Cambria Math" panose="02040503050406030204" pitchFamily="18" charset="0"/>
                            </a:rPr>
                          </m:ctrlPr>
                        </m:sSubPr>
                        <m:e>
                          <m:r>
                            <a:rPr lang="zh-CN" altLang="en-US" sz="2800" i="1">
                              <a:latin typeface="Cambria Math" panose="02040503050406030204" pitchFamily="18" charset="0"/>
                            </a:rPr>
                            <m:t>𝑛</m:t>
                          </m:r>
                        </m:e>
                        <m:sub>
                          <m:r>
                            <a:rPr lang="zh-CN" altLang="en-US" sz="2800" i="0">
                              <a:latin typeface="Cambria Math" panose="02040503050406030204" pitchFamily="18" charset="0"/>
                            </a:rPr>
                            <m:t>1</m:t>
                          </m:r>
                        </m:sub>
                      </m:sSub>
                      <m:r>
                        <a:rPr lang="zh-CN" altLang="en-US" sz="2800" i="0">
                          <a:latin typeface="Cambria Math" panose="02040503050406030204" pitchFamily="18" charset="0"/>
                        </a:rPr>
                        <m:t>+</m:t>
                      </m:r>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𝑛</m:t>
                          </m:r>
                        </m:e>
                        <m:sub>
                          <m:r>
                            <a:rPr lang="zh-CN" altLang="en-US" sz="2800" i="0">
                              <a:latin typeface="Cambria Math" panose="02040503050406030204" pitchFamily="18" charset="0"/>
                            </a:rPr>
                            <m:t>2</m:t>
                          </m:r>
                        </m:sub>
                      </m:sSub>
                      <m:r>
                        <a:rPr lang="zh-CN" altLang="en-US" sz="2800" i="0">
                          <a:latin typeface="Cambria Math" panose="02040503050406030204" pitchFamily="18" charset="0"/>
                        </a:rPr>
                        <m:t>+…+</m:t>
                      </m:r>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𝑛</m:t>
                          </m:r>
                        </m:e>
                        <m:sub>
                          <m:r>
                            <a:rPr lang="zh-CN" altLang="en-US" sz="2800" i="1">
                              <a:latin typeface="Cambria Math" panose="02040503050406030204" pitchFamily="18" charset="0"/>
                            </a:rPr>
                            <m:t>𝑚</m:t>
                          </m:r>
                        </m:sub>
                      </m:sSub>
                      <m:r>
                        <a:rPr lang="zh-CN" altLang="en-US" sz="2800" i="0">
                          <a:latin typeface="Cambria Math" panose="02040503050406030204" pitchFamily="18" charset="0"/>
                        </a:rPr>
                        <m:t>=</m:t>
                      </m:r>
                      <m:r>
                        <a:rPr lang="zh-CN" altLang="en-US" sz="2800" i="1">
                          <a:latin typeface="Cambria Math" panose="02040503050406030204" pitchFamily="18" charset="0"/>
                        </a:rPr>
                        <m:t>𝑁</m:t>
                      </m:r>
                    </m:oMath>
                  </m:oMathPara>
                </a14:m>
                <a:endParaRPr lang="zh-CN" altLang="en-US" dirty="0"/>
              </a:p>
            </p:txBody>
          </p:sp>
        </mc:Choice>
        <mc:Fallback xmlns="">
          <p:sp>
            <p:nvSpPr>
              <p:cNvPr id="24" name="文本框 23">
                <a:extLst>
                  <a:ext uri="{FF2B5EF4-FFF2-40B4-BE49-F238E27FC236}">
                    <a16:creationId xmlns:a16="http://schemas.microsoft.com/office/drawing/2014/main" id="{99A28875-D5AD-49CB-98D1-3B1EAA9C3BE6}"/>
                  </a:ext>
                </a:extLst>
              </p:cNvPr>
              <p:cNvSpPr txBox="1">
                <a:spLocks noRot="1" noChangeAspect="1" noMove="1" noResize="1" noEditPoints="1" noAdjustHandles="1" noChangeArrowheads="1" noChangeShapeType="1" noTextEdit="1"/>
              </p:cNvSpPr>
              <p:nvPr/>
            </p:nvSpPr>
            <p:spPr>
              <a:xfrm>
                <a:off x="2095204" y="5024957"/>
                <a:ext cx="3700759" cy="523220"/>
              </a:xfrm>
              <a:prstGeom prst="rect">
                <a:avLst/>
              </a:prstGeom>
              <a:blipFill>
                <a:blip r:embed="rId6"/>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26994923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3.4 </a:t>
            </a:r>
            <a:r>
              <a:rPr lang="zh-CN" altLang="en-US" sz="3600" b="0" dirty="0">
                <a:latin typeface="+mn-lt"/>
                <a:ea typeface="+mn-ea"/>
              </a:rPr>
              <a:t>分层抽样法</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90</a:t>
            </a:fld>
            <a:endParaRPr lang="zh-CN" altLang="en-US">
              <a:solidFill>
                <a:srgbClr val="898989"/>
              </a:solidFill>
            </a:endParaRPr>
          </a:p>
        </p:txBody>
      </p:sp>
      <p:sp>
        <p:nvSpPr>
          <p:cNvPr id="22" name="文本框 21">
            <a:extLst>
              <a:ext uri="{FF2B5EF4-FFF2-40B4-BE49-F238E27FC236}">
                <a16:creationId xmlns:a16="http://schemas.microsoft.com/office/drawing/2014/main" id="{F7749C0C-2C28-4154-A549-96756BD3E3E8}"/>
              </a:ext>
            </a:extLst>
          </p:cNvPr>
          <p:cNvSpPr txBox="1"/>
          <p:nvPr/>
        </p:nvSpPr>
        <p:spPr>
          <a:xfrm>
            <a:off x="-15875" y="1088740"/>
            <a:ext cx="9144000" cy="584775"/>
          </a:xfrm>
          <a:prstGeom prst="rect">
            <a:avLst/>
          </a:prstGeom>
          <a:noFill/>
          <a:ln w="25400">
            <a:noFill/>
          </a:ln>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求随机变量函数期望</a:t>
            </a:r>
            <a:endParaRPr kumimoji="0" lang="en-US" altLang="zh-CN"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sp>
        <p:nvSpPr>
          <p:cNvPr id="12" name="文本框 11">
            <a:extLst>
              <a:ext uri="{FF2B5EF4-FFF2-40B4-BE49-F238E27FC236}">
                <a16:creationId xmlns:a16="http://schemas.microsoft.com/office/drawing/2014/main" id="{24EDF5EA-5A8F-4EB2-B4A5-80F825C4B8DE}"/>
              </a:ext>
            </a:extLst>
          </p:cNvPr>
          <p:cNvSpPr txBox="1"/>
          <p:nvPr/>
        </p:nvSpPr>
        <p:spPr>
          <a:xfrm>
            <a:off x="50315" y="1815037"/>
            <a:ext cx="9011620" cy="584775"/>
          </a:xfrm>
          <a:prstGeom prst="rect">
            <a:avLst/>
          </a:prstGeom>
          <a:noFill/>
          <a:ln w="25400">
            <a:noFill/>
          </a:ln>
        </p:spPr>
        <p:txBody>
          <a:bodyPr wrap="square">
            <a:spAutoFit/>
          </a:bodyPr>
          <a:lstStyle/>
          <a:p>
            <a:r>
              <a:rPr lang="zh-CN" altLang="en-US" sz="3200" dirty="0">
                <a:solidFill>
                  <a:srgbClr val="006699"/>
                </a:solidFill>
                <a:latin typeface="Verdana" panose="020B0604030504040204" pitchFamily="34" charset="0"/>
              </a:rPr>
              <a:t>设</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为随机变量，求</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的函数</a:t>
            </a:r>
            <a:r>
              <a:rPr lang="en-US" altLang="zh-CN" sz="3200" dirty="0">
                <a:solidFill>
                  <a:srgbClr val="006699"/>
                </a:solidFill>
                <a:latin typeface="Verdana" panose="020B0604030504040204" pitchFamily="34" charset="0"/>
              </a:rPr>
              <a:t>h(X)</a:t>
            </a:r>
            <a:r>
              <a:rPr lang="zh-CN" altLang="en-US" sz="3200" dirty="0">
                <a:solidFill>
                  <a:srgbClr val="006699"/>
                </a:solidFill>
                <a:latin typeface="Verdana" panose="020B0604030504040204" pitchFamily="34" charset="0"/>
              </a:rPr>
              <a:t>的数学期望</a:t>
            </a:r>
          </a:p>
        </p:txBody>
      </p:sp>
      <p:sp>
        <p:nvSpPr>
          <p:cNvPr id="15" name="文本框 14">
            <a:extLst>
              <a:ext uri="{FF2B5EF4-FFF2-40B4-BE49-F238E27FC236}">
                <a16:creationId xmlns:a16="http://schemas.microsoft.com/office/drawing/2014/main" id="{29D8DA57-75AF-413B-94B4-90E4AC47050F}"/>
              </a:ext>
            </a:extLst>
          </p:cNvPr>
          <p:cNvSpPr txBox="1"/>
          <p:nvPr/>
        </p:nvSpPr>
        <p:spPr>
          <a:xfrm>
            <a:off x="50315" y="4543224"/>
            <a:ext cx="8812973"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在</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Y=</a:t>
            </a:r>
            <a:r>
              <a:rPr kumimoji="0" lang="en-US" altLang="zh-CN" sz="3200" b="0" i="0" u="none" strike="noStrike" kern="1200" cap="none" spc="0" normalizeH="0" baseline="0" noProof="0" dirty="0" err="1">
                <a:ln>
                  <a:noFill/>
                </a:ln>
                <a:solidFill>
                  <a:srgbClr val="006699"/>
                </a:solidFill>
                <a:effectLst/>
                <a:uLnTx/>
                <a:uFillTx/>
                <a:latin typeface="Verdana" panose="020B0604030504040204" pitchFamily="34" charset="0"/>
                <a:ea typeface="宋体" panose="02010600030101010101" pitchFamily="2" charset="-122"/>
                <a:cs typeface="+mn-cs"/>
              </a:rPr>
              <a:t>y</a:t>
            </a:r>
            <a:r>
              <a:rPr kumimoji="0" lang="en-US" altLang="zh-CN" sz="3200" b="0" i="0" u="none" strike="noStrike" kern="1200" cap="none" spc="0" normalizeH="0" baseline="-25000" noProof="0" dirty="0" err="1">
                <a:ln>
                  <a:noFill/>
                </a:ln>
                <a:solidFill>
                  <a:srgbClr val="006699"/>
                </a:solidFill>
                <a:effectLst/>
                <a:uLnTx/>
                <a:uFillTx/>
                <a:latin typeface="Verdana" panose="020B0604030504040204" pitchFamily="34" charset="0"/>
                <a:ea typeface="宋体" panose="02010600030101010101" pitchFamily="2" charset="-122"/>
                <a:cs typeface="+mn-cs"/>
              </a:rPr>
              <a:t>j</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条件下可以从</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X</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的条件分布抽样， 则</a:t>
            </a:r>
            <a:endParaRPr lang="zh-CN" altLang="en-US" dirty="0"/>
          </a:p>
        </p:txBody>
      </p:sp>
      <p:sp>
        <p:nvSpPr>
          <p:cNvPr id="20" name="文本框 19">
            <a:extLst>
              <a:ext uri="{FF2B5EF4-FFF2-40B4-BE49-F238E27FC236}">
                <a16:creationId xmlns:a16="http://schemas.microsoft.com/office/drawing/2014/main" id="{904D90BE-22EE-4D81-B42B-E398A9FD1292}"/>
              </a:ext>
            </a:extLst>
          </p:cNvPr>
          <p:cNvSpPr txBox="1"/>
          <p:nvPr/>
        </p:nvSpPr>
        <p:spPr>
          <a:xfrm>
            <a:off x="50315" y="2987560"/>
            <a:ext cx="8879240"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假设存在离散型随机变量</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Y</a:t>
            </a:r>
            <a:endParaRPr lang="zh-CN" altLang="en-US" dirty="0"/>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EB11DB7-0AFB-4CA3-86AA-79B229EC89E4}"/>
                  </a:ext>
                </a:extLst>
              </p:cNvPr>
              <p:cNvSpPr txBox="1"/>
              <p:nvPr/>
            </p:nvSpPr>
            <p:spPr>
              <a:xfrm>
                <a:off x="1867636" y="2443700"/>
                <a:ext cx="4690532"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𝜃</m:t>
                      </m:r>
                      <m:r>
                        <a:rPr lang="zh-CN" altLang="en-US" sz="3200" i="0">
                          <a:latin typeface="Cambria Math" panose="02040503050406030204" pitchFamily="18" charset="0"/>
                        </a:rPr>
                        <m:t>=</m:t>
                      </m:r>
                      <m:r>
                        <a:rPr lang="zh-CN" altLang="en-US" sz="3200" i="1">
                          <a:latin typeface="Cambria Math" panose="02040503050406030204" pitchFamily="18" charset="0"/>
                        </a:rPr>
                        <m:t>𝐸h</m:t>
                      </m:r>
                      <m:d>
                        <m:dPr>
                          <m:ctrlPr>
                            <a:rPr lang="zh-CN" altLang="en-US" sz="3200" i="1">
                              <a:latin typeface="Cambria Math" panose="02040503050406030204" pitchFamily="18" charset="0"/>
                            </a:rPr>
                          </m:ctrlPr>
                        </m:dPr>
                        <m:e>
                          <m:r>
                            <a:rPr lang="zh-CN" altLang="en-US" sz="3200" i="1">
                              <a:latin typeface="Cambria Math" panose="02040503050406030204" pitchFamily="18" charset="0"/>
                            </a:rPr>
                            <m:t>𝑋</m:t>
                          </m:r>
                        </m:e>
                      </m:d>
                    </m:oMath>
                  </m:oMathPara>
                </a14:m>
                <a:endParaRPr lang="zh-CN" altLang="en-US" dirty="0"/>
              </a:p>
            </p:txBody>
          </p:sp>
        </mc:Choice>
        <mc:Fallback xmlns="">
          <p:sp>
            <p:nvSpPr>
              <p:cNvPr id="16" name="文本框 15">
                <a:extLst>
                  <a:ext uri="{FF2B5EF4-FFF2-40B4-BE49-F238E27FC236}">
                    <a16:creationId xmlns:a16="http://schemas.microsoft.com/office/drawing/2014/main" id="{DEB11DB7-0AFB-4CA3-86AA-79B229EC89E4}"/>
                  </a:ext>
                </a:extLst>
              </p:cNvPr>
              <p:cNvSpPr txBox="1">
                <a:spLocks noRot="1" noChangeAspect="1" noMove="1" noResize="1" noEditPoints="1" noAdjustHandles="1" noChangeArrowheads="1" noChangeShapeType="1" noTextEdit="1"/>
              </p:cNvSpPr>
              <p:nvPr/>
            </p:nvSpPr>
            <p:spPr>
              <a:xfrm>
                <a:off x="1867636" y="2443700"/>
                <a:ext cx="4690532" cy="584775"/>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B8309D55-BE9C-42FE-8DE5-A32B7894795B}"/>
                  </a:ext>
                </a:extLst>
              </p:cNvPr>
              <p:cNvSpPr txBox="1"/>
              <p:nvPr/>
            </p:nvSpPr>
            <p:spPr>
              <a:xfrm>
                <a:off x="1325943" y="3632147"/>
                <a:ext cx="5545964" cy="659604"/>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smtClean="0">
                              <a:solidFill>
                                <a:srgbClr val="836967"/>
                              </a:solidFill>
                              <a:latin typeface="Cambria Math" panose="02040503050406030204" pitchFamily="18" charset="0"/>
                            </a:rPr>
                          </m:ctrlPr>
                        </m:sSubPr>
                        <m:e>
                          <m:r>
                            <a:rPr lang="zh-CN" altLang="en-US" sz="3200" i="1">
                              <a:latin typeface="Cambria Math" panose="02040503050406030204" pitchFamily="18" charset="0"/>
                            </a:rPr>
                            <m:t>𝑝</m:t>
                          </m:r>
                        </m:e>
                        <m:sub>
                          <m:r>
                            <a:rPr lang="zh-CN" altLang="en-US" sz="3200" i="1">
                              <a:latin typeface="Cambria Math" panose="02040503050406030204" pitchFamily="18" charset="0"/>
                            </a:rPr>
                            <m:t>𝑗</m:t>
                          </m:r>
                        </m:sub>
                      </m:sSub>
                      <m:r>
                        <a:rPr lang="zh-CN" altLang="en-US" sz="3200" i="0">
                          <a:latin typeface="Cambria Math" panose="02040503050406030204" pitchFamily="18" charset="0"/>
                        </a:rPr>
                        <m:t>=</m:t>
                      </m:r>
                      <m:r>
                        <a:rPr lang="zh-CN" altLang="en-US" sz="3200" i="1">
                          <a:latin typeface="Cambria Math" panose="02040503050406030204" pitchFamily="18" charset="0"/>
                        </a:rPr>
                        <m:t>𝑃</m:t>
                      </m:r>
                      <m:d>
                        <m:dPr>
                          <m:ctrlPr>
                            <a:rPr lang="zh-CN" altLang="en-US" sz="3200" i="1">
                              <a:latin typeface="Cambria Math" panose="02040503050406030204" pitchFamily="18" charset="0"/>
                            </a:rPr>
                          </m:ctrlPr>
                        </m:dPr>
                        <m:e>
                          <m:r>
                            <a:rPr lang="zh-CN" altLang="en-US" sz="3200" i="1">
                              <a:latin typeface="Cambria Math" panose="02040503050406030204" pitchFamily="18" charset="0"/>
                            </a:rPr>
                            <m:t>𝑌</m:t>
                          </m:r>
                          <m:r>
                            <a:rPr lang="zh-CN" altLang="en-US" sz="3200" i="0">
                              <a:latin typeface="Cambria Math" panose="02040503050406030204" pitchFamily="18" charset="0"/>
                            </a:rPr>
                            <m:t>=</m:t>
                          </m:r>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𝑦</m:t>
                              </m:r>
                            </m:e>
                            <m:sub>
                              <m:r>
                                <a:rPr lang="zh-CN" altLang="en-US" sz="3200" i="1">
                                  <a:latin typeface="Cambria Math" panose="02040503050406030204" pitchFamily="18" charset="0"/>
                                </a:rPr>
                                <m:t>𝑗</m:t>
                              </m:r>
                            </m:sub>
                          </m:sSub>
                        </m:e>
                      </m:d>
                      <m:r>
                        <a:rPr lang="zh-CN" altLang="en-US" sz="3200" i="0">
                          <a:latin typeface="Cambria Math" panose="02040503050406030204" pitchFamily="18" charset="0"/>
                        </a:rPr>
                        <m:t>,</m:t>
                      </m:r>
                      <m:r>
                        <a:rPr lang="zh-CN" altLang="en-US" sz="3200" i="1">
                          <a:latin typeface="Cambria Math" panose="02040503050406030204" pitchFamily="18" charset="0"/>
                        </a:rPr>
                        <m:t>𝑗</m:t>
                      </m:r>
                      <m:r>
                        <a:rPr lang="zh-CN" altLang="en-US" sz="3200" i="0">
                          <a:latin typeface="Cambria Math" panose="02040503050406030204" pitchFamily="18" charset="0"/>
                        </a:rPr>
                        <m:t>=1,2,…,</m:t>
                      </m:r>
                      <m:r>
                        <a:rPr lang="zh-CN" altLang="en-US" sz="3200" i="1">
                          <a:latin typeface="Cambria Math" panose="02040503050406030204" pitchFamily="18" charset="0"/>
                        </a:rPr>
                        <m:t>𝑚</m:t>
                      </m:r>
                    </m:oMath>
                  </m:oMathPara>
                </a14:m>
                <a:endParaRPr lang="zh-CN" altLang="en-US" dirty="0"/>
              </a:p>
            </p:txBody>
          </p:sp>
        </mc:Choice>
        <mc:Fallback xmlns="">
          <p:sp>
            <p:nvSpPr>
              <p:cNvPr id="17" name="文本框 16">
                <a:extLst>
                  <a:ext uri="{FF2B5EF4-FFF2-40B4-BE49-F238E27FC236}">
                    <a16:creationId xmlns:a16="http://schemas.microsoft.com/office/drawing/2014/main" id="{B8309D55-BE9C-42FE-8DE5-A32B7894795B}"/>
                  </a:ext>
                </a:extLst>
              </p:cNvPr>
              <p:cNvSpPr txBox="1">
                <a:spLocks noRot="1" noChangeAspect="1" noMove="1" noResize="1" noEditPoints="1" noAdjustHandles="1" noChangeArrowheads="1" noChangeShapeType="1" noTextEdit="1"/>
              </p:cNvSpPr>
              <p:nvPr/>
            </p:nvSpPr>
            <p:spPr>
              <a:xfrm>
                <a:off x="1325943" y="3632147"/>
                <a:ext cx="5545964" cy="659604"/>
              </a:xfrm>
              <a:prstGeom prst="rect">
                <a:avLst/>
              </a:prstGeom>
              <a:blipFill>
                <a:blip r:embed="rId3"/>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5D9D4BA3-C7F7-4A85-9FD2-FB6E8969777F}"/>
                  </a:ext>
                </a:extLst>
              </p:cNvPr>
              <p:cNvSpPr txBox="1"/>
              <p:nvPr/>
            </p:nvSpPr>
            <p:spPr>
              <a:xfrm>
                <a:off x="-242890" y="5057407"/>
                <a:ext cx="9093685" cy="1317348"/>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𝐸</m:t>
                      </m:r>
                      <m:d>
                        <m:dPr>
                          <m:begChr m:val="["/>
                          <m:endChr m:val="]"/>
                          <m:ctrlPr>
                            <a:rPr lang="zh-CN" altLang="en-US" sz="2800" i="1">
                              <a:latin typeface="Cambria Math" panose="02040503050406030204" pitchFamily="18" charset="0"/>
                            </a:rPr>
                          </m:ctrlPr>
                        </m:dPr>
                        <m:e>
                          <m:r>
                            <a:rPr lang="zh-CN" altLang="en-US" sz="2800" i="1">
                              <a:latin typeface="Cambria Math" panose="02040503050406030204" pitchFamily="18" charset="0"/>
                            </a:rPr>
                            <m:t>h</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𝑋</m:t>
                              </m:r>
                            </m:e>
                          </m:d>
                        </m:e>
                      </m:d>
                      <m:r>
                        <a:rPr lang="zh-CN" altLang="en-US" sz="2800" i="0">
                          <a:latin typeface="Cambria Math" panose="02040503050406030204" pitchFamily="18" charset="0"/>
                        </a:rPr>
                        <m:t>=</m:t>
                      </m:r>
                      <m:r>
                        <a:rPr lang="zh-CN" altLang="en-US" sz="2800" i="1">
                          <a:latin typeface="Cambria Math" panose="02040503050406030204" pitchFamily="18" charset="0"/>
                        </a:rPr>
                        <m:t>𝐸</m:t>
                      </m:r>
                      <m:d>
                        <m:dPr>
                          <m:begChr m:val="{"/>
                          <m:endChr m:val="}"/>
                          <m:ctrlPr>
                            <a:rPr lang="zh-CN" altLang="en-US" sz="2800" i="1">
                              <a:latin typeface="Cambria Math" panose="02040503050406030204" pitchFamily="18" charset="0"/>
                            </a:rPr>
                          </m:ctrlPr>
                        </m:dPr>
                        <m:e>
                          <m:r>
                            <a:rPr lang="zh-CN" altLang="en-US" sz="2800" i="1">
                              <a:latin typeface="Cambria Math" panose="02040503050406030204" pitchFamily="18" charset="0"/>
                            </a:rPr>
                            <m:t>𝐸</m:t>
                          </m:r>
                          <m:d>
                            <m:dPr>
                              <m:begChr m:val="["/>
                              <m:endChr m:val="]"/>
                              <m:ctrlPr>
                                <a:rPr lang="zh-CN" altLang="en-US" sz="2800" i="1">
                                  <a:latin typeface="Cambria Math" panose="02040503050406030204" pitchFamily="18" charset="0"/>
                                </a:rPr>
                              </m:ctrlPr>
                            </m:dPr>
                            <m:e>
                              <m:r>
                                <a:rPr lang="zh-CN" altLang="en-US" sz="2800" i="1">
                                  <a:latin typeface="Cambria Math" panose="02040503050406030204" pitchFamily="18" charset="0"/>
                                </a:rPr>
                                <m:t>h</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𝑋</m:t>
                                  </m:r>
                                </m:e>
                              </m:d>
                            </m:e>
                            <m:e>
                              <m:r>
                                <a:rPr lang="zh-CN" altLang="en-US" sz="2800" i="1">
                                  <a:latin typeface="Cambria Math" panose="02040503050406030204" pitchFamily="18" charset="0"/>
                                </a:rPr>
                                <m:t>𝑌</m:t>
                              </m:r>
                            </m:e>
                          </m:d>
                        </m:e>
                      </m:d>
                      <m:r>
                        <a:rPr lang="zh-CN" altLang="en-US" sz="2800" i="0">
                          <a:latin typeface="Cambria Math" panose="02040503050406030204" pitchFamily="18" charset="0"/>
                        </a:rPr>
                        <m:t>=</m:t>
                      </m:r>
                      <m:nary>
                        <m:naryPr>
                          <m:chr m:val="∑"/>
                          <m:limLoc m:val="undOvr"/>
                          <m:grow m:val="on"/>
                          <m:ctrlPr>
                            <a:rPr lang="zh-CN" altLang="en-US" sz="2800" i="1">
                              <a:latin typeface="Cambria Math" panose="02040503050406030204" pitchFamily="18" charset="0"/>
                            </a:rPr>
                          </m:ctrlPr>
                        </m:naryPr>
                        <m:sub>
                          <m:r>
                            <a:rPr lang="zh-CN" altLang="en-US" sz="2800" i="1">
                              <a:latin typeface="Cambria Math" panose="02040503050406030204" pitchFamily="18" charset="0"/>
                            </a:rPr>
                            <m:t>𝑗</m:t>
                          </m:r>
                          <m:r>
                            <a:rPr lang="zh-CN" altLang="en-US" sz="2800" i="0">
                              <a:latin typeface="Cambria Math" panose="02040503050406030204" pitchFamily="18" charset="0"/>
                            </a:rPr>
                            <m:t>=1</m:t>
                          </m:r>
                        </m:sub>
                        <m:sup>
                          <m:r>
                            <a:rPr lang="zh-CN" altLang="en-US" sz="2800" i="1">
                              <a:latin typeface="Cambria Math" panose="02040503050406030204" pitchFamily="18" charset="0"/>
                            </a:rPr>
                            <m:t>𝑚</m:t>
                          </m:r>
                        </m:sup>
                        <m:e>
                          <m:r>
                            <a:rPr lang="zh-CN" altLang="en-US" sz="2800" i="1">
                              <a:latin typeface="Cambria Math" panose="02040503050406030204" pitchFamily="18" charset="0"/>
                            </a:rPr>
                            <m:t>𝐸</m:t>
                          </m:r>
                        </m:e>
                      </m:nary>
                      <m:d>
                        <m:dPr>
                          <m:begChr m:val="["/>
                          <m:endChr m:val="]"/>
                          <m:ctrlPr>
                            <a:rPr lang="zh-CN" altLang="en-US" sz="2800" i="1">
                              <a:latin typeface="Cambria Math" panose="02040503050406030204" pitchFamily="18" charset="0"/>
                            </a:rPr>
                          </m:ctrlPr>
                        </m:dPr>
                        <m:e>
                          <m:r>
                            <a:rPr lang="zh-CN" altLang="en-US" sz="2800" i="1">
                              <a:latin typeface="Cambria Math" panose="02040503050406030204" pitchFamily="18" charset="0"/>
                            </a:rPr>
                            <m:t>h</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𝑋</m:t>
                              </m:r>
                            </m:e>
                          </m:d>
                        </m:e>
                        <m:e>
                          <m:r>
                            <a:rPr lang="zh-CN" altLang="en-US" sz="2800" i="1">
                              <a:latin typeface="Cambria Math" panose="02040503050406030204" pitchFamily="18" charset="0"/>
                            </a:rPr>
                            <m:t>𝑌</m:t>
                          </m:r>
                          <m:r>
                            <a:rPr lang="zh-CN" altLang="en-US" sz="2800" i="0">
                              <a:latin typeface="Cambria Math" panose="02040503050406030204" pitchFamily="18" charset="0"/>
                            </a:rPr>
                            <m:t>=</m:t>
                          </m:r>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𝑦</m:t>
                              </m:r>
                            </m:e>
                            <m:sub>
                              <m:r>
                                <a:rPr lang="zh-CN" altLang="en-US" sz="2800" i="1">
                                  <a:latin typeface="Cambria Math" panose="02040503050406030204" pitchFamily="18" charset="0"/>
                                </a:rPr>
                                <m:t>𝑗</m:t>
                              </m:r>
                            </m:sub>
                          </m:sSub>
                        </m:e>
                      </m:d>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𝑝</m:t>
                          </m:r>
                        </m:e>
                        <m:sub>
                          <m:r>
                            <a:rPr lang="zh-CN" altLang="en-US" sz="2800" i="1">
                              <a:latin typeface="Cambria Math" panose="02040503050406030204" pitchFamily="18" charset="0"/>
                            </a:rPr>
                            <m:t>𝑗</m:t>
                          </m:r>
                        </m:sub>
                      </m:sSub>
                    </m:oMath>
                  </m:oMathPara>
                </a14:m>
                <a:endParaRPr lang="zh-CN" altLang="en-US" dirty="0"/>
              </a:p>
            </p:txBody>
          </p:sp>
        </mc:Choice>
        <mc:Fallback xmlns="">
          <p:sp>
            <p:nvSpPr>
              <p:cNvPr id="18" name="文本框 17">
                <a:extLst>
                  <a:ext uri="{FF2B5EF4-FFF2-40B4-BE49-F238E27FC236}">
                    <a16:creationId xmlns:a16="http://schemas.microsoft.com/office/drawing/2014/main" id="{5D9D4BA3-C7F7-4A85-9FD2-FB6E8969777F}"/>
                  </a:ext>
                </a:extLst>
              </p:cNvPr>
              <p:cNvSpPr txBox="1">
                <a:spLocks noRot="1" noChangeAspect="1" noMove="1" noResize="1" noEditPoints="1" noAdjustHandles="1" noChangeArrowheads="1" noChangeShapeType="1" noTextEdit="1"/>
              </p:cNvSpPr>
              <p:nvPr/>
            </p:nvSpPr>
            <p:spPr>
              <a:xfrm>
                <a:off x="-242890" y="5057407"/>
                <a:ext cx="9093685" cy="1317348"/>
              </a:xfrm>
              <a:prstGeom prst="rect">
                <a:avLst/>
              </a:prstGeom>
              <a:blipFill>
                <a:blip r:embed="rId4"/>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14797688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3.4 </a:t>
            </a:r>
            <a:r>
              <a:rPr lang="zh-CN" altLang="en-US" sz="3600" b="0" dirty="0">
                <a:latin typeface="+mn-lt"/>
                <a:ea typeface="+mn-ea"/>
              </a:rPr>
              <a:t>分层抽样法</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91</a:t>
            </a:fld>
            <a:endParaRPr lang="zh-CN" altLang="en-US">
              <a:solidFill>
                <a:srgbClr val="898989"/>
              </a:solidFill>
            </a:endParaRPr>
          </a:p>
        </p:txBody>
      </p:sp>
      <p:sp>
        <p:nvSpPr>
          <p:cNvPr id="22" name="文本框 21">
            <a:extLst>
              <a:ext uri="{FF2B5EF4-FFF2-40B4-BE49-F238E27FC236}">
                <a16:creationId xmlns:a16="http://schemas.microsoft.com/office/drawing/2014/main" id="{F7749C0C-2C28-4154-A549-96756BD3E3E8}"/>
              </a:ext>
            </a:extLst>
          </p:cNvPr>
          <p:cNvSpPr txBox="1"/>
          <p:nvPr/>
        </p:nvSpPr>
        <p:spPr>
          <a:xfrm>
            <a:off x="-15875" y="1088740"/>
            <a:ext cx="9144000" cy="584775"/>
          </a:xfrm>
          <a:prstGeom prst="rect">
            <a:avLst/>
          </a:prstGeom>
          <a:noFill/>
          <a:ln w="25400">
            <a:noFill/>
          </a:ln>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求随机变量函数期望</a:t>
            </a:r>
            <a:endParaRPr kumimoji="0" lang="en-US" altLang="zh-CN"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sp>
        <p:nvSpPr>
          <p:cNvPr id="12" name="文本框 11">
            <a:extLst>
              <a:ext uri="{FF2B5EF4-FFF2-40B4-BE49-F238E27FC236}">
                <a16:creationId xmlns:a16="http://schemas.microsoft.com/office/drawing/2014/main" id="{24EDF5EA-5A8F-4EB2-B4A5-80F825C4B8DE}"/>
              </a:ext>
            </a:extLst>
          </p:cNvPr>
          <p:cNvSpPr txBox="1"/>
          <p:nvPr/>
        </p:nvSpPr>
        <p:spPr>
          <a:xfrm>
            <a:off x="50315" y="1815037"/>
            <a:ext cx="9011620" cy="1077218"/>
          </a:xfrm>
          <a:prstGeom prst="rect">
            <a:avLst/>
          </a:prstGeom>
          <a:noFill/>
          <a:ln w="25400">
            <a:noFill/>
          </a:ln>
        </p:spPr>
        <p:txBody>
          <a:bodyPr wrap="square">
            <a:spAutoFit/>
          </a:bodyPr>
          <a:lstStyle/>
          <a:p>
            <a:r>
              <a:rPr lang="zh-CN" altLang="en-US" sz="3200" dirty="0">
                <a:solidFill>
                  <a:srgbClr val="006699"/>
                </a:solidFill>
                <a:latin typeface="Verdana" panose="020B0604030504040204" pitchFamily="34" charset="0"/>
              </a:rPr>
              <a:t>如果在</a:t>
            </a:r>
            <a:r>
              <a:rPr lang="en-US" altLang="zh-CN" sz="3200" dirty="0">
                <a:solidFill>
                  <a:srgbClr val="006699"/>
                </a:solidFill>
                <a:latin typeface="Verdana" panose="020B0604030504040204" pitchFamily="34" charset="0"/>
              </a:rPr>
              <a:t>Y=</a:t>
            </a:r>
            <a:r>
              <a:rPr lang="en-US" altLang="zh-CN" sz="3200" dirty="0" err="1">
                <a:solidFill>
                  <a:srgbClr val="006699"/>
                </a:solidFill>
                <a:latin typeface="Verdana" panose="020B0604030504040204" pitchFamily="34" charset="0"/>
              </a:rPr>
              <a:t>y</a:t>
            </a:r>
            <a:r>
              <a:rPr lang="en-US" altLang="zh-CN" sz="3200" baseline="-25000" dirty="0" err="1">
                <a:solidFill>
                  <a:srgbClr val="006699"/>
                </a:solidFill>
                <a:latin typeface="Verdana" panose="020B0604030504040204" pitchFamily="34" charset="0"/>
              </a:rPr>
              <a:t>j</a:t>
            </a:r>
            <a:r>
              <a:rPr lang="zh-CN" altLang="en-US" sz="3200" dirty="0">
                <a:solidFill>
                  <a:srgbClr val="006699"/>
                </a:solidFill>
                <a:latin typeface="Verdana" panose="020B0604030504040204" pitchFamily="34" charset="0"/>
              </a:rPr>
              <a:t>条件下生成</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的</a:t>
            </a:r>
            <a:r>
              <a:rPr lang="en-US" altLang="zh-CN" sz="3200" dirty="0">
                <a:solidFill>
                  <a:srgbClr val="006699"/>
                </a:solidFill>
                <a:latin typeface="Verdana" panose="020B0604030504040204" pitchFamily="34" charset="0"/>
              </a:rPr>
              <a:t>N</a:t>
            </a:r>
            <a:r>
              <a:rPr lang="en-US" altLang="zh-CN" sz="3200" baseline="-25000" dirty="0">
                <a:solidFill>
                  <a:srgbClr val="006699"/>
                </a:solidFill>
                <a:latin typeface="Verdana" panose="020B0604030504040204" pitchFamily="34" charset="0"/>
              </a:rPr>
              <a:t>j</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Np</a:t>
            </a:r>
            <a:r>
              <a:rPr lang="en-US" altLang="zh-CN" sz="3200" baseline="-25000" dirty="0" err="1">
                <a:solidFill>
                  <a:srgbClr val="006699"/>
                </a:solidFill>
                <a:latin typeface="Verdana" panose="020B0604030504040204" pitchFamily="34" charset="0"/>
              </a:rPr>
              <a:t>j</a:t>
            </a:r>
            <a:r>
              <a:rPr lang="zh-CN" altLang="en-US" sz="3200" dirty="0">
                <a:solidFill>
                  <a:srgbClr val="006699"/>
                </a:solidFill>
                <a:latin typeface="Verdana" panose="020B0604030504040204" pitchFamily="34" charset="0"/>
              </a:rPr>
              <a:t>个抽样值， </a:t>
            </a:r>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设为</a:t>
            </a:r>
          </a:p>
        </p:txBody>
      </p:sp>
      <p:sp>
        <p:nvSpPr>
          <p:cNvPr id="15" name="文本框 14">
            <a:extLst>
              <a:ext uri="{FF2B5EF4-FFF2-40B4-BE49-F238E27FC236}">
                <a16:creationId xmlns:a16="http://schemas.microsoft.com/office/drawing/2014/main" id="{29D8DA57-75AF-413B-94B4-90E4AC47050F}"/>
              </a:ext>
            </a:extLst>
          </p:cNvPr>
          <p:cNvSpPr txBox="1"/>
          <p:nvPr/>
        </p:nvSpPr>
        <p:spPr>
          <a:xfrm>
            <a:off x="50315" y="4543224"/>
            <a:ext cx="8812973"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估计</a:t>
            </a:r>
            <a:endParaRPr lang="zh-CN" altLang="en-US" dirty="0"/>
          </a:p>
        </p:txBody>
      </p:sp>
      <p:sp>
        <p:nvSpPr>
          <p:cNvPr id="20" name="文本框 19">
            <a:extLst>
              <a:ext uri="{FF2B5EF4-FFF2-40B4-BE49-F238E27FC236}">
                <a16:creationId xmlns:a16="http://schemas.microsoft.com/office/drawing/2014/main" id="{904D90BE-22EE-4D81-B42B-E398A9FD1292}"/>
              </a:ext>
            </a:extLst>
          </p:cNvPr>
          <p:cNvSpPr txBox="1"/>
          <p:nvPr/>
        </p:nvSpPr>
        <p:spPr>
          <a:xfrm>
            <a:off x="50315" y="3114594"/>
            <a:ext cx="8879240"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则可以用</a:t>
            </a:r>
            <a:endParaRPr lang="zh-CN" altLang="en-US" dirty="0"/>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636E8B3-1616-47B2-B091-2032F0D7C43E}"/>
                  </a:ext>
                </a:extLst>
              </p:cNvPr>
              <p:cNvSpPr txBox="1"/>
              <p:nvPr/>
            </p:nvSpPr>
            <p:spPr>
              <a:xfrm>
                <a:off x="791580" y="2428111"/>
                <a:ext cx="4690532" cy="73052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CN" altLang="en-US" sz="3200" i="1" smtClean="0">
                              <a:solidFill>
                                <a:srgbClr val="836967"/>
                              </a:solidFill>
                              <a:latin typeface="Cambria Math" panose="02040503050406030204" pitchFamily="18" charset="0"/>
                            </a:rPr>
                          </m:ctrlPr>
                        </m:sSubSupPr>
                        <m:e>
                          <m:r>
                            <a:rPr lang="zh-CN" altLang="en-US" sz="3200" i="1">
                              <a:latin typeface="Cambria Math" panose="02040503050406030204" pitchFamily="18" charset="0"/>
                            </a:rPr>
                            <m:t>𝑋</m:t>
                          </m:r>
                        </m:e>
                        <m:sub>
                          <m:r>
                            <a:rPr lang="zh-CN" altLang="en-US" sz="3200" i="1">
                              <a:latin typeface="Cambria Math" panose="02040503050406030204" pitchFamily="18" charset="0"/>
                            </a:rPr>
                            <m:t>𝑖</m:t>
                          </m:r>
                        </m:sub>
                        <m:sup>
                          <m:d>
                            <m:dPr>
                              <m:ctrlPr>
                                <a:rPr lang="zh-CN" altLang="en-US" sz="3200" i="1">
                                  <a:latin typeface="Cambria Math" panose="02040503050406030204" pitchFamily="18" charset="0"/>
                                </a:rPr>
                              </m:ctrlPr>
                            </m:dPr>
                            <m:e>
                              <m:r>
                                <a:rPr lang="zh-CN" altLang="en-US" sz="3200" i="1">
                                  <a:latin typeface="Cambria Math" panose="02040503050406030204" pitchFamily="18" charset="0"/>
                                </a:rPr>
                                <m:t>𝑗</m:t>
                              </m:r>
                            </m:e>
                          </m:d>
                        </m:sup>
                      </m:sSubSup>
                      <m:r>
                        <a:rPr lang="zh-CN" altLang="en-US" sz="3200" i="0">
                          <a:latin typeface="Cambria Math" panose="02040503050406030204" pitchFamily="18" charset="0"/>
                        </a:rPr>
                        <m:t>,</m:t>
                      </m:r>
                      <m:r>
                        <a:rPr lang="en-US" altLang="zh-CN" sz="3200" b="0" i="1" smtClean="0">
                          <a:latin typeface="Cambria Math" panose="02040503050406030204" pitchFamily="18" charset="0"/>
                        </a:rPr>
                        <m:t>(</m:t>
                      </m:r>
                      <m:r>
                        <a:rPr lang="zh-CN" altLang="en-US" sz="3200" i="1">
                          <a:latin typeface="Cambria Math" panose="02040503050406030204" pitchFamily="18" charset="0"/>
                        </a:rPr>
                        <m:t>𝑖</m:t>
                      </m:r>
                      <m:r>
                        <a:rPr lang="zh-CN" altLang="en-US" sz="3200" i="0">
                          <a:latin typeface="Cambria Math" panose="02040503050406030204" pitchFamily="18" charset="0"/>
                        </a:rPr>
                        <m:t>=1,2,…,</m:t>
                      </m:r>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𝑁</m:t>
                          </m:r>
                        </m:e>
                        <m:sub>
                          <m:r>
                            <a:rPr lang="zh-CN" altLang="en-US" sz="3200" i="1">
                              <a:latin typeface="Cambria Math" panose="02040503050406030204" pitchFamily="18" charset="0"/>
                            </a:rPr>
                            <m:t>𝑗</m:t>
                          </m:r>
                        </m:sub>
                      </m:sSub>
                      <m:r>
                        <a:rPr lang="en-US" altLang="zh-CN" sz="3200" b="0" i="1" smtClean="0">
                          <a:latin typeface="Cambria Math" panose="02040503050406030204" pitchFamily="18" charset="0"/>
                        </a:rPr>
                        <m:t>)</m:t>
                      </m:r>
                    </m:oMath>
                  </m:oMathPara>
                </a14:m>
                <a:endParaRPr lang="zh-CN" altLang="en-US" dirty="0"/>
              </a:p>
            </p:txBody>
          </p:sp>
        </mc:Choice>
        <mc:Fallback xmlns="">
          <p:sp>
            <p:nvSpPr>
              <p:cNvPr id="13" name="文本框 12">
                <a:extLst>
                  <a:ext uri="{FF2B5EF4-FFF2-40B4-BE49-F238E27FC236}">
                    <a16:creationId xmlns:a16="http://schemas.microsoft.com/office/drawing/2014/main" id="{E636E8B3-1616-47B2-B091-2032F0D7C43E}"/>
                  </a:ext>
                </a:extLst>
              </p:cNvPr>
              <p:cNvSpPr txBox="1">
                <a:spLocks noRot="1" noChangeAspect="1" noMove="1" noResize="1" noEditPoints="1" noAdjustHandles="1" noChangeArrowheads="1" noChangeShapeType="1" noTextEdit="1"/>
              </p:cNvSpPr>
              <p:nvPr/>
            </p:nvSpPr>
            <p:spPr>
              <a:xfrm>
                <a:off x="791580" y="2428111"/>
                <a:ext cx="4690532" cy="730521"/>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B666BAB8-C489-4D14-BACC-836783CAB7FB}"/>
                  </a:ext>
                </a:extLst>
              </p:cNvPr>
              <p:cNvSpPr txBox="1"/>
              <p:nvPr/>
            </p:nvSpPr>
            <p:spPr>
              <a:xfrm>
                <a:off x="1524042" y="3047311"/>
                <a:ext cx="4690532" cy="151971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CN" altLang="en-US" sz="3200" i="1" smtClean="0">
                              <a:solidFill>
                                <a:srgbClr val="836967"/>
                              </a:solidFill>
                              <a:latin typeface="Cambria Math" panose="02040503050406030204" pitchFamily="18" charset="0"/>
                            </a:rPr>
                          </m:ctrlPr>
                        </m:fPr>
                        <m:num>
                          <m:r>
                            <a:rPr lang="zh-CN" altLang="en-US" sz="3200">
                              <a:latin typeface="Cambria Math" panose="02040503050406030204" pitchFamily="18" charset="0"/>
                            </a:rPr>
                            <m:t>1</m:t>
                          </m:r>
                        </m:num>
                        <m:den>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𝑁</m:t>
                              </m:r>
                            </m:e>
                            <m:sub>
                              <m:r>
                                <a:rPr lang="zh-CN" altLang="en-US" sz="3200" i="1">
                                  <a:latin typeface="Cambria Math" panose="02040503050406030204" pitchFamily="18" charset="0"/>
                                </a:rPr>
                                <m:t>𝑗</m:t>
                              </m:r>
                            </m:sub>
                          </m:sSub>
                        </m:den>
                      </m:f>
                      <m:nary>
                        <m:naryPr>
                          <m:chr m:val="∑"/>
                          <m:limLoc m:val="undOvr"/>
                          <m:grow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𝑖</m:t>
                          </m:r>
                          <m:r>
                            <a:rPr lang="zh-CN" altLang="en-US" sz="3200" i="0">
                              <a:latin typeface="Cambria Math" panose="02040503050406030204" pitchFamily="18" charset="0"/>
                            </a:rPr>
                            <m:t>=1</m:t>
                          </m:r>
                        </m:sub>
                        <m:sup>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𝑁</m:t>
                              </m:r>
                            </m:e>
                            <m:sub>
                              <m:r>
                                <a:rPr lang="zh-CN" altLang="en-US" sz="3200" i="1">
                                  <a:latin typeface="Cambria Math" panose="02040503050406030204" pitchFamily="18" charset="0"/>
                                </a:rPr>
                                <m:t>𝑗</m:t>
                              </m:r>
                            </m:sub>
                          </m:sSub>
                        </m:sup>
                        <m:e>
                          <m:r>
                            <a:rPr lang="zh-CN" altLang="en-US" sz="3200" i="1">
                              <a:latin typeface="Cambria Math" panose="02040503050406030204" pitchFamily="18" charset="0"/>
                            </a:rPr>
                            <m:t>h</m:t>
                          </m:r>
                        </m:e>
                      </m:nary>
                      <m:d>
                        <m:dPr>
                          <m:ctrlPr>
                            <a:rPr lang="zh-CN" altLang="en-US" sz="3200" i="1">
                              <a:latin typeface="Cambria Math" panose="02040503050406030204" pitchFamily="18" charset="0"/>
                            </a:rPr>
                          </m:ctrlPr>
                        </m:dPr>
                        <m:e>
                          <m:sSubSup>
                            <m:sSubSupPr>
                              <m:ctrlPr>
                                <a:rPr lang="zh-CN" altLang="en-US" sz="3200" i="1">
                                  <a:solidFill>
                                    <a:srgbClr val="836967"/>
                                  </a:solidFill>
                                  <a:latin typeface="Cambria Math" panose="02040503050406030204" pitchFamily="18" charset="0"/>
                                </a:rPr>
                              </m:ctrlPr>
                            </m:sSubSupPr>
                            <m:e>
                              <m:r>
                                <a:rPr lang="zh-CN" altLang="en-US" sz="3200" i="1">
                                  <a:latin typeface="Cambria Math" panose="02040503050406030204" pitchFamily="18" charset="0"/>
                                </a:rPr>
                                <m:t>𝑋</m:t>
                              </m:r>
                            </m:e>
                            <m:sub>
                              <m:r>
                                <a:rPr lang="zh-CN" altLang="en-US" sz="3200" i="1">
                                  <a:latin typeface="Cambria Math" panose="02040503050406030204" pitchFamily="18" charset="0"/>
                                </a:rPr>
                                <m:t>𝑖</m:t>
                              </m:r>
                            </m:sub>
                            <m:sup>
                              <m:d>
                                <m:dPr>
                                  <m:ctrlPr>
                                    <a:rPr lang="zh-CN" altLang="en-US" sz="3200" i="1">
                                      <a:latin typeface="Cambria Math" panose="02040503050406030204" pitchFamily="18" charset="0"/>
                                    </a:rPr>
                                  </m:ctrlPr>
                                </m:dPr>
                                <m:e>
                                  <m:r>
                                    <a:rPr lang="zh-CN" altLang="en-US" sz="3200" i="1">
                                      <a:latin typeface="Cambria Math" panose="02040503050406030204" pitchFamily="18" charset="0"/>
                                    </a:rPr>
                                    <m:t>𝑗</m:t>
                                  </m:r>
                                </m:e>
                              </m:d>
                            </m:sup>
                          </m:sSubSup>
                        </m:e>
                      </m:d>
                    </m:oMath>
                  </m:oMathPara>
                </a14:m>
                <a:endParaRPr lang="zh-CN" altLang="en-US" dirty="0"/>
              </a:p>
            </p:txBody>
          </p:sp>
        </mc:Choice>
        <mc:Fallback xmlns="">
          <p:sp>
            <p:nvSpPr>
              <p:cNvPr id="14" name="文本框 13">
                <a:extLst>
                  <a:ext uri="{FF2B5EF4-FFF2-40B4-BE49-F238E27FC236}">
                    <a16:creationId xmlns:a16="http://schemas.microsoft.com/office/drawing/2014/main" id="{B666BAB8-C489-4D14-BACC-836783CAB7FB}"/>
                  </a:ext>
                </a:extLst>
              </p:cNvPr>
              <p:cNvSpPr txBox="1">
                <a:spLocks noRot="1" noChangeAspect="1" noMove="1" noResize="1" noEditPoints="1" noAdjustHandles="1" noChangeArrowheads="1" noChangeShapeType="1" noTextEdit="1"/>
              </p:cNvSpPr>
              <p:nvPr/>
            </p:nvSpPr>
            <p:spPr>
              <a:xfrm>
                <a:off x="1524042" y="3047311"/>
                <a:ext cx="4690532" cy="1519711"/>
              </a:xfrm>
              <a:prstGeom prst="rect">
                <a:avLst/>
              </a:prstGeom>
              <a:blipFill>
                <a:blip r:embed="rId3"/>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A5DE875-7BD7-4803-BECD-562009E3F627}"/>
                  </a:ext>
                </a:extLst>
              </p:cNvPr>
              <p:cNvSpPr txBox="1"/>
              <p:nvPr/>
            </p:nvSpPr>
            <p:spPr>
              <a:xfrm>
                <a:off x="4117588" y="1079372"/>
                <a:ext cx="2263574"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𝜃</m:t>
                      </m:r>
                      <m:r>
                        <a:rPr lang="zh-CN" altLang="en-US" sz="3200" i="0">
                          <a:latin typeface="Cambria Math" panose="02040503050406030204" pitchFamily="18" charset="0"/>
                        </a:rPr>
                        <m:t>=</m:t>
                      </m:r>
                      <m:r>
                        <a:rPr lang="zh-CN" altLang="en-US" sz="3200" i="1">
                          <a:latin typeface="Cambria Math" panose="02040503050406030204" pitchFamily="18" charset="0"/>
                        </a:rPr>
                        <m:t>𝐸h</m:t>
                      </m:r>
                      <m:d>
                        <m:dPr>
                          <m:ctrlPr>
                            <a:rPr lang="zh-CN" altLang="en-US" sz="3200" i="1">
                              <a:latin typeface="Cambria Math" panose="02040503050406030204" pitchFamily="18" charset="0"/>
                            </a:rPr>
                          </m:ctrlPr>
                        </m:dPr>
                        <m:e>
                          <m:r>
                            <a:rPr lang="zh-CN" altLang="en-US" sz="3200" i="1">
                              <a:latin typeface="Cambria Math" panose="02040503050406030204" pitchFamily="18" charset="0"/>
                            </a:rPr>
                            <m:t>𝑋</m:t>
                          </m:r>
                        </m:e>
                      </m:d>
                    </m:oMath>
                  </m:oMathPara>
                </a14:m>
                <a:endParaRPr lang="zh-CN" altLang="en-US" dirty="0"/>
              </a:p>
            </p:txBody>
          </p:sp>
        </mc:Choice>
        <mc:Fallback xmlns="">
          <p:sp>
            <p:nvSpPr>
              <p:cNvPr id="11" name="文本框 10">
                <a:extLst>
                  <a:ext uri="{FF2B5EF4-FFF2-40B4-BE49-F238E27FC236}">
                    <a16:creationId xmlns:a16="http://schemas.microsoft.com/office/drawing/2014/main" id="{3A5DE875-7BD7-4803-BECD-562009E3F627}"/>
                  </a:ext>
                </a:extLst>
              </p:cNvPr>
              <p:cNvSpPr txBox="1">
                <a:spLocks noRot="1" noChangeAspect="1" noMove="1" noResize="1" noEditPoints="1" noAdjustHandles="1" noChangeArrowheads="1" noChangeShapeType="1" noTextEdit="1"/>
              </p:cNvSpPr>
              <p:nvPr/>
            </p:nvSpPr>
            <p:spPr>
              <a:xfrm>
                <a:off x="4117588" y="1079372"/>
                <a:ext cx="2263574" cy="584775"/>
              </a:xfrm>
              <a:prstGeom prst="rect">
                <a:avLst/>
              </a:prstGeom>
              <a:blipFill>
                <a:blip r:embed="rId5"/>
                <a:stretch>
                  <a:fillRect/>
                </a:stretch>
              </a:blipFill>
              <a:ln w="25400">
                <a:noFill/>
              </a:ln>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95D56764-7EF1-4200-9A01-A321E762516E}"/>
              </a:ext>
            </a:extLst>
          </p:cNvPr>
          <p:cNvPicPr>
            <a:picLocks noChangeAspect="1"/>
          </p:cNvPicPr>
          <p:nvPr/>
        </p:nvPicPr>
        <p:blipFill>
          <a:blip r:embed="rId6"/>
          <a:stretch>
            <a:fillRect/>
          </a:stretch>
        </p:blipFill>
        <p:spPr>
          <a:xfrm>
            <a:off x="1691680" y="5019461"/>
            <a:ext cx="3256770" cy="740175"/>
          </a:xfrm>
          <a:prstGeom prst="rect">
            <a:avLst/>
          </a:prstGeom>
        </p:spPr>
      </p:pic>
    </p:spTree>
    <p:extLst>
      <p:ext uri="{BB962C8B-B14F-4D97-AF65-F5344CB8AC3E}">
        <p14:creationId xmlns:p14="http://schemas.microsoft.com/office/powerpoint/2010/main" val="22482030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3.4 </a:t>
            </a:r>
            <a:r>
              <a:rPr lang="zh-CN" altLang="en-US" sz="3600" b="0" dirty="0">
                <a:latin typeface="+mn-lt"/>
                <a:ea typeface="+mn-ea"/>
              </a:rPr>
              <a:t>分层抽样法</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92</a:t>
            </a:fld>
            <a:endParaRPr lang="zh-CN" altLang="en-US">
              <a:solidFill>
                <a:srgbClr val="898989"/>
              </a:solidFill>
            </a:endParaRPr>
          </a:p>
        </p:txBody>
      </p:sp>
      <p:sp>
        <p:nvSpPr>
          <p:cNvPr id="22" name="文本框 21">
            <a:extLst>
              <a:ext uri="{FF2B5EF4-FFF2-40B4-BE49-F238E27FC236}">
                <a16:creationId xmlns:a16="http://schemas.microsoft.com/office/drawing/2014/main" id="{F7749C0C-2C28-4154-A549-96756BD3E3E8}"/>
              </a:ext>
            </a:extLst>
          </p:cNvPr>
          <p:cNvSpPr txBox="1"/>
          <p:nvPr/>
        </p:nvSpPr>
        <p:spPr>
          <a:xfrm>
            <a:off x="-15875" y="1088740"/>
            <a:ext cx="9144000" cy="584775"/>
          </a:xfrm>
          <a:prstGeom prst="rect">
            <a:avLst/>
          </a:prstGeom>
          <a:noFill/>
          <a:ln w="25400">
            <a:noFill/>
          </a:ln>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en-US"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求随机变量函数期望</a:t>
            </a:r>
            <a:endParaRPr kumimoji="0" lang="en-US" altLang="zh-CN"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165513" y="1768916"/>
            <a:ext cx="8812973"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估计</a:t>
            </a:r>
            <a:endParaRPr lang="zh-CN" altLang="en-US" dirty="0"/>
          </a:p>
        </p:txBody>
      </p:sp>
      <p:sp>
        <p:nvSpPr>
          <p:cNvPr id="20" name="文本框 19">
            <a:extLst>
              <a:ext uri="{FF2B5EF4-FFF2-40B4-BE49-F238E27FC236}">
                <a16:creationId xmlns:a16="http://schemas.microsoft.com/office/drawing/2014/main" id="{904D90BE-22EE-4D81-B42B-E398A9FD1292}"/>
              </a:ext>
            </a:extLst>
          </p:cNvPr>
          <p:cNvSpPr txBox="1"/>
          <p:nvPr/>
        </p:nvSpPr>
        <p:spPr>
          <a:xfrm>
            <a:off x="99246" y="3629181"/>
            <a:ext cx="8879240"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这是</a:t>
            </a:r>
            <a:r>
              <a:rPr kumimoji="0" lang="el-GR" altLang="zh-CN" sz="3200" b="0"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θ</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a:t>
            </a:r>
            <a:r>
              <a:rPr kumimoji="0" lang="zh-CN" altLang="en-US" sz="3200" b="1"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无偏和强相合估计</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 且估计方差</a:t>
            </a:r>
            <a:endParaRPr lang="zh-CN" altLang="en-US" dirty="0"/>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F2D63EE4-8F80-4977-985C-1297083FF8E1}"/>
                  </a:ext>
                </a:extLst>
              </p:cNvPr>
              <p:cNvSpPr txBox="1"/>
              <p:nvPr/>
            </p:nvSpPr>
            <p:spPr>
              <a:xfrm>
                <a:off x="431540" y="1728595"/>
                <a:ext cx="7051188" cy="184550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400" i="1">
                              <a:solidFill>
                                <a:srgbClr val="836967"/>
                              </a:solidFill>
                              <a:latin typeface="Cambria Math" panose="02040503050406030204" pitchFamily="18" charset="0"/>
                            </a:rPr>
                          </m:ctrlPr>
                        </m:accPr>
                        <m:e>
                          <m:r>
                            <a:rPr lang="zh-CN" altLang="en-US" sz="2400" i="1">
                              <a:latin typeface="Cambria Math" panose="02040503050406030204" pitchFamily="18" charset="0"/>
                            </a:rPr>
                            <m:t>𝜃</m:t>
                          </m:r>
                        </m:e>
                      </m:acc>
                      <m:r>
                        <a:rPr lang="zh-CN" altLang="en-US" sz="2400" i="0">
                          <a:latin typeface="Cambria Math" panose="02040503050406030204" pitchFamily="18" charset="0"/>
                        </a:rPr>
                        <m:t>=</m:t>
                      </m:r>
                      <m:nary>
                        <m:naryPr>
                          <m:chr m:val="∑"/>
                          <m:limLoc m:val="undOvr"/>
                          <m:grow m:val="on"/>
                          <m:ctrlPr>
                            <a:rPr lang="zh-CN" altLang="en-US" sz="2400" i="1">
                              <a:latin typeface="Cambria Math" panose="02040503050406030204" pitchFamily="18" charset="0"/>
                            </a:rPr>
                          </m:ctrlPr>
                        </m:naryPr>
                        <m:sub>
                          <m:r>
                            <a:rPr lang="zh-CN" altLang="en-US" sz="2400" i="1">
                              <a:latin typeface="Cambria Math" panose="02040503050406030204" pitchFamily="18" charset="0"/>
                            </a:rPr>
                            <m:t>𝑗</m:t>
                          </m:r>
                          <m:r>
                            <a:rPr lang="zh-CN" altLang="en-US" sz="2400" i="0">
                              <a:latin typeface="Cambria Math" panose="02040503050406030204" pitchFamily="18" charset="0"/>
                            </a:rPr>
                            <m:t>=1</m:t>
                          </m:r>
                        </m:sub>
                        <m:sup>
                          <m:r>
                            <a:rPr lang="zh-CN" altLang="en-US" sz="2400" i="1">
                              <a:latin typeface="Cambria Math" panose="02040503050406030204" pitchFamily="18" charset="0"/>
                            </a:rPr>
                            <m:t>𝑚</m:t>
                          </m:r>
                        </m:sup>
                        <m:e>
                          <m:f>
                            <m:fPr>
                              <m:ctrlPr>
                                <a:rPr lang="zh-CN" altLang="en-US" sz="2400" i="1">
                                  <a:solidFill>
                                    <a:srgbClr val="836967"/>
                                  </a:solidFill>
                                  <a:latin typeface="Cambria Math" panose="02040503050406030204" pitchFamily="18" charset="0"/>
                                </a:rPr>
                              </m:ctrlPr>
                            </m:fPr>
                            <m:num>
                              <m:r>
                                <a:rPr lang="zh-CN" altLang="en-US" sz="2400" i="0">
                                  <a:latin typeface="Cambria Math" panose="02040503050406030204" pitchFamily="18" charset="0"/>
                                </a:rPr>
                                <m:t>1</m:t>
                              </m:r>
                            </m:num>
                            <m:den>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𝑁</m:t>
                                  </m:r>
                                </m:e>
                                <m:sub>
                                  <m:r>
                                    <a:rPr lang="zh-CN" altLang="en-US" sz="2400" i="1">
                                      <a:latin typeface="Cambria Math" panose="02040503050406030204" pitchFamily="18" charset="0"/>
                                    </a:rPr>
                                    <m:t>𝑗</m:t>
                                  </m:r>
                                </m:sub>
                              </m:sSub>
                            </m:den>
                          </m:f>
                        </m:e>
                      </m:nary>
                      <m:nary>
                        <m:naryPr>
                          <m:chr m:val="∑"/>
                          <m:limLoc m:val="undOvr"/>
                          <m:grow m:val="on"/>
                          <m:ctrlPr>
                            <a:rPr lang="zh-CN" altLang="en-US" sz="2400" i="1">
                              <a:latin typeface="Cambria Math" panose="02040503050406030204" pitchFamily="18" charset="0"/>
                            </a:rPr>
                          </m:ctrlPr>
                        </m:naryPr>
                        <m:sub>
                          <m:r>
                            <a:rPr lang="zh-CN" altLang="en-US" sz="2400" i="1">
                              <a:latin typeface="Cambria Math" panose="02040503050406030204" pitchFamily="18" charset="0"/>
                            </a:rPr>
                            <m:t>𝑖</m:t>
                          </m:r>
                          <m:r>
                            <a:rPr lang="zh-CN" altLang="en-US" sz="2400" i="0">
                              <a:latin typeface="Cambria Math" panose="02040503050406030204" pitchFamily="18" charset="0"/>
                            </a:rPr>
                            <m:t>=1</m:t>
                          </m:r>
                        </m:sub>
                        <m:sup>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𝑁</m:t>
                              </m:r>
                            </m:e>
                            <m:sub>
                              <m:r>
                                <a:rPr lang="zh-CN" altLang="en-US" sz="2400" i="1">
                                  <a:latin typeface="Cambria Math" panose="02040503050406030204" pitchFamily="18" charset="0"/>
                                </a:rPr>
                                <m:t>𝑗</m:t>
                              </m:r>
                            </m:sub>
                          </m:sSub>
                        </m:sup>
                        <m:e>
                          <m:r>
                            <a:rPr lang="zh-CN" altLang="en-US" sz="2400" i="1">
                              <a:latin typeface="Cambria Math" panose="02040503050406030204" pitchFamily="18" charset="0"/>
                            </a:rPr>
                            <m:t>h</m:t>
                          </m:r>
                        </m:e>
                      </m:nary>
                      <m:d>
                        <m:dPr>
                          <m:ctrlPr>
                            <a:rPr lang="zh-CN" altLang="en-US" sz="2400" i="1">
                              <a:latin typeface="Cambria Math" panose="02040503050406030204" pitchFamily="18" charset="0"/>
                            </a:rPr>
                          </m:ctrlPr>
                        </m:dPr>
                        <m:e>
                          <m:sSubSup>
                            <m:sSubSupPr>
                              <m:ctrlPr>
                                <a:rPr lang="zh-CN" altLang="en-US" sz="2400" i="1">
                                  <a:solidFill>
                                    <a:srgbClr val="836967"/>
                                  </a:solidFill>
                                  <a:latin typeface="Cambria Math" panose="02040503050406030204" pitchFamily="18" charset="0"/>
                                </a:rPr>
                              </m:ctrlPr>
                            </m:sSubSupPr>
                            <m:e>
                              <m:r>
                                <a:rPr lang="zh-CN" altLang="en-US" sz="2400" i="1">
                                  <a:latin typeface="Cambria Math" panose="02040503050406030204" pitchFamily="18" charset="0"/>
                                </a:rPr>
                                <m:t>𝑋</m:t>
                              </m:r>
                            </m:e>
                            <m:sub>
                              <m:r>
                                <a:rPr lang="zh-CN" altLang="en-US" sz="2400" i="1">
                                  <a:latin typeface="Cambria Math" panose="02040503050406030204" pitchFamily="18" charset="0"/>
                                </a:rPr>
                                <m:t>𝑖</m:t>
                              </m:r>
                            </m:sub>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𝑗</m:t>
                                  </m:r>
                                </m:e>
                              </m:d>
                            </m:sup>
                          </m:sSubSup>
                        </m:e>
                      </m:d>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1">
                              <a:latin typeface="Cambria Math" panose="02040503050406030204" pitchFamily="18" charset="0"/>
                            </a:rPr>
                            <m:t>𝑗</m:t>
                          </m:r>
                        </m:sub>
                      </m:sSub>
                      <m:r>
                        <a:rPr lang="zh-CN" altLang="en-US" sz="2400" i="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i="0">
                              <a:latin typeface="Cambria Math" panose="02040503050406030204" pitchFamily="18" charset="0"/>
                            </a:rPr>
                            <m:t>1</m:t>
                          </m:r>
                        </m:num>
                        <m:den>
                          <m:r>
                            <a:rPr lang="zh-CN" altLang="en-US" sz="2400" i="1">
                              <a:latin typeface="Cambria Math" panose="02040503050406030204" pitchFamily="18" charset="0"/>
                            </a:rPr>
                            <m:t>𝑁</m:t>
                          </m:r>
                        </m:den>
                      </m:f>
                      <m:nary>
                        <m:naryPr>
                          <m:chr m:val="∑"/>
                          <m:limLoc m:val="undOvr"/>
                          <m:grow m:val="on"/>
                          <m:ctrlPr>
                            <a:rPr lang="zh-CN" altLang="en-US" sz="2400" i="1">
                              <a:latin typeface="Cambria Math" panose="02040503050406030204" pitchFamily="18" charset="0"/>
                            </a:rPr>
                          </m:ctrlPr>
                        </m:naryPr>
                        <m:sub>
                          <m:r>
                            <a:rPr lang="zh-CN" altLang="en-US" sz="2400" i="1">
                              <a:latin typeface="Cambria Math" panose="02040503050406030204" pitchFamily="18" charset="0"/>
                            </a:rPr>
                            <m:t>𝑗</m:t>
                          </m:r>
                          <m:r>
                            <a:rPr lang="zh-CN" altLang="en-US" sz="2400" i="0">
                              <a:latin typeface="Cambria Math" panose="02040503050406030204" pitchFamily="18" charset="0"/>
                            </a:rPr>
                            <m:t>=1</m:t>
                          </m:r>
                        </m:sub>
                        <m:sup>
                          <m:r>
                            <a:rPr lang="zh-CN" altLang="en-US" sz="2400" i="1">
                              <a:latin typeface="Cambria Math" panose="02040503050406030204" pitchFamily="18" charset="0"/>
                            </a:rPr>
                            <m:t>𝑚</m:t>
                          </m:r>
                        </m:sup>
                        <m:e>
                          <m:nary>
                            <m:naryPr>
                              <m:chr m:val="∑"/>
                              <m:limLoc m:val="undOvr"/>
                              <m:grow m:val="on"/>
                              <m:ctrlPr>
                                <a:rPr lang="zh-CN" altLang="en-US" sz="2400" i="1">
                                  <a:latin typeface="Cambria Math" panose="02040503050406030204" pitchFamily="18" charset="0"/>
                                </a:rPr>
                              </m:ctrlPr>
                            </m:naryPr>
                            <m:sub>
                              <m:r>
                                <a:rPr lang="zh-CN" altLang="en-US" sz="2400" i="1">
                                  <a:latin typeface="Cambria Math" panose="02040503050406030204" pitchFamily="18" charset="0"/>
                                </a:rPr>
                                <m:t>𝑖</m:t>
                              </m:r>
                              <m:r>
                                <a:rPr lang="zh-CN" altLang="en-US" sz="2400" i="0">
                                  <a:latin typeface="Cambria Math" panose="02040503050406030204" pitchFamily="18" charset="0"/>
                                </a:rPr>
                                <m:t>=1</m:t>
                              </m:r>
                            </m:sub>
                            <m:sup>
                              <m:r>
                                <a:rPr lang="zh-CN" altLang="en-US" sz="2400" i="1">
                                  <a:latin typeface="Cambria Math" panose="02040503050406030204" pitchFamily="18" charset="0"/>
                                </a:rPr>
                                <m:t>𝑁</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1">
                                      <a:latin typeface="Cambria Math" panose="02040503050406030204" pitchFamily="18" charset="0"/>
                                    </a:rPr>
                                    <m:t>𝑗</m:t>
                                  </m:r>
                                </m:sub>
                              </m:sSub>
                            </m:sup>
                            <m:e>
                              <m:r>
                                <a:rPr lang="zh-CN" altLang="en-US" sz="2400" i="1">
                                  <a:latin typeface="Cambria Math" panose="02040503050406030204" pitchFamily="18" charset="0"/>
                                </a:rPr>
                                <m:t>h</m:t>
                              </m:r>
                            </m:e>
                          </m:nary>
                        </m:e>
                      </m:nary>
                      <m:d>
                        <m:dPr>
                          <m:ctrlPr>
                            <a:rPr lang="zh-CN" altLang="en-US" sz="2400" i="1">
                              <a:latin typeface="Cambria Math" panose="02040503050406030204" pitchFamily="18" charset="0"/>
                            </a:rPr>
                          </m:ctrlPr>
                        </m:dPr>
                        <m:e>
                          <m:sSubSup>
                            <m:sSubSupPr>
                              <m:ctrlPr>
                                <a:rPr lang="zh-CN" altLang="en-US" sz="2400" i="1">
                                  <a:solidFill>
                                    <a:srgbClr val="836967"/>
                                  </a:solidFill>
                                  <a:latin typeface="Cambria Math" panose="02040503050406030204" pitchFamily="18" charset="0"/>
                                </a:rPr>
                              </m:ctrlPr>
                            </m:sSubSupPr>
                            <m:e>
                              <m:r>
                                <a:rPr lang="zh-CN" altLang="en-US" sz="2400" i="1">
                                  <a:latin typeface="Cambria Math" panose="02040503050406030204" pitchFamily="18" charset="0"/>
                                </a:rPr>
                                <m:t>𝑋</m:t>
                              </m:r>
                            </m:e>
                            <m:sub>
                              <m:r>
                                <a:rPr lang="zh-CN" altLang="en-US" sz="2400" i="1">
                                  <a:latin typeface="Cambria Math" panose="02040503050406030204" pitchFamily="18" charset="0"/>
                                </a:rPr>
                                <m:t>𝑖</m:t>
                              </m:r>
                            </m:sub>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𝑗</m:t>
                                  </m:r>
                                </m:e>
                              </m:d>
                            </m:sup>
                          </m:sSubSup>
                        </m:e>
                      </m:d>
                    </m:oMath>
                  </m:oMathPara>
                </a14:m>
                <a:endParaRPr lang="zh-CN" altLang="en-US" sz="1600" dirty="0"/>
              </a:p>
            </p:txBody>
          </p:sp>
        </mc:Choice>
        <mc:Fallback xmlns="">
          <p:sp>
            <p:nvSpPr>
              <p:cNvPr id="21" name="文本框 20">
                <a:extLst>
                  <a:ext uri="{FF2B5EF4-FFF2-40B4-BE49-F238E27FC236}">
                    <a16:creationId xmlns:a16="http://schemas.microsoft.com/office/drawing/2014/main" id="{F2D63EE4-8F80-4977-985C-1297083FF8E1}"/>
                  </a:ext>
                </a:extLst>
              </p:cNvPr>
              <p:cNvSpPr txBox="1">
                <a:spLocks noRot="1" noChangeAspect="1" noMove="1" noResize="1" noEditPoints="1" noAdjustHandles="1" noChangeArrowheads="1" noChangeShapeType="1" noTextEdit="1"/>
              </p:cNvSpPr>
              <p:nvPr/>
            </p:nvSpPr>
            <p:spPr>
              <a:xfrm>
                <a:off x="431540" y="1728595"/>
                <a:ext cx="7051188" cy="1845505"/>
              </a:xfrm>
              <a:prstGeom prst="rect">
                <a:avLst/>
              </a:prstGeom>
              <a:blipFill>
                <a:blip r:embed="rId2"/>
                <a:stretch>
                  <a:fillRect/>
                </a:stretch>
              </a:blipFill>
              <a:ln w="25400">
                <a:noFill/>
              </a:ln>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A438B5E0-4352-4D37-960A-734510F5B603}"/>
              </a:ext>
            </a:extLst>
          </p:cNvPr>
          <p:cNvPicPr>
            <a:picLocks noChangeAspect="1"/>
          </p:cNvPicPr>
          <p:nvPr/>
        </p:nvPicPr>
        <p:blipFill>
          <a:blip r:embed="rId3"/>
          <a:stretch>
            <a:fillRect/>
          </a:stretch>
        </p:blipFill>
        <p:spPr>
          <a:xfrm>
            <a:off x="590385" y="4332190"/>
            <a:ext cx="7643060" cy="1584898"/>
          </a:xfrm>
          <a:prstGeom prst="rect">
            <a:avLst/>
          </a:prstGeom>
        </p:spPr>
      </p:pic>
      <p:sp>
        <p:nvSpPr>
          <p:cNvPr id="23" name="文本框 22">
            <a:extLst>
              <a:ext uri="{FF2B5EF4-FFF2-40B4-BE49-F238E27FC236}">
                <a16:creationId xmlns:a16="http://schemas.microsoft.com/office/drawing/2014/main" id="{921C50D6-9B98-4123-8065-2D50E58CE0B2}"/>
              </a:ext>
            </a:extLst>
          </p:cNvPr>
          <p:cNvSpPr txBox="1"/>
          <p:nvPr/>
        </p:nvSpPr>
        <p:spPr>
          <a:xfrm>
            <a:off x="85926" y="5917088"/>
            <a:ext cx="5105400" cy="369332"/>
          </a:xfrm>
          <a:prstGeom prst="rect">
            <a:avLst/>
          </a:prstGeom>
          <a:noFill/>
          <a:ln w="25400">
            <a:noFill/>
          </a:ln>
        </p:spPr>
        <p:txBody>
          <a:bodyPr wrap="square">
            <a:spAutoFit/>
          </a:bodyPr>
          <a:lstStyle/>
          <a:p>
            <a:pPr marL="285750" indent="-285750">
              <a:buFont typeface="Arial" panose="020B0604020202020204" pitchFamily="34" charset="0"/>
              <a:buChar char="•"/>
            </a:pPr>
            <a:r>
              <a:rPr kumimoji="0" lang="zh-CN" altLang="en-US" sz="18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比直接用平均值法估计</a:t>
            </a:r>
            <a:r>
              <a:rPr kumimoji="0" lang="en-US" altLang="zh-CN" sz="18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E h(X)</a:t>
            </a:r>
            <a:r>
              <a:rPr kumimoji="0" lang="zh-CN" altLang="en-US" sz="18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的方差小</a:t>
            </a:r>
            <a:endParaRPr lang="zh-CN" altLang="en-US" dirty="0"/>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6663B429-6DE7-4F5E-9EB2-DF14C68124D0}"/>
                  </a:ext>
                </a:extLst>
              </p:cNvPr>
              <p:cNvSpPr txBox="1"/>
              <p:nvPr/>
            </p:nvSpPr>
            <p:spPr>
              <a:xfrm>
                <a:off x="4117588" y="1079372"/>
                <a:ext cx="2263574"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𝜃</m:t>
                      </m:r>
                      <m:r>
                        <a:rPr lang="zh-CN" altLang="en-US" sz="3200" i="0">
                          <a:latin typeface="Cambria Math" panose="02040503050406030204" pitchFamily="18" charset="0"/>
                        </a:rPr>
                        <m:t>=</m:t>
                      </m:r>
                      <m:r>
                        <a:rPr lang="zh-CN" altLang="en-US" sz="3200" i="1">
                          <a:latin typeface="Cambria Math" panose="02040503050406030204" pitchFamily="18" charset="0"/>
                        </a:rPr>
                        <m:t>𝐸h</m:t>
                      </m:r>
                      <m:d>
                        <m:dPr>
                          <m:ctrlPr>
                            <a:rPr lang="zh-CN" altLang="en-US" sz="3200" i="1">
                              <a:latin typeface="Cambria Math" panose="02040503050406030204" pitchFamily="18" charset="0"/>
                            </a:rPr>
                          </m:ctrlPr>
                        </m:dPr>
                        <m:e>
                          <m:r>
                            <a:rPr lang="zh-CN" altLang="en-US" sz="3200" i="1">
                              <a:latin typeface="Cambria Math" panose="02040503050406030204" pitchFamily="18" charset="0"/>
                            </a:rPr>
                            <m:t>𝑋</m:t>
                          </m:r>
                        </m:e>
                      </m:d>
                    </m:oMath>
                  </m:oMathPara>
                </a14:m>
                <a:endParaRPr lang="zh-CN" altLang="en-US" dirty="0"/>
              </a:p>
            </p:txBody>
          </p:sp>
        </mc:Choice>
        <mc:Fallback xmlns="">
          <p:sp>
            <p:nvSpPr>
              <p:cNvPr id="11" name="文本框 10">
                <a:extLst>
                  <a:ext uri="{FF2B5EF4-FFF2-40B4-BE49-F238E27FC236}">
                    <a16:creationId xmlns:a16="http://schemas.microsoft.com/office/drawing/2014/main" id="{6663B429-6DE7-4F5E-9EB2-DF14C68124D0}"/>
                  </a:ext>
                </a:extLst>
              </p:cNvPr>
              <p:cNvSpPr txBox="1">
                <a:spLocks noRot="1" noChangeAspect="1" noMove="1" noResize="1" noEditPoints="1" noAdjustHandles="1" noChangeArrowheads="1" noChangeShapeType="1" noTextEdit="1"/>
              </p:cNvSpPr>
              <p:nvPr/>
            </p:nvSpPr>
            <p:spPr>
              <a:xfrm>
                <a:off x="4117588" y="1079372"/>
                <a:ext cx="2263574" cy="584775"/>
              </a:xfrm>
              <a:prstGeom prst="rect">
                <a:avLst/>
              </a:prstGeom>
              <a:blipFill>
                <a:blip r:embed="rId4"/>
                <a:stretch>
                  <a:fillRect/>
                </a:stretch>
              </a:blipFill>
              <a:ln w="25400">
                <a:noFill/>
              </a:ln>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101C5A33-172C-76DA-B61C-DA3758B8371A}"/>
              </a:ext>
            </a:extLst>
          </p:cNvPr>
          <p:cNvSpPr txBox="1"/>
          <p:nvPr/>
        </p:nvSpPr>
        <p:spPr>
          <a:xfrm>
            <a:off x="7579782" y="2420492"/>
            <a:ext cx="1548343"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(13.2)</a:t>
            </a:r>
            <a:endParaRPr lang="zh-CN" altLang="en-US" dirty="0"/>
          </a:p>
        </p:txBody>
      </p:sp>
      <p:sp>
        <p:nvSpPr>
          <p:cNvPr id="3" name="文本框 2">
            <a:extLst>
              <a:ext uri="{FF2B5EF4-FFF2-40B4-BE49-F238E27FC236}">
                <a16:creationId xmlns:a16="http://schemas.microsoft.com/office/drawing/2014/main" id="{A25BCFFF-823B-6CE8-9B6F-0D0889682127}"/>
              </a:ext>
            </a:extLst>
          </p:cNvPr>
          <p:cNvSpPr txBox="1"/>
          <p:nvPr/>
        </p:nvSpPr>
        <p:spPr>
          <a:xfrm>
            <a:off x="7620000" y="5075344"/>
            <a:ext cx="1548343" cy="584775"/>
          </a:xfrm>
          <a:prstGeom prst="rect">
            <a:avLst/>
          </a:prstGeom>
          <a:noFill/>
          <a:ln w="25400">
            <a:noFill/>
          </a:ln>
        </p:spPr>
        <p:txBody>
          <a:bodyPr wrap="square">
            <a:spAutoFit/>
          </a:bodyPr>
          <a:lstStyle/>
          <a:p>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(13.3)</a:t>
            </a:r>
            <a:endParaRPr lang="zh-CN" altLang="en-US" dirty="0"/>
          </a:p>
        </p:txBody>
      </p:sp>
    </p:spTree>
    <p:extLst>
      <p:ext uri="{BB962C8B-B14F-4D97-AF65-F5344CB8AC3E}">
        <p14:creationId xmlns:p14="http://schemas.microsoft.com/office/powerpoint/2010/main" val="32628130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13.2</a:t>
            </a:r>
            <a:endParaRPr lang="zh-CN" altLang="en-US" sz="3600" b="0" dirty="0">
              <a:latin typeface="+mn-lt"/>
              <a:ea typeface="+mn-ea"/>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93</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15875" y="867586"/>
            <a:ext cx="8812973" cy="1077218"/>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设</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r>
              <a:rPr lang="zh-CN" altLang="en-US" sz="3200" dirty="0">
                <a:solidFill>
                  <a:srgbClr val="006699"/>
                </a:solidFill>
                <a:latin typeface="Verdana" panose="020B0604030504040204" pitchFamily="34" charset="0"/>
              </a:rPr>
              <a:t>用分层抽样法估计</a:t>
            </a:r>
            <a:endParaRPr lang="en-US" altLang="zh-CN" sz="3200" dirty="0">
              <a:solidFill>
                <a:srgbClr val="006699"/>
              </a:solidFill>
              <a:latin typeface="Verdana" panose="020B0604030504040204" pitchFamily="34" charset="0"/>
            </a:endParaRPr>
          </a:p>
        </p:txBody>
      </p:sp>
      <p:pic>
        <p:nvPicPr>
          <p:cNvPr id="4" name="图片 3">
            <a:extLst>
              <a:ext uri="{FF2B5EF4-FFF2-40B4-BE49-F238E27FC236}">
                <a16:creationId xmlns:a16="http://schemas.microsoft.com/office/drawing/2014/main" id="{CC3D8BBA-8DCA-4339-B62F-7599AFC23EE5}"/>
              </a:ext>
            </a:extLst>
          </p:cNvPr>
          <p:cNvPicPr>
            <a:picLocks noChangeAspect="1"/>
          </p:cNvPicPr>
          <p:nvPr/>
        </p:nvPicPr>
        <p:blipFill>
          <a:blip r:embed="rId2"/>
          <a:stretch>
            <a:fillRect/>
          </a:stretch>
        </p:blipFill>
        <p:spPr>
          <a:xfrm>
            <a:off x="985742" y="922422"/>
            <a:ext cx="2024221" cy="584775"/>
          </a:xfrm>
          <a:prstGeom prst="rect">
            <a:avLst/>
          </a:prstGeom>
        </p:spPr>
      </p:pic>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7A56E7E-468B-4B8B-9784-CC924ED34BE7}"/>
                  </a:ext>
                </a:extLst>
              </p:cNvPr>
              <p:cNvSpPr txBox="1"/>
              <p:nvPr/>
            </p:nvSpPr>
            <p:spPr>
              <a:xfrm>
                <a:off x="3176845" y="1053149"/>
                <a:ext cx="4690532" cy="1198533"/>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𝜃</m:t>
                      </m:r>
                      <m:r>
                        <a:rPr lang="zh-CN" altLang="en-US" sz="3200" i="0">
                          <a:latin typeface="Cambria Math" panose="02040503050406030204" pitchFamily="18" charset="0"/>
                        </a:rPr>
                        <m:t>=</m:t>
                      </m:r>
                      <m:r>
                        <a:rPr lang="zh-CN" altLang="en-US" sz="3200" i="1">
                          <a:latin typeface="Cambria Math" panose="02040503050406030204" pitchFamily="18" charset="0"/>
                        </a:rPr>
                        <m:t>𝐸h</m:t>
                      </m:r>
                      <m:d>
                        <m:dPr>
                          <m:ctrlPr>
                            <a:rPr lang="zh-CN" altLang="en-US" sz="3200" i="1">
                              <a:latin typeface="Cambria Math" panose="02040503050406030204" pitchFamily="18" charset="0"/>
                            </a:rPr>
                          </m:ctrlPr>
                        </m:dPr>
                        <m:e>
                          <m:r>
                            <a:rPr lang="zh-CN" altLang="en-US" sz="3200" i="1">
                              <a:latin typeface="Cambria Math" panose="02040503050406030204" pitchFamily="18" charset="0"/>
                            </a:rPr>
                            <m:t>𝑈</m:t>
                          </m:r>
                        </m:e>
                      </m:d>
                      <m:r>
                        <a:rPr lang="zh-CN" altLang="en-US" sz="3200" i="0">
                          <a:latin typeface="Cambria Math" panose="02040503050406030204" pitchFamily="18" charset="0"/>
                        </a:rPr>
                        <m:t>=</m:t>
                      </m:r>
                      <m:nary>
                        <m:naryPr>
                          <m:limLoc m:val="subSup"/>
                          <m:grow m:val="on"/>
                          <m:ctrlPr>
                            <a:rPr lang="zh-CN" altLang="en-US" sz="3200" i="1">
                              <a:latin typeface="Cambria Math" panose="02040503050406030204" pitchFamily="18" charset="0"/>
                            </a:rPr>
                          </m:ctrlPr>
                        </m:naryPr>
                        <m:sub>
                          <m:r>
                            <a:rPr lang="zh-CN" altLang="en-US" sz="3200" i="0">
                              <a:latin typeface="Cambria Math" panose="02040503050406030204" pitchFamily="18" charset="0"/>
                            </a:rPr>
                            <m:t>0</m:t>
                          </m:r>
                        </m:sub>
                        <m:sup>
                          <m:r>
                            <a:rPr lang="zh-CN" altLang="en-US" sz="3200" i="0">
                              <a:latin typeface="Cambria Math" panose="02040503050406030204" pitchFamily="18" charset="0"/>
                            </a:rPr>
                            <m:t>1</m:t>
                          </m:r>
                        </m:sup>
                        <m:e>
                          <m:r>
                            <a:rPr lang="zh-CN" altLang="en-US" sz="3200" i="1">
                              <a:latin typeface="Cambria Math" panose="02040503050406030204" pitchFamily="18" charset="0"/>
                            </a:rPr>
                            <m:t>h</m:t>
                          </m:r>
                        </m:e>
                      </m:nary>
                      <m:d>
                        <m:dPr>
                          <m:ctrlPr>
                            <a:rPr lang="zh-CN" altLang="en-US" sz="3200" i="1">
                              <a:latin typeface="Cambria Math" panose="02040503050406030204" pitchFamily="18" charset="0"/>
                            </a:rPr>
                          </m:ctrlPr>
                        </m:dPr>
                        <m:e>
                          <m:r>
                            <a:rPr lang="zh-CN" altLang="en-US" sz="3200" i="1">
                              <a:latin typeface="Cambria Math" panose="02040503050406030204" pitchFamily="18" charset="0"/>
                            </a:rPr>
                            <m:t>𝑥</m:t>
                          </m:r>
                        </m:e>
                      </m:d>
                      <m:r>
                        <a:rPr lang="zh-CN" altLang="en-US" sz="3200" i="1">
                          <a:latin typeface="Cambria Math" panose="02040503050406030204" pitchFamily="18" charset="0"/>
                        </a:rPr>
                        <m:t>𝑑𝑥</m:t>
                      </m:r>
                    </m:oMath>
                  </m:oMathPara>
                </a14:m>
                <a:endParaRPr lang="zh-CN" altLang="en-US" dirty="0"/>
              </a:p>
            </p:txBody>
          </p:sp>
        </mc:Choice>
        <mc:Fallback xmlns="">
          <p:sp>
            <p:nvSpPr>
              <p:cNvPr id="16" name="文本框 15">
                <a:extLst>
                  <a:ext uri="{FF2B5EF4-FFF2-40B4-BE49-F238E27FC236}">
                    <a16:creationId xmlns:a16="http://schemas.microsoft.com/office/drawing/2014/main" id="{77A56E7E-468B-4B8B-9784-CC924ED34BE7}"/>
                  </a:ext>
                </a:extLst>
              </p:cNvPr>
              <p:cNvSpPr txBox="1">
                <a:spLocks noRot="1" noChangeAspect="1" noMove="1" noResize="1" noEditPoints="1" noAdjustHandles="1" noChangeArrowheads="1" noChangeShapeType="1" noTextEdit="1"/>
              </p:cNvSpPr>
              <p:nvPr/>
            </p:nvSpPr>
            <p:spPr>
              <a:xfrm>
                <a:off x="3176845" y="1053149"/>
                <a:ext cx="4690532" cy="1198533"/>
              </a:xfrm>
              <a:prstGeom prst="rect">
                <a:avLst/>
              </a:prstGeom>
              <a:blipFill>
                <a:blip r:embed="rId3"/>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308D7D4-399E-A805-722A-6E2CBE20E125}"/>
                  </a:ext>
                </a:extLst>
              </p:cNvPr>
              <p:cNvSpPr txBox="1"/>
              <p:nvPr/>
            </p:nvSpPr>
            <p:spPr>
              <a:xfrm>
                <a:off x="99246" y="2300519"/>
                <a:ext cx="9044754" cy="4173643"/>
              </a:xfrm>
              <a:prstGeom prst="rect">
                <a:avLst/>
              </a:prstGeom>
              <a:noFill/>
              <a:ln w="25400">
                <a:noFill/>
              </a:ln>
            </p:spPr>
            <p:txBody>
              <a:bodyPr wrap="square">
                <a:spAutoFit/>
              </a:bodyPr>
              <a:lstStyle/>
              <a:p>
                <a:pPr>
                  <a:spcBef>
                    <a:spcPts val="900"/>
                  </a:spcBef>
                  <a:spcAft>
                    <a:spcPts val="900"/>
                  </a:spcAft>
                </a:pPr>
                <a:r>
                  <a:rPr lang="zh-CN" altLang="en-US" dirty="0">
                    <a:solidFill>
                      <a:srgbClr val="FF0000"/>
                    </a:solidFill>
                    <a:latin typeface="Verdana" panose="020B0604030504040204" pitchFamily="34" charset="0"/>
                  </a:rPr>
                  <a:t>解：</a:t>
                </a:r>
                <a:r>
                  <a:rPr lang="en-US" altLang="zh-CN" sz="1800" dirty="0">
                    <a:effectLst/>
                    <a:latin typeface="等线" panose="02010600030101010101" pitchFamily="2" charset="-122"/>
                    <a:ea typeface="等线" panose="02010600030101010101" pitchFamily="2" charset="-122"/>
                    <a:cs typeface="Times New Roman" panose="02020603050405020304" pitchFamily="18" charset="0"/>
                  </a:rPr>
                  <a:t>令</a:t>
                </a:r>
                <a14:m>
                  <m:oMath xmlns:m="http://schemas.openxmlformats.org/officeDocument/2006/math">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𝑌</m:t>
                    </m:r>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m:t>
                    </m:r>
                    <m:r>
                      <m:rPr>
                        <m:nor/>
                      </m:rPr>
                      <a:rPr lang="en-US" altLang="zh-CN" sz="1800">
                        <a:effectLst/>
                        <a:latin typeface="Aptos" panose="020B0004020202020204" pitchFamily="34" charset="0"/>
                        <a:ea typeface="等线" panose="02010600030101010101" pitchFamily="2" charset="-122"/>
                        <a:cs typeface="Times New Roman" panose="02020603050405020304" pitchFamily="18" charset="0"/>
                      </a:rPr>
                      <m:t>ceiling</m:t>
                    </m:r>
                    <m:d>
                      <m:d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𝑚𝑈</m:t>
                        </m:r>
                      </m:e>
                    </m:d>
                  </m:oMath>
                </a14:m>
                <a:r>
                  <a:rPr lang="en-US" altLang="zh-CN" sz="1800" dirty="0">
                    <a:effectLst/>
                    <a:latin typeface="Aptos" panose="020B0004020202020204" pitchFamily="34" charset="0"/>
                    <a:ea typeface="等线" panose="02010600030101010101" pitchFamily="2" charset="-122"/>
                    <a:cs typeface="Times New Roman" panose="02020603050405020304" pitchFamily="18" charset="0"/>
                  </a:rPr>
                  <a:t>, </a:t>
                </a:r>
                <a:r>
                  <a:rPr lang="en-US" altLang="zh-CN" sz="1800" dirty="0" err="1">
                    <a:effectLst/>
                    <a:latin typeface="等线" panose="02010600030101010101" pitchFamily="2" charset="-122"/>
                    <a:ea typeface="等线" panose="02010600030101010101" pitchFamily="2" charset="-122"/>
                    <a:cs typeface="Times New Roman" panose="02020603050405020304" pitchFamily="18" charset="0"/>
                  </a:rPr>
                  <a:t>即当且仅当</a:t>
                </a:r>
                <a14:m>
                  <m:oMath xmlns:m="http://schemas.openxmlformats.org/officeDocument/2006/math">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𝑗</m:t>
                        </m:r>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𝑚</m:t>
                        </m:r>
                      </m:den>
                    </m:f>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&lt;</m:t>
                    </m:r>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𝑈</m:t>
                    </m:r>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𝑗</m:t>
                        </m:r>
                      </m:num>
                      <m:den>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𝑚</m:t>
                        </m:r>
                      </m:den>
                    </m:f>
                  </m:oMath>
                </a14:m>
                <a:r>
                  <a:rPr lang="en-US" altLang="zh-CN" sz="1800" dirty="0">
                    <a:effectLst/>
                    <a:latin typeface="等线" panose="02010600030101010101" pitchFamily="2" charset="-122"/>
                    <a:ea typeface="等线" panose="02010600030101010101" pitchFamily="2" charset="-122"/>
                    <a:cs typeface="Times New Roman" panose="02020603050405020304" pitchFamily="18" charset="0"/>
                  </a:rPr>
                  <a:t>时</a:t>
                </a:r>
                <a14:m>
                  <m:oMath xmlns:m="http://schemas.openxmlformats.org/officeDocument/2006/math">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𝑌</m:t>
                    </m:r>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𝑗</m:t>
                    </m:r>
                  </m:oMath>
                </a14:m>
                <a:r>
                  <a:rPr lang="en-US" altLang="zh-CN" sz="18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dirty="0">
                    <a:effectLst/>
                    <a:latin typeface="Aptos" panose="020B0004020202020204" pitchFamily="34" charset="0"/>
                    <a:ea typeface="等线" panose="02010600030101010101" pitchFamily="2" charset="-122"/>
                    <a:cs typeface="Times New Roman" panose="02020603050405020304" pitchFamily="18" charset="0"/>
                  </a:rPr>
                  <a:t> </a:t>
                </a:r>
                <a14:m>
                  <m:oMath xmlns:m="http://schemas.openxmlformats.org/officeDocument/2006/math">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𝑗</m:t>
                    </m:r>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1</m:t>
                    </m:r>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2</m:t>
                    </m:r>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𝑚</m:t>
                    </m:r>
                  </m:oMath>
                </a14:m>
                <a:r>
                  <a:rPr lang="en-US" altLang="zh-CN" sz="1800" dirty="0">
                    <a:effectLst/>
                    <a:latin typeface="Aptos" panose="020B0004020202020204" pitchFamily="34" charset="0"/>
                    <a:ea typeface="等线" panose="02010600030101010101" pitchFamily="2" charset="-122"/>
                    <a:cs typeface="Times New Roman" panose="02020603050405020304" pitchFamily="18" charset="0"/>
                  </a:rPr>
                  <a:t>, </a:t>
                </a:r>
              </a:p>
              <a:p>
                <a:pPr>
                  <a:spcBef>
                    <a:spcPts val="900"/>
                  </a:spcBef>
                  <a:spcAft>
                    <a:spcPts val="900"/>
                  </a:spcAft>
                </a:pPr>
                <a:r>
                  <a:rPr lang="en-US" altLang="zh-CN" sz="1800" dirty="0" err="1">
                    <a:effectLst/>
                    <a:latin typeface="等线" panose="02010600030101010101" pitchFamily="2" charset="-122"/>
                    <a:ea typeface="等线" panose="02010600030101010101" pitchFamily="2" charset="-122"/>
                    <a:cs typeface="Times New Roman" panose="02020603050405020304" pitchFamily="18" charset="0"/>
                  </a:rPr>
                  <a:t>可以按照</a:t>
                </a:r>
                <a14:m>
                  <m:oMath xmlns:m="http://schemas.openxmlformats.org/officeDocument/2006/math">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𝑌</m:t>
                    </m:r>
                  </m:oMath>
                </a14:m>
                <a:r>
                  <a:rPr lang="en-US" altLang="zh-CN" sz="1800" dirty="0" err="1">
                    <a:effectLst/>
                    <a:latin typeface="等线" panose="02010600030101010101" pitchFamily="2" charset="-122"/>
                    <a:ea typeface="等线" panose="02010600030101010101" pitchFamily="2" charset="-122"/>
                    <a:cs typeface="Times New Roman" panose="02020603050405020304" pitchFamily="18" charset="0"/>
                  </a:rPr>
                  <a:t>分层抽样估计</a:t>
                </a:r>
                <a14:m>
                  <m:oMath xmlns:m="http://schemas.openxmlformats.org/officeDocument/2006/math">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𝜃</m:t>
                    </m:r>
                  </m:oMath>
                </a14:m>
                <a:r>
                  <a:rPr lang="en-US" altLang="zh-CN" sz="1800" dirty="0">
                    <a:effectLst/>
                    <a:latin typeface="Aptos" panose="020B0004020202020204" pitchFamily="34" charset="0"/>
                    <a:ea typeface="等线" panose="02010600030101010101" pitchFamily="2" charset="-122"/>
                    <a:cs typeface="Times New Roman" panose="02020603050405020304" pitchFamily="18" charset="0"/>
                  </a:rPr>
                  <a:t>:</a:t>
                </a:r>
                <a:endParaRPr lang="zh-CN" altLang="zh-CN" sz="1800" dirty="0">
                  <a:effectLst/>
                  <a:latin typeface="Aptos" panose="020B0004020202020204" pitchFamily="34" charset="0"/>
                  <a:ea typeface="等线" panose="02010600030101010101" pitchFamily="2" charset="-122"/>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𝜃</m:t>
                            </m:r>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𝐸</m:t>
                            </m:r>
                            <m:d>
                              <m:dPr>
                                <m:begChr m:val="["/>
                                <m:endChr m:val="]"/>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等线" panose="02010600030101010101" pitchFamily="2" charset="-122"/>
                                    <a:cs typeface="Times New Roman" panose="02020603050405020304" pitchFamily="18" charset="0"/>
                                  </a:rPr>
                                  <m:t>h</m:t>
                                </m:r>
                                <m:d>
                                  <m:d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等线" panose="02010600030101010101" pitchFamily="2" charset="-122"/>
                                        <a:cs typeface="Times New Roman" panose="02020603050405020304" pitchFamily="18" charset="0"/>
                                      </a:rPr>
                                      <m:t>𝑈</m:t>
                                    </m:r>
                                  </m:e>
                                </m:d>
                              </m:e>
                            </m:d>
                            <m:r>
                              <a:rPr lang="en-US" altLang="zh-CN">
                                <a:latin typeface="Cambria Math" panose="02040503050406030204" pitchFamily="18" charset="0"/>
                                <a:ea typeface="等线" panose="02010600030101010101" pitchFamily="2" charset="-122"/>
                                <a:cs typeface="Times New Roman" panose="02020603050405020304" pitchFamily="18" charset="0"/>
                              </a:rPr>
                              <m:t>=</m:t>
                            </m:r>
                            <m:nary>
                              <m:naryPr>
                                <m:chr m:val="∑"/>
                                <m:limLoc m:val="undOv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latin typeface="Cambria Math" panose="02040503050406030204" pitchFamily="18" charset="0"/>
                                    <a:ea typeface="等线" panose="02010600030101010101" pitchFamily="2" charset="-122"/>
                                    <a:cs typeface="Times New Roman" panose="02020603050405020304" pitchFamily="18" charset="0"/>
                                  </a:rPr>
                                  <m:t>𝑗</m:t>
                                </m:r>
                                <m:r>
                                  <a:rPr lang="en-US" altLang="zh-CN">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i="1">
                                    <a:latin typeface="Cambria Math" panose="02040503050406030204" pitchFamily="18" charset="0"/>
                                    <a:ea typeface="等线" panose="02010600030101010101" pitchFamily="2" charset="-122"/>
                                    <a:cs typeface="Times New Roman" panose="02020603050405020304" pitchFamily="18" charset="0"/>
                                  </a:rPr>
                                  <m:t>𝑚</m:t>
                                </m:r>
                              </m:sup>
                              <m:e>
                                <m:r>
                                  <a:rPr lang="en-US" altLang="zh-CN" i="1">
                                    <a:latin typeface="Cambria Math" panose="02040503050406030204" pitchFamily="18" charset="0"/>
                                    <a:ea typeface="等线" panose="02010600030101010101" pitchFamily="2" charset="-122"/>
                                    <a:cs typeface="Times New Roman" panose="02020603050405020304" pitchFamily="18" charset="0"/>
                                  </a:rPr>
                                  <m:t>𝐸</m:t>
                                </m:r>
                              </m:e>
                            </m:nary>
                            <m:d>
                              <m:dPr>
                                <m:begChr m:val="["/>
                                <m:endChr m:val="]"/>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等线" panose="02010600030101010101" pitchFamily="2" charset="-122"/>
                                    <a:cs typeface="Times New Roman" panose="02020603050405020304" pitchFamily="18" charset="0"/>
                                  </a:rPr>
                                  <m:t>h</m:t>
                                </m:r>
                                <m:d>
                                  <m:d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等线" panose="02010600030101010101" pitchFamily="2" charset="-122"/>
                                        <a:cs typeface="Times New Roman" panose="02020603050405020304" pitchFamily="18" charset="0"/>
                                      </a:rPr>
                                      <m:t>𝑈</m:t>
                                    </m:r>
                                  </m:e>
                                </m:d>
                                <m:r>
                                  <a:rPr lang="en-US" altLang="zh-CN">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𝑌</m:t>
                                </m:r>
                                <m:r>
                                  <a:rPr lang="en-US" altLang="zh-CN">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𝑗</m:t>
                                </m:r>
                              </m:e>
                            </m:d>
                            <m:r>
                              <a:rPr lang="en-US" altLang="zh-CN" i="1">
                                <a:latin typeface="Cambria Math" panose="02040503050406030204" pitchFamily="18" charset="0"/>
                                <a:ea typeface="等线" panose="02010600030101010101" pitchFamily="2" charset="-122"/>
                                <a:cs typeface="Times New Roman" panose="02020603050405020304" pitchFamily="18" charset="0"/>
                              </a:rPr>
                              <m:t> </m:t>
                            </m:r>
                            <m:r>
                              <a:rPr lang="en-US" altLang="zh-CN" i="1">
                                <a:latin typeface="Cambria Math" panose="02040503050406030204" pitchFamily="18" charset="0"/>
                                <a:ea typeface="等线" panose="02010600030101010101" pitchFamily="2" charset="-122"/>
                                <a:cs typeface="Times New Roman" panose="02020603050405020304" pitchFamily="18" charset="0"/>
                              </a:rPr>
                              <m:t>𝑃</m:t>
                            </m:r>
                            <m:d>
                              <m:d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等线" panose="02010600030101010101" pitchFamily="2" charset="-122"/>
                                    <a:cs typeface="Times New Roman" panose="02020603050405020304" pitchFamily="18" charset="0"/>
                                  </a:rPr>
                                  <m:t>𝑌</m:t>
                                </m:r>
                                <m:r>
                                  <a:rPr lang="en-US" altLang="zh-CN">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𝑗</m:t>
                                </m:r>
                              </m:e>
                            </m:d>
                            <m:r>
                              <a:rPr lang="en-US" altLang="zh-CN">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i="1">
                                    <a:latin typeface="Cambria Math" panose="02040503050406030204" pitchFamily="18" charset="0"/>
                                    <a:ea typeface="等线" panose="02010600030101010101" pitchFamily="2" charset="-122"/>
                                    <a:cs typeface="Times New Roman" panose="02020603050405020304" pitchFamily="18" charset="0"/>
                                  </a:rPr>
                                  <m:t>𝑚</m:t>
                                </m:r>
                              </m:den>
                            </m:f>
                            <m:nary>
                              <m:naryPr>
                                <m:chr m:val="∑"/>
                                <m:limLoc m:val="undOv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latin typeface="Cambria Math" panose="02040503050406030204" pitchFamily="18" charset="0"/>
                                    <a:ea typeface="等线" panose="02010600030101010101" pitchFamily="2" charset="-122"/>
                                    <a:cs typeface="Times New Roman" panose="02020603050405020304" pitchFamily="18" charset="0"/>
                                  </a:rPr>
                                  <m:t>𝑗</m:t>
                                </m:r>
                                <m:r>
                                  <a:rPr lang="en-US" altLang="zh-CN">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i="1">
                                    <a:latin typeface="Cambria Math" panose="02040503050406030204" pitchFamily="18" charset="0"/>
                                    <a:ea typeface="等线" panose="02010600030101010101" pitchFamily="2" charset="-122"/>
                                    <a:cs typeface="Times New Roman" panose="02020603050405020304" pitchFamily="18" charset="0"/>
                                  </a:rPr>
                                  <m:t>𝑚</m:t>
                                </m:r>
                              </m:sup>
                              <m:e>
                                <m:r>
                                  <a:rPr lang="en-US" altLang="zh-CN" i="1">
                                    <a:latin typeface="Cambria Math" panose="02040503050406030204" pitchFamily="18" charset="0"/>
                                    <a:ea typeface="等线" panose="02010600030101010101" pitchFamily="2" charset="-122"/>
                                    <a:cs typeface="Times New Roman" panose="02020603050405020304" pitchFamily="18" charset="0"/>
                                  </a:rPr>
                                  <m:t>𝐸</m:t>
                                </m:r>
                              </m:e>
                            </m:nary>
                            <m:d>
                              <m:dPr>
                                <m:begChr m:val="["/>
                                <m:endChr m:val="]"/>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等线" panose="02010600030101010101" pitchFamily="2" charset="-122"/>
                                    <a:cs typeface="Times New Roman" panose="02020603050405020304" pitchFamily="18" charset="0"/>
                                  </a:rPr>
                                  <m:t>h</m:t>
                                </m:r>
                                <m:d>
                                  <m:d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等线" panose="02010600030101010101" pitchFamily="2" charset="-122"/>
                                        <a:cs typeface="Times New Roman" panose="02020603050405020304" pitchFamily="18" charset="0"/>
                                      </a:rPr>
                                      <m:t>𝑈</m:t>
                                    </m:r>
                                  </m:e>
                                </m:d>
                                <m:r>
                                  <a:rPr lang="en-US" altLang="zh-CN">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𝑌</m:t>
                                </m:r>
                                <m:r>
                                  <a:rPr lang="en-US" altLang="zh-CN">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𝑗</m:t>
                                </m:r>
                              </m:e>
                            </m:d>
                          </m:e>
                          <m:e/>
                        </m:mr>
                        <m:mr>
                          <m:e/>
                          <m:e/>
                        </m:mr>
                      </m:m>
                    </m:oMath>
                  </m:oMathPara>
                </a14:m>
                <a:endParaRPr lang="zh-CN" altLang="zh-CN" sz="1800" dirty="0">
                  <a:effectLst/>
                  <a:latin typeface="Aptos" panose="020B0004020202020204" pitchFamily="34" charset="0"/>
                  <a:ea typeface="等线" panose="02010600030101010101" pitchFamily="2" charset="-122"/>
                  <a:cs typeface="Times New Roman" panose="02020603050405020304" pitchFamily="18" charset="0"/>
                </a:endParaRPr>
              </a:p>
              <a:p>
                <a:pPr>
                  <a:spcBef>
                    <a:spcPts val="900"/>
                  </a:spcBef>
                  <a:spcAft>
                    <a:spcPts val="900"/>
                  </a:spcAft>
                </a:pPr>
                <a:r>
                  <a:rPr lang="en-US" altLang="zh-CN" sz="1800" dirty="0" err="1">
                    <a:effectLst/>
                    <a:latin typeface="等线" panose="02010600030101010101" pitchFamily="2" charset="-122"/>
                    <a:ea typeface="等线" panose="02010600030101010101" pitchFamily="2" charset="-122"/>
                    <a:cs typeface="Times New Roman" panose="02020603050405020304" pitchFamily="18" charset="0"/>
                  </a:rPr>
                  <a:t>易见</a:t>
                </a:r>
                <a14:m>
                  <m:oMath xmlns:m="http://schemas.openxmlformats.org/officeDocument/2006/math">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𝑌</m:t>
                    </m:r>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𝑗</m:t>
                    </m:r>
                  </m:oMath>
                </a14:m>
                <a:r>
                  <a:rPr lang="en-US" altLang="zh-CN" sz="1800" dirty="0" err="1">
                    <a:effectLst/>
                    <a:latin typeface="等线" panose="02010600030101010101" pitchFamily="2" charset="-122"/>
                    <a:ea typeface="等线" panose="02010600030101010101" pitchFamily="2" charset="-122"/>
                    <a:cs typeface="Times New Roman" panose="02020603050405020304" pitchFamily="18" charset="0"/>
                  </a:rPr>
                  <a:t>条件下</a:t>
                </a:r>
                <a14:m>
                  <m:oMath xmlns:m="http://schemas.openxmlformats.org/officeDocument/2006/math">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𝑈</m:t>
                    </m:r>
                  </m:oMath>
                </a14:m>
                <a:r>
                  <a:rPr lang="en-US" altLang="zh-CN" sz="1800" dirty="0" err="1">
                    <a:effectLst/>
                    <a:latin typeface="等线" panose="02010600030101010101" pitchFamily="2" charset="-122"/>
                    <a:ea typeface="等线" panose="02010600030101010101" pitchFamily="2" charset="-122"/>
                    <a:cs typeface="Times New Roman" panose="02020603050405020304" pitchFamily="18" charset="0"/>
                  </a:rPr>
                  <a:t>服从</a:t>
                </a:r>
                <a14:m>
                  <m:oMath xmlns:m="http://schemas.openxmlformats.org/officeDocument/2006/math">
                    <m:d>
                      <m:d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𝑗</m:t>
                            </m:r>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𝑚</m:t>
                            </m:r>
                          </m:den>
                        </m:f>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𝑗</m:t>
                            </m:r>
                          </m:num>
                          <m:den>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𝑚</m:t>
                            </m:r>
                          </m:den>
                        </m:f>
                      </m:e>
                    </m:d>
                  </m:oMath>
                </a14:m>
                <a:r>
                  <a:rPr lang="en-US" altLang="zh-CN" sz="1800" dirty="0" err="1">
                    <a:effectLst/>
                    <a:latin typeface="等线" panose="02010600030101010101" pitchFamily="2" charset="-122"/>
                    <a:ea typeface="等线" panose="02010600030101010101" pitchFamily="2" charset="-122"/>
                    <a:cs typeface="Times New Roman" panose="02020603050405020304" pitchFamily="18" charset="0"/>
                  </a:rPr>
                  <a:t>上的均匀分布</a:t>
                </a:r>
                <a:r>
                  <a:rPr lang="en-US" altLang="zh-CN" sz="18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dirty="0">
                    <a:effectLst/>
                    <a:latin typeface="Aptos" panose="020B0004020202020204" pitchFamily="34" charset="0"/>
                    <a:ea typeface="等线" panose="02010600030101010101" pitchFamily="2" charset="-122"/>
                    <a:cs typeface="Times New Roman" panose="02020603050405020304" pitchFamily="18" charset="0"/>
                  </a:rPr>
                  <a:t> </a:t>
                </a:r>
              </a:p>
              <a:p>
                <a:pPr>
                  <a:spcBef>
                    <a:spcPts val="900"/>
                  </a:spcBef>
                  <a:spcAft>
                    <a:spcPts val="900"/>
                  </a:spcAft>
                </a:pPr>
                <a:r>
                  <a:rPr lang="en-US" altLang="zh-CN" sz="1800" dirty="0">
                    <a:effectLst/>
                    <a:latin typeface="等线" panose="02010600030101010101" pitchFamily="2" charset="-122"/>
                    <a:ea typeface="等线" panose="02010600030101010101" pitchFamily="2" charset="-122"/>
                    <a:cs typeface="Times New Roman" panose="02020603050405020304" pitchFamily="18" charset="0"/>
                  </a:rPr>
                  <a:t>设</a:t>
                </a:r>
                <a14:m>
                  <m:oMath xmlns:m="http://schemas.openxmlformats.org/officeDocument/2006/math">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𝑈</m:t>
                        </m:r>
                      </m:e>
                      <m:sub>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𝑈</m:t>
                        </m:r>
                      </m:e>
                      <m:sub>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𝑈</m:t>
                        </m:r>
                      </m:e>
                      <m:sub>
                        <m:r>
                          <m:rPr>
                            <m:sty m:val="p"/>
                          </m:rPr>
                          <a:rPr lang="en-US" altLang="zh-CN" i="1">
                            <a:latin typeface="Cambria Math" panose="02040503050406030204" pitchFamily="18" charset="0"/>
                            <a:ea typeface="等线" panose="02010600030101010101" pitchFamily="2" charset="-122"/>
                            <a:cs typeface="Times New Roman" panose="02020603050405020304" pitchFamily="18" charset="0"/>
                          </a:rPr>
                          <m:t>m</m:t>
                        </m:r>
                      </m:sub>
                    </m:sSub>
                  </m:oMath>
                </a14:m>
                <a:r>
                  <a:rPr lang="en-US" altLang="zh-CN" sz="1800" dirty="0">
                    <a:effectLst/>
                    <a:latin typeface="等线" panose="02010600030101010101" pitchFamily="2" charset="-122"/>
                    <a:ea typeface="等线" panose="02010600030101010101" pitchFamily="2" charset="-122"/>
                    <a:cs typeface="Times New Roman" panose="02020603050405020304" pitchFamily="18" charset="0"/>
                  </a:rPr>
                  <a:t>是</a:t>
                </a:r>
                <a14:m>
                  <m:oMath xmlns:m="http://schemas.openxmlformats.org/officeDocument/2006/math">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𝑈</m:t>
                    </m:r>
                    <m:d>
                      <m:d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0</m:t>
                        </m:r>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1</m:t>
                        </m:r>
                      </m:e>
                    </m:d>
                  </m:oMath>
                </a14:m>
                <a:r>
                  <a:rPr lang="en-US" altLang="zh-CN" sz="1800" dirty="0" err="1">
                    <a:effectLst/>
                    <a:latin typeface="等线" panose="02010600030101010101" pitchFamily="2" charset="-122"/>
                    <a:ea typeface="等线" panose="02010600030101010101" pitchFamily="2" charset="-122"/>
                    <a:cs typeface="Times New Roman" panose="02020603050405020304" pitchFamily="18" charset="0"/>
                  </a:rPr>
                  <a:t>的独立抽样，则用分层抽样法取每层</a:t>
                </a:r>
                <a14:m>
                  <m:oMath xmlns:m="http://schemas.openxmlformats.org/officeDocument/2006/math">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𝑁</m:t>
                        </m:r>
                      </m:e>
                      <m:sub>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𝑗</m:t>
                        </m:r>
                      </m:sub>
                    </m:sSub>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1</m:t>
                    </m:r>
                  </m:oMath>
                </a14:m>
                <a:r>
                  <a:rPr lang="en-US" altLang="zh-CN" sz="1800" dirty="0" err="1">
                    <a:effectLst/>
                    <a:latin typeface="等线" panose="02010600030101010101" pitchFamily="2" charset="-122"/>
                    <a:ea typeface="等线" panose="02010600030101010101" pitchFamily="2" charset="-122"/>
                    <a:cs typeface="Times New Roman" panose="02020603050405020304" pitchFamily="18" charset="0"/>
                  </a:rPr>
                  <a:t>估计</a:t>
                </a:r>
                <a14:m>
                  <m:oMath xmlns:m="http://schemas.openxmlformats.org/officeDocument/2006/math">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𝜃</m:t>
                    </m:r>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𝐸h</m:t>
                    </m:r>
                    <m:d>
                      <m:d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𝑈</m:t>
                        </m:r>
                      </m:e>
                    </m:d>
                  </m:oMath>
                </a14:m>
                <a:r>
                  <a:rPr lang="en-US" altLang="zh-CN" sz="1800" dirty="0">
                    <a:effectLst/>
                    <a:latin typeface="等线" panose="02010600030101010101" pitchFamily="2" charset="-122"/>
                    <a:ea typeface="等线" panose="02010600030101010101" pitchFamily="2" charset="-122"/>
                    <a:cs typeface="Times New Roman" panose="02020603050405020304" pitchFamily="18" charset="0"/>
                  </a:rPr>
                  <a:t>为</a:t>
                </a:r>
                <a:endParaRPr lang="zh-CN" altLang="zh-CN" sz="1800" dirty="0">
                  <a:effectLst/>
                  <a:latin typeface="Aptos" panose="020B0004020202020204" pitchFamily="34" charset="0"/>
                  <a:ea typeface="等线" panose="02010600030101010101" pitchFamily="2" charset="-122"/>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mPr>
                        <m:mr>
                          <m:e>
                            <m:acc>
                              <m:accPr>
                                <m:chr m:val="̂"/>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𝜃</m:t>
                                </m:r>
                              </m:e>
                            </m:acc>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m:t>
                            </m:r>
                          </m:e>
                          <m:e>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𝑚</m:t>
                                </m:r>
                              </m:den>
                            </m:f>
                            <m:nary>
                              <m:naryPr>
                                <m:chr m:val="∑"/>
                                <m:limLoc m:val="undOv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𝑗</m:t>
                                </m:r>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𝑚</m:t>
                                </m:r>
                              </m:sup>
                              <m:e>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h</m:t>
                                </m:r>
                              </m:e>
                            </m:nary>
                            <m:d>
                              <m:d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𝑗</m:t>
                                    </m:r>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−1</m:t>
                                    </m:r>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𝑈</m:t>
                                        </m:r>
                                      </m:e>
                                      <m:sub>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𝑗</m:t>
                                        </m:r>
                                      </m:sub>
                                    </m:sSub>
                                  </m:num>
                                  <m:den>
                                    <m:r>
                                      <a:rPr lang="en-US" altLang="zh-CN" sz="1800" i="1">
                                        <a:effectLst/>
                                        <a:latin typeface="Cambria Math" panose="02040503050406030204" pitchFamily="18" charset="0"/>
                                        <a:ea typeface="等线" panose="02010600030101010101" pitchFamily="2" charset="-122"/>
                                        <a:cs typeface="Times New Roman" panose="02020603050405020304" pitchFamily="18" charset="0"/>
                                      </a:rPr>
                                      <m:t>𝑚</m:t>
                                    </m:r>
                                  </m:den>
                                </m:f>
                              </m:e>
                            </m:d>
                            <m:r>
                              <a:rPr lang="en-US" altLang="zh-CN" sz="1800">
                                <a:effectLst/>
                                <a:latin typeface="Cambria Math" panose="02040503050406030204" pitchFamily="18" charset="0"/>
                                <a:ea typeface="等线" panose="02010600030101010101" pitchFamily="2" charset="-122"/>
                                <a:cs typeface="Times New Roman" panose="02020603050405020304" pitchFamily="18" charset="0"/>
                              </a:rPr>
                              <m:t>.</m:t>
                            </m:r>
                          </m:e>
                        </m:mr>
                      </m:m>
                    </m:oMath>
                  </m:oMathPara>
                </a14:m>
                <a:endParaRPr lang="zh-CN" altLang="zh-CN" sz="1800" dirty="0">
                  <a:effectLst/>
                  <a:latin typeface="Aptos" panose="020B0004020202020204" pitchFamily="34" charset="0"/>
                  <a:ea typeface="等线" panose="02010600030101010101" pitchFamily="2"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7308D7D4-399E-A805-722A-6E2CBE20E125}"/>
                  </a:ext>
                </a:extLst>
              </p:cNvPr>
              <p:cNvSpPr txBox="1">
                <a:spLocks noRot="1" noChangeAspect="1" noMove="1" noResize="1" noEditPoints="1" noAdjustHandles="1" noChangeArrowheads="1" noChangeShapeType="1" noTextEdit="1"/>
              </p:cNvSpPr>
              <p:nvPr/>
            </p:nvSpPr>
            <p:spPr>
              <a:xfrm>
                <a:off x="99246" y="2300519"/>
                <a:ext cx="9044754" cy="4173643"/>
              </a:xfrm>
              <a:prstGeom prst="rect">
                <a:avLst/>
              </a:prstGeom>
              <a:blipFill>
                <a:blip r:embed="rId4"/>
                <a:stretch>
                  <a:fillRect l="-539"/>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7139664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9BFFE0E-7451-47FD-BB84-27BFC2710C49}"/>
              </a:ext>
            </a:extLst>
          </p:cNvPr>
          <p:cNvSpPr>
            <a:spLocks noGrp="1"/>
          </p:cNvSpPr>
          <p:nvPr>
            <p:ph type="title"/>
          </p:nvPr>
        </p:nvSpPr>
        <p:spPr>
          <a:xfrm>
            <a:off x="792163" y="3962399"/>
            <a:ext cx="7772400" cy="2428875"/>
          </a:xfrm>
        </p:spPr>
        <p:txBody>
          <a:bodyPr/>
          <a:lstStyle/>
          <a:p>
            <a:pPr>
              <a:defRPr/>
            </a:pPr>
            <a:r>
              <a:rPr lang="en-US" altLang="zh-CN" sz="3200" b="0" dirty="0">
                <a:latin typeface="+mn-lt"/>
                <a:ea typeface="+mn-ea"/>
              </a:rPr>
              <a:t>3.5.1 </a:t>
            </a:r>
            <a:r>
              <a:rPr lang="zh-CN" altLang="en-US" sz="3200" b="0" dirty="0">
                <a:latin typeface="+mn-lt"/>
                <a:ea typeface="+mn-ea"/>
              </a:rPr>
              <a:t>控制变量法</a:t>
            </a:r>
            <a:br>
              <a:rPr lang="en-US" altLang="zh-CN" sz="3200" b="0" dirty="0">
                <a:latin typeface="+mn-lt"/>
                <a:ea typeface="+mn-ea"/>
              </a:rPr>
            </a:br>
            <a:r>
              <a:rPr lang="en-US" altLang="zh-CN" sz="3200" b="0" dirty="0">
                <a:latin typeface="+mn-lt"/>
                <a:ea typeface="+mn-ea"/>
              </a:rPr>
              <a:t>3.5.2 </a:t>
            </a:r>
            <a:r>
              <a:rPr lang="zh-CN" altLang="en-US" sz="3200" b="0" dirty="0">
                <a:latin typeface="+mn-lt"/>
                <a:ea typeface="+mn-ea"/>
              </a:rPr>
              <a:t>对立变量法</a:t>
            </a:r>
            <a:br>
              <a:rPr lang="en-US" altLang="zh-CN" sz="3200" b="0" dirty="0">
                <a:latin typeface="+mn-lt"/>
                <a:ea typeface="+mn-ea"/>
              </a:rPr>
            </a:br>
            <a:r>
              <a:rPr lang="en-US" altLang="zh-CN" sz="3200" b="0" dirty="0">
                <a:latin typeface="+mn-lt"/>
                <a:ea typeface="+mn-ea"/>
              </a:rPr>
              <a:t>3.5.3 </a:t>
            </a:r>
            <a:r>
              <a:rPr lang="zh-CN" altLang="en-US" sz="3200" b="0" dirty="0">
                <a:latin typeface="+mn-lt"/>
                <a:ea typeface="+mn-ea"/>
              </a:rPr>
              <a:t>条件期望法</a:t>
            </a:r>
            <a:br>
              <a:rPr lang="en-US" altLang="zh-CN" sz="3200" b="0" dirty="0">
                <a:latin typeface="+mn-lt"/>
                <a:ea typeface="+mn-ea"/>
              </a:rPr>
            </a:br>
            <a:r>
              <a:rPr lang="en-US" altLang="zh-CN" sz="3200" b="0" dirty="0">
                <a:latin typeface="+mn-lt"/>
                <a:ea typeface="+mn-ea"/>
              </a:rPr>
              <a:t>3.5.4 </a:t>
            </a:r>
            <a:r>
              <a:rPr lang="zh-CN" altLang="en-US" sz="3200" b="0" dirty="0">
                <a:latin typeface="+mn-lt"/>
                <a:ea typeface="+mn-ea"/>
              </a:rPr>
              <a:t>随机数复用</a:t>
            </a:r>
          </a:p>
        </p:txBody>
      </p:sp>
      <p:sp>
        <p:nvSpPr>
          <p:cNvPr id="5" name="文本占位符 4">
            <a:extLst>
              <a:ext uri="{FF2B5EF4-FFF2-40B4-BE49-F238E27FC236}">
                <a16:creationId xmlns:a16="http://schemas.microsoft.com/office/drawing/2014/main" id="{876E711A-B3DA-459A-AF28-A432B77A449E}"/>
              </a:ext>
            </a:extLst>
          </p:cNvPr>
          <p:cNvSpPr>
            <a:spLocks noGrp="1"/>
          </p:cNvSpPr>
          <p:nvPr>
            <p:ph type="body" idx="1"/>
          </p:nvPr>
        </p:nvSpPr>
        <p:spPr>
          <a:xfrm>
            <a:off x="722313" y="1554163"/>
            <a:ext cx="7772400" cy="1500187"/>
          </a:xfrm>
        </p:spPr>
        <p:txBody>
          <a:bodyPr/>
          <a:lstStyle/>
          <a:p>
            <a:pPr>
              <a:defRPr/>
            </a:pPr>
            <a:r>
              <a:rPr lang="en-US" altLang="zh-CN" sz="4800" dirty="0">
                <a:solidFill>
                  <a:schemeClr val="tx1"/>
                </a:solidFill>
                <a:latin typeface="微软雅黑" panose="020B0503020204020204" pitchFamily="34" charset="-122"/>
                <a:ea typeface="微软雅黑" panose="020B0503020204020204" pitchFamily="34" charset="-122"/>
              </a:rPr>
              <a:t>3.5 </a:t>
            </a:r>
            <a:r>
              <a:rPr lang="zh-CN" altLang="en-US" sz="4800" dirty="0">
                <a:solidFill>
                  <a:schemeClr val="tx1"/>
                </a:solidFill>
                <a:latin typeface="微软雅黑" panose="020B0503020204020204" pitchFamily="34" charset="-122"/>
                <a:ea typeface="微软雅黑" panose="020B0503020204020204" pitchFamily="34" charset="-122"/>
              </a:rPr>
              <a:t>方差缩减技术</a:t>
            </a:r>
          </a:p>
          <a:p>
            <a:pPr>
              <a:defRPr/>
            </a:pPr>
            <a:endParaRPr lang="zh-CN" altLang="en-US" dirty="0"/>
          </a:p>
        </p:txBody>
      </p:sp>
      <p:sp>
        <p:nvSpPr>
          <p:cNvPr id="46084" name="灯片编号占位符 2">
            <a:extLst>
              <a:ext uri="{FF2B5EF4-FFF2-40B4-BE49-F238E27FC236}">
                <a16:creationId xmlns:a16="http://schemas.microsoft.com/office/drawing/2014/main" id="{9BF0444B-A272-4A53-B7C2-16D6DFD262F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94</a:t>
            </a:fld>
            <a:endParaRPr lang="zh-CN" altLang="en-US">
              <a:solidFill>
                <a:srgbClr val="898989"/>
              </a:solidFill>
            </a:endParaRPr>
          </a:p>
        </p:txBody>
      </p:sp>
    </p:spTree>
    <p:extLst>
      <p:ext uri="{BB962C8B-B14F-4D97-AF65-F5344CB8AC3E}">
        <p14:creationId xmlns:p14="http://schemas.microsoft.com/office/powerpoint/2010/main" val="29761800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3.5 </a:t>
            </a:r>
            <a:r>
              <a:rPr lang="zh-CN" altLang="en-US" sz="3600" b="0" dirty="0">
                <a:latin typeface="+mn-lt"/>
                <a:ea typeface="+mn-ea"/>
              </a:rPr>
              <a:t>方差缩减技术</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95</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0" y="4901175"/>
            <a:ext cx="8812973" cy="1077218"/>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估计随机变量</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X</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a:t>
            </a:r>
            <a:r>
              <a:rPr kumimoji="0" lang="zh-CN" altLang="en-US"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期望</a:t>
            </a:r>
            <a:r>
              <a:rPr kumimoji="0" lang="el-GR" altLang="zh-CN" sz="3200" b="0"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θ</a:t>
            </a:r>
            <a:r>
              <a:rPr kumimoji="0" lang="en-US" altLang="zh-CN" sz="3200" b="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r>
              <a:rPr kumimoji="0" lang="en-US" altLang="zh-CN" sz="3200" b="0"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EX</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r>
              <a:rPr lang="zh-CN" altLang="en-US" sz="3200" dirty="0">
                <a:solidFill>
                  <a:srgbClr val="006699"/>
                </a:solidFill>
                <a:latin typeface="Verdana" panose="020B0604030504040204" pitchFamily="34" charset="0"/>
              </a:rPr>
              <a:t>目标是降低</a:t>
            </a:r>
            <a:r>
              <a:rPr kumimoji="0" lang="el-GR" altLang="zh-CN" sz="3200" b="0"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θ</a:t>
            </a:r>
            <a:r>
              <a:rPr lang="zh-CN" altLang="en-US" sz="3200" dirty="0">
                <a:solidFill>
                  <a:srgbClr val="006699"/>
                </a:solidFill>
                <a:latin typeface="Verdana" panose="020B0604030504040204" pitchFamily="34" charset="0"/>
              </a:rPr>
              <a:t>的估计量的</a:t>
            </a:r>
            <a:r>
              <a:rPr lang="zh-CN" altLang="en-US" sz="3200" b="1" dirty="0">
                <a:solidFill>
                  <a:srgbClr val="006699"/>
                </a:solidFill>
                <a:latin typeface="Verdana" panose="020B0604030504040204" pitchFamily="34" charset="0"/>
              </a:rPr>
              <a:t>渐近方差</a:t>
            </a:r>
          </a:p>
        </p:txBody>
      </p:sp>
      <p:sp>
        <p:nvSpPr>
          <p:cNvPr id="7" name="文本框 6">
            <a:extLst>
              <a:ext uri="{FF2B5EF4-FFF2-40B4-BE49-F238E27FC236}">
                <a16:creationId xmlns:a16="http://schemas.microsoft.com/office/drawing/2014/main" id="{54202F6B-D66E-4404-82EF-66A8C92C64EC}"/>
              </a:ext>
            </a:extLst>
          </p:cNvPr>
          <p:cNvSpPr txBox="1"/>
          <p:nvPr/>
        </p:nvSpPr>
        <p:spPr>
          <a:xfrm>
            <a:off x="0" y="879607"/>
            <a:ext cx="9144000" cy="3046988"/>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随机模拟方法</a:t>
            </a:r>
            <a:r>
              <a:rPr kumimoji="0" lang="zh-CN" altLang="en-US" sz="3200" b="1"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优点</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：适用性广、方法简单</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indent="-457200">
              <a:buFont typeface="Arial" panose="020B0604020202020204" pitchFamily="34" charset="0"/>
              <a:buChar char="•"/>
            </a:pP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随机模拟方法</a:t>
            </a:r>
            <a:r>
              <a:rPr kumimoji="0" lang="zh-CN" altLang="en-US" sz="3200" b="1"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缺点</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：精度低、计算量大</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indent="-457200">
              <a:buFont typeface="Arial" panose="020B0604020202020204" pitchFamily="34" charset="0"/>
              <a:buChar char="•"/>
            </a:pP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减小随机模拟</a:t>
            </a:r>
            <a:r>
              <a:rPr lang="zh-CN" altLang="en-US" sz="3200" dirty="0">
                <a:solidFill>
                  <a:srgbClr val="FF0000"/>
                </a:solidFill>
                <a:latin typeface="Verdana" panose="020B0604030504040204" pitchFamily="34" charset="0"/>
              </a:rPr>
              <a:t>误差方差</a:t>
            </a:r>
            <a:r>
              <a:rPr lang="zh-CN" altLang="en-US" sz="3200" dirty="0">
                <a:solidFill>
                  <a:srgbClr val="006699"/>
                </a:solidFill>
                <a:latin typeface="Verdana" panose="020B0604030504040204" pitchFamily="34" charset="0"/>
              </a:rPr>
              <a:t>， 可以有效节省随机模拟时间</a:t>
            </a:r>
          </a:p>
        </p:txBody>
      </p:sp>
    </p:spTree>
    <p:extLst>
      <p:ext uri="{BB962C8B-B14F-4D97-AF65-F5344CB8AC3E}">
        <p14:creationId xmlns:p14="http://schemas.microsoft.com/office/powerpoint/2010/main" val="15763442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3.5.1 </a:t>
            </a:r>
            <a:r>
              <a:rPr lang="zh-CN" altLang="en-US" sz="3600" b="0" dirty="0">
                <a:latin typeface="+mn-lt"/>
                <a:ea typeface="+mn-ea"/>
              </a:rPr>
              <a:t>控制变量法</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96</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6" y="1052603"/>
            <a:ext cx="8812973" cy="3539430"/>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从</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X</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中抽取</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N</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个独立样本值</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algn="ct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X</a:t>
            </a:r>
            <a:r>
              <a:rPr kumimoji="0" lang="en-US" altLang="zh-CN" sz="3200" b="0" i="0" u="none" strike="noStrike" kern="1200" cap="none" spc="0" normalizeH="0" baseline="-25000" noProof="0" dirty="0">
                <a:ln>
                  <a:noFill/>
                </a:ln>
                <a:solidFill>
                  <a:srgbClr val="006699"/>
                </a:solidFill>
                <a:effectLst/>
                <a:uLnTx/>
                <a:uFillTx/>
                <a:latin typeface="Verdana" panose="020B0604030504040204" pitchFamily="34" charset="0"/>
                <a:ea typeface="宋体" panose="02010600030101010101" pitchFamily="2" charset="-122"/>
                <a:cs typeface="+mn-cs"/>
              </a:rPr>
              <a:t>1</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 X</a:t>
            </a:r>
            <a:r>
              <a:rPr kumimoji="0" lang="en-US" altLang="zh-CN" sz="3200" b="0" i="0" u="none" strike="noStrike" kern="1200" cap="none" spc="0" normalizeH="0" baseline="-25000" noProof="0" dirty="0">
                <a:ln>
                  <a:noFill/>
                </a:ln>
                <a:solidFill>
                  <a:srgbClr val="006699"/>
                </a:solidFill>
                <a:effectLst/>
                <a:uLnTx/>
                <a:uFillTx/>
                <a:latin typeface="Verdana" panose="020B0604030504040204" pitchFamily="34" charset="0"/>
                <a:ea typeface="宋体" panose="02010600030101010101" pitchFamily="2" charset="-122"/>
                <a:cs typeface="+mn-cs"/>
              </a:rPr>
              <a:t>2</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r>
              <a:rPr lang="en-US" altLang="zh-CN" sz="3200" dirty="0">
                <a:solidFill>
                  <a:srgbClr val="006699"/>
                </a:solidFill>
                <a:latin typeface="Verdana" panose="020B0604030504040204" pitchFamily="34" charset="0"/>
              </a:rPr>
              <a:t>…</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 X</a:t>
            </a:r>
            <a:r>
              <a:rPr kumimoji="0" lang="en-US" altLang="zh-CN" sz="3200" b="0" i="0" u="none" strike="noStrike" kern="1200" cap="none" spc="0" normalizeH="0" baseline="-25000" noProof="0" dirty="0">
                <a:ln>
                  <a:noFill/>
                </a:ln>
                <a:solidFill>
                  <a:srgbClr val="006699"/>
                </a:solidFill>
                <a:effectLst/>
                <a:uLnTx/>
                <a:uFillTx/>
                <a:latin typeface="Verdana" panose="020B0604030504040204" pitchFamily="34" charset="0"/>
                <a:ea typeface="宋体" panose="02010600030101010101" pitchFamily="2" charset="-122"/>
                <a:cs typeface="+mn-cs"/>
              </a:rPr>
              <a:t>N</a:t>
            </a:r>
          </a:p>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用样本平均值</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endParaRPr lang="en-US" altLang="zh-CN" sz="3200" dirty="0">
              <a:solidFill>
                <a:srgbClr val="006699"/>
              </a:solidFill>
              <a:latin typeface="Verdana" panose="020B0604030504040204" pitchFamily="34" charset="0"/>
            </a:endParaRPr>
          </a:p>
          <a:p>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估计</a:t>
            </a:r>
            <a:r>
              <a:rPr kumimoji="0" lang="el-GR" altLang="zh-CN" sz="3200" b="0"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θ</a:t>
            </a:r>
            <a:r>
              <a:rPr kumimoji="0" lang="en-US" altLang="zh-CN" sz="3200" b="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EX</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C69E71E-47C3-4653-87C5-E334F2150571}"/>
                  </a:ext>
                </a:extLst>
              </p:cNvPr>
              <p:cNvSpPr txBox="1"/>
              <p:nvPr/>
            </p:nvSpPr>
            <p:spPr>
              <a:xfrm>
                <a:off x="2051720" y="2338961"/>
                <a:ext cx="4690532" cy="147707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3200" i="1" smtClean="0">
                              <a:solidFill>
                                <a:srgbClr val="836967"/>
                              </a:solidFill>
                              <a:latin typeface="Cambria Math" panose="02040503050406030204" pitchFamily="18" charset="0"/>
                            </a:rPr>
                          </m:ctrlPr>
                        </m:accPr>
                        <m:e>
                          <m:r>
                            <a:rPr lang="zh-CN" altLang="en-US" sz="3200" i="1">
                              <a:latin typeface="Cambria Math" panose="02040503050406030204" pitchFamily="18" charset="0"/>
                            </a:rPr>
                            <m:t>𝑋</m:t>
                          </m:r>
                        </m:e>
                      </m:acc>
                      <m:r>
                        <a:rPr lang="zh-CN" altLang="en-US" sz="3200" i="0">
                          <a:latin typeface="Cambria Math" panose="02040503050406030204" pitchFamily="18" charset="0"/>
                        </a:rPr>
                        <m:t>=</m:t>
                      </m:r>
                      <m:f>
                        <m:fPr>
                          <m:ctrlPr>
                            <a:rPr lang="zh-CN" altLang="en-US" sz="3200" i="1">
                              <a:solidFill>
                                <a:srgbClr val="836967"/>
                              </a:solidFill>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1">
                              <a:latin typeface="Cambria Math" panose="02040503050406030204" pitchFamily="18" charset="0"/>
                            </a:rPr>
                            <m:t>𝑁</m:t>
                          </m:r>
                        </m:den>
                      </m:f>
                      <m:nary>
                        <m:naryPr>
                          <m:chr m:val="∑"/>
                          <m:limLoc m:val="undOvr"/>
                          <m:grow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𝑖</m:t>
                          </m:r>
                          <m:r>
                            <a:rPr lang="zh-CN" altLang="en-US" sz="3200" i="0">
                              <a:latin typeface="Cambria Math" panose="02040503050406030204" pitchFamily="18" charset="0"/>
                            </a:rPr>
                            <m:t>=1</m:t>
                          </m:r>
                        </m:sub>
                        <m:sup>
                          <m:r>
                            <a:rPr lang="zh-CN" altLang="en-US" sz="3200" i="1">
                              <a:latin typeface="Cambria Math" panose="02040503050406030204" pitchFamily="18" charset="0"/>
                            </a:rPr>
                            <m:t>𝑁</m:t>
                          </m:r>
                        </m:sup>
                        <m:e>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𝑋</m:t>
                              </m:r>
                            </m:e>
                            <m:sub>
                              <m:r>
                                <a:rPr lang="zh-CN" altLang="en-US" sz="3200" i="1">
                                  <a:latin typeface="Cambria Math" panose="02040503050406030204" pitchFamily="18" charset="0"/>
                                </a:rPr>
                                <m:t>𝑖</m:t>
                              </m:r>
                            </m:sub>
                          </m:sSub>
                        </m:e>
                      </m:nary>
                    </m:oMath>
                  </m:oMathPara>
                </a14:m>
                <a:endParaRPr lang="zh-CN" altLang="en-US" dirty="0"/>
              </a:p>
            </p:txBody>
          </p:sp>
        </mc:Choice>
        <mc:Fallback xmlns="">
          <p:sp>
            <p:nvSpPr>
              <p:cNvPr id="8" name="文本框 7">
                <a:extLst>
                  <a:ext uri="{FF2B5EF4-FFF2-40B4-BE49-F238E27FC236}">
                    <a16:creationId xmlns:a16="http://schemas.microsoft.com/office/drawing/2014/main" id="{FC69E71E-47C3-4653-87C5-E334F2150571}"/>
                  </a:ext>
                </a:extLst>
              </p:cNvPr>
              <p:cNvSpPr txBox="1">
                <a:spLocks noRot="1" noChangeAspect="1" noMove="1" noResize="1" noEditPoints="1" noAdjustHandles="1" noChangeArrowheads="1" noChangeShapeType="1" noTextEdit="1"/>
              </p:cNvSpPr>
              <p:nvPr/>
            </p:nvSpPr>
            <p:spPr>
              <a:xfrm>
                <a:off x="2051720" y="2338961"/>
                <a:ext cx="4690532" cy="1477071"/>
              </a:xfrm>
              <a:prstGeom prst="rect">
                <a:avLst/>
              </a:prstGeom>
              <a:blipFill>
                <a:blip r:embed="rId2"/>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678418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3.5.1 </a:t>
            </a:r>
            <a:r>
              <a:rPr lang="zh-CN" altLang="en-US" sz="3600" b="0" dirty="0">
                <a:latin typeface="+mn-lt"/>
                <a:ea typeface="+mn-ea"/>
              </a:rPr>
              <a:t>控制变量法</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97</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15875" y="1823838"/>
            <a:ext cx="8812973"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令</a:t>
            </a:r>
            <a:r>
              <a:rPr kumimoji="0" lang="en-US" altLang="zh-CN" sz="3200" b="0"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Z</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 = </a:t>
            </a:r>
            <a:r>
              <a:rPr kumimoji="0" lang="en-US" altLang="zh-CN" sz="3200" b="0"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X</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r>
              <a:rPr kumimoji="0" lang="en-US" altLang="zh-CN" sz="3200" b="0"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Y</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 </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则</a:t>
            </a:r>
            <a:endParaRPr lang="zh-CN" altLang="en-US" sz="3200" dirty="0">
              <a:solidFill>
                <a:srgbClr val="006699"/>
              </a:solidFill>
              <a:latin typeface="Verdana" panose="020B0604030504040204" pitchFamily="34" charset="0"/>
            </a:endParaRPr>
          </a:p>
        </p:txBody>
      </p:sp>
      <p:pic>
        <p:nvPicPr>
          <p:cNvPr id="4" name="图片 3">
            <a:extLst>
              <a:ext uri="{FF2B5EF4-FFF2-40B4-BE49-F238E27FC236}">
                <a16:creationId xmlns:a16="http://schemas.microsoft.com/office/drawing/2014/main" id="{66415883-AD5E-4E67-B19E-B2CDAECBC683}"/>
              </a:ext>
            </a:extLst>
          </p:cNvPr>
          <p:cNvPicPr>
            <a:picLocks noChangeAspect="1"/>
          </p:cNvPicPr>
          <p:nvPr/>
        </p:nvPicPr>
        <p:blipFill>
          <a:blip r:embed="rId2"/>
          <a:stretch>
            <a:fillRect/>
          </a:stretch>
        </p:blipFill>
        <p:spPr>
          <a:xfrm>
            <a:off x="1062282" y="2654938"/>
            <a:ext cx="7019435" cy="1211021"/>
          </a:xfrm>
          <a:prstGeom prst="rect">
            <a:avLst/>
          </a:prstGeom>
        </p:spPr>
      </p:pic>
      <p:sp>
        <p:nvSpPr>
          <p:cNvPr id="12" name="文本框 11">
            <a:extLst>
              <a:ext uri="{FF2B5EF4-FFF2-40B4-BE49-F238E27FC236}">
                <a16:creationId xmlns:a16="http://schemas.microsoft.com/office/drawing/2014/main" id="{143C7F0E-8400-49BD-A2E3-DC73FED91616}"/>
              </a:ext>
            </a:extLst>
          </p:cNvPr>
          <p:cNvSpPr txBox="1"/>
          <p:nvPr/>
        </p:nvSpPr>
        <p:spPr>
          <a:xfrm>
            <a:off x="116505" y="4057280"/>
            <a:ext cx="4690532" cy="2062103"/>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只要</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endParaRPr lang="en-US" altLang="zh-CN" sz="3200" dirty="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则</a:t>
            </a:r>
          </a:p>
        </p:txBody>
      </p:sp>
      <p:pic>
        <p:nvPicPr>
          <p:cNvPr id="13" name="图片 12">
            <a:extLst>
              <a:ext uri="{FF2B5EF4-FFF2-40B4-BE49-F238E27FC236}">
                <a16:creationId xmlns:a16="http://schemas.microsoft.com/office/drawing/2014/main" id="{985411F5-DAA0-4C05-AC1A-D05900D026D8}"/>
              </a:ext>
            </a:extLst>
          </p:cNvPr>
          <p:cNvPicPr>
            <a:picLocks noChangeAspect="1"/>
          </p:cNvPicPr>
          <p:nvPr/>
        </p:nvPicPr>
        <p:blipFill>
          <a:blip r:embed="rId3"/>
          <a:stretch>
            <a:fillRect/>
          </a:stretch>
        </p:blipFill>
        <p:spPr>
          <a:xfrm>
            <a:off x="1400289" y="4616659"/>
            <a:ext cx="3733132" cy="502909"/>
          </a:xfrm>
          <a:prstGeom prst="rect">
            <a:avLst/>
          </a:prstGeom>
        </p:spPr>
      </p:pic>
      <p:pic>
        <p:nvPicPr>
          <p:cNvPr id="19" name="图片 18">
            <a:extLst>
              <a:ext uri="{FF2B5EF4-FFF2-40B4-BE49-F238E27FC236}">
                <a16:creationId xmlns:a16="http://schemas.microsoft.com/office/drawing/2014/main" id="{F6EB3EAB-562A-4D87-A90D-46C06ED94AC3}"/>
              </a:ext>
            </a:extLst>
          </p:cNvPr>
          <p:cNvPicPr>
            <a:picLocks noChangeAspect="1"/>
          </p:cNvPicPr>
          <p:nvPr/>
        </p:nvPicPr>
        <p:blipFill>
          <a:blip r:embed="rId4"/>
          <a:stretch>
            <a:fillRect/>
          </a:stretch>
        </p:blipFill>
        <p:spPr>
          <a:xfrm>
            <a:off x="1325895" y="5763093"/>
            <a:ext cx="3246105" cy="611585"/>
          </a:xfrm>
          <a:prstGeom prst="rect">
            <a:avLst/>
          </a:prstGeom>
        </p:spPr>
      </p:pic>
      <p:sp>
        <p:nvSpPr>
          <p:cNvPr id="10" name="文本框 9">
            <a:extLst>
              <a:ext uri="{FF2B5EF4-FFF2-40B4-BE49-F238E27FC236}">
                <a16:creationId xmlns:a16="http://schemas.microsoft.com/office/drawing/2014/main" id="{B8318D7F-EB1E-4B1E-A48C-F7B3D72D7791}"/>
              </a:ext>
            </a:extLst>
          </p:cNvPr>
          <p:cNvSpPr txBox="1"/>
          <p:nvPr/>
        </p:nvSpPr>
        <p:spPr>
          <a:xfrm>
            <a:off x="-15875" y="902605"/>
            <a:ext cx="4690532" cy="584775"/>
          </a:xfrm>
          <a:prstGeom prst="rect">
            <a:avLst/>
          </a:prstGeom>
          <a:noFill/>
          <a:ln w="25400">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设随机变量</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Y</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满足</a:t>
            </a:r>
          </a:p>
        </p:txBody>
      </p:sp>
      <p:pic>
        <p:nvPicPr>
          <p:cNvPr id="11" name="图片 10">
            <a:extLst>
              <a:ext uri="{FF2B5EF4-FFF2-40B4-BE49-F238E27FC236}">
                <a16:creationId xmlns:a16="http://schemas.microsoft.com/office/drawing/2014/main" id="{2306A0C8-68A3-480E-B1FA-D74FDBAC92A0}"/>
              </a:ext>
            </a:extLst>
          </p:cNvPr>
          <p:cNvPicPr>
            <a:picLocks noChangeAspect="1"/>
          </p:cNvPicPr>
          <p:nvPr/>
        </p:nvPicPr>
        <p:blipFill>
          <a:blip r:embed="rId5"/>
          <a:stretch>
            <a:fillRect/>
          </a:stretch>
        </p:blipFill>
        <p:spPr>
          <a:xfrm>
            <a:off x="3266855" y="946986"/>
            <a:ext cx="4471672" cy="618423"/>
          </a:xfrm>
          <a:prstGeom prst="rect">
            <a:avLst/>
          </a:prstGeom>
        </p:spPr>
      </p:pic>
    </p:spTree>
    <p:extLst>
      <p:ext uri="{BB962C8B-B14F-4D97-AF65-F5344CB8AC3E}">
        <p14:creationId xmlns:p14="http://schemas.microsoft.com/office/powerpoint/2010/main" val="26062996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3.5.1 </a:t>
            </a:r>
            <a:r>
              <a:rPr lang="zh-CN" altLang="en-US" sz="3600" b="0" dirty="0">
                <a:latin typeface="+mn-lt"/>
                <a:ea typeface="+mn-ea"/>
              </a:rPr>
              <a:t>控制变量法</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98</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6" y="1052603"/>
            <a:ext cx="8812973" cy="452431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为利用</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Y</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与</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X</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相关性，令  </a:t>
            </a:r>
            <a:r>
              <a:rPr kumimoji="0" lang="en-US" altLang="zh-CN" sz="3200" b="0"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Z</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r>
              <a:rPr kumimoji="0" lang="en-US" altLang="zh-CN" sz="3200" b="0"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b</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 = </a:t>
            </a:r>
            <a:r>
              <a:rPr kumimoji="0" lang="en-US" altLang="zh-CN" sz="3200" b="0"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X</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 + </a:t>
            </a:r>
            <a:r>
              <a:rPr kumimoji="0" lang="en-US" altLang="zh-CN" sz="3200" b="0" i="1" u="none" strike="noStrike" kern="1200" cap="none" spc="0" normalizeH="0" baseline="0" noProof="0" dirty="0" err="1">
                <a:ln>
                  <a:noFill/>
                </a:ln>
                <a:solidFill>
                  <a:srgbClr val="006699"/>
                </a:solidFill>
                <a:effectLst/>
                <a:uLnTx/>
                <a:uFillTx/>
                <a:latin typeface="Verdana" panose="020B0604030504040204" pitchFamily="34" charset="0"/>
                <a:ea typeface="宋体" panose="02010600030101010101" pitchFamily="2" charset="-122"/>
                <a:cs typeface="+mn-cs"/>
              </a:rPr>
              <a:t>bY</a:t>
            </a:r>
            <a:endParaRPr kumimoji="0" lang="en-US" altLang="zh-CN" sz="3200" b="0"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endParaRPr kumimoji="0" lang="en-US" altLang="zh-CN" sz="3200" b="0"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则</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endParaRPr lang="en-US" altLang="zh-CN" sz="3200" dirty="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求</a:t>
            </a:r>
            <a:r>
              <a:rPr lang="en-US" altLang="zh-CN" sz="3200" dirty="0">
                <a:solidFill>
                  <a:srgbClr val="006699"/>
                </a:solidFill>
                <a:latin typeface="Verdana" panose="020B0604030504040204" pitchFamily="34" charset="0"/>
              </a:rPr>
              <a:t>Var(</a:t>
            </a:r>
            <a:r>
              <a:rPr lang="en-US" altLang="zh-CN" sz="3200" i="1" dirty="0">
                <a:solidFill>
                  <a:srgbClr val="006699"/>
                </a:solidFill>
                <a:latin typeface="Verdana" panose="020B0604030504040204" pitchFamily="34" charset="0"/>
              </a:rPr>
              <a:t>Z</a:t>
            </a:r>
            <a:r>
              <a:rPr lang="en-US" altLang="zh-CN" sz="3200" dirty="0">
                <a:solidFill>
                  <a:srgbClr val="006699"/>
                </a:solidFill>
                <a:latin typeface="Verdana" panose="020B0604030504040204" pitchFamily="34" charset="0"/>
              </a:rPr>
              <a:t>(</a:t>
            </a:r>
            <a:r>
              <a:rPr lang="en-US" altLang="zh-CN" sz="3200" i="1" dirty="0">
                <a:solidFill>
                  <a:srgbClr val="006699"/>
                </a:solidFill>
                <a:latin typeface="Verdana" panose="020B0604030504040204" pitchFamily="34" charset="0"/>
              </a:rPr>
              <a:t>b</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关于</a:t>
            </a:r>
            <a:r>
              <a:rPr lang="en-US" altLang="zh-CN" sz="3200" i="1" dirty="0">
                <a:solidFill>
                  <a:srgbClr val="006699"/>
                </a:solidFill>
                <a:latin typeface="Verdana" panose="020B0604030504040204" pitchFamily="34" charset="0"/>
              </a:rPr>
              <a:t>b</a:t>
            </a:r>
            <a:r>
              <a:rPr lang="zh-CN" altLang="en-US" sz="3200" dirty="0">
                <a:solidFill>
                  <a:srgbClr val="006699"/>
                </a:solidFill>
                <a:latin typeface="Verdana" panose="020B0604030504040204" pitchFamily="34" charset="0"/>
              </a:rPr>
              <a:t>的最小值点， 得</a:t>
            </a:r>
            <a:endParaRPr lang="en-US" altLang="zh-CN" sz="3200" dirty="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这时</a:t>
            </a:r>
          </a:p>
        </p:txBody>
      </p:sp>
      <p:pic>
        <p:nvPicPr>
          <p:cNvPr id="5" name="图片 4">
            <a:extLst>
              <a:ext uri="{FF2B5EF4-FFF2-40B4-BE49-F238E27FC236}">
                <a16:creationId xmlns:a16="http://schemas.microsoft.com/office/drawing/2014/main" id="{959B87C1-962D-45A0-A400-8A90E5A24B6B}"/>
              </a:ext>
            </a:extLst>
          </p:cNvPr>
          <p:cNvPicPr>
            <a:picLocks noChangeAspect="1"/>
          </p:cNvPicPr>
          <p:nvPr/>
        </p:nvPicPr>
        <p:blipFill>
          <a:blip r:embed="rId2"/>
          <a:stretch>
            <a:fillRect/>
          </a:stretch>
        </p:blipFill>
        <p:spPr>
          <a:xfrm>
            <a:off x="1151620" y="2198834"/>
            <a:ext cx="7264664" cy="1150239"/>
          </a:xfrm>
          <a:prstGeom prst="rect">
            <a:avLst/>
          </a:prstGeom>
        </p:spPr>
      </p:pic>
      <p:pic>
        <p:nvPicPr>
          <p:cNvPr id="9" name="图片 8">
            <a:extLst>
              <a:ext uri="{FF2B5EF4-FFF2-40B4-BE49-F238E27FC236}">
                <a16:creationId xmlns:a16="http://schemas.microsoft.com/office/drawing/2014/main" id="{A2D117F0-B451-44BF-862B-1388FDAC194C}"/>
              </a:ext>
            </a:extLst>
          </p:cNvPr>
          <p:cNvPicPr>
            <a:picLocks noChangeAspect="1"/>
          </p:cNvPicPr>
          <p:nvPr/>
        </p:nvPicPr>
        <p:blipFill>
          <a:blip r:embed="rId3"/>
          <a:stretch>
            <a:fillRect/>
          </a:stretch>
        </p:blipFill>
        <p:spPr>
          <a:xfrm>
            <a:off x="1022497" y="4301687"/>
            <a:ext cx="7393787" cy="642938"/>
          </a:xfrm>
          <a:prstGeom prst="rect">
            <a:avLst/>
          </a:prstGeom>
        </p:spPr>
      </p:pic>
      <p:pic>
        <p:nvPicPr>
          <p:cNvPr id="17" name="图片 16">
            <a:extLst>
              <a:ext uri="{FF2B5EF4-FFF2-40B4-BE49-F238E27FC236}">
                <a16:creationId xmlns:a16="http://schemas.microsoft.com/office/drawing/2014/main" id="{E572AAEA-F796-452E-BD8C-5CD8080245D5}"/>
              </a:ext>
            </a:extLst>
          </p:cNvPr>
          <p:cNvPicPr>
            <a:picLocks noChangeAspect="1"/>
          </p:cNvPicPr>
          <p:nvPr/>
        </p:nvPicPr>
        <p:blipFill>
          <a:blip r:embed="rId4"/>
          <a:stretch>
            <a:fillRect/>
          </a:stretch>
        </p:blipFill>
        <p:spPr>
          <a:xfrm>
            <a:off x="1188766" y="5604011"/>
            <a:ext cx="7227518" cy="758297"/>
          </a:xfrm>
          <a:prstGeom prst="rect">
            <a:avLst/>
          </a:prstGeom>
        </p:spPr>
      </p:pic>
    </p:spTree>
    <p:extLst>
      <p:ext uri="{BB962C8B-B14F-4D97-AF65-F5344CB8AC3E}">
        <p14:creationId xmlns:p14="http://schemas.microsoft.com/office/powerpoint/2010/main" val="14169364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14.1</a:t>
            </a:r>
            <a:endParaRPr lang="zh-CN" altLang="en-US" sz="3600" b="0" dirty="0">
              <a:latin typeface="+mn-lt"/>
              <a:ea typeface="+mn-ea"/>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99</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6" y="1052603"/>
            <a:ext cx="8812973"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估计</a:t>
            </a:r>
            <a:endParaRPr lang="en-US" altLang="zh-CN"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EEFDE4A-B45E-42A0-A3F1-822E4665F90C}"/>
                  </a:ext>
                </a:extLst>
              </p:cNvPr>
              <p:cNvSpPr txBox="1"/>
              <p:nvPr/>
            </p:nvSpPr>
            <p:spPr>
              <a:xfrm>
                <a:off x="836585" y="979343"/>
                <a:ext cx="4690532" cy="1198533"/>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𝐼</m:t>
                      </m:r>
                      <m:r>
                        <a:rPr lang="zh-CN" altLang="en-US" sz="3200" i="0">
                          <a:latin typeface="Cambria Math" panose="02040503050406030204" pitchFamily="18" charset="0"/>
                        </a:rPr>
                        <m:t>=</m:t>
                      </m:r>
                      <m:nary>
                        <m:naryPr>
                          <m:limLoc m:val="subSup"/>
                          <m:grow m:val="on"/>
                          <m:ctrlPr>
                            <a:rPr lang="zh-CN" altLang="en-US" sz="3200" i="1">
                              <a:latin typeface="Cambria Math" panose="02040503050406030204" pitchFamily="18" charset="0"/>
                            </a:rPr>
                          </m:ctrlPr>
                        </m:naryPr>
                        <m:sub>
                          <m:r>
                            <a:rPr lang="zh-CN" altLang="en-US" sz="3200" i="0">
                              <a:latin typeface="Cambria Math" panose="02040503050406030204" pitchFamily="18" charset="0"/>
                            </a:rPr>
                            <m:t>0</m:t>
                          </m:r>
                        </m:sub>
                        <m:sup>
                          <m:r>
                            <a:rPr lang="zh-CN" altLang="en-US" sz="3200" i="0">
                              <a:latin typeface="Cambria Math" panose="02040503050406030204" pitchFamily="18" charset="0"/>
                            </a:rPr>
                            <m:t>1</m:t>
                          </m:r>
                        </m:sup>
                        <m:e>
                          <m:sSup>
                            <m:sSupPr>
                              <m:ctrlPr>
                                <a:rPr lang="zh-CN" altLang="en-US" sz="3200" i="1">
                                  <a:solidFill>
                                    <a:srgbClr val="836967"/>
                                  </a:solidFill>
                                  <a:latin typeface="Cambria Math" panose="02040503050406030204" pitchFamily="18" charset="0"/>
                                </a:rPr>
                              </m:ctrlPr>
                            </m:sSupPr>
                            <m:e>
                              <m:r>
                                <a:rPr lang="zh-CN" altLang="en-US" sz="3200" i="1">
                                  <a:latin typeface="Cambria Math" panose="02040503050406030204" pitchFamily="18" charset="0"/>
                                </a:rPr>
                                <m:t>𝑒</m:t>
                              </m:r>
                            </m:e>
                            <m:sup>
                              <m:r>
                                <a:rPr lang="zh-CN" altLang="en-US" sz="3200" i="1">
                                  <a:latin typeface="Cambria Math" panose="02040503050406030204" pitchFamily="18" charset="0"/>
                                </a:rPr>
                                <m:t>𝑡</m:t>
                              </m:r>
                            </m:sup>
                          </m:sSup>
                        </m:e>
                      </m:nary>
                      <m:r>
                        <a:rPr lang="zh-CN" altLang="en-US" sz="3200" i="1">
                          <a:latin typeface="Cambria Math" panose="02040503050406030204" pitchFamily="18" charset="0"/>
                        </a:rPr>
                        <m:t>𝑑𝑡</m:t>
                      </m:r>
                    </m:oMath>
                  </m:oMathPara>
                </a14:m>
                <a:endParaRPr lang="zh-CN" altLang="en-US" dirty="0"/>
              </a:p>
            </p:txBody>
          </p:sp>
        </mc:Choice>
        <mc:Fallback xmlns="">
          <p:sp>
            <p:nvSpPr>
              <p:cNvPr id="9" name="文本框 8">
                <a:extLst>
                  <a:ext uri="{FF2B5EF4-FFF2-40B4-BE49-F238E27FC236}">
                    <a16:creationId xmlns:a16="http://schemas.microsoft.com/office/drawing/2014/main" id="{DEEFDE4A-B45E-42A0-A3F1-822E4665F90C}"/>
                  </a:ext>
                </a:extLst>
              </p:cNvPr>
              <p:cNvSpPr txBox="1">
                <a:spLocks noRot="1" noChangeAspect="1" noMove="1" noResize="1" noEditPoints="1" noAdjustHandles="1" noChangeArrowheads="1" noChangeShapeType="1" noTextEdit="1"/>
              </p:cNvSpPr>
              <p:nvPr/>
            </p:nvSpPr>
            <p:spPr>
              <a:xfrm>
                <a:off x="836585" y="979343"/>
                <a:ext cx="4690532" cy="1198533"/>
              </a:xfrm>
              <a:prstGeom prst="rect">
                <a:avLst/>
              </a:prstGeom>
              <a:blipFill>
                <a:blip r:embed="rId2"/>
                <a:stretch>
                  <a:fillRect/>
                </a:stretch>
              </a:blipFill>
              <a:ln w="25400">
                <a:noFill/>
              </a:ln>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6733018B-B89B-4AE2-A155-562D3663BA72}"/>
              </a:ext>
            </a:extLst>
          </p:cNvPr>
          <p:cNvSpPr txBox="1"/>
          <p:nvPr/>
        </p:nvSpPr>
        <p:spPr>
          <a:xfrm>
            <a:off x="109106" y="2393721"/>
            <a:ext cx="4690532"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设</a:t>
            </a:r>
            <a:endParaRPr lang="zh-CN" altLang="en-US" dirty="0"/>
          </a:p>
        </p:txBody>
      </p:sp>
      <p:pic>
        <p:nvPicPr>
          <p:cNvPr id="5" name="图片 4">
            <a:extLst>
              <a:ext uri="{FF2B5EF4-FFF2-40B4-BE49-F238E27FC236}">
                <a16:creationId xmlns:a16="http://schemas.microsoft.com/office/drawing/2014/main" id="{216DD1DB-219B-470D-ABBF-ADE6F4EF0038}"/>
              </a:ext>
            </a:extLst>
          </p:cNvPr>
          <p:cNvPicPr>
            <a:picLocks noChangeAspect="1"/>
          </p:cNvPicPr>
          <p:nvPr/>
        </p:nvPicPr>
        <p:blipFill>
          <a:blip r:embed="rId3"/>
          <a:stretch>
            <a:fillRect/>
          </a:stretch>
        </p:blipFill>
        <p:spPr>
          <a:xfrm>
            <a:off x="1265583" y="2444666"/>
            <a:ext cx="1916268" cy="553589"/>
          </a:xfrm>
          <a:prstGeom prst="rect">
            <a:avLst/>
          </a:prstGeom>
        </p:spPr>
      </p:pic>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6AF6C303-1C1A-4F3C-8699-E18D8E9CA7A3}"/>
                  </a:ext>
                </a:extLst>
              </p:cNvPr>
              <p:cNvSpPr txBox="1"/>
              <p:nvPr/>
            </p:nvSpPr>
            <p:spPr>
              <a:xfrm>
                <a:off x="3478058" y="2424498"/>
                <a:ext cx="1720539" cy="523220"/>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𝑋</m:t>
                      </m:r>
                      <m:r>
                        <a:rPr lang="zh-CN" altLang="en-US" sz="2800" i="0">
                          <a:latin typeface="Cambria Math" panose="02040503050406030204" pitchFamily="18" charset="0"/>
                        </a:rPr>
                        <m:t>=</m:t>
                      </m:r>
                      <m:sSup>
                        <m:sSupPr>
                          <m:ctrlPr>
                            <a:rPr lang="zh-CN" altLang="en-US" sz="2800" i="1">
                              <a:solidFill>
                                <a:srgbClr val="836967"/>
                              </a:solidFill>
                              <a:latin typeface="Cambria Math" panose="02040503050406030204" pitchFamily="18" charset="0"/>
                            </a:rPr>
                          </m:ctrlPr>
                        </m:sSupPr>
                        <m:e>
                          <m:r>
                            <a:rPr lang="zh-CN" altLang="en-US" sz="2800" i="1">
                              <a:latin typeface="Cambria Math" panose="02040503050406030204" pitchFamily="18" charset="0"/>
                            </a:rPr>
                            <m:t>𝑒</m:t>
                          </m:r>
                        </m:e>
                        <m:sup>
                          <m:r>
                            <a:rPr lang="zh-CN" altLang="en-US" sz="2800" i="1">
                              <a:latin typeface="Cambria Math" panose="02040503050406030204" pitchFamily="18" charset="0"/>
                            </a:rPr>
                            <m:t>𝑈</m:t>
                          </m:r>
                        </m:sup>
                      </m:sSup>
                    </m:oMath>
                  </m:oMathPara>
                </a14:m>
                <a:endParaRPr lang="zh-CN" altLang="en-US" sz="1600" dirty="0"/>
              </a:p>
            </p:txBody>
          </p:sp>
        </mc:Choice>
        <mc:Fallback xmlns="">
          <p:sp>
            <p:nvSpPr>
              <p:cNvPr id="13" name="文本框 12">
                <a:extLst>
                  <a:ext uri="{FF2B5EF4-FFF2-40B4-BE49-F238E27FC236}">
                    <a16:creationId xmlns:a16="http://schemas.microsoft.com/office/drawing/2014/main" id="{6AF6C303-1C1A-4F3C-8699-E18D8E9CA7A3}"/>
                  </a:ext>
                </a:extLst>
              </p:cNvPr>
              <p:cNvSpPr txBox="1">
                <a:spLocks noRot="1" noChangeAspect="1" noMove="1" noResize="1" noEditPoints="1" noAdjustHandles="1" noChangeArrowheads="1" noChangeShapeType="1" noTextEdit="1"/>
              </p:cNvSpPr>
              <p:nvPr/>
            </p:nvSpPr>
            <p:spPr>
              <a:xfrm>
                <a:off x="3478058" y="2424498"/>
                <a:ext cx="1720539" cy="523220"/>
              </a:xfrm>
              <a:prstGeom prst="rect">
                <a:avLst/>
              </a:prstGeom>
              <a:blipFill>
                <a:blip r:embed="rId4"/>
                <a:stretch>
                  <a:fillRect/>
                </a:stretch>
              </a:blipFill>
              <a:ln w="25400">
                <a:noFill/>
              </a:ln>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3B084D38-5BC7-4885-86FD-94733D818A94}"/>
              </a:ext>
            </a:extLst>
          </p:cNvPr>
          <p:cNvSpPr txBox="1"/>
          <p:nvPr/>
        </p:nvSpPr>
        <p:spPr>
          <a:xfrm>
            <a:off x="85098" y="3194340"/>
            <a:ext cx="4936951" cy="584775"/>
          </a:xfrm>
          <a:prstGeom prst="rect">
            <a:avLst/>
          </a:prstGeom>
          <a:noFill/>
          <a:ln w="25400">
            <a:noFill/>
          </a:ln>
        </p:spPr>
        <p:txBody>
          <a:bodyPr wrap="square">
            <a:spAutoFit/>
          </a:bodyPr>
          <a:lstStyle/>
          <a:p>
            <a:r>
              <a:rPr kumimoji="0" lang="zh-CN" altLang="en-US"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法</a:t>
            </a:r>
            <a:r>
              <a:rPr kumimoji="0" lang="en-US" altLang="zh-CN"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1</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：用平均值法估计</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I</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为</a:t>
            </a:r>
            <a:endParaRPr lang="zh-CN" altLang="en-US" dirty="0"/>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B1A0CABD-28AF-4ADF-AD92-57F8B7A3A940}"/>
                  </a:ext>
                </a:extLst>
              </p:cNvPr>
              <p:cNvSpPr txBox="1"/>
              <p:nvPr/>
            </p:nvSpPr>
            <p:spPr>
              <a:xfrm>
                <a:off x="1993061" y="3730305"/>
                <a:ext cx="4690532" cy="1477071"/>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smtClean="0">
                              <a:solidFill>
                                <a:srgbClr val="836967"/>
                              </a:solidFill>
                              <a:latin typeface="Cambria Math" panose="02040503050406030204" pitchFamily="18" charset="0"/>
                            </a:rPr>
                          </m:ctrlPr>
                        </m:sSubPr>
                        <m:e>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𝐼</m:t>
                              </m:r>
                            </m:e>
                          </m:acc>
                        </m:e>
                        <m:sub>
                          <m:r>
                            <a:rPr lang="zh-CN" altLang="en-US" sz="3200" i="0">
                              <a:latin typeface="Cambria Math" panose="02040503050406030204" pitchFamily="18" charset="0"/>
                            </a:rPr>
                            <m:t>1</m:t>
                          </m:r>
                        </m:sub>
                      </m:sSub>
                      <m:r>
                        <a:rPr lang="zh-CN" altLang="en-US" sz="3200" i="0">
                          <a:latin typeface="Cambria Math" panose="02040503050406030204" pitchFamily="18" charset="0"/>
                        </a:rPr>
                        <m:t>=</m:t>
                      </m:r>
                      <m:f>
                        <m:fPr>
                          <m:ctrlPr>
                            <a:rPr lang="zh-CN" altLang="en-US" sz="3200" i="1">
                              <a:solidFill>
                                <a:srgbClr val="836967"/>
                              </a:solidFill>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1">
                              <a:latin typeface="Cambria Math" panose="02040503050406030204" pitchFamily="18" charset="0"/>
                            </a:rPr>
                            <m:t>𝑁</m:t>
                          </m:r>
                        </m:den>
                      </m:f>
                      <m:nary>
                        <m:naryPr>
                          <m:chr m:val="∑"/>
                          <m:limLoc m:val="undOvr"/>
                          <m:grow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𝑖</m:t>
                          </m:r>
                          <m:r>
                            <a:rPr lang="zh-CN" altLang="en-US" sz="3200" i="0">
                              <a:latin typeface="Cambria Math" panose="02040503050406030204" pitchFamily="18" charset="0"/>
                            </a:rPr>
                            <m:t>=1</m:t>
                          </m:r>
                        </m:sub>
                        <m:sup>
                          <m:r>
                            <a:rPr lang="zh-CN" altLang="en-US" sz="3200" i="1">
                              <a:latin typeface="Cambria Math" panose="02040503050406030204" pitchFamily="18" charset="0"/>
                            </a:rPr>
                            <m:t>𝑁</m:t>
                          </m:r>
                        </m:sup>
                        <m:e>
                          <m:sSup>
                            <m:sSupPr>
                              <m:ctrlPr>
                                <a:rPr lang="zh-CN" altLang="en-US" sz="3200" i="1">
                                  <a:solidFill>
                                    <a:srgbClr val="836967"/>
                                  </a:solidFill>
                                  <a:latin typeface="Cambria Math" panose="02040503050406030204" pitchFamily="18" charset="0"/>
                                </a:rPr>
                              </m:ctrlPr>
                            </m:sSupPr>
                            <m:e>
                              <m:r>
                                <a:rPr lang="zh-CN" altLang="en-US" sz="3200" i="1">
                                  <a:latin typeface="Cambria Math" panose="02040503050406030204" pitchFamily="18" charset="0"/>
                                </a:rPr>
                                <m:t>𝑒</m:t>
                              </m:r>
                            </m:e>
                            <m:sup>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𝑈</m:t>
                                  </m:r>
                                </m:e>
                                <m:sub>
                                  <m:r>
                                    <a:rPr lang="zh-CN" altLang="en-US" sz="3200" i="1">
                                      <a:latin typeface="Cambria Math" panose="02040503050406030204" pitchFamily="18" charset="0"/>
                                    </a:rPr>
                                    <m:t>𝑖</m:t>
                                  </m:r>
                                </m:sub>
                              </m:sSub>
                            </m:sup>
                          </m:sSup>
                        </m:e>
                      </m:nary>
                    </m:oMath>
                  </m:oMathPara>
                </a14:m>
                <a:endParaRPr lang="zh-CN" altLang="en-US" dirty="0"/>
              </a:p>
            </p:txBody>
          </p:sp>
        </mc:Choice>
        <mc:Fallback xmlns="">
          <p:sp>
            <p:nvSpPr>
              <p:cNvPr id="17" name="文本框 16">
                <a:extLst>
                  <a:ext uri="{FF2B5EF4-FFF2-40B4-BE49-F238E27FC236}">
                    <a16:creationId xmlns:a16="http://schemas.microsoft.com/office/drawing/2014/main" id="{B1A0CABD-28AF-4ADF-AD92-57F8B7A3A940}"/>
                  </a:ext>
                </a:extLst>
              </p:cNvPr>
              <p:cNvSpPr txBox="1">
                <a:spLocks noRot="1" noChangeAspect="1" noMove="1" noResize="1" noEditPoints="1" noAdjustHandles="1" noChangeArrowheads="1" noChangeShapeType="1" noTextEdit="1"/>
              </p:cNvSpPr>
              <p:nvPr/>
            </p:nvSpPr>
            <p:spPr>
              <a:xfrm>
                <a:off x="1993061" y="3730305"/>
                <a:ext cx="4690532" cy="1477071"/>
              </a:xfrm>
              <a:prstGeom prst="rect">
                <a:avLst/>
              </a:prstGeom>
              <a:blipFill>
                <a:blip r:embed="rId5"/>
                <a:stretch>
                  <a:fillRect/>
                </a:stretch>
              </a:blipFill>
              <a:ln w="25400">
                <a:noFill/>
              </a:ln>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1EECEE03-6A9D-4B04-85FB-D50B6493C3B1}"/>
              </a:ext>
            </a:extLst>
          </p:cNvPr>
          <p:cNvSpPr txBox="1"/>
          <p:nvPr/>
        </p:nvSpPr>
        <p:spPr>
          <a:xfrm>
            <a:off x="99246" y="5114394"/>
            <a:ext cx="4690532"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其方差为</a:t>
            </a:r>
            <a:endParaRPr lang="zh-CN" altLang="en-US" dirty="0"/>
          </a:p>
        </p:txBody>
      </p:sp>
      <p:pic>
        <p:nvPicPr>
          <p:cNvPr id="22" name="图片 21">
            <a:extLst>
              <a:ext uri="{FF2B5EF4-FFF2-40B4-BE49-F238E27FC236}">
                <a16:creationId xmlns:a16="http://schemas.microsoft.com/office/drawing/2014/main" id="{584EF8DB-EF0C-468D-8FFF-3D0E1A0E5BE9}"/>
              </a:ext>
            </a:extLst>
          </p:cNvPr>
          <p:cNvPicPr>
            <a:picLocks noChangeAspect="1"/>
          </p:cNvPicPr>
          <p:nvPr/>
        </p:nvPicPr>
        <p:blipFill>
          <a:blip r:embed="rId6"/>
          <a:stretch>
            <a:fillRect/>
          </a:stretch>
        </p:blipFill>
        <p:spPr>
          <a:xfrm>
            <a:off x="2083667" y="5303873"/>
            <a:ext cx="6229859" cy="790591"/>
          </a:xfrm>
          <a:prstGeom prst="rect">
            <a:avLst/>
          </a:prstGeom>
        </p:spPr>
      </p:pic>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BED298C5-3948-41A0-B2C1-87FF1E884C63}"/>
                  </a:ext>
                </a:extLst>
              </p:cNvPr>
              <p:cNvSpPr txBox="1"/>
              <p:nvPr/>
            </p:nvSpPr>
            <p:spPr>
              <a:xfrm>
                <a:off x="5198596" y="2419965"/>
                <a:ext cx="2880311" cy="523220"/>
              </a:xfrm>
              <a:prstGeom prst="rect">
                <a:avLst/>
              </a:prstGeom>
              <a:noFill/>
              <a:ln w="25400">
                <a:noFill/>
              </a:ln>
            </p:spPr>
            <p:txBody>
              <a:bodyPr wrap="square">
                <a:spAutoFit/>
              </a:bodyPr>
              <a:lstStyle/>
              <a:p>
                <a:pPr>
                  <a:spcBef>
                    <a:spcPts val="900"/>
                  </a:spcBef>
                  <a:spcAft>
                    <a:spcPts val="900"/>
                  </a:spcAft>
                </a:pPr>
                <a:r>
                  <a:rPr lang="en-US" altLang="zh-CN" sz="2800" dirty="0">
                    <a:effectLst/>
                    <a:latin typeface="宋体" panose="02010600030101010101" pitchFamily="2" charset="-122"/>
                    <a:cs typeface="Times New Roman" panose="02020603050405020304" pitchFamily="18" charset="0"/>
                  </a:rPr>
                  <a:t>则</a:t>
                </a:r>
                <a14:m>
                  <m:oMath xmlns:m="http://schemas.openxmlformats.org/officeDocument/2006/math">
                    <m:r>
                      <a:rPr lang="en-US" altLang="zh-CN" sz="2800" i="1">
                        <a:effectLst/>
                        <a:latin typeface="Cambria Math" panose="02040503050406030204" pitchFamily="18" charset="0"/>
                        <a:cs typeface="Times New Roman" panose="02020603050405020304" pitchFamily="18" charset="0"/>
                      </a:rPr>
                      <m:t>𝐼</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𝐸</m:t>
                    </m:r>
                    <m:sSup>
                      <m:s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effectLst/>
                            <a:latin typeface="Cambria Math" panose="02040503050406030204" pitchFamily="18" charset="0"/>
                            <a:cs typeface="Times New Roman" panose="02020603050405020304" pitchFamily="18" charset="0"/>
                          </a:rPr>
                          <m:t>𝑒</m:t>
                        </m:r>
                      </m:e>
                      <m:sup>
                        <m:r>
                          <a:rPr lang="en-US" altLang="zh-CN" sz="2800" i="1">
                            <a:effectLst/>
                            <a:latin typeface="Cambria Math" panose="02040503050406030204" pitchFamily="18" charset="0"/>
                            <a:cs typeface="Times New Roman" panose="02020603050405020304" pitchFamily="18" charset="0"/>
                          </a:rPr>
                          <m:t>𝑈</m:t>
                        </m:r>
                      </m:sup>
                    </m:sSup>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𝐸𝑋</m:t>
                    </m:r>
                  </m:oMath>
                </a14:m>
                <a:endParaRPr lang="zh-CN" altLang="zh-CN" sz="2800" dirty="0">
                  <a:effectLst/>
                  <a:latin typeface="Cambria" panose="02040503050406030204" pitchFamily="18" charset="0"/>
                  <a:cs typeface="Times New Roman" panose="02020603050405020304" pitchFamily="18" charset="0"/>
                </a:endParaRPr>
              </a:p>
            </p:txBody>
          </p:sp>
        </mc:Choice>
        <mc:Fallback xmlns="">
          <p:sp>
            <p:nvSpPr>
              <p:cNvPr id="14" name="文本框 13">
                <a:extLst>
                  <a:ext uri="{FF2B5EF4-FFF2-40B4-BE49-F238E27FC236}">
                    <a16:creationId xmlns:a16="http://schemas.microsoft.com/office/drawing/2014/main" id="{BED298C5-3948-41A0-B2C1-87FF1E884C63}"/>
                  </a:ext>
                </a:extLst>
              </p:cNvPr>
              <p:cNvSpPr txBox="1">
                <a:spLocks noRot="1" noChangeAspect="1" noMove="1" noResize="1" noEditPoints="1" noAdjustHandles="1" noChangeArrowheads="1" noChangeShapeType="1" noTextEdit="1"/>
              </p:cNvSpPr>
              <p:nvPr/>
            </p:nvSpPr>
            <p:spPr>
              <a:xfrm>
                <a:off x="5198596" y="2419965"/>
                <a:ext cx="2880311" cy="523220"/>
              </a:xfrm>
              <a:prstGeom prst="rect">
                <a:avLst/>
              </a:prstGeom>
              <a:blipFill>
                <a:blip r:embed="rId7"/>
                <a:stretch>
                  <a:fillRect l="-4449" t="-16279" b="-27907"/>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224326908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14.1</a:t>
            </a:r>
            <a:endParaRPr lang="zh-CN" altLang="en-US" sz="3600" b="0" dirty="0">
              <a:latin typeface="+mn-lt"/>
              <a:ea typeface="+mn-ea"/>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100</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6" y="1052603"/>
            <a:ext cx="8812973" cy="584775"/>
          </a:xfrm>
          <a:prstGeom prst="rect">
            <a:avLst/>
          </a:prstGeom>
          <a:noFill/>
          <a:ln w="25400">
            <a:noFill/>
          </a:ln>
        </p:spPr>
        <p:txBody>
          <a:bodyPr wrap="square">
            <a:spAutoFit/>
          </a:bodyPr>
          <a:lstStyle/>
          <a:p>
            <a:r>
              <a:rPr kumimoji="0" lang="zh-CN" altLang="en-US"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法</a:t>
            </a:r>
            <a:r>
              <a:rPr kumimoji="0" lang="en-US" altLang="zh-CN"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2</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：令</a:t>
            </a:r>
            <a:endParaRPr lang="en-US" altLang="zh-CN"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CF8DA67F-26FA-4054-9DEC-2C5AC0B3A4EC}"/>
                  </a:ext>
                </a:extLst>
              </p:cNvPr>
              <p:cNvSpPr txBox="1"/>
              <p:nvPr/>
            </p:nvSpPr>
            <p:spPr>
              <a:xfrm>
                <a:off x="1975440" y="1048653"/>
                <a:ext cx="2530292" cy="1014317"/>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𝑌</m:t>
                      </m:r>
                      <m:r>
                        <a:rPr lang="zh-CN" altLang="en-US" sz="3200" i="0">
                          <a:latin typeface="Cambria Math" panose="02040503050406030204" pitchFamily="18" charset="0"/>
                        </a:rPr>
                        <m:t>=</m:t>
                      </m:r>
                      <m:r>
                        <a:rPr lang="zh-CN" altLang="en-US" sz="3200" i="1">
                          <a:latin typeface="Cambria Math" panose="02040503050406030204" pitchFamily="18" charset="0"/>
                        </a:rPr>
                        <m:t>𝑈</m:t>
                      </m:r>
                      <m:r>
                        <a:rPr lang="zh-CN" altLang="en-US" sz="3200" i="0">
                          <a:latin typeface="Cambria Math" panose="02040503050406030204" pitchFamily="18" charset="0"/>
                        </a:rPr>
                        <m:t>−</m:t>
                      </m:r>
                      <m:f>
                        <m:fPr>
                          <m:ctrlPr>
                            <a:rPr lang="zh-CN" altLang="en-US" sz="3200" i="1">
                              <a:solidFill>
                                <a:srgbClr val="836967"/>
                              </a:solidFill>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0">
                              <a:latin typeface="Cambria Math" panose="02040503050406030204" pitchFamily="18" charset="0"/>
                            </a:rPr>
                            <m:t>2</m:t>
                          </m:r>
                        </m:den>
                      </m:f>
                    </m:oMath>
                  </m:oMathPara>
                </a14:m>
                <a:endParaRPr lang="zh-CN" altLang="en-US" dirty="0"/>
              </a:p>
            </p:txBody>
          </p:sp>
        </mc:Choice>
        <mc:Fallback xmlns="">
          <p:sp>
            <p:nvSpPr>
              <p:cNvPr id="14" name="文本框 13">
                <a:extLst>
                  <a:ext uri="{FF2B5EF4-FFF2-40B4-BE49-F238E27FC236}">
                    <a16:creationId xmlns:a16="http://schemas.microsoft.com/office/drawing/2014/main" id="{CF8DA67F-26FA-4054-9DEC-2C5AC0B3A4EC}"/>
                  </a:ext>
                </a:extLst>
              </p:cNvPr>
              <p:cNvSpPr txBox="1">
                <a:spLocks noRot="1" noChangeAspect="1" noMove="1" noResize="1" noEditPoints="1" noAdjustHandles="1" noChangeArrowheads="1" noChangeShapeType="1" noTextEdit="1"/>
              </p:cNvSpPr>
              <p:nvPr/>
            </p:nvSpPr>
            <p:spPr>
              <a:xfrm>
                <a:off x="1975440" y="1048653"/>
                <a:ext cx="2530292" cy="1014317"/>
              </a:xfrm>
              <a:prstGeom prst="rect">
                <a:avLst/>
              </a:prstGeom>
              <a:blipFill>
                <a:blip r:embed="rId2"/>
                <a:stretch>
                  <a:fillRect/>
                </a:stretch>
              </a:blipFill>
              <a:ln w="25400">
                <a:noFill/>
              </a:ln>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E7C32030-00F4-4D34-9B70-7409750CDAF8}"/>
              </a:ext>
            </a:extLst>
          </p:cNvPr>
          <p:cNvPicPr>
            <a:picLocks noChangeAspect="1"/>
          </p:cNvPicPr>
          <p:nvPr/>
        </p:nvPicPr>
        <p:blipFill>
          <a:blip r:embed="rId3"/>
          <a:stretch>
            <a:fillRect/>
          </a:stretch>
        </p:blipFill>
        <p:spPr>
          <a:xfrm>
            <a:off x="1385050" y="2825839"/>
            <a:ext cx="3711072" cy="584775"/>
          </a:xfrm>
          <a:prstGeom prst="rect">
            <a:avLst/>
          </a:prstGeom>
        </p:spPr>
      </p:pic>
      <p:sp>
        <p:nvSpPr>
          <p:cNvPr id="20" name="文本框 19">
            <a:extLst>
              <a:ext uri="{FF2B5EF4-FFF2-40B4-BE49-F238E27FC236}">
                <a16:creationId xmlns:a16="http://schemas.microsoft.com/office/drawing/2014/main" id="{56590F1F-7230-435D-8837-5BA7988D014F}"/>
              </a:ext>
            </a:extLst>
          </p:cNvPr>
          <p:cNvSpPr txBox="1"/>
          <p:nvPr/>
        </p:nvSpPr>
        <p:spPr>
          <a:xfrm>
            <a:off x="1241630" y="2085415"/>
            <a:ext cx="4690532"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则</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EY=0, X</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与</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Y</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正相关</a:t>
            </a:r>
            <a:endParaRPr lang="zh-CN" altLang="en-US" dirty="0"/>
          </a:p>
        </p:txBody>
      </p:sp>
      <p:pic>
        <p:nvPicPr>
          <p:cNvPr id="21" name="图片 20">
            <a:extLst>
              <a:ext uri="{FF2B5EF4-FFF2-40B4-BE49-F238E27FC236}">
                <a16:creationId xmlns:a16="http://schemas.microsoft.com/office/drawing/2014/main" id="{74D9A13C-86FE-411D-B131-D06966FABB77}"/>
              </a:ext>
            </a:extLst>
          </p:cNvPr>
          <p:cNvPicPr>
            <a:picLocks noChangeAspect="1"/>
          </p:cNvPicPr>
          <p:nvPr/>
        </p:nvPicPr>
        <p:blipFill>
          <a:blip r:embed="rId4"/>
          <a:stretch>
            <a:fillRect/>
          </a:stretch>
        </p:blipFill>
        <p:spPr>
          <a:xfrm>
            <a:off x="1557407" y="3613300"/>
            <a:ext cx="2541518" cy="584774"/>
          </a:xfrm>
          <a:prstGeom prst="rect">
            <a:avLst/>
          </a:prstGeom>
        </p:spPr>
      </p:pic>
      <p:pic>
        <p:nvPicPr>
          <p:cNvPr id="29" name="图片 28">
            <a:extLst>
              <a:ext uri="{FF2B5EF4-FFF2-40B4-BE49-F238E27FC236}">
                <a16:creationId xmlns:a16="http://schemas.microsoft.com/office/drawing/2014/main" id="{1F52900E-1734-4CB9-A935-45975ADC681B}"/>
              </a:ext>
            </a:extLst>
          </p:cNvPr>
          <p:cNvPicPr>
            <a:picLocks noChangeAspect="1"/>
          </p:cNvPicPr>
          <p:nvPr/>
        </p:nvPicPr>
        <p:blipFill>
          <a:blip r:embed="rId5"/>
          <a:stretch>
            <a:fillRect/>
          </a:stretch>
        </p:blipFill>
        <p:spPr>
          <a:xfrm>
            <a:off x="806783" y="4400760"/>
            <a:ext cx="4933422" cy="491452"/>
          </a:xfrm>
          <a:prstGeom prst="rect">
            <a:avLst/>
          </a:prstGeom>
        </p:spPr>
      </p:pic>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E57FADBA-5985-483A-AE12-923DE5DCBC24}"/>
                  </a:ext>
                </a:extLst>
              </p:cNvPr>
              <p:cNvSpPr txBox="1"/>
              <p:nvPr/>
            </p:nvSpPr>
            <p:spPr>
              <a:xfrm>
                <a:off x="891255" y="5085998"/>
                <a:ext cx="4690532" cy="1060483"/>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𝑍</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𝑏</m:t>
                          </m:r>
                        </m:e>
                      </m:d>
                      <m:r>
                        <a:rPr lang="zh-CN" altLang="en-US" sz="2800" i="0">
                          <a:latin typeface="Cambria Math" panose="02040503050406030204" pitchFamily="18" charset="0"/>
                        </a:rPr>
                        <m:t>=</m:t>
                      </m:r>
                      <m:sSup>
                        <m:sSupPr>
                          <m:ctrlPr>
                            <a:rPr lang="zh-CN" altLang="en-US" sz="2800" i="1">
                              <a:solidFill>
                                <a:srgbClr val="836967"/>
                              </a:solidFill>
                              <a:latin typeface="Cambria Math" panose="02040503050406030204" pitchFamily="18" charset="0"/>
                            </a:rPr>
                          </m:ctrlPr>
                        </m:sSupPr>
                        <m:e>
                          <m:r>
                            <a:rPr lang="zh-CN" altLang="en-US" sz="2800" i="1">
                              <a:latin typeface="Cambria Math" panose="02040503050406030204" pitchFamily="18" charset="0"/>
                            </a:rPr>
                            <m:t>𝑒</m:t>
                          </m:r>
                        </m:e>
                        <m:sup>
                          <m:r>
                            <a:rPr lang="zh-CN" altLang="en-US" sz="2800" i="1">
                              <a:latin typeface="Cambria Math" panose="02040503050406030204" pitchFamily="18" charset="0"/>
                            </a:rPr>
                            <m:t>𝑈</m:t>
                          </m:r>
                        </m:sup>
                      </m:sSup>
                      <m:r>
                        <a:rPr lang="zh-CN" altLang="en-US" sz="2800" i="0">
                          <a:latin typeface="Cambria Math" panose="02040503050406030204" pitchFamily="18" charset="0"/>
                        </a:rPr>
                        <m:t>−1.690</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𝑈</m:t>
                          </m:r>
                          <m:r>
                            <a:rPr lang="zh-CN" altLang="en-US" sz="2800" i="0">
                              <a:latin typeface="Cambria Math" panose="02040503050406030204" pitchFamily="18" charset="0"/>
                            </a:rPr>
                            <m:t>−</m:t>
                          </m:r>
                          <m:f>
                            <m:fPr>
                              <m:ctrlPr>
                                <a:rPr lang="zh-CN" altLang="en-US" sz="2800" i="1">
                                  <a:solidFill>
                                    <a:srgbClr val="836967"/>
                                  </a:solidFill>
                                  <a:latin typeface="Cambria Math" panose="02040503050406030204" pitchFamily="18" charset="0"/>
                                </a:rPr>
                              </m:ctrlPr>
                            </m:fPr>
                            <m:num>
                              <m:r>
                                <a:rPr lang="zh-CN" altLang="en-US" sz="2800" i="0">
                                  <a:latin typeface="Cambria Math" panose="02040503050406030204" pitchFamily="18" charset="0"/>
                                </a:rPr>
                                <m:t>1</m:t>
                              </m:r>
                            </m:num>
                            <m:den>
                              <m:r>
                                <a:rPr lang="zh-CN" altLang="en-US" sz="2800" i="0">
                                  <a:latin typeface="Cambria Math" panose="02040503050406030204" pitchFamily="18" charset="0"/>
                                </a:rPr>
                                <m:t>2</m:t>
                              </m:r>
                            </m:den>
                          </m:f>
                        </m:e>
                      </m:d>
                    </m:oMath>
                  </m:oMathPara>
                </a14:m>
                <a:endParaRPr lang="zh-CN" altLang="en-US" dirty="0"/>
              </a:p>
            </p:txBody>
          </p:sp>
        </mc:Choice>
        <mc:Fallback xmlns="">
          <p:sp>
            <p:nvSpPr>
              <p:cNvPr id="32" name="文本框 31">
                <a:extLst>
                  <a:ext uri="{FF2B5EF4-FFF2-40B4-BE49-F238E27FC236}">
                    <a16:creationId xmlns:a16="http://schemas.microsoft.com/office/drawing/2014/main" id="{E57FADBA-5985-483A-AE12-923DE5DCBC24}"/>
                  </a:ext>
                </a:extLst>
              </p:cNvPr>
              <p:cNvSpPr txBox="1">
                <a:spLocks noRot="1" noChangeAspect="1" noMove="1" noResize="1" noEditPoints="1" noAdjustHandles="1" noChangeArrowheads="1" noChangeShapeType="1" noTextEdit="1"/>
              </p:cNvSpPr>
              <p:nvPr/>
            </p:nvSpPr>
            <p:spPr>
              <a:xfrm>
                <a:off x="891255" y="5085998"/>
                <a:ext cx="4690532" cy="1060483"/>
              </a:xfrm>
              <a:prstGeom prst="rect">
                <a:avLst/>
              </a:prstGeom>
              <a:blipFill>
                <a:blip r:embed="rId6"/>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62527066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14.1</a:t>
            </a:r>
            <a:endParaRPr lang="zh-CN" altLang="en-US" sz="3600" b="0" dirty="0">
              <a:latin typeface="+mn-lt"/>
              <a:ea typeface="+mn-ea"/>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101</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6" y="1052603"/>
            <a:ext cx="8812973" cy="584775"/>
          </a:xfrm>
          <a:prstGeom prst="rect">
            <a:avLst/>
          </a:prstGeom>
          <a:noFill/>
          <a:ln w="25400">
            <a:noFill/>
          </a:ln>
        </p:spPr>
        <p:txBody>
          <a:bodyPr wrap="square">
            <a:spAutoFit/>
          </a:bodyPr>
          <a:lstStyle/>
          <a:p>
            <a:r>
              <a:rPr kumimoji="0" lang="zh-CN" altLang="en-US"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法</a:t>
            </a:r>
            <a:r>
              <a:rPr kumimoji="0" lang="en-US" altLang="zh-CN"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2</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：用控制变量法估计</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I</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为</a:t>
            </a:r>
            <a:endParaRPr lang="en-US" altLang="zh-CN" sz="3200" dirty="0">
              <a:solidFill>
                <a:srgbClr val="006699"/>
              </a:solidFill>
              <a:latin typeface="Verdana" panose="020B0604030504040204" pitchFamily="34" charset="0"/>
            </a:endParaRPr>
          </a:p>
        </p:txBody>
      </p:sp>
      <p:pic>
        <p:nvPicPr>
          <p:cNvPr id="4" name="图片 3">
            <a:extLst>
              <a:ext uri="{FF2B5EF4-FFF2-40B4-BE49-F238E27FC236}">
                <a16:creationId xmlns:a16="http://schemas.microsoft.com/office/drawing/2014/main" id="{D771AF81-AA73-48C1-A06E-B14A2F395E23}"/>
              </a:ext>
            </a:extLst>
          </p:cNvPr>
          <p:cNvPicPr>
            <a:picLocks noChangeAspect="1"/>
          </p:cNvPicPr>
          <p:nvPr/>
        </p:nvPicPr>
        <p:blipFill>
          <a:blip r:embed="rId2"/>
          <a:stretch>
            <a:fillRect/>
          </a:stretch>
        </p:blipFill>
        <p:spPr>
          <a:xfrm>
            <a:off x="99245" y="3902937"/>
            <a:ext cx="8812973" cy="481255"/>
          </a:xfrm>
          <a:prstGeom prst="rect">
            <a:avLst/>
          </a:prstGeom>
        </p:spPr>
      </p:pic>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F9FB6529-9631-4F7D-953B-116C4AD56BC8}"/>
                  </a:ext>
                </a:extLst>
              </p:cNvPr>
              <p:cNvSpPr txBox="1"/>
              <p:nvPr/>
            </p:nvSpPr>
            <p:spPr>
              <a:xfrm>
                <a:off x="1303440" y="1780701"/>
                <a:ext cx="5590969" cy="1431417"/>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smtClean="0">
                              <a:solidFill>
                                <a:srgbClr val="836967"/>
                              </a:solidFill>
                              <a:latin typeface="Cambria Math" panose="02040503050406030204" pitchFamily="18" charset="0"/>
                            </a:rPr>
                          </m:ctrlPr>
                        </m:sSubPr>
                        <m:e>
                          <m:acc>
                            <m:accPr>
                              <m:chr m:val="̂"/>
                              <m:ctrlPr>
                                <a:rPr lang="zh-CN" altLang="en-US" sz="2400" i="1">
                                  <a:solidFill>
                                    <a:srgbClr val="836967"/>
                                  </a:solidFill>
                                  <a:latin typeface="Cambria Math" panose="02040503050406030204" pitchFamily="18" charset="0"/>
                                </a:rPr>
                              </m:ctrlPr>
                            </m:accPr>
                            <m:e>
                              <m:r>
                                <a:rPr lang="zh-CN" altLang="en-US" sz="2400" i="1">
                                  <a:latin typeface="Cambria Math" panose="02040503050406030204" pitchFamily="18" charset="0"/>
                                </a:rPr>
                                <m:t>𝐼</m:t>
                              </m:r>
                            </m:e>
                          </m:acc>
                        </m:e>
                        <m:sub>
                          <m:r>
                            <a:rPr lang="zh-CN" altLang="en-US" sz="2400" i="0">
                              <a:latin typeface="Cambria Math" panose="02040503050406030204" pitchFamily="18" charset="0"/>
                            </a:rPr>
                            <m:t>2</m:t>
                          </m:r>
                        </m:sub>
                      </m:sSub>
                      <m:r>
                        <a:rPr lang="zh-CN" altLang="en-US" sz="2400" i="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i="0">
                              <a:latin typeface="Cambria Math" panose="02040503050406030204" pitchFamily="18" charset="0"/>
                            </a:rPr>
                            <m:t>1</m:t>
                          </m:r>
                        </m:num>
                        <m:den>
                          <m:r>
                            <a:rPr lang="zh-CN" altLang="en-US" sz="2400" i="1">
                              <a:latin typeface="Cambria Math" panose="02040503050406030204" pitchFamily="18" charset="0"/>
                            </a:rPr>
                            <m:t>𝑁</m:t>
                          </m:r>
                        </m:den>
                      </m:f>
                      <m:nary>
                        <m:naryPr>
                          <m:chr m:val="∑"/>
                          <m:limLoc m:val="undOvr"/>
                          <m:grow m:val="on"/>
                          <m:ctrlPr>
                            <a:rPr lang="zh-CN" altLang="en-US" sz="2400" i="1">
                              <a:latin typeface="Cambria Math" panose="02040503050406030204" pitchFamily="18" charset="0"/>
                            </a:rPr>
                          </m:ctrlPr>
                        </m:naryPr>
                        <m:sub>
                          <m:r>
                            <a:rPr lang="zh-CN" altLang="en-US" sz="2400" i="1">
                              <a:latin typeface="Cambria Math" panose="02040503050406030204" pitchFamily="18" charset="0"/>
                            </a:rPr>
                            <m:t>𝑖</m:t>
                          </m:r>
                          <m:r>
                            <a:rPr lang="zh-CN" altLang="en-US" sz="2400" i="0">
                              <a:latin typeface="Cambria Math" panose="02040503050406030204" pitchFamily="18" charset="0"/>
                            </a:rPr>
                            <m:t>=1</m:t>
                          </m:r>
                        </m:sub>
                        <m:sup>
                          <m:r>
                            <a:rPr lang="zh-CN" altLang="en-US" sz="2400" i="1">
                              <a:latin typeface="Cambria Math" panose="02040503050406030204" pitchFamily="18" charset="0"/>
                            </a:rPr>
                            <m:t>𝑁</m:t>
                          </m:r>
                        </m:sup>
                        <m:e>
                          <m:d>
                            <m:dPr>
                              <m:begChr m:val="["/>
                              <m:endChr m:val="]"/>
                              <m:ctrlPr>
                                <a:rPr lang="zh-CN" altLang="en-US" sz="2400" i="1">
                                  <a:solidFill>
                                    <a:srgbClr val="836967"/>
                                  </a:solidFill>
                                  <a:latin typeface="Cambria Math" panose="02040503050406030204" pitchFamily="18" charset="0"/>
                                </a:rPr>
                              </m:ctrlPr>
                            </m:dPr>
                            <m:e>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𝑒</m:t>
                                  </m:r>
                                </m:e>
                                <m:sup>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𝑈</m:t>
                                      </m:r>
                                    </m:e>
                                    <m:sub>
                                      <m:r>
                                        <a:rPr lang="zh-CN" altLang="en-US" sz="2400" i="1">
                                          <a:latin typeface="Cambria Math" panose="02040503050406030204" pitchFamily="18" charset="0"/>
                                        </a:rPr>
                                        <m:t>𝑖</m:t>
                                      </m:r>
                                    </m:sub>
                                  </m:sSub>
                                </m:sup>
                              </m:sSup>
                              <m:r>
                                <a:rPr lang="zh-CN" altLang="en-US" sz="2400" i="0">
                                  <a:latin typeface="Cambria Math" panose="02040503050406030204" pitchFamily="18" charset="0"/>
                                </a:rPr>
                                <m:t>−1.690</m:t>
                              </m:r>
                              <m:d>
                                <m:dPr>
                                  <m:ctrlPr>
                                    <a:rPr lang="zh-CN" altLang="en-US" sz="2400" i="1">
                                      <a:latin typeface="Cambria Math" panose="02040503050406030204" pitchFamily="18" charset="0"/>
                                    </a:rPr>
                                  </m:ctrlPr>
                                </m:dPr>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𝑈</m:t>
                                      </m:r>
                                    </m:e>
                                    <m:sub>
                                      <m:r>
                                        <a:rPr lang="zh-CN" altLang="en-US" sz="2400" i="1">
                                          <a:latin typeface="Cambria Math" panose="02040503050406030204" pitchFamily="18" charset="0"/>
                                        </a:rPr>
                                        <m:t>𝑖</m:t>
                                      </m:r>
                                    </m:sub>
                                  </m:sSub>
                                  <m:r>
                                    <a:rPr lang="zh-CN" altLang="en-US" sz="2400" i="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i="0">
                                          <a:latin typeface="Cambria Math" panose="02040503050406030204" pitchFamily="18" charset="0"/>
                                        </a:rPr>
                                        <m:t>1</m:t>
                                      </m:r>
                                    </m:num>
                                    <m:den>
                                      <m:r>
                                        <a:rPr lang="zh-CN" altLang="en-US" sz="2400" i="0">
                                          <a:latin typeface="Cambria Math" panose="02040503050406030204" pitchFamily="18" charset="0"/>
                                        </a:rPr>
                                        <m:t>2</m:t>
                                      </m:r>
                                    </m:den>
                                  </m:f>
                                </m:e>
                              </m:d>
                            </m:e>
                          </m:d>
                        </m:e>
                      </m:nary>
                    </m:oMath>
                  </m:oMathPara>
                </a14:m>
                <a:endParaRPr lang="zh-CN" altLang="en-US" dirty="0"/>
              </a:p>
            </p:txBody>
          </p:sp>
        </mc:Choice>
        <mc:Fallback xmlns="">
          <p:sp>
            <p:nvSpPr>
              <p:cNvPr id="16" name="文本框 15">
                <a:extLst>
                  <a:ext uri="{FF2B5EF4-FFF2-40B4-BE49-F238E27FC236}">
                    <a16:creationId xmlns:a16="http://schemas.microsoft.com/office/drawing/2014/main" id="{F9FB6529-9631-4F7D-953B-116C4AD56BC8}"/>
                  </a:ext>
                </a:extLst>
              </p:cNvPr>
              <p:cNvSpPr txBox="1">
                <a:spLocks noRot="1" noChangeAspect="1" noMove="1" noResize="1" noEditPoints="1" noAdjustHandles="1" noChangeArrowheads="1" noChangeShapeType="1" noTextEdit="1"/>
              </p:cNvSpPr>
              <p:nvPr/>
            </p:nvSpPr>
            <p:spPr>
              <a:xfrm>
                <a:off x="1303440" y="1780701"/>
                <a:ext cx="5590969" cy="1431417"/>
              </a:xfrm>
              <a:prstGeom prst="rect">
                <a:avLst/>
              </a:prstGeom>
              <a:blipFill>
                <a:blip r:embed="rId3"/>
                <a:stretch>
                  <a:fillRect/>
                </a:stretch>
              </a:blipFill>
              <a:ln w="25400">
                <a:noFill/>
              </a:ln>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D3DB7959-2248-4696-91C1-BF9CEF8CD365}"/>
              </a:ext>
            </a:extLst>
          </p:cNvPr>
          <p:cNvSpPr txBox="1"/>
          <p:nvPr/>
        </p:nvSpPr>
        <p:spPr>
          <a:xfrm>
            <a:off x="0" y="4782623"/>
            <a:ext cx="5907760" cy="584775"/>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用控制变量法估计</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I</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的方差为</a:t>
            </a:r>
            <a:endParaRPr lang="zh-CN" altLang="en-US" dirty="0"/>
          </a:p>
        </p:txBody>
      </p:sp>
      <p:pic>
        <p:nvPicPr>
          <p:cNvPr id="3" name="图片 2">
            <a:extLst>
              <a:ext uri="{FF2B5EF4-FFF2-40B4-BE49-F238E27FC236}">
                <a16:creationId xmlns:a16="http://schemas.microsoft.com/office/drawing/2014/main" id="{4D683CDB-7D99-5170-DD30-E7B61CDACA58}"/>
              </a:ext>
            </a:extLst>
          </p:cNvPr>
          <p:cNvPicPr>
            <a:picLocks noChangeAspect="1"/>
          </p:cNvPicPr>
          <p:nvPr/>
        </p:nvPicPr>
        <p:blipFill>
          <a:blip r:embed="rId4"/>
          <a:stretch>
            <a:fillRect/>
          </a:stretch>
        </p:blipFill>
        <p:spPr>
          <a:xfrm>
            <a:off x="296525" y="5508753"/>
            <a:ext cx="4109326" cy="665552"/>
          </a:xfrm>
          <a:prstGeom prst="rect">
            <a:avLst/>
          </a:prstGeom>
        </p:spPr>
      </p:pic>
      <p:sp>
        <p:nvSpPr>
          <p:cNvPr id="5" name="文本框 4">
            <a:extLst>
              <a:ext uri="{FF2B5EF4-FFF2-40B4-BE49-F238E27FC236}">
                <a16:creationId xmlns:a16="http://schemas.microsoft.com/office/drawing/2014/main" id="{0911703D-FE03-032C-A564-20D9B35D8169}"/>
              </a:ext>
            </a:extLst>
          </p:cNvPr>
          <p:cNvSpPr txBox="1"/>
          <p:nvPr/>
        </p:nvSpPr>
        <p:spPr>
          <a:xfrm>
            <a:off x="57980" y="3318162"/>
            <a:ext cx="4690532" cy="584775"/>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Z</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的方差为</a:t>
            </a:r>
            <a:endParaRPr lang="zh-CN" altLang="en-US" dirty="0"/>
          </a:p>
        </p:txBody>
      </p:sp>
    </p:spTree>
    <p:extLst>
      <p:ext uri="{BB962C8B-B14F-4D97-AF65-F5344CB8AC3E}">
        <p14:creationId xmlns:p14="http://schemas.microsoft.com/office/powerpoint/2010/main" val="34429489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14.2 (</a:t>
            </a:r>
            <a:r>
              <a:rPr lang="zh-CN" altLang="en-US" sz="3600" b="0" dirty="0">
                <a:latin typeface="+mn-lt"/>
                <a:ea typeface="+mn-ea"/>
              </a:rPr>
              <a:t>系统可靠性估计</a:t>
            </a:r>
            <a:r>
              <a:rPr lang="en-US" altLang="zh-CN" sz="3600" b="0" dirty="0">
                <a:latin typeface="+mn-lt"/>
                <a:ea typeface="+mn-ea"/>
              </a:rPr>
              <a:t>)</a:t>
            </a:r>
            <a:endParaRPr lang="zh-CN" altLang="en-US" sz="3600" b="0" dirty="0">
              <a:latin typeface="+mn-lt"/>
              <a:ea typeface="+mn-ea"/>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102</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DC9B2CC3-1BDC-4EAC-8C0A-2E3FD7962A0E}"/>
                  </a:ext>
                </a:extLst>
              </p:cNvPr>
              <p:cNvSpPr txBox="1"/>
              <p:nvPr/>
            </p:nvSpPr>
            <p:spPr>
              <a:xfrm>
                <a:off x="14377" y="1332272"/>
                <a:ext cx="9144000" cy="4193456"/>
              </a:xfrm>
              <a:prstGeom prst="rect">
                <a:avLst/>
              </a:prstGeom>
              <a:noFill/>
              <a:ln w="25400">
                <a:noFill/>
              </a:ln>
            </p:spPr>
            <p:txBody>
              <a:bodyPr wrap="square">
                <a:spAutoFit/>
              </a:bodyPr>
              <a:lstStyle/>
              <a:p>
                <a:pPr>
                  <a:spcBef>
                    <a:spcPts val="900"/>
                  </a:spcBef>
                  <a:spcAft>
                    <a:spcPts val="900"/>
                  </a:spcAft>
                </a:pPr>
                <a:r>
                  <a:rPr lang="en-US" altLang="zh-CN" sz="2800" dirty="0" err="1">
                    <a:effectLst/>
                    <a:latin typeface="宋体" panose="02010600030101010101" pitchFamily="2" charset="-122"/>
                    <a:ea typeface="宋体" panose="02010600030101010101" pitchFamily="2" charset="-122"/>
                    <a:cs typeface="Times New Roman" panose="02020603050405020304" pitchFamily="18" charset="0"/>
                  </a:rPr>
                  <a:t>考虑由</a:t>
                </a:r>
                <a:r>
                  <a:rPr lang="en-US" altLang="zh-CN" sz="2800" dirty="0" err="1">
                    <a:effectLst/>
                    <a:latin typeface="Cambria" panose="02040503050406030204" pitchFamily="18" charset="0"/>
                    <a:ea typeface="宋体" panose="02010600030101010101" pitchFamily="2" charset="-122"/>
                    <a:cs typeface="Times New Roman" panose="02020603050405020304" pitchFamily="18" charset="0"/>
                  </a:rPr>
                  <a:t>n</a:t>
                </a:r>
                <a:r>
                  <a:rPr lang="en-US" altLang="zh-CN" sz="2800" dirty="0" err="1">
                    <a:effectLst/>
                    <a:latin typeface="宋体" panose="02010600030101010101" pitchFamily="2" charset="-122"/>
                    <a:ea typeface="宋体" panose="02010600030101010101" pitchFamily="2" charset="-122"/>
                    <a:cs typeface="Times New Roman" panose="02020603050405020304" pitchFamily="18" charset="0"/>
                  </a:rPr>
                  <a:t>个部件组成的一个系统</a:t>
                </a:r>
                <a:r>
                  <a:rPr lang="en-US" altLang="zh-CN" sz="2800" dirty="0">
                    <a:effectLst/>
                    <a:latin typeface="宋体" panose="02010600030101010101" pitchFamily="2" charset="-122"/>
                    <a:ea typeface="宋体" panose="02010600030101010101" pitchFamily="2" charset="-122"/>
                    <a:cs typeface="Times New Roman" panose="02020603050405020304" pitchFamily="18" charset="0"/>
                  </a:rPr>
                  <a:t>，</a:t>
                </a:r>
                <a:endParaRPr lang="zh-CN" altLang="zh-CN" sz="2800" dirty="0">
                  <a:effectLst/>
                  <a:latin typeface="Cambria" panose="02040503050406030204" pitchFamily="18" charset="0"/>
                  <a:ea typeface="宋体" panose="02010600030101010101" pitchFamily="2" charset="-122"/>
                  <a:cs typeface="Times New Roman" panose="02020603050405020304" pitchFamily="18" charset="0"/>
                </a:endParaRPr>
              </a:p>
              <a:p>
                <a:pPr>
                  <a:spcBef>
                    <a:spcPts val="900"/>
                  </a:spcBef>
                  <a:spcAft>
                    <a:spcPts val="900"/>
                  </a:spcAft>
                </a:pPr>
                <a:r>
                  <a:rPr lang="en-US" altLang="zh-CN" sz="2400" dirty="0">
                    <a:effectLst/>
                    <a:latin typeface="宋体" panose="02010600030101010101" pitchFamily="2" charset="-122"/>
                    <a:cs typeface="Times New Roman" panose="02020603050405020304" pitchFamily="18" charset="0"/>
                  </a:rPr>
                  <a:t>用</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cs typeface="Times New Roman" panose="02020603050405020304" pitchFamily="18" charset="0"/>
                          </a:rPr>
                          <m:t>𝑆</m:t>
                        </m:r>
                      </m:e>
                      <m:sub>
                        <m:r>
                          <a:rPr lang="en-US" altLang="zh-CN" sz="2400" i="1">
                            <a:effectLst/>
                            <a:latin typeface="Cambria Math" panose="02040503050406030204" pitchFamily="18" charset="0"/>
                            <a:cs typeface="Times New Roman" panose="02020603050405020304" pitchFamily="18" charset="0"/>
                          </a:rPr>
                          <m:t>𝑖</m:t>
                        </m:r>
                      </m:sub>
                    </m:sSub>
                  </m:oMath>
                </a14:m>
                <a:r>
                  <a:rPr lang="en-US" altLang="zh-CN" sz="2400" dirty="0" err="1">
                    <a:effectLst/>
                    <a:latin typeface="宋体" panose="02010600030101010101" pitchFamily="2" charset="-122"/>
                    <a:cs typeface="Times New Roman" panose="02020603050405020304" pitchFamily="18" charset="0"/>
                  </a:rPr>
                  <a:t>表示第</a:t>
                </a:r>
                <a14:m>
                  <m:oMath xmlns:m="http://schemas.openxmlformats.org/officeDocument/2006/math">
                    <m:r>
                      <a:rPr lang="en-US" altLang="zh-CN" sz="2400" i="1">
                        <a:effectLst/>
                        <a:latin typeface="Cambria Math" panose="02040503050406030204" pitchFamily="18" charset="0"/>
                        <a:cs typeface="Times New Roman" panose="02020603050405020304" pitchFamily="18" charset="0"/>
                      </a:rPr>
                      <m:t>𝑖</m:t>
                    </m:r>
                  </m:oMath>
                </a14:m>
                <a:r>
                  <a:rPr lang="en-US" altLang="zh-CN" sz="2400" dirty="0" err="1">
                    <a:effectLst/>
                    <a:latin typeface="宋体" panose="02010600030101010101" pitchFamily="2" charset="-122"/>
                    <a:cs typeface="Times New Roman" panose="02020603050405020304" pitchFamily="18" charset="0"/>
                  </a:rPr>
                  <a:t>个部件是否正常工作</a:t>
                </a:r>
                <a:r>
                  <a:rPr lang="en-US" altLang="zh-CN" sz="2400" dirty="0">
                    <a:effectLst/>
                    <a:latin typeface="宋体" panose="02010600030101010101" pitchFamily="2" charset="-122"/>
                    <a:cs typeface="Times New Roman" panose="02020603050405020304" pitchFamily="18" charset="0"/>
                  </a:rPr>
                  <a:t>，</a:t>
                </a:r>
                <a:r>
                  <a:rPr lang="en-US" altLang="zh-CN" sz="2400" dirty="0">
                    <a:effectLst/>
                    <a:latin typeface="Cambria" panose="02040503050406030204" pitchFamily="18" charset="0"/>
                    <a:cs typeface="Times New Roman" panose="02020603050405020304" pitchFamily="18" charset="0"/>
                  </a:rPr>
                  <a:t> 1</a:t>
                </a:r>
                <a:r>
                  <a:rPr lang="en-US" altLang="zh-CN" sz="2400" dirty="0">
                    <a:effectLst/>
                    <a:latin typeface="宋体" panose="02010600030101010101" pitchFamily="2" charset="-122"/>
                    <a:cs typeface="Times New Roman" panose="02020603050405020304" pitchFamily="18" charset="0"/>
                  </a:rPr>
                  <a:t>表示正常工作，</a:t>
                </a:r>
                <a:r>
                  <a:rPr lang="en-US" altLang="zh-CN" sz="2400" dirty="0">
                    <a:effectLst/>
                    <a:latin typeface="Cambria" panose="02040503050406030204" pitchFamily="18" charset="0"/>
                    <a:cs typeface="Times New Roman" panose="02020603050405020304" pitchFamily="18" charset="0"/>
                  </a:rPr>
                  <a:t>0</a:t>
                </a:r>
                <a:r>
                  <a:rPr lang="en-US" altLang="zh-CN" sz="2400" dirty="0">
                    <a:effectLst/>
                    <a:latin typeface="宋体" panose="02010600030101010101" pitchFamily="2" charset="-122"/>
                    <a:cs typeface="Times New Roman" panose="02020603050405020304" pitchFamily="18" charset="0"/>
                  </a:rPr>
                  <a:t>表示失效。</a:t>
                </a:r>
                <a:endParaRPr lang="zh-CN" altLang="zh-CN" sz="2400" dirty="0">
                  <a:effectLst/>
                  <a:latin typeface="Cambria" panose="02040503050406030204" pitchFamily="18" charset="0"/>
                  <a:cs typeface="Times New Roman" panose="02020603050405020304" pitchFamily="18" charset="0"/>
                </a:endParaRPr>
              </a:p>
              <a:p>
                <a:pPr>
                  <a:spcBef>
                    <a:spcPts val="900"/>
                  </a:spcBef>
                  <a:spcAft>
                    <a:spcPts val="900"/>
                  </a:spcAft>
                </a:pPr>
                <a:r>
                  <a:rPr lang="en-US" altLang="zh-CN" sz="2800" dirty="0">
                    <a:effectLst/>
                    <a:latin typeface="宋体" panose="02010600030101010101" pitchFamily="2" charset="-122"/>
                    <a:ea typeface="宋体" panose="02010600030101010101" pitchFamily="2" charset="-122"/>
                    <a:cs typeface="Times New Roman" panose="02020603050405020304" pitchFamily="18" charset="0"/>
                  </a:rPr>
                  <a:t>设</a:t>
                </a:r>
                <a14:m>
                  <m:oMath xmlns:m="http://schemas.openxmlformats.org/officeDocument/2006/math">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r>
                      <m:rPr>
                        <m:nor/>
                      </m:rPr>
                      <a:rPr lang="en-US" altLang="zh-CN" sz="2800">
                        <a:effectLst/>
                        <a:latin typeface="Cambria" panose="02040503050406030204" pitchFamily="18" charset="0"/>
                        <a:ea typeface="宋体" panose="02010600030101010101" pitchFamily="2" charset="-122"/>
                        <a:cs typeface="Times New Roman" panose="02020603050405020304" pitchFamily="18" charset="0"/>
                      </a:rPr>
                      <m:t>B</m:t>
                    </m:r>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1</m:t>
                        </m:r>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𝑖</m:t>
                            </m:r>
                          </m:sub>
                        </m:sSub>
                      </m:e>
                    </m:d>
                  </m:oMath>
                </a14:m>
                <a:r>
                  <a:rPr lang="en-US" altLang="zh-CN" sz="2800" dirty="0" err="1">
                    <a:effectLst/>
                    <a:latin typeface="宋体" panose="02010600030101010101" pitchFamily="2" charset="-122"/>
                    <a:ea typeface="宋体" panose="02010600030101010101" pitchFamily="2" charset="-122"/>
                    <a:cs typeface="Times New Roman" panose="02020603050405020304" pitchFamily="18" charset="0"/>
                  </a:rPr>
                  <a:t>且各</a:t>
                </a:r>
                <a14:m>
                  <m:oMath xmlns:m="http://schemas.openxmlformats.org/officeDocument/2006/math">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𝑖</m:t>
                        </m:r>
                      </m:sub>
                    </m:sSub>
                  </m:oMath>
                </a14:m>
                <a:r>
                  <a:rPr lang="en-US" altLang="zh-CN" sz="2800" dirty="0" err="1">
                    <a:effectLst/>
                    <a:latin typeface="宋体" panose="02010600030101010101" pitchFamily="2" charset="-122"/>
                    <a:ea typeface="宋体" panose="02010600030101010101" pitchFamily="2" charset="-122"/>
                    <a:cs typeface="Times New Roman" panose="02020603050405020304" pitchFamily="18" charset="0"/>
                  </a:rPr>
                  <a:t>相互独立</a:t>
                </a:r>
                <a:r>
                  <a:rPr lang="en-US" altLang="zh-CN" sz="2800" dirty="0">
                    <a:effectLst/>
                    <a:latin typeface="宋体" panose="02010600030101010101" pitchFamily="2" charset="-122"/>
                    <a:ea typeface="宋体" panose="02010600030101010101" pitchFamily="2" charset="-122"/>
                    <a:cs typeface="Times New Roman" panose="02020603050405020304" pitchFamily="18" charset="0"/>
                  </a:rPr>
                  <a:t>。</a:t>
                </a:r>
                <a:endParaRPr lang="zh-CN" altLang="zh-CN" sz="2800" dirty="0">
                  <a:effectLst/>
                  <a:latin typeface="Cambria" panose="02040503050406030204" pitchFamily="18" charset="0"/>
                  <a:ea typeface="宋体" panose="02010600030101010101" pitchFamily="2" charset="-122"/>
                  <a:cs typeface="Times New Roman" panose="02020603050405020304" pitchFamily="18" charset="0"/>
                </a:endParaRPr>
              </a:p>
              <a:p>
                <a:pPr>
                  <a:spcBef>
                    <a:spcPts val="900"/>
                  </a:spcBef>
                  <a:spcAft>
                    <a:spcPts val="900"/>
                  </a:spcAft>
                </a:pP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用</a:t>
                </a:r>
                <a14:m>
                  <m:oMath xmlns:m="http://schemas.openxmlformats.org/officeDocument/2006/math">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𝑌</m:t>
                    </m:r>
                  </m:oMath>
                </a14:m>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表示系统是否工作正常，</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1</a:t>
                </a: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表示工作正常，</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 0</a:t>
                </a: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表示系统失效。</a:t>
                </a:r>
                <a:endParaRPr lang="zh-CN" altLang="zh-CN" sz="2400" dirty="0">
                  <a:effectLst/>
                  <a:latin typeface="Cambria" panose="02040503050406030204" pitchFamily="18" charset="0"/>
                  <a:ea typeface="宋体" panose="02010600030101010101" pitchFamily="2" charset="-122"/>
                  <a:cs typeface="Times New Roman" panose="02020603050405020304" pitchFamily="18" charset="0"/>
                </a:endParaRPr>
              </a:p>
              <a:p>
                <a:pPr>
                  <a:spcBef>
                    <a:spcPts val="900"/>
                  </a:spcBef>
                  <a:spcAft>
                    <a:spcPts val="900"/>
                  </a:spcAft>
                </a:pPr>
                <a:r>
                  <a:rPr lang="en-US" altLang="zh-CN" sz="2400" dirty="0">
                    <a:effectLst/>
                    <a:latin typeface="宋体" panose="02010600030101010101" pitchFamily="2" charset="-122"/>
                    <a:cs typeface="Times New Roman" panose="02020603050405020304" pitchFamily="18" charset="0"/>
                  </a:rPr>
                  <a:t>设</a:t>
                </a:r>
                <a14:m>
                  <m:oMath xmlns:m="http://schemas.openxmlformats.org/officeDocument/2006/math">
                    <m:r>
                      <a:rPr lang="en-US" altLang="zh-CN" sz="2400" i="1">
                        <a:effectLst/>
                        <a:latin typeface="Cambria Math" panose="02040503050406030204" pitchFamily="18" charset="0"/>
                        <a:cs typeface="Times New Roman" panose="02020603050405020304" pitchFamily="18" charset="0"/>
                      </a:rPr>
                      <m:t>𝑌</m:t>
                    </m:r>
                  </m:oMath>
                </a14:m>
                <a:r>
                  <a:rPr lang="en-US" altLang="zh-CN" sz="2400" dirty="0">
                    <a:effectLst/>
                    <a:latin typeface="宋体" panose="02010600030101010101" pitchFamily="2" charset="-122"/>
                    <a:cs typeface="Times New Roman" panose="02020603050405020304" pitchFamily="18" charset="0"/>
                  </a:rPr>
                  <a:t>为</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cs typeface="Times New Roman" panose="02020603050405020304" pitchFamily="18" charset="0"/>
                          </a:rPr>
                          <m:t>𝑆</m:t>
                        </m:r>
                      </m:e>
                      <m:sub>
                        <m:r>
                          <a:rPr lang="en-US" altLang="zh-CN" sz="2400" i="1">
                            <a:effectLst/>
                            <a:latin typeface="Cambria Math" panose="02040503050406030204" pitchFamily="18" charset="0"/>
                            <a:cs typeface="Times New Roman" panose="02020603050405020304" pitchFamily="18" charset="0"/>
                          </a:rPr>
                          <m:t>1</m:t>
                        </m:r>
                      </m:sub>
                    </m:sSub>
                    <m:r>
                      <a:rPr lang="en-US" altLang="zh-CN" sz="2400">
                        <a:effectLst/>
                        <a:latin typeface="Cambria Math" panose="02040503050406030204" pitchFamily="18" charset="0"/>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cs typeface="Times New Roman" panose="02020603050405020304" pitchFamily="18" charset="0"/>
                          </a:rPr>
                          <m:t>𝑆</m:t>
                        </m:r>
                      </m:e>
                      <m:sub>
                        <m:r>
                          <a:rPr lang="en-US" altLang="zh-CN" sz="2400" i="1">
                            <a:effectLst/>
                            <a:latin typeface="Cambria Math" panose="02040503050406030204" pitchFamily="18" charset="0"/>
                            <a:cs typeface="Times New Roman" panose="02020603050405020304" pitchFamily="18" charset="0"/>
                          </a:rPr>
                          <m:t>2</m:t>
                        </m:r>
                      </m:sub>
                    </m:sSub>
                    <m:r>
                      <a:rPr lang="en-US" altLang="zh-CN" sz="2400">
                        <a:effectLst/>
                        <a:latin typeface="Cambria Math" panose="02040503050406030204" pitchFamily="18" charset="0"/>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cs typeface="Times New Roman" panose="02020603050405020304" pitchFamily="18" charset="0"/>
                          </a:rPr>
                          <m:t>𝑆</m:t>
                        </m:r>
                      </m:e>
                      <m:sub>
                        <m:r>
                          <a:rPr lang="en-US" altLang="zh-CN" sz="2400" i="1">
                            <a:effectLst/>
                            <a:latin typeface="Cambria Math" panose="02040503050406030204" pitchFamily="18" charset="0"/>
                            <a:cs typeface="Times New Roman" panose="02020603050405020304" pitchFamily="18" charset="0"/>
                          </a:rPr>
                          <m:t>𝑛</m:t>
                        </m:r>
                      </m:sub>
                    </m:sSub>
                  </m:oMath>
                </a14:m>
                <a:r>
                  <a:rPr lang="en-US" altLang="zh-CN" sz="2400" dirty="0" err="1">
                    <a:effectLst/>
                    <a:latin typeface="宋体" panose="02010600030101010101" pitchFamily="2" charset="-122"/>
                    <a:cs typeface="Times New Roman" panose="02020603050405020304" pitchFamily="18" charset="0"/>
                  </a:rPr>
                  <a:t>的函数</a:t>
                </a:r>
                <a14:m>
                  <m:oMath xmlns:m="http://schemas.openxmlformats.org/officeDocument/2006/math">
                    <m:r>
                      <a:rPr lang="en-US" altLang="zh-CN" sz="2400" i="1">
                        <a:effectLst/>
                        <a:latin typeface="Cambria Math" panose="02040503050406030204" pitchFamily="18" charset="0"/>
                        <a:cs typeface="Times New Roman" panose="02020603050405020304" pitchFamily="18" charset="0"/>
                      </a:rPr>
                      <m:t>𝜙</m:t>
                    </m:r>
                    <m:d>
                      <m:d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cs typeface="Times New Roman" panose="02020603050405020304" pitchFamily="18" charset="0"/>
                              </a:rPr>
                              <m:t>𝑆</m:t>
                            </m:r>
                          </m:e>
                          <m:sub>
                            <m:r>
                              <a:rPr lang="en-US" altLang="zh-CN" sz="2400" i="1">
                                <a:effectLst/>
                                <a:latin typeface="Cambria Math" panose="02040503050406030204" pitchFamily="18" charset="0"/>
                                <a:cs typeface="Times New Roman" panose="02020603050405020304" pitchFamily="18" charset="0"/>
                              </a:rPr>
                              <m:t>1</m:t>
                            </m:r>
                          </m:sub>
                        </m:sSub>
                        <m:r>
                          <a:rPr lang="en-US" altLang="zh-CN" sz="2400">
                            <a:effectLst/>
                            <a:latin typeface="Cambria Math" panose="02040503050406030204" pitchFamily="18" charset="0"/>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cs typeface="Times New Roman" panose="02020603050405020304" pitchFamily="18" charset="0"/>
                              </a:rPr>
                              <m:t>𝑆</m:t>
                            </m:r>
                          </m:e>
                          <m:sub>
                            <m:r>
                              <a:rPr lang="en-US" altLang="zh-CN" sz="2400" i="1">
                                <a:effectLst/>
                                <a:latin typeface="Cambria Math" panose="02040503050406030204" pitchFamily="18" charset="0"/>
                                <a:cs typeface="Times New Roman" panose="02020603050405020304" pitchFamily="18" charset="0"/>
                              </a:rPr>
                              <m:t>2</m:t>
                            </m:r>
                          </m:sub>
                        </m:sSub>
                        <m:r>
                          <a:rPr lang="en-US" altLang="zh-CN" sz="2400">
                            <a:effectLst/>
                            <a:latin typeface="Cambria Math" panose="02040503050406030204" pitchFamily="18" charset="0"/>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cs typeface="Times New Roman" panose="02020603050405020304" pitchFamily="18" charset="0"/>
                              </a:rPr>
                              <m:t>𝑆</m:t>
                            </m:r>
                          </m:e>
                          <m:sub>
                            <m:r>
                              <a:rPr lang="en-US" altLang="zh-CN" sz="2400" i="1">
                                <a:effectLst/>
                                <a:latin typeface="Cambria Math" panose="02040503050406030204" pitchFamily="18" charset="0"/>
                                <a:cs typeface="Times New Roman" panose="02020603050405020304" pitchFamily="18" charset="0"/>
                              </a:rPr>
                              <m:t>𝑛</m:t>
                            </m:r>
                          </m:sub>
                        </m:sSub>
                      </m:e>
                    </m:d>
                  </m:oMath>
                </a14:m>
                <a:r>
                  <a:rPr lang="en-US" altLang="zh-CN" sz="2400" dirty="0">
                    <a:effectLst/>
                    <a:latin typeface="宋体" panose="02010600030101010101" pitchFamily="2" charset="-122"/>
                    <a:cs typeface="Times New Roman" panose="02020603050405020304" pitchFamily="18" charset="0"/>
                  </a:rPr>
                  <a:t>且</a:t>
                </a:r>
                <a14:m>
                  <m:oMath xmlns:m="http://schemas.openxmlformats.org/officeDocument/2006/math">
                    <m:r>
                      <a:rPr lang="en-US" altLang="zh-CN" sz="2400" i="1">
                        <a:effectLst/>
                        <a:latin typeface="Cambria Math" panose="02040503050406030204" pitchFamily="18" charset="0"/>
                        <a:cs typeface="Times New Roman" panose="02020603050405020304" pitchFamily="18" charset="0"/>
                      </a:rPr>
                      <m:t>𝜙</m:t>
                    </m:r>
                  </m:oMath>
                </a14:m>
                <a:r>
                  <a:rPr lang="en-US" altLang="zh-CN" sz="2400" dirty="0" err="1">
                    <a:effectLst/>
                    <a:latin typeface="宋体" panose="02010600030101010101" pitchFamily="2" charset="-122"/>
                    <a:cs typeface="Times New Roman" panose="02020603050405020304" pitchFamily="18" charset="0"/>
                  </a:rPr>
                  <a:t>关于每个</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cs typeface="Times New Roman" panose="02020603050405020304" pitchFamily="18" charset="0"/>
                          </a:rPr>
                          <m:t>𝑆</m:t>
                        </m:r>
                      </m:e>
                      <m:sub>
                        <m:r>
                          <a:rPr lang="en-US" altLang="zh-CN" sz="2400" i="1">
                            <a:effectLst/>
                            <a:latin typeface="Cambria Math" panose="02040503050406030204" pitchFamily="18" charset="0"/>
                            <a:cs typeface="Times New Roman" panose="02020603050405020304" pitchFamily="18" charset="0"/>
                          </a:rPr>
                          <m:t>𝑖</m:t>
                        </m:r>
                      </m:sub>
                    </m:sSub>
                  </m:oMath>
                </a14:m>
                <a:r>
                  <a:rPr lang="en-US" altLang="zh-CN" sz="2400" dirty="0" err="1">
                    <a:effectLst/>
                    <a:latin typeface="宋体" panose="02010600030101010101" pitchFamily="2" charset="-122"/>
                    <a:cs typeface="Times New Roman" panose="02020603050405020304" pitchFamily="18" charset="0"/>
                  </a:rPr>
                  <a:t>单调不减</a:t>
                </a:r>
                <a:r>
                  <a:rPr lang="en-US" altLang="zh-CN" sz="2400" dirty="0">
                    <a:effectLst/>
                    <a:latin typeface="宋体" panose="02010600030101010101" pitchFamily="2" charset="-122"/>
                    <a:cs typeface="Times New Roman" panose="02020603050405020304" pitchFamily="18" charset="0"/>
                  </a:rPr>
                  <a:t>，</a:t>
                </a:r>
                <a:endParaRPr lang="zh-CN" altLang="zh-CN" sz="2400" dirty="0">
                  <a:effectLst/>
                  <a:latin typeface="Cambria" panose="02040503050406030204" pitchFamily="18" charset="0"/>
                  <a:cs typeface="Times New Roman" panose="02020603050405020304" pitchFamily="18" charset="0"/>
                </a:endParaRPr>
              </a:p>
              <a:p>
                <a:pPr>
                  <a:spcBef>
                    <a:spcPts val="900"/>
                  </a:spcBef>
                  <a:spcAft>
                    <a:spcPts val="900"/>
                  </a:spcAft>
                </a:pPr>
                <a:r>
                  <a:rPr lang="en-US" altLang="zh-CN" sz="2800" dirty="0">
                    <a:effectLst/>
                    <a:latin typeface="宋体" panose="02010600030101010101" pitchFamily="2" charset="-122"/>
                    <a:ea typeface="宋体" panose="02010600030101010101" pitchFamily="2" charset="-122"/>
                    <a:cs typeface="Times New Roman" panose="02020603050405020304" pitchFamily="18" charset="0"/>
                  </a:rPr>
                  <a:t>称</a:t>
                </a:r>
                <a14:m>
                  <m:oMath xmlns:m="http://schemas.openxmlformats.org/officeDocument/2006/math">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𝜙</m:t>
                    </m:r>
                  </m:oMath>
                </a14:m>
                <a:r>
                  <a:rPr lang="en-US" altLang="zh-CN" sz="2800" dirty="0" err="1">
                    <a:effectLst/>
                    <a:latin typeface="宋体" panose="02010600030101010101" pitchFamily="2" charset="-122"/>
                    <a:ea typeface="宋体" panose="02010600030101010101" pitchFamily="2" charset="-122"/>
                    <a:cs typeface="Times New Roman" panose="02020603050405020304" pitchFamily="18" charset="0"/>
                  </a:rPr>
                  <a:t>为系统的结构函数</a:t>
                </a:r>
                <a:r>
                  <a:rPr lang="en-US" altLang="zh-CN" sz="2800" dirty="0">
                    <a:effectLst/>
                    <a:latin typeface="宋体" panose="02010600030101010101" pitchFamily="2" charset="-122"/>
                    <a:ea typeface="宋体" panose="02010600030101010101" pitchFamily="2" charset="-122"/>
                    <a:cs typeface="Times New Roman" panose="02020603050405020304" pitchFamily="18" charset="0"/>
                  </a:rPr>
                  <a:t>。</a:t>
                </a:r>
                <a:endParaRPr lang="zh-CN" altLang="zh-CN" sz="2800" dirty="0">
                  <a:effectLst/>
                  <a:latin typeface="Cambria" panose="02040503050406030204" pitchFamily="18" charset="0"/>
                  <a:ea typeface="宋体" panose="02010600030101010101" pitchFamily="2" charset="-122"/>
                  <a:cs typeface="Times New Roman" panose="02020603050405020304" pitchFamily="18" charset="0"/>
                </a:endParaRPr>
              </a:p>
              <a:p>
                <a:r>
                  <a:rPr lang="en-US" altLang="zh-CN" sz="2800" dirty="0">
                    <a:effectLst/>
                    <a:latin typeface="宋体" panose="02010600030101010101" pitchFamily="2" charset="-122"/>
                    <a:cs typeface="Times New Roman" panose="02020603050405020304" pitchFamily="18" charset="0"/>
                  </a:rPr>
                  <a:t>令</a:t>
                </a:r>
                <a14:m>
                  <m:oMath xmlns:m="http://schemas.openxmlformats.org/officeDocument/2006/math">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𝑅</m:t>
                    </m:r>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𝑃</m:t>
                    </m:r>
                    <m:d>
                      <m:dPr>
                        <m:ctrlPr>
                          <a:rPr lang="zh-CN" altLang="zh-CN" sz="2800" i="1">
                            <a:effectLst/>
                            <a:latin typeface="Cambria Math" panose="02040503050406030204" pitchFamily="18" charset="0"/>
                            <a:ea typeface="Cambria Math" panose="02040503050406030204" pitchFamily="18" charset="0"/>
                          </a:rPr>
                        </m:ctrlPr>
                      </m:d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𝑌</m:t>
                        </m:r>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1</m:t>
                        </m:r>
                      </m:e>
                    </m:d>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𝐸</m:t>
                    </m:r>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𝜙</m:t>
                    </m:r>
                    <m:d>
                      <m:dPr>
                        <m:ctrlPr>
                          <a:rPr lang="zh-CN" altLang="zh-CN" sz="2800" i="1">
                            <a:effectLst/>
                            <a:latin typeface="Cambria Math" panose="02040503050406030204" pitchFamily="18" charset="0"/>
                            <a:ea typeface="Cambria Math" panose="02040503050406030204" pitchFamily="18" charset="0"/>
                          </a:rPr>
                        </m:ctrlPr>
                      </m:dPr>
                      <m:e>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𝑛</m:t>
                            </m:r>
                          </m:sub>
                        </m:sSub>
                      </m:e>
                    </m:d>
                  </m:oMath>
                </a14:m>
                <a:r>
                  <a:rPr lang="en-US" altLang="zh-CN" sz="2800" dirty="0">
                    <a:effectLst/>
                    <a:latin typeface="宋体" panose="02010600030101010101" pitchFamily="2" charset="-122"/>
                    <a:cs typeface="Times New Roman" panose="02020603050405020304" pitchFamily="18" charset="0"/>
                  </a:rPr>
                  <a:t>，</a:t>
                </a:r>
                <a:r>
                  <a:rPr lang="en-US" altLang="zh-CN" sz="2800" dirty="0">
                    <a:effectLst/>
                    <a:latin typeface="Cambria" panose="02040503050406030204" pitchFamily="18" charset="0"/>
                    <a:ea typeface="宋体" panose="02010600030101010101" pitchFamily="2" charset="-122"/>
                    <a:cs typeface="Times New Roman" panose="02020603050405020304" pitchFamily="18" charset="0"/>
                  </a:rPr>
                  <a:t> </a:t>
                </a:r>
                <a:r>
                  <a:rPr lang="en-US" altLang="zh-CN" sz="2800" dirty="0" err="1">
                    <a:effectLst/>
                    <a:latin typeface="宋体" panose="02010600030101010101" pitchFamily="2" charset="-122"/>
                    <a:cs typeface="Times New Roman" panose="02020603050405020304" pitchFamily="18" charset="0"/>
                  </a:rPr>
                  <a:t>称</a:t>
                </a:r>
                <a:r>
                  <a:rPr lang="en-US" altLang="zh-CN" sz="2800" dirty="0" err="1">
                    <a:effectLst/>
                    <a:latin typeface="Cambria" panose="02040503050406030204" pitchFamily="18" charset="0"/>
                    <a:ea typeface="宋体" panose="02010600030101010101" pitchFamily="2" charset="-122"/>
                    <a:cs typeface="Times New Roman" panose="02020603050405020304" pitchFamily="18" charset="0"/>
                  </a:rPr>
                  <a:t>R</a:t>
                </a:r>
                <a:r>
                  <a:rPr lang="en-US" altLang="zh-CN" sz="2800" dirty="0" err="1">
                    <a:effectLst/>
                    <a:latin typeface="宋体" panose="02010600030101010101" pitchFamily="2" charset="-122"/>
                    <a:cs typeface="Times New Roman" panose="02020603050405020304" pitchFamily="18" charset="0"/>
                  </a:rPr>
                  <a:t>为</a:t>
                </a:r>
                <a:r>
                  <a:rPr lang="en-US" altLang="zh-CN" sz="2800" b="1" dirty="0" err="1">
                    <a:effectLst/>
                    <a:latin typeface="宋体" panose="02010600030101010101" pitchFamily="2" charset="-122"/>
                    <a:cs typeface="Times New Roman" panose="02020603050405020304" pitchFamily="18" charset="0"/>
                  </a:rPr>
                  <a:t>系统可靠度</a:t>
                </a:r>
                <a:r>
                  <a:rPr lang="en-US" altLang="zh-CN" sz="2800" dirty="0">
                    <a:effectLst/>
                    <a:latin typeface="宋体" panose="02010600030101010101" pitchFamily="2" charset="-122"/>
                    <a:cs typeface="Times New Roman" panose="02020603050405020304" pitchFamily="18" charset="0"/>
                  </a:rPr>
                  <a:t>。</a:t>
                </a:r>
                <a:endParaRPr lang="zh-CN" altLang="en-US" sz="2800" dirty="0"/>
              </a:p>
            </p:txBody>
          </p:sp>
        </mc:Choice>
        <mc:Fallback xmlns="">
          <p:sp>
            <p:nvSpPr>
              <p:cNvPr id="5" name="文本框 4">
                <a:extLst>
                  <a:ext uri="{FF2B5EF4-FFF2-40B4-BE49-F238E27FC236}">
                    <a16:creationId xmlns:a16="http://schemas.microsoft.com/office/drawing/2014/main" id="{DC9B2CC3-1BDC-4EAC-8C0A-2E3FD7962A0E}"/>
                  </a:ext>
                </a:extLst>
              </p:cNvPr>
              <p:cNvSpPr txBox="1">
                <a:spLocks noRot="1" noChangeAspect="1" noMove="1" noResize="1" noEditPoints="1" noAdjustHandles="1" noChangeArrowheads="1" noChangeShapeType="1" noTextEdit="1"/>
              </p:cNvSpPr>
              <p:nvPr/>
            </p:nvSpPr>
            <p:spPr>
              <a:xfrm>
                <a:off x="14377" y="1332272"/>
                <a:ext cx="9144000" cy="4193456"/>
              </a:xfrm>
              <a:prstGeom prst="rect">
                <a:avLst/>
              </a:prstGeom>
              <a:blipFill>
                <a:blip r:embed="rId2"/>
                <a:stretch>
                  <a:fillRect l="-1333" t="-2038" r="-1333" b="-3348"/>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16927601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14.2 (</a:t>
            </a:r>
            <a:r>
              <a:rPr lang="zh-CN" altLang="en-US" sz="3600" b="0" dirty="0">
                <a:latin typeface="+mn-lt"/>
                <a:ea typeface="+mn-ea"/>
              </a:rPr>
              <a:t>系统可靠性估计</a:t>
            </a:r>
            <a:r>
              <a:rPr lang="en-US" altLang="zh-CN" sz="3600" b="0" dirty="0">
                <a:latin typeface="+mn-lt"/>
                <a:ea typeface="+mn-ea"/>
              </a:rPr>
              <a:t>)</a:t>
            </a:r>
            <a:endParaRPr lang="zh-CN" altLang="en-US" sz="3600" b="0" dirty="0">
              <a:latin typeface="+mn-lt"/>
              <a:ea typeface="+mn-ea"/>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103</a:t>
            </a:fld>
            <a:endParaRPr lang="zh-CN" altLang="en-US">
              <a:solidFill>
                <a:srgbClr val="898989"/>
              </a:solidFill>
            </a:endParaRPr>
          </a:p>
        </p:txBody>
      </p:sp>
      <p:sp>
        <p:nvSpPr>
          <p:cNvPr id="7" name="文本框 6">
            <a:extLst>
              <a:ext uri="{FF2B5EF4-FFF2-40B4-BE49-F238E27FC236}">
                <a16:creationId xmlns:a16="http://schemas.microsoft.com/office/drawing/2014/main" id="{A7D03EDB-3114-428C-A9A5-6A2EACCC25FC}"/>
              </a:ext>
            </a:extLst>
          </p:cNvPr>
          <p:cNvSpPr txBox="1"/>
          <p:nvPr/>
        </p:nvSpPr>
        <p:spPr>
          <a:xfrm>
            <a:off x="116505" y="1178750"/>
            <a:ext cx="4690532" cy="584775"/>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用平均值法估计</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R</a:t>
            </a:r>
            <a:endParaRPr lang="zh-CN" altLang="en-US"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F936300-7DD7-4AFA-B3F4-767B56966CA4}"/>
                  </a:ext>
                </a:extLst>
              </p:cNvPr>
              <p:cNvSpPr txBox="1"/>
              <p:nvPr/>
            </p:nvSpPr>
            <p:spPr>
              <a:xfrm>
                <a:off x="656564" y="2066415"/>
                <a:ext cx="8030235" cy="3436390"/>
              </a:xfrm>
              <a:prstGeom prst="rect">
                <a:avLst/>
              </a:prstGeom>
              <a:noFill/>
              <a:ln w="25400">
                <a:noFill/>
              </a:ln>
            </p:spPr>
            <p:txBody>
              <a:bodyPr wrap="square">
                <a:spAutoFit/>
              </a:bodyPr>
              <a:lstStyle/>
              <a:p>
                <a:pPr>
                  <a:spcBef>
                    <a:spcPts val="900"/>
                  </a:spcBef>
                  <a:spcAft>
                    <a:spcPts val="900"/>
                  </a:spcAft>
                </a:pPr>
                <a:r>
                  <a:rPr lang="en-US" altLang="zh-CN" sz="2800" dirty="0">
                    <a:effectLst/>
                    <a:latin typeface="宋体" panose="02010600030101010101" pitchFamily="2" charset="-122"/>
                    <a:cs typeface="Times New Roman" panose="02020603050405020304" pitchFamily="18" charset="0"/>
                  </a:rPr>
                  <a:t>记</a:t>
                </a:r>
                <a14:m>
                  <m:oMath xmlns:m="http://schemas.openxmlformats.org/officeDocument/2006/math">
                    <m:r>
                      <a:rPr lang="en-US" altLang="zh-CN" sz="2800" b="1" i="1">
                        <a:effectLst/>
                        <a:latin typeface="Cambria Math" panose="02040503050406030204" pitchFamily="18" charset="0"/>
                        <a:cs typeface="Times New Roman" panose="02020603050405020304" pitchFamily="18" charset="0"/>
                      </a:rPr>
                      <m:t>𝐒</m:t>
                    </m:r>
                    <m:r>
                      <a:rPr lang="en-US" altLang="zh-CN" sz="2800">
                        <a:effectLst/>
                        <a:latin typeface="Cambria Math" panose="02040503050406030204" pitchFamily="18" charset="0"/>
                        <a:cs typeface="Times New Roman" panose="02020603050405020304" pitchFamily="18" charset="0"/>
                      </a:rPr>
                      <m:t>=</m:t>
                    </m:r>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𝑆</m:t>
                            </m:r>
                          </m:e>
                          <m:sub>
                            <m:r>
                              <a:rPr lang="en-US" altLang="zh-CN" sz="2800" i="1">
                                <a:effectLst/>
                                <a:latin typeface="Cambria Math" panose="02040503050406030204" pitchFamily="18" charset="0"/>
                                <a:cs typeface="Times New Roman" panose="02020603050405020304" pitchFamily="18" charset="0"/>
                              </a:rPr>
                              <m:t>1</m:t>
                            </m:r>
                          </m:sub>
                        </m:sSub>
                        <m:r>
                          <a:rPr lang="en-US" altLang="zh-CN" sz="2800">
                            <a:effectLst/>
                            <a:latin typeface="Cambria Math" panose="02040503050406030204" pitchFamily="18" charset="0"/>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𝑆</m:t>
                            </m:r>
                          </m:e>
                          <m:sub>
                            <m:r>
                              <a:rPr lang="en-US" altLang="zh-CN" sz="2800" i="1">
                                <a:effectLst/>
                                <a:latin typeface="Cambria Math" panose="02040503050406030204" pitchFamily="18" charset="0"/>
                                <a:cs typeface="Times New Roman" panose="02020603050405020304" pitchFamily="18" charset="0"/>
                              </a:rPr>
                              <m:t>2</m:t>
                            </m:r>
                          </m:sub>
                        </m:sSub>
                        <m:r>
                          <a:rPr lang="en-US" altLang="zh-CN" sz="2800">
                            <a:effectLst/>
                            <a:latin typeface="Cambria Math" panose="02040503050406030204" pitchFamily="18" charset="0"/>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𝑆</m:t>
                            </m:r>
                          </m:e>
                          <m:sub>
                            <m:r>
                              <a:rPr lang="en-US" altLang="zh-CN" sz="2800" i="1">
                                <a:effectLst/>
                                <a:latin typeface="Cambria Math" panose="02040503050406030204" pitchFamily="18" charset="0"/>
                                <a:cs typeface="Times New Roman" panose="02020603050405020304" pitchFamily="18" charset="0"/>
                              </a:rPr>
                              <m:t>𝑛</m:t>
                            </m:r>
                          </m:sub>
                        </m:sSub>
                      </m:e>
                    </m:d>
                  </m:oMath>
                </a14:m>
                <a:r>
                  <a:rPr lang="en-US" altLang="zh-CN" sz="2800" dirty="0">
                    <a:effectLst/>
                    <a:latin typeface="Cambria" panose="02040503050406030204" pitchFamily="18" charset="0"/>
                    <a:cs typeface="Times New Roman" panose="02020603050405020304" pitchFamily="18" charset="0"/>
                  </a:rPr>
                  <a:t>, </a:t>
                </a:r>
                <a14:m>
                  <m:oMath xmlns:m="http://schemas.openxmlformats.org/officeDocument/2006/math">
                    <m:r>
                      <a:rPr lang="en-US" altLang="zh-CN" sz="2800" i="1">
                        <a:effectLst/>
                        <a:latin typeface="Cambria Math" panose="02040503050406030204" pitchFamily="18" charset="0"/>
                        <a:cs typeface="Times New Roman" panose="02020603050405020304" pitchFamily="18" charset="0"/>
                      </a:rPr>
                      <m:t>𝑋</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𝜙</m:t>
                    </m:r>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b="1" i="1">
                            <a:effectLst/>
                            <a:latin typeface="Cambria Math" panose="02040503050406030204" pitchFamily="18" charset="0"/>
                            <a:cs typeface="Times New Roman" panose="02020603050405020304" pitchFamily="18" charset="0"/>
                          </a:rPr>
                          <m:t>𝐒</m:t>
                        </m:r>
                      </m:e>
                    </m:d>
                  </m:oMath>
                </a14:m>
                <a:r>
                  <a:rPr lang="en-US" altLang="zh-CN" sz="2800" dirty="0">
                    <a:effectLst/>
                    <a:latin typeface="Cambria" panose="02040503050406030204" pitchFamily="18" charset="0"/>
                    <a:cs typeface="Times New Roman" panose="02020603050405020304" pitchFamily="18" charset="0"/>
                  </a:rPr>
                  <a:t>, </a:t>
                </a:r>
                <a:r>
                  <a:rPr lang="en-US" altLang="zh-CN" sz="2800" dirty="0">
                    <a:effectLst/>
                    <a:latin typeface="宋体" panose="02010600030101010101" pitchFamily="2" charset="-122"/>
                    <a:cs typeface="Times New Roman" panose="02020603050405020304" pitchFamily="18" charset="0"/>
                  </a:rPr>
                  <a:t>对</a:t>
                </a:r>
                <a14:m>
                  <m:oMath xmlns:m="http://schemas.openxmlformats.org/officeDocument/2006/math">
                    <m:r>
                      <a:rPr lang="en-US" altLang="zh-CN" sz="2800" b="1" i="1">
                        <a:effectLst/>
                        <a:latin typeface="Cambria Math" panose="02040503050406030204" pitchFamily="18" charset="0"/>
                        <a:cs typeface="Times New Roman" panose="02020603050405020304" pitchFamily="18" charset="0"/>
                      </a:rPr>
                      <m:t>𝐒</m:t>
                    </m:r>
                  </m:oMath>
                </a14:m>
                <a:r>
                  <a:rPr lang="en-US" altLang="zh-CN" sz="2800" dirty="0" err="1">
                    <a:effectLst/>
                    <a:latin typeface="宋体" panose="02010600030101010101" pitchFamily="2" charset="-122"/>
                    <a:cs typeface="Times New Roman" panose="02020603050405020304" pitchFamily="18" charset="0"/>
                  </a:rPr>
                  <a:t>独立抽取</a:t>
                </a:r>
                <a:r>
                  <a:rPr lang="en-US" altLang="zh-CN" sz="2800" dirty="0" err="1">
                    <a:effectLst/>
                    <a:latin typeface="Cambria" panose="02040503050406030204" pitchFamily="18" charset="0"/>
                    <a:cs typeface="Times New Roman" panose="02020603050405020304" pitchFamily="18" charset="0"/>
                  </a:rPr>
                  <a:t>N</a:t>
                </a:r>
                <a:r>
                  <a:rPr lang="en-US" altLang="zh-CN" sz="2800" dirty="0" err="1">
                    <a:effectLst/>
                    <a:latin typeface="宋体" panose="02010600030101010101" pitchFamily="2" charset="-122"/>
                    <a:cs typeface="Times New Roman" panose="02020603050405020304" pitchFamily="18" charset="0"/>
                  </a:rPr>
                  <a:t>个点</a:t>
                </a:r>
                <a:endParaRPr lang="zh-CN" altLang="zh-CN" sz="28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sSup>
                        <m:s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b="1" i="1">
                              <a:effectLst/>
                              <a:latin typeface="Cambria Math" panose="02040503050406030204" pitchFamily="18" charset="0"/>
                              <a:cs typeface="Times New Roman" panose="02020603050405020304" pitchFamily="18" charset="0"/>
                            </a:rPr>
                            <m:t>𝐒</m:t>
                          </m:r>
                        </m:e>
                        <m:sup>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cs typeface="Times New Roman" panose="02020603050405020304" pitchFamily="18" charset="0"/>
                                </a:rPr>
                                <m:t>𝑗</m:t>
                              </m:r>
                            </m:e>
                          </m:d>
                        </m:sup>
                      </m:sSup>
                      <m:r>
                        <a:rPr lang="en-US" altLang="zh-CN" sz="2800">
                          <a:effectLst/>
                          <a:latin typeface="Cambria Math" panose="02040503050406030204" pitchFamily="18" charset="0"/>
                          <a:cs typeface="Times New Roman" panose="02020603050405020304" pitchFamily="18" charset="0"/>
                        </a:rPr>
                        <m:t>=</m:t>
                      </m:r>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sSubSup>
                            <m:sSub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effectLst/>
                                  <a:latin typeface="Cambria Math" panose="02040503050406030204" pitchFamily="18" charset="0"/>
                                  <a:cs typeface="Times New Roman" panose="02020603050405020304" pitchFamily="18" charset="0"/>
                                </a:rPr>
                                <m:t>𝑆</m:t>
                              </m:r>
                            </m:e>
                            <m:sub>
                              <m:r>
                                <a:rPr lang="en-US" altLang="zh-CN" sz="2800" i="1">
                                  <a:effectLst/>
                                  <a:latin typeface="Cambria Math" panose="02040503050406030204" pitchFamily="18" charset="0"/>
                                  <a:cs typeface="Times New Roman" panose="02020603050405020304" pitchFamily="18" charset="0"/>
                                </a:rPr>
                                <m:t>1</m:t>
                              </m:r>
                            </m:sub>
                            <m:sup>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cs typeface="Times New Roman" panose="02020603050405020304" pitchFamily="18" charset="0"/>
                                    </a:rPr>
                                    <m:t>𝑗</m:t>
                                  </m:r>
                                </m:e>
                              </m:d>
                            </m:sup>
                          </m:sSubSup>
                          <m:sSubSup>
                            <m:sSub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effectLst/>
                                  <a:latin typeface="Cambria Math" panose="02040503050406030204" pitchFamily="18" charset="0"/>
                                  <a:cs typeface="Times New Roman" panose="02020603050405020304" pitchFamily="18" charset="0"/>
                                </a:rPr>
                                <m:t>𝑆</m:t>
                              </m:r>
                            </m:e>
                            <m:sub>
                              <m:r>
                                <a:rPr lang="en-US" altLang="zh-CN" sz="2800" i="1">
                                  <a:effectLst/>
                                  <a:latin typeface="Cambria Math" panose="02040503050406030204" pitchFamily="18" charset="0"/>
                                  <a:cs typeface="Times New Roman" panose="02020603050405020304" pitchFamily="18" charset="0"/>
                                </a:rPr>
                                <m:t>2</m:t>
                              </m:r>
                            </m:sub>
                            <m:sup>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cs typeface="Times New Roman" panose="02020603050405020304" pitchFamily="18" charset="0"/>
                                    </a:rPr>
                                    <m:t>𝑗</m:t>
                                  </m:r>
                                </m:e>
                              </m:d>
                            </m:sup>
                          </m:sSubSup>
                          <m:r>
                            <a:rPr lang="en-US" altLang="zh-CN" sz="2800">
                              <a:effectLst/>
                              <a:latin typeface="Cambria Math" panose="02040503050406030204" pitchFamily="18" charset="0"/>
                              <a:cs typeface="Times New Roman" panose="02020603050405020304" pitchFamily="18" charset="0"/>
                            </a:rPr>
                            <m:t>,…,</m:t>
                          </m:r>
                          <m:sSubSup>
                            <m:sSub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effectLst/>
                                  <a:latin typeface="Cambria Math" panose="02040503050406030204" pitchFamily="18" charset="0"/>
                                  <a:cs typeface="Times New Roman" panose="02020603050405020304" pitchFamily="18" charset="0"/>
                                </a:rPr>
                                <m:t>𝑆</m:t>
                              </m:r>
                            </m:e>
                            <m:sub>
                              <m:r>
                                <a:rPr lang="en-US" altLang="zh-CN" sz="2800" i="1">
                                  <a:effectLst/>
                                  <a:latin typeface="Cambria Math" panose="02040503050406030204" pitchFamily="18" charset="0"/>
                                  <a:cs typeface="Times New Roman" panose="02020603050405020304" pitchFamily="18" charset="0"/>
                                </a:rPr>
                                <m:t>𝑛</m:t>
                              </m:r>
                            </m:sub>
                            <m:sup>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cs typeface="Times New Roman" panose="02020603050405020304" pitchFamily="18" charset="0"/>
                                    </a:rPr>
                                    <m:t>𝑗</m:t>
                                  </m:r>
                                </m:e>
                              </m:d>
                            </m:sup>
                          </m:sSubSup>
                        </m:e>
                      </m:d>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𝑗</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1</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2</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𝑁</m:t>
                      </m:r>
                    </m:oMath>
                  </m:oMathPara>
                </a14:m>
                <a:endParaRPr lang="zh-CN" altLang="zh-CN" sz="2800" dirty="0">
                  <a:effectLst/>
                  <a:latin typeface="Cambria" panose="02040503050406030204" pitchFamily="18" charset="0"/>
                  <a:cs typeface="Times New Roman" panose="02020603050405020304" pitchFamily="18" charset="0"/>
                </a:endParaRPr>
              </a:p>
              <a:p>
                <a:pPr>
                  <a:spcBef>
                    <a:spcPts val="900"/>
                  </a:spcBef>
                  <a:spcAft>
                    <a:spcPts val="900"/>
                  </a:spcAft>
                </a:pPr>
                <a:r>
                  <a:rPr lang="en-US" altLang="zh-CN" sz="2800" dirty="0" err="1">
                    <a:effectLst/>
                    <a:latin typeface="Cambria" panose="02040503050406030204" pitchFamily="18" charset="0"/>
                    <a:cs typeface="Times New Roman" panose="02020603050405020304" pitchFamily="18" charset="0"/>
                  </a:rPr>
                  <a:t>R</a:t>
                </a:r>
                <a:r>
                  <a:rPr lang="en-US" altLang="zh-CN" sz="2800" dirty="0" err="1">
                    <a:effectLst/>
                    <a:latin typeface="宋体" panose="02010600030101010101" pitchFamily="2" charset="-122"/>
                    <a:cs typeface="Times New Roman" panose="02020603050405020304" pitchFamily="18" charset="0"/>
                  </a:rPr>
                  <a:t>可以用平均值法估计为</a:t>
                </a:r>
                <a:endParaRPr lang="zh-CN" altLang="zh-CN" sz="28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effectLst/>
                                  <a:latin typeface="Cambria Math" panose="02040503050406030204" pitchFamily="18" charset="0"/>
                                  <a:cs typeface="Times New Roman" panose="02020603050405020304" pitchFamily="18" charset="0"/>
                                </a:rPr>
                                <m:t>𝑅</m:t>
                              </m:r>
                            </m:e>
                          </m:acc>
                        </m:e>
                        <m:sub>
                          <m:r>
                            <a:rPr lang="en-US" altLang="zh-CN" sz="2800" i="1">
                              <a:effectLst/>
                              <a:latin typeface="Cambria Math" panose="02040503050406030204" pitchFamily="18" charset="0"/>
                              <a:cs typeface="Times New Roman" panose="02020603050405020304" pitchFamily="18" charset="0"/>
                            </a:rPr>
                            <m:t>1</m:t>
                          </m:r>
                        </m:sub>
                      </m:sSub>
                      <m:r>
                        <a:rPr lang="en-US" altLang="zh-CN" sz="2800">
                          <a:effectLst/>
                          <a:latin typeface="Cambria Math" panose="02040503050406030204" pitchFamily="18" charset="0"/>
                          <a:cs typeface="Times New Roman" panose="02020603050405020304" pitchFamily="18" charset="0"/>
                        </a:rPr>
                        <m:t>=</m:t>
                      </m:r>
                      <m:f>
                        <m:f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a:effectLst/>
                              <a:latin typeface="Cambria Math" panose="02040503050406030204" pitchFamily="18" charset="0"/>
                              <a:cs typeface="Times New Roman" panose="02020603050405020304" pitchFamily="18" charset="0"/>
                            </a:rPr>
                            <m:t>1</m:t>
                          </m:r>
                        </m:num>
                        <m:den>
                          <m:r>
                            <a:rPr lang="en-US" altLang="zh-CN" sz="2800" i="1">
                              <a:effectLst/>
                              <a:latin typeface="Cambria Math" panose="02040503050406030204" pitchFamily="18" charset="0"/>
                              <a:cs typeface="Times New Roman" panose="02020603050405020304" pitchFamily="18" charset="0"/>
                            </a:rPr>
                            <m:t>𝑁</m:t>
                          </m:r>
                        </m:den>
                      </m:f>
                      <m:nary>
                        <m:naryPr>
                          <m:chr m:val="∑"/>
                          <m:limLoc m:val="undOv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800" i="1">
                              <a:effectLst/>
                              <a:latin typeface="Cambria Math" panose="02040503050406030204" pitchFamily="18" charset="0"/>
                              <a:cs typeface="Times New Roman" panose="02020603050405020304" pitchFamily="18" charset="0"/>
                            </a:rPr>
                            <m:t>𝑗</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1</m:t>
                          </m:r>
                        </m:sub>
                        <m:sup>
                          <m:r>
                            <a:rPr lang="en-US" altLang="zh-CN" sz="2800" i="1">
                              <a:effectLst/>
                              <a:latin typeface="Cambria Math" panose="02040503050406030204" pitchFamily="18" charset="0"/>
                              <a:cs typeface="Times New Roman" panose="02020603050405020304" pitchFamily="18" charset="0"/>
                            </a:rPr>
                            <m:t>𝑁</m:t>
                          </m:r>
                        </m:sup>
                        <m:e>
                          <m:r>
                            <a:rPr lang="en-US" altLang="zh-CN" sz="2800" i="1">
                              <a:effectLst/>
                              <a:latin typeface="Cambria Math" panose="02040503050406030204" pitchFamily="18" charset="0"/>
                              <a:cs typeface="Times New Roman" panose="02020603050405020304" pitchFamily="18" charset="0"/>
                            </a:rPr>
                            <m:t>𝜙</m:t>
                          </m:r>
                        </m:e>
                      </m:nary>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b="1" i="1">
                                  <a:effectLst/>
                                  <a:latin typeface="Cambria Math" panose="02040503050406030204" pitchFamily="18" charset="0"/>
                                  <a:cs typeface="Times New Roman" panose="02020603050405020304" pitchFamily="18" charset="0"/>
                                </a:rPr>
                                <m:t>𝐒</m:t>
                              </m:r>
                            </m:e>
                            <m:sup>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cs typeface="Times New Roman" panose="02020603050405020304" pitchFamily="18" charset="0"/>
                                    </a:rPr>
                                    <m:t>𝑗</m:t>
                                  </m:r>
                                </m:e>
                              </m:d>
                            </m:sup>
                          </m:sSup>
                        </m:e>
                      </m:d>
                    </m:oMath>
                  </m:oMathPara>
                </a14:m>
                <a:endParaRPr lang="zh-CN" altLang="zh-CN" sz="2800" dirty="0">
                  <a:effectLst/>
                  <a:latin typeface="Cambria" panose="02040503050406030204" pitchFamily="18" charset="0"/>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DF936300-7DD7-4AFA-B3F4-767B56966CA4}"/>
                  </a:ext>
                </a:extLst>
              </p:cNvPr>
              <p:cNvSpPr txBox="1">
                <a:spLocks noRot="1" noChangeAspect="1" noMove="1" noResize="1" noEditPoints="1" noAdjustHandles="1" noChangeArrowheads="1" noChangeShapeType="1" noTextEdit="1"/>
              </p:cNvSpPr>
              <p:nvPr/>
            </p:nvSpPr>
            <p:spPr>
              <a:xfrm>
                <a:off x="656564" y="2066415"/>
                <a:ext cx="8030235" cy="3436390"/>
              </a:xfrm>
              <a:prstGeom prst="rect">
                <a:avLst/>
              </a:prstGeom>
              <a:blipFill>
                <a:blip r:embed="rId2"/>
                <a:stretch>
                  <a:fillRect l="-1595" t="-2482"/>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18910618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14.2 (</a:t>
            </a:r>
            <a:r>
              <a:rPr lang="zh-CN" altLang="en-US" sz="3600" b="0" dirty="0">
                <a:latin typeface="+mn-lt"/>
                <a:ea typeface="+mn-ea"/>
              </a:rPr>
              <a:t>系统可靠性估计</a:t>
            </a:r>
            <a:r>
              <a:rPr lang="en-US" altLang="zh-CN" sz="3600" b="0" dirty="0">
                <a:latin typeface="+mn-lt"/>
                <a:ea typeface="+mn-ea"/>
              </a:rPr>
              <a:t>)</a:t>
            </a:r>
            <a:endParaRPr lang="zh-CN" altLang="en-US" sz="3600" b="0" dirty="0">
              <a:latin typeface="+mn-lt"/>
              <a:ea typeface="+mn-ea"/>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104</a:t>
            </a:fld>
            <a:endParaRPr lang="zh-CN" altLang="en-US">
              <a:solidFill>
                <a:srgbClr val="898989"/>
              </a:solidFill>
            </a:endParaRPr>
          </a:p>
        </p:txBody>
      </p:sp>
      <p:sp>
        <p:nvSpPr>
          <p:cNvPr id="7" name="文本框 6">
            <a:extLst>
              <a:ext uri="{FF2B5EF4-FFF2-40B4-BE49-F238E27FC236}">
                <a16:creationId xmlns:a16="http://schemas.microsoft.com/office/drawing/2014/main" id="{A7D03EDB-3114-428C-A9A5-6A2EACCC25FC}"/>
              </a:ext>
            </a:extLst>
          </p:cNvPr>
          <p:cNvSpPr txBox="1"/>
          <p:nvPr/>
        </p:nvSpPr>
        <p:spPr>
          <a:xfrm>
            <a:off x="116505" y="1178750"/>
            <a:ext cx="4690532" cy="584775"/>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用控制变量法估计</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R</a:t>
            </a:r>
            <a:endParaRPr lang="zh-CN" altLang="en-US" sz="3200"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08D17FC-2C3C-4282-96BC-8ACDB2D4E8DB}"/>
                  </a:ext>
                </a:extLst>
              </p:cNvPr>
              <p:cNvSpPr txBox="1"/>
              <p:nvPr/>
            </p:nvSpPr>
            <p:spPr>
              <a:xfrm>
                <a:off x="457200" y="2076963"/>
                <a:ext cx="8435280" cy="3770135"/>
              </a:xfrm>
              <a:prstGeom prst="rect">
                <a:avLst/>
              </a:prstGeom>
              <a:noFill/>
              <a:ln w="25400">
                <a:noFill/>
              </a:ln>
            </p:spPr>
            <p:txBody>
              <a:bodyPr wrap="square">
                <a:spAutoFit/>
              </a:bodyPr>
              <a:lstStyle/>
              <a:p>
                <a:pPr>
                  <a:spcBef>
                    <a:spcPts val="900"/>
                  </a:spcBef>
                  <a:spcAft>
                    <a:spcPts val="900"/>
                  </a:spcAft>
                </a:pPr>
                <a:r>
                  <a:rPr lang="en-US" altLang="zh-CN" sz="2800" dirty="0">
                    <a:effectLst/>
                    <a:latin typeface="宋体" panose="02010600030101010101" pitchFamily="2" charset="-122"/>
                    <a:cs typeface="Times New Roman" panose="02020603050405020304" pitchFamily="18" charset="0"/>
                  </a:rPr>
                  <a:t>令</a:t>
                </a:r>
                <a14:m>
                  <m:oMath xmlns:m="http://schemas.openxmlformats.org/officeDocument/2006/math">
                    <m:r>
                      <a:rPr lang="en-US" altLang="zh-CN" sz="2800" i="1">
                        <a:effectLst/>
                        <a:latin typeface="Cambria Math" panose="02040503050406030204" pitchFamily="18" charset="0"/>
                        <a:cs typeface="Times New Roman" panose="02020603050405020304" pitchFamily="18" charset="0"/>
                      </a:rPr>
                      <m:t>𝑌</m:t>
                    </m:r>
                    <m:r>
                      <a:rPr lang="en-US" altLang="zh-CN" sz="2800">
                        <a:effectLst/>
                        <a:latin typeface="Cambria Math" panose="02040503050406030204" pitchFamily="18" charset="0"/>
                        <a:cs typeface="Times New Roman" panose="02020603050405020304" pitchFamily="18" charset="0"/>
                      </a:rPr>
                      <m:t>=</m:t>
                    </m:r>
                    <m:nary>
                      <m:naryPr>
                        <m:chr m:val="∑"/>
                        <m:limLoc m:val="undOv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800" i="1">
                            <a:effectLst/>
                            <a:latin typeface="Cambria Math" panose="02040503050406030204" pitchFamily="18" charset="0"/>
                            <a:cs typeface="Times New Roman" panose="02020603050405020304" pitchFamily="18" charset="0"/>
                          </a:rPr>
                          <m:t>𝑖</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1</m:t>
                        </m:r>
                      </m:sub>
                      <m:sup>
                        <m:r>
                          <a:rPr lang="en-US" altLang="zh-CN" sz="2800" i="1">
                            <a:effectLst/>
                            <a:latin typeface="Cambria Math" panose="02040503050406030204" pitchFamily="18" charset="0"/>
                            <a:cs typeface="Times New Roman" panose="02020603050405020304" pitchFamily="18" charset="0"/>
                          </a:rPr>
                          <m:t>𝑛</m:t>
                        </m:r>
                      </m:sup>
                      <m:e>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𝑆</m:t>
                                </m:r>
                              </m:e>
                              <m:sub>
                                <m:r>
                                  <a:rPr lang="en-US" altLang="zh-CN" sz="2800" i="1">
                                    <a:effectLst/>
                                    <a:latin typeface="Cambria Math" panose="02040503050406030204" pitchFamily="18" charset="0"/>
                                    <a:cs typeface="Times New Roman" panose="02020603050405020304" pitchFamily="18" charset="0"/>
                                  </a:rPr>
                                  <m:t>𝑖</m:t>
                                </m:r>
                              </m:sub>
                            </m:sSub>
                            <m:r>
                              <a:rPr lang="en-US" altLang="zh-CN" sz="2800" i="1">
                                <a:effectLst/>
                                <a:latin typeface="Cambria Math" panose="02040503050406030204" pitchFamily="18" charset="0"/>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𝑝</m:t>
                                </m:r>
                              </m:e>
                              <m:sub>
                                <m:r>
                                  <a:rPr lang="en-US" altLang="zh-CN" sz="2800" i="1">
                                    <a:effectLst/>
                                    <a:latin typeface="Cambria Math" panose="02040503050406030204" pitchFamily="18" charset="0"/>
                                    <a:cs typeface="Times New Roman" panose="02020603050405020304" pitchFamily="18" charset="0"/>
                                  </a:rPr>
                                  <m:t>𝑖</m:t>
                                </m:r>
                              </m:sub>
                            </m:sSub>
                          </m:e>
                        </m:d>
                      </m:e>
                    </m:nary>
                  </m:oMath>
                </a14:m>
                <a:r>
                  <a:rPr lang="en-US" altLang="zh-CN" sz="2800" dirty="0">
                    <a:effectLst/>
                    <a:latin typeface="Cambria" panose="02040503050406030204" pitchFamily="18" charset="0"/>
                    <a:cs typeface="Times New Roman" panose="02020603050405020304" pitchFamily="18" charset="0"/>
                  </a:rPr>
                  <a:t>, </a:t>
                </a:r>
                <a:r>
                  <a:rPr lang="en-US" altLang="zh-CN" sz="2800" dirty="0">
                    <a:effectLst/>
                    <a:latin typeface="宋体" panose="02010600030101010101" pitchFamily="2" charset="-122"/>
                    <a:cs typeface="Times New Roman" panose="02020603050405020304" pitchFamily="18" charset="0"/>
                  </a:rPr>
                  <a:t>则</a:t>
                </a:r>
                <a14:m>
                  <m:oMath xmlns:m="http://schemas.openxmlformats.org/officeDocument/2006/math">
                    <m:r>
                      <a:rPr lang="en-US" altLang="zh-CN" sz="2800" i="1">
                        <a:effectLst/>
                        <a:latin typeface="Cambria Math" panose="02040503050406030204" pitchFamily="18" charset="0"/>
                        <a:cs typeface="Times New Roman" panose="02020603050405020304" pitchFamily="18" charset="0"/>
                      </a:rPr>
                      <m:t>𝐸𝑌</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0</m:t>
                    </m:r>
                  </m:oMath>
                </a14:m>
                <a:r>
                  <a:rPr lang="en-US" altLang="zh-CN" sz="2800" dirty="0">
                    <a:effectLst/>
                    <a:latin typeface="Cambria" panose="02040503050406030204" pitchFamily="18" charset="0"/>
                    <a:cs typeface="Times New Roman" panose="02020603050405020304" pitchFamily="18" charset="0"/>
                  </a:rPr>
                  <a:t>, </a:t>
                </a:r>
                <a:r>
                  <a:rPr lang="en-US" altLang="zh-CN" sz="2800" dirty="0" err="1">
                    <a:effectLst/>
                    <a:latin typeface="Cambria" panose="02040503050406030204" pitchFamily="18" charset="0"/>
                    <a:cs typeface="Times New Roman" panose="02020603050405020304" pitchFamily="18" charset="0"/>
                  </a:rPr>
                  <a:t>Y</a:t>
                </a:r>
                <a:r>
                  <a:rPr lang="en-US" altLang="zh-CN" sz="2800" dirty="0" err="1">
                    <a:effectLst/>
                    <a:latin typeface="宋体" panose="02010600030101010101" pitchFamily="2" charset="-122"/>
                    <a:cs typeface="Times New Roman" panose="02020603050405020304" pitchFamily="18" charset="0"/>
                  </a:rPr>
                  <a:t>与</a:t>
                </a:r>
                <a:r>
                  <a:rPr lang="en-US" altLang="zh-CN" sz="2800" dirty="0" err="1">
                    <a:effectLst/>
                    <a:latin typeface="Cambria" panose="02040503050406030204" pitchFamily="18" charset="0"/>
                    <a:cs typeface="Times New Roman" panose="02020603050405020304" pitchFamily="18" charset="0"/>
                  </a:rPr>
                  <a:t>X</a:t>
                </a:r>
                <a:r>
                  <a:rPr lang="en-US" altLang="zh-CN" sz="2800" dirty="0" err="1">
                    <a:effectLst/>
                    <a:latin typeface="宋体" panose="02010600030101010101" pitchFamily="2" charset="-122"/>
                    <a:cs typeface="Times New Roman" panose="02020603050405020304" pitchFamily="18" charset="0"/>
                  </a:rPr>
                  <a:t>正相关</a:t>
                </a:r>
                <a:r>
                  <a:rPr lang="en-US" altLang="zh-CN" sz="2800" dirty="0">
                    <a:effectLst/>
                    <a:latin typeface="宋体" panose="02010600030101010101" pitchFamily="2" charset="-122"/>
                    <a:cs typeface="Times New Roman" panose="02020603050405020304" pitchFamily="18" charset="0"/>
                  </a:rPr>
                  <a:t>。</a:t>
                </a:r>
                <a:endParaRPr lang="zh-CN" altLang="zh-CN" sz="2800" dirty="0">
                  <a:effectLst/>
                  <a:latin typeface="Cambria" panose="02040503050406030204" pitchFamily="18" charset="0"/>
                  <a:cs typeface="Times New Roman" panose="02020603050405020304" pitchFamily="18" charset="0"/>
                </a:endParaRPr>
              </a:p>
              <a:p>
                <a:pPr>
                  <a:spcBef>
                    <a:spcPts val="900"/>
                  </a:spcBef>
                  <a:spcAft>
                    <a:spcPts val="900"/>
                  </a:spcAft>
                </a:pPr>
                <a:r>
                  <a:rPr lang="en-US" altLang="zh-CN" sz="2800" dirty="0" err="1">
                    <a:effectLst/>
                    <a:latin typeface="宋体" panose="02010600030101010101" pitchFamily="2" charset="-122"/>
                    <a:cs typeface="Times New Roman" panose="02020603050405020304" pitchFamily="18" charset="0"/>
                  </a:rPr>
                  <a:t>用一个小的抽样先近似估计</a:t>
                </a:r>
                <a14:m>
                  <m:oMath xmlns:m="http://schemas.openxmlformats.org/officeDocument/2006/math">
                    <m:r>
                      <m:rPr>
                        <m:nor/>
                      </m:rPr>
                      <a:rPr lang="en-US" altLang="zh-CN" sz="2800">
                        <a:effectLst/>
                        <a:latin typeface="Cambria" panose="02040503050406030204" pitchFamily="18" charset="0"/>
                        <a:cs typeface="Times New Roman" panose="02020603050405020304" pitchFamily="18" charset="0"/>
                      </a:rPr>
                      <m:t>Cov</m:t>
                    </m:r>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cs typeface="Times New Roman" panose="02020603050405020304" pitchFamily="18" charset="0"/>
                          </a:rPr>
                          <m:t>𝑋</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𝑌</m:t>
                        </m:r>
                      </m:e>
                    </m:d>
                    <m:r>
                      <a:rPr lang="en-US" altLang="zh-CN" sz="2800">
                        <a:effectLst/>
                        <a:latin typeface="Cambria Math" panose="02040503050406030204" pitchFamily="18" charset="0"/>
                        <a:cs typeface="Times New Roman" panose="02020603050405020304" pitchFamily="18" charset="0"/>
                      </a:rPr>
                      <m:t>,</m:t>
                    </m:r>
                    <m:r>
                      <m:rPr>
                        <m:nor/>
                      </m:rPr>
                      <a:rPr lang="en-US" altLang="zh-CN" sz="2800">
                        <a:effectLst/>
                        <a:latin typeface="Cambria" panose="02040503050406030204" pitchFamily="18" charset="0"/>
                        <a:cs typeface="Times New Roman" panose="02020603050405020304" pitchFamily="18" charset="0"/>
                      </a:rPr>
                      <m:t>Var</m:t>
                    </m:r>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cs typeface="Times New Roman" panose="02020603050405020304" pitchFamily="18" charset="0"/>
                          </a:rPr>
                          <m:t>𝑌</m:t>
                        </m:r>
                      </m:e>
                    </m:d>
                  </m:oMath>
                </a14:m>
                <a:r>
                  <a:rPr lang="en-US" altLang="zh-CN" sz="2800" dirty="0" err="1">
                    <a:effectLst/>
                    <a:latin typeface="宋体" panose="02010600030101010101" pitchFamily="2" charset="-122"/>
                    <a:cs typeface="Times New Roman" panose="02020603050405020304" pitchFamily="18" charset="0"/>
                  </a:rPr>
                  <a:t>得到</a:t>
                </a:r>
                <a14:m>
                  <m:oMath xmlns:m="http://schemas.openxmlformats.org/officeDocument/2006/math">
                    <m:r>
                      <a:rPr lang="en-US" altLang="zh-CN" sz="2800" i="1">
                        <a:effectLst/>
                        <a:latin typeface="Cambria Math" panose="02040503050406030204" pitchFamily="18" charset="0"/>
                        <a:cs typeface="Times New Roman" panose="02020603050405020304" pitchFamily="18" charset="0"/>
                      </a:rPr>
                      <m:t>𝑏</m:t>
                    </m:r>
                  </m:oMath>
                </a14:m>
                <a:r>
                  <a:rPr lang="en-US" altLang="zh-CN" sz="2800" dirty="0" err="1">
                    <a:effectLst/>
                    <a:latin typeface="宋体" panose="02010600030101010101" pitchFamily="2" charset="-122"/>
                    <a:cs typeface="Times New Roman" panose="02020603050405020304" pitchFamily="18" charset="0"/>
                  </a:rPr>
                  <a:t>的近似值</a:t>
                </a:r>
                <a:r>
                  <a:rPr lang="en-US" altLang="zh-CN" sz="2800" dirty="0">
                    <a:effectLst/>
                    <a:latin typeface="宋体" panose="02010600030101010101" pitchFamily="2" charset="-122"/>
                    <a:cs typeface="Times New Roman" panose="02020603050405020304" pitchFamily="18" charset="0"/>
                  </a:rPr>
                  <a:t>，</a:t>
                </a:r>
                <a:r>
                  <a:rPr lang="en-US" altLang="zh-CN" sz="2800" dirty="0">
                    <a:effectLst/>
                    <a:latin typeface="Cambria" panose="02040503050406030204" pitchFamily="18" charset="0"/>
                    <a:cs typeface="Times New Roman" panose="02020603050405020304" pitchFamily="18" charset="0"/>
                  </a:rPr>
                  <a:t> </a:t>
                </a:r>
                <a:endParaRPr lang="zh-CN" altLang="zh-CN" sz="2800" dirty="0">
                  <a:effectLst/>
                  <a:latin typeface="Cambria" panose="02040503050406030204" pitchFamily="18" charset="0"/>
                  <a:cs typeface="Times New Roman" panose="02020603050405020304" pitchFamily="18" charset="0"/>
                </a:endParaRPr>
              </a:p>
              <a:p>
                <a:pPr>
                  <a:spcBef>
                    <a:spcPts val="900"/>
                  </a:spcBef>
                  <a:spcAft>
                    <a:spcPts val="900"/>
                  </a:spcAft>
                </a:pPr>
                <a:r>
                  <a:rPr lang="en-US" altLang="zh-CN" sz="2800" dirty="0" err="1">
                    <a:effectLst/>
                    <a:latin typeface="宋体" panose="02010600030101010101" pitchFamily="2" charset="-122"/>
                    <a:cs typeface="Times New Roman" panose="02020603050405020304" pitchFamily="18" charset="0"/>
                  </a:rPr>
                  <a:t>则可得到方差缩减的估计量</a:t>
                </a:r>
                <a:endParaRPr lang="zh-CN" altLang="zh-CN" sz="28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effectLst/>
                                  <a:latin typeface="Cambria Math" panose="02040503050406030204" pitchFamily="18" charset="0"/>
                                  <a:cs typeface="Times New Roman" panose="02020603050405020304" pitchFamily="18" charset="0"/>
                                </a:rPr>
                                <m:t>𝑅</m:t>
                              </m:r>
                            </m:e>
                          </m:acc>
                        </m:e>
                        <m:sub>
                          <m:r>
                            <a:rPr lang="en-US" altLang="zh-CN" sz="2800" i="1">
                              <a:effectLst/>
                              <a:latin typeface="Cambria Math" panose="02040503050406030204" pitchFamily="18" charset="0"/>
                              <a:cs typeface="Times New Roman" panose="02020603050405020304" pitchFamily="18" charset="0"/>
                            </a:rPr>
                            <m:t>2</m:t>
                          </m:r>
                        </m:sub>
                      </m:sSub>
                      <m:r>
                        <a:rPr lang="en-US" altLang="zh-CN" sz="2800">
                          <a:effectLst/>
                          <a:latin typeface="Cambria Math" panose="02040503050406030204" pitchFamily="18" charset="0"/>
                          <a:cs typeface="Times New Roman" panose="02020603050405020304" pitchFamily="18" charset="0"/>
                        </a:rPr>
                        <m:t>=</m:t>
                      </m:r>
                      <m:f>
                        <m:f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a:effectLst/>
                              <a:latin typeface="Cambria Math" panose="02040503050406030204" pitchFamily="18" charset="0"/>
                              <a:cs typeface="Times New Roman" panose="02020603050405020304" pitchFamily="18" charset="0"/>
                            </a:rPr>
                            <m:t>1</m:t>
                          </m:r>
                        </m:num>
                        <m:den>
                          <m:r>
                            <a:rPr lang="en-US" altLang="zh-CN" sz="2800" i="1">
                              <a:effectLst/>
                              <a:latin typeface="Cambria Math" panose="02040503050406030204" pitchFamily="18" charset="0"/>
                              <a:cs typeface="Times New Roman" panose="02020603050405020304" pitchFamily="18" charset="0"/>
                            </a:rPr>
                            <m:t>𝑁</m:t>
                          </m:r>
                        </m:den>
                      </m:f>
                      <m:nary>
                        <m:naryPr>
                          <m:chr m:val="∑"/>
                          <m:limLoc m:val="undOv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800" i="1">
                              <a:effectLst/>
                              <a:latin typeface="Cambria Math" panose="02040503050406030204" pitchFamily="18" charset="0"/>
                              <a:cs typeface="Times New Roman" panose="02020603050405020304" pitchFamily="18" charset="0"/>
                            </a:rPr>
                            <m:t>𝑗</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1</m:t>
                          </m:r>
                        </m:sub>
                        <m:sup>
                          <m:r>
                            <a:rPr lang="en-US" altLang="zh-CN" sz="2800" i="1">
                              <a:effectLst/>
                              <a:latin typeface="Cambria Math" panose="02040503050406030204" pitchFamily="18" charset="0"/>
                              <a:cs typeface="Times New Roman" panose="02020603050405020304" pitchFamily="18" charset="0"/>
                            </a:rPr>
                            <m:t>𝑁</m:t>
                          </m:r>
                        </m:sup>
                        <m:e>
                          <m:d>
                            <m:dPr>
                              <m:begChr m:val="["/>
                              <m:endChr m:val="]"/>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cs typeface="Times New Roman" panose="02020603050405020304" pitchFamily="18" charset="0"/>
                                </a:rPr>
                                <m:t>𝜙</m:t>
                              </m:r>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b="1" i="1">
                                          <a:effectLst/>
                                          <a:latin typeface="Cambria Math" panose="02040503050406030204" pitchFamily="18" charset="0"/>
                                          <a:cs typeface="Times New Roman" panose="02020603050405020304" pitchFamily="18" charset="0"/>
                                        </a:rPr>
                                        <m:t>𝐒</m:t>
                                      </m:r>
                                    </m:e>
                                    <m:sup>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cs typeface="Times New Roman" panose="02020603050405020304" pitchFamily="18" charset="0"/>
                                            </a:rPr>
                                            <m:t>𝑗</m:t>
                                          </m:r>
                                        </m:e>
                                      </m:d>
                                    </m:sup>
                                  </m:sSup>
                                </m:e>
                              </m:d>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𝑏</m:t>
                              </m:r>
                              <m:nary>
                                <m:naryPr>
                                  <m:chr m:val="∑"/>
                                  <m:limLoc m:val="undOv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800" i="1">
                                      <a:effectLst/>
                                      <a:latin typeface="Cambria Math" panose="02040503050406030204" pitchFamily="18" charset="0"/>
                                      <a:cs typeface="Times New Roman" panose="02020603050405020304" pitchFamily="18" charset="0"/>
                                    </a:rPr>
                                    <m:t>𝑖</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1</m:t>
                                  </m:r>
                                </m:sub>
                                <m:sup>
                                  <m:r>
                                    <a:rPr lang="en-US" altLang="zh-CN" sz="2800" i="1">
                                      <a:effectLst/>
                                      <a:latin typeface="Cambria Math" panose="02040503050406030204" pitchFamily="18" charset="0"/>
                                      <a:cs typeface="Times New Roman" panose="02020603050405020304" pitchFamily="18" charset="0"/>
                                    </a:rPr>
                                    <m:t>𝑛</m:t>
                                  </m:r>
                                </m:sup>
                                <m:e>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sSubSup>
                                        <m:sSub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effectLst/>
                                              <a:latin typeface="Cambria Math" panose="02040503050406030204" pitchFamily="18" charset="0"/>
                                              <a:cs typeface="Times New Roman" panose="02020603050405020304" pitchFamily="18" charset="0"/>
                                            </a:rPr>
                                            <m:t>𝑆</m:t>
                                          </m:r>
                                        </m:e>
                                        <m:sub>
                                          <m:r>
                                            <a:rPr lang="en-US" altLang="zh-CN" sz="2800" i="1">
                                              <a:effectLst/>
                                              <a:latin typeface="Cambria Math" panose="02040503050406030204" pitchFamily="18" charset="0"/>
                                              <a:cs typeface="Times New Roman" panose="02020603050405020304" pitchFamily="18" charset="0"/>
                                            </a:rPr>
                                            <m:t>𝑖</m:t>
                                          </m:r>
                                        </m:sub>
                                        <m:sup>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cs typeface="Times New Roman" panose="02020603050405020304" pitchFamily="18" charset="0"/>
                                                </a:rPr>
                                                <m:t>𝑗</m:t>
                                              </m:r>
                                            </m:e>
                                          </m:d>
                                        </m:sup>
                                      </m:sSubSup>
                                      <m:r>
                                        <a:rPr lang="en-US" altLang="zh-CN" sz="2800" i="1">
                                          <a:effectLst/>
                                          <a:latin typeface="Cambria Math" panose="02040503050406030204" pitchFamily="18" charset="0"/>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𝑝</m:t>
                                          </m:r>
                                        </m:e>
                                        <m:sub>
                                          <m:r>
                                            <a:rPr lang="en-US" altLang="zh-CN" sz="2800" i="1">
                                              <a:effectLst/>
                                              <a:latin typeface="Cambria Math" panose="02040503050406030204" pitchFamily="18" charset="0"/>
                                              <a:cs typeface="Times New Roman" panose="02020603050405020304" pitchFamily="18" charset="0"/>
                                            </a:rPr>
                                            <m:t>𝑖</m:t>
                                          </m:r>
                                        </m:sub>
                                      </m:sSub>
                                    </m:e>
                                  </m:d>
                                </m:e>
                              </m:nary>
                            </m:e>
                          </m:d>
                        </m:e>
                      </m:nary>
                    </m:oMath>
                  </m:oMathPara>
                </a14:m>
                <a:endParaRPr lang="zh-CN" altLang="zh-CN" sz="2800" dirty="0">
                  <a:effectLst/>
                  <a:latin typeface="Cambria" panose="02040503050406030204" pitchFamily="18" charset="0"/>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508D17FC-2C3C-4282-96BC-8ACDB2D4E8DB}"/>
                  </a:ext>
                </a:extLst>
              </p:cNvPr>
              <p:cNvSpPr txBox="1">
                <a:spLocks noRot="1" noChangeAspect="1" noMove="1" noResize="1" noEditPoints="1" noAdjustHandles="1" noChangeArrowheads="1" noChangeShapeType="1" noTextEdit="1"/>
              </p:cNvSpPr>
              <p:nvPr/>
            </p:nvSpPr>
            <p:spPr>
              <a:xfrm>
                <a:off x="457200" y="2076963"/>
                <a:ext cx="8435280" cy="3770135"/>
              </a:xfrm>
              <a:prstGeom prst="rect">
                <a:avLst/>
              </a:prstGeom>
              <a:blipFill>
                <a:blip r:embed="rId2"/>
                <a:stretch>
                  <a:fillRect l="-1445" t="-2427" r="-145"/>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28285100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3.5.2 </a:t>
            </a:r>
            <a:r>
              <a:rPr lang="zh-CN" altLang="en-US" sz="3600" b="0" dirty="0">
                <a:latin typeface="+mn-lt"/>
                <a:ea typeface="+mn-ea"/>
              </a:rPr>
              <a:t>对立变量法</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105</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6" y="1052603"/>
            <a:ext cx="8812973" cy="1569660"/>
          </a:xfrm>
          <a:prstGeom prst="rect">
            <a:avLst/>
          </a:prstGeom>
          <a:noFill/>
          <a:ln w="25400">
            <a:noFill/>
          </a:ln>
        </p:spPr>
        <p:txBody>
          <a:bodyPr wrap="square">
            <a:spAutoFit/>
          </a:bodyPr>
          <a:lstStyle/>
          <a:p>
            <a:r>
              <a:rPr kumimoji="0" lang="zh-CN" altLang="en-US" sz="3200" b="1"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定理</a:t>
            </a:r>
            <a:r>
              <a:rPr kumimoji="0" lang="en-US" altLang="zh-CN" sz="3200" b="1"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14.1  </a:t>
            </a:r>
          </a:p>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设</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g</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为单调函数</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p>
          <a:p>
            <a:r>
              <a:rPr lang="zh-CN" altLang="en-US" sz="3200" dirty="0">
                <a:solidFill>
                  <a:srgbClr val="006699"/>
                </a:solidFill>
                <a:latin typeface="Verdana" panose="020B0604030504040204" pitchFamily="34" charset="0"/>
              </a:rPr>
              <a:t>则</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E507C99-1512-44AC-9C6C-6EA29199254C}"/>
                  </a:ext>
                </a:extLst>
              </p:cNvPr>
              <p:cNvSpPr txBox="1"/>
              <p:nvPr/>
            </p:nvSpPr>
            <p:spPr>
              <a:xfrm>
                <a:off x="3266855" y="1545045"/>
                <a:ext cx="2133601"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𝑈</m:t>
                      </m:r>
                      <m:r>
                        <a:rPr lang="zh-CN" altLang="en-US" sz="3200" i="0">
                          <a:latin typeface="Cambria Math" panose="02040503050406030204" pitchFamily="18" charset="0"/>
                        </a:rPr>
                        <m:t>~</m:t>
                      </m:r>
                      <m:r>
                        <a:rPr lang="zh-CN" altLang="en-US" sz="3200" i="1">
                          <a:latin typeface="Cambria Math" panose="02040503050406030204" pitchFamily="18" charset="0"/>
                        </a:rPr>
                        <m:t>𝑈</m:t>
                      </m:r>
                      <m:d>
                        <m:dPr>
                          <m:sepChr m:val=","/>
                          <m:ctrlPr>
                            <a:rPr lang="zh-CN" altLang="en-US" sz="3200" i="1">
                              <a:latin typeface="Cambria Math" panose="02040503050406030204" pitchFamily="18" charset="0"/>
                            </a:rPr>
                          </m:ctrlPr>
                        </m:dPr>
                        <m:e>
                          <m:r>
                            <a:rPr lang="zh-CN" altLang="en-US" sz="3200" i="0">
                              <a:latin typeface="Cambria Math" panose="02040503050406030204" pitchFamily="18" charset="0"/>
                            </a:rPr>
                            <m:t>0</m:t>
                          </m:r>
                        </m:e>
                        <m:e>
                          <m:r>
                            <a:rPr lang="zh-CN" altLang="en-US" sz="3200" i="0">
                              <a:latin typeface="Cambria Math" panose="02040503050406030204" pitchFamily="18" charset="0"/>
                            </a:rPr>
                            <m:t>1</m:t>
                          </m:r>
                        </m:e>
                      </m:d>
                    </m:oMath>
                  </m:oMathPara>
                </a14:m>
                <a:endParaRPr lang="zh-CN" altLang="en-US" dirty="0"/>
              </a:p>
            </p:txBody>
          </p:sp>
        </mc:Choice>
        <mc:Fallback xmlns="">
          <p:sp>
            <p:nvSpPr>
              <p:cNvPr id="7" name="文本框 6">
                <a:extLst>
                  <a:ext uri="{FF2B5EF4-FFF2-40B4-BE49-F238E27FC236}">
                    <a16:creationId xmlns:a16="http://schemas.microsoft.com/office/drawing/2014/main" id="{5E507C99-1512-44AC-9C6C-6EA29199254C}"/>
                  </a:ext>
                </a:extLst>
              </p:cNvPr>
              <p:cNvSpPr txBox="1">
                <a:spLocks noRot="1" noChangeAspect="1" noMove="1" noResize="1" noEditPoints="1" noAdjustHandles="1" noChangeArrowheads="1" noChangeShapeType="1" noTextEdit="1"/>
              </p:cNvSpPr>
              <p:nvPr/>
            </p:nvSpPr>
            <p:spPr>
              <a:xfrm>
                <a:off x="3266855" y="1545045"/>
                <a:ext cx="2133601" cy="584775"/>
              </a:xfrm>
              <a:prstGeom prst="rect">
                <a:avLst/>
              </a:prstGeom>
              <a:blipFill>
                <a:blip r:embed="rId2"/>
                <a:stretch>
                  <a:fillRect/>
                </a:stretch>
              </a:blipFill>
              <a:ln w="25400">
                <a:noFill/>
              </a:ln>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BD5DE977-E1B3-47DB-8D68-91EFDBAB9FD4}"/>
              </a:ext>
            </a:extLst>
          </p:cNvPr>
          <p:cNvPicPr>
            <a:picLocks noChangeAspect="1"/>
          </p:cNvPicPr>
          <p:nvPr/>
        </p:nvPicPr>
        <p:blipFill>
          <a:blip r:embed="rId3"/>
          <a:stretch>
            <a:fillRect/>
          </a:stretch>
        </p:blipFill>
        <p:spPr>
          <a:xfrm>
            <a:off x="971600" y="2217671"/>
            <a:ext cx="3888796" cy="546534"/>
          </a:xfrm>
          <a:prstGeom prst="rect">
            <a:avLst/>
          </a:prstGeom>
        </p:spPr>
      </p:pic>
    </p:spTree>
    <p:extLst>
      <p:ext uri="{BB962C8B-B14F-4D97-AF65-F5344CB8AC3E}">
        <p14:creationId xmlns:p14="http://schemas.microsoft.com/office/powerpoint/2010/main" val="207791833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定理</a:t>
            </a:r>
            <a:r>
              <a:rPr lang="en-US" altLang="zh-CN" sz="3600" b="0" dirty="0">
                <a:latin typeface="+mn-lt"/>
                <a:ea typeface="+mn-ea"/>
              </a:rPr>
              <a:t>14.1</a:t>
            </a:r>
            <a:r>
              <a:rPr lang="zh-CN" altLang="en-US" sz="3600" b="0" dirty="0">
                <a:latin typeface="+mn-lt"/>
                <a:ea typeface="+mn-ea"/>
              </a:rPr>
              <a:t>证明</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106</a:t>
            </a:fld>
            <a:endParaRPr lang="zh-CN" altLang="en-US">
              <a:solidFill>
                <a:srgbClr val="898989"/>
              </a:solidFill>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E507C99-1512-44AC-9C6C-6EA29199254C}"/>
                  </a:ext>
                </a:extLst>
              </p:cNvPr>
              <p:cNvSpPr txBox="1"/>
              <p:nvPr/>
            </p:nvSpPr>
            <p:spPr>
              <a:xfrm>
                <a:off x="3266855" y="1545045"/>
                <a:ext cx="2133601"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𝑈</m:t>
                      </m:r>
                      <m:r>
                        <a:rPr lang="zh-CN" altLang="en-US" sz="3200" i="0">
                          <a:latin typeface="Cambria Math" panose="02040503050406030204" pitchFamily="18" charset="0"/>
                        </a:rPr>
                        <m:t>~</m:t>
                      </m:r>
                      <m:r>
                        <a:rPr lang="zh-CN" altLang="en-US" sz="3200" i="1">
                          <a:latin typeface="Cambria Math" panose="02040503050406030204" pitchFamily="18" charset="0"/>
                        </a:rPr>
                        <m:t>𝑈</m:t>
                      </m:r>
                      <m:d>
                        <m:dPr>
                          <m:sepChr m:val=","/>
                          <m:ctrlPr>
                            <a:rPr lang="zh-CN" altLang="en-US" sz="3200" i="1">
                              <a:latin typeface="Cambria Math" panose="02040503050406030204" pitchFamily="18" charset="0"/>
                            </a:rPr>
                          </m:ctrlPr>
                        </m:dPr>
                        <m:e>
                          <m:r>
                            <a:rPr lang="zh-CN" altLang="en-US" sz="3200" i="0">
                              <a:latin typeface="Cambria Math" panose="02040503050406030204" pitchFamily="18" charset="0"/>
                            </a:rPr>
                            <m:t>0</m:t>
                          </m:r>
                        </m:e>
                        <m:e>
                          <m:r>
                            <a:rPr lang="zh-CN" altLang="en-US" sz="3200" i="0">
                              <a:latin typeface="Cambria Math" panose="02040503050406030204" pitchFamily="18" charset="0"/>
                            </a:rPr>
                            <m:t>1</m:t>
                          </m:r>
                        </m:e>
                      </m:d>
                    </m:oMath>
                  </m:oMathPara>
                </a14:m>
                <a:endParaRPr lang="zh-CN" altLang="en-US" dirty="0"/>
              </a:p>
            </p:txBody>
          </p:sp>
        </mc:Choice>
        <mc:Fallback xmlns="">
          <p:sp>
            <p:nvSpPr>
              <p:cNvPr id="7" name="文本框 6">
                <a:extLst>
                  <a:ext uri="{FF2B5EF4-FFF2-40B4-BE49-F238E27FC236}">
                    <a16:creationId xmlns:a16="http://schemas.microsoft.com/office/drawing/2014/main" id="{5E507C99-1512-44AC-9C6C-6EA29199254C}"/>
                  </a:ext>
                </a:extLst>
              </p:cNvPr>
              <p:cNvSpPr txBox="1">
                <a:spLocks noRot="1" noChangeAspect="1" noMove="1" noResize="1" noEditPoints="1" noAdjustHandles="1" noChangeArrowheads="1" noChangeShapeType="1" noTextEdit="1"/>
              </p:cNvSpPr>
              <p:nvPr/>
            </p:nvSpPr>
            <p:spPr>
              <a:xfrm>
                <a:off x="3266855" y="1545045"/>
                <a:ext cx="2133601" cy="584775"/>
              </a:xfrm>
              <a:prstGeom prst="rect">
                <a:avLst/>
              </a:prstGeom>
              <a:blipFill>
                <a:blip r:embed="rId2"/>
                <a:stretch>
                  <a:fillRect/>
                </a:stretch>
              </a:blipFill>
              <a:ln w="25400">
                <a:noFill/>
              </a:ln>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E76A8691-C280-412E-8125-83C39BE36534}"/>
              </a:ext>
            </a:extLst>
          </p:cNvPr>
          <p:cNvPicPr>
            <a:picLocks noChangeAspect="1"/>
          </p:cNvPicPr>
          <p:nvPr/>
        </p:nvPicPr>
        <p:blipFill>
          <a:blip r:embed="rId3"/>
          <a:stretch>
            <a:fillRect/>
          </a:stretch>
        </p:blipFill>
        <p:spPr>
          <a:xfrm>
            <a:off x="1432557" y="908720"/>
            <a:ext cx="6278885" cy="5271796"/>
          </a:xfrm>
          <a:prstGeom prst="rect">
            <a:avLst/>
          </a:prstGeom>
        </p:spPr>
      </p:pic>
    </p:spTree>
    <p:extLst>
      <p:ext uri="{BB962C8B-B14F-4D97-AF65-F5344CB8AC3E}">
        <p14:creationId xmlns:p14="http://schemas.microsoft.com/office/powerpoint/2010/main" val="42528810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3.5.2 </a:t>
            </a:r>
            <a:r>
              <a:rPr lang="zh-CN" altLang="en-US" sz="3600" b="0" dirty="0">
                <a:latin typeface="+mn-lt"/>
                <a:ea typeface="+mn-ea"/>
              </a:rPr>
              <a:t>对立变量法</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107</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6" y="1052603"/>
            <a:ext cx="8812973" cy="584775"/>
          </a:xfrm>
          <a:prstGeom prst="rect">
            <a:avLst/>
          </a:prstGeom>
          <a:noFill/>
          <a:ln w="25400">
            <a:noFill/>
          </a:ln>
        </p:spPr>
        <p:txBody>
          <a:bodyPr wrap="square">
            <a:spAutoFit/>
          </a:bodyPr>
          <a:lstStyle/>
          <a:p>
            <a:r>
              <a:rPr kumimoji="0" lang="zh-CN" altLang="en-US" sz="3200" b="1"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定理</a:t>
            </a:r>
            <a:r>
              <a:rPr kumimoji="0" lang="en-US" altLang="zh-CN" sz="3200" b="1"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14.2</a:t>
            </a:r>
            <a:endParaRPr lang="zh-CN" altLang="en-US" sz="3200" b="1" dirty="0">
              <a:solidFill>
                <a:srgbClr val="006699"/>
              </a:solidFill>
              <a:latin typeface="Verdana" panose="020B0604030504040204" pitchFamily="34" charset="0"/>
            </a:endParaRPr>
          </a:p>
        </p:txBody>
      </p:sp>
      <p:pic>
        <p:nvPicPr>
          <p:cNvPr id="3" name="图片 2">
            <a:extLst>
              <a:ext uri="{FF2B5EF4-FFF2-40B4-BE49-F238E27FC236}">
                <a16:creationId xmlns:a16="http://schemas.microsoft.com/office/drawing/2014/main" id="{3346D3B6-246B-4E86-9A82-8403CBACE073}"/>
              </a:ext>
            </a:extLst>
          </p:cNvPr>
          <p:cNvPicPr>
            <a:picLocks noChangeAspect="1"/>
          </p:cNvPicPr>
          <p:nvPr/>
        </p:nvPicPr>
        <p:blipFill>
          <a:blip r:embed="rId2"/>
          <a:stretch>
            <a:fillRect/>
          </a:stretch>
        </p:blipFill>
        <p:spPr>
          <a:xfrm>
            <a:off x="99246" y="1819840"/>
            <a:ext cx="9061841" cy="990889"/>
          </a:xfrm>
          <a:prstGeom prst="rect">
            <a:avLst/>
          </a:prstGeom>
        </p:spPr>
      </p:pic>
    </p:spTree>
    <p:extLst>
      <p:ext uri="{BB962C8B-B14F-4D97-AF65-F5344CB8AC3E}">
        <p14:creationId xmlns:p14="http://schemas.microsoft.com/office/powerpoint/2010/main" val="6477690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3.5.2 </a:t>
            </a:r>
            <a:r>
              <a:rPr lang="zh-CN" altLang="en-US" sz="3600" b="0" dirty="0">
                <a:latin typeface="+mn-lt"/>
                <a:ea typeface="+mn-ea"/>
              </a:rPr>
              <a:t>对立变量法</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108</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6" y="1052603"/>
            <a:ext cx="8812973" cy="3046988"/>
          </a:xfrm>
          <a:prstGeom prst="rect">
            <a:avLst/>
          </a:prstGeom>
          <a:noFill/>
          <a:ln w="25400">
            <a:noFill/>
          </a:ln>
        </p:spPr>
        <p:txBody>
          <a:bodyPr wrap="square">
            <a:spAutoFit/>
          </a:bodyPr>
          <a:lstStyle/>
          <a:p>
            <a:r>
              <a:rPr kumimoji="0" lang="zh-CN" altLang="en-US" sz="3200" b="1"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定理</a:t>
            </a:r>
            <a:r>
              <a:rPr kumimoji="0" lang="en-US" altLang="zh-CN" sz="3200" b="1"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14.3 (</a:t>
            </a:r>
            <a:r>
              <a:rPr kumimoji="0" lang="zh-CN" altLang="en-US"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对立变量法</a:t>
            </a:r>
            <a:r>
              <a:rPr kumimoji="0" lang="en-US" altLang="zh-CN" sz="3200" b="1"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 </a:t>
            </a:r>
          </a:p>
          <a:p>
            <a:r>
              <a:rPr lang="zh-CN" altLang="en-US" sz="3200" dirty="0">
                <a:solidFill>
                  <a:srgbClr val="006699"/>
                </a:solidFill>
                <a:latin typeface="Verdana" panose="020B0604030504040204" pitchFamily="34" charset="0"/>
              </a:rPr>
              <a:t>设</a:t>
            </a:r>
            <a:r>
              <a:rPr lang="en-US" altLang="zh-CN" sz="3200" dirty="0">
                <a:solidFill>
                  <a:srgbClr val="006699"/>
                </a:solidFill>
                <a:latin typeface="Verdana" panose="020B0604030504040204" pitchFamily="34" charset="0"/>
              </a:rPr>
              <a:t>F(x)</a:t>
            </a:r>
            <a:r>
              <a:rPr lang="zh-CN" altLang="en-US" sz="3200" dirty="0">
                <a:solidFill>
                  <a:srgbClr val="006699"/>
                </a:solidFill>
                <a:latin typeface="Verdana" panose="020B0604030504040204" pitchFamily="34" charset="0"/>
              </a:rPr>
              <a:t>为连续分布函数</a:t>
            </a:r>
            <a:r>
              <a:rPr lang="en-US" altLang="zh-CN" sz="3200" dirty="0">
                <a:solidFill>
                  <a:srgbClr val="006699"/>
                </a:solidFill>
                <a:latin typeface="Verdana" panose="020B0604030504040204" pitchFamily="34" charset="0"/>
              </a:rPr>
              <a:t>,</a:t>
            </a:r>
          </a:p>
          <a:p>
            <a:endParaRPr lang="en-US" altLang="zh-CN" sz="3200" dirty="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则 </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与</a:t>
            </a:r>
            <a:r>
              <a:rPr lang="en-US" altLang="zh-CN" sz="3200" dirty="0">
                <a:solidFill>
                  <a:srgbClr val="006699"/>
                </a:solidFill>
                <a:latin typeface="Verdana" panose="020B0604030504040204" pitchFamily="34" charset="0"/>
              </a:rPr>
              <a:t>Y</a:t>
            </a:r>
            <a:r>
              <a:rPr lang="zh-CN" altLang="en-US" sz="3200" dirty="0">
                <a:solidFill>
                  <a:srgbClr val="006699"/>
                </a:solidFill>
                <a:latin typeface="Verdana" panose="020B0604030504040204" pitchFamily="34" charset="0"/>
              </a:rPr>
              <a:t>同分布</a:t>
            </a:r>
            <a:r>
              <a:rPr lang="en-US" altLang="zh-CN" sz="3200" dirty="0">
                <a:solidFill>
                  <a:srgbClr val="006699"/>
                </a:solidFill>
                <a:latin typeface="Verdana" panose="020B0604030504040204" pitchFamily="34" charset="0"/>
              </a:rPr>
              <a:t>F(x)</a:t>
            </a:r>
            <a:r>
              <a:rPr lang="zh-CN" altLang="en-US" sz="3200" dirty="0">
                <a:solidFill>
                  <a:srgbClr val="006699"/>
                </a:solidFill>
                <a:latin typeface="Verdana" panose="020B0604030504040204" pitchFamily="34" charset="0"/>
              </a:rPr>
              <a:t>且</a:t>
            </a:r>
            <a:endParaRPr lang="en-US" altLang="zh-CN" sz="3200" dirty="0">
              <a:solidFill>
                <a:srgbClr val="006699"/>
              </a:solidFill>
              <a:latin typeface="Verdana" panose="020B0604030504040204" pitchFamily="34" charset="0"/>
            </a:endParaRPr>
          </a:p>
          <a:p>
            <a:endParaRPr lang="zh-CN" altLang="en-US" sz="3200" dirty="0">
              <a:solidFill>
                <a:srgbClr val="006699"/>
              </a:solidFill>
              <a:latin typeface="Verdana" panose="020B0604030504040204" pitchFamily="34" charset="0"/>
            </a:endParaRPr>
          </a:p>
        </p:txBody>
      </p:sp>
      <p:pic>
        <p:nvPicPr>
          <p:cNvPr id="4" name="图片 3">
            <a:extLst>
              <a:ext uri="{FF2B5EF4-FFF2-40B4-BE49-F238E27FC236}">
                <a16:creationId xmlns:a16="http://schemas.microsoft.com/office/drawing/2014/main" id="{094FAA12-D9C6-4041-92D0-8F3A3C9E81AB}"/>
              </a:ext>
            </a:extLst>
          </p:cNvPr>
          <p:cNvPicPr>
            <a:picLocks noChangeAspect="1"/>
          </p:cNvPicPr>
          <p:nvPr/>
        </p:nvPicPr>
        <p:blipFill>
          <a:blip r:embed="rId2"/>
          <a:stretch>
            <a:fillRect/>
          </a:stretch>
        </p:blipFill>
        <p:spPr>
          <a:xfrm>
            <a:off x="843986" y="2254584"/>
            <a:ext cx="7456028" cy="643025"/>
          </a:xfrm>
          <a:prstGeom prst="rect">
            <a:avLst/>
          </a:prstGeom>
        </p:spPr>
      </p:pic>
      <p:pic>
        <p:nvPicPr>
          <p:cNvPr id="8" name="图片 7">
            <a:extLst>
              <a:ext uri="{FF2B5EF4-FFF2-40B4-BE49-F238E27FC236}">
                <a16:creationId xmlns:a16="http://schemas.microsoft.com/office/drawing/2014/main" id="{9FB652BF-DE10-4830-BE31-7FE8753042E3}"/>
              </a:ext>
            </a:extLst>
          </p:cNvPr>
          <p:cNvPicPr>
            <a:picLocks noChangeAspect="1"/>
          </p:cNvPicPr>
          <p:nvPr/>
        </p:nvPicPr>
        <p:blipFill>
          <a:blip r:embed="rId3"/>
          <a:stretch>
            <a:fillRect/>
          </a:stretch>
        </p:blipFill>
        <p:spPr>
          <a:xfrm>
            <a:off x="2685552" y="4748695"/>
            <a:ext cx="2792578" cy="918611"/>
          </a:xfrm>
          <a:prstGeom prst="rect">
            <a:avLst/>
          </a:prstGeom>
        </p:spPr>
      </p:pic>
      <p:pic>
        <p:nvPicPr>
          <p:cNvPr id="12" name="图片 11">
            <a:extLst>
              <a:ext uri="{FF2B5EF4-FFF2-40B4-BE49-F238E27FC236}">
                <a16:creationId xmlns:a16="http://schemas.microsoft.com/office/drawing/2014/main" id="{15E5C641-11DF-4894-9FDD-66FE21BBB700}"/>
              </a:ext>
            </a:extLst>
          </p:cNvPr>
          <p:cNvPicPr>
            <a:picLocks noChangeAspect="1"/>
          </p:cNvPicPr>
          <p:nvPr/>
        </p:nvPicPr>
        <p:blipFill>
          <a:blip r:embed="rId4"/>
          <a:stretch>
            <a:fillRect/>
          </a:stretch>
        </p:blipFill>
        <p:spPr>
          <a:xfrm>
            <a:off x="2701582" y="3982458"/>
            <a:ext cx="2607687" cy="599999"/>
          </a:xfrm>
          <a:prstGeom prst="rect">
            <a:avLst/>
          </a:prstGeom>
        </p:spPr>
      </p:pic>
    </p:spTree>
    <p:extLst>
      <p:ext uri="{BB962C8B-B14F-4D97-AF65-F5344CB8AC3E}">
        <p14:creationId xmlns:p14="http://schemas.microsoft.com/office/powerpoint/2010/main" val="355905524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定理</a:t>
            </a:r>
            <a:r>
              <a:rPr lang="en-US" altLang="zh-CN" sz="3600" b="0" dirty="0">
                <a:latin typeface="+mn-lt"/>
                <a:ea typeface="+mn-ea"/>
              </a:rPr>
              <a:t>14.3 (</a:t>
            </a:r>
            <a:r>
              <a:rPr lang="zh-CN" altLang="en-US" sz="3600" b="0" dirty="0">
                <a:latin typeface="+mn-lt"/>
                <a:ea typeface="+mn-ea"/>
              </a:rPr>
              <a:t>对立变量法</a:t>
            </a:r>
            <a:r>
              <a:rPr lang="en-US" altLang="zh-CN" sz="3600" b="0" dirty="0">
                <a:latin typeface="+mn-lt"/>
                <a:ea typeface="+mn-ea"/>
              </a:rPr>
              <a:t>) </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109</a:t>
            </a:fld>
            <a:endParaRPr lang="zh-CN" altLang="en-US">
              <a:solidFill>
                <a:srgbClr val="898989"/>
              </a:solidFill>
            </a:endParaRPr>
          </a:p>
        </p:txBody>
      </p:sp>
      <p:pic>
        <p:nvPicPr>
          <p:cNvPr id="5" name="图片 4">
            <a:extLst>
              <a:ext uri="{FF2B5EF4-FFF2-40B4-BE49-F238E27FC236}">
                <a16:creationId xmlns:a16="http://schemas.microsoft.com/office/drawing/2014/main" id="{41074623-DEBE-431D-B3ED-1A5E9737F72D}"/>
              </a:ext>
            </a:extLst>
          </p:cNvPr>
          <p:cNvPicPr>
            <a:picLocks noChangeAspect="1"/>
          </p:cNvPicPr>
          <p:nvPr/>
        </p:nvPicPr>
        <p:blipFill>
          <a:blip r:embed="rId2"/>
          <a:stretch>
            <a:fillRect/>
          </a:stretch>
        </p:blipFill>
        <p:spPr>
          <a:xfrm>
            <a:off x="204470" y="1164685"/>
            <a:ext cx="7790869" cy="2236613"/>
          </a:xfrm>
          <a:prstGeom prst="rect">
            <a:avLst/>
          </a:prstGeom>
        </p:spPr>
      </p:pic>
      <p:pic>
        <p:nvPicPr>
          <p:cNvPr id="7" name="图片 6">
            <a:extLst>
              <a:ext uri="{FF2B5EF4-FFF2-40B4-BE49-F238E27FC236}">
                <a16:creationId xmlns:a16="http://schemas.microsoft.com/office/drawing/2014/main" id="{D360AE3C-3D19-47BC-921A-226FDDF6E969}"/>
              </a:ext>
            </a:extLst>
          </p:cNvPr>
          <p:cNvPicPr>
            <a:picLocks noChangeAspect="1"/>
          </p:cNvPicPr>
          <p:nvPr/>
        </p:nvPicPr>
        <p:blipFill>
          <a:blip r:embed="rId3"/>
          <a:stretch>
            <a:fillRect/>
          </a:stretch>
        </p:blipFill>
        <p:spPr>
          <a:xfrm>
            <a:off x="203490" y="3660023"/>
            <a:ext cx="6987167" cy="2004213"/>
          </a:xfrm>
          <a:prstGeom prst="rect">
            <a:avLst/>
          </a:prstGeom>
        </p:spPr>
      </p:pic>
    </p:spTree>
    <p:extLst>
      <p:ext uri="{BB962C8B-B14F-4D97-AF65-F5344CB8AC3E}">
        <p14:creationId xmlns:p14="http://schemas.microsoft.com/office/powerpoint/2010/main" val="29975649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3.5.2 </a:t>
            </a:r>
            <a:r>
              <a:rPr lang="zh-CN" altLang="en-US" sz="3600" b="0" dirty="0">
                <a:latin typeface="+mn-lt"/>
                <a:ea typeface="+mn-ea"/>
              </a:rPr>
              <a:t>对立变量法</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110</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6" y="1052603"/>
            <a:ext cx="8812973" cy="584775"/>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对立变量法</a:t>
            </a:r>
            <a:endParaRPr lang="zh-CN" altLang="en-US"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DC55E93-D1F7-4A2A-A049-678262243C54}"/>
                  </a:ext>
                </a:extLst>
              </p:cNvPr>
              <p:cNvSpPr txBox="1"/>
              <p:nvPr/>
            </p:nvSpPr>
            <p:spPr>
              <a:xfrm>
                <a:off x="432779" y="2114650"/>
                <a:ext cx="8145905" cy="2106987"/>
              </a:xfrm>
              <a:prstGeom prst="rect">
                <a:avLst/>
              </a:prstGeom>
              <a:noFill/>
              <a:ln w="25400">
                <a:noFill/>
              </a:ln>
            </p:spPr>
            <p:txBody>
              <a:bodyPr wrap="square">
                <a:spAutoFit/>
              </a:bodyPr>
              <a:lstStyle/>
              <a:p>
                <a:pPr>
                  <a:spcBef>
                    <a:spcPts val="900"/>
                  </a:spcBef>
                  <a:spcAft>
                    <a:spcPts val="900"/>
                  </a:spcAft>
                </a:pPr>
                <a:r>
                  <a:rPr lang="zh-CN" altLang="zh-CN" sz="2800" dirty="0">
                    <a:effectLst/>
                    <a:latin typeface="Cambria" panose="02040503050406030204" pitchFamily="18" charset="0"/>
                    <a:cs typeface="Times New Roman" panose="02020603050405020304" pitchFamily="18" charset="0"/>
                  </a:rPr>
                  <a:t>为了估计</a:t>
                </a:r>
                <a14:m>
                  <m:oMath xmlns:m="http://schemas.openxmlformats.org/officeDocument/2006/math">
                    <m:r>
                      <a:rPr lang="en-US" altLang="zh-CN" sz="2800" i="1">
                        <a:effectLst/>
                        <a:latin typeface="Cambria Math" panose="02040503050406030204" pitchFamily="18" charset="0"/>
                        <a:cs typeface="Times New Roman" panose="02020603050405020304" pitchFamily="18" charset="0"/>
                      </a:rPr>
                      <m:t>𝐼</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𝐸𝑋</m:t>
                    </m:r>
                  </m:oMath>
                </a14:m>
                <a:r>
                  <a:rPr lang="zh-CN" altLang="zh-CN" sz="2800" dirty="0">
                    <a:effectLst/>
                    <a:latin typeface="Cambria" panose="02040503050406030204" pitchFamily="18" charset="0"/>
                    <a:cs typeface="Times New Roman" panose="02020603050405020304" pitchFamily="18" charset="0"/>
                  </a:rPr>
                  <a:t>， 产生</a:t>
                </a:r>
                <a14:m>
                  <m:oMath xmlns:m="http://schemas.openxmlformats.org/officeDocument/2006/math">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𝑈</m:t>
                        </m:r>
                      </m:e>
                      <m:sub>
                        <m:r>
                          <a:rPr lang="en-US" altLang="zh-CN" sz="2800" i="1">
                            <a:effectLst/>
                            <a:latin typeface="Cambria Math" panose="02040503050406030204" pitchFamily="18" charset="0"/>
                            <a:cs typeface="Times New Roman" panose="02020603050405020304" pitchFamily="18" charset="0"/>
                          </a:rPr>
                          <m:t>1</m:t>
                        </m:r>
                      </m:sub>
                    </m:sSub>
                    <m:r>
                      <a:rPr lang="en-US" altLang="zh-CN" sz="2800">
                        <a:effectLst/>
                        <a:latin typeface="Cambria Math" panose="02040503050406030204" pitchFamily="18" charset="0"/>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𝑈</m:t>
                        </m:r>
                      </m:e>
                      <m:sub>
                        <m:r>
                          <a:rPr lang="en-US" altLang="zh-CN" sz="2800" i="1">
                            <a:effectLst/>
                            <a:latin typeface="Cambria Math" panose="02040503050406030204" pitchFamily="18" charset="0"/>
                            <a:cs typeface="Times New Roman" panose="02020603050405020304" pitchFamily="18" charset="0"/>
                          </a:rPr>
                          <m:t>2</m:t>
                        </m:r>
                      </m:sub>
                    </m:sSub>
                    <m:r>
                      <a:rPr lang="en-US" altLang="zh-CN" sz="2800">
                        <a:effectLst/>
                        <a:latin typeface="Cambria Math" panose="02040503050406030204" pitchFamily="18" charset="0"/>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𝑈</m:t>
                        </m:r>
                      </m:e>
                      <m:sub>
                        <m:r>
                          <a:rPr lang="en-US" altLang="zh-CN" sz="2800" i="1">
                            <a:effectLst/>
                            <a:latin typeface="Cambria Math" panose="02040503050406030204" pitchFamily="18" charset="0"/>
                            <a:cs typeface="Times New Roman" panose="02020603050405020304" pitchFamily="18" charset="0"/>
                          </a:rPr>
                          <m:t>𝑁</m:t>
                        </m:r>
                      </m:sub>
                    </m:sSub>
                  </m:oMath>
                </a14:m>
                <a:r>
                  <a:rPr lang="zh-CN" altLang="zh-CN" sz="2800" dirty="0">
                    <a:effectLst/>
                    <a:latin typeface="Cambria" panose="02040503050406030204" pitchFamily="18" charset="0"/>
                    <a:cs typeface="Times New Roman" panose="02020603050405020304" pitchFamily="18" charset="0"/>
                  </a:rPr>
                  <a:t>后用</a:t>
                </a: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mPr>
                        <m:mr>
                          <m:e>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𝑍</m:t>
                                </m:r>
                              </m:e>
                              <m:sub>
                                <m:r>
                                  <a:rPr lang="en-US" altLang="zh-CN" sz="2800" i="1">
                                    <a:effectLst/>
                                    <a:latin typeface="Cambria Math" panose="02040503050406030204" pitchFamily="18" charset="0"/>
                                    <a:cs typeface="Times New Roman" panose="02020603050405020304" pitchFamily="18" charset="0"/>
                                  </a:rPr>
                                  <m:t>𝑖</m:t>
                                </m:r>
                              </m:sub>
                            </m:sSub>
                            <m:r>
                              <a:rPr lang="en-US" altLang="zh-CN" sz="2800">
                                <a:effectLst/>
                                <a:latin typeface="Cambria Math" panose="02040503050406030204" pitchFamily="18" charset="0"/>
                                <a:cs typeface="Times New Roman" panose="02020603050405020304" pitchFamily="18" charset="0"/>
                              </a:rPr>
                              <m:t>=</m:t>
                            </m:r>
                            <m:f>
                              <m:f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a:effectLst/>
                                    <a:latin typeface="Cambria Math" panose="02040503050406030204" pitchFamily="18" charset="0"/>
                                    <a:cs typeface="Times New Roman" panose="02020603050405020304" pitchFamily="18" charset="0"/>
                                  </a:rPr>
                                  <m:t>1</m:t>
                                </m:r>
                              </m:num>
                              <m:den>
                                <m:r>
                                  <a:rPr lang="en-US" altLang="zh-CN" sz="2800" i="1">
                                    <a:effectLst/>
                                    <a:latin typeface="Cambria Math" panose="02040503050406030204" pitchFamily="18" charset="0"/>
                                    <a:cs typeface="Times New Roman" panose="02020603050405020304" pitchFamily="18" charset="0"/>
                                  </a:rPr>
                                  <m:t>2</m:t>
                                </m:r>
                              </m:den>
                            </m:f>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effectLst/>
                                        <a:latin typeface="Cambria Math" panose="02040503050406030204" pitchFamily="18" charset="0"/>
                                        <a:cs typeface="Times New Roman" panose="02020603050405020304" pitchFamily="18" charset="0"/>
                                      </a:rPr>
                                      <m:t>𝐹</m:t>
                                    </m:r>
                                  </m:e>
                                  <m:sup>
                                    <m:r>
                                      <a:rPr lang="en-US" altLang="zh-CN" sz="2800" i="1">
                                        <a:effectLst/>
                                        <a:latin typeface="Cambria Math" panose="02040503050406030204" pitchFamily="18" charset="0"/>
                                        <a:cs typeface="Times New Roman" panose="02020603050405020304" pitchFamily="18" charset="0"/>
                                      </a:rPr>
                                      <m:t>−1</m:t>
                                    </m:r>
                                  </m:sup>
                                </m:sSup>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𝑈</m:t>
                                        </m:r>
                                      </m:e>
                                      <m:sub>
                                        <m:r>
                                          <a:rPr lang="en-US" altLang="zh-CN" sz="2800" i="1">
                                            <a:effectLst/>
                                            <a:latin typeface="Cambria Math" panose="02040503050406030204" pitchFamily="18" charset="0"/>
                                            <a:cs typeface="Times New Roman" panose="02020603050405020304" pitchFamily="18" charset="0"/>
                                          </a:rPr>
                                          <m:t>𝑖</m:t>
                                        </m:r>
                                      </m:sub>
                                    </m:sSub>
                                  </m:e>
                                </m:d>
                                <m:r>
                                  <a:rPr lang="en-US" altLang="zh-CN" sz="2800">
                                    <a:effectLst/>
                                    <a:latin typeface="Cambria Math" panose="02040503050406030204" pitchFamily="18" charset="0"/>
                                    <a:cs typeface="Times New Roman" panose="02020603050405020304" pitchFamily="18" charset="0"/>
                                  </a:rPr>
                                  <m:t>+</m:t>
                                </m:r>
                                <m:sSup>
                                  <m:s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effectLst/>
                                        <a:latin typeface="Cambria Math" panose="02040503050406030204" pitchFamily="18" charset="0"/>
                                        <a:cs typeface="Times New Roman" panose="02020603050405020304" pitchFamily="18" charset="0"/>
                                      </a:rPr>
                                      <m:t>𝐹</m:t>
                                    </m:r>
                                  </m:e>
                                  <m:sup>
                                    <m:r>
                                      <a:rPr lang="en-US" altLang="zh-CN" sz="2800" i="1">
                                        <a:effectLst/>
                                        <a:latin typeface="Cambria Math" panose="02040503050406030204" pitchFamily="18" charset="0"/>
                                        <a:cs typeface="Times New Roman" panose="02020603050405020304" pitchFamily="18" charset="0"/>
                                      </a:rPr>
                                      <m:t>−1</m:t>
                                    </m:r>
                                  </m:sup>
                                </m:sSup>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cs typeface="Times New Roman" panose="02020603050405020304" pitchFamily="18" charset="0"/>
                                      </a:rPr>
                                      <m:t>1−</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𝑈</m:t>
                                        </m:r>
                                      </m:e>
                                      <m:sub>
                                        <m:r>
                                          <a:rPr lang="en-US" altLang="zh-CN" sz="2800" i="1">
                                            <a:effectLst/>
                                            <a:latin typeface="Cambria Math" panose="02040503050406030204" pitchFamily="18" charset="0"/>
                                            <a:cs typeface="Times New Roman" panose="02020603050405020304" pitchFamily="18" charset="0"/>
                                          </a:rPr>
                                          <m:t>𝑖</m:t>
                                        </m:r>
                                      </m:sub>
                                    </m:sSub>
                                  </m:e>
                                </m:d>
                              </m:e>
                            </m:d>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 </m:t>
                            </m:r>
                            <m:r>
                              <a:rPr lang="en-US" altLang="zh-CN" sz="2800" i="1">
                                <a:effectLst/>
                                <a:latin typeface="Cambria Math" panose="02040503050406030204" pitchFamily="18" charset="0"/>
                                <a:cs typeface="Times New Roman" panose="02020603050405020304" pitchFamily="18" charset="0"/>
                              </a:rPr>
                              <m:t>𝑖</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1</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2</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𝑁</m:t>
                            </m:r>
                          </m:e>
                        </m:mr>
                      </m:m>
                    </m:oMath>
                  </m:oMathPara>
                </a14:m>
                <a:endParaRPr lang="zh-CN" altLang="zh-CN" sz="2800" dirty="0">
                  <a:effectLst/>
                  <a:latin typeface="Cambria" panose="02040503050406030204" pitchFamily="18" charset="0"/>
                  <a:cs typeface="Times New Roman" panose="02020603050405020304" pitchFamily="18" charset="0"/>
                </a:endParaRPr>
              </a:p>
              <a:p>
                <a:pPr>
                  <a:spcBef>
                    <a:spcPts val="900"/>
                  </a:spcBef>
                  <a:spcAft>
                    <a:spcPts val="900"/>
                  </a:spcAft>
                </a:pPr>
                <a:r>
                  <a:rPr lang="zh-CN" altLang="zh-CN" sz="2800" dirty="0">
                    <a:effectLst/>
                    <a:latin typeface="Cambria" panose="02040503050406030204" pitchFamily="18" charset="0"/>
                    <a:cs typeface="Times New Roman" panose="02020603050405020304" pitchFamily="18" charset="0"/>
                  </a:rPr>
                  <a:t>的样本平均值估计</a:t>
                </a:r>
                <a14:m>
                  <m:oMath xmlns:m="http://schemas.openxmlformats.org/officeDocument/2006/math">
                    <m:r>
                      <a:rPr lang="en-US" altLang="zh-CN" sz="2800" i="1">
                        <a:effectLst/>
                        <a:latin typeface="Cambria Math" panose="02040503050406030204" pitchFamily="18" charset="0"/>
                        <a:cs typeface="Times New Roman" panose="02020603050405020304" pitchFamily="18" charset="0"/>
                      </a:rPr>
                      <m:t>𝐼</m:t>
                    </m:r>
                  </m:oMath>
                </a14:m>
                <a:r>
                  <a:rPr lang="zh-CN" altLang="zh-CN" sz="2800" dirty="0">
                    <a:effectLst/>
                    <a:latin typeface="Cambria" panose="02040503050406030204" pitchFamily="18" charset="0"/>
                    <a:cs typeface="Times New Roman" panose="02020603050405020304" pitchFamily="18" charset="0"/>
                  </a:rPr>
                  <a:t>可以提高精度</a:t>
                </a:r>
                <a:r>
                  <a:rPr lang="zh-CN" altLang="en-US" sz="2800" dirty="0">
                    <a:effectLst/>
                    <a:latin typeface="Cambria" panose="02040503050406030204" pitchFamily="18" charset="0"/>
                    <a:cs typeface="Times New Roman" panose="02020603050405020304" pitchFamily="18" charset="0"/>
                  </a:rPr>
                  <a:t>。</a:t>
                </a:r>
                <a:endParaRPr lang="zh-CN" altLang="zh-CN" sz="2800" dirty="0">
                  <a:effectLst/>
                  <a:latin typeface="Cambria" panose="020405030504060302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DDC55E93-D1F7-4A2A-A049-678262243C54}"/>
                  </a:ext>
                </a:extLst>
              </p:cNvPr>
              <p:cNvSpPr txBox="1">
                <a:spLocks noRot="1" noChangeAspect="1" noMove="1" noResize="1" noEditPoints="1" noAdjustHandles="1" noChangeArrowheads="1" noChangeShapeType="1" noTextEdit="1"/>
              </p:cNvSpPr>
              <p:nvPr/>
            </p:nvSpPr>
            <p:spPr>
              <a:xfrm>
                <a:off x="432779" y="2114650"/>
                <a:ext cx="8145905" cy="2106987"/>
              </a:xfrm>
              <a:prstGeom prst="rect">
                <a:avLst/>
              </a:prstGeom>
              <a:blipFill>
                <a:blip r:embed="rId2"/>
                <a:stretch>
                  <a:fillRect l="-1572" t="-4046" b="-6358"/>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2523172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14.3</a:t>
            </a:r>
            <a:endParaRPr lang="zh-CN" altLang="en-US" sz="3600" b="0" dirty="0">
              <a:latin typeface="+mn-lt"/>
              <a:ea typeface="+mn-ea"/>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111</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6" y="1052603"/>
            <a:ext cx="8812973" cy="1077218"/>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再次考虑例</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14.1</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的问题。 </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用</a:t>
            </a:r>
            <a:r>
              <a:rPr kumimoji="0" lang="zh-CN" altLang="en-US"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对立变量法</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改善估计方差。</a:t>
            </a:r>
            <a:endParaRPr lang="zh-CN" altLang="en-US"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82B0A80-9DED-4F4F-9C5C-FC56CB7FBB49}"/>
                  </a:ext>
                </a:extLst>
              </p:cNvPr>
              <p:cNvSpPr txBox="1"/>
              <p:nvPr/>
            </p:nvSpPr>
            <p:spPr>
              <a:xfrm>
                <a:off x="5517105" y="1013306"/>
                <a:ext cx="2485624" cy="1060227"/>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𝐼</m:t>
                      </m:r>
                      <m:r>
                        <a:rPr lang="zh-CN" altLang="en-US" sz="2800" i="0">
                          <a:latin typeface="Cambria Math" panose="02040503050406030204" pitchFamily="18" charset="0"/>
                        </a:rPr>
                        <m:t>=</m:t>
                      </m:r>
                      <m:nary>
                        <m:naryPr>
                          <m:limLoc m:val="subSup"/>
                          <m:grow m:val="on"/>
                          <m:ctrlPr>
                            <a:rPr lang="zh-CN" altLang="en-US" sz="2800" i="1">
                              <a:latin typeface="Cambria Math" panose="02040503050406030204" pitchFamily="18" charset="0"/>
                            </a:rPr>
                          </m:ctrlPr>
                        </m:naryPr>
                        <m:sub>
                          <m:r>
                            <a:rPr lang="zh-CN" altLang="en-US" sz="2800" i="0">
                              <a:latin typeface="Cambria Math" panose="02040503050406030204" pitchFamily="18" charset="0"/>
                            </a:rPr>
                            <m:t>0</m:t>
                          </m:r>
                        </m:sub>
                        <m:sup>
                          <m:r>
                            <a:rPr lang="zh-CN" altLang="en-US" sz="2800" i="0">
                              <a:latin typeface="Cambria Math" panose="02040503050406030204" pitchFamily="18" charset="0"/>
                            </a:rPr>
                            <m:t>1</m:t>
                          </m:r>
                        </m:sup>
                        <m:e>
                          <m:sSup>
                            <m:sSupPr>
                              <m:ctrlPr>
                                <a:rPr lang="zh-CN" altLang="en-US" sz="2800" i="1">
                                  <a:solidFill>
                                    <a:srgbClr val="836967"/>
                                  </a:solidFill>
                                  <a:latin typeface="Cambria Math" panose="02040503050406030204" pitchFamily="18" charset="0"/>
                                </a:rPr>
                              </m:ctrlPr>
                            </m:sSupPr>
                            <m:e>
                              <m:r>
                                <a:rPr lang="zh-CN" altLang="en-US" sz="2800" i="1">
                                  <a:latin typeface="Cambria Math" panose="02040503050406030204" pitchFamily="18" charset="0"/>
                                </a:rPr>
                                <m:t>𝑒</m:t>
                              </m:r>
                            </m:e>
                            <m:sup>
                              <m:r>
                                <a:rPr lang="zh-CN" altLang="en-US" sz="2800" i="1">
                                  <a:latin typeface="Cambria Math" panose="02040503050406030204" pitchFamily="18" charset="0"/>
                                </a:rPr>
                                <m:t>𝑡</m:t>
                              </m:r>
                            </m:sup>
                          </m:sSup>
                        </m:e>
                      </m:nary>
                      <m:r>
                        <a:rPr lang="zh-CN" altLang="en-US" sz="2800" i="1">
                          <a:latin typeface="Cambria Math" panose="02040503050406030204" pitchFamily="18" charset="0"/>
                        </a:rPr>
                        <m:t>𝑑𝑡</m:t>
                      </m:r>
                    </m:oMath>
                  </m:oMathPara>
                </a14:m>
                <a:endParaRPr lang="zh-CN" altLang="en-US" dirty="0"/>
              </a:p>
            </p:txBody>
          </p:sp>
        </mc:Choice>
        <mc:Fallback xmlns="">
          <p:sp>
            <p:nvSpPr>
              <p:cNvPr id="7" name="文本框 6">
                <a:extLst>
                  <a:ext uri="{FF2B5EF4-FFF2-40B4-BE49-F238E27FC236}">
                    <a16:creationId xmlns:a16="http://schemas.microsoft.com/office/drawing/2014/main" id="{582B0A80-9DED-4F4F-9C5C-FC56CB7FBB49}"/>
                  </a:ext>
                </a:extLst>
              </p:cNvPr>
              <p:cNvSpPr txBox="1">
                <a:spLocks noRot="1" noChangeAspect="1" noMove="1" noResize="1" noEditPoints="1" noAdjustHandles="1" noChangeArrowheads="1" noChangeShapeType="1" noTextEdit="1"/>
              </p:cNvSpPr>
              <p:nvPr/>
            </p:nvSpPr>
            <p:spPr>
              <a:xfrm>
                <a:off x="5517105" y="1013306"/>
                <a:ext cx="2485624" cy="1060227"/>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AE60EED-9E03-44BA-A587-C3C28C886496}"/>
                  </a:ext>
                </a:extLst>
              </p:cNvPr>
              <p:cNvSpPr txBox="1"/>
              <p:nvPr/>
            </p:nvSpPr>
            <p:spPr>
              <a:xfrm>
                <a:off x="154120" y="2175855"/>
                <a:ext cx="8703224" cy="4040530"/>
              </a:xfrm>
              <a:prstGeom prst="rect">
                <a:avLst/>
              </a:prstGeom>
              <a:noFill/>
              <a:ln w="25400">
                <a:noFill/>
              </a:ln>
            </p:spPr>
            <p:txBody>
              <a:bodyPr wrap="square">
                <a:spAutoFit/>
              </a:bodyPr>
              <a:lstStyle/>
              <a:p>
                <a:pPr>
                  <a:spcBef>
                    <a:spcPts val="900"/>
                  </a:spcBef>
                  <a:spcAft>
                    <a:spcPts val="900"/>
                  </a:spcAft>
                </a:pPr>
                <a:r>
                  <a:rPr lang="zh-CN" altLang="zh-CN" sz="2000" dirty="0">
                    <a:effectLst/>
                    <a:latin typeface="Cambria" panose="02040503050406030204" pitchFamily="18" charset="0"/>
                    <a:cs typeface="Times New Roman" panose="02020603050405020304" pitchFamily="18" charset="0"/>
                  </a:rPr>
                  <a:t>设</a:t>
                </a:r>
                <a14:m>
                  <m:oMath xmlns:m="http://schemas.openxmlformats.org/officeDocument/2006/math">
                    <m:r>
                      <a:rPr lang="en-US" altLang="zh-CN" sz="2000" i="1">
                        <a:effectLst/>
                        <a:latin typeface="Cambria Math" panose="02040503050406030204" pitchFamily="18" charset="0"/>
                        <a:cs typeface="Times New Roman" panose="02020603050405020304" pitchFamily="18" charset="0"/>
                      </a:rPr>
                      <m:t>𝑈</m:t>
                    </m:r>
                    <m:r>
                      <a:rPr lang="en-US" altLang="zh-CN" sz="2000">
                        <a:effectLst/>
                        <a:latin typeface="Cambria Math" panose="02040503050406030204" pitchFamily="18" charset="0"/>
                        <a:cs typeface="Times New Roman" panose="02020603050405020304" pitchFamily="18" charset="0"/>
                      </a:rPr>
                      <m:t>∼</m:t>
                    </m:r>
                    <m:r>
                      <m:rPr>
                        <m:nor/>
                      </m:rPr>
                      <a:rPr lang="en-US" altLang="zh-CN" sz="2000">
                        <a:effectLst/>
                        <a:latin typeface="Cambria" panose="02040503050406030204" pitchFamily="18" charset="0"/>
                        <a:cs typeface="Times New Roman" panose="02020603050405020304" pitchFamily="18" charset="0"/>
                      </a:rPr>
                      <m:t>U</m:t>
                    </m:r>
                    <m:d>
                      <m:d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a:effectLst/>
                            <a:latin typeface="Cambria Math" panose="02040503050406030204" pitchFamily="18" charset="0"/>
                            <a:cs typeface="Times New Roman" panose="02020603050405020304" pitchFamily="18" charset="0"/>
                          </a:rPr>
                          <m:t>0</m:t>
                        </m:r>
                        <m:r>
                          <a:rPr lang="en-US" altLang="zh-CN" sz="2000">
                            <a:effectLst/>
                            <a:latin typeface="Cambria Math" panose="02040503050406030204" pitchFamily="18" charset="0"/>
                            <a:cs typeface="Times New Roman" panose="02020603050405020304" pitchFamily="18" charset="0"/>
                          </a:rPr>
                          <m:t>,</m:t>
                        </m:r>
                        <m:r>
                          <a:rPr lang="en-US" altLang="zh-CN" sz="2000" i="1">
                            <a:effectLst/>
                            <a:latin typeface="Cambria Math" panose="02040503050406030204" pitchFamily="18" charset="0"/>
                            <a:cs typeface="Times New Roman" panose="02020603050405020304" pitchFamily="18" charset="0"/>
                          </a:rPr>
                          <m:t>1</m:t>
                        </m:r>
                      </m:e>
                    </m:d>
                  </m:oMath>
                </a14:m>
                <a:r>
                  <a:rPr lang="zh-CN" altLang="zh-CN" sz="2000" dirty="0">
                    <a:effectLst/>
                    <a:latin typeface="Cambria" panose="02040503050406030204" pitchFamily="18" charset="0"/>
                    <a:cs typeface="Times New Roman" panose="02020603050405020304" pitchFamily="18" charset="0"/>
                  </a:rPr>
                  <a:t>，</a:t>
                </a:r>
                <a14:m>
                  <m:oMath xmlns:m="http://schemas.openxmlformats.org/officeDocument/2006/math">
                    <m:r>
                      <a:rPr lang="en-US" altLang="zh-CN" sz="2000" i="1">
                        <a:effectLst/>
                        <a:latin typeface="Cambria Math" panose="02040503050406030204" pitchFamily="18" charset="0"/>
                        <a:cs typeface="Times New Roman" panose="02020603050405020304" pitchFamily="18" charset="0"/>
                      </a:rPr>
                      <m:t>𝑋</m:t>
                    </m:r>
                    <m:r>
                      <a:rPr lang="en-US" altLang="zh-CN" sz="2000">
                        <a:effectLst/>
                        <a:latin typeface="Cambria Math" panose="02040503050406030204" pitchFamily="18" charset="0"/>
                        <a:cs typeface="Times New Roman" panose="02020603050405020304" pitchFamily="18" charset="0"/>
                      </a:rPr>
                      <m:t>=</m:t>
                    </m:r>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cs typeface="Times New Roman" panose="02020603050405020304" pitchFamily="18" charset="0"/>
                          </a:rPr>
                          <m:t>𝑒</m:t>
                        </m:r>
                      </m:e>
                      <m:sup>
                        <m:r>
                          <a:rPr lang="en-US" altLang="zh-CN" sz="2000" i="1">
                            <a:effectLst/>
                            <a:latin typeface="Cambria Math" panose="02040503050406030204" pitchFamily="18" charset="0"/>
                            <a:cs typeface="Times New Roman" panose="02020603050405020304" pitchFamily="18" charset="0"/>
                          </a:rPr>
                          <m:t>𝑈</m:t>
                        </m:r>
                      </m:sup>
                    </m:sSup>
                  </m:oMath>
                </a14:m>
                <a:r>
                  <a:rPr lang="en-US" altLang="zh-CN" sz="2000" dirty="0">
                    <a:effectLst/>
                    <a:latin typeface="Cambria" panose="02040503050406030204" pitchFamily="18" charset="0"/>
                    <a:cs typeface="Times New Roman" panose="02020603050405020304" pitchFamily="18" charset="0"/>
                  </a:rPr>
                  <a:t>, </a:t>
                </a:r>
                <a:r>
                  <a:rPr lang="zh-CN" altLang="zh-CN" sz="2000" dirty="0">
                    <a:effectLst/>
                    <a:latin typeface="Cambria" panose="02040503050406030204" pitchFamily="18" charset="0"/>
                    <a:cs typeface="Times New Roman" panose="02020603050405020304" pitchFamily="18" charset="0"/>
                  </a:rPr>
                  <a:t>令</a:t>
                </a:r>
                <a14:m>
                  <m:oMath xmlns:m="http://schemas.openxmlformats.org/officeDocument/2006/math">
                    <m:r>
                      <a:rPr lang="en-US" altLang="zh-CN" sz="2000" i="1">
                        <a:effectLst/>
                        <a:latin typeface="Cambria Math" panose="02040503050406030204" pitchFamily="18" charset="0"/>
                        <a:cs typeface="Times New Roman" panose="02020603050405020304" pitchFamily="18" charset="0"/>
                      </a:rPr>
                      <m:t>𝑌</m:t>
                    </m:r>
                    <m:r>
                      <a:rPr lang="en-US" altLang="zh-CN" sz="2000">
                        <a:effectLst/>
                        <a:latin typeface="Cambria Math" panose="02040503050406030204" pitchFamily="18" charset="0"/>
                        <a:cs typeface="Times New Roman" panose="02020603050405020304" pitchFamily="18" charset="0"/>
                      </a:rPr>
                      <m:t>=</m:t>
                    </m:r>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cs typeface="Times New Roman" panose="02020603050405020304" pitchFamily="18" charset="0"/>
                          </a:rPr>
                          <m:t>𝑒</m:t>
                        </m:r>
                      </m:e>
                      <m:sup>
                        <m:r>
                          <a:rPr lang="en-US" altLang="zh-CN" sz="2000" i="1">
                            <a:effectLst/>
                            <a:latin typeface="Cambria Math" panose="02040503050406030204" pitchFamily="18" charset="0"/>
                            <a:cs typeface="Times New Roman" panose="02020603050405020304" pitchFamily="18" charset="0"/>
                          </a:rPr>
                          <m:t>1−</m:t>
                        </m:r>
                        <m:r>
                          <a:rPr lang="en-US" altLang="zh-CN" sz="2000" i="1">
                            <a:effectLst/>
                            <a:latin typeface="Cambria Math" panose="02040503050406030204" pitchFamily="18" charset="0"/>
                            <a:cs typeface="Times New Roman" panose="02020603050405020304" pitchFamily="18" charset="0"/>
                          </a:rPr>
                          <m:t>𝑈</m:t>
                        </m:r>
                      </m:sup>
                    </m:sSup>
                  </m:oMath>
                </a14:m>
                <a:r>
                  <a:rPr lang="en-US" altLang="zh-CN" sz="2000" dirty="0">
                    <a:effectLst/>
                    <a:latin typeface="Cambria" panose="02040503050406030204" pitchFamily="18" charset="0"/>
                    <a:cs typeface="Times New Roman" panose="02020603050405020304" pitchFamily="18" charset="0"/>
                  </a:rPr>
                  <a:t>,</a:t>
                </a:r>
                <a:endParaRPr lang="zh-CN" altLang="zh-CN" sz="2000" dirty="0">
                  <a:effectLst/>
                  <a:latin typeface="Cambria" panose="02040503050406030204" pitchFamily="18" charset="0"/>
                  <a:cs typeface="Times New Roman" panose="02020603050405020304" pitchFamily="18" charset="0"/>
                </a:endParaRPr>
              </a:p>
              <a:p>
                <a:pPr>
                  <a:spcBef>
                    <a:spcPts val="900"/>
                  </a:spcBef>
                  <a:spcAft>
                    <a:spcPts val="900"/>
                  </a:spcAft>
                </a:pPr>
                <a:r>
                  <a:rPr lang="en-US" altLang="zh-CN" sz="2000" dirty="0" err="1">
                    <a:effectLst/>
                    <a:latin typeface="宋体" panose="02010600030101010101" pitchFamily="2" charset="-122"/>
                    <a:cs typeface="Times New Roman" panose="02020603050405020304" pitchFamily="18" charset="0"/>
                  </a:rPr>
                  <a:t>用对立变量法估计</a:t>
                </a:r>
                <a14:m>
                  <m:oMath xmlns:m="http://schemas.openxmlformats.org/officeDocument/2006/math">
                    <m:r>
                      <a:rPr lang="en-US" altLang="zh-CN" sz="2000" i="1">
                        <a:effectLst/>
                        <a:latin typeface="Cambria Math" panose="02040503050406030204" pitchFamily="18" charset="0"/>
                        <a:cs typeface="Times New Roman" panose="02020603050405020304" pitchFamily="18" charset="0"/>
                      </a:rPr>
                      <m:t>𝐼</m:t>
                    </m:r>
                  </m:oMath>
                </a14:m>
                <a:r>
                  <a:rPr lang="en-US" altLang="zh-CN" sz="2000" dirty="0">
                    <a:effectLst/>
                    <a:latin typeface="宋体" panose="02010600030101010101" pitchFamily="2" charset="-122"/>
                    <a:cs typeface="Times New Roman" panose="02020603050405020304" pitchFamily="18" charset="0"/>
                  </a:rPr>
                  <a:t>为</a:t>
                </a:r>
                <a:endParaRPr lang="zh-CN" altLang="zh-CN" sz="20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000" i="1">
                                  <a:effectLst/>
                                  <a:latin typeface="Cambria Math" panose="02040503050406030204" pitchFamily="18" charset="0"/>
                                  <a:cs typeface="Times New Roman" panose="02020603050405020304" pitchFamily="18" charset="0"/>
                                </a:rPr>
                                <m:t>𝐼</m:t>
                              </m:r>
                            </m:e>
                          </m:acc>
                        </m:e>
                        <m:sub>
                          <m:r>
                            <a:rPr lang="en-US" altLang="zh-CN" sz="2000" i="1">
                              <a:effectLst/>
                              <a:latin typeface="Cambria Math" panose="02040503050406030204" pitchFamily="18" charset="0"/>
                              <a:cs typeface="Times New Roman" panose="02020603050405020304" pitchFamily="18" charset="0"/>
                            </a:rPr>
                            <m:t>3</m:t>
                          </m:r>
                        </m:sub>
                      </m:sSub>
                      <m:r>
                        <a:rPr lang="en-US" altLang="zh-CN" sz="2000">
                          <a:effectLst/>
                          <a:latin typeface="Cambria Math" panose="02040503050406030204" pitchFamily="18" charset="0"/>
                          <a:cs typeface="Times New Roman" panose="02020603050405020304" pitchFamily="18" charset="0"/>
                        </a:rPr>
                        <m:t>=</m:t>
                      </m:r>
                      <m:f>
                        <m:f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i="1">
                              <a:effectLst/>
                              <a:latin typeface="Cambria Math" panose="02040503050406030204" pitchFamily="18" charset="0"/>
                              <a:cs typeface="Times New Roman" panose="02020603050405020304" pitchFamily="18" charset="0"/>
                            </a:rPr>
                            <m:t>1</m:t>
                          </m:r>
                        </m:num>
                        <m:den>
                          <m:r>
                            <a:rPr lang="en-US" altLang="zh-CN" sz="2000" i="1">
                              <a:effectLst/>
                              <a:latin typeface="Cambria Math" panose="02040503050406030204" pitchFamily="18" charset="0"/>
                              <a:cs typeface="Times New Roman" panose="02020603050405020304" pitchFamily="18" charset="0"/>
                            </a:rPr>
                            <m:t>𝑁</m:t>
                          </m:r>
                        </m:den>
                      </m:f>
                      <m:nary>
                        <m:naryPr>
                          <m:chr m:val="∑"/>
                          <m:limLoc m:val="undOv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000" i="1">
                              <a:effectLst/>
                              <a:latin typeface="Cambria Math" panose="02040503050406030204" pitchFamily="18" charset="0"/>
                              <a:cs typeface="Times New Roman" panose="02020603050405020304" pitchFamily="18" charset="0"/>
                            </a:rPr>
                            <m:t>𝑖</m:t>
                          </m:r>
                          <m:r>
                            <a:rPr lang="en-US" altLang="zh-CN" sz="2000">
                              <a:effectLst/>
                              <a:latin typeface="Cambria Math" panose="02040503050406030204" pitchFamily="18" charset="0"/>
                              <a:cs typeface="Times New Roman" panose="02020603050405020304" pitchFamily="18" charset="0"/>
                            </a:rPr>
                            <m:t>=</m:t>
                          </m:r>
                          <m:r>
                            <a:rPr lang="en-US" altLang="zh-CN" sz="2000" i="1">
                              <a:effectLst/>
                              <a:latin typeface="Cambria Math" panose="02040503050406030204" pitchFamily="18" charset="0"/>
                              <a:cs typeface="Times New Roman" panose="02020603050405020304" pitchFamily="18" charset="0"/>
                            </a:rPr>
                            <m:t>1</m:t>
                          </m:r>
                        </m:sub>
                        <m:sup>
                          <m:r>
                            <a:rPr lang="en-US" altLang="zh-CN" sz="2000" i="1">
                              <a:effectLst/>
                              <a:latin typeface="Cambria Math" panose="02040503050406030204" pitchFamily="18" charset="0"/>
                              <a:cs typeface="Times New Roman" panose="02020603050405020304" pitchFamily="18" charset="0"/>
                            </a:rPr>
                            <m:t>𝑁</m:t>
                          </m:r>
                        </m:sup>
                        <m:e>
                          <m:f>
                            <m:f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cs typeface="Times New Roman" panose="02020603050405020304" pitchFamily="18" charset="0"/>
                                    </a:rPr>
                                    <m:t>𝑒</m:t>
                                  </m:r>
                                </m:e>
                                <m:sup>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cs typeface="Times New Roman" panose="02020603050405020304" pitchFamily="18" charset="0"/>
                                        </a:rPr>
                                        <m:t>𝑈</m:t>
                                      </m:r>
                                    </m:e>
                                    <m:sub>
                                      <m:r>
                                        <a:rPr lang="en-US" altLang="zh-CN" sz="2000" i="1">
                                          <a:effectLst/>
                                          <a:latin typeface="Cambria Math" panose="02040503050406030204" pitchFamily="18" charset="0"/>
                                          <a:cs typeface="Times New Roman" panose="02020603050405020304" pitchFamily="18" charset="0"/>
                                        </a:rPr>
                                        <m:t>𝑖</m:t>
                                      </m:r>
                                    </m:sub>
                                  </m:sSub>
                                </m:sup>
                              </m:sSup>
                              <m:r>
                                <a:rPr lang="en-US" altLang="zh-CN" sz="2000">
                                  <a:effectLst/>
                                  <a:latin typeface="Cambria Math" panose="02040503050406030204" pitchFamily="18" charset="0"/>
                                  <a:cs typeface="Times New Roman" panose="02020603050405020304" pitchFamily="18" charset="0"/>
                                </a:rPr>
                                <m:t>+</m:t>
                              </m:r>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cs typeface="Times New Roman" panose="02020603050405020304" pitchFamily="18" charset="0"/>
                                    </a:rPr>
                                    <m:t>𝑒</m:t>
                                  </m:r>
                                </m:e>
                                <m:sup>
                                  <m:r>
                                    <a:rPr lang="en-US" altLang="zh-CN" sz="2000" i="1">
                                      <a:effectLst/>
                                      <a:latin typeface="Cambria Math" panose="02040503050406030204" pitchFamily="18" charset="0"/>
                                      <a:cs typeface="Times New Roman" panose="02020603050405020304" pitchFamily="18" charset="0"/>
                                    </a:rPr>
                                    <m:t>1−</m:t>
                                  </m:r>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cs typeface="Times New Roman" panose="02020603050405020304" pitchFamily="18" charset="0"/>
                                        </a:rPr>
                                        <m:t>𝑈</m:t>
                                      </m:r>
                                    </m:e>
                                    <m:sub>
                                      <m:r>
                                        <a:rPr lang="en-US" altLang="zh-CN" sz="2000" i="1">
                                          <a:effectLst/>
                                          <a:latin typeface="Cambria Math" panose="02040503050406030204" pitchFamily="18" charset="0"/>
                                          <a:cs typeface="Times New Roman" panose="02020603050405020304" pitchFamily="18" charset="0"/>
                                        </a:rPr>
                                        <m:t>𝑖</m:t>
                                      </m:r>
                                    </m:sub>
                                  </m:sSub>
                                </m:sup>
                              </m:sSup>
                            </m:num>
                            <m:den>
                              <m:r>
                                <a:rPr lang="en-US" altLang="zh-CN" sz="2000" i="1">
                                  <a:effectLst/>
                                  <a:latin typeface="Cambria Math" panose="02040503050406030204" pitchFamily="18" charset="0"/>
                                  <a:cs typeface="Times New Roman" panose="02020603050405020304" pitchFamily="18" charset="0"/>
                                </a:rPr>
                                <m:t>2</m:t>
                              </m:r>
                            </m:den>
                          </m:f>
                        </m:e>
                      </m:nary>
                    </m:oMath>
                  </m:oMathPara>
                </a14:m>
                <a:endParaRPr lang="zh-CN" altLang="zh-CN" sz="2000" dirty="0">
                  <a:effectLst/>
                  <a:latin typeface="Cambria" panose="02040503050406030204" pitchFamily="18" charset="0"/>
                  <a:cs typeface="Times New Roman" panose="02020603050405020304" pitchFamily="18" charset="0"/>
                </a:endParaRPr>
              </a:p>
              <a:p>
                <a:pPr>
                  <a:spcBef>
                    <a:spcPts val="900"/>
                  </a:spcBef>
                  <a:spcAft>
                    <a:spcPts val="900"/>
                  </a:spcAft>
                </a:pPr>
                <a:r>
                  <a:rPr lang="en-US" altLang="zh-CN" sz="2000" dirty="0" err="1">
                    <a:effectLst/>
                    <a:latin typeface="宋体" panose="02010600030101010101" pitchFamily="2" charset="-122"/>
                    <a:cs typeface="Times New Roman" panose="02020603050405020304" pitchFamily="18" charset="0"/>
                  </a:rPr>
                  <a:t>方差为</a:t>
                </a:r>
                <a:endParaRPr lang="zh-CN" altLang="zh-CN" sz="20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mPr>
                        <m:mr>
                          <m:e>
                            <m:r>
                              <m:rPr>
                                <m:nor/>
                              </m:rPr>
                              <a:rPr lang="en-US" altLang="zh-CN" sz="2000">
                                <a:effectLst/>
                                <a:latin typeface="Cambria" panose="02040503050406030204" pitchFamily="18" charset="0"/>
                                <a:cs typeface="Times New Roman" panose="02020603050405020304" pitchFamily="18" charset="0"/>
                              </a:rPr>
                              <m:t>Var</m:t>
                            </m:r>
                            <m:d>
                              <m:d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000" i="1">
                                            <a:effectLst/>
                                            <a:latin typeface="Cambria Math" panose="02040503050406030204" pitchFamily="18" charset="0"/>
                                            <a:cs typeface="Times New Roman" panose="02020603050405020304" pitchFamily="18" charset="0"/>
                                          </a:rPr>
                                          <m:t>𝐼</m:t>
                                        </m:r>
                                      </m:e>
                                    </m:acc>
                                  </m:e>
                                  <m:sub>
                                    <m:r>
                                      <a:rPr lang="en-US" altLang="zh-CN" sz="2000" i="1">
                                        <a:effectLst/>
                                        <a:latin typeface="Cambria Math" panose="02040503050406030204" pitchFamily="18" charset="0"/>
                                        <a:cs typeface="Times New Roman" panose="02020603050405020304" pitchFamily="18" charset="0"/>
                                      </a:rPr>
                                      <m:t>3</m:t>
                                    </m:r>
                                  </m:sub>
                                </m:sSub>
                              </m:e>
                            </m:d>
                          </m:e>
                          <m:e>
                            <m:r>
                              <a:rPr lang="en-US" altLang="zh-CN" sz="2000">
                                <a:effectLst/>
                                <a:latin typeface="Cambria Math" panose="02040503050406030204" pitchFamily="18" charset="0"/>
                                <a:cs typeface="Times New Roman" panose="02020603050405020304" pitchFamily="18" charset="0"/>
                              </a:rPr>
                              <m:t>=</m:t>
                            </m:r>
                            <m:f>
                              <m:f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i="1">
                                    <a:effectLst/>
                                    <a:latin typeface="Cambria Math" panose="02040503050406030204" pitchFamily="18" charset="0"/>
                                    <a:cs typeface="Times New Roman" panose="02020603050405020304" pitchFamily="18" charset="0"/>
                                  </a:rPr>
                                  <m:t>1</m:t>
                                </m:r>
                              </m:num>
                              <m:den>
                                <m:r>
                                  <a:rPr lang="en-US" altLang="zh-CN" sz="2000" i="1">
                                    <a:effectLst/>
                                    <a:latin typeface="Cambria Math" panose="02040503050406030204" pitchFamily="18" charset="0"/>
                                    <a:cs typeface="Times New Roman" panose="02020603050405020304" pitchFamily="18" charset="0"/>
                                  </a:rPr>
                                  <m:t>𝑁</m:t>
                                </m:r>
                              </m:den>
                            </m:f>
                            <m:f>
                              <m:f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fPr>
                              <m:num>
                                <m:r>
                                  <m:rPr>
                                    <m:nor/>
                                  </m:rPr>
                                  <a:rPr lang="en-US" altLang="zh-CN" sz="2000">
                                    <a:effectLst/>
                                    <a:latin typeface="Cambria" panose="02040503050406030204" pitchFamily="18" charset="0"/>
                                    <a:cs typeface="Times New Roman" panose="02020603050405020304" pitchFamily="18" charset="0"/>
                                  </a:rPr>
                                  <m:t>Var</m:t>
                                </m:r>
                                <m:d>
                                  <m:d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cs typeface="Times New Roman" panose="02020603050405020304" pitchFamily="18" charset="0"/>
                                          </a:rPr>
                                          <m:t>𝑒</m:t>
                                        </m:r>
                                      </m:e>
                                      <m:sup>
                                        <m:r>
                                          <a:rPr lang="en-US" altLang="zh-CN" sz="2000" i="1">
                                            <a:effectLst/>
                                            <a:latin typeface="Cambria Math" panose="02040503050406030204" pitchFamily="18" charset="0"/>
                                            <a:cs typeface="Times New Roman" panose="02020603050405020304" pitchFamily="18" charset="0"/>
                                          </a:rPr>
                                          <m:t>𝑈</m:t>
                                        </m:r>
                                      </m:sup>
                                    </m:sSup>
                                  </m:e>
                                </m:d>
                                <m:r>
                                  <a:rPr lang="en-US" altLang="zh-CN" sz="2000">
                                    <a:effectLst/>
                                    <a:latin typeface="Cambria Math" panose="02040503050406030204" pitchFamily="18" charset="0"/>
                                    <a:cs typeface="Times New Roman" panose="02020603050405020304" pitchFamily="18" charset="0"/>
                                  </a:rPr>
                                  <m:t>+</m:t>
                                </m:r>
                                <m:r>
                                  <m:rPr>
                                    <m:nor/>
                                  </m:rPr>
                                  <a:rPr lang="en-US" altLang="zh-CN" sz="2000">
                                    <a:effectLst/>
                                    <a:latin typeface="Cambria" panose="02040503050406030204" pitchFamily="18" charset="0"/>
                                    <a:cs typeface="Times New Roman" panose="02020603050405020304" pitchFamily="18" charset="0"/>
                                  </a:rPr>
                                  <m:t>Cov</m:t>
                                </m:r>
                                <m:d>
                                  <m:d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cs typeface="Times New Roman" panose="02020603050405020304" pitchFamily="18" charset="0"/>
                                          </a:rPr>
                                          <m:t>𝑒</m:t>
                                        </m:r>
                                      </m:e>
                                      <m:sup>
                                        <m:r>
                                          <a:rPr lang="en-US" altLang="zh-CN" sz="2000" i="1">
                                            <a:effectLst/>
                                            <a:latin typeface="Cambria Math" panose="02040503050406030204" pitchFamily="18" charset="0"/>
                                            <a:cs typeface="Times New Roman" panose="02020603050405020304" pitchFamily="18" charset="0"/>
                                          </a:rPr>
                                          <m:t>𝑈</m:t>
                                        </m:r>
                                      </m:sup>
                                    </m:sSup>
                                    <m:r>
                                      <a:rPr lang="en-US" altLang="zh-CN" sz="2000">
                                        <a:effectLst/>
                                        <a:latin typeface="Cambria Math" panose="02040503050406030204" pitchFamily="18" charset="0"/>
                                        <a:cs typeface="Times New Roman" panose="02020603050405020304" pitchFamily="18" charset="0"/>
                                      </a:rPr>
                                      <m:t>,</m:t>
                                    </m:r>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cs typeface="Times New Roman" panose="02020603050405020304" pitchFamily="18" charset="0"/>
                                          </a:rPr>
                                          <m:t>𝑒</m:t>
                                        </m:r>
                                      </m:e>
                                      <m:sup>
                                        <m:r>
                                          <a:rPr lang="en-US" altLang="zh-CN" sz="2000" i="1">
                                            <a:effectLst/>
                                            <a:latin typeface="Cambria Math" panose="02040503050406030204" pitchFamily="18" charset="0"/>
                                            <a:cs typeface="Times New Roman" panose="02020603050405020304" pitchFamily="18" charset="0"/>
                                          </a:rPr>
                                          <m:t>1−</m:t>
                                        </m:r>
                                        <m:r>
                                          <a:rPr lang="en-US" altLang="zh-CN" sz="2000" i="1">
                                            <a:effectLst/>
                                            <a:latin typeface="Cambria Math" panose="02040503050406030204" pitchFamily="18" charset="0"/>
                                            <a:cs typeface="Times New Roman" panose="02020603050405020304" pitchFamily="18" charset="0"/>
                                          </a:rPr>
                                          <m:t>𝑈</m:t>
                                        </m:r>
                                      </m:sup>
                                    </m:sSup>
                                  </m:e>
                                </m:d>
                              </m:num>
                              <m:den>
                                <m:r>
                                  <a:rPr lang="en-US" altLang="zh-CN" sz="2000" i="1">
                                    <a:effectLst/>
                                    <a:latin typeface="Cambria Math" panose="02040503050406030204" pitchFamily="18" charset="0"/>
                                    <a:cs typeface="Times New Roman" panose="02020603050405020304" pitchFamily="18" charset="0"/>
                                  </a:rPr>
                                  <m:t>2</m:t>
                                </m:r>
                              </m:den>
                            </m:f>
                          </m:e>
                        </m:mr>
                        <m:mr>
                          <m:e/>
                          <m:e>
                            <m:r>
                              <a:rPr lang="en-US" altLang="zh-CN" sz="2000">
                                <a:effectLst/>
                                <a:latin typeface="Cambria Math" panose="02040503050406030204" pitchFamily="18" charset="0"/>
                                <a:cs typeface="Times New Roman" panose="02020603050405020304" pitchFamily="18" charset="0"/>
                              </a:rPr>
                              <m:t>=</m:t>
                            </m:r>
                            <m:f>
                              <m:f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i="1">
                                    <a:effectLst/>
                                    <a:latin typeface="Cambria Math" panose="02040503050406030204" pitchFamily="18" charset="0"/>
                                    <a:cs typeface="Times New Roman" panose="02020603050405020304" pitchFamily="18" charset="0"/>
                                  </a:rPr>
                                  <m:t>1</m:t>
                                </m:r>
                              </m:num>
                              <m:den>
                                <m:r>
                                  <a:rPr lang="en-US" altLang="zh-CN" sz="2000" i="1">
                                    <a:effectLst/>
                                    <a:latin typeface="Cambria Math" panose="02040503050406030204" pitchFamily="18" charset="0"/>
                                    <a:cs typeface="Times New Roman" panose="02020603050405020304" pitchFamily="18" charset="0"/>
                                  </a:rPr>
                                  <m:t>𝑁</m:t>
                                </m:r>
                              </m:den>
                            </m:f>
                            <m:d>
                              <m:d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a:effectLst/>
                                    <a:latin typeface="Cambria Math" panose="02040503050406030204" pitchFamily="18" charset="0"/>
                                    <a:cs typeface="Times New Roman" panose="02020603050405020304" pitchFamily="18" charset="0"/>
                                  </a:rPr>
                                  <m:t>−</m:t>
                                </m:r>
                                <m:f>
                                  <m:f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i="1">
                                        <a:effectLst/>
                                        <a:latin typeface="Cambria Math" panose="02040503050406030204" pitchFamily="18" charset="0"/>
                                        <a:cs typeface="Times New Roman" panose="02020603050405020304" pitchFamily="18" charset="0"/>
                                      </a:rPr>
                                      <m:t>3</m:t>
                                    </m:r>
                                  </m:num>
                                  <m:den>
                                    <m:r>
                                      <a:rPr lang="en-US" altLang="zh-CN" sz="2000" i="1">
                                        <a:effectLst/>
                                        <a:latin typeface="Cambria Math" panose="02040503050406030204" pitchFamily="18" charset="0"/>
                                        <a:cs typeface="Times New Roman" panose="02020603050405020304" pitchFamily="18" charset="0"/>
                                      </a:rPr>
                                      <m:t>4</m:t>
                                    </m:r>
                                  </m:den>
                                </m:f>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cs typeface="Times New Roman" panose="02020603050405020304" pitchFamily="18" charset="0"/>
                                      </a:rPr>
                                      <m:t>𝑒</m:t>
                                    </m:r>
                                  </m:e>
                                  <m:sup>
                                    <m:r>
                                      <a:rPr lang="en-US" altLang="zh-CN" sz="2000" i="1">
                                        <a:effectLst/>
                                        <a:latin typeface="Cambria Math" panose="02040503050406030204" pitchFamily="18" charset="0"/>
                                        <a:cs typeface="Times New Roman" panose="02020603050405020304" pitchFamily="18" charset="0"/>
                                      </a:rPr>
                                      <m:t>2</m:t>
                                    </m:r>
                                  </m:sup>
                                </m:sSup>
                                <m:r>
                                  <a:rPr lang="en-US" altLang="zh-CN" sz="2000">
                                    <a:effectLst/>
                                    <a:latin typeface="Cambria Math" panose="02040503050406030204" pitchFamily="18" charset="0"/>
                                    <a:cs typeface="Times New Roman" panose="02020603050405020304" pitchFamily="18" charset="0"/>
                                  </a:rPr>
                                  <m:t>+</m:t>
                                </m:r>
                                <m:f>
                                  <m:f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i="1">
                                        <a:effectLst/>
                                        <a:latin typeface="Cambria Math" panose="02040503050406030204" pitchFamily="18" charset="0"/>
                                        <a:cs typeface="Times New Roman" panose="02020603050405020304" pitchFamily="18" charset="0"/>
                                      </a:rPr>
                                      <m:t>5</m:t>
                                    </m:r>
                                  </m:num>
                                  <m:den>
                                    <m:r>
                                      <a:rPr lang="en-US" altLang="zh-CN" sz="2000" i="1">
                                        <a:effectLst/>
                                        <a:latin typeface="Cambria Math" panose="02040503050406030204" pitchFamily="18" charset="0"/>
                                        <a:cs typeface="Times New Roman" panose="02020603050405020304" pitchFamily="18" charset="0"/>
                                      </a:rPr>
                                      <m:t>2</m:t>
                                    </m:r>
                                  </m:den>
                                </m:f>
                                <m:r>
                                  <a:rPr lang="en-US" altLang="zh-CN" sz="2000" i="1">
                                    <a:effectLst/>
                                    <a:latin typeface="Cambria Math" panose="02040503050406030204" pitchFamily="18" charset="0"/>
                                    <a:cs typeface="Times New Roman" panose="02020603050405020304" pitchFamily="18" charset="0"/>
                                  </a:rPr>
                                  <m:t>𝑒</m:t>
                                </m:r>
                                <m:r>
                                  <a:rPr lang="en-US" altLang="zh-CN" sz="2000" i="1">
                                    <a:effectLst/>
                                    <a:latin typeface="Cambria Math" panose="02040503050406030204" pitchFamily="18" charset="0"/>
                                    <a:cs typeface="Times New Roman" panose="02020603050405020304" pitchFamily="18" charset="0"/>
                                  </a:rPr>
                                  <m:t>−</m:t>
                                </m:r>
                                <m:f>
                                  <m:f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i="1">
                                        <a:effectLst/>
                                        <a:latin typeface="Cambria Math" panose="02040503050406030204" pitchFamily="18" charset="0"/>
                                        <a:cs typeface="Times New Roman" panose="02020603050405020304" pitchFamily="18" charset="0"/>
                                      </a:rPr>
                                      <m:t>5</m:t>
                                    </m:r>
                                  </m:num>
                                  <m:den>
                                    <m:r>
                                      <a:rPr lang="en-US" altLang="zh-CN" sz="2000" i="1">
                                        <a:effectLst/>
                                        <a:latin typeface="Cambria Math" panose="02040503050406030204" pitchFamily="18" charset="0"/>
                                        <a:cs typeface="Times New Roman" panose="02020603050405020304" pitchFamily="18" charset="0"/>
                                      </a:rPr>
                                      <m:t>4</m:t>
                                    </m:r>
                                  </m:den>
                                </m:f>
                              </m:e>
                            </m:d>
                            <m:r>
                              <a:rPr lang="en-US" altLang="zh-CN" sz="2000">
                                <a:effectLst/>
                                <a:latin typeface="Cambria Math" panose="02040503050406030204" pitchFamily="18" charset="0"/>
                                <a:cs typeface="Times New Roman" panose="02020603050405020304" pitchFamily="18" charset="0"/>
                              </a:rPr>
                              <m:t>≈</m:t>
                            </m:r>
                            <m:f>
                              <m:f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i="1">
                                    <a:effectLst/>
                                    <a:latin typeface="Cambria Math" panose="02040503050406030204" pitchFamily="18" charset="0"/>
                                    <a:cs typeface="Times New Roman" panose="02020603050405020304" pitchFamily="18" charset="0"/>
                                  </a:rPr>
                                  <m:t>0.003913</m:t>
                                </m:r>
                              </m:num>
                              <m:den>
                                <m:r>
                                  <a:rPr lang="en-US" altLang="zh-CN" sz="2000" i="1">
                                    <a:effectLst/>
                                    <a:latin typeface="Cambria Math" panose="02040503050406030204" pitchFamily="18" charset="0"/>
                                    <a:cs typeface="Times New Roman" panose="02020603050405020304" pitchFamily="18" charset="0"/>
                                  </a:rPr>
                                  <m:t>𝑁</m:t>
                                </m:r>
                              </m:den>
                            </m:f>
                          </m:e>
                        </m:mr>
                      </m:m>
                    </m:oMath>
                  </m:oMathPara>
                </a14:m>
                <a:endParaRPr lang="zh-CN" altLang="zh-CN" sz="2000" dirty="0">
                  <a:effectLst/>
                  <a:latin typeface="Cambria" panose="02040503050406030204" pitchFamily="18" charset="0"/>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EAE60EED-9E03-44BA-A587-C3C28C886496}"/>
                  </a:ext>
                </a:extLst>
              </p:cNvPr>
              <p:cNvSpPr txBox="1">
                <a:spLocks noRot="1" noChangeAspect="1" noMove="1" noResize="1" noEditPoints="1" noAdjustHandles="1" noChangeArrowheads="1" noChangeShapeType="1" noTextEdit="1"/>
              </p:cNvSpPr>
              <p:nvPr/>
            </p:nvSpPr>
            <p:spPr>
              <a:xfrm>
                <a:off x="154120" y="2175855"/>
                <a:ext cx="8703224" cy="4040530"/>
              </a:xfrm>
              <a:prstGeom prst="rect">
                <a:avLst/>
              </a:prstGeom>
              <a:blipFill>
                <a:blip r:embed="rId3"/>
                <a:stretch>
                  <a:fillRect l="-700" t="-1207"/>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28045598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14.4 </a:t>
            </a:r>
            <a:endParaRPr lang="zh-CN" altLang="en-US" sz="3600" b="0" dirty="0">
              <a:latin typeface="+mn-lt"/>
              <a:ea typeface="+mn-ea"/>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112</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6" y="1052603"/>
            <a:ext cx="8812973" cy="1077218"/>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再次考虑例</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14.2</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的可靠度估计问题。 </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用</a:t>
            </a:r>
            <a:r>
              <a:rPr kumimoji="0" lang="zh-CN" altLang="en-US"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对立变量法</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改善估计方差。</a:t>
            </a:r>
            <a:endParaRPr lang="zh-CN" altLang="en-US" sz="3200" dirty="0">
              <a:solidFill>
                <a:srgbClr val="006699"/>
              </a:solidFill>
              <a:latin typeface="Verdana" panose="020B0604030504040204" pitchFamily="34" charset="0"/>
            </a:endParaRPr>
          </a:p>
        </p:txBody>
      </p:sp>
      <p:pic>
        <p:nvPicPr>
          <p:cNvPr id="3" name="图片 2">
            <a:extLst>
              <a:ext uri="{FF2B5EF4-FFF2-40B4-BE49-F238E27FC236}">
                <a16:creationId xmlns:a16="http://schemas.microsoft.com/office/drawing/2014/main" id="{A243A76E-2A4E-4EDE-A1CD-C39D02D4967E}"/>
              </a:ext>
            </a:extLst>
          </p:cNvPr>
          <p:cNvPicPr>
            <a:picLocks noChangeAspect="1"/>
          </p:cNvPicPr>
          <p:nvPr/>
        </p:nvPicPr>
        <p:blipFill>
          <a:blip r:embed="rId2"/>
          <a:stretch>
            <a:fillRect/>
          </a:stretch>
        </p:blipFill>
        <p:spPr>
          <a:xfrm>
            <a:off x="926595" y="2528900"/>
            <a:ext cx="6577328" cy="2704962"/>
          </a:xfrm>
          <a:prstGeom prst="rect">
            <a:avLst/>
          </a:prstGeom>
        </p:spPr>
      </p:pic>
    </p:spTree>
    <p:extLst>
      <p:ext uri="{BB962C8B-B14F-4D97-AF65-F5344CB8AC3E}">
        <p14:creationId xmlns:p14="http://schemas.microsoft.com/office/powerpoint/2010/main" val="30638612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14.4 </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113</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6" y="1052603"/>
            <a:ext cx="8812973" cy="584775"/>
          </a:xfrm>
          <a:prstGeom prst="rect">
            <a:avLst/>
          </a:prstGeom>
          <a:noFill/>
          <a:ln w="25400">
            <a:noFill/>
          </a:ln>
        </p:spPr>
        <p:txBody>
          <a:bodyPr wrap="square">
            <a:spAutoFit/>
          </a:bodyPr>
          <a:lstStyle/>
          <a:p>
            <a:pPr marL="457200" indent="-457200">
              <a:buFont typeface="Arial" panose="020B0604020202020204" pitchFamily="34" charset="0"/>
              <a:buChar char="•"/>
            </a:pPr>
            <a:r>
              <a:rPr lang="en-US" altLang="zh-CN" sz="3200" dirty="0">
                <a:solidFill>
                  <a:srgbClr val="006699"/>
                </a:solidFill>
                <a:latin typeface="Verdana" panose="020B0604030504040204" pitchFamily="34" charset="0"/>
              </a:rPr>
              <a:t>R</a:t>
            </a:r>
            <a:r>
              <a:rPr lang="zh-CN" altLang="en-US" sz="3200" dirty="0">
                <a:solidFill>
                  <a:srgbClr val="006699"/>
                </a:solidFill>
                <a:latin typeface="Verdana" panose="020B0604030504040204" pitchFamily="34" charset="0"/>
              </a:rPr>
              <a:t>用</a:t>
            </a:r>
            <a:r>
              <a:rPr lang="zh-CN" altLang="en-US" sz="3200" b="1" dirty="0">
                <a:solidFill>
                  <a:srgbClr val="FF0000"/>
                </a:solidFill>
                <a:latin typeface="Verdana" panose="020B0604030504040204" pitchFamily="34" charset="0"/>
              </a:rPr>
              <a:t>平均值法</a:t>
            </a:r>
            <a:r>
              <a:rPr lang="zh-CN" altLang="en-US" sz="3200" dirty="0">
                <a:solidFill>
                  <a:srgbClr val="006699"/>
                </a:solidFill>
                <a:latin typeface="Verdana" panose="020B0604030504040204" pitchFamily="34" charset="0"/>
              </a:rPr>
              <a:t>估计为</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38AFD61-CD6C-4AFF-AB13-D3988E61A492}"/>
                  </a:ext>
                </a:extLst>
              </p:cNvPr>
              <p:cNvSpPr txBox="1"/>
              <p:nvPr/>
            </p:nvSpPr>
            <p:spPr>
              <a:xfrm>
                <a:off x="1601670" y="2129821"/>
                <a:ext cx="5320939" cy="1352678"/>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800" i="1" smtClean="0">
                              <a:solidFill>
                                <a:srgbClr val="836967"/>
                              </a:solidFill>
                              <a:latin typeface="Cambria Math" panose="02040503050406030204" pitchFamily="18" charset="0"/>
                            </a:rPr>
                          </m:ctrlPr>
                        </m:sSubPr>
                        <m:e>
                          <m:acc>
                            <m:accPr>
                              <m:chr m:val="̂"/>
                              <m:ctrlPr>
                                <a:rPr lang="zh-CN" altLang="en-US" sz="2800" i="1">
                                  <a:solidFill>
                                    <a:srgbClr val="836967"/>
                                  </a:solidFill>
                                  <a:latin typeface="Cambria Math" panose="02040503050406030204" pitchFamily="18" charset="0"/>
                                </a:rPr>
                              </m:ctrlPr>
                            </m:accPr>
                            <m:e>
                              <m:r>
                                <a:rPr lang="zh-CN" altLang="en-US" sz="2800" i="1">
                                  <a:latin typeface="Cambria Math" panose="02040503050406030204" pitchFamily="18" charset="0"/>
                                </a:rPr>
                                <m:t>𝑅</m:t>
                              </m:r>
                            </m:e>
                          </m:acc>
                        </m:e>
                        <m:sub>
                          <m:r>
                            <a:rPr lang="zh-CN" altLang="en-US" sz="2800" i="0">
                              <a:latin typeface="Cambria Math" panose="02040503050406030204" pitchFamily="18" charset="0"/>
                            </a:rPr>
                            <m:t>1</m:t>
                          </m:r>
                        </m:sub>
                      </m:sSub>
                      <m:r>
                        <a:rPr lang="zh-CN" altLang="en-US" sz="2800" i="0">
                          <a:latin typeface="Cambria Math" panose="02040503050406030204" pitchFamily="18" charset="0"/>
                        </a:rPr>
                        <m:t>=</m:t>
                      </m:r>
                      <m:f>
                        <m:fPr>
                          <m:ctrlPr>
                            <a:rPr lang="zh-CN" altLang="en-US" sz="2800" i="1">
                              <a:solidFill>
                                <a:srgbClr val="836967"/>
                              </a:solidFill>
                              <a:latin typeface="Cambria Math" panose="02040503050406030204" pitchFamily="18" charset="0"/>
                            </a:rPr>
                          </m:ctrlPr>
                        </m:fPr>
                        <m:num>
                          <m:r>
                            <a:rPr lang="zh-CN" altLang="en-US" sz="2800" i="0">
                              <a:latin typeface="Cambria Math" panose="02040503050406030204" pitchFamily="18" charset="0"/>
                            </a:rPr>
                            <m:t>1</m:t>
                          </m:r>
                        </m:num>
                        <m:den>
                          <m:r>
                            <a:rPr lang="zh-CN" altLang="en-US" sz="2800" i="1">
                              <a:latin typeface="Cambria Math" panose="02040503050406030204" pitchFamily="18" charset="0"/>
                            </a:rPr>
                            <m:t>𝑁</m:t>
                          </m:r>
                        </m:den>
                      </m:f>
                      <m:nary>
                        <m:naryPr>
                          <m:chr m:val="∑"/>
                          <m:limLoc m:val="undOvr"/>
                          <m:grow m:val="on"/>
                          <m:ctrlPr>
                            <a:rPr lang="zh-CN" altLang="en-US" sz="2800" i="1">
                              <a:latin typeface="Cambria Math" panose="02040503050406030204" pitchFamily="18" charset="0"/>
                            </a:rPr>
                          </m:ctrlPr>
                        </m:naryPr>
                        <m:sub>
                          <m:r>
                            <a:rPr lang="zh-CN" altLang="en-US" sz="2800" i="1">
                              <a:latin typeface="Cambria Math" panose="02040503050406030204" pitchFamily="18" charset="0"/>
                            </a:rPr>
                            <m:t>𝑗</m:t>
                          </m:r>
                          <m:r>
                            <a:rPr lang="zh-CN" altLang="en-US" sz="2800" i="0">
                              <a:latin typeface="Cambria Math" panose="02040503050406030204" pitchFamily="18" charset="0"/>
                            </a:rPr>
                            <m:t>=1</m:t>
                          </m:r>
                        </m:sub>
                        <m:sup>
                          <m:r>
                            <a:rPr lang="zh-CN" altLang="en-US" sz="2800" i="1">
                              <a:latin typeface="Cambria Math" panose="02040503050406030204" pitchFamily="18" charset="0"/>
                            </a:rPr>
                            <m:t>𝑁</m:t>
                          </m:r>
                        </m:sup>
                        <m:e>
                          <m:r>
                            <a:rPr lang="zh-CN" altLang="en-US" sz="2800" i="1">
                              <a:latin typeface="Cambria Math" panose="02040503050406030204" pitchFamily="18" charset="0"/>
                            </a:rPr>
                            <m:t>𝜙</m:t>
                          </m:r>
                        </m:e>
                      </m:nary>
                      <m:d>
                        <m:dPr>
                          <m:sepChr m:val=","/>
                          <m:ctrlPr>
                            <a:rPr lang="zh-CN" altLang="en-US" sz="2800" i="1">
                              <a:latin typeface="Cambria Math" panose="02040503050406030204" pitchFamily="18" charset="0"/>
                            </a:rPr>
                          </m:ctrlPr>
                        </m:dPr>
                        <m:e>
                          <m:sSubSup>
                            <m:sSubSupPr>
                              <m:ctrlPr>
                                <a:rPr lang="zh-CN" altLang="en-US" sz="2800" i="1">
                                  <a:solidFill>
                                    <a:srgbClr val="836967"/>
                                  </a:solidFill>
                                  <a:latin typeface="Cambria Math" panose="02040503050406030204" pitchFamily="18" charset="0"/>
                                </a:rPr>
                              </m:ctrlPr>
                            </m:sSubSupPr>
                            <m:e>
                              <m:r>
                                <a:rPr lang="zh-CN" altLang="en-US" sz="2800" i="1">
                                  <a:latin typeface="Cambria Math" panose="02040503050406030204" pitchFamily="18" charset="0"/>
                                </a:rPr>
                                <m:t>𝑆</m:t>
                              </m:r>
                            </m:e>
                            <m:sub>
                              <m:r>
                                <a:rPr lang="zh-CN" altLang="en-US" sz="2800" i="0">
                                  <a:latin typeface="Cambria Math" panose="02040503050406030204" pitchFamily="18" charset="0"/>
                                </a:rPr>
                                <m:t>1</m:t>
                              </m:r>
                            </m:sub>
                            <m:sup>
                              <m:d>
                                <m:dPr>
                                  <m:ctrlPr>
                                    <a:rPr lang="zh-CN" altLang="en-US" sz="2800" i="1">
                                      <a:latin typeface="Cambria Math" panose="02040503050406030204" pitchFamily="18" charset="0"/>
                                    </a:rPr>
                                  </m:ctrlPr>
                                </m:dPr>
                                <m:e>
                                  <m:r>
                                    <a:rPr lang="zh-CN" altLang="en-US" sz="2800" i="1">
                                      <a:latin typeface="Cambria Math" panose="02040503050406030204" pitchFamily="18" charset="0"/>
                                    </a:rPr>
                                    <m:t>𝑗</m:t>
                                  </m:r>
                                </m:e>
                              </m:d>
                            </m:sup>
                          </m:sSubSup>
                        </m:e>
                        <m:e>
                          <m:sSubSup>
                            <m:sSubSupPr>
                              <m:ctrlPr>
                                <a:rPr lang="zh-CN" altLang="en-US" sz="2800" i="1">
                                  <a:solidFill>
                                    <a:srgbClr val="836967"/>
                                  </a:solidFill>
                                  <a:latin typeface="Cambria Math" panose="02040503050406030204" pitchFamily="18" charset="0"/>
                                </a:rPr>
                              </m:ctrlPr>
                            </m:sSubSupPr>
                            <m:e>
                              <m:r>
                                <a:rPr lang="zh-CN" altLang="en-US" sz="2800" i="1">
                                  <a:latin typeface="Cambria Math" panose="02040503050406030204" pitchFamily="18" charset="0"/>
                                </a:rPr>
                                <m:t>𝑆</m:t>
                              </m:r>
                            </m:e>
                            <m:sub>
                              <m:r>
                                <a:rPr lang="zh-CN" altLang="en-US" sz="2800" i="0">
                                  <a:latin typeface="Cambria Math" panose="02040503050406030204" pitchFamily="18" charset="0"/>
                                </a:rPr>
                                <m:t>2</m:t>
                              </m:r>
                            </m:sub>
                            <m:sup>
                              <m:d>
                                <m:dPr>
                                  <m:ctrlPr>
                                    <a:rPr lang="zh-CN" altLang="en-US" sz="2800" i="1">
                                      <a:latin typeface="Cambria Math" panose="02040503050406030204" pitchFamily="18" charset="0"/>
                                    </a:rPr>
                                  </m:ctrlPr>
                                </m:dPr>
                                <m:e>
                                  <m:r>
                                    <a:rPr lang="zh-CN" altLang="en-US" sz="2800" i="1">
                                      <a:latin typeface="Cambria Math" panose="02040503050406030204" pitchFamily="18" charset="0"/>
                                    </a:rPr>
                                    <m:t>𝑗</m:t>
                                  </m:r>
                                </m:e>
                              </m:d>
                            </m:sup>
                          </m:sSubSup>
                        </m:e>
                        <m:e>
                          <m:r>
                            <a:rPr lang="zh-CN" altLang="en-US" sz="2800" i="0">
                              <a:latin typeface="Cambria Math" panose="02040503050406030204" pitchFamily="18" charset="0"/>
                            </a:rPr>
                            <m:t>…</m:t>
                          </m:r>
                        </m:e>
                        <m:e>
                          <m:sSubSup>
                            <m:sSubSupPr>
                              <m:ctrlPr>
                                <a:rPr lang="zh-CN" altLang="en-US" sz="2800" i="1">
                                  <a:solidFill>
                                    <a:srgbClr val="836967"/>
                                  </a:solidFill>
                                  <a:latin typeface="Cambria Math" panose="02040503050406030204" pitchFamily="18" charset="0"/>
                                </a:rPr>
                              </m:ctrlPr>
                            </m:sSubSupPr>
                            <m:e>
                              <m:r>
                                <a:rPr lang="zh-CN" altLang="en-US" sz="2800" i="1">
                                  <a:latin typeface="Cambria Math" panose="02040503050406030204" pitchFamily="18" charset="0"/>
                                </a:rPr>
                                <m:t>𝑆</m:t>
                              </m:r>
                            </m:e>
                            <m:sub>
                              <m:r>
                                <a:rPr lang="zh-CN" altLang="en-US" sz="2800" i="1">
                                  <a:latin typeface="Cambria Math" panose="02040503050406030204" pitchFamily="18" charset="0"/>
                                </a:rPr>
                                <m:t>𝑛</m:t>
                              </m:r>
                            </m:sub>
                            <m:sup>
                              <m:d>
                                <m:dPr>
                                  <m:ctrlPr>
                                    <a:rPr lang="zh-CN" altLang="en-US" sz="2800" i="1">
                                      <a:latin typeface="Cambria Math" panose="02040503050406030204" pitchFamily="18" charset="0"/>
                                    </a:rPr>
                                  </m:ctrlPr>
                                </m:dPr>
                                <m:e>
                                  <m:r>
                                    <a:rPr lang="zh-CN" altLang="en-US" sz="2800" i="1">
                                      <a:latin typeface="Cambria Math" panose="02040503050406030204" pitchFamily="18" charset="0"/>
                                    </a:rPr>
                                    <m:t>𝑗</m:t>
                                  </m:r>
                                </m:e>
                              </m:d>
                            </m:sup>
                          </m:sSubSup>
                        </m:e>
                      </m:d>
                    </m:oMath>
                  </m:oMathPara>
                </a14:m>
                <a:endParaRPr lang="zh-CN" altLang="en-US" dirty="0"/>
              </a:p>
            </p:txBody>
          </p:sp>
        </mc:Choice>
        <mc:Fallback xmlns="">
          <p:sp>
            <p:nvSpPr>
              <p:cNvPr id="7" name="文本框 6">
                <a:extLst>
                  <a:ext uri="{FF2B5EF4-FFF2-40B4-BE49-F238E27FC236}">
                    <a16:creationId xmlns:a16="http://schemas.microsoft.com/office/drawing/2014/main" id="{738AFD61-CD6C-4AFF-AB13-D3988E61A492}"/>
                  </a:ext>
                </a:extLst>
              </p:cNvPr>
              <p:cNvSpPr txBox="1">
                <a:spLocks noRot="1" noChangeAspect="1" noMove="1" noResize="1" noEditPoints="1" noAdjustHandles="1" noChangeArrowheads="1" noChangeShapeType="1" noTextEdit="1"/>
              </p:cNvSpPr>
              <p:nvPr/>
            </p:nvSpPr>
            <p:spPr>
              <a:xfrm>
                <a:off x="1601670" y="2129821"/>
                <a:ext cx="5320939" cy="1352678"/>
              </a:xfrm>
              <a:prstGeom prst="rect">
                <a:avLst/>
              </a:prstGeom>
              <a:blipFill>
                <a:blip r:embed="rId2"/>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0958720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14.4 </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114</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6" y="1052603"/>
            <a:ext cx="8812973" cy="584775"/>
          </a:xfrm>
          <a:prstGeom prst="rect">
            <a:avLst/>
          </a:prstGeom>
          <a:noFill/>
          <a:ln w="25400">
            <a:noFill/>
          </a:ln>
        </p:spPr>
        <p:txBody>
          <a:bodyPr wrap="square">
            <a:spAutoFit/>
          </a:bodyPr>
          <a:lstStyle/>
          <a:p>
            <a:pPr marL="457200" indent="-457200">
              <a:buFont typeface="Arial" panose="020B0604020202020204" pitchFamily="34" charset="0"/>
              <a:buChar char="•"/>
            </a:pPr>
            <a:r>
              <a:rPr lang="en-US" altLang="zh-CN" sz="3200" dirty="0">
                <a:solidFill>
                  <a:srgbClr val="006699"/>
                </a:solidFill>
                <a:latin typeface="Verdana" panose="020B0604030504040204" pitchFamily="34" charset="0"/>
              </a:rPr>
              <a:t>R</a:t>
            </a:r>
            <a:r>
              <a:rPr lang="zh-CN" altLang="en-US" sz="3200" dirty="0">
                <a:solidFill>
                  <a:srgbClr val="006699"/>
                </a:solidFill>
                <a:latin typeface="Verdana" panose="020B0604030504040204" pitchFamily="34" charset="0"/>
              </a:rPr>
              <a:t>用</a:t>
            </a:r>
            <a:r>
              <a:rPr lang="zh-CN" altLang="en-US" sz="3200" b="1" dirty="0">
                <a:solidFill>
                  <a:srgbClr val="FF0000"/>
                </a:solidFill>
                <a:latin typeface="Verdana" panose="020B0604030504040204" pitchFamily="34" charset="0"/>
              </a:rPr>
              <a:t>对立变量法</a:t>
            </a:r>
            <a:r>
              <a:rPr lang="zh-CN" altLang="en-US" sz="3200" dirty="0">
                <a:solidFill>
                  <a:srgbClr val="006699"/>
                </a:solidFill>
                <a:latin typeface="Verdana" panose="020B0604030504040204" pitchFamily="34" charset="0"/>
              </a:rPr>
              <a:t>估计</a:t>
            </a:r>
          </a:p>
        </p:txBody>
      </p:sp>
      <p:pic>
        <p:nvPicPr>
          <p:cNvPr id="4" name="图片 3">
            <a:extLst>
              <a:ext uri="{FF2B5EF4-FFF2-40B4-BE49-F238E27FC236}">
                <a16:creationId xmlns:a16="http://schemas.microsoft.com/office/drawing/2014/main" id="{DA512EED-0CFC-493A-BE20-B30CC5659BC9}"/>
              </a:ext>
            </a:extLst>
          </p:cNvPr>
          <p:cNvPicPr>
            <a:picLocks noChangeAspect="1"/>
          </p:cNvPicPr>
          <p:nvPr/>
        </p:nvPicPr>
        <p:blipFill>
          <a:blip r:embed="rId2"/>
          <a:stretch>
            <a:fillRect/>
          </a:stretch>
        </p:blipFill>
        <p:spPr>
          <a:xfrm>
            <a:off x="617857" y="2131385"/>
            <a:ext cx="7908286" cy="3408325"/>
          </a:xfrm>
          <a:prstGeom prst="rect">
            <a:avLst/>
          </a:prstGeom>
        </p:spPr>
      </p:pic>
    </p:spTree>
    <p:extLst>
      <p:ext uri="{BB962C8B-B14F-4D97-AF65-F5344CB8AC3E}">
        <p14:creationId xmlns:p14="http://schemas.microsoft.com/office/powerpoint/2010/main" val="40512229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3.5.3 </a:t>
            </a:r>
            <a:r>
              <a:rPr lang="zh-CN" altLang="en-US" sz="3600" b="0" dirty="0">
                <a:latin typeface="+mn-lt"/>
                <a:ea typeface="+mn-ea"/>
              </a:rPr>
              <a:t>条件期望法</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115</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7" y="1052603"/>
            <a:ext cx="8703224" cy="5016758"/>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设变量</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X</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与</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Y</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不独立， </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根据</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Rao-Blackwell</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不等式</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endParaRPr lang="en-US" altLang="zh-CN" sz="3200" dirty="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又</a:t>
            </a:r>
            <a:endParaRPr lang="en-US" altLang="zh-CN" sz="3200" dirty="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对</a:t>
            </a:r>
            <a:r>
              <a:rPr lang="en-US" altLang="zh-CN" sz="3200" i="1" dirty="0">
                <a:solidFill>
                  <a:srgbClr val="006699"/>
                </a:solidFill>
                <a:latin typeface="Verdana" panose="020B0604030504040204" pitchFamily="34" charset="0"/>
              </a:rPr>
              <a:t>Z</a:t>
            </a:r>
            <a:r>
              <a:rPr lang="en-US" altLang="zh-CN" sz="3200" dirty="0">
                <a:solidFill>
                  <a:srgbClr val="006699"/>
                </a:solidFill>
                <a:latin typeface="Verdana" panose="020B0604030504040204" pitchFamily="34" charset="0"/>
              </a:rPr>
              <a:t>=E (</a:t>
            </a:r>
            <a:r>
              <a:rPr lang="en-US" altLang="zh-CN" sz="3200" i="1" dirty="0">
                <a:solidFill>
                  <a:srgbClr val="006699"/>
                </a:solidFill>
                <a:latin typeface="Verdana" panose="020B0604030504040204" pitchFamily="34" charset="0"/>
              </a:rPr>
              <a:t>Y</a:t>
            </a:r>
            <a:r>
              <a:rPr lang="en-US" altLang="zh-CN" sz="3200" dirty="0">
                <a:solidFill>
                  <a:srgbClr val="006699"/>
                </a:solidFill>
                <a:latin typeface="Verdana" panose="020B0604030504040204" pitchFamily="34" charset="0"/>
              </a:rPr>
              <a:t>|</a:t>
            </a:r>
            <a:r>
              <a:rPr lang="en-US" altLang="zh-CN" sz="3200" i="1" dirty="0">
                <a:solidFill>
                  <a:srgbClr val="006699"/>
                </a:solidFill>
                <a:latin typeface="Verdana" panose="020B0604030504040204" pitchFamily="34" charset="0"/>
              </a:rPr>
              <a:t>X</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抽样</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用</a:t>
            </a:r>
            <a:r>
              <a:rPr lang="en-US" altLang="zh-CN" sz="3200" i="1" dirty="0">
                <a:solidFill>
                  <a:srgbClr val="006699"/>
                </a:solidFill>
                <a:latin typeface="Verdana" panose="020B0604030504040204" pitchFamily="34" charset="0"/>
              </a:rPr>
              <a:t>Z</a:t>
            </a:r>
            <a:r>
              <a:rPr lang="zh-CN" altLang="en-US" sz="3200" dirty="0">
                <a:solidFill>
                  <a:srgbClr val="006699"/>
                </a:solidFill>
                <a:latin typeface="Verdana" panose="020B0604030504040204" pitchFamily="34" charset="0"/>
              </a:rPr>
              <a:t>的样本平均值来估计</a:t>
            </a:r>
            <a:r>
              <a:rPr lang="en-US" altLang="zh-CN" sz="3200" i="1" dirty="0">
                <a:solidFill>
                  <a:srgbClr val="006699"/>
                </a:solidFill>
                <a:latin typeface="Verdana" panose="020B0604030504040204" pitchFamily="34" charset="0"/>
              </a:rPr>
              <a:t>I</a:t>
            </a:r>
            <a:r>
              <a:rPr lang="en-US" altLang="zh-CN" sz="3200" dirty="0">
                <a:solidFill>
                  <a:srgbClr val="006699"/>
                </a:solidFill>
                <a:latin typeface="Verdana" panose="020B0604030504040204" pitchFamily="34" charset="0"/>
              </a:rPr>
              <a:t>=E</a:t>
            </a:r>
            <a:r>
              <a:rPr lang="en-US" altLang="zh-CN" sz="3200" i="1" dirty="0">
                <a:solidFill>
                  <a:srgbClr val="006699"/>
                </a:solidFill>
                <a:latin typeface="Verdana" panose="020B0604030504040204" pitchFamily="34" charset="0"/>
              </a:rPr>
              <a:t>Y</a:t>
            </a:r>
            <a:r>
              <a:rPr lang="zh-CN" altLang="en-US" sz="3200" dirty="0">
                <a:solidFill>
                  <a:srgbClr val="006699"/>
                </a:solidFill>
                <a:latin typeface="Verdana" panose="020B0604030504040204" pitchFamily="34" charset="0"/>
              </a:rPr>
              <a:t>比直接用</a:t>
            </a:r>
            <a:r>
              <a:rPr lang="en-US" altLang="zh-CN" sz="3200" dirty="0">
                <a:solidFill>
                  <a:srgbClr val="006699"/>
                </a:solidFill>
                <a:latin typeface="Verdana" panose="020B0604030504040204" pitchFamily="34" charset="0"/>
              </a:rPr>
              <a:t>Y</a:t>
            </a:r>
            <a:r>
              <a:rPr lang="zh-CN" altLang="en-US" sz="3200" dirty="0">
                <a:solidFill>
                  <a:srgbClr val="006699"/>
                </a:solidFill>
                <a:latin typeface="Verdana" panose="020B0604030504040204" pitchFamily="34" charset="0"/>
              </a:rPr>
              <a:t>的样本平均值的精度更高</a:t>
            </a:r>
            <a:endParaRPr lang="en-US" altLang="zh-CN" sz="3200" dirty="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条件期望法或</a:t>
            </a:r>
            <a:r>
              <a:rPr lang="en-US" altLang="zh-CN" sz="3200" dirty="0">
                <a:solidFill>
                  <a:srgbClr val="006699"/>
                </a:solidFill>
                <a:latin typeface="Verdana" panose="020B0604030504040204" pitchFamily="34" charset="0"/>
              </a:rPr>
              <a:t>Rao-Blackwell</a:t>
            </a:r>
            <a:r>
              <a:rPr lang="zh-CN" altLang="en-US" sz="3200" dirty="0">
                <a:solidFill>
                  <a:srgbClr val="006699"/>
                </a:solidFill>
                <a:latin typeface="Verdana" panose="020B0604030504040204" pitchFamily="34" charset="0"/>
              </a:rPr>
              <a:t>方法</a:t>
            </a:r>
          </a:p>
        </p:txBody>
      </p:sp>
      <p:pic>
        <p:nvPicPr>
          <p:cNvPr id="4" name="图片 3">
            <a:extLst>
              <a:ext uri="{FF2B5EF4-FFF2-40B4-BE49-F238E27FC236}">
                <a16:creationId xmlns:a16="http://schemas.microsoft.com/office/drawing/2014/main" id="{ED787F59-D1CD-48EB-8151-B24A59FBCCA6}"/>
              </a:ext>
            </a:extLst>
          </p:cNvPr>
          <p:cNvPicPr>
            <a:picLocks noChangeAspect="1"/>
          </p:cNvPicPr>
          <p:nvPr/>
        </p:nvPicPr>
        <p:blipFill>
          <a:blip r:embed="rId2"/>
          <a:stretch>
            <a:fillRect/>
          </a:stretch>
        </p:blipFill>
        <p:spPr>
          <a:xfrm>
            <a:off x="2096725" y="2199382"/>
            <a:ext cx="4068203" cy="692460"/>
          </a:xfrm>
          <a:prstGeom prst="rect">
            <a:avLst/>
          </a:prstGeom>
        </p:spPr>
      </p:pic>
      <p:pic>
        <p:nvPicPr>
          <p:cNvPr id="9" name="图片 8">
            <a:extLst>
              <a:ext uri="{FF2B5EF4-FFF2-40B4-BE49-F238E27FC236}">
                <a16:creationId xmlns:a16="http://schemas.microsoft.com/office/drawing/2014/main" id="{9263A05B-6579-48D8-9E56-B6B1A4E3DF94}"/>
              </a:ext>
            </a:extLst>
          </p:cNvPr>
          <p:cNvPicPr>
            <a:picLocks noChangeAspect="1"/>
          </p:cNvPicPr>
          <p:nvPr/>
        </p:nvPicPr>
        <p:blipFill>
          <a:blip r:embed="rId3"/>
          <a:stretch>
            <a:fillRect/>
          </a:stretch>
        </p:blipFill>
        <p:spPr>
          <a:xfrm>
            <a:off x="2321750" y="3084220"/>
            <a:ext cx="3641737" cy="689559"/>
          </a:xfrm>
          <a:prstGeom prst="rect">
            <a:avLst/>
          </a:prstGeom>
        </p:spPr>
      </p:pic>
    </p:spTree>
    <p:extLst>
      <p:ext uri="{BB962C8B-B14F-4D97-AF65-F5344CB8AC3E}">
        <p14:creationId xmlns:p14="http://schemas.microsoft.com/office/powerpoint/2010/main" val="7241821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14.5</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116</a:t>
            </a:fld>
            <a:endParaRPr lang="zh-CN" altLang="en-US">
              <a:solidFill>
                <a:srgbClr val="898989"/>
              </a:solidFill>
            </a:endParaRPr>
          </a:p>
        </p:txBody>
      </p:sp>
      <p:pic>
        <p:nvPicPr>
          <p:cNvPr id="4" name="图片 3">
            <a:extLst>
              <a:ext uri="{FF2B5EF4-FFF2-40B4-BE49-F238E27FC236}">
                <a16:creationId xmlns:a16="http://schemas.microsoft.com/office/drawing/2014/main" id="{95B7B528-0E5B-4C1C-84A8-0D3ED2A8DCF5}"/>
              </a:ext>
            </a:extLst>
          </p:cNvPr>
          <p:cNvPicPr>
            <a:picLocks noChangeAspect="1"/>
          </p:cNvPicPr>
          <p:nvPr/>
        </p:nvPicPr>
        <p:blipFill>
          <a:blip r:embed="rId2"/>
          <a:stretch>
            <a:fillRect/>
          </a:stretch>
        </p:blipFill>
        <p:spPr>
          <a:xfrm>
            <a:off x="341530" y="1043735"/>
            <a:ext cx="5832280" cy="2127408"/>
          </a:xfrm>
          <a:prstGeom prst="rect">
            <a:avLst/>
          </a:prstGeom>
        </p:spPr>
      </p:pic>
    </p:spTree>
    <p:extLst>
      <p:ext uri="{BB962C8B-B14F-4D97-AF65-F5344CB8AC3E}">
        <p14:creationId xmlns:p14="http://schemas.microsoft.com/office/powerpoint/2010/main" val="11382083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14.5 </a:t>
            </a:r>
            <a:r>
              <a:rPr lang="zh-CN" altLang="en-US" sz="3600" b="0" dirty="0">
                <a:latin typeface="+mn-lt"/>
                <a:ea typeface="+mn-ea"/>
              </a:rPr>
              <a:t>法</a:t>
            </a:r>
            <a:r>
              <a:rPr lang="en-US" altLang="zh-CN" sz="3600" b="0" dirty="0">
                <a:latin typeface="+mn-lt"/>
                <a:ea typeface="+mn-ea"/>
              </a:rPr>
              <a:t>1</a:t>
            </a:r>
            <a:r>
              <a:rPr lang="zh-CN" altLang="en-US" sz="3600" b="0" dirty="0">
                <a:latin typeface="+mn-lt"/>
                <a:ea typeface="+mn-ea"/>
              </a:rPr>
              <a:t>：平均值法</a:t>
            </a:r>
            <a:endParaRPr lang="en-US" altLang="zh-CN" sz="3600" b="0" dirty="0">
              <a:latin typeface="+mn-lt"/>
              <a:ea typeface="+mn-ea"/>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117</a:t>
            </a:fld>
            <a:endParaRPr lang="zh-CN" altLang="en-US">
              <a:solidFill>
                <a:srgbClr val="898989"/>
              </a:solidFill>
            </a:endParaRPr>
          </a:p>
        </p:txBody>
      </p:sp>
      <p:pic>
        <p:nvPicPr>
          <p:cNvPr id="3" name="图片 2">
            <a:extLst>
              <a:ext uri="{FF2B5EF4-FFF2-40B4-BE49-F238E27FC236}">
                <a16:creationId xmlns:a16="http://schemas.microsoft.com/office/drawing/2014/main" id="{60A64555-E3E9-420B-8154-DD5C29B26D3E}"/>
              </a:ext>
            </a:extLst>
          </p:cNvPr>
          <p:cNvPicPr>
            <a:picLocks noChangeAspect="1"/>
          </p:cNvPicPr>
          <p:nvPr/>
        </p:nvPicPr>
        <p:blipFill>
          <a:blip r:embed="rId2"/>
          <a:stretch>
            <a:fillRect/>
          </a:stretch>
        </p:blipFill>
        <p:spPr>
          <a:xfrm>
            <a:off x="1314611" y="965030"/>
            <a:ext cx="6899114" cy="4927939"/>
          </a:xfrm>
          <a:prstGeom prst="rect">
            <a:avLst/>
          </a:prstGeom>
        </p:spPr>
      </p:pic>
    </p:spTree>
    <p:extLst>
      <p:ext uri="{BB962C8B-B14F-4D97-AF65-F5344CB8AC3E}">
        <p14:creationId xmlns:p14="http://schemas.microsoft.com/office/powerpoint/2010/main" val="184424828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14.5 </a:t>
            </a:r>
            <a:r>
              <a:rPr lang="zh-CN" altLang="en-US" sz="3600" b="0" dirty="0">
                <a:latin typeface="+mn-lt"/>
                <a:ea typeface="+mn-ea"/>
              </a:rPr>
              <a:t>法</a:t>
            </a:r>
            <a:r>
              <a:rPr lang="en-US" altLang="zh-CN" sz="3600" b="0" dirty="0">
                <a:latin typeface="+mn-lt"/>
                <a:ea typeface="+mn-ea"/>
              </a:rPr>
              <a:t>2</a:t>
            </a:r>
            <a:r>
              <a:rPr lang="zh-CN" altLang="en-US" sz="3600" b="0" dirty="0">
                <a:latin typeface="+mn-lt"/>
                <a:ea typeface="+mn-ea"/>
              </a:rPr>
              <a:t>：条件期望法</a:t>
            </a:r>
            <a:endParaRPr lang="en-US" altLang="zh-CN" sz="3600" b="0" dirty="0">
              <a:latin typeface="+mn-lt"/>
              <a:ea typeface="+mn-ea"/>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118</a:t>
            </a:fld>
            <a:endParaRPr lang="zh-CN" altLang="en-US">
              <a:solidFill>
                <a:srgbClr val="898989"/>
              </a:solidFill>
            </a:endParaRPr>
          </a:p>
        </p:txBody>
      </p:sp>
      <p:pic>
        <p:nvPicPr>
          <p:cNvPr id="3" name="图片 2">
            <a:extLst>
              <a:ext uri="{FF2B5EF4-FFF2-40B4-BE49-F238E27FC236}">
                <a16:creationId xmlns:a16="http://schemas.microsoft.com/office/drawing/2014/main" id="{652CD80B-A4BE-4510-BD55-B202AF217823}"/>
              </a:ext>
            </a:extLst>
          </p:cNvPr>
          <p:cNvPicPr>
            <a:picLocks noChangeAspect="1"/>
          </p:cNvPicPr>
          <p:nvPr/>
        </p:nvPicPr>
        <p:blipFill>
          <a:blip r:embed="rId2"/>
          <a:stretch>
            <a:fillRect/>
          </a:stretch>
        </p:blipFill>
        <p:spPr>
          <a:xfrm>
            <a:off x="566555" y="1718810"/>
            <a:ext cx="7129503" cy="3062104"/>
          </a:xfrm>
          <a:prstGeom prst="rect">
            <a:avLst/>
          </a:prstGeom>
        </p:spPr>
      </p:pic>
    </p:spTree>
    <p:extLst>
      <p:ext uri="{BB962C8B-B14F-4D97-AF65-F5344CB8AC3E}">
        <p14:creationId xmlns:p14="http://schemas.microsoft.com/office/powerpoint/2010/main" val="383403914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14.6 </a:t>
            </a:r>
            <a:r>
              <a:rPr lang="zh-CN" altLang="en-US" sz="3600" b="0" dirty="0">
                <a:latin typeface="+mn-lt"/>
                <a:ea typeface="+mn-ea"/>
              </a:rPr>
              <a:t>法</a:t>
            </a:r>
            <a:r>
              <a:rPr lang="en-US" altLang="zh-CN" sz="3600" b="0" dirty="0">
                <a:latin typeface="+mn-lt"/>
                <a:ea typeface="+mn-ea"/>
              </a:rPr>
              <a:t>1</a:t>
            </a:r>
            <a:r>
              <a:rPr lang="zh-CN" altLang="en-US" sz="3600" b="0" dirty="0">
                <a:latin typeface="+mn-lt"/>
                <a:ea typeface="+mn-ea"/>
              </a:rPr>
              <a:t>：随机投点法</a:t>
            </a:r>
            <a:r>
              <a:rPr lang="en-US" altLang="zh-CN" sz="3600" b="0" dirty="0">
                <a:latin typeface="+mn-lt"/>
                <a:ea typeface="+mn-ea"/>
              </a:rPr>
              <a:t> </a:t>
            </a:r>
            <a:endParaRPr lang="zh-CN" altLang="en-US" sz="3600" b="0" dirty="0">
              <a:latin typeface="+mn-lt"/>
              <a:ea typeface="+mn-ea"/>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119</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7" y="1052603"/>
            <a:ext cx="8703224"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考虑例</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10.1</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中用随机模拟方法估计</a:t>
            </a:r>
            <a:r>
              <a:rPr kumimoji="0" lang="el-GR" altLang="zh-CN" sz="3200" b="0" i="0" u="none" strike="noStrike" kern="1200" cap="none" spc="0" normalizeH="0" baseline="0" noProof="0" dirty="0">
                <a:ln>
                  <a:noFill/>
                </a:ln>
                <a:solidFill>
                  <a:srgbClr val="006699"/>
                </a:solidFill>
                <a:effectLst/>
                <a:uLnTx/>
                <a:uFillTx/>
                <a:latin typeface="Times New Roman" panose="02020603050405020304" pitchFamily="18" charset="0"/>
                <a:cs typeface="Times New Roman" panose="02020603050405020304" pitchFamily="18" charset="0"/>
              </a:rPr>
              <a:t>π</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的改进问题</a:t>
            </a:r>
            <a:endParaRPr lang="en-US" altLang="zh-CN" sz="3200" dirty="0">
              <a:solidFill>
                <a:srgbClr val="006699"/>
              </a:solidFill>
              <a:latin typeface="Verdana" panose="020B0604030504040204" pitchFamily="34" charset="0"/>
            </a:endParaRPr>
          </a:p>
        </p:txBody>
      </p:sp>
      <p:pic>
        <p:nvPicPr>
          <p:cNvPr id="3" name="图片 2">
            <a:extLst>
              <a:ext uri="{FF2B5EF4-FFF2-40B4-BE49-F238E27FC236}">
                <a16:creationId xmlns:a16="http://schemas.microsoft.com/office/drawing/2014/main" id="{3DDAB205-97B1-4D2B-B544-4FC2B4A4508D}"/>
              </a:ext>
            </a:extLst>
          </p:cNvPr>
          <p:cNvPicPr>
            <a:picLocks noChangeAspect="1"/>
          </p:cNvPicPr>
          <p:nvPr/>
        </p:nvPicPr>
        <p:blipFill>
          <a:blip r:embed="rId2"/>
          <a:stretch>
            <a:fillRect/>
          </a:stretch>
        </p:blipFill>
        <p:spPr>
          <a:xfrm>
            <a:off x="611560" y="1637378"/>
            <a:ext cx="5715634" cy="4489988"/>
          </a:xfrm>
          <a:prstGeom prst="rect">
            <a:avLst/>
          </a:prstGeom>
        </p:spPr>
      </p:pic>
    </p:spTree>
    <p:extLst>
      <p:ext uri="{BB962C8B-B14F-4D97-AF65-F5344CB8AC3E}">
        <p14:creationId xmlns:p14="http://schemas.microsoft.com/office/powerpoint/2010/main" val="27033737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14.6 </a:t>
            </a:r>
            <a:r>
              <a:rPr lang="zh-CN" altLang="en-US" sz="3600" b="0" dirty="0">
                <a:latin typeface="+mn-lt"/>
                <a:ea typeface="+mn-ea"/>
              </a:rPr>
              <a:t>法</a:t>
            </a:r>
            <a:r>
              <a:rPr lang="en-US" altLang="zh-CN" sz="3600" b="0" dirty="0">
                <a:latin typeface="+mn-lt"/>
                <a:ea typeface="+mn-ea"/>
              </a:rPr>
              <a:t>2</a:t>
            </a:r>
            <a:r>
              <a:rPr lang="zh-CN" altLang="en-US" sz="3600" b="0" dirty="0">
                <a:latin typeface="+mn-lt"/>
                <a:ea typeface="+mn-ea"/>
              </a:rPr>
              <a:t>：</a:t>
            </a:r>
            <a:r>
              <a:rPr lang="en-US" altLang="zh-CN" sz="3600" b="0" dirty="0">
                <a:latin typeface="+mn-lt"/>
                <a:ea typeface="+mn-ea"/>
              </a:rPr>
              <a:t> </a:t>
            </a:r>
            <a:r>
              <a:rPr lang="zh-CN" altLang="en-US" sz="3600" b="0" dirty="0">
                <a:latin typeface="+mn-lt"/>
                <a:ea typeface="+mn-ea"/>
              </a:rPr>
              <a:t>条件期望法</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120</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7" y="1052603"/>
            <a:ext cx="8703224"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考虑例</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10.1</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中用随机模拟方法估计</a:t>
            </a:r>
            <a:r>
              <a:rPr kumimoji="0" lang="el-GR" altLang="zh-CN" sz="3200" b="0" i="0" u="none" strike="noStrike" kern="1200" cap="none" spc="0" normalizeH="0" baseline="0" noProof="0" dirty="0">
                <a:ln>
                  <a:noFill/>
                </a:ln>
                <a:solidFill>
                  <a:srgbClr val="006699"/>
                </a:solidFill>
                <a:effectLst/>
                <a:uLnTx/>
                <a:uFillTx/>
                <a:latin typeface="Times New Roman" panose="02020603050405020304" pitchFamily="18" charset="0"/>
                <a:cs typeface="Times New Roman" panose="02020603050405020304" pitchFamily="18" charset="0"/>
              </a:rPr>
              <a:t>π</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的改进问题</a:t>
            </a:r>
            <a:endParaRPr lang="en-US" altLang="zh-CN" sz="3200" dirty="0">
              <a:solidFill>
                <a:srgbClr val="006699"/>
              </a:solidFill>
              <a:latin typeface="Verdana" panose="020B0604030504040204" pitchFamily="34" charset="0"/>
            </a:endParaRPr>
          </a:p>
        </p:txBody>
      </p:sp>
      <p:pic>
        <p:nvPicPr>
          <p:cNvPr id="4" name="图片 3">
            <a:extLst>
              <a:ext uri="{FF2B5EF4-FFF2-40B4-BE49-F238E27FC236}">
                <a16:creationId xmlns:a16="http://schemas.microsoft.com/office/drawing/2014/main" id="{8963542B-2E71-47D9-B05F-64814CBDF5CE}"/>
              </a:ext>
            </a:extLst>
          </p:cNvPr>
          <p:cNvPicPr>
            <a:picLocks noChangeAspect="1"/>
          </p:cNvPicPr>
          <p:nvPr/>
        </p:nvPicPr>
        <p:blipFill>
          <a:blip r:embed="rId2"/>
          <a:stretch>
            <a:fillRect/>
          </a:stretch>
        </p:blipFill>
        <p:spPr>
          <a:xfrm>
            <a:off x="164879" y="1718810"/>
            <a:ext cx="8243293" cy="4230469"/>
          </a:xfrm>
          <a:prstGeom prst="rect">
            <a:avLst/>
          </a:prstGeom>
        </p:spPr>
      </p:pic>
    </p:spTree>
    <p:extLst>
      <p:ext uri="{BB962C8B-B14F-4D97-AF65-F5344CB8AC3E}">
        <p14:creationId xmlns:p14="http://schemas.microsoft.com/office/powerpoint/2010/main" val="5131109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14.6 </a:t>
            </a:r>
            <a:endParaRPr lang="zh-CN" altLang="en-US" sz="3600" b="0" dirty="0">
              <a:latin typeface="+mn-lt"/>
              <a:ea typeface="+mn-ea"/>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121</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7" y="1052603"/>
            <a:ext cx="8703224"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考虑例</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10.1</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中用随机模拟方法估计</a:t>
            </a:r>
            <a:r>
              <a:rPr kumimoji="0" lang="el-GR" altLang="zh-CN" sz="3200" b="0" i="0" u="none" strike="noStrike" kern="1200" cap="none" spc="0" normalizeH="0" baseline="0" noProof="0" dirty="0">
                <a:ln>
                  <a:noFill/>
                </a:ln>
                <a:solidFill>
                  <a:srgbClr val="006699"/>
                </a:solidFill>
                <a:effectLst/>
                <a:uLnTx/>
                <a:uFillTx/>
                <a:latin typeface="Times New Roman" panose="02020603050405020304" pitchFamily="18" charset="0"/>
                <a:cs typeface="Times New Roman" panose="02020603050405020304" pitchFamily="18" charset="0"/>
              </a:rPr>
              <a:t>π</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的改进问题</a:t>
            </a:r>
            <a:endParaRPr lang="en-US" altLang="zh-CN" sz="3200" dirty="0">
              <a:solidFill>
                <a:srgbClr val="006699"/>
              </a:solidFill>
              <a:latin typeface="Verdana" panose="020B0604030504040204" pitchFamily="34" charset="0"/>
            </a:endParaRPr>
          </a:p>
        </p:txBody>
      </p:sp>
      <p:pic>
        <p:nvPicPr>
          <p:cNvPr id="2" name="图片 1">
            <a:extLst>
              <a:ext uri="{FF2B5EF4-FFF2-40B4-BE49-F238E27FC236}">
                <a16:creationId xmlns:a16="http://schemas.microsoft.com/office/drawing/2014/main" id="{1FF78E04-AFF1-96F3-8042-AFDE41AA0133}"/>
              </a:ext>
            </a:extLst>
          </p:cNvPr>
          <p:cNvPicPr>
            <a:picLocks noChangeAspect="1"/>
          </p:cNvPicPr>
          <p:nvPr/>
        </p:nvPicPr>
        <p:blipFill>
          <a:blip r:embed="rId2"/>
          <a:stretch>
            <a:fillRect/>
          </a:stretch>
        </p:blipFill>
        <p:spPr>
          <a:xfrm>
            <a:off x="99247" y="1763815"/>
            <a:ext cx="8974090" cy="4261473"/>
          </a:xfrm>
          <a:prstGeom prst="rect">
            <a:avLst/>
          </a:prstGeom>
        </p:spPr>
      </p:pic>
    </p:spTree>
    <p:extLst>
      <p:ext uri="{BB962C8B-B14F-4D97-AF65-F5344CB8AC3E}">
        <p14:creationId xmlns:p14="http://schemas.microsoft.com/office/powerpoint/2010/main" val="14049853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14.6 </a:t>
            </a:r>
            <a:r>
              <a:rPr lang="zh-CN" altLang="en-US" sz="3600" b="0" dirty="0">
                <a:latin typeface="+mn-lt"/>
                <a:ea typeface="+mn-ea"/>
              </a:rPr>
              <a:t>法</a:t>
            </a:r>
            <a:r>
              <a:rPr lang="en-US" altLang="zh-CN" sz="3600" b="0" dirty="0">
                <a:latin typeface="+mn-lt"/>
                <a:ea typeface="+mn-ea"/>
              </a:rPr>
              <a:t>3</a:t>
            </a:r>
            <a:r>
              <a:rPr lang="zh-CN" altLang="en-US" sz="3600" b="0" dirty="0">
                <a:latin typeface="+mn-lt"/>
                <a:ea typeface="+mn-ea"/>
              </a:rPr>
              <a:t>：对立变量法</a:t>
            </a:r>
            <a:r>
              <a:rPr lang="en-US" altLang="zh-CN" sz="3600" b="0" dirty="0">
                <a:latin typeface="+mn-lt"/>
                <a:ea typeface="+mn-ea"/>
              </a:rPr>
              <a:t> </a:t>
            </a:r>
            <a:endParaRPr lang="zh-CN" altLang="en-US" sz="3600" b="0" dirty="0">
              <a:latin typeface="+mn-lt"/>
              <a:ea typeface="+mn-ea"/>
            </a:endParaRP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122</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7" y="1052603"/>
            <a:ext cx="8703224"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考虑例</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10.1</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中用随机模拟方法估计</a:t>
            </a:r>
            <a:r>
              <a:rPr kumimoji="0" lang="el-GR" altLang="zh-CN" sz="3200" b="0" i="0" u="none" strike="noStrike" kern="1200" cap="none" spc="0" normalizeH="0" baseline="0" noProof="0" dirty="0">
                <a:ln>
                  <a:noFill/>
                </a:ln>
                <a:solidFill>
                  <a:srgbClr val="006699"/>
                </a:solidFill>
                <a:effectLst/>
                <a:uLnTx/>
                <a:uFillTx/>
                <a:latin typeface="Times New Roman" panose="02020603050405020304" pitchFamily="18" charset="0"/>
                <a:cs typeface="Times New Roman" panose="02020603050405020304" pitchFamily="18" charset="0"/>
              </a:rPr>
              <a:t>π</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的改进问题</a:t>
            </a:r>
            <a:endParaRPr lang="en-US" altLang="zh-CN" sz="3200" dirty="0">
              <a:solidFill>
                <a:srgbClr val="006699"/>
              </a:solidFill>
              <a:latin typeface="Verdana" panose="020B0604030504040204" pitchFamily="34" charset="0"/>
            </a:endParaRPr>
          </a:p>
        </p:txBody>
      </p:sp>
      <p:pic>
        <p:nvPicPr>
          <p:cNvPr id="2" name="图片 1">
            <a:extLst>
              <a:ext uri="{FF2B5EF4-FFF2-40B4-BE49-F238E27FC236}">
                <a16:creationId xmlns:a16="http://schemas.microsoft.com/office/drawing/2014/main" id="{FE516706-D0E4-C128-95D8-621EE368F3B5}"/>
              </a:ext>
            </a:extLst>
          </p:cNvPr>
          <p:cNvPicPr>
            <a:picLocks noChangeAspect="1"/>
          </p:cNvPicPr>
          <p:nvPr/>
        </p:nvPicPr>
        <p:blipFill>
          <a:blip r:embed="rId2"/>
          <a:stretch>
            <a:fillRect/>
          </a:stretch>
        </p:blipFill>
        <p:spPr>
          <a:xfrm>
            <a:off x="10571" y="1718810"/>
            <a:ext cx="8980186" cy="4407790"/>
          </a:xfrm>
          <a:prstGeom prst="rect">
            <a:avLst/>
          </a:prstGeom>
        </p:spPr>
      </p:pic>
    </p:spTree>
    <p:extLst>
      <p:ext uri="{BB962C8B-B14F-4D97-AF65-F5344CB8AC3E}">
        <p14:creationId xmlns:p14="http://schemas.microsoft.com/office/powerpoint/2010/main" val="33302345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zh-CN" altLang="en-US" sz="3600" b="0" dirty="0">
                <a:latin typeface="+mn-lt"/>
                <a:ea typeface="+mn-ea"/>
              </a:rPr>
              <a:t>例</a:t>
            </a:r>
            <a:r>
              <a:rPr lang="en-US" altLang="zh-CN" sz="3600" b="0" dirty="0">
                <a:latin typeface="+mn-lt"/>
                <a:ea typeface="+mn-ea"/>
              </a:rPr>
              <a:t>14.6 </a:t>
            </a:r>
            <a:r>
              <a:rPr lang="zh-CN" altLang="en-US" sz="3600" b="0" dirty="0">
                <a:latin typeface="+mn-lt"/>
                <a:ea typeface="+mn-ea"/>
              </a:rPr>
              <a:t>法</a:t>
            </a:r>
            <a:r>
              <a:rPr lang="en-US" altLang="zh-CN" sz="3600" b="0" dirty="0">
                <a:latin typeface="+mn-lt"/>
                <a:ea typeface="+mn-ea"/>
              </a:rPr>
              <a:t>4</a:t>
            </a:r>
            <a:r>
              <a:rPr lang="zh-CN" altLang="en-US" sz="3600" b="0" dirty="0">
                <a:latin typeface="+mn-lt"/>
                <a:ea typeface="+mn-ea"/>
              </a:rPr>
              <a:t>：</a:t>
            </a:r>
            <a:r>
              <a:rPr lang="en-US" altLang="zh-CN" sz="3600" b="0" dirty="0">
                <a:latin typeface="+mn-lt"/>
                <a:ea typeface="+mn-ea"/>
              </a:rPr>
              <a:t> </a:t>
            </a:r>
            <a:r>
              <a:rPr lang="zh-CN" altLang="en-US" sz="3600" b="0" dirty="0">
                <a:latin typeface="+mn-lt"/>
                <a:ea typeface="+mn-ea"/>
              </a:rPr>
              <a:t>控制变量法</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123</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7" y="1052603"/>
            <a:ext cx="8703224"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考虑例</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10.1</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中用随机模拟方法估计</a:t>
            </a:r>
            <a:r>
              <a:rPr kumimoji="0" lang="el-GR" altLang="zh-CN" sz="3200" b="0" i="0" u="none" strike="noStrike" kern="1200" cap="none" spc="0" normalizeH="0" baseline="0" noProof="0" dirty="0">
                <a:ln>
                  <a:noFill/>
                </a:ln>
                <a:solidFill>
                  <a:srgbClr val="006699"/>
                </a:solidFill>
                <a:effectLst/>
                <a:uLnTx/>
                <a:uFillTx/>
                <a:latin typeface="Times New Roman" panose="02020603050405020304" pitchFamily="18" charset="0"/>
                <a:cs typeface="Times New Roman" panose="02020603050405020304" pitchFamily="18" charset="0"/>
              </a:rPr>
              <a:t>π</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的改进问题</a:t>
            </a:r>
            <a:endParaRPr lang="en-US" altLang="zh-CN" sz="3200" dirty="0">
              <a:solidFill>
                <a:srgbClr val="006699"/>
              </a:solidFill>
              <a:latin typeface="Verdana" panose="020B0604030504040204" pitchFamily="34" charset="0"/>
            </a:endParaRPr>
          </a:p>
        </p:txBody>
      </p:sp>
      <p:pic>
        <p:nvPicPr>
          <p:cNvPr id="2" name="图片 1">
            <a:extLst>
              <a:ext uri="{FF2B5EF4-FFF2-40B4-BE49-F238E27FC236}">
                <a16:creationId xmlns:a16="http://schemas.microsoft.com/office/drawing/2014/main" id="{BA20134C-B7CE-D1A9-7A0F-4D5C1D034495}"/>
              </a:ext>
            </a:extLst>
          </p:cNvPr>
          <p:cNvPicPr>
            <a:picLocks noChangeAspect="1"/>
          </p:cNvPicPr>
          <p:nvPr/>
        </p:nvPicPr>
        <p:blipFill>
          <a:blip r:embed="rId2"/>
          <a:stretch>
            <a:fillRect/>
          </a:stretch>
        </p:blipFill>
        <p:spPr>
          <a:xfrm>
            <a:off x="261754" y="2160922"/>
            <a:ext cx="8620491" cy="2536156"/>
          </a:xfrm>
          <a:prstGeom prst="rect">
            <a:avLst/>
          </a:prstGeom>
        </p:spPr>
      </p:pic>
    </p:spTree>
    <p:extLst>
      <p:ext uri="{BB962C8B-B14F-4D97-AF65-F5344CB8AC3E}">
        <p14:creationId xmlns:p14="http://schemas.microsoft.com/office/powerpoint/2010/main" val="15558945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3.5.4 </a:t>
            </a:r>
            <a:r>
              <a:rPr lang="zh-CN" altLang="en-US" sz="3600" b="0" dirty="0">
                <a:latin typeface="+mn-lt"/>
                <a:ea typeface="+mn-ea"/>
              </a:rPr>
              <a:t>随机数复用</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124</a:t>
            </a:fld>
            <a:endParaRPr lang="zh-CN" altLang="en-US">
              <a:solidFill>
                <a:srgbClr val="898989"/>
              </a:solidFill>
            </a:endParaRPr>
          </a:p>
        </p:txBody>
      </p:sp>
      <p:sp>
        <p:nvSpPr>
          <p:cNvPr id="12" name="文本框 11">
            <a:extLst>
              <a:ext uri="{FF2B5EF4-FFF2-40B4-BE49-F238E27FC236}">
                <a16:creationId xmlns:a16="http://schemas.microsoft.com/office/drawing/2014/main" id="{E3BBC6F3-738E-4334-AE67-9A41271320FF}"/>
              </a:ext>
            </a:extLst>
          </p:cNvPr>
          <p:cNvSpPr txBox="1"/>
          <p:nvPr/>
        </p:nvSpPr>
        <p:spPr>
          <a:xfrm>
            <a:off x="0" y="1043735"/>
            <a:ext cx="8969920" cy="4524315"/>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公共随机数法</a:t>
            </a:r>
            <a:endParaRPr kumimoji="0" lang="en-US" altLang="zh-CN"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Common Random Number)</a:t>
            </a:r>
          </a:p>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亦称“相关采样”、“匹配流”</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方差缩减技术之一</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在模拟过程中针对不同的系统或配置</a:t>
            </a:r>
            <a:r>
              <a:rPr kumimoji="0" lang="zh-CN" altLang="en-US" sz="3200" b="1"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采用完全同样的随机数序列</a:t>
            </a:r>
            <a:endParaRPr kumimoji="0" lang="en-US" altLang="zh-CN" sz="3200" b="1"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由于随机数序列完全相同，不同系统的运行结果之间存在正相关性，从而缩小了对两个系统差异的</a:t>
            </a:r>
            <a:r>
              <a:rPr kumimoji="0" lang="zh-CN" altLang="en-US" sz="3200" b="1"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估计方差</a:t>
            </a:r>
            <a:endParaRPr lang="zh-CN" altLang="en-US" b="1" dirty="0"/>
          </a:p>
        </p:txBody>
      </p:sp>
    </p:spTree>
    <p:extLst>
      <p:ext uri="{BB962C8B-B14F-4D97-AF65-F5344CB8AC3E}">
        <p14:creationId xmlns:p14="http://schemas.microsoft.com/office/powerpoint/2010/main" val="41039516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3.5.4 </a:t>
            </a:r>
            <a:r>
              <a:rPr lang="zh-CN" altLang="en-US" sz="3600" b="0" dirty="0">
                <a:latin typeface="+mn-lt"/>
                <a:ea typeface="+mn-ea"/>
              </a:rPr>
              <a:t>随机数复用</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125</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6" y="1052603"/>
            <a:ext cx="8892354" cy="5016758"/>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例：</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假设有</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n</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件工作可由两台相同机器中的任一个进行处理。</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有</a:t>
            </a:r>
            <a:r>
              <a:rPr lang="zh-CN" altLang="en-US" sz="3200" dirty="0">
                <a:solidFill>
                  <a:srgbClr val="006699"/>
                </a:solidFill>
                <a:latin typeface="Verdana" panose="020B0604030504040204" pitchFamily="34" charset="0"/>
              </a:rPr>
              <a:t>两种不同工作安排顺序的策略：</a:t>
            </a:r>
            <a:endParaRPr lang="en-US" altLang="zh-CN" sz="3200" dirty="0">
              <a:solidFill>
                <a:srgbClr val="006699"/>
              </a:solidFill>
              <a:latin typeface="Verdana" panose="020B0604030504040204" pitchFamily="34" charset="0"/>
            </a:endParaRPr>
          </a:p>
          <a:p>
            <a:r>
              <a:rPr lang="en-US" altLang="zh-CN" sz="3200" dirty="0">
                <a:solidFill>
                  <a:srgbClr val="006699"/>
                </a:solidFill>
                <a:latin typeface="Verdana" panose="020B0604030504040204" pitchFamily="34" charset="0"/>
              </a:rPr>
              <a:t>     1</a:t>
            </a:r>
            <a:r>
              <a:rPr lang="zh-CN" altLang="en-US" sz="3200" dirty="0">
                <a:solidFill>
                  <a:srgbClr val="006699"/>
                </a:solidFill>
                <a:latin typeface="Verdana" panose="020B0604030504040204" pitchFamily="34" charset="0"/>
              </a:rPr>
              <a:t>，长工期工作优先策略</a:t>
            </a:r>
            <a:endParaRPr lang="en-US" altLang="zh-CN" sz="3200" dirty="0">
              <a:solidFill>
                <a:srgbClr val="006699"/>
              </a:solidFill>
              <a:latin typeface="Verdana" panose="020B0604030504040204" pitchFamily="34" charset="0"/>
            </a:endParaRPr>
          </a:p>
          <a:p>
            <a:r>
              <a:rPr lang="en-US" altLang="zh-CN" sz="3200" dirty="0">
                <a:solidFill>
                  <a:srgbClr val="006699"/>
                </a:solidFill>
                <a:latin typeface="Verdana" panose="020B0604030504040204" pitchFamily="34" charset="0"/>
              </a:rPr>
              <a:t>     2</a:t>
            </a:r>
            <a:r>
              <a:rPr lang="zh-CN" altLang="en-US" sz="3200" dirty="0">
                <a:solidFill>
                  <a:srgbClr val="006699"/>
                </a:solidFill>
                <a:latin typeface="Verdana" panose="020B0604030504040204" pitchFamily="34" charset="0"/>
              </a:rPr>
              <a:t>，短工期工作优先策略</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比较两种策略处理完所有工作所需的时间</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endParaRPr lang="en-US" altLang="zh-CN" sz="3200" dirty="0">
              <a:solidFill>
                <a:srgbClr val="006699"/>
              </a:solidFill>
              <a:latin typeface="Verdana" panose="020B0604030504040204" pitchFamily="34" charset="0"/>
            </a:endParaRPr>
          </a:p>
          <a:p>
            <a:r>
              <a:rPr lang="zh-CN" altLang="en-US" sz="3200" b="1" dirty="0">
                <a:solidFill>
                  <a:srgbClr val="FF0000"/>
                </a:solidFill>
                <a:latin typeface="Verdana" panose="020B0604030504040204" pitchFamily="34" charset="0"/>
              </a:rPr>
              <a:t>解：</a:t>
            </a:r>
            <a:endParaRPr lang="en-US" altLang="zh-CN" sz="3200" b="1" dirty="0">
              <a:solidFill>
                <a:srgbClr val="FF0000"/>
              </a:solidFill>
              <a:latin typeface="Verdana" panose="020B0604030504040204" pitchFamily="34" charset="0"/>
            </a:endParaRPr>
          </a:p>
          <a:p>
            <a:r>
              <a:rPr lang="zh-CN" altLang="en-US" sz="3200" dirty="0">
                <a:solidFill>
                  <a:srgbClr val="006699"/>
                </a:solidFill>
                <a:latin typeface="Verdana" panose="020B0604030504040204" pitchFamily="34" charset="0"/>
              </a:rPr>
              <a:t>通过</a:t>
            </a:r>
            <a:r>
              <a:rPr lang="zh-CN" altLang="en-US" sz="3200" dirty="0">
                <a:solidFill>
                  <a:srgbClr val="FF0000"/>
                </a:solidFill>
                <a:latin typeface="Verdana" panose="020B0604030504040204" pitchFamily="34" charset="0"/>
              </a:rPr>
              <a:t>随机模拟</a:t>
            </a:r>
            <a:r>
              <a:rPr lang="zh-CN" altLang="en-US" sz="3200" dirty="0">
                <a:solidFill>
                  <a:srgbClr val="006699"/>
                </a:solidFill>
                <a:latin typeface="Verdana" panose="020B0604030504040204" pitchFamily="34" charset="0"/>
              </a:rPr>
              <a:t>比较在这两种不同策略下</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完工时间期望的差异</a:t>
            </a:r>
          </a:p>
        </p:txBody>
      </p:sp>
    </p:spTree>
    <p:extLst>
      <p:ext uri="{BB962C8B-B14F-4D97-AF65-F5344CB8AC3E}">
        <p14:creationId xmlns:p14="http://schemas.microsoft.com/office/powerpoint/2010/main" val="93652933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3.5.4 </a:t>
            </a:r>
            <a:r>
              <a:rPr lang="zh-CN" altLang="en-US" sz="3600" b="0" dirty="0">
                <a:latin typeface="+mn-lt"/>
                <a:ea typeface="+mn-ea"/>
              </a:rPr>
              <a:t>随机数复用</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126</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6" y="1052603"/>
            <a:ext cx="8892354" cy="5016758"/>
          </a:xfrm>
          <a:prstGeom prst="rect">
            <a:avLst/>
          </a:prstGeom>
          <a:noFill/>
          <a:ln w="25400">
            <a:noFill/>
          </a:ln>
        </p:spPr>
        <p:txBody>
          <a:bodyPr wrap="square">
            <a:spAutoFit/>
          </a:bodyPr>
          <a:lstStyle/>
          <a:p>
            <a:r>
              <a:rPr lang="zh-CN" altLang="en-US" sz="3200" b="1" dirty="0">
                <a:solidFill>
                  <a:srgbClr val="FF0000"/>
                </a:solidFill>
                <a:latin typeface="Verdana" panose="020B0604030504040204" pitchFamily="34" charset="0"/>
              </a:rPr>
              <a:t>解：</a:t>
            </a:r>
            <a:endParaRPr lang="en-US" altLang="zh-CN" sz="3200" b="1" dirty="0">
              <a:solidFill>
                <a:srgbClr val="FF0000"/>
              </a:solidFill>
              <a:latin typeface="Verdana" panose="020B0604030504040204" pitchFamily="34" charset="0"/>
            </a:endParaRPr>
          </a:p>
          <a:p>
            <a:pPr marL="457200" indent="-457200">
              <a:buFont typeface="Arial" panose="020B0604020202020204" pitchFamily="34" charset="0"/>
              <a:buChar char="•"/>
            </a:pPr>
            <a:r>
              <a:rPr lang="en-US" altLang="zh-CN" sz="3200" dirty="0">
                <a:solidFill>
                  <a:srgbClr val="006699"/>
                </a:solidFill>
                <a:latin typeface="Verdana" panose="020B0604030504040204" pitchFamily="34" charset="0"/>
              </a:rPr>
              <a:t>T</a:t>
            </a:r>
            <a:r>
              <a:rPr lang="en-US" altLang="zh-CN" sz="3200" baseline="-25000" dirty="0">
                <a:solidFill>
                  <a:srgbClr val="006699"/>
                </a:solidFill>
                <a:latin typeface="Verdana" panose="020B0604030504040204" pitchFamily="34" charset="0"/>
              </a:rPr>
              <a:t>j</a:t>
            </a:r>
            <a:r>
              <a:rPr lang="zh-CN" altLang="en-US" sz="3200" dirty="0">
                <a:solidFill>
                  <a:srgbClr val="006699"/>
                </a:solidFill>
                <a:latin typeface="Verdana" panose="020B0604030504040204" pitchFamily="34" charset="0"/>
              </a:rPr>
              <a:t>：处理第</a:t>
            </a:r>
            <a:r>
              <a:rPr lang="en-US" altLang="zh-CN" sz="3200" dirty="0">
                <a:solidFill>
                  <a:srgbClr val="006699"/>
                </a:solidFill>
                <a:latin typeface="Verdana" panose="020B0604030504040204" pitchFamily="34" charset="0"/>
              </a:rPr>
              <a:t>j</a:t>
            </a:r>
            <a:r>
              <a:rPr lang="zh-CN" altLang="en-US" sz="3200" dirty="0">
                <a:solidFill>
                  <a:srgbClr val="006699"/>
                </a:solidFill>
                <a:latin typeface="Verdana" panose="020B0604030504040204" pitchFamily="34" charset="0"/>
              </a:rPr>
              <a:t>个工作所用的时间</a:t>
            </a:r>
            <a:r>
              <a:rPr lang="en-US" altLang="zh-CN" sz="3200" dirty="0">
                <a:solidFill>
                  <a:srgbClr val="006699"/>
                </a:solidFill>
                <a:latin typeface="Verdana" panose="020B0604030504040204" pitchFamily="34" charset="0"/>
              </a:rPr>
              <a:t>(j=1…,n)</a:t>
            </a:r>
          </a:p>
          <a:p>
            <a:r>
              <a:rPr lang="zh-CN" altLang="en-US" sz="3200" dirty="0">
                <a:solidFill>
                  <a:srgbClr val="006699"/>
                </a:solidFill>
                <a:latin typeface="Verdana" panose="020B0604030504040204" pitchFamily="34" charset="0"/>
              </a:rPr>
              <a:t>    则</a:t>
            </a:r>
            <a:r>
              <a:rPr lang="en-US" altLang="zh-CN" sz="3200" dirty="0">
                <a:solidFill>
                  <a:srgbClr val="006699"/>
                </a:solidFill>
                <a:latin typeface="Verdana" panose="020B0604030504040204" pitchFamily="34" charset="0"/>
              </a:rPr>
              <a:t>T</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,…,T</a:t>
            </a:r>
            <a:r>
              <a:rPr lang="en-US" altLang="zh-CN" sz="3200" baseline="-25000" dirty="0">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是分布为</a:t>
            </a:r>
            <a:r>
              <a:rPr lang="en-US" altLang="zh-CN" sz="3200" dirty="0">
                <a:solidFill>
                  <a:srgbClr val="006699"/>
                </a:solidFill>
                <a:latin typeface="Verdana" panose="020B0604030504040204" pitchFamily="34" charset="0"/>
              </a:rPr>
              <a:t>F</a:t>
            </a:r>
            <a:r>
              <a:rPr lang="zh-CN" altLang="en-US" sz="3200" dirty="0">
                <a:solidFill>
                  <a:srgbClr val="006699"/>
                </a:solidFill>
                <a:latin typeface="Verdana" panose="020B0604030504040204" pitchFamily="34" charset="0"/>
              </a:rPr>
              <a:t>的随机变量</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en-US" altLang="zh-CN" sz="3200" i="1" dirty="0">
                <a:solidFill>
                  <a:srgbClr val="006699"/>
                </a:solidFill>
                <a:latin typeface="Verdana" panose="020B0604030504040204" pitchFamily="34" charset="0"/>
              </a:rPr>
              <a:t>g</a:t>
            </a:r>
            <a:r>
              <a:rPr lang="en-US" altLang="zh-CN" sz="3200" dirty="0">
                <a:solidFill>
                  <a:srgbClr val="006699"/>
                </a:solidFill>
                <a:latin typeface="Verdana" panose="020B0604030504040204" pitchFamily="34" charset="0"/>
              </a:rPr>
              <a:t>(t</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t</a:t>
            </a:r>
            <a:r>
              <a:rPr lang="en-US" altLang="zh-CN" sz="3200" baseline="-25000" dirty="0" err="1">
                <a:solidFill>
                  <a:srgbClr val="006699"/>
                </a:solidFill>
                <a:latin typeface="Verdana" panose="020B0604030504040204" pitchFamily="34" charset="0"/>
              </a:rPr>
              <a:t>n</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是采用</a:t>
            </a:r>
            <a:r>
              <a:rPr lang="zh-CN" altLang="en-US" sz="3200" b="1" dirty="0">
                <a:solidFill>
                  <a:srgbClr val="006699"/>
                </a:solidFill>
                <a:latin typeface="Verdana" panose="020B0604030504040204" pitchFamily="34" charset="0"/>
              </a:rPr>
              <a:t>长工期</a:t>
            </a:r>
            <a:r>
              <a:rPr lang="zh-CN" altLang="en-US" sz="3200" dirty="0">
                <a:solidFill>
                  <a:srgbClr val="006699"/>
                </a:solidFill>
                <a:latin typeface="Verdana" panose="020B0604030504040204" pitchFamily="34" charset="0"/>
              </a:rPr>
              <a:t>工作优先策略下</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处理需要时间分别为</a:t>
            </a:r>
            <a:r>
              <a:rPr lang="en-US" altLang="zh-CN" sz="3200" dirty="0">
                <a:solidFill>
                  <a:srgbClr val="006699"/>
                </a:solidFill>
                <a:latin typeface="Verdana" panose="020B0604030504040204" pitchFamily="34" charset="0"/>
              </a:rPr>
              <a:t>t</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t</a:t>
            </a:r>
            <a:r>
              <a:rPr lang="en-US" altLang="zh-CN" sz="3200" baseline="-25000" dirty="0" err="1">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的</a:t>
            </a:r>
            <a:r>
              <a:rPr lang="en-US" altLang="zh-CN" sz="3200" dirty="0">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个工作所用的时间</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en-US" altLang="zh-CN" sz="3200" i="1" dirty="0">
                <a:solidFill>
                  <a:srgbClr val="006699"/>
                </a:solidFill>
                <a:latin typeface="Verdana" panose="020B0604030504040204" pitchFamily="34" charset="0"/>
              </a:rPr>
              <a:t>h</a:t>
            </a:r>
            <a:r>
              <a:rPr lang="en-US" altLang="zh-CN" sz="3200" dirty="0">
                <a:solidFill>
                  <a:srgbClr val="006699"/>
                </a:solidFill>
                <a:latin typeface="Verdana" panose="020B0604030504040204" pitchFamily="34" charset="0"/>
              </a:rPr>
              <a:t>(t</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t</a:t>
            </a:r>
            <a:r>
              <a:rPr lang="en-US" altLang="zh-CN" sz="3200" baseline="-25000" dirty="0" err="1">
                <a:solidFill>
                  <a:srgbClr val="006699"/>
                </a:solidFill>
                <a:latin typeface="Verdana" panose="020B0604030504040204" pitchFamily="34" charset="0"/>
              </a:rPr>
              <a:t>n</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是采用</a:t>
            </a:r>
            <a:r>
              <a:rPr lang="zh-CN" altLang="en-US" sz="3200" b="1" dirty="0">
                <a:solidFill>
                  <a:srgbClr val="006699"/>
                </a:solidFill>
                <a:latin typeface="Verdana" panose="020B0604030504040204" pitchFamily="34" charset="0"/>
              </a:rPr>
              <a:t>短工期</a:t>
            </a:r>
            <a:r>
              <a:rPr lang="zh-CN" altLang="en-US" sz="3200" dirty="0">
                <a:solidFill>
                  <a:srgbClr val="006699"/>
                </a:solidFill>
                <a:latin typeface="Verdana" panose="020B0604030504040204" pitchFamily="34" charset="0"/>
              </a:rPr>
              <a:t>工作优先策略下</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处理需要时间分别为</a:t>
            </a:r>
            <a:r>
              <a:rPr lang="en-US" altLang="zh-CN" sz="3200" dirty="0">
                <a:solidFill>
                  <a:srgbClr val="006699"/>
                </a:solidFill>
                <a:latin typeface="Verdana" panose="020B0604030504040204" pitchFamily="34" charset="0"/>
              </a:rPr>
              <a:t>t</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t</a:t>
            </a:r>
            <a:r>
              <a:rPr lang="en-US" altLang="zh-CN" sz="3200" baseline="-25000" dirty="0" err="1">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的</a:t>
            </a:r>
            <a:r>
              <a:rPr lang="en-US" altLang="zh-CN" sz="3200" dirty="0">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个工作所用的时间</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el-GR" altLang="zh-CN" sz="3200" dirty="0">
                <a:solidFill>
                  <a:srgbClr val="006699"/>
                </a:solidFill>
                <a:latin typeface="Verdana" panose="020B0604030504040204" pitchFamily="34" charset="0"/>
              </a:rPr>
              <a:t>θ</a:t>
            </a:r>
            <a:r>
              <a:rPr lang="el-GR" altLang="zh-CN" sz="3200" baseline="-25000" dirty="0">
                <a:solidFill>
                  <a:srgbClr val="006699"/>
                </a:solidFill>
                <a:latin typeface="Verdana" panose="020B0604030504040204" pitchFamily="34" charset="0"/>
              </a:rPr>
              <a:t>1</a:t>
            </a:r>
            <a:r>
              <a:rPr lang="el-GR" altLang="zh-CN" sz="3200" dirty="0">
                <a:solidFill>
                  <a:srgbClr val="006699"/>
                </a:solidFill>
                <a:latin typeface="Verdana" panose="020B0604030504040204" pitchFamily="34" charset="0"/>
              </a:rPr>
              <a:t>=</a:t>
            </a:r>
            <a:r>
              <a:rPr lang="en-US" altLang="zh-CN" sz="3200" dirty="0">
                <a:solidFill>
                  <a:srgbClr val="006699"/>
                </a:solidFill>
                <a:latin typeface="Verdana" panose="020B0604030504040204" pitchFamily="34" charset="0"/>
              </a:rPr>
              <a:t>E[</a:t>
            </a:r>
            <a:r>
              <a:rPr lang="en-US" altLang="zh-CN" sz="3200" i="1" dirty="0">
                <a:solidFill>
                  <a:srgbClr val="006699"/>
                </a:solidFill>
                <a:latin typeface="Verdana" panose="020B0604030504040204" pitchFamily="34" charset="0"/>
              </a:rPr>
              <a:t>g</a:t>
            </a:r>
            <a:r>
              <a:rPr lang="en-US" altLang="zh-CN" sz="3200" dirty="0">
                <a:solidFill>
                  <a:srgbClr val="006699"/>
                </a:solidFill>
                <a:latin typeface="Verdana" panose="020B0604030504040204" pitchFamily="34" charset="0"/>
              </a:rPr>
              <a:t>(T)], </a:t>
            </a:r>
            <a:r>
              <a:rPr lang="el-GR" altLang="zh-CN" sz="3200" dirty="0">
                <a:solidFill>
                  <a:srgbClr val="006699"/>
                </a:solidFill>
                <a:latin typeface="Verdana" panose="020B0604030504040204" pitchFamily="34" charset="0"/>
              </a:rPr>
              <a:t>θ</a:t>
            </a:r>
            <a:r>
              <a:rPr lang="en-US" altLang="zh-CN" sz="3200" baseline="-25000" dirty="0">
                <a:solidFill>
                  <a:srgbClr val="006699"/>
                </a:solidFill>
                <a:latin typeface="Verdana" panose="020B0604030504040204" pitchFamily="34" charset="0"/>
              </a:rPr>
              <a:t>2</a:t>
            </a:r>
            <a:r>
              <a:rPr lang="el-GR" altLang="zh-CN" sz="3200" dirty="0">
                <a:solidFill>
                  <a:srgbClr val="006699"/>
                </a:solidFill>
                <a:latin typeface="Verdana" panose="020B0604030504040204" pitchFamily="34" charset="0"/>
              </a:rPr>
              <a:t>=</a:t>
            </a:r>
            <a:r>
              <a:rPr lang="en-US" altLang="zh-CN" sz="3200" dirty="0">
                <a:solidFill>
                  <a:srgbClr val="006699"/>
                </a:solidFill>
                <a:latin typeface="Verdana" panose="020B0604030504040204" pitchFamily="34" charset="0"/>
              </a:rPr>
              <a:t>E[</a:t>
            </a:r>
            <a:r>
              <a:rPr lang="en-US" altLang="zh-CN" sz="3200" i="1" dirty="0">
                <a:solidFill>
                  <a:srgbClr val="006699"/>
                </a:solidFill>
                <a:latin typeface="Verdana" panose="020B0604030504040204" pitchFamily="34" charset="0"/>
              </a:rPr>
              <a:t>h</a:t>
            </a:r>
            <a:r>
              <a:rPr lang="en-US" altLang="zh-CN" sz="3200" dirty="0">
                <a:solidFill>
                  <a:srgbClr val="006699"/>
                </a:solidFill>
                <a:latin typeface="Verdana" panose="020B0604030504040204" pitchFamily="34" charset="0"/>
              </a:rPr>
              <a:t>(T)], T= (t</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t</a:t>
            </a:r>
            <a:r>
              <a:rPr lang="en-US" altLang="zh-CN" sz="3200" baseline="-25000" dirty="0" err="1">
                <a:solidFill>
                  <a:srgbClr val="006699"/>
                </a:solidFill>
                <a:latin typeface="Verdana" panose="020B0604030504040204" pitchFamily="34" charset="0"/>
              </a:rPr>
              <a:t>n</a:t>
            </a:r>
            <a:r>
              <a:rPr lang="en-US" altLang="zh-CN" sz="3200" dirty="0">
                <a:solidFill>
                  <a:srgbClr val="006699"/>
                </a:solidFill>
                <a:latin typeface="Verdana" panose="020B0604030504040204" pitchFamily="34" charset="0"/>
              </a:rPr>
              <a:t>)</a:t>
            </a:r>
          </a:p>
          <a:p>
            <a:pPr marL="457200" indent="-457200">
              <a:buFont typeface="Arial" panose="020B0604020202020204" pitchFamily="34" charset="0"/>
              <a:buChar char="•"/>
            </a:pPr>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则要</a:t>
            </a:r>
            <a:r>
              <a:rPr lang="zh-CN" altLang="en-US" sz="3200" b="1" dirty="0">
                <a:solidFill>
                  <a:srgbClr val="006699"/>
                </a:solidFill>
                <a:latin typeface="Verdana" panose="020B0604030504040204" pitchFamily="34" charset="0"/>
              </a:rPr>
              <a:t>用</a:t>
            </a:r>
            <a:r>
              <a:rPr lang="zh-CN" altLang="en-US" sz="3200" b="1" dirty="0">
                <a:solidFill>
                  <a:srgbClr val="FF0000"/>
                </a:solidFill>
                <a:latin typeface="Verdana" panose="020B0604030504040204" pitchFamily="34" charset="0"/>
              </a:rPr>
              <a:t>随机模拟估计</a:t>
            </a:r>
            <a:r>
              <a:rPr lang="zh-CN" altLang="en-US" sz="3200" dirty="0">
                <a:solidFill>
                  <a:srgbClr val="006699"/>
                </a:solidFill>
                <a:latin typeface="Verdana" panose="020B0604030504040204" pitchFamily="34" charset="0"/>
              </a:rPr>
              <a:t>：</a:t>
            </a:r>
            <a:r>
              <a:rPr lang="el-GR" altLang="zh-CN" sz="3200" i="1" dirty="0">
                <a:solidFill>
                  <a:srgbClr val="006699"/>
                </a:solidFill>
                <a:latin typeface="Verdana" panose="020B0604030504040204" pitchFamily="34" charset="0"/>
              </a:rPr>
              <a:t>θ</a:t>
            </a:r>
            <a:r>
              <a:rPr lang="el-GR" altLang="zh-CN" sz="3200" dirty="0">
                <a:solidFill>
                  <a:srgbClr val="006699"/>
                </a:solidFill>
                <a:latin typeface="Verdana" panose="020B0604030504040204" pitchFamily="34" charset="0"/>
              </a:rPr>
              <a:t>=</a:t>
            </a:r>
            <a:r>
              <a:rPr lang="el-GR" altLang="zh-CN" sz="3200" i="1" dirty="0">
                <a:solidFill>
                  <a:srgbClr val="006699"/>
                </a:solidFill>
                <a:latin typeface="Verdana" panose="020B0604030504040204" pitchFamily="34" charset="0"/>
              </a:rPr>
              <a:t>θ</a:t>
            </a:r>
            <a:r>
              <a:rPr lang="el-GR" altLang="zh-CN" sz="3200" i="1" baseline="-25000" dirty="0">
                <a:solidFill>
                  <a:srgbClr val="006699"/>
                </a:solidFill>
                <a:latin typeface="Verdana" panose="020B0604030504040204" pitchFamily="34" charset="0"/>
              </a:rPr>
              <a:t>1</a:t>
            </a:r>
            <a:r>
              <a:rPr lang="el-GR" altLang="zh-CN" sz="3200" dirty="0">
                <a:solidFill>
                  <a:srgbClr val="006699"/>
                </a:solidFill>
                <a:latin typeface="Verdana" panose="020B0604030504040204" pitchFamily="34" charset="0"/>
              </a:rPr>
              <a:t>-</a:t>
            </a:r>
            <a:r>
              <a:rPr lang="el-GR" altLang="zh-CN" sz="3200" i="1" dirty="0">
                <a:solidFill>
                  <a:srgbClr val="006699"/>
                </a:solidFill>
                <a:latin typeface="Verdana" panose="020B0604030504040204" pitchFamily="34" charset="0"/>
              </a:rPr>
              <a:t>θ</a:t>
            </a:r>
            <a:r>
              <a:rPr lang="el-GR" altLang="zh-CN" sz="3200" baseline="-25000" dirty="0">
                <a:solidFill>
                  <a:srgbClr val="006699"/>
                </a:solidFill>
                <a:latin typeface="Verdana" panose="020B0604030504040204" pitchFamily="34" charset="0"/>
              </a:rPr>
              <a:t>2</a:t>
            </a:r>
            <a:endParaRPr lang="zh-CN" altLang="en-US" sz="3200" baseline="-250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11212570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3.5.4 </a:t>
            </a:r>
            <a:r>
              <a:rPr lang="zh-CN" altLang="en-US" sz="3600" b="0" dirty="0">
                <a:latin typeface="+mn-lt"/>
                <a:ea typeface="+mn-ea"/>
              </a:rPr>
              <a:t>随机数复用</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127</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15875" y="1052603"/>
            <a:ext cx="9007475" cy="2554545"/>
          </a:xfrm>
          <a:prstGeom prst="rect">
            <a:avLst/>
          </a:prstGeom>
          <a:noFill/>
          <a:ln w="25400">
            <a:noFill/>
          </a:ln>
        </p:spPr>
        <p:txBody>
          <a:bodyPr wrap="square">
            <a:spAutoFit/>
          </a:bodyPr>
          <a:lstStyle/>
          <a:p>
            <a:r>
              <a:rPr lang="zh-CN" altLang="en-US" sz="3200" b="1" dirty="0">
                <a:solidFill>
                  <a:srgbClr val="FF0000"/>
                </a:solidFill>
                <a:latin typeface="Verdana" panose="020B0604030504040204" pitchFamily="34" charset="0"/>
              </a:rPr>
              <a:t>解：</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通过随机产生向量</a:t>
            </a:r>
            <a:r>
              <a:rPr lang="en-US" altLang="zh-CN" sz="3200" dirty="0">
                <a:solidFill>
                  <a:srgbClr val="006699"/>
                </a:solidFill>
                <a:latin typeface="Verdana" panose="020B0604030504040204" pitchFamily="34" charset="0"/>
              </a:rPr>
              <a:t>T</a:t>
            </a:r>
            <a:r>
              <a:rPr lang="zh-CN" altLang="en-US" sz="3200" dirty="0">
                <a:solidFill>
                  <a:srgbClr val="006699"/>
                </a:solidFill>
                <a:latin typeface="Verdana" panose="020B0604030504040204" pitchFamily="34" charset="0"/>
              </a:rPr>
              <a:t>来计算</a:t>
            </a:r>
            <a:r>
              <a:rPr lang="en-US" altLang="zh-CN" sz="3200" i="1" dirty="0">
                <a:solidFill>
                  <a:srgbClr val="006699"/>
                </a:solidFill>
                <a:latin typeface="Verdana" panose="020B0604030504040204" pitchFamily="34" charset="0"/>
              </a:rPr>
              <a:t>g</a:t>
            </a:r>
            <a:r>
              <a:rPr lang="en-US" altLang="zh-CN" sz="3200" dirty="0">
                <a:solidFill>
                  <a:srgbClr val="006699"/>
                </a:solidFill>
                <a:latin typeface="Verdana" panose="020B0604030504040204" pitchFamily="34" charset="0"/>
              </a:rPr>
              <a:t>(T)</a:t>
            </a: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计算</a:t>
            </a:r>
            <a:r>
              <a:rPr lang="en-US" altLang="zh-CN" sz="3200" i="1" dirty="0">
                <a:solidFill>
                  <a:srgbClr val="006699"/>
                </a:solidFill>
                <a:latin typeface="Verdana" panose="020B0604030504040204" pitchFamily="34" charset="0"/>
              </a:rPr>
              <a:t>h</a:t>
            </a:r>
            <a:r>
              <a:rPr lang="en-US" altLang="zh-CN" sz="3200" dirty="0">
                <a:solidFill>
                  <a:srgbClr val="006699"/>
                </a:solidFill>
                <a:latin typeface="Verdana" panose="020B0604030504040204" pitchFamily="34" charset="0"/>
              </a:rPr>
              <a:t>(T)</a:t>
            </a:r>
            <a:r>
              <a:rPr lang="zh-CN" altLang="en-US" sz="3200" dirty="0">
                <a:solidFill>
                  <a:srgbClr val="006699"/>
                </a:solidFill>
                <a:latin typeface="Verdana" panose="020B0604030504040204" pitchFamily="34" charset="0"/>
              </a:rPr>
              <a:t>是用同样的值，还是重新产生？</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设用</a:t>
            </a:r>
            <a:r>
              <a:rPr lang="en-US" altLang="zh-CN" sz="3200" dirty="0">
                <a:solidFill>
                  <a:srgbClr val="006699"/>
                </a:solidFill>
                <a:latin typeface="Verdana" panose="020B0604030504040204" pitchFamily="34" charset="0"/>
              </a:rPr>
              <a:t>T*=(T</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*,…,T</a:t>
            </a:r>
            <a:r>
              <a:rPr lang="en-US" altLang="zh-CN" sz="3200" baseline="-25000" dirty="0">
                <a:solidFill>
                  <a:srgbClr val="006699"/>
                </a:solidFill>
                <a:latin typeface="Verdana" panose="020B0604030504040204" pitchFamily="34" charset="0"/>
              </a:rPr>
              <a:t>n</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估计</a:t>
            </a:r>
            <a:r>
              <a:rPr lang="el-GR" altLang="zh-CN" sz="3200" i="1" dirty="0">
                <a:solidFill>
                  <a:srgbClr val="006699"/>
                </a:solidFill>
                <a:latin typeface="Verdana" panose="020B0604030504040204" pitchFamily="34" charset="0"/>
              </a:rPr>
              <a:t>θ</a:t>
            </a:r>
            <a:r>
              <a:rPr lang="el-GR" altLang="zh-CN" sz="3200" baseline="-25000" dirty="0">
                <a:solidFill>
                  <a:srgbClr val="006699"/>
                </a:solidFill>
                <a:latin typeface="Verdana" panose="020B0604030504040204" pitchFamily="34" charset="0"/>
              </a:rPr>
              <a:t>2</a:t>
            </a:r>
            <a:endParaRPr lang="en-US" altLang="zh-CN" sz="3200" baseline="-250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则</a:t>
            </a:r>
            <a:r>
              <a:rPr lang="el-GR" altLang="zh-CN" sz="3200" i="1" dirty="0">
                <a:solidFill>
                  <a:srgbClr val="FF0000"/>
                </a:solidFill>
                <a:latin typeface="Verdana" panose="020B0604030504040204" pitchFamily="34" charset="0"/>
              </a:rPr>
              <a:t>θ</a:t>
            </a:r>
            <a:r>
              <a:rPr lang="zh-CN" altLang="en-US" sz="3200" dirty="0">
                <a:solidFill>
                  <a:srgbClr val="FF0000"/>
                </a:solidFill>
                <a:latin typeface="Verdana" panose="020B0604030504040204" pitchFamily="34" charset="0"/>
              </a:rPr>
              <a:t>的估计</a:t>
            </a:r>
            <a:r>
              <a:rPr lang="en-US" altLang="zh-CN" sz="3200" i="1" dirty="0">
                <a:solidFill>
                  <a:srgbClr val="006699"/>
                </a:solidFill>
                <a:latin typeface="Verdana" panose="020B0604030504040204" pitchFamily="34" charset="0"/>
              </a:rPr>
              <a:t>g</a:t>
            </a:r>
            <a:r>
              <a:rPr lang="en-US" altLang="zh-CN" sz="3200" dirty="0">
                <a:solidFill>
                  <a:srgbClr val="006699"/>
                </a:solidFill>
                <a:latin typeface="Verdana" panose="020B0604030504040204" pitchFamily="34" charset="0"/>
              </a:rPr>
              <a:t>(T)-</a:t>
            </a:r>
            <a:r>
              <a:rPr lang="en-US" altLang="zh-CN" sz="3200" i="1" dirty="0">
                <a:solidFill>
                  <a:srgbClr val="006699"/>
                </a:solidFill>
                <a:latin typeface="Verdana" panose="020B0604030504040204" pitchFamily="34" charset="0"/>
              </a:rPr>
              <a:t>h</a:t>
            </a:r>
            <a:r>
              <a:rPr lang="en-US" altLang="zh-CN" sz="3200" dirty="0">
                <a:solidFill>
                  <a:srgbClr val="006699"/>
                </a:solidFill>
                <a:latin typeface="Verdana" panose="020B0604030504040204" pitchFamily="34" charset="0"/>
              </a:rPr>
              <a:t>(T*)</a:t>
            </a:r>
            <a:r>
              <a:rPr lang="zh-CN" altLang="en-US" sz="3200" dirty="0">
                <a:solidFill>
                  <a:srgbClr val="006699"/>
                </a:solidFill>
                <a:latin typeface="Verdana" panose="020B0604030504040204" pitchFamily="34" charset="0"/>
              </a:rPr>
              <a:t>的方差是</a:t>
            </a:r>
            <a:r>
              <a:rPr lang="en-US" altLang="zh-CN" sz="3200" dirty="0">
                <a:solidFill>
                  <a:srgbClr val="006699"/>
                </a:solidFill>
                <a:latin typeface="Verdana" panose="020B0604030504040204" pitchFamily="34" charset="0"/>
              </a:rPr>
              <a:t>:</a:t>
            </a:r>
            <a:endParaRPr lang="zh-CN" altLang="en-US" sz="3200" dirty="0">
              <a:solidFill>
                <a:srgbClr val="006699"/>
              </a:solidFill>
              <a:latin typeface="Verdana" panose="020B0604030504040204" pitchFamily="34" charset="0"/>
            </a:endParaRPr>
          </a:p>
        </p:txBody>
      </p:sp>
      <p:pic>
        <p:nvPicPr>
          <p:cNvPr id="4" name="图片 3">
            <a:extLst>
              <a:ext uri="{FF2B5EF4-FFF2-40B4-BE49-F238E27FC236}">
                <a16:creationId xmlns:a16="http://schemas.microsoft.com/office/drawing/2014/main" id="{1A6A2E4C-8EF1-4079-BDEA-B44F8E719BB7}"/>
              </a:ext>
            </a:extLst>
          </p:cNvPr>
          <p:cNvPicPr>
            <a:picLocks noChangeAspect="1"/>
          </p:cNvPicPr>
          <p:nvPr/>
        </p:nvPicPr>
        <p:blipFill>
          <a:blip r:embed="rId2"/>
          <a:stretch>
            <a:fillRect/>
          </a:stretch>
        </p:blipFill>
        <p:spPr>
          <a:xfrm>
            <a:off x="1016605" y="3873938"/>
            <a:ext cx="5908051" cy="1518270"/>
          </a:xfrm>
          <a:prstGeom prst="rect">
            <a:avLst/>
          </a:prstGeom>
        </p:spPr>
      </p:pic>
      <p:sp>
        <p:nvSpPr>
          <p:cNvPr id="10" name="文本框 9">
            <a:extLst>
              <a:ext uri="{FF2B5EF4-FFF2-40B4-BE49-F238E27FC236}">
                <a16:creationId xmlns:a16="http://schemas.microsoft.com/office/drawing/2014/main" id="{84467201-DF72-4E05-8F16-8EBA68DDDD72}"/>
              </a:ext>
            </a:extLst>
          </p:cNvPr>
          <p:cNvSpPr txBox="1"/>
          <p:nvPr/>
        </p:nvSpPr>
        <p:spPr>
          <a:xfrm>
            <a:off x="-96180" y="5573787"/>
            <a:ext cx="8782979" cy="584775"/>
          </a:xfrm>
          <a:prstGeom prst="rect">
            <a:avLst/>
          </a:prstGeom>
          <a:noFill/>
          <a:ln w="25400">
            <a:noFill/>
          </a:ln>
        </p:spPr>
        <p:txBody>
          <a:bodyPr wrap="square">
            <a:spAutoFit/>
          </a:bodyPr>
          <a:lstStyle/>
          <a:p>
            <a:pPr marL="457200" indent="-457200">
              <a:buFont typeface="Arial" panose="020B0604020202020204" pitchFamily="34" charset="0"/>
              <a:buChar char="•"/>
            </a:pPr>
            <a:r>
              <a:rPr lang="zh-CN" altLang="en-US" sz="3200" dirty="0">
                <a:solidFill>
                  <a:srgbClr val="FF0000"/>
                </a:solidFill>
                <a:latin typeface="Verdana" panose="020B0604030504040204" pitchFamily="34" charset="0"/>
              </a:rPr>
              <a:t>重复使用</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进行计算效果较好</a:t>
            </a:r>
            <a:endParaRPr lang="zh-CN" altLang="en-US" dirty="0"/>
          </a:p>
        </p:txBody>
      </p:sp>
    </p:spTree>
    <p:extLst>
      <p:ext uri="{BB962C8B-B14F-4D97-AF65-F5344CB8AC3E}">
        <p14:creationId xmlns:p14="http://schemas.microsoft.com/office/powerpoint/2010/main" val="24077371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3.5.4 </a:t>
            </a:r>
            <a:r>
              <a:rPr lang="zh-CN" altLang="en-US" sz="3600" b="0" dirty="0">
                <a:latin typeface="+mn-lt"/>
                <a:ea typeface="+mn-ea"/>
              </a:rPr>
              <a:t>随机数复用</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128</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6" y="1052603"/>
            <a:ext cx="8812973" cy="1569660"/>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例</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14.8 </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对正态分布总体</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r>
              <a:rPr lang="zh-CN" altLang="en-US" sz="3200" dirty="0">
                <a:solidFill>
                  <a:srgbClr val="006699"/>
                </a:solidFill>
                <a:latin typeface="Verdana" panose="020B0604030504040204" pitchFamily="34" charset="0"/>
              </a:rPr>
              <a:t>设样本</a:t>
            </a:r>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则方差有两种不同的公式估计</a:t>
            </a:r>
            <a:r>
              <a:rPr lang="en-US" altLang="zh-CN" sz="3200" dirty="0">
                <a:solidFill>
                  <a:srgbClr val="006699"/>
                </a:solidFill>
                <a:latin typeface="Verdana" panose="020B0604030504040204" pitchFamily="34" charset="0"/>
              </a:rPr>
              <a:t>:</a:t>
            </a:r>
            <a:endParaRPr lang="zh-CN" altLang="en-US"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51E311E-5E7B-417A-B140-27516BE227FC}"/>
                  </a:ext>
                </a:extLst>
              </p:cNvPr>
              <p:cNvSpPr txBox="1"/>
              <p:nvPr/>
            </p:nvSpPr>
            <p:spPr>
              <a:xfrm>
                <a:off x="1944927" y="2704463"/>
                <a:ext cx="4690532" cy="2851743"/>
              </a:xfrm>
              <a:prstGeom prst="rect">
                <a:avLst/>
              </a:prstGeom>
              <a:noFill/>
              <a:ln w="25400">
                <a:noFill/>
              </a:ln>
            </p:spPr>
            <p:txBody>
              <a:bodyPr wrap="square">
                <a:spAutoFit/>
              </a:bodyPr>
              <a:lstStyle/>
              <a:p>
                <a:pPr algn="just"/>
                <a14:m>
                  <m:oMathPara xmlns:m="http://schemas.openxmlformats.org/officeDocument/2006/math">
                    <m:oMathParaPr>
                      <m:jc m:val="left"/>
                    </m:oMathParaPr>
                    <m:oMath xmlns:m="http://schemas.openxmlformats.org/officeDocument/2006/math">
                      <m:m>
                        <m:mPr>
                          <m:plcHide m:val="on"/>
                          <m:mcs>
                            <m:mc>
                              <m:mcPr>
                                <m:count m:val="1"/>
                                <m:mcJc m:val="center"/>
                              </m:mcPr>
                            </m:mc>
                          </m:mcs>
                          <m:ctrlPr>
                            <a:rPr lang="zh-CN" altLang="en-US" sz="3200" i="1" smtClean="0">
                              <a:solidFill>
                                <a:srgbClr val="836967"/>
                              </a:solidFill>
                              <a:latin typeface="Cambria Math" panose="02040503050406030204" pitchFamily="18" charset="0"/>
                            </a:rPr>
                          </m:ctrlPr>
                        </m:mPr>
                        <m:mr>
                          <m:e>
                            <m:sSubSup>
                              <m:sSubSupPr>
                                <m:ctrlPr>
                                  <a:rPr lang="zh-CN" altLang="en-US" sz="3200" i="1">
                                    <a:solidFill>
                                      <a:srgbClr val="836967"/>
                                    </a:solidFill>
                                    <a:latin typeface="Cambria Math" panose="02040503050406030204" pitchFamily="18" charset="0"/>
                                  </a:rPr>
                                </m:ctrlPr>
                              </m:sSubSupPr>
                              <m:e>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𝜎</m:t>
                                    </m:r>
                                  </m:e>
                                </m:acc>
                              </m:e>
                              <m:sub>
                                <m:r>
                                  <a:rPr lang="zh-CN" altLang="en-US" sz="3200" i="0">
                                    <a:latin typeface="Cambria Math" panose="02040503050406030204" pitchFamily="18" charset="0"/>
                                  </a:rPr>
                                  <m:t>1</m:t>
                                </m:r>
                              </m:sub>
                              <m:sup>
                                <m:r>
                                  <a:rPr lang="zh-CN" altLang="en-US" sz="3200" i="0">
                                    <a:latin typeface="Cambria Math" panose="02040503050406030204" pitchFamily="18" charset="0"/>
                                  </a:rPr>
                                  <m:t>2</m:t>
                                </m:r>
                              </m:sup>
                            </m:sSubSup>
                            <m:r>
                              <a:rPr lang="zh-CN" altLang="en-US" sz="3200" i="0">
                                <a:latin typeface="Cambria Math" panose="02040503050406030204" pitchFamily="18" charset="0"/>
                              </a:rPr>
                              <m:t>=</m:t>
                            </m:r>
                            <m:f>
                              <m:fPr>
                                <m:ctrlPr>
                                  <a:rPr lang="zh-CN" altLang="en-US" sz="3200" i="1">
                                    <a:solidFill>
                                      <a:srgbClr val="836967"/>
                                    </a:solidFill>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1">
                                    <a:latin typeface="Cambria Math" panose="02040503050406030204" pitchFamily="18" charset="0"/>
                                  </a:rPr>
                                  <m:t>𝑛</m:t>
                                </m:r>
                                <m:r>
                                  <a:rPr lang="zh-CN" altLang="en-US" sz="3200" i="0">
                                    <a:latin typeface="Cambria Math" panose="02040503050406030204" pitchFamily="18" charset="0"/>
                                  </a:rPr>
                                  <m:t>−1</m:t>
                                </m:r>
                              </m:den>
                            </m:f>
                            <m:nary>
                              <m:naryPr>
                                <m:chr m:val="∑"/>
                                <m:limLoc m:val="undOvr"/>
                                <m:grow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𝑖</m:t>
                                </m:r>
                                <m:r>
                                  <a:rPr lang="zh-CN" altLang="en-US" sz="3200" i="0">
                                    <a:latin typeface="Cambria Math" panose="02040503050406030204" pitchFamily="18" charset="0"/>
                                  </a:rPr>
                                  <m:t>=1</m:t>
                                </m:r>
                              </m:sub>
                              <m:sup>
                                <m:r>
                                  <a:rPr lang="zh-CN" altLang="en-US" sz="3200" i="1">
                                    <a:latin typeface="Cambria Math" panose="02040503050406030204" pitchFamily="18" charset="0"/>
                                  </a:rPr>
                                  <m:t>𝑛</m:t>
                                </m:r>
                              </m:sup>
                              <m:e>
                                <m:sSup>
                                  <m:sSupPr>
                                    <m:ctrlPr>
                                      <a:rPr lang="zh-CN" altLang="en-US" sz="3200" i="1">
                                        <a:solidFill>
                                          <a:srgbClr val="836967"/>
                                        </a:solidFill>
                                        <a:latin typeface="Cambria Math" panose="02040503050406030204" pitchFamily="18" charset="0"/>
                                      </a:rPr>
                                    </m:ctrlPr>
                                  </m:sSupPr>
                                  <m:e>
                                    <m:d>
                                      <m:dPr>
                                        <m:ctrlPr>
                                          <a:rPr lang="zh-CN" altLang="en-US" sz="3200" i="1">
                                            <a:latin typeface="Cambria Math" panose="02040503050406030204" pitchFamily="18" charset="0"/>
                                          </a:rPr>
                                        </m:ctrlPr>
                                      </m:dPr>
                                      <m:e>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𝑋</m:t>
                                            </m:r>
                                          </m:e>
                                          <m:sub>
                                            <m:r>
                                              <a:rPr lang="zh-CN" altLang="en-US" sz="3200" i="1">
                                                <a:latin typeface="Cambria Math" panose="02040503050406030204" pitchFamily="18" charset="0"/>
                                              </a:rPr>
                                              <m:t>𝑖</m:t>
                                            </m:r>
                                          </m:sub>
                                        </m:sSub>
                                        <m:r>
                                          <a:rPr lang="zh-CN" altLang="en-US" sz="3200" i="0">
                                            <a:latin typeface="Cambria Math" panose="02040503050406030204" pitchFamily="18" charset="0"/>
                                          </a:rPr>
                                          <m:t>−</m:t>
                                        </m:r>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𝑋</m:t>
                                            </m:r>
                                          </m:e>
                                        </m:acc>
                                      </m:e>
                                    </m:d>
                                  </m:e>
                                  <m:sup>
                                    <m:r>
                                      <a:rPr lang="zh-CN" altLang="en-US" sz="3200" i="0">
                                        <a:latin typeface="Cambria Math" panose="02040503050406030204" pitchFamily="18" charset="0"/>
                                      </a:rPr>
                                      <m:t>2</m:t>
                                    </m:r>
                                  </m:sup>
                                </m:sSup>
                              </m:e>
                            </m:nary>
                          </m:e>
                        </m:mr>
                        <m:mr>
                          <m:e>
                            <m:sSubSup>
                              <m:sSubSupPr>
                                <m:ctrlPr>
                                  <a:rPr lang="zh-CN" altLang="en-US" sz="3200" i="1">
                                    <a:solidFill>
                                      <a:srgbClr val="836967"/>
                                    </a:solidFill>
                                    <a:latin typeface="Cambria Math" panose="02040503050406030204" pitchFamily="18" charset="0"/>
                                  </a:rPr>
                                </m:ctrlPr>
                              </m:sSubSupPr>
                              <m:e>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𝜎</m:t>
                                    </m:r>
                                  </m:e>
                                </m:acc>
                              </m:e>
                              <m:sub>
                                <m:r>
                                  <a:rPr lang="zh-CN" altLang="en-US" sz="3200" i="0">
                                    <a:latin typeface="Cambria Math" panose="02040503050406030204" pitchFamily="18" charset="0"/>
                                  </a:rPr>
                                  <m:t>2</m:t>
                                </m:r>
                              </m:sub>
                              <m:sup>
                                <m:r>
                                  <a:rPr lang="zh-CN" altLang="en-US" sz="3200" i="0">
                                    <a:latin typeface="Cambria Math" panose="02040503050406030204" pitchFamily="18" charset="0"/>
                                  </a:rPr>
                                  <m:t>2</m:t>
                                </m:r>
                              </m:sup>
                            </m:sSubSup>
                            <m:r>
                              <a:rPr lang="zh-CN" altLang="en-US" sz="3200" i="0">
                                <a:latin typeface="Cambria Math" panose="02040503050406030204" pitchFamily="18" charset="0"/>
                              </a:rPr>
                              <m:t>=</m:t>
                            </m:r>
                            <m:f>
                              <m:fPr>
                                <m:ctrlPr>
                                  <a:rPr lang="zh-CN" altLang="en-US" sz="3200" i="1">
                                    <a:solidFill>
                                      <a:srgbClr val="836967"/>
                                    </a:solidFill>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1">
                                    <a:latin typeface="Cambria Math" panose="02040503050406030204" pitchFamily="18" charset="0"/>
                                  </a:rPr>
                                  <m:t>𝑛</m:t>
                                </m:r>
                              </m:den>
                            </m:f>
                            <m:nary>
                              <m:naryPr>
                                <m:chr m:val="∑"/>
                                <m:limLoc m:val="undOvr"/>
                                <m:grow m:val="on"/>
                                <m:ctrlPr>
                                  <a:rPr lang="zh-CN" altLang="en-US" sz="3200" i="1">
                                    <a:latin typeface="Cambria Math" panose="02040503050406030204" pitchFamily="18" charset="0"/>
                                  </a:rPr>
                                </m:ctrlPr>
                              </m:naryPr>
                              <m:sub>
                                <m:r>
                                  <a:rPr lang="zh-CN" altLang="en-US" sz="3200" i="1">
                                    <a:latin typeface="Cambria Math" panose="02040503050406030204" pitchFamily="18" charset="0"/>
                                  </a:rPr>
                                  <m:t>𝑖</m:t>
                                </m:r>
                                <m:r>
                                  <a:rPr lang="zh-CN" altLang="en-US" sz="3200" i="0">
                                    <a:latin typeface="Cambria Math" panose="02040503050406030204" pitchFamily="18" charset="0"/>
                                  </a:rPr>
                                  <m:t>=1</m:t>
                                </m:r>
                              </m:sub>
                              <m:sup>
                                <m:r>
                                  <a:rPr lang="zh-CN" altLang="en-US" sz="3200" i="1">
                                    <a:latin typeface="Cambria Math" panose="02040503050406030204" pitchFamily="18" charset="0"/>
                                  </a:rPr>
                                  <m:t>𝑛</m:t>
                                </m:r>
                              </m:sup>
                              <m:e>
                                <m:sSup>
                                  <m:sSupPr>
                                    <m:ctrlPr>
                                      <a:rPr lang="zh-CN" altLang="en-US" sz="3200" i="1">
                                        <a:solidFill>
                                          <a:srgbClr val="836967"/>
                                        </a:solidFill>
                                        <a:latin typeface="Cambria Math" panose="02040503050406030204" pitchFamily="18" charset="0"/>
                                      </a:rPr>
                                    </m:ctrlPr>
                                  </m:sSupPr>
                                  <m:e>
                                    <m:d>
                                      <m:dPr>
                                        <m:ctrlPr>
                                          <a:rPr lang="zh-CN" altLang="en-US" sz="3200" i="1">
                                            <a:latin typeface="Cambria Math" panose="02040503050406030204" pitchFamily="18" charset="0"/>
                                          </a:rPr>
                                        </m:ctrlPr>
                                      </m:dPr>
                                      <m:e>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𝑋</m:t>
                                            </m:r>
                                          </m:e>
                                          <m:sub>
                                            <m:r>
                                              <a:rPr lang="zh-CN" altLang="en-US" sz="3200" i="1">
                                                <a:latin typeface="Cambria Math" panose="02040503050406030204" pitchFamily="18" charset="0"/>
                                              </a:rPr>
                                              <m:t>𝑖</m:t>
                                            </m:r>
                                          </m:sub>
                                        </m:sSub>
                                        <m:r>
                                          <a:rPr lang="zh-CN" altLang="en-US" sz="3200" i="0">
                                            <a:latin typeface="Cambria Math" panose="02040503050406030204" pitchFamily="18" charset="0"/>
                                          </a:rPr>
                                          <m:t>−</m:t>
                                        </m:r>
                                        <m:acc>
                                          <m:accPr>
                                            <m:chr m:val="̅"/>
                                            <m:ctrlPr>
                                              <a:rPr lang="zh-CN" altLang="en-US" sz="3200" i="1">
                                                <a:solidFill>
                                                  <a:srgbClr val="836967"/>
                                                </a:solidFill>
                                                <a:latin typeface="Cambria Math" panose="02040503050406030204" pitchFamily="18" charset="0"/>
                                              </a:rPr>
                                            </m:ctrlPr>
                                          </m:accPr>
                                          <m:e>
                                            <m:r>
                                              <a:rPr lang="zh-CN" altLang="en-US" sz="3200" i="1">
                                                <a:latin typeface="Cambria Math" panose="02040503050406030204" pitchFamily="18" charset="0"/>
                                              </a:rPr>
                                              <m:t>𝑋</m:t>
                                            </m:r>
                                          </m:e>
                                        </m:acc>
                                      </m:e>
                                    </m:d>
                                  </m:e>
                                  <m:sup>
                                    <m:r>
                                      <a:rPr lang="zh-CN" altLang="en-US" sz="3200" i="0">
                                        <a:latin typeface="Cambria Math" panose="02040503050406030204" pitchFamily="18" charset="0"/>
                                      </a:rPr>
                                      <m:t>2</m:t>
                                    </m:r>
                                  </m:sup>
                                </m:sSup>
                              </m:e>
                            </m:nary>
                          </m:e>
                        </m:mr>
                      </m:m>
                    </m:oMath>
                  </m:oMathPara>
                </a14:m>
                <a:endParaRPr lang="zh-CN" altLang="en-US" dirty="0"/>
              </a:p>
            </p:txBody>
          </p:sp>
        </mc:Choice>
        <mc:Fallback xmlns="">
          <p:sp>
            <p:nvSpPr>
              <p:cNvPr id="7" name="文本框 6">
                <a:extLst>
                  <a:ext uri="{FF2B5EF4-FFF2-40B4-BE49-F238E27FC236}">
                    <a16:creationId xmlns:a16="http://schemas.microsoft.com/office/drawing/2014/main" id="{051E311E-5E7B-417A-B140-27516BE227FC}"/>
                  </a:ext>
                </a:extLst>
              </p:cNvPr>
              <p:cNvSpPr txBox="1">
                <a:spLocks noRot="1" noChangeAspect="1" noMove="1" noResize="1" noEditPoints="1" noAdjustHandles="1" noChangeArrowheads="1" noChangeShapeType="1" noTextEdit="1"/>
              </p:cNvSpPr>
              <p:nvPr/>
            </p:nvSpPr>
            <p:spPr>
              <a:xfrm>
                <a:off x="1944927" y="2704463"/>
                <a:ext cx="4690532" cy="2851743"/>
              </a:xfrm>
              <a:prstGeom prst="rect">
                <a:avLst/>
              </a:prstGeom>
              <a:blipFill>
                <a:blip r:embed="rId2"/>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9B07B7D8-8055-4DD1-8A37-9CD790B8EB62}"/>
                  </a:ext>
                </a:extLst>
              </p:cNvPr>
              <p:cNvSpPr txBox="1"/>
              <p:nvPr/>
            </p:nvSpPr>
            <p:spPr>
              <a:xfrm>
                <a:off x="4491884" y="1052603"/>
                <a:ext cx="2440619"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𝑋</m:t>
                      </m:r>
                      <m:r>
                        <a:rPr lang="zh-CN" altLang="en-US" sz="3200" i="0">
                          <a:latin typeface="Cambria Math" panose="02040503050406030204" pitchFamily="18" charset="0"/>
                        </a:rPr>
                        <m:t>~</m:t>
                      </m:r>
                      <m:r>
                        <a:rPr lang="zh-CN" altLang="en-US" sz="3200" i="1">
                          <a:latin typeface="Cambria Math" panose="02040503050406030204" pitchFamily="18" charset="0"/>
                        </a:rPr>
                        <m:t>𝑁</m:t>
                      </m:r>
                      <m:d>
                        <m:dPr>
                          <m:sepChr m:val=","/>
                          <m:ctrlPr>
                            <a:rPr lang="zh-CN" altLang="en-US" sz="3200" i="1">
                              <a:latin typeface="Cambria Math" panose="02040503050406030204" pitchFamily="18" charset="0"/>
                            </a:rPr>
                          </m:ctrlPr>
                        </m:dPr>
                        <m:e>
                          <m:r>
                            <a:rPr lang="zh-CN" altLang="en-US" sz="3200" i="1">
                              <a:latin typeface="Cambria Math" panose="02040503050406030204" pitchFamily="18" charset="0"/>
                            </a:rPr>
                            <m:t>𝜇</m:t>
                          </m:r>
                        </m:e>
                        <m:e>
                          <m:sSup>
                            <m:sSupPr>
                              <m:ctrlPr>
                                <a:rPr lang="zh-CN" altLang="en-US" sz="3200" i="1">
                                  <a:solidFill>
                                    <a:srgbClr val="836967"/>
                                  </a:solidFill>
                                  <a:latin typeface="Cambria Math" panose="02040503050406030204" pitchFamily="18" charset="0"/>
                                </a:rPr>
                              </m:ctrlPr>
                            </m:sSupPr>
                            <m:e>
                              <m:r>
                                <a:rPr lang="zh-CN" altLang="en-US" sz="3200" i="1">
                                  <a:latin typeface="Cambria Math" panose="02040503050406030204" pitchFamily="18" charset="0"/>
                                </a:rPr>
                                <m:t>𝜎</m:t>
                              </m:r>
                            </m:e>
                            <m:sup>
                              <m:r>
                                <a:rPr lang="zh-CN" altLang="en-US" sz="3200" i="0">
                                  <a:latin typeface="Cambria Math" panose="02040503050406030204" pitchFamily="18" charset="0"/>
                                </a:rPr>
                                <m:t>2</m:t>
                              </m:r>
                            </m:sup>
                          </m:sSup>
                        </m:e>
                      </m:d>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9B07B7D8-8055-4DD1-8A37-9CD790B8EB62}"/>
                  </a:ext>
                </a:extLst>
              </p:cNvPr>
              <p:cNvSpPr txBox="1">
                <a:spLocks noRot="1" noChangeAspect="1" noMove="1" noResize="1" noEditPoints="1" noAdjustHandles="1" noChangeArrowheads="1" noChangeShapeType="1" noTextEdit="1"/>
              </p:cNvSpPr>
              <p:nvPr/>
            </p:nvSpPr>
            <p:spPr>
              <a:xfrm>
                <a:off x="4491884" y="1052603"/>
                <a:ext cx="2440619" cy="584775"/>
              </a:xfrm>
              <a:prstGeom prst="rect">
                <a:avLst/>
              </a:prstGeom>
              <a:blipFill>
                <a:blip r:embed="rId3"/>
                <a:stretch>
                  <a:fillRect/>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0873BE6-DAD1-4204-86FD-B3F8FAD1EF7A}"/>
                  </a:ext>
                </a:extLst>
              </p:cNvPr>
              <p:cNvSpPr txBox="1"/>
              <p:nvPr/>
            </p:nvSpPr>
            <p:spPr>
              <a:xfrm>
                <a:off x="1646340" y="1545045"/>
                <a:ext cx="2440620"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smtClean="0">
                              <a:solidFill>
                                <a:srgbClr val="836967"/>
                              </a:solidFill>
                              <a:latin typeface="Cambria Math" panose="02040503050406030204" pitchFamily="18" charset="0"/>
                            </a:rPr>
                          </m:ctrlPr>
                        </m:sSubPr>
                        <m:e>
                          <m:r>
                            <a:rPr lang="zh-CN" altLang="en-US" sz="3200" i="1">
                              <a:latin typeface="Cambria Math" panose="02040503050406030204" pitchFamily="18" charset="0"/>
                            </a:rPr>
                            <m:t>𝑋</m:t>
                          </m:r>
                        </m:e>
                        <m:sub>
                          <m:r>
                            <a:rPr lang="zh-CN" altLang="en-US" sz="3200" i="0">
                              <a:latin typeface="Cambria Math" panose="02040503050406030204" pitchFamily="18" charset="0"/>
                            </a:rPr>
                            <m:t>1</m:t>
                          </m:r>
                        </m:sub>
                      </m:sSub>
                      <m:r>
                        <a:rPr lang="zh-CN" altLang="en-US" sz="3200" i="0">
                          <a:latin typeface="Cambria Math" panose="02040503050406030204" pitchFamily="18" charset="0"/>
                        </a:rPr>
                        <m:t>,</m:t>
                      </m:r>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𝑋</m:t>
                          </m:r>
                        </m:e>
                        <m:sub>
                          <m:r>
                            <a:rPr lang="zh-CN" altLang="en-US" sz="3200" i="0">
                              <a:latin typeface="Cambria Math" panose="02040503050406030204" pitchFamily="18" charset="0"/>
                            </a:rPr>
                            <m:t>2</m:t>
                          </m:r>
                        </m:sub>
                      </m:sSub>
                      <m:r>
                        <a:rPr lang="zh-CN" altLang="en-US" sz="3200" i="0">
                          <a:latin typeface="Cambria Math" panose="02040503050406030204" pitchFamily="18" charset="0"/>
                        </a:rPr>
                        <m:t>,…,</m:t>
                      </m:r>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𝑋</m:t>
                          </m:r>
                        </m:e>
                        <m:sub>
                          <m:r>
                            <a:rPr lang="zh-CN" altLang="en-US" sz="3200" i="1">
                              <a:latin typeface="Cambria Math" panose="02040503050406030204" pitchFamily="18" charset="0"/>
                            </a:rPr>
                            <m:t>𝑛</m:t>
                          </m:r>
                        </m:sub>
                      </m:sSub>
                    </m:oMath>
                  </m:oMathPara>
                </a14:m>
                <a:endParaRPr lang="zh-CN" altLang="en-US" dirty="0"/>
              </a:p>
            </p:txBody>
          </p:sp>
        </mc:Choice>
        <mc:Fallback xmlns="">
          <p:sp>
            <p:nvSpPr>
              <p:cNvPr id="10" name="文本框 9">
                <a:extLst>
                  <a:ext uri="{FF2B5EF4-FFF2-40B4-BE49-F238E27FC236}">
                    <a16:creationId xmlns:a16="http://schemas.microsoft.com/office/drawing/2014/main" id="{00873BE6-DAD1-4204-86FD-B3F8FAD1EF7A}"/>
                  </a:ext>
                </a:extLst>
              </p:cNvPr>
              <p:cNvSpPr txBox="1">
                <a:spLocks noRot="1" noChangeAspect="1" noMove="1" noResize="1" noEditPoints="1" noAdjustHandles="1" noChangeArrowheads="1" noChangeShapeType="1" noTextEdit="1"/>
              </p:cNvSpPr>
              <p:nvPr/>
            </p:nvSpPr>
            <p:spPr>
              <a:xfrm>
                <a:off x="1646340" y="1545045"/>
                <a:ext cx="2440620" cy="584775"/>
              </a:xfrm>
              <a:prstGeom prst="rect">
                <a:avLst/>
              </a:prstGeom>
              <a:blipFill>
                <a:blip r:embed="rId4"/>
                <a:stretch>
                  <a:fillRect/>
                </a:stretch>
              </a:blipFill>
              <a:ln w="25400">
                <a:noFill/>
              </a:ln>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E3BBC6F3-738E-4334-AE67-9A41271320FF}"/>
              </a:ext>
            </a:extLst>
          </p:cNvPr>
          <p:cNvSpPr txBox="1"/>
          <p:nvPr/>
        </p:nvSpPr>
        <p:spPr>
          <a:xfrm>
            <a:off x="-106414" y="5706502"/>
            <a:ext cx="8793214" cy="584775"/>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比较两个估计量的偏差和均方误差</a:t>
            </a:r>
            <a:endParaRPr lang="zh-CN" altLang="en-US" dirty="0"/>
          </a:p>
        </p:txBody>
      </p:sp>
    </p:spTree>
    <p:extLst>
      <p:ext uri="{BB962C8B-B14F-4D97-AF65-F5344CB8AC3E}">
        <p14:creationId xmlns:p14="http://schemas.microsoft.com/office/powerpoint/2010/main" val="12019412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3.5.4 </a:t>
            </a:r>
            <a:r>
              <a:rPr lang="zh-CN" altLang="en-US" sz="3600" b="0" dirty="0">
                <a:latin typeface="+mn-lt"/>
                <a:ea typeface="+mn-ea"/>
              </a:rPr>
              <a:t>随机数复用</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129</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6" y="1052603"/>
            <a:ext cx="8812973"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例</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14.8</a:t>
            </a:r>
            <a:endParaRPr lang="zh-CN" altLang="en-US" sz="3200" dirty="0">
              <a:solidFill>
                <a:srgbClr val="006699"/>
              </a:solidFill>
              <a:latin typeface="Verdana" panose="020B0604030504040204" pitchFamily="34" charset="0"/>
            </a:endParaRPr>
          </a:p>
        </p:txBody>
      </p:sp>
      <p:pic>
        <p:nvPicPr>
          <p:cNvPr id="4" name="图片 3">
            <a:extLst>
              <a:ext uri="{FF2B5EF4-FFF2-40B4-BE49-F238E27FC236}">
                <a16:creationId xmlns:a16="http://schemas.microsoft.com/office/drawing/2014/main" id="{B61E7FA5-A373-45CF-A011-324C16F9F94F}"/>
              </a:ext>
            </a:extLst>
          </p:cNvPr>
          <p:cNvPicPr>
            <a:picLocks noChangeAspect="1"/>
          </p:cNvPicPr>
          <p:nvPr/>
        </p:nvPicPr>
        <p:blipFill>
          <a:blip r:embed="rId2"/>
          <a:stretch>
            <a:fillRect/>
          </a:stretch>
        </p:blipFill>
        <p:spPr>
          <a:xfrm>
            <a:off x="2270747" y="1813576"/>
            <a:ext cx="6691526" cy="1449428"/>
          </a:xfrm>
          <a:prstGeom prst="rect">
            <a:avLst/>
          </a:prstGeom>
        </p:spPr>
      </p:pic>
      <p:sp>
        <p:nvSpPr>
          <p:cNvPr id="16" name="文本框 15">
            <a:extLst>
              <a:ext uri="{FF2B5EF4-FFF2-40B4-BE49-F238E27FC236}">
                <a16:creationId xmlns:a16="http://schemas.microsoft.com/office/drawing/2014/main" id="{890CB605-562D-4FE9-AFAF-433DC3A00120}"/>
              </a:ext>
            </a:extLst>
          </p:cNvPr>
          <p:cNvSpPr txBox="1"/>
          <p:nvPr/>
        </p:nvSpPr>
        <p:spPr>
          <a:xfrm>
            <a:off x="3238" y="1676497"/>
            <a:ext cx="5513867" cy="2554545"/>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偏差</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indent="-457200">
              <a:buFont typeface="Arial" panose="020B0604020202020204" pitchFamily="34" charset="0"/>
              <a:buChar char="•"/>
            </a:pP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均方误差</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pPr marL="457200" indent="-457200">
              <a:buFont typeface="Arial" panose="020B0604020202020204" pitchFamily="34" charset="0"/>
              <a:buChar char="•"/>
            </a:pP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随机模拟法作比较</a:t>
            </a:r>
          </a:p>
        </p:txBody>
      </p:sp>
    </p:spTree>
    <p:extLst>
      <p:ext uri="{BB962C8B-B14F-4D97-AF65-F5344CB8AC3E}">
        <p14:creationId xmlns:p14="http://schemas.microsoft.com/office/powerpoint/2010/main" val="15735447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3.5.4 </a:t>
            </a:r>
            <a:r>
              <a:rPr lang="zh-CN" altLang="en-US" sz="3600" b="0" dirty="0">
                <a:latin typeface="+mn-lt"/>
                <a:ea typeface="+mn-ea"/>
              </a:rPr>
              <a:t>随机数复用</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130</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99246" y="1052603"/>
            <a:ext cx="8812973"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例</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14.8</a:t>
            </a:r>
            <a:endParaRPr lang="zh-CN" altLang="en-US" sz="3200" dirty="0">
              <a:solidFill>
                <a:srgbClr val="006699"/>
              </a:solidFill>
              <a:latin typeface="Verdana" panose="020B0604030504040204" pitchFamily="34" charset="0"/>
            </a:endParaRPr>
          </a:p>
        </p:txBody>
      </p:sp>
      <p:pic>
        <p:nvPicPr>
          <p:cNvPr id="3" name="图片 2">
            <a:extLst>
              <a:ext uri="{FF2B5EF4-FFF2-40B4-BE49-F238E27FC236}">
                <a16:creationId xmlns:a16="http://schemas.microsoft.com/office/drawing/2014/main" id="{CD8F9D12-BFF5-478A-AE24-9DD555180995}"/>
              </a:ext>
            </a:extLst>
          </p:cNvPr>
          <p:cNvPicPr>
            <a:picLocks noChangeAspect="1"/>
          </p:cNvPicPr>
          <p:nvPr/>
        </p:nvPicPr>
        <p:blipFill>
          <a:blip r:embed="rId2"/>
          <a:stretch>
            <a:fillRect/>
          </a:stretch>
        </p:blipFill>
        <p:spPr>
          <a:xfrm>
            <a:off x="187260" y="1600325"/>
            <a:ext cx="8769480" cy="3657350"/>
          </a:xfrm>
          <a:prstGeom prst="rect">
            <a:avLst/>
          </a:prstGeom>
        </p:spPr>
      </p:pic>
      <p:sp>
        <p:nvSpPr>
          <p:cNvPr id="10" name="文本框 9">
            <a:extLst>
              <a:ext uri="{FF2B5EF4-FFF2-40B4-BE49-F238E27FC236}">
                <a16:creationId xmlns:a16="http://schemas.microsoft.com/office/drawing/2014/main" id="{C734241B-1620-4176-BFCE-61FBE902605C}"/>
              </a:ext>
            </a:extLst>
          </p:cNvPr>
          <p:cNvSpPr txBox="1"/>
          <p:nvPr/>
        </p:nvSpPr>
        <p:spPr>
          <a:xfrm>
            <a:off x="48180" y="5454225"/>
            <a:ext cx="8857494" cy="830997"/>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24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两种方法使用相同的模拟样本得到的偏差、均方误差的估计精度与每种方法单独生成模拟样本得到的估计精度相同</a:t>
            </a:r>
            <a:endParaRPr lang="zh-CN" altLang="en-US" sz="1400" dirty="0"/>
          </a:p>
        </p:txBody>
      </p:sp>
    </p:spTree>
    <p:extLst>
      <p:ext uri="{BB962C8B-B14F-4D97-AF65-F5344CB8AC3E}">
        <p14:creationId xmlns:p14="http://schemas.microsoft.com/office/powerpoint/2010/main" val="38748768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sz="3600" b="0" dirty="0">
                <a:latin typeface="+mn-lt"/>
                <a:ea typeface="+mn-ea"/>
              </a:rPr>
              <a:t>3.5.4 </a:t>
            </a:r>
            <a:r>
              <a:rPr lang="zh-CN" altLang="en-US" sz="3600" b="0" dirty="0">
                <a:latin typeface="+mn-lt"/>
                <a:ea typeface="+mn-ea"/>
              </a:rPr>
              <a:t>随机数复用</a:t>
            </a:r>
          </a:p>
        </p:txBody>
      </p:sp>
      <p:sp>
        <p:nvSpPr>
          <p:cNvPr id="6" name="灯片编号占位符 2">
            <a:extLst>
              <a:ext uri="{FF2B5EF4-FFF2-40B4-BE49-F238E27FC236}">
                <a16:creationId xmlns:a16="http://schemas.microsoft.com/office/drawing/2014/main" id="{2191877F-3A7D-4C13-83DF-8A68C0ACC2D7}"/>
              </a:ext>
            </a:extLst>
          </p:cNvPr>
          <p:cNvSpPr>
            <a:spLocks noGrp="1" noChangeArrowheads="1"/>
          </p:cNvSpPr>
          <p:nvPr>
            <p:ph type="sldNum" sz="quarter" idx="12"/>
          </p:nvPr>
        </p:nvSpPr>
        <p:spPr bwMode="auto">
          <a:xfrm>
            <a:off x="6553200" y="6391275"/>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CE3FB9-BAC7-4293-A5BB-B8E090A183F8}" type="slidenum">
              <a:rPr lang="zh-CN" altLang="en-US">
                <a:solidFill>
                  <a:srgbClr val="898989"/>
                </a:solidFill>
              </a:rPr>
              <a:pPr/>
              <a:t>131</a:t>
            </a:fld>
            <a:endParaRPr lang="zh-CN" altLang="en-US">
              <a:solidFill>
                <a:srgbClr val="898989"/>
              </a:solidFill>
            </a:endParaRPr>
          </a:p>
        </p:txBody>
      </p:sp>
      <p:sp>
        <p:nvSpPr>
          <p:cNvPr id="15" name="文本框 14">
            <a:extLst>
              <a:ext uri="{FF2B5EF4-FFF2-40B4-BE49-F238E27FC236}">
                <a16:creationId xmlns:a16="http://schemas.microsoft.com/office/drawing/2014/main" id="{29D8DA57-75AF-413B-94B4-90E4AC47050F}"/>
              </a:ext>
            </a:extLst>
          </p:cNvPr>
          <p:cNvSpPr txBox="1"/>
          <p:nvPr/>
        </p:nvSpPr>
        <p:spPr>
          <a:xfrm>
            <a:off x="-15875" y="898617"/>
            <a:ext cx="8812973" cy="1077218"/>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例</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14.8</a:t>
            </a: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下面比较：</a:t>
            </a:r>
          </a:p>
        </p:txBody>
      </p:sp>
      <p:pic>
        <p:nvPicPr>
          <p:cNvPr id="9" name="图片 8">
            <a:extLst>
              <a:ext uri="{FF2B5EF4-FFF2-40B4-BE49-F238E27FC236}">
                <a16:creationId xmlns:a16="http://schemas.microsoft.com/office/drawing/2014/main" id="{0B347FB0-2ABD-44BD-BA03-5B4C6FBCFCEB}"/>
              </a:ext>
            </a:extLst>
          </p:cNvPr>
          <p:cNvPicPr>
            <a:picLocks noChangeAspect="1"/>
          </p:cNvPicPr>
          <p:nvPr/>
        </p:nvPicPr>
        <p:blipFill>
          <a:blip r:embed="rId2"/>
          <a:stretch>
            <a:fillRect/>
          </a:stretch>
        </p:blipFill>
        <p:spPr>
          <a:xfrm>
            <a:off x="478657" y="1889186"/>
            <a:ext cx="6667811" cy="709341"/>
          </a:xfrm>
          <a:prstGeom prst="rect">
            <a:avLst/>
          </a:prstGeom>
        </p:spPr>
      </p:pic>
      <p:sp>
        <p:nvSpPr>
          <p:cNvPr id="16" name="文本框 15">
            <a:extLst>
              <a:ext uri="{FF2B5EF4-FFF2-40B4-BE49-F238E27FC236}">
                <a16:creationId xmlns:a16="http://schemas.microsoft.com/office/drawing/2014/main" id="{7F9CE7C2-3ECE-49EF-8F6A-F60C48664319}"/>
              </a:ext>
            </a:extLst>
          </p:cNvPr>
          <p:cNvSpPr txBox="1"/>
          <p:nvPr/>
        </p:nvSpPr>
        <p:spPr>
          <a:xfrm>
            <a:off x="-153525" y="5617091"/>
            <a:ext cx="6071658" cy="584775"/>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利用</a:t>
            </a:r>
            <a:r>
              <a:rPr kumimoji="0" lang="zh-CN" altLang="en-US" sz="3200" b="1"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相同样本</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的估计精度更好</a:t>
            </a:r>
            <a:endParaRPr lang="zh-CN" altLang="en-US" dirty="0"/>
          </a:p>
        </p:txBody>
      </p:sp>
      <p:sp>
        <p:nvSpPr>
          <p:cNvPr id="18" name="文本框 17">
            <a:extLst>
              <a:ext uri="{FF2B5EF4-FFF2-40B4-BE49-F238E27FC236}">
                <a16:creationId xmlns:a16="http://schemas.microsoft.com/office/drawing/2014/main" id="{B404526D-D234-443B-9B4B-BEC1DF1E3D2D}"/>
              </a:ext>
            </a:extLst>
          </p:cNvPr>
          <p:cNvSpPr txBox="1"/>
          <p:nvPr/>
        </p:nvSpPr>
        <p:spPr>
          <a:xfrm>
            <a:off x="7437287" y="1951468"/>
            <a:ext cx="2069893"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14.1</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endParaRPr lang="zh-CN" altLang="en-US" dirty="0"/>
          </a:p>
        </p:txBody>
      </p:sp>
      <p:sp>
        <p:nvSpPr>
          <p:cNvPr id="20" name="文本框 19">
            <a:extLst>
              <a:ext uri="{FF2B5EF4-FFF2-40B4-BE49-F238E27FC236}">
                <a16:creationId xmlns:a16="http://schemas.microsoft.com/office/drawing/2014/main" id="{AC8102F8-5364-46E4-86B5-88321FA031DF}"/>
              </a:ext>
            </a:extLst>
          </p:cNvPr>
          <p:cNvSpPr txBox="1"/>
          <p:nvPr/>
        </p:nvSpPr>
        <p:spPr>
          <a:xfrm>
            <a:off x="28124" y="2391670"/>
            <a:ext cx="4842932" cy="584775"/>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用不同的样本</a:t>
            </a:r>
            <a:endParaRPr lang="zh-CN" altLang="en-US" dirty="0"/>
          </a:p>
        </p:txBody>
      </p:sp>
      <p:pic>
        <p:nvPicPr>
          <p:cNvPr id="21" name="图片 20">
            <a:extLst>
              <a:ext uri="{FF2B5EF4-FFF2-40B4-BE49-F238E27FC236}">
                <a16:creationId xmlns:a16="http://schemas.microsoft.com/office/drawing/2014/main" id="{D36261A1-B18C-48EF-AF1A-43D15397B4D9}"/>
              </a:ext>
            </a:extLst>
          </p:cNvPr>
          <p:cNvPicPr>
            <a:picLocks noChangeAspect="1"/>
          </p:cNvPicPr>
          <p:nvPr/>
        </p:nvPicPr>
        <p:blipFill>
          <a:blip r:embed="rId3"/>
          <a:stretch>
            <a:fillRect/>
          </a:stretch>
        </p:blipFill>
        <p:spPr>
          <a:xfrm>
            <a:off x="494312" y="3059393"/>
            <a:ext cx="6762047" cy="682009"/>
          </a:xfrm>
          <a:prstGeom prst="rect">
            <a:avLst/>
          </a:prstGeom>
        </p:spPr>
      </p:pic>
      <p:sp>
        <p:nvSpPr>
          <p:cNvPr id="23" name="文本框 22">
            <a:extLst>
              <a:ext uri="{FF2B5EF4-FFF2-40B4-BE49-F238E27FC236}">
                <a16:creationId xmlns:a16="http://schemas.microsoft.com/office/drawing/2014/main" id="{CFCEC9A9-BD02-422D-ABCA-CADF6A327D20}"/>
              </a:ext>
            </a:extLst>
          </p:cNvPr>
          <p:cNvSpPr txBox="1"/>
          <p:nvPr/>
        </p:nvSpPr>
        <p:spPr>
          <a:xfrm>
            <a:off x="7437287" y="3156627"/>
            <a:ext cx="2069893"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14.2</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endParaRPr lang="zh-CN" altLang="en-US" dirty="0"/>
          </a:p>
        </p:txBody>
      </p:sp>
      <p:sp>
        <p:nvSpPr>
          <p:cNvPr id="24" name="文本框 23">
            <a:extLst>
              <a:ext uri="{FF2B5EF4-FFF2-40B4-BE49-F238E27FC236}">
                <a16:creationId xmlns:a16="http://schemas.microsoft.com/office/drawing/2014/main" id="{E499C81C-46D2-4E4B-A0E2-01A77BB44E45}"/>
              </a:ext>
            </a:extLst>
          </p:cNvPr>
          <p:cNvSpPr txBox="1"/>
          <p:nvPr/>
        </p:nvSpPr>
        <p:spPr>
          <a:xfrm>
            <a:off x="7099351" y="5161837"/>
            <a:ext cx="2069893" cy="584775"/>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14.3</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endParaRPr lang="zh-CN" altLang="en-US" dirty="0"/>
          </a:p>
        </p:txBody>
      </p:sp>
      <p:sp>
        <p:nvSpPr>
          <p:cNvPr id="25" name="文本框 24">
            <a:extLst>
              <a:ext uri="{FF2B5EF4-FFF2-40B4-BE49-F238E27FC236}">
                <a16:creationId xmlns:a16="http://schemas.microsoft.com/office/drawing/2014/main" id="{51442456-B535-4F74-B87C-6900A18987EE}"/>
              </a:ext>
            </a:extLst>
          </p:cNvPr>
          <p:cNvSpPr txBox="1"/>
          <p:nvPr/>
        </p:nvSpPr>
        <p:spPr>
          <a:xfrm>
            <a:off x="-15875" y="3976590"/>
            <a:ext cx="4842932" cy="584775"/>
          </a:xfrm>
          <a:prstGeom prst="rect">
            <a:avLst/>
          </a:prstGeom>
          <a:noFill/>
          <a:ln w="25400">
            <a:noFill/>
          </a:ln>
        </p:spPr>
        <p:txBody>
          <a:bodyPr wrap="square">
            <a:spAutoFit/>
          </a:bodyPr>
          <a:lstStyle/>
          <a:p>
            <a:pPr marL="457200" indent="-457200">
              <a:buFont typeface="Arial" panose="020B0604020202020204" pitchFamily="34" charset="0"/>
              <a:buChar char="•"/>
            </a:pP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用相同的样本</a:t>
            </a:r>
            <a:endParaRPr lang="zh-CN" altLang="en-US" dirty="0"/>
          </a:p>
        </p:txBody>
      </p:sp>
      <p:pic>
        <p:nvPicPr>
          <p:cNvPr id="26" name="图片 25">
            <a:extLst>
              <a:ext uri="{FF2B5EF4-FFF2-40B4-BE49-F238E27FC236}">
                <a16:creationId xmlns:a16="http://schemas.microsoft.com/office/drawing/2014/main" id="{258C5F6E-E440-4558-BA2A-B43A6056AB32}"/>
              </a:ext>
            </a:extLst>
          </p:cNvPr>
          <p:cNvPicPr>
            <a:picLocks noChangeAspect="1"/>
          </p:cNvPicPr>
          <p:nvPr/>
        </p:nvPicPr>
        <p:blipFill>
          <a:blip r:embed="rId4"/>
          <a:stretch>
            <a:fillRect/>
          </a:stretch>
        </p:blipFill>
        <p:spPr>
          <a:xfrm>
            <a:off x="133205" y="4715451"/>
            <a:ext cx="9010795" cy="701775"/>
          </a:xfrm>
          <a:prstGeom prst="rect">
            <a:avLst/>
          </a:prstGeom>
        </p:spPr>
      </p:pic>
      <p:pic>
        <p:nvPicPr>
          <p:cNvPr id="3" name="图片 2">
            <a:extLst>
              <a:ext uri="{FF2B5EF4-FFF2-40B4-BE49-F238E27FC236}">
                <a16:creationId xmlns:a16="http://schemas.microsoft.com/office/drawing/2014/main" id="{518AFFE8-FA0C-44F4-99BE-916E87355A2C}"/>
              </a:ext>
            </a:extLst>
          </p:cNvPr>
          <p:cNvPicPr>
            <a:picLocks noChangeAspect="1"/>
          </p:cNvPicPr>
          <p:nvPr/>
        </p:nvPicPr>
        <p:blipFill>
          <a:blip r:embed="rId5"/>
          <a:stretch>
            <a:fillRect/>
          </a:stretch>
        </p:blipFill>
        <p:spPr>
          <a:xfrm>
            <a:off x="2464342" y="1510063"/>
            <a:ext cx="2009063" cy="488691"/>
          </a:xfrm>
          <a:prstGeom prst="rect">
            <a:avLst/>
          </a:prstGeom>
        </p:spPr>
      </p:pic>
    </p:spTree>
    <p:extLst>
      <p:ext uri="{BB962C8B-B14F-4D97-AF65-F5344CB8AC3E}">
        <p14:creationId xmlns:p14="http://schemas.microsoft.com/office/powerpoint/2010/main" val="18146906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1_主题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25400"/>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w="25400">
          <a:tailEnd type="triangle"/>
        </a:ln>
      </a:spPr>
      <a:bodyPr/>
      <a:lstStyle/>
      <a:style>
        <a:lnRef idx="1">
          <a:schemeClr val="accent1"/>
        </a:lnRef>
        <a:fillRef idx="0">
          <a:schemeClr val="accent1"/>
        </a:fillRef>
        <a:effectRef idx="0">
          <a:schemeClr val="accent1"/>
        </a:effectRef>
        <a:fontRef idx="minor">
          <a:schemeClr val="tx1"/>
        </a:fontRef>
      </a:style>
    </a:lnDef>
    <a:txDef>
      <a:spPr>
        <a:noFill/>
        <a:ln w="25400">
          <a:noFill/>
        </a:ln>
      </a:spPr>
      <a:bodyPr wrap="square">
        <a:spAutoFit/>
      </a:bodyPr>
      <a:lstStyle>
        <a:defPPr algn="l">
          <a:defRPr sz="3200" i="1" smtClean="0">
            <a:latin typeface="Cambria Math" panose="020405030504060302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17969</TotalTime>
  <Words>5105</Words>
  <Application>Microsoft Office PowerPoint</Application>
  <PresentationFormat>全屏显示(4:3)</PresentationFormat>
  <Paragraphs>994</Paragraphs>
  <Slides>131</Slides>
  <Notes>0</Notes>
  <HiddenSlides>0</HiddenSlides>
  <MMClips>0</MMClips>
  <ScaleCrop>false</ScaleCrop>
  <HeadingPairs>
    <vt:vector size="6" baseType="variant">
      <vt:variant>
        <vt:lpstr>已用的字体</vt:lpstr>
      </vt:variant>
      <vt:variant>
        <vt:i4>14</vt:i4>
      </vt:variant>
      <vt:variant>
        <vt:lpstr>主题</vt:lpstr>
      </vt:variant>
      <vt:variant>
        <vt:i4>4</vt:i4>
      </vt:variant>
      <vt:variant>
        <vt:lpstr>幻灯片标题</vt:lpstr>
      </vt:variant>
      <vt:variant>
        <vt:i4>131</vt:i4>
      </vt:variant>
    </vt:vector>
  </HeadingPairs>
  <TitlesOfParts>
    <vt:vector size="149" baseType="lpstr">
      <vt:lpstr>等线</vt:lpstr>
      <vt:lpstr>等线 Light</vt:lpstr>
      <vt:lpstr>宋体</vt:lpstr>
      <vt:lpstr>微软雅黑</vt:lpstr>
      <vt:lpstr>Aptos</vt:lpstr>
      <vt:lpstr>Arial</vt:lpstr>
      <vt:lpstr>Calibri</vt:lpstr>
      <vt:lpstr>Calibri Light</vt:lpstr>
      <vt:lpstr>Cambria</vt:lpstr>
      <vt:lpstr>Cambria Math</vt:lpstr>
      <vt:lpstr>Times New Roman</vt:lpstr>
      <vt:lpstr>Verdana</vt:lpstr>
      <vt:lpstr>Wingdings</vt:lpstr>
      <vt:lpstr>Wingdings 2</vt:lpstr>
      <vt:lpstr>1_主题1</vt:lpstr>
      <vt:lpstr>1_自定义设计方案</vt:lpstr>
      <vt:lpstr>自定义设计方案</vt:lpstr>
      <vt:lpstr>HDOfficeLightV0</vt:lpstr>
      <vt:lpstr> </vt:lpstr>
      <vt:lpstr>PowerPoint 演示文稿</vt:lpstr>
      <vt:lpstr>数学建模</vt:lpstr>
      <vt:lpstr>数学建模缺点</vt:lpstr>
      <vt:lpstr>3.1 随机模拟介绍</vt:lpstr>
      <vt:lpstr>例 红绿灯信号最优控制</vt:lpstr>
      <vt:lpstr>例 蒙提霍尔问题</vt:lpstr>
      <vt:lpstr>例 蒙提霍尔问题</vt:lpstr>
      <vt:lpstr>例 蒙提霍尔问题</vt:lpstr>
      <vt:lpstr>例 蒙提霍尔问题</vt:lpstr>
      <vt:lpstr>例 蒙提霍尔问题</vt:lpstr>
      <vt:lpstr>例 蒙提霍尔问题</vt:lpstr>
      <vt:lpstr>随机模拟方法一般思路</vt:lpstr>
      <vt:lpstr>例10.1 (1用蒲丰投针法求圆周率)</vt:lpstr>
      <vt:lpstr>例10.1 (1用蒲丰投针法求圆周率)</vt:lpstr>
      <vt:lpstr>例10.1 (1用蒲丰投针法求圆周率)</vt:lpstr>
      <vt:lpstr>例10.1 (2用随机模拟估计圆周率)</vt:lpstr>
      <vt:lpstr>例10.1 (2用随机模拟估计圆周率)</vt:lpstr>
      <vt:lpstr>随机模拟误差</vt:lpstr>
      <vt:lpstr>随机模拟方法特点</vt:lpstr>
      <vt:lpstr>随机模拟应用</vt:lpstr>
      <vt:lpstr>3.2.1 随机投点法 3.2.2 平均值法 3.2.3 随机模拟估计误差的评估与样本量计算 3.2.4 高维定积分</vt:lpstr>
      <vt:lpstr>3.2 随机模拟积分</vt:lpstr>
      <vt:lpstr>3.2 随机模拟积分</vt:lpstr>
      <vt:lpstr>3.2 随机模拟积分</vt:lpstr>
      <vt:lpstr>3.2 随机模拟积分</vt:lpstr>
      <vt:lpstr>3.2.1 随机投点法</vt:lpstr>
      <vt:lpstr>3.2.1 随机投点法</vt:lpstr>
      <vt:lpstr>3.2.1 随机投点法</vt:lpstr>
      <vt:lpstr>随机投点法步骤</vt:lpstr>
      <vt:lpstr>3.2.1 随机投点法</vt:lpstr>
      <vt:lpstr>3.2.1 随机投点法</vt:lpstr>
      <vt:lpstr>3.2.2 平均值法</vt:lpstr>
      <vt:lpstr>3.2.2 平均值法</vt:lpstr>
      <vt:lpstr>3.2.2 平均值法</vt:lpstr>
      <vt:lpstr>平均值法步骤</vt:lpstr>
      <vt:lpstr>3.2.2 平均值法</vt:lpstr>
      <vt:lpstr>PowerPoint 演示文稿</vt:lpstr>
      <vt:lpstr>例11.1</vt:lpstr>
      <vt:lpstr>3.2.3 随机模拟估计误差的评估与样本量计算</vt:lpstr>
      <vt:lpstr>3.2.3 随机模拟估计误差的评估与样本量计算</vt:lpstr>
      <vt:lpstr>估计误差的一些度量: 估计的根均方误差</vt:lpstr>
      <vt:lpstr>估计误差的一些度量:估计的平均绝对误差</vt:lpstr>
      <vt:lpstr>估计误差的一些度量:估计的平均相对误差</vt:lpstr>
      <vt:lpstr>例11.2</vt:lpstr>
      <vt:lpstr>3.2.4 高维定积分</vt:lpstr>
      <vt:lpstr>3.2.4 高维定积分</vt:lpstr>
      <vt:lpstr>3.2.4 高维定积分</vt:lpstr>
      <vt:lpstr>3.2.4 高维定积分</vt:lpstr>
      <vt:lpstr>3.2.4 高维定积分</vt:lpstr>
      <vt:lpstr>3.2.4 高维定积分</vt:lpstr>
      <vt:lpstr>3.2.4 高维定积分</vt:lpstr>
      <vt:lpstr>3.2.4 高维定积分</vt:lpstr>
      <vt:lpstr>3.2.4 高维定积分</vt:lpstr>
      <vt:lpstr>3.2.4 高维定积分</vt:lpstr>
      <vt:lpstr>3.2.4 高维定积分</vt:lpstr>
      <vt:lpstr>3.2.4 高维定积分</vt:lpstr>
      <vt:lpstr>例11.3</vt:lpstr>
      <vt:lpstr>例11.3</vt:lpstr>
      <vt:lpstr>3.3.1 标准化重要抽样法 3.3.2 带有舍选控制的重要抽样法</vt:lpstr>
      <vt:lpstr>3.3 重要抽样法</vt:lpstr>
      <vt:lpstr>3.3 重要抽样法</vt:lpstr>
      <vt:lpstr>3.3 重要抽样法</vt:lpstr>
      <vt:lpstr>3.3 重要抽样法</vt:lpstr>
      <vt:lpstr>3.3 重要抽样法</vt:lpstr>
      <vt:lpstr>3.3.1 标准化重要抽样法</vt:lpstr>
      <vt:lpstr>3.3.1 标准化重要抽样法</vt:lpstr>
      <vt:lpstr>3.3.1 标准化重要抽样法</vt:lpstr>
      <vt:lpstr>3.3.2 带有舍选控制的重要抽样法</vt:lpstr>
      <vt:lpstr>3.3.2 带有舍选控制的重要抽样法</vt:lpstr>
      <vt:lpstr>3.3.2 带有舍选控制的重要抽样法</vt:lpstr>
      <vt:lpstr>例12.1</vt:lpstr>
      <vt:lpstr>例12.1</vt:lpstr>
      <vt:lpstr>例12.1</vt:lpstr>
      <vt:lpstr>例12.1</vt:lpstr>
      <vt:lpstr>例12.1</vt:lpstr>
      <vt:lpstr>例12.1</vt:lpstr>
      <vt:lpstr>例12.2</vt:lpstr>
      <vt:lpstr>例12.2</vt:lpstr>
      <vt:lpstr>例12.2</vt:lpstr>
      <vt:lpstr>例12.2</vt:lpstr>
      <vt:lpstr>PowerPoint 演示文稿</vt:lpstr>
      <vt:lpstr>3.4 分层抽样法</vt:lpstr>
      <vt:lpstr>例13.1 </vt:lpstr>
      <vt:lpstr>例13.1 </vt:lpstr>
      <vt:lpstr>例13.1 </vt:lpstr>
      <vt:lpstr>3.4 分层抽样法</vt:lpstr>
      <vt:lpstr>3.4 分层抽样法</vt:lpstr>
      <vt:lpstr>3.4 分层抽样法</vt:lpstr>
      <vt:lpstr>3.4 分层抽样法</vt:lpstr>
      <vt:lpstr>3.4 分层抽样法</vt:lpstr>
      <vt:lpstr>3.4 分层抽样法</vt:lpstr>
      <vt:lpstr>例13.2</vt:lpstr>
      <vt:lpstr>3.5.1 控制变量法 3.5.2 对立变量法 3.5.3 条件期望法 3.5.4 随机数复用</vt:lpstr>
      <vt:lpstr>3.5 方差缩减技术</vt:lpstr>
      <vt:lpstr>3.5.1 控制变量法</vt:lpstr>
      <vt:lpstr>3.5.1 控制变量法</vt:lpstr>
      <vt:lpstr>3.5.1 控制变量法</vt:lpstr>
      <vt:lpstr>例14.1</vt:lpstr>
      <vt:lpstr>例14.1</vt:lpstr>
      <vt:lpstr>例14.1</vt:lpstr>
      <vt:lpstr>例14.2 (系统可靠性估计)</vt:lpstr>
      <vt:lpstr>例14.2 (系统可靠性估计)</vt:lpstr>
      <vt:lpstr>例14.2 (系统可靠性估计)</vt:lpstr>
      <vt:lpstr>3.5.2 对立变量法</vt:lpstr>
      <vt:lpstr>定理14.1证明</vt:lpstr>
      <vt:lpstr>3.5.2 对立变量法</vt:lpstr>
      <vt:lpstr>3.5.2 对立变量法</vt:lpstr>
      <vt:lpstr>定理14.3 (对立变量法) </vt:lpstr>
      <vt:lpstr>3.5.2 对立变量法</vt:lpstr>
      <vt:lpstr>例14.3</vt:lpstr>
      <vt:lpstr>例14.4 </vt:lpstr>
      <vt:lpstr>例14.4 </vt:lpstr>
      <vt:lpstr>例14.4 </vt:lpstr>
      <vt:lpstr>3.5.3 条件期望法</vt:lpstr>
      <vt:lpstr>例14.5</vt:lpstr>
      <vt:lpstr>例14.5 法1：平均值法</vt:lpstr>
      <vt:lpstr>例14.5 法2：条件期望法</vt:lpstr>
      <vt:lpstr>例14.6 法1：随机投点法 </vt:lpstr>
      <vt:lpstr>例14.6 法2： 条件期望法</vt:lpstr>
      <vt:lpstr>例14.6 </vt:lpstr>
      <vt:lpstr>例14.6 法3：对立变量法 </vt:lpstr>
      <vt:lpstr>例14.6 法4： 控制变量法</vt:lpstr>
      <vt:lpstr>3.5.4 随机数复用</vt:lpstr>
      <vt:lpstr>3.5.4 随机数复用</vt:lpstr>
      <vt:lpstr>3.5.4 随机数复用</vt:lpstr>
      <vt:lpstr>3.5.4 随机数复用</vt:lpstr>
      <vt:lpstr>3.5.4 随机数复用</vt:lpstr>
      <vt:lpstr>3.5.4 随机数复用</vt:lpstr>
      <vt:lpstr>3.5.4 随机数复用</vt:lpstr>
      <vt:lpstr>3.5.4 随机数复用</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f</cp:lastModifiedBy>
  <cp:revision>600</cp:revision>
  <cp:lastPrinted>1601-01-01T00:00:00Z</cp:lastPrinted>
  <dcterms:created xsi:type="dcterms:W3CDTF">1601-01-01T00:00:00Z</dcterms:created>
  <dcterms:modified xsi:type="dcterms:W3CDTF">2024-11-07T15:48:57Z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