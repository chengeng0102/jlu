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2"/>
  </p:notesMasterIdLst>
  <p:sldIdLst>
    <p:sldId id="275" r:id="rId2"/>
    <p:sldId id="452" r:id="rId3"/>
    <p:sldId id="453" r:id="rId4"/>
    <p:sldId id="454" r:id="rId5"/>
    <p:sldId id="488" r:id="rId6"/>
    <p:sldId id="465" r:id="rId7"/>
    <p:sldId id="466" r:id="rId8"/>
    <p:sldId id="457" r:id="rId9"/>
    <p:sldId id="332" r:id="rId10"/>
    <p:sldId id="378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488" autoAdjust="0"/>
  </p:normalViewPr>
  <p:slideViewPr>
    <p:cSldViewPr snapToGrid="0">
      <p:cViewPr varScale="1">
        <p:scale>
          <a:sx n="79" d="100"/>
          <a:sy n="79" d="100"/>
        </p:scale>
        <p:origin x="1365" y="62"/>
      </p:cViewPr>
      <p:guideLst>
        <p:guide orient="horz" pos="21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771EC-1D41-4583-A442-CB2D15016FAB}" type="datetimeFigureOut">
              <a:rPr lang="zh-CN" altLang="en-US" smtClean="0"/>
              <a:t>2024/8/27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09033-9AC6-4E03-BE7C-A1CBC95C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11D03-E9DF-4340-B4EF-A7F012C4AAC0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00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A074AB19-DEA5-478B-BDBC-6B279C188F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17924372-1E8D-4458-89EA-FB173E21D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《</a:t>
            </a:r>
            <a:r>
              <a:rPr lang="zh-CN" altLang="en-US"/>
              <a:t>数值计算方法（上，下）</a:t>
            </a:r>
            <a:r>
              <a:rPr lang="en-US" altLang="zh-CN"/>
              <a:t>》</a:t>
            </a:r>
            <a:r>
              <a:rPr lang="zh-CN" altLang="en-US"/>
              <a:t>，林成森，科学出版社，</a:t>
            </a:r>
            <a:r>
              <a:rPr lang="en-US" altLang="zh-CN"/>
              <a:t>2010</a:t>
            </a:r>
            <a:r>
              <a:rPr lang="zh-CN" altLang="en-US"/>
              <a:t>年第二版。</a:t>
            </a:r>
          </a:p>
          <a:p>
            <a:pPr eaLnBrk="1" hangingPunct="1"/>
            <a:r>
              <a:rPr lang="zh-CN" altLang="en-US"/>
              <a:t>数值分析 第</a:t>
            </a:r>
            <a:r>
              <a:rPr lang="en-US" altLang="zh-CN"/>
              <a:t>5</a:t>
            </a:r>
            <a:r>
              <a:rPr lang="zh-CN" altLang="en-US"/>
              <a:t>版  作 者 ：李庆扬，王能超，易大义 出版发行 </a:t>
            </a:r>
            <a:r>
              <a:rPr lang="en-US" altLang="zh-CN"/>
              <a:t>:  </a:t>
            </a:r>
            <a:r>
              <a:rPr lang="zh-CN" altLang="en-US"/>
              <a:t>武汉：华中科技大学出版社 </a:t>
            </a:r>
            <a:r>
              <a:rPr lang="en-US" altLang="zh-CN"/>
              <a:t>, 2018.04</a:t>
            </a:r>
          </a:p>
          <a:p>
            <a:pPr eaLnBrk="1" hangingPunct="1"/>
            <a:r>
              <a:rPr lang="en-US" altLang="zh-CN"/>
              <a:t>MATLAB</a:t>
            </a:r>
            <a:r>
              <a:rPr lang="zh-CN" altLang="en-US"/>
              <a:t>数值计算 中译本  （</a:t>
            </a:r>
            <a:r>
              <a:rPr lang="en-US" altLang="zh-CN"/>
              <a:t>2013</a:t>
            </a:r>
            <a:r>
              <a:rPr lang="zh-CN" altLang="en-US"/>
              <a:t>修订版）作 者 ：（美）</a:t>
            </a:r>
            <a:r>
              <a:rPr lang="en-US" altLang="zh-CN"/>
              <a:t>Cleve B.Moler</a:t>
            </a:r>
            <a:r>
              <a:rPr lang="zh-CN" altLang="en-US"/>
              <a:t>著 出版发行 </a:t>
            </a:r>
            <a:r>
              <a:rPr lang="en-US" altLang="zh-CN"/>
              <a:t>:  </a:t>
            </a:r>
            <a:r>
              <a:rPr lang="zh-CN" altLang="en-US"/>
              <a:t>北京：北京航空航天大学出版社 </a:t>
            </a:r>
            <a:r>
              <a:rPr lang="en-US" altLang="zh-CN"/>
              <a:t>, 2015.01</a:t>
            </a: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6DCE278E-808D-482D-80D4-089B94620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162BF0-AAAB-4C03-87EF-181BB5B3E9FD}" type="slidenum">
              <a:rPr lang="en-US" altLang="zh-CN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41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3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" y="857232"/>
            <a:ext cx="9144000" cy="1588"/>
          </a:xfrm>
          <a:prstGeom prst="line">
            <a:avLst/>
          </a:prstGeom>
          <a:ln w="63500" cap="flat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" y="6286523"/>
            <a:ext cx="9144000" cy="1588"/>
          </a:xfrm>
          <a:prstGeom prst="line">
            <a:avLst/>
          </a:prstGeom>
          <a:ln w="63500" cmpd="thinThick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069100131028927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39446"/>
            <a:ext cx="4000496" cy="746362"/>
          </a:xfrm>
          <a:prstGeom prst="rect">
            <a:avLst/>
          </a:prstGeom>
        </p:spPr>
      </p:pic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915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59FB-605C-4C7D-B919-7FAA724F604E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28927" y="6391535"/>
            <a:ext cx="3357586" cy="365125"/>
          </a:xfrm>
          <a:prstGeom prst="rect">
            <a:avLst/>
          </a:prstGeom>
        </p:spPr>
        <p:txBody>
          <a:bodyPr vert="horz" lIns="91440" tIns="46800" rIns="91440" bIns="45720" rtlCol="0" anchor="ctr"/>
          <a:lstStyle>
            <a:lvl1pPr marL="0" marR="0" indent="0" algn="ctr" defTabSz="513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915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marL="0" marR="0" indent="0" algn="ctr" defTabSz="51371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E9B0-1B34-43BC-AFAD-EE77FF47DC41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5" y="4406910"/>
            <a:ext cx="7772400" cy="1362076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5" y="2906713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FF3D4-A361-4693-BAC9-F79C1F025CEB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73667"/>
            <a:ext cx="4038600" cy="515250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015"/>
            </a:lvl6pPr>
            <a:lvl7pPr>
              <a:defRPr sz="1015"/>
            </a:lvl7pPr>
            <a:lvl8pPr>
              <a:defRPr sz="1015"/>
            </a:lvl8pPr>
            <a:lvl9pPr>
              <a:defRPr sz="101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73667"/>
            <a:ext cx="4038600" cy="515250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015"/>
            </a:lvl6pPr>
            <a:lvl7pPr>
              <a:defRPr sz="1015"/>
            </a:lvl7pPr>
            <a:lvl8pPr>
              <a:defRPr sz="1015"/>
            </a:lvl8pPr>
            <a:lvl9pPr>
              <a:defRPr sz="101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F531-0187-4D66-8883-7023BEBBCA4C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308D-30D1-4105-B619-B1C5A4399566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C4E0-1257-4675-A5F6-7507A4F28695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7" y="273051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63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7" y="1435104"/>
            <a:ext cx="3008313" cy="4691063"/>
          </a:xfrm>
        </p:spPr>
        <p:txBody>
          <a:bodyPr/>
          <a:lstStyle>
            <a:lvl1pPr marL="0" indent="0">
              <a:buNone/>
              <a:defRPr sz="79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9D409-1CA7-40F1-8F95-21E3CC2314C3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8"/>
          </a:xfrm>
        </p:spPr>
        <p:txBody>
          <a:bodyPr anchor="b">
            <a:normAutofit/>
          </a:bodyPr>
          <a:lstStyle>
            <a:lvl1pPr algn="l">
              <a:defRPr sz="1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35C3-AA09-4D29-82E0-ADF24CA7330C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F423-D737-4729-83E7-C1E3C50D8AFD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53"/>
            <a:ext cx="2057400" cy="5851525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2" y="274653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7C64D-FDFE-45D5-A38B-1843F9B35488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0350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44538" y="1943100"/>
            <a:ext cx="8013700" cy="41322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C9BF2-7E1C-4B01-9B50-DF0031B7937C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77B27-A0DD-4156-8AD6-DB08D2C93C62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000116"/>
            <a:ext cx="8229600" cy="5126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915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fld id="{8A4481FC-45FE-414E-BBA0-26B41EF62386}" type="datetime3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2024年8月27日星期二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28927" y="6391535"/>
            <a:ext cx="3357586" cy="365125"/>
          </a:xfrm>
          <a:prstGeom prst="rect">
            <a:avLst/>
          </a:prstGeom>
        </p:spPr>
        <p:txBody>
          <a:bodyPr vert="horz" lIns="91440" tIns="4680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915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fld id="{829C2993-0D8B-4C74-B58E-D64184401C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" y="857232"/>
            <a:ext cx="9144000" cy="1588"/>
          </a:xfrm>
          <a:prstGeom prst="line">
            <a:avLst/>
          </a:prstGeom>
          <a:ln w="63500" cap="flat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" y="6286523"/>
            <a:ext cx="9144000" cy="1588"/>
          </a:xfrm>
          <a:prstGeom prst="line">
            <a:avLst/>
          </a:prstGeom>
          <a:ln w="63500" cmpd="thinThick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513715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040" indent="-193040" algn="l" defTabSz="51371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7830" indent="-160655" algn="l" defTabSz="51371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9795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56970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145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37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371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5260" y="1143000"/>
            <a:ext cx="8642959" cy="2827751"/>
          </a:xfrm>
        </p:spPr>
        <p:txBody>
          <a:bodyPr>
            <a:normAutofit/>
          </a:bodyPr>
          <a:lstStyle/>
          <a:p>
            <a:r>
              <a:rPr lang="zh-CN" altLang="en-US" sz="8000" dirty="0">
                <a:latin typeface="楷体" panose="02010609060101010101" pitchFamily="49" charset="-122"/>
                <a:ea typeface="楷体" panose="02010609060101010101" pitchFamily="49" charset="-122"/>
              </a:rPr>
              <a:t>统计计算</a:t>
            </a:r>
            <a:br>
              <a:rPr lang="en-US" altLang="zh-CN" sz="80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Statistical Computation</a:t>
            </a:r>
            <a:endParaRPr lang="zh-CN" altLang="en-US" sz="8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01078" y="4108174"/>
            <a:ext cx="4957252" cy="142833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+mj-lt"/>
                <a:cs typeface="+mj-lt"/>
              </a:rPr>
              <a:t>机器学习研究室</a:t>
            </a:r>
            <a:endParaRPr lang="en-US" altLang="zh-CN" b="1" dirty="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+mj-lt"/>
                <a:cs typeface="+mj-lt"/>
              </a:rPr>
              <a:t>统计计算课程组</a:t>
            </a:r>
            <a:endParaRPr lang="en-US" altLang="zh-CN" b="1" dirty="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+mj-lt"/>
                <a:cs typeface="+mj-lt"/>
              </a:rPr>
              <a:t>2024.8</a:t>
            </a:r>
            <a:endParaRPr lang="zh-CN" altLang="en-US" sz="1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教师情况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sz="4000" dirty="0"/>
          </a:p>
          <a:p>
            <a:pPr>
              <a:defRPr/>
            </a:pPr>
            <a:r>
              <a:rPr lang="en-US" altLang="zh-CN" sz="4000" dirty="0"/>
              <a:t> </a:t>
            </a:r>
            <a:r>
              <a:rPr lang="zh-CN" altLang="en-US" sz="4000" dirty="0"/>
              <a:t>孙延风</a:t>
            </a:r>
            <a:endParaRPr lang="en-US" altLang="zh-CN" sz="4000" dirty="0"/>
          </a:p>
          <a:p>
            <a:pPr>
              <a:defRPr/>
            </a:pPr>
            <a:endParaRPr lang="en-US" altLang="zh-CN" sz="4000" dirty="0"/>
          </a:p>
          <a:p>
            <a:pPr>
              <a:defRPr/>
            </a:pPr>
            <a:r>
              <a:rPr lang="en-US" altLang="zh-CN" sz="4000" dirty="0"/>
              <a:t> sunyf@jlu.edu.cn</a:t>
            </a:r>
          </a:p>
          <a:p>
            <a:pPr>
              <a:defRPr/>
            </a:pPr>
            <a:endParaRPr lang="en-US" altLang="zh-CN" sz="4000" dirty="0"/>
          </a:p>
          <a:p>
            <a:pPr>
              <a:defRPr/>
            </a:pPr>
            <a:r>
              <a:rPr lang="zh-CN" altLang="en-US" sz="4000" dirty="0"/>
              <a:t> 机器学习研究室</a:t>
            </a: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822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统计计算教材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E628F2-2A21-462F-8396-80537A9FB578}"/>
              </a:ext>
            </a:extLst>
          </p:cNvPr>
          <p:cNvSpPr/>
          <p:nvPr/>
        </p:nvSpPr>
        <p:spPr>
          <a:xfrm>
            <a:off x="0" y="1095594"/>
            <a:ext cx="526719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/>
              <a:t>统计计算</a:t>
            </a:r>
            <a:endParaRPr lang="en-US" altLang="zh-CN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/>
              <a:t>李东风编</a:t>
            </a:r>
            <a:endParaRPr lang="en-US" altLang="zh-CN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/>
              <a:t>北京：高等教育出版社</a:t>
            </a:r>
            <a:r>
              <a:rPr lang="en-US" altLang="zh-CN" sz="3200" b="1" dirty="0"/>
              <a:t>, 2017</a:t>
            </a:r>
            <a:r>
              <a:rPr lang="zh-CN" altLang="en-US" sz="3200" b="1" dirty="0"/>
              <a:t>年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月</a:t>
            </a:r>
            <a:endParaRPr lang="en-US" altLang="zh-CN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https://www.math.pku.edu.cn/teachers/lidf/docs/statcomp/html/_statcompbook/index.html</a:t>
            </a:r>
            <a:endParaRPr lang="zh-CN" altLang="en-US" sz="2400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8B21DD-E99A-4826-93FE-FAF14DDFA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220" y="1140258"/>
            <a:ext cx="3562198" cy="4724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165B37-5CAD-43AF-9078-49185BBA7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326" y="3909032"/>
            <a:ext cx="1955626" cy="19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1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统计计算参考书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71DEC2-8206-43CF-B972-7E20C843E0B4}"/>
              </a:ext>
            </a:extLst>
          </p:cNvPr>
          <p:cNvSpPr/>
          <p:nvPr/>
        </p:nvSpPr>
        <p:spPr>
          <a:xfrm>
            <a:off x="108992" y="974595"/>
            <a:ext cx="89260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高惠璇</a:t>
            </a:r>
            <a:r>
              <a:rPr lang="en-US" altLang="zh-CN" sz="2800" b="1" dirty="0"/>
              <a:t>. </a:t>
            </a:r>
            <a:r>
              <a:rPr lang="zh-CN" altLang="en-US" sz="2800" b="1" dirty="0"/>
              <a:t>统计计算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北京：北京大学出版社</a:t>
            </a:r>
            <a:r>
              <a:rPr lang="en-US" altLang="zh-CN" sz="2800" b="1" dirty="0"/>
              <a:t>, 1995.07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杰夫</a:t>
            </a:r>
            <a:r>
              <a:rPr lang="en-US" altLang="zh-CN" sz="2800" b="1" dirty="0"/>
              <a:t>·H·</a:t>
            </a:r>
            <a:r>
              <a:rPr lang="zh-CN" altLang="en-US" sz="2800" b="1" dirty="0"/>
              <a:t>吉文斯，镇妮弗</a:t>
            </a:r>
            <a:r>
              <a:rPr lang="en-US" altLang="zh-CN" sz="2800" b="1" dirty="0"/>
              <a:t>·A·</a:t>
            </a:r>
            <a:r>
              <a:rPr lang="zh-CN" altLang="en-US" sz="2800" b="1" dirty="0"/>
              <a:t>赫特</a:t>
            </a:r>
            <a:r>
              <a:rPr lang="en-US" altLang="zh-CN" sz="2800" b="1" dirty="0"/>
              <a:t>. </a:t>
            </a:r>
            <a:r>
              <a:rPr lang="zh-CN" altLang="en-US" sz="2800" b="1" dirty="0"/>
              <a:t>计算统计第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版</a:t>
            </a:r>
            <a:r>
              <a:rPr lang="en-US" altLang="zh-CN" sz="2800" b="1" dirty="0"/>
              <a:t>. </a:t>
            </a:r>
            <a:r>
              <a:rPr lang="zh-CN" altLang="en-US" sz="2800" b="1" dirty="0"/>
              <a:t>西安：西安交通大学出版社</a:t>
            </a:r>
            <a:r>
              <a:rPr lang="en-US" altLang="zh-CN" sz="2800" b="1" dirty="0"/>
              <a:t>, 2017.12</a:t>
            </a:r>
            <a:endParaRPr lang="zh-CN" altLang="en-US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500FF0-8762-4B07-9C7F-512AC2930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2" y="2822298"/>
            <a:ext cx="3333750" cy="3333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1165B5-C2E7-4C60-9725-A4B3817A0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711" y="2593698"/>
            <a:ext cx="25527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60C3988-E2D0-44FC-998F-5E30EA44F17A}"/>
              </a:ext>
            </a:extLst>
          </p:cNvPr>
          <p:cNvSpPr/>
          <p:nvPr/>
        </p:nvSpPr>
        <p:spPr>
          <a:xfrm>
            <a:off x="108992" y="1351508"/>
            <a:ext cx="89260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罗斯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统计模拟 英文版 第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版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北京：机械工业出版社</a:t>
            </a:r>
            <a:r>
              <a:rPr lang="en-US" altLang="zh-CN" sz="2400" b="1" dirty="0"/>
              <a:t>, 2013.5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玛利亚 </a:t>
            </a:r>
            <a:r>
              <a:rPr lang="en-US" altLang="zh-CN" sz="2400" b="1" dirty="0"/>
              <a:t>L·</a:t>
            </a:r>
            <a:r>
              <a:rPr lang="zh-CN" altLang="en-US" sz="2400" b="1" dirty="0"/>
              <a:t>里佐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统计计算使用</a:t>
            </a:r>
            <a:r>
              <a:rPr lang="en-US" altLang="zh-CN" sz="2400" b="1" dirty="0"/>
              <a:t>R. </a:t>
            </a:r>
            <a:r>
              <a:rPr lang="zh-CN" altLang="en-US" sz="2400" b="1" dirty="0"/>
              <a:t>北京：机械工业出版社</a:t>
            </a:r>
            <a:r>
              <a:rPr lang="en-US" altLang="zh-CN" sz="2400" b="1" dirty="0"/>
              <a:t>, 2019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肖华勇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统计计算与软件应用 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版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西安：西北工业大学出版社</a:t>
            </a:r>
            <a:r>
              <a:rPr lang="en-US" altLang="zh-CN" sz="2400" b="1" dirty="0"/>
              <a:t>, 2018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James E. Gentle, Wolfgang </a:t>
            </a:r>
            <a:r>
              <a:rPr lang="en-US" altLang="zh-CN" sz="2400" b="1" dirty="0" err="1"/>
              <a:t>Hardle</a:t>
            </a:r>
            <a:r>
              <a:rPr lang="en-US" altLang="zh-CN" sz="2400" b="1" dirty="0"/>
              <a:t>, Yuichi Mori, Handbook of computational statistics : concepts and methods, 2ED , Berlin; London: Springer, 2012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徐树方，</a:t>
            </a:r>
            <a:r>
              <a:rPr lang="en-US" altLang="zh-CN" sz="2400" b="1" dirty="0"/>
              <a:t>《</a:t>
            </a:r>
            <a:r>
              <a:rPr lang="zh-CN" altLang="en-US" sz="2400" b="1" dirty="0"/>
              <a:t>矩阵计算的理论与方法</a:t>
            </a:r>
            <a:r>
              <a:rPr lang="en-US" altLang="zh-CN" sz="2400" b="1" dirty="0"/>
              <a:t>》(</a:t>
            </a:r>
            <a:r>
              <a:rPr lang="zh-CN" altLang="en-US" sz="2400" b="1" dirty="0"/>
              <a:t>北京大学数学丛书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，北京大学出版社，</a:t>
            </a:r>
            <a:r>
              <a:rPr lang="en-US" altLang="zh-CN" sz="2400" b="1" dirty="0"/>
              <a:t>1995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David </a:t>
            </a:r>
            <a:r>
              <a:rPr lang="en-US" altLang="zh-CN" sz="2400" b="1" dirty="0" err="1"/>
              <a:t>C.Hoaglin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探索性数据分析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北京：中国统计出版社</a:t>
            </a:r>
            <a:r>
              <a:rPr lang="en-US" altLang="zh-CN" sz="2400" b="1" dirty="0"/>
              <a:t>, 1998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李航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统计学习方法 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版</a:t>
            </a:r>
            <a:r>
              <a:rPr lang="en-US" altLang="zh-CN" sz="2400" b="1" dirty="0"/>
              <a:t>[M]. </a:t>
            </a:r>
            <a:r>
              <a:rPr lang="zh-CN" altLang="en-US" sz="2400" b="1" dirty="0"/>
              <a:t>北京：清华大学出版社</a:t>
            </a:r>
            <a:r>
              <a:rPr lang="en-US" altLang="zh-CN" sz="2400" b="1" dirty="0"/>
              <a:t>, 2019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27237-2FB6-42AF-89C9-EA2AEA29D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1D61F2-B1FF-4401-8E04-30E6D5DFC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zh-CN" altLang="en-US" b="1" dirty="0">
                <a:solidFill>
                  <a:srgbClr val="FF0000"/>
                </a:solidFill>
              </a:rPr>
              <a:t>数理统计为基础</a:t>
            </a:r>
            <a:r>
              <a:rPr lang="zh-CN" altLang="en-US" b="1" dirty="0"/>
              <a:t>，如何应用数理统计学中的回归分析、多元分析、时间序列分析等统计方法解决实际问题，如何解决在应用中出现的计算问题。</a:t>
            </a:r>
          </a:p>
          <a:p>
            <a:pPr fontAlgn="base"/>
            <a:endParaRPr lang="zh-CN" altLang="en-US" b="1" dirty="0"/>
          </a:p>
          <a:p>
            <a:pPr fontAlgn="base"/>
            <a:r>
              <a:rPr lang="zh-CN" altLang="en-US" b="1" dirty="0">
                <a:solidFill>
                  <a:srgbClr val="FF0000"/>
                </a:solidFill>
              </a:rPr>
              <a:t>数值计算理论为指导</a:t>
            </a:r>
            <a:r>
              <a:rPr lang="zh-CN" altLang="en-US" b="1" dirty="0"/>
              <a:t>，以分布函数的计算为例，在分布函数的计算中，需要运用积分的近似算法，如：等距内插求积公式、高斯型求积公式以及有理函数逼近、连分式逼近等数值计算方法。</a:t>
            </a:r>
          </a:p>
          <a:p>
            <a:pPr fontAlgn="base"/>
            <a:endParaRPr lang="zh-CN" altLang="en-US" b="1" dirty="0"/>
          </a:p>
          <a:p>
            <a:pPr fontAlgn="base"/>
            <a:r>
              <a:rPr lang="zh-CN" altLang="en-US" b="1" dirty="0">
                <a:solidFill>
                  <a:srgbClr val="FF0000"/>
                </a:solidFill>
              </a:rPr>
              <a:t>由计算机实现</a:t>
            </a:r>
            <a:r>
              <a:rPr lang="zh-CN" altLang="en-US" b="1" dirty="0"/>
              <a:t>。以算法为基础，使用高级语言编写程序实现计算。以统计模型为基础，使用</a:t>
            </a:r>
            <a:r>
              <a:rPr lang="en-US" altLang="zh-CN" b="1" dirty="0"/>
              <a:t>SPSS</a:t>
            </a:r>
            <a:r>
              <a:rPr lang="zh-CN" altLang="en-US" b="1" dirty="0"/>
              <a:t>或</a:t>
            </a:r>
            <a:r>
              <a:rPr lang="en-US" altLang="zh-CN" b="1" dirty="0"/>
              <a:t>SAS</a:t>
            </a:r>
            <a:r>
              <a:rPr lang="zh-CN" altLang="en-US" b="1" dirty="0"/>
              <a:t>对具体数据进行分析。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963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C9E0C-0C76-49CD-8D3D-119194A9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课程目标与毕业要求的支撑关系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324FF-30CF-49C7-AF71-88BDAF30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zh-CN" altLang="zh-CN" dirty="0"/>
              <a:t>掌握</a:t>
            </a:r>
            <a:r>
              <a:rPr lang="zh-CN" altLang="zh-CN" b="1" dirty="0">
                <a:solidFill>
                  <a:srgbClr val="FF0000"/>
                </a:solidFill>
              </a:rPr>
              <a:t>基本</a:t>
            </a:r>
            <a:r>
              <a:rPr lang="zh-CN" altLang="en-US" b="1" dirty="0">
                <a:solidFill>
                  <a:srgbClr val="FF0000"/>
                </a:solidFill>
              </a:rPr>
              <a:t>统计</a:t>
            </a:r>
            <a:r>
              <a:rPr lang="zh-CN" altLang="zh-CN" b="1" dirty="0">
                <a:solidFill>
                  <a:srgbClr val="FF0000"/>
                </a:solidFill>
              </a:rPr>
              <a:t>问题在计算机上进行</a:t>
            </a:r>
            <a:r>
              <a:rPr lang="zh-CN" altLang="en-US" b="1" dirty="0">
                <a:solidFill>
                  <a:srgbClr val="FF0000"/>
                </a:solidFill>
              </a:rPr>
              <a:t>计算</a:t>
            </a:r>
            <a:r>
              <a:rPr lang="zh-CN" altLang="zh-CN" dirty="0"/>
              <a:t>的方法，并能够对这些方法进行误差分析和收敛性分析。（支撑毕业要求</a:t>
            </a:r>
            <a:r>
              <a:rPr lang="en-US" altLang="zh-CN" dirty="0"/>
              <a:t>1-1</a:t>
            </a:r>
            <a:r>
              <a:rPr lang="zh-CN" altLang="zh-CN" dirty="0"/>
              <a:t>）</a:t>
            </a:r>
          </a:p>
          <a:p>
            <a:pPr fontAlgn="base"/>
            <a:r>
              <a:rPr lang="zh-CN" altLang="zh-CN" dirty="0"/>
              <a:t>学会使用</a:t>
            </a:r>
            <a:r>
              <a:rPr lang="zh-CN" altLang="en-US" b="1" dirty="0">
                <a:solidFill>
                  <a:srgbClr val="FF0000"/>
                </a:solidFill>
              </a:rPr>
              <a:t>统计</a:t>
            </a:r>
            <a:r>
              <a:rPr lang="zh-CN" altLang="zh-CN" dirty="0">
                <a:solidFill>
                  <a:srgbClr val="FF0000"/>
                </a:solidFill>
              </a:rPr>
              <a:t>思维</a:t>
            </a:r>
            <a:r>
              <a:rPr lang="zh-CN" altLang="zh-CN" dirty="0"/>
              <a:t>对复杂计算机工程问题进行合理地描述，通过对问题进行抽象，建立</a:t>
            </a:r>
            <a:r>
              <a:rPr lang="zh-CN" altLang="en-US" dirty="0"/>
              <a:t>统计</a:t>
            </a:r>
            <a:r>
              <a:rPr lang="zh-CN" altLang="zh-CN" dirty="0"/>
              <a:t>模型。（支撑毕业要求</a:t>
            </a:r>
            <a:r>
              <a:rPr lang="en-US" altLang="zh-CN" dirty="0"/>
              <a:t>2-1</a:t>
            </a:r>
            <a:r>
              <a:rPr lang="zh-CN" altLang="zh-CN" dirty="0"/>
              <a:t>，</a:t>
            </a:r>
            <a:r>
              <a:rPr lang="en-US" altLang="zh-CN" dirty="0"/>
              <a:t>4-1</a:t>
            </a:r>
            <a:r>
              <a:rPr lang="zh-CN" altLang="zh-CN" dirty="0"/>
              <a:t>）</a:t>
            </a:r>
          </a:p>
          <a:p>
            <a:pPr fontAlgn="base"/>
            <a:r>
              <a:rPr lang="zh-CN" altLang="zh-CN" dirty="0"/>
              <a:t>针对建立的</a:t>
            </a:r>
            <a:r>
              <a:rPr lang="zh-CN" altLang="en-US" dirty="0"/>
              <a:t>统计</a:t>
            </a:r>
            <a:r>
              <a:rPr lang="zh-CN" altLang="zh-CN" dirty="0"/>
              <a:t>模型，学会综合考虑算法的性能，以及在时间和空间上的开销，</a:t>
            </a:r>
            <a:r>
              <a:rPr lang="zh-CN" altLang="zh-CN" b="1" dirty="0">
                <a:solidFill>
                  <a:srgbClr val="FF0000"/>
                </a:solidFill>
              </a:rPr>
              <a:t>选择使用适合计算机的</a:t>
            </a:r>
            <a:r>
              <a:rPr lang="zh-CN" altLang="en-US" b="1" dirty="0">
                <a:solidFill>
                  <a:srgbClr val="FF0000"/>
                </a:solidFill>
              </a:rPr>
              <a:t>统计</a:t>
            </a:r>
            <a:r>
              <a:rPr lang="zh-CN" altLang="zh-CN" b="1" dirty="0">
                <a:solidFill>
                  <a:srgbClr val="FF0000"/>
                </a:solidFill>
              </a:rPr>
              <a:t>计算方法</a:t>
            </a:r>
            <a:r>
              <a:rPr lang="zh-CN" altLang="zh-CN" dirty="0"/>
              <a:t>。（支撑毕业要求</a:t>
            </a:r>
            <a:r>
              <a:rPr lang="en-US" altLang="zh-CN" dirty="0"/>
              <a:t>3-1</a:t>
            </a:r>
            <a:r>
              <a:rPr lang="zh-CN" altLang="zh-CN" dirty="0"/>
              <a:t>）</a:t>
            </a:r>
          </a:p>
          <a:p>
            <a:pPr fontAlgn="base"/>
            <a:r>
              <a:rPr lang="zh-CN" altLang="zh-CN" dirty="0"/>
              <a:t>针对实际问题，能够采用科学方法对问题进行抽象，设计模型与算法，进而</a:t>
            </a:r>
            <a:r>
              <a:rPr lang="zh-CN" altLang="zh-CN" b="1" dirty="0">
                <a:solidFill>
                  <a:srgbClr val="FF0000"/>
                </a:solidFill>
              </a:rPr>
              <a:t>设计</a:t>
            </a:r>
            <a:r>
              <a:rPr lang="zh-CN" altLang="en-US" b="1" dirty="0">
                <a:solidFill>
                  <a:srgbClr val="FF0000"/>
                </a:solidFill>
              </a:rPr>
              <a:t>统计</a:t>
            </a:r>
            <a:r>
              <a:rPr lang="zh-CN" altLang="zh-CN" b="1" dirty="0">
                <a:solidFill>
                  <a:srgbClr val="FF0000"/>
                </a:solidFill>
              </a:rPr>
              <a:t>实验进行验证</a:t>
            </a:r>
            <a:r>
              <a:rPr lang="zh-CN" altLang="zh-CN" dirty="0"/>
              <a:t>，能够对实验结果进行分析和解释，通过信息综合得到合理有效的结论。（支撑毕业要求</a:t>
            </a:r>
            <a:r>
              <a:rPr lang="en-US" altLang="zh-CN" dirty="0"/>
              <a:t>4-1</a:t>
            </a:r>
            <a:r>
              <a:rPr lang="zh-CN" altLang="zh-CN" dirty="0"/>
              <a:t>，</a:t>
            </a:r>
            <a:r>
              <a:rPr lang="en-US" altLang="zh-CN" dirty="0"/>
              <a:t>4-2</a:t>
            </a:r>
            <a:r>
              <a:rPr lang="zh-CN" altLang="zh-CN" dirty="0"/>
              <a:t>，</a:t>
            </a:r>
            <a:r>
              <a:rPr lang="en-US" altLang="zh-CN" dirty="0"/>
              <a:t>4-3</a:t>
            </a:r>
            <a:r>
              <a:rPr lang="zh-CN" altLang="zh-CN" dirty="0"/>
              <a:t>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66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   期末考试    </a:t>
            </a:r>
            <a:r>
              <a:rPr lang="en-US" altLang="zh-CN" dirty="0"/>
              <a:t>70%</a:t>
            </a:r>
          </a:p>
          <a:p>
            <a:pPr>
              <a:defRPr/>
            </a:pPr>
            <a:r>
              <a:rPr lang="zh-CN" altLang="en-US" dirty="0"/>
              <a:t>   平时成绩    </a:t>
            </a:r>
            <a:r>
              <a:rPr lang="en-US" altLang="zh-CN" dirty="0"/>
              <a:t>30%</a:t>
            </a:r>
            <a:r>
              <a:rPr lang="zh-CN" altLang="en-US" dirty="0"/>
              <a:t>（含作业</a:t>
            </a:r>
            <a:r>
              <a:rPr lang="en-US" altLang="zh-CN" dirty="0"/>
              <a:t>+</a:t>
            </a:r>
            <a:r>
              <a:rPr lang="zh-CN" altLang="en-US" dirty="0"/>
              <a:t>出勤）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   超星学习通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zh-CN" altLang="en-US"/>
              <a:t>                        </a:t>
            </a:r>
            <a:r>
              <a:rPr lang="en-US" altLang="zh-CN"/>
              <a:t>-&gt; </a:t>
            </a:r>
            <a:r>
              <a:rPr lang="en-US" altLang="zh-CN" dirty="0"/>
              <a:t>PPT</a:t>
            </a:r>
            <a:r>
              <a:rPr lang="zh-CN" altLang="en-US" dirty="0"/>
              <a:t>，资料，作业，点名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535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BFB22A3F-9AC4-46DA-AE5A-B747B811A421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zh-CN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要求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464BEC65-90D2-4A61-9204-00796FF5BEC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200" dirty="0"/>
              <a:t>手机</a:t>
            </a:r>
            <a:r>
              <a:rPr lang="zh-CN" altLang="en-US" sz="3200" b="1" dirty="0">
                <a:solidFill>
                  <a:srgbClr val="FF0000"/>
                </a:solidFill>
              </a:rPr>
              <a:t>关机或静音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3200" dirty="0"/>
              <a:t>保证</a:t>
            </a:r>
            <a:r>
              <a:rPr lang="zh-CN" altLang="en-US" sz="3200" b="1" dirty="0">
                <a:solidFill>
                  <a:srgbClr val="FF0000"/>
                </a:solidFill>
              </a:rPr>
              <a:t>出勤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3200" dirty="0"/>
              <a:t>按时</a:t>
            </a:r>
            <a:r>
              <a:rPr lang="zh-CN" altLang="en-US" sz="3200" b="1" dirty="0">
                <a:solidFill>
                  <a:srgbClr val="FF0000"/>
                </a:solidFill>
              </a:rPr>
              <a:t>独立</a:t>
            </a:r>
            <a:r>
              <a:rPr lang="zh-CN" altLang="en-US" sz="3200" dirty="0"/>
              <a:t>完成作业</a:t>
            </a:r>
            <a:endParaRPr lang="en-US" altLang="zh-CN" sz="3200" dirty="0"/>
          </a:p>
          <a:p>
            <a:pPr eaLnBrk="1" hangingPunct="1">
              <a:lnSpc>
                <a:spcPct val="20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随时</a:t>
            </a:r>
            <a:r>
              <a:rPr lang="zh-CN" altLang="en-US" sz="3200" dirty="0"/>
              <a:t>提问</a:t>
            </a:r>
            <a:endParaRPr lang="en-US" altLang="zh-CN" sz="3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54554E9-52A3-47E8-BDEE-FF8CCD0E7C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前期课程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EAE1DF5-5A3D-4289-B17E-BA34416021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26765"/>
            <a:ext cx="8229600" cy="5198671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200" dirty="0"/>
              <a:t>计算方法</a:t>
            </a:r>
            <a:endParaRPr lang="en-US" altLang="zh-CN" sz="3200" dirty="0"/>
          </a:p>
          <a:p>
            <a:pPr eaLnBrk="1" hangingPunct="1"/>
            <a:r>
              <a:rPr lang="zh-CN" altLang="en-US" sz="3200" dirty="0"/>
              <a:t>线性代数</a:t>
            </a:r>
          </a:p>
          <a:p>
            <a:pPr eaLnBrk="1" hangingPunct="1"/>
            <a:r>
              <a:rPr lang="zh-CN" altLang="en-US" sz="3200" dirty="0"/>
              <a:t>最优化理论</a:t>
            </a:r>
            <a:endParaRPr lang="en-US" altLang="zh-CN" sz="3200" dirty="0"/>
          </a:p>
          <a:p>
            <a:r>
              <a:rPr lang="zh-CN" altLang="en-US" sz="3200" dirty="0"/>
              <a:t>概率统计</a:t>
            </a:r>
            <a:endParaRPr lang="en-US" altLang="zh-CN" sz="3200" b="1" dirty="0"/>
          </a:p>
          <a:p>
            <a:pPr eaLnBrk="1" hangingPunct="1"/>
            <a:r>
              <a:rPr lang="zh-CN" altLang="en-US" sz="3200" dirty="0"/>
              <a:t>高级语言程序设计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1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5400"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solidFill>
            <a:srgbClr val="0070C0"/>
          </a:solidFill>
        </a:ln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2976</TotalTime>
  <Words>628</Words>
  <Application>Microsoft Office PowerPoint</Application>
  <PresentationFormat>全屏显示(4:3)</PresentationFormat>
  <Paragraphs>58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楷体</vt:lpstr>
      <vt:lpstr>Arial</vt:lpstr>
      <vt:lpstr>Calibri</vt:lpstr>
      <vt:lpstr>Times New Roman</vt:lpstr>
      <vt:lpstr>Wingdings</vt:lpstr>
      <vt:lpstr>1_主题1</vt:lpstr>
      <vt:lpstr>统计计算 Statistical Computation</vt:lpstr>
      <vt:lpstr>教师情况</vt:lpstr>
      <vt:lpstr>统计计算教材</vt:lpstr>
      <vt:lpstr>统计计算参考书</vt:lpstr>
      <vt:lpstr>PowerPoint 演示文稿</vt:lpstr>
      <vt:lpstr>课程特点</vt:lpstr>
      <vt:lpstr>课程目标与毕业要求的支撑关系</vt:lpstr>
      <vt:lpstr>考核</vt:lpstr>
      <vt:lpstr>要求</vt:lpstr>
      <vt:lpstr>前期课程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f</cp:lastModifiedBy>
  <cp:revision>619</cp:revision>
  <dcterms:created xsi:type="dcterms:W3CDTF">2019-02-23T03:48:00Z</dcterms:created>
  <dcterms:modified xsi:type="dcterms:W3CDTF">2024-08-27T03:17:46Z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