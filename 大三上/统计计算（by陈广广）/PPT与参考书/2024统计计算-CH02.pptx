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764" r:id="rId1"/>
    <p:sldMasterId id="2147484864" r:id="rId2"/>
    <p:sldMasterId id="2147484852" r:id="rId3"/>
    <p:sldMasterId id="2147484840" r:id="rId4"/>
  </p:sldMasterIdLst>
  <p:notesMasterIdLst>
    <p:notesMasterId r:id="rId126"/>
  </p:notesMasterIdLst>
  <p:handoutMasterIdLst>
    <p:handoutMasterId r:id="rId127"/>
  </p:handoutMasterIdLst>
  <p:sldIdLst>
    <p:sldId id="328" r:id="rId5"/>
    <p:sldId id="524" r:id="rId6"/>
    <p:sldId id="670" r:id="rId7"/>
    <p:sldId id="787" r:id="rId8"/>
    <p:sldId id="671" r:id="rId9"/>
    <p:sldId id="606" r:id="rId10"/>
    <p:sldId id="607" r:id="rId11"/>
    <p:sldId id="603" r:id="rId12"/>
    <p:sldId id="610" r:id="rId13"/>
    <p:sldId id="616" r:id="rId14"/>
    <p:sldId id="617" r:id="rId15"/>
    <p:sldId id="619" r:id="rId16"/>
    <p:sldId id="618" r:id="rId17"/>
    <p:sldId id="672" r:id="rId18"/>
    <p:sldId id="673" r:id="rId19"/>
    <p:sldId id="620" r:id="rId20"/>
    <p:sldId id="621" r:id="rId21"/>
    <p:sldId id="622" r:id="rId22"/>
    <p:sldId id="611" r:id="rId23"/>
    <p:sldId id="647" r:id="rId24"/>
    <p:sldId id="624" r:id="rId25"/>
    <p:sldId id="741" r:id="rId26"/>
    <p:sldId id="625" r:id="rId27"/>
    <p:sldId id="612" r:id="rId28"/>
    <p:sldId id="648" r:id="rId29"/>
    <p:sldId id="674" r:id="rId30"/>
    <p:sldId id="642" r:id="rId31"/>
    <p:sldId id="613" r:id="rId32"/>
    <p:sldId id="742" r:id="rId33"/>
    <p:sldId id="748" r:id="rId34"/>
    <p:sldId id="649" r:id="rId35"/>
    <p:sldId id="614" r:id="rId36"/>
    <p:sldId id="650" r:id="rId37"/>
    <p:sldId id="749" r:id="rId38"/>
    <p:sldId id="615" r:id="rId39"/>
    <p:sldId id="753" r:id="rId40"/>
    <p:sldId id="645" r:id="rId41"/>
    <p:sldId id="646" r:id="rId42"/>
    <p:sldId id="651" r:id="rId43"/>
    <p:sldId id="653" r:id="rId44"/>
    <p:sldId id="655" r:id="rId45"/>
    <p:sldId id="657" r:id="rId46"/>
    <p:sldId id="667" r:id="rId47"/>
    <p:sldId id="656" r:id="rId48"/>
    <p:sldId id="654" r:id="rId49"/>
    <p:sldId id="668" r:id="rId50"/>
    <p:sldId id="659" r:id="rId51"/>
    <p:sldId id="660" r:id="rId52"/>
    <p:sldId id="604" r:id="rId53"/>
    <p:sldId id="636" r:id="rId54"/>
    <p:sldId id="676" r:id="rId55"/>
    <p:sldId id="758" r:id="rId56"/>
    <p:sldId id="757" r:id="rId57"/>
    <p:sldId id="675" r:id="rId58"/>
    <p:sldId id="709" r:id="rId59"/>
    <p:sldId id="678" r:id="rId60"/>
    <p:sldId id="679" r:id="rId61"/>
    <p:sldId id="680" r:id="rId62"/>
    <p:sldId id="681" r:id="rId63"/>
    <p:sldId id="682" r:id="rId64"/>
    <p:sldId id="710" r:id="rId65"/>
    <p:sldId id="683" r:id="rId66"/>
    <p:sldId id="684" r:id="rId67"/>
    <p:sldId id="712" r:id="rId68"/>
    <p:sldId id="797" r:id="rId69"/>
    <p:sldId id="685" r:id="rId70"/>
    <p:sldId id="686" r:id="rId71"/>
    <p:sldId id="711" r:id="rId72"/>
    <p:sldId id="773" r:id="rId73"/>
    <p:sldId id="637" r:id="rId74"/>
    <p:sldId id="687" r:id="rId75"/>
    <p:sldId id="690" r:id="rId76"/>
    <p:sldId id="689" r:id="rId77"/>
    <p:sldId id="691" r:id="rId78"/>
    <p:sldId id="688" r:id="rId79"/>
    <p:sldId id="692" r:id="rId80"/>
    <p:sldId id="717" r:id="rId81"/>
    <p:sldId id="716" r:id="rId82"/>
    <p:sldId id="718" r:id="rId83"/>
    <p:sldId id="638" r:id="rId84"/>
    <p:sldId id="695" r:id="rId85"/>
    <p:sldId id="696" r:id="rId86"/>
    <p:sldId id="697" r:id="rId87"/>
    <p:sldId id="719" r:id="rId88"/>
    <p:sldId id="639" r:id="rId89"/>
    <p:sldId id="698" r:id="rId90"/>
    <p:sldId id="702" r:id="rId91"/>
    <p:sldId id="703" r:id="rId92"/>
    <p:sldId id="699" r:id="rId93"/>
    <p:sldId id="731" r:id="rId94"/>
    <p:sldId id="730" r:id="rId95"/>
    <p:sldId id="700" r:id="rId96"/>
    <p:sldId id="701" r:id="rId97"/>
    <p:sldId id="732" r:id="rId98"/>
    <p:sldId id="733" r:id="rId99"/>
    <p:sldId id="704" r:id="rId100"/>
    <p:sldId id="727" r:id="rId101"/>
    <p:sldId id="713" r:id="rId102"/>
    <p:sldId id="714" r:id="rId103"/>
    <p:sldId id="780" r:id="rId104"/>
    <p:sldId id="781" r:id="rId105"/>
    <p:sldId id="782" r:id="rId106"/>
    <p:sldId id="783" r:id="rId107"/>
    <p:sldId id="715" r:id="rId108"/>
    <p:sldId id="728" r:id="rId109"/>
    <p:sldId id="784" r:id="rId110"/>
    <p:sldId id="785" r:id="rId111"/>
    <p:sldId id="729" r:id="rId112"/>
    <p:sldId id="706" r:id="rId113"/>
    <p:sldId id="707" r:id="rId114"/>
    <p:sldId id="708" r:id="rId115"/>
    <p:sldId id="605" r:id="rId116"/>
    <p:sldId id="803" r:id="rId117"/>
    <p:sldId id="802" r:id="rId118"/>
    <p:sldId id="724" r:id="rId119"/>
    <p:sldId id="799" r:id="rId120"/>
    <p:sldId id="725" r:id="rId121"/>
    <p:sldId id="801" r:id="rId122"/>
    <p:sldId id="726" r:id="rId123"/>
    <p:sldId id="800" r:id="rId124"/>
    <p:sldId id="722" r:id="rId125"/>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0AF6"/>
    <a:srgbClr val="FF0000"/>
    <a:srgbClr val="00E4A8"/>
    <a:srgbClr val="05FF7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1" autoAdjust="0"/>
    <p:restoredTop sz="79926" autoAdjust="0"/>
  </p:normalViewPr>
  <p:slideViewPr>
    <p:cSldViewPr>
      <p:cViewPr varScale="1">
        <p:scale>
          <a:sx n="62" d="100"/>
          <a:sy n="62" d="100"/>
        </p:scale>
        <p:origin x="1862" y="31"/>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846"/>
    </p:cViewPr>
  </p:sorterViewPr>
  <p:notesViewPr>
    <p:cSldViewPr>
      <p:cViewPr varScale="1">
        <p:scale>
          <a:sx n="53" d="100"/>
          <a:sy n="53" d="100"/>
        </p:scale>
        <p:origin x="-1926" y="-96"/>
      </p:cViewPr>
      <p:guideLst>
        <p:guide orient="horz" pos="3224"/>
        <p:guide pos="2236"/>
      </p:guideLst>
    </p:cSldViewPr>
  </p:notesViewPr>
  <p:gridSpacing cx="45005" cy="45005"/>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presProps" Target="pres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viewProps" Target="view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theme" Target="theme/theme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B107B2A-DAC5-4416-974E-078E8DBB782B}"/>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5" name="Rectangle 3">
            <a:extLst>
              <a:ext uri="{FF2B5EF4-FFF2-40B4-BE49-F238E27FC236}">
                <a16:creationId xmlns:a16="http://schemas.microsoft.com/office/drawing/2014/main" id="{F8823D40-50F4-4203-B225-423B948F35BD}"/>
              </a:ext>
            </a:extLst>
          </p:cNvPr>
          <p:cNvSpPr>
            <a:spLocks noGrp="1" noChangeArrowheads="1"/>
          </p:cNvSpPr>
          <p:nvPr>
            <p:ph type="dt" sz="quarter"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DA6B86F3-BAD2-4843-9058-D4A47376990D}"/>
              </a:ext>
            </a:extLst>
          </p:cNvPr>
          <p:cNvSpPr>
            <a:spLocks noGrp="1" noChangeArrowheads="1"/>
          </p:cNvSpPr>
          <p:nvPr>
            <p:ph type="ftr" sz="quarter" idx="2"/>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28677" name="Rectangle 5">
            <a:extLst>
              <a:ext uri="{FF2B5EF4-FFF2-40B4-BE49-F238E27FC236}">
                <a16:creationId xmlns:a16="http://schemas.microsoft.com/office/drawing/2014/main" id="{EEE122FC-8C0E-435B-8E52-C01A804A9B37}"/>
              </a:ext>
            </a:extLst>
          </p:cNvPr>
          <p:cNvSpPr>
            <a:spLocks noGrp="1" noChangeArrowheads="1"/>
          </p:cNvSpPr>
          <p:nvPr>
            <p:ph type="sldNum" sz="quarter" idx="3"/>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43E1ABD5-734C-45E3-8E59-EA2CFC9A04A5}"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E04FAA8-1251-4724-A213-F4314383DCCE}"/>
              </a:ext>
            </a:extLst>
          </p:cNvPr>
          <p:cNvSpPr>
            <a:spLocks noGrp="1" noChangeArrowheads="1"/>
          </p:cNvSpPr>
          <p:nvPr>
            <p:ph type="hdr" sz="quarter"/>
          </p:nvPr>
        </p:nvSpPr>
        <p:spPr bwMode="auto">
          <a:xfrm>
            <a:off x="0"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1" name="Rectangle 3">
            <a:extLst>
              <a:ext uri="{FF2B5EF4-FFF2-40B4-BE49-F238E27FC236}">
                <a16:creationId xmlns:a16="http://schemas.microsoft.com/office/drawing/2014/main" id="{C7FE1E47-3890-4A19-BF22-ABD056D1609A}"/>
              </a:ext>
            </a:extLst>
          </p:cNvPr>
          <p:cNvSpPr>
            <a:spLocks noGrp="1" noChangeArrowheads="1"/>
          </p:cNvSpPr>
          <p:nvPr>
            <p:ph type="dt" idx="1"/>
          </p:nvPr>
        </p:nvSpPr>
        <p:spPr bwMode="auto">
          <a:xfrm>
            <a:off x="4021138" y="0"/>
            <a:ext cx="3076575" cy="51117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pitchFamily="2" charset="-122"/>
              </a:defRPr>
            </a:lvl1pPr>
          </a:lstStyle>
          <a:p>
            <a:pPr>
              <a:defRPr/>
            </a:pPr>
            <a:endParaRPr lang="en-US" altLang="zh-CN"/>
          </a:p>
        </p:txBody>
      </p:sp>
      <p:sp>
        <p:nvSpPr>
          <p:cNvPr id="28676" name="Rectangle 4">
            <a:extLst>
              <a:ext uri="{FF2B5EF4-FFF2-40B4-BE49-F238E27FC236}">
                <a16:creationId xmlns:a16="http://schemas.microsoft.com/office/drawing/2014/main" id="{C360BA55-EA8A-4F4B-84B3-69CF6A8F7EA3}"/>
              </a:ext>
            </a:extLst>
          </p:cNvPr>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CFB93E25-B75C-4792-AFE7-5CBE769FE4B0}"/>
              </a:ext>
            </a:extLst>
          </p:cNvPr>
          <p:cNvSpPr>
            <a:spLocks noGrp="1" noChangeArrowheads="1"/>
          </p:cNvSpPr>
          <p:nvPr>
            <p:ph type="body" sz="quarter" idx="3"/>
          </p:nvPr>
        </p:nvSpPr>
        <p:spPr bwMode="auto">
          <a:xfrm>
            <a:off x="709613" y="4860925"/>
            <a:ext cx="5680075" cy="4605338"/>
          </a:xfrm>
          <a:prstGeom prst="rect">
            <a:avLst/>
          </a:prstGeom>
          <a:noFill/>
          <a:ln>
            <a:noFill/>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74" name="Rectangle 6">
            <a:extLst>
              <a:ext uri="{FF2B5EF4-FFF2-40B4-BE49-F238E27FC236}">
                <a16:creationId xmlns:a16="http://schemas.microsoft.com/office/drawing/2014/main" id="{D790EB04-C85D-4D5C-A1A5-0531589EE258}"/>
              </a:ext>
            </a:extLst>
          </p:cNvPr>
          <p:cNvSpPr>
            <a:spLocks noGrp="1" noChangeArrowheads="1"/>
          </p:cNvSpPr>
          <p:nvPr>
            <p:ph type="ftr" sz="quarter" idx="4"/>
          </p:nvPr>
        </p:nvSpPr>
        <p:spPr bwMode="auto">
          <a:xfrm>
            <a:off x="0"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ea typeface="宋体" pitchFamily="2" charset="-122"/>
              </a:defRPr>
            </a:lvl1pPr>
          </a:lstStyle>
          <a:p>
            <a:pPr>
              <a:defRPr/>
            </a:pPr>
            <a:endParaRPr lang="en-US" altLang="zh-CN"/>
          </a:p>
        </p:txBody>
      </p:sp>
      <p:sp>
        <p:nvSpPr>
          <p:cNvPr id="32775" name="Rectangle 7">
            <a:extLst>
              <a:ext uri="{FF2B5EF4-FFF2-40B4-BE49-F238E27FC236}">
                <a16:creationId xmlns:a16="http://schemas.microsoft.com/office/drawing/2014/main" id="{3953FBA4-B32F-45E3-99B1-1CBCA21ED888}"/>
              </a:ext>
            </a:extLst>
          </p:cNvPr>
          <p:cNvSpPr>
            <a:spLocks noGrp="1" noChangeArrowheads="1"/>
          </p:cNvSpPr>
          <p:nvPr>
            <p:ph type="sldNum" sz="quarter" idx="5"/>
          </p:nvPr>
        </p:nvSpPr>
        <p:spPr bwMode="auto">
          <a:xfrm>
            <a:off x="4021138" y="9721850"/>
            <a:ext cx="3076575" cy="51117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eaLnBrk="1" hangingPunct="1">
              <a:defRPr sz="1300" smtClean="0"/>
            </a:lvl1pPr>
          </a:lstStyle>
          <a:p>
            <a:pPr>
              <a:defRPr/>
            </a:pPr>
            <a:fld id="{614EFBFF-6306-4FE3-969F-1673B60D762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14EFBFF-6306-4FE3-969F-1673B60D7622}" type="slidenum">
              <a:rPr lang="en-US" altLang="zh-CN" smtClean="0"/>
              <a:pPr>
                <a:defRPr/>
              </a:pPr>
              <a:t>12</a:t>
            </a:fld>
            <a:endParaRPr lang="en-US" altLang="zh-CN"/>
          </a:p>
        </p:txBody>
      </p:sp>
    </p:spTree>
    <p:extLst>
      <p:ext uri="{BB962C8B-B14F-4D97-AF65-F5344CB8AC3E}">
        <p14:creationId xmlns:p14="http://schemas.microsoft.com/office/powerpoint/2010/main" val="28229337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199B7588-F61D-4FBF-BD50-AEEE32F421A6}"/>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9336F078-05E8-4905-BDCC-FC8A529469EC}"/>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pic>
        <p:nvPicPr>
          <p:cNvPr id="6" name="图片 10" descr="0691001310289278.jpg">
            <a:extLst>
              <a:ext uri="{FF2B5EF4-FFF2-40B4-BE49-F238E27FC236}">
                <a16:creationId xmlns:a16="http://schemas.microsoft.com/office/drawing/2014/main" id="{87A677AA-60BD-4CEE-BDB4-F2111884B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688"/>
            <a:ext cx="40005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1" y="2130441"/>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1" y="3886203"/>
            <a:ext cx="6400800" cy="1752600"/>
          </a:xfrm>
        </p:spPr>
        <p:txBody>
          <a:bodyPr/>
          <a:lstStyle>
            <a:lvl1pPr marL="0" indent="0" algn="ctr">
              <a:buNone/>
              <a:defRPr>
                <a:solidFill>
                  <a:schemeClr val="tx1">
                    <a:tint val="7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a:t>单击此处编辑母版副标题样式</a:t>
            </a:r>
          </a:p>
        </p:txBody>
      </p:sp>
      <p:sp>
        <p:nvSpPr>
          <p:cNvPr id="7" name="日期占位符 3">
            <a:extLst>
              <a:ext uri="{FF2B5EF4-FFF2-40B4-BE49-F238E27FC236}">
                <a16:creationId xmlns:a16="http://schemas.microsoft.com/office/drawing/2014/main" id="{C52C1BED-A9D5-487F-B245-D82DB0F65121}"/>
              </a:ext>
            </a:extLst>
          </p:cNvPr>
          <p:cNvSpPr>
            <a:spLocks noGrp="1"/>
          </p:cNvSpPr>
          <p:nvPr>
            <p:ph type="dt" sz="half" idx="10"/>
          </p:nvPr>
        </p:nvSpPr>
        <p:spPr/>
        <p:txBody>
          <a:bodyPr/>
          <a:lstStyle>
            <a:lvl1pPr algn="l" defTabSz="914400">
              <a:defRPr sz="675">
                <a:solidFill>
                  <a:prstClr val="black">
                    <a:tint val="75000"/>
                  </a:prstClr>
                </a:solidFill>
              </a:defRPr>
            </a:lvl1pPr>
          </a:lstStyle>
          <a:p>
            <a:pPr>
              <a:defRPr/>
            </a:pPr>
            <a:fld id="{91F8C692-78CC-4A5C-8E3A-3B26FFA232EB}" type="datetime3">
              <a:rPr lang="zh-CN" altLang="en-US"/>
              <a:pPr>
                <a:defRPr/>
              </a:pPr>
              <a:t>2024年10月10日星期四</a:t>
            </a:fld>
            <a:endParaRPr lang="zh-CN" altLang="en-US"/>
          </a:p>
        </p:txBody>
      </p:sp>
      <p:sp>
        <p:nvSpPr>
          <p:cNvPr id="8" name="页脚占位符 4">
            <a:extLst>
              <a:ext uri="{FF2B5EF4-FFF2-40B4-BE49-F238E27FC236}">
                <a16:creationId xmlns:a16="http://schemas.microsoft.com/office/drawing/2014/main" id="{ADFCEED8-F8D6-4C1A-9326-78157CD41178}"/>
              </a:ext>
            </a:extLst>
          </p:cNvPr>
          <p:cNvSpPr>
            <a:spLocks noGrp="1"/>
          </p:cNvSpPr>
          <p:nvPr>
            <p:ph type="ftr" sz="quarter" idx="11"/>
          </p:nvPr>
        </p:nvSpPr>
        <p:spPr/>
        <p:txBody>
          <a:bodyPr/>
          <a:lstStyle>
            <a:lvl1pPr marL="0" marR="0" indent="0" algn="ctr" defTabSz="513715" rtl="0" eaLnBrk="1" fontAlgn="auto" latinLnBrk="0" hangingPunct="1">
              <a:lnSpc>
                <a:spcPct val="100000"/>
              </a:lnSpc>
              <a:spcBef>
                <a:spcPts val="0"/>
              </a:spcBef>
              <a:spcAft>
                <a:spcPts val="0"/>
              </a:spcAft>
              <a:buClrTx/>
              <a:buSzTx/>
              <a:buFontTx/>
              <a:buNone/>
              <a:defRPr sz="675">
                <a:solidFill>
                  <a:prstClr val="black">
                    <a:tint val="75000"/>
                  </a:prstClr>
                </a:solidFill>
              </a:defRPr>
            </a:lvl1pPr>
          </a:lstStyle>
          <a:p>
            <a:pPr>
              <a:defRPr/>
            </a:pPr>
            <a:endParaRPr lang="zh-CN" altLang="en-US"/>
          </a:p>
        </p:txBody>
      </p:sp>
      <p:sp>
        <p:nvSpPr>
          <p:cNvPr id="9" name="灯片编号占位符 5">
            <a:extLst>
              <a:ext uri="{FF2B5EF4-FFF2-40B4-BE49-F238E27FC236}">
                <a16:creationId xmlns:a16="http://schemas.microsoft.com/office/drawing/2014/main" id="{E2DB5669-4509-450F-9BA5-7E020A67A3F2}"/>
              </a:ext>
            </a:extLst>
          </p:cNvPr>
          <p:cNvSpPr>
            <a:spLocks noGrp="1"/>
          </p:cNvSpPr>
          <p:nvPr>
            <p:ph type="sldNum" sz="quarter" idx="12"/>
          </p:nvPr>
        </p:nvSpPr>
        <p:spPr/>
        <p:txBody>
          <a:bodyPr/>
          <a:lstStyle>
            <a:lvl1pPr defTabSz="914400">
              <a:defRPr sz="600" smtClean="0"/>
            </a:lvl1pPr>
          </a:lstStyle>
          <a:p>
            <a:pPr>
              <a:defRPr/>
            </a:pPr>
            <a:fld id="{BBD64506-A720-4F77-BB14-E2358CD98F74}" type="slidenum">
              <a:rPr lang="zh-CN" altLang="en-US"/>
              <a:pPr>
                <a:defRPr/>
              </a:pPr>
              <a:t>‹#›</a:t>
            </a:fld>
            <a:endParaRPr lang="zh-CN" altLang="en-US"/>
          </a:p>
        </p:txBody>
      </p:sp>
    </p:spTree>
    <p:extLst>
      <p:ext uri="{BB962C8B-B14F-4D97-AF65-F5344CB8AC3E}">
        <p14:creationId xmlns:p14="http://schemas.microsoft.com/office/powerpoint/2010/main" val="374642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marL="0" marR="0" indent="0" algn="ctr" defTabSz="513715" rtl="0" eaLnBrk="1" fontAlgn="auto" latinLnBrk="0" hangingPunct="1">
              <a:lnSpc>
                <a:spcPct val="100000"/>
              </a:lnSpc>
              <a:spcBef>
                <a:spcPct val="0"/>
              </a:spcBef>
              <a:spcAft>
                <a:spcPts val="0"/>
              </a:spcAft>
              <a:buClrTx/>
              <a:buSzTx/>
              <a:buFontTx/>
              <a:buNone/>
              <a:defRPr sz="36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800"/>
            </a:lvl1pPr>
            <a:lvl2pPr>
              <a:defRPr sz="2000"/>
            </a:lvl2pPr>
            <a:lvl3pPr>
              <a:defRPr sz="1800"/>
            </a:lvl3pPr>
            <a:lvl4pPr>
              <a:defRPr sz="1600"/>
            </a:lvl4pPr>
            <a:lvl5pPr>
              <a:defRPr sz="16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89EA28C-2B03-44EC-A5A1-E0F94F3899A1}"/>
              </a:ext>
            </a:extLst>
          </p:cNvPr>
          <p:cNvSpPr>
            <a:spLocks noGrp="1"/>
          </p:cNvSpPr>
          <p:nvPr>
            <p:ph type="dt" sz="half" idx="10"/>
          </p:nvPr>
        </p:nvSpPr>
        <p:spPr/>
        <p:txBody>
          <a:bodyPr/>
          <a:lstStyle>
            <a:lvl1pPr defTabSz="914400">
              <a:defRPr/>
            </a:lvl1pPr>
          </a:lstStyle>
          <a:p>
            <a:pPr>
              <a:defRPr/>
            </a:pPr>
            <a:fld id="{190714F0-0A52-4543-921E-29D684DC90F9}" type="datetime3">
              <a:rPr lang="zh-CN" altLang="en-US"/>
              <a:pPr>
                <a:defRPr/>
              </a:pPr>
              <a:t>2024年10月10日星期四</a:t>
            </a:fld>
            <a:endParaRPr lang="zh-CN" altLang="en-US"/>
          </a:p>
        </p:txBody>
      </p:sp>
      <p:sp>
        <p:nvSpPr>
          <p:cNvPr id="5" name="页脚占位符 4">
            <a:extLst>
              <a:ext uri="{FF2B5EF4-FFF2-40B4-BE49-F238E27FC236}">
                <a16:creationId xmlns:a16="http://schemas.microsoft.com/office/drawing/2014/main" id="{6E8C1009-EE1C-4451-B851-10BDB25F7A9D}"/>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431C439A-DE39-41CC-A007-2783D0C1D080}"/>
              </a:ext>
            </a:extLst>
          </p:cNvPr>
          <p:cNvSpPr>
            <a:spLocks noGrp="1"/>
          </p:cNvSpPr>
          <p:nvPr>
            <p:ph type="sldNum" sz="quarter" idx="12"/>
          </p:nvPr>
        </p:nvSpPr>
        <p:spPr/>
        <p:txBody>
          <a:bodyPr/>
          <a:lstStyle>
            <a:lvl1pPr defTabSz="914400">
              <a:defRPr smtClean="0"/>
            </a:lvl1pPr>
          </a:lstStyle>
          <a:p>
            <a:pPr>
              <a:defRPr/>
            </a:pPr>
            <a:fld id="{F2B8B70F-C0AF-4288-9A78-E3AF0CF2610D}" type="slidenum">
              <a:rPr lang="zh-CN" altLang="en-US"/>
              <a:pPr>
                <a:defRPr/>
              </a:pPr>
              <a:t>‹#›</a:t>
            </a:fld>
            <a:endParaRPr lang="zh-CN" altLang="en-US"/>
          </a:p>
        </p:txBody>
      </p:sp>
    </p:spTree>
    <p:extLst>
      <p:ext uri="{BB962C8B-B14F-4D97-AF65-F5344CB8AC3E}">
        <p14:creationId xmlns:p14="http://schemas.microsoft.com/office/powerpoint/2010/main" val="1383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AFB8D77-F557-44E2-AF66-400251FA7100}"/>
              </a:ext>
            </a:extLst>
          </p:cNvPr>
          <p:cNvSpPr txBox="1">
            <a:spLocks noChangeArrowheads="1"/>
          </p:cNvSpPr>
          <p:nvPr userDrawn="1"/>
        </p:nvSpPr>
        <p:spPr bwMode="auto">
          <a:xfrm>
            <a:off x="0" y="5492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sp>
        <p:nvSpPr>
          <p:cNvPr id="5" name="文本框 4">
            <a:extLst>
              <a:ext uri="{FF2B5EF4-FFF2-40B4-BE49-F238E27FC236}">
                <a16:creationId xmlns:a16="http://schemas.microsoft.com/office/drawing/2014/main" id="{87D39AC3-A9D3-4C8F-A909-778BEB73A75D}"/>
              </a:ext>
            </a:extLst>
          </p:cNvPr>
          <p:cNvSpPr txBox="1">
            <a:spLocks noChangeArrowheads="1"/>
          </p:cNvSpPr>
          <p:nvPr userDrawn="1"/>
        </p:nvSpPr>
        <p:spPr bwMode="auto">
          <a:xfrm>
            <a:off x="0" y="5768975"/>
            <a:ext cx="9144000" cy="765175"/>
          </a:xfrm>
          <a:prstGeom prst="rect">
            <a:avLst/>
          </a:prstGeom>
          <a:solidFill>
            <a:schemeClr val="bg1"/>
          </a:solid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cxnSp>
        <p:nvCxnSpPr>
          <p:cNvPr id="6" name="直接连接符 5">
            <a:extLst>
              <a:ext uri="{FF2B5EF4-FFF2-40B4-BE49-F238E27FC236}">
                <a16:creationId xmlns:a16="http://schemas.microsoft.com/office/drawing/2014/main" id="{23BCCB5E-52A0-44D9-9A29-B48BB2EA53BD}"/>
              </a:ext>
            </a:extLst>
          </p:cNvPr>
          <p:cNvCxnSpPr/>
          <p:nvPr userDrawn="1"/>
        </p:nvCxnSpPr>
        <p:spPr>
          <a:xfrm>
            <a:off x="0" y="3294063"/>
            <a:ext cx="9144000" cy="0"/>
          </a:xfrm>
          <a:prstGeom prst="line">
            <a:avLst/>
          </a:prstGeom>
          <a:ln w="63500" cmpd="thickThin">
            <a:tailEnd type="none"/>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791580" y="3963097"/>
            <a:ext cx="7772400" cy="1362076"/>
          </a:xfrm>
        </p:spPr>
        <p:txBody>
          <a:bodyPr anchor="t"/>
          <a:lstStyle>
            <a:lvl1pPr algn="l">
              <a:defRPr sz="2250" b="1" cap="all"/>
            </a:lvl1pPr>
          </a:lstStyle>
          <a:p>
            <a:r>
              <a:rPr lang="zh-CN" altLang="en-US"/>
              <a:t>单击此处编辑母版标题样式</a:t>
            </a:r>
          </a:p>
        </p:txBody>
      </p:sp>
      <p:sp>
        <p:nvSpPr>
          <p:cNvPr id="3" name="文本占位符 2"/>
          <p:cNvSpPr>
            <a:spLocks noGrp="1"/>
          </p:cNvSpPr>
          <p:nvPr>
            <p:ph type="body" idx="1"/>
          </p:nvPr>
        </p:nvSpPr>
        <p:spPr>
          <a:xfrm>
            <a:off x="721519" y="1553781"/>
            <a:ext cx="7772400" cy="1500187"/>
          </a:xfrm>
        </p:spPr>
        <p:txBody>
          <a:bodyPr anchor="b"/>
          <a:lstStyle>
            <a:lvl1pPr marL="0" indent="0">
              <a:buNone/>
              <a:defRPr sz="1125">
                <a:solidFill>
                  <a:schemeClr val="tx1">
                    <a:tint val="75000"/>
                  </a:schemeClr>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p>
        </p:txBody>
      </p:sp>
      <p:sp>
        <p:nvSpPr>
          <p:cNvPr id="7" name="日期占位符 3">
            <a:extLst>
              <a:ext uri="{FF2B5EF4-FFF2-40B4-BE49-F238E27FC236}">
                <a16:creationId xmlns:a16="http://schemas.microsoft.com/office/drawing/2014/main" id="{B222140A-53D5-4AEA-A851-215B07C8BF96}"/>
              </a:ext>
            </a:extLst>
          </p:cNvPr>
          <p:cNvSpPr>
            <a:spLocks noGrp="1"/>
          </p:cNvSpPr>
          <p:nvPr>
            <p:ph type="dt" sz="half" idx="10"/>
          </p:nvPr>
        </p:nvSpPr>
        <p:spPr/>
        <p:txBody>
          <a:bodyPr/>
          <a:lstStyle>
            <a:lvl1pPr defTabSz="914400">
              <a:defRPr/>
            </a:lvl1pPr>
          </a:lstStyle>
          <a:p>
            <a:pPr>
              <a:defRPr/>
            </a:pPr>
            <a:fld id="{B3A1E49F-3F5C-4EB8-B440-B70F45292FCD}" type="datetime3">
              <a:rPr lang="zh-CN" altLang="en-US"/>
              <a:pPr>
                <a:defRPr/>
              </a:pPr>
              <a:t>2024年10月10日星期四</a:t>
            </a:fld>
            <a:endParaRPr lang="zh-CN" altLang="en-US" dirty="0"/>
          </a:p>
        </p:txBody>
      </p:sp>
      <p:sp>
        <p:nvSpPr>
          <p:cNvPr id="8" name="页脚占位符 4">
            <a:extLst>
              <a:ext uri="{FF2B5EF4-FFF2-40B4-BE49-F238E27FC236}">
                <a16:creationId xmlns:a16="http://schemas.microsoft.com/office/drawing/2014/main" id="{6BBBF34C-B3BA-497F-A823-C0996FD443D5}"/>
              </a:ext>
            </a:extLst>
          </p:cNvPr>
          <p:cNvSpPr>
            <a:spLocks noGrp="1"/>
          </p:cNvSpPr>
          <p:nvPr>
            <p:ph type="ftr" sz="quarter" idx="11"/>
          </p:nvPr>
        </p:nvSpPr>
        <p:spPr/>
        <p:txBody>
          <a:bodyPr/>
          <a:lstStyle>
            <a:lvl1pPr defTabSz="914400">
              <a:defRPr/>
            </a:lvl1pPr>
          </a:lstStyle>
          <a:p>
            <a:pPr>
              <a:defRPr/>
            </a:pPr>
            <a:endParaRPr lang="zh-CN" altLang="en-US"/>
          </a:p>
        </p:txBody>
      </p:sp>
      <p:sp>
        <p:nvSpPr>
          <p:cNvPr id="9" name="灯片编号占位符 5">
            <a:extLst>
              <a:ext uri="{FF2B5EF4-FFF2-40B4-BE49-F238E27FC236}">
                <a16:creationId xmlns:a16="http://schemas.microsoft.com/office/drawing/2014/main" id="{9C951869-CCF7-4012-B19F-989FAC63EAF0}"/>
              </a:ext>
            </a:extLst>
          </p:cNvPr>
          <p:cNvSpPr>
            <a:spLocks noGrp="1"/>
          </p:cNvSpPr>
          <p:nvPr>
            <p:ph type="sldNum" sz="quarter" idx="12"/>
          </p:nvPr>
        </p:nvSpPr>
        <p:spPr/>
        <p:txBody>
          <a:bodyPr/>
          <a:lstStyle>
            <a:lvl1pPr defTabSz="914400">
              <a:defRPr smtClean="0"/>
            </a:lvl1pPr>
          </a:lstStyle>
          <a:p>
            <a:pPr>
              <a:defRPr/>
            </a:pPr>
            <a:fld id="{08D58DA5-E232-42F2-88E3-F4284D350D37}" type="slidenum">
              <a:rPr lang="zh-CN" altLang="en-US"/>
              <a:pPr>
                <a:defRPr/>
              </a:pPr>
              <a:t>‹#›</a:t>
            </a:fld>
            <a:endParaRPr lang="zh-CN" altLang="en-US"/>
          </a:p>
        </p:txBody>
      </p:sp>
    </p:spTree>
    <p:extLst>
      <p:ext uri="{BB962C8B-B14F-4D97-AF65-F5344CB8AC3E}">
        <p14:creationId xmlns:p14="http://schemas.microsoft.com/office/powerpoint/2010/main" val="3587544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内容占位符 2"/>
          <p:cNvSpPr>
            <a:spLocks noGrp="1"/>
          </p:cNvSpPr>
          <p:nvPr>
            <p:ph sz="half" idx="1"/>
          </p:nvPr>
        </p:nvSpPr>
        <p:spPr>
          <a:xfrm>
            <a:off x="457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1" y="973667"/>
            <a:ext cx="4038600" cy="5152503"/>
          </a:xfrm>
        </p:spPr>
        <p:txBody>
          <a:bodyPr>
            <a:normAutofit/>
          </a:bodyPr>
          <a:lstStyle>
            <a:lvl1pPr>
              <a:defRPr sz="2000"/>
            </a:lvl1pPr>
            <a:lvl2pPr>
              <a:defRPr sz="1800"/>
            </a:lvl2pPr>
            <a:lvl3pPr>
              <a:defRPr sz="1600"/>
            </a:lvl3pPr>
            <a:lvl4pPr>
              <a:defRPr sz="1200"/>
            </a:lvl4pPr>
            <a:lvl5pPr>
              <a:defRPr sz="1200"/>
            </a:lvl5pPr>
            <a:lvl6pPr>
              <a:defRPr sz="1015"/>
            </a:lvl6pPr>
            <a:lvl7pPr>
              <a:defRPr sz="1015"/>
            </a:lvl7pPr>
            <a:lvl8pPr>
              <a:defRPr sz="1015"/>
            </a:lvl8pPr>
            <a:lvl9pPr>
              <a:defRPr sz="101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D802E7AE-C1E8-4C47-9179-DDFAC68263B1}"/>
              </a:ext>
            </a:extLst>
          </p:cNvPr>
          <p:cNvSpPr>
            <a:spLocks noGrp="1"/>
          </p:cNvSpPr>
          <p:nvPr>
            <p:ph type="dt" sz="half" idx="10"/>
          </p:nvPr>
        </p:nvSpPr>
        <p:spPr/>
        <p:txBody>
          <a:bodyPr/>
          <a:lstStyle>
            <a:lvl1pPr defTabSz="914400">
              <a:defRPr/>
            </a:lvl1pPr>
          </a:lstStyle>
          <a:p>
            <a:pPr>
              <a:defRPr/>
            </a:pPr>
            <a:fld id="{20627A07-DE92-4294-8CED-C8D0C812451B}" type="datetime3">
              <a:rPr lang="zh-CN" altLang="en-US"/>
              <a:pPr>
                <a:defRPr/>
              </a:pPr>
              <a:t>2024年10月10日星期四</a:t>
            </a:fld>
            <a:endParaRPr lang="zh-CN" altLang="en-US"/>
          </a:p>
        </p:txBody>
      </p:sp>
      <p:sp>
        <p:nvSpPr>
          <p:cNvPr id="6" name="页脚占位符 5">
            <a:extLst>
              <a:ext uri="{FF2B5EF4-FFF2-40B4-BE49-F238E27FC236}">
                <a16:creationId xmlns:a16="http://schemas.microsoft.com/office/drawing/2014/main" id="{2FD07632-9899-4FAD-B326-82D52BE36604}"/>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8F49870-1F38-4C81-BA09-B9F343680306}"/>
              </a:ext>
            </a:extLst>
          </p:cNvPr>
          <p:cNvSpPr>
            <a:spLocks noGrp="1"/>
          </p:cNvSpPr>
          <p:nvPr>
            <p:ph type="sldNum" sz="quarter" idx="12"/>
          </p:nvPr>
        </p:nvSpPr>
        <p:spPr/>
        <p:txBody>
          <a:bodyPr/>
          <a:lstStyle>
            <a:lvl1pPr defTabSz="914400">
              <a:defRPr smtClean="0"/>
            </a:lvl1pPr>
          </a:lstStyle>
          <a:p>
            <a:pPr>
              <a:defRPr/>
            </a:pPr>
            <a:fld id="{AE760AA2-1141-4C1B-A925-C1EBF4CEDFD2}" type="slidenum">
              <a:rPr lang="zh-CN" altLang="en-US"/>
              <a:pPr>
                <a:defRPr/>
              </a:pPr>
              <a:t>‹#›</a:t>
            </a:fld>
            <a:endParaRPr lang="zh-CN" altLang="en-US"/>
          </a:p>
        </p:txBody>
      </p:sp>
    </p:spTree>
    <p:extLst>
      <p:ext uri="{BB962C8B-B14F-4D97-AF65-F5344CB8AC3E}">
        <p14:creationId xmlns:p14="http://schemas.microsoft.com/office/powerpoint/2010/main" val="352558762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9076733B-6547-44A7-B608-CEB9D17A1286}"/>
              </a:ext>
            </a:extLst>
          </p:cNvPr>
          <p:cNvSpPr>
            <a:spLocks noGrp="1"/>
          </p:cNvSpPr>
          <p:nvPr>
            <p:ph type="dt" sz="half" idx="10"/>
          </p:nvPr>
        </p:nvSpPr>
        <p:spPr/>
        <p:txBody>
          <a:bodyPr/>
          <a:lstStyle>
            <a:lvl1pPr defTabSz="914400">
              <a:defRPr/>
            </a:lvl1pPr>
          </a:lstStyle>
          <a:p>
            <a:pPr>
              <a:defRPr/>
            </a:pPr>
            <a:fld id="{CE42BBF5-BC2F-4E43-BF7B-41B4CC4E56E3}" type="datetime3">
              <a:rPr lang="zh-CN" altLang="en-US"/>
              <a:pPr>
                <a:defRPr/>
              </a:pPr>
              <a:t>2024年10月10日星期四</a:t>
            </a:fld>
            <a:endParaRPr lang="zh-CN" altLang="en-US"/>
          </a:p>
        </p:txBody>
      </p:sp>
      <p:sp>
        <p:nvSpPr>
          <p:cNvPr id="4" name="页脚占位符 3">
            <a:extLst>
              <a:ext uri="{FF2B5EF4-FFF2-40B4-BE49-F238E27FC236}">
                <a16:creationId xmlns:a16="http://schemas.microsoft.com/office/drawing/2014/main" id="{5F280BD1-74FF-4CB5-84CE-5C491B701162}"/>
              </a:ext>
            </a:extLst>
          </p:cNvPr>
          <p:cNvSpPr>
            <a:spLocks noGrp="1"/>
          </p:cNvSpPr>
          <p:nvPr>
            <p:ph type="ftr" sz="quarter" idx="11"/>
          </p:nvPr>
        </p:nvSpPr>
        <p:spPr/>
        <p:txBody>
          <a:bodyPr/>
          <a:lstStyle>
            <a:lvl1pPr defTabSz="914400">
              <a:defRPr/>
            </a:lvl1pPr>
          </a:lstStyle>
          <a:p>
            <a:pPr>
              <a:defRPr/>
            </a:pPr>
            <a:endParaRPr lang="zh-CN" altLang="en-US"/>
          </a:p>
        </p:txBody>
      </p:sp>
      <p:sp>
        <p:nvSpPr>
          <p:cNvPr id="5" name="灯片编号占位符 4">
            <a:extLst>
              <a:ext uri="{FF2B5EF4-FFF2-40B4-BE49-F238E27FC236}">
                <a16:creationId xmlns:a16="http://schemas.microsoft.com/office/drawing/2014/main" id="{EF6E1661-3E1E-4B9A-A5C9-C020361CBF75}"/>
              </a:ext>
            </a:extLst>
          </p:cNvPr>
          <p:cNvSpPr>
            <a:spLocks noGrp="1"/>
          </p:cNvSpPr>
          <p:nvPr>
            <p:ph type="sldNum" sz="quarter" idx="12"/>
          </p:nvPr>
        </p:nvSpPr>
        <p:spPr/>
        <p:txBody>
          <a:bodyPr/>
          <a:lstStyle>
            <a:lvl1pPr defTabSz="914400">
              <a:defRPr smtClean="0"/>
            </a:lvl1pPr>
          </a:lstStyle>
          <a:p>
            <a:pPr>
              <a:defRPr/>
            </a:pPr>
            <a:fld id="{1ECD70D9-16E4-4FE9-833B-8BFCF9EDA198}" type="slidenum">
              <a:rPr lang="zh-CN" altLang="en-US"/>
              <a:pPr>
                <a:defRPr/>
              </a:pPr>
              <a:t>‹#›</a:t>
            </a:fld>
            <a:endParaRPr lang="zh-CN" altLang="en-US"/>
          </a:p>
        </p:txBody>
      </p:sp>
    </p:spTree>
    <p:extLst>
      <p:ext uri="{BB962C8B-B14F-4D97-AF65-F5344CB8AC3E}">
        <p14:creationId xmlns:p14="http://schemas.microsoft.com/office/powerpoint/2010/main" val="1533221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74520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49728CE-7CE6-47BA-853F-D959469092E9}"/>
              </a:ext>
            </a:extLst>
          </p:cNvPr>
          <p:cNvSpPr>
            <a:spLocks noGrp="1"/>
          </p:cNvSpPr>
          <p:nvPr>
            <p:ph type="dt" sz="half" idx="10"/>
          </p:nvPr>
        </p:nvSpPr>
        <p:spPr/>
        <p:txBody>
          <a:bodyPr/>
          <a:lstStyle>
            <a:lvl1pPr>
              <a:defRPr/>
            </a:lvl1pPr>
          </a:lstStyle>
          <a:p>
            <a:pPr>
              <a:defRPr/>
            </a:pPr>
            <a:fld id="{77C5E40D-24BA-4E15-BD41-499559628162}" type="datetime3">
              <a:rPr lang="zh-CN" altLang="en-US"/>
              <a:pPr>
                <a:defRPr/>
              </a:pPr>
              <a:t>2024年10月10日星期四</a:t>
            </a:fld>
            <a:endParaRPr lang="zh-CN" altLang="en-US"/>
          </a:p>
        </p:txBody>
      </p:sp>
      <p:sp>
        <p:nvSpPr>
          <p:cNvPr id="4" name="页脚占位符 4">
            <a:extLst>
              <a:ext uri="{FF2B5EF4-FFF2-40B4-BE49-F238E27FC236}">
                <a16:creationId xmlns:a16="http://schemas.microsoft.com/office/drawing/2014/main" id="{6AD406E9-4CF5-4597-B0F6-DB1FD12F5D07}"/>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597181E3-9186-4707-AEF2-62DB7780BC2B}"/>
              </a:ext>
            </a:extLst>
          </p:cNvPr>
          <p:cNvSpPr>
            <a:spLocks noGrp="1"/>
          </p:cNvSpPr>
          <p:nvPr>
            <p:ph type="sldNum" sz="quarter" idx="12"/>
          </p:nvPr>
        </p:nvSpPr>
        <p:spPr/>
        <p:txBody>
          <a:bodyPr/>
          <a:lstStyle>
            <a:lvl1pPr>
              <a:defRPr/>
            </a:lvl1pPr>
          </a:lstStyle>
          <a:p>
            <a:pPr>
              <a:defRPr/>
            </a:pPr>
            <a:fld id="{ED28D15B-FD18-4205-96D0-BFA47647FE9A}" type="slidenum">
              <a:rPr lang="zh-CN" altLang="en-US"/>
              <a:pPr>
                <a:defRPr/>
              </a:pPr>
              <a:t>‹#›</a:t>
            </a:fld>
            <a:endParaRPr lang="zh-CN" altLang="en-US"/>
          </a:p>
        </p:txBody>
      </p:sp>
    </p:spTree>
    <p:extLst>
      <p:ext uri="{BB962C8B-B14F-4D97-AF65-F5344CB8AC3E}">
        <p14:creationId xmlns:p14="http://schemas.microsoft.com/office/powerpoint/2010/main" val="3405301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7" y="273051"/>
            <a:ext cx="3008313" cy="1162050"/>
          </a:xfrm>
        </p:spPr>
        <p:txBody>
          <a:bodyPr anchor="b"/>
          <a:lstStyle>
            <a:lvl1pPr algn="l">
              <a:defRPr sz="1125" b="1"/>
            </a:lvl1pPr>
          </a:lstStyle>
          <a:p>
            <a:r>
              <a:rPr lang="zh-CN" altLang="en-US"/>
              <a:t>单击此处编辑母版标题样式</a:t>
            </a:r>
          </a:p>
        </p:txBody>
      </p:sp>
      <p:sp>
        <p:nvSpPr>
          <p:cNvPr id="3" name="内容占位符 2"/>
          <p:cNvSpPr>
            <a:spLocks noGrp="1"/>
          </p:cNvSpPr>
          <p:nvPr>
            <p:ph idx="1"/>
          </p:nvPr>
        </p:nvSpPr>
        <p:spPr>
          <a:xfrm>
            <a:off x="3575050" y="273063"/>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7" y="1435104"/>
            <a:ext cx="3008313" cy="4691063"/>
          </a:xfrm>
        </p:spPr>
        <p:txBody>
          <a:bodyPr/>
          <a:lstStyle>
            <a:lvl1pPr marL="0" indent="0">
              <a:buNone/>
              <a:defRPr sz="79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3C7F3E-A740-476F-9EA6-D3A82668A826}"/>
              </a:ext>
            </a:extLst>
          </p:cNvPr>
          <p:cNvSpPr>
            <a:spLocks noGrp="1"/>
          </p:cNvSpPr>
          <p:nvPr>
            <p:ph type="dt" sz="half" idx="10"/>
          </p:nvPr>
        </p:nvSpPr>
        <p:spPr/>
        <p:txBody>
          <a:bodyPr/>
          <a:lstStyle>
            <a:lvl1pPr defTabSz="914400">
              <a:defRPr/>
            </a:lvl1pPr>
          </a:lstStyle>
          <a:p>
            <a:pPr>
              <a:defRPr/>
            </a:pPr>
            <a:fld id="{DC9F1015-6586-4D57-87A6-BA5FB8061056}" type="datetime3">
              <a:rPr lang="zh-CN" altLang="en-US"/>
              <a:pPr>
                <a:defRPr/>
              </a:pPr>
              <a:t>2024年10月10日星期四</a:t>
            </a:fld>
            <a:endParaRPr lang="zh-CN" altLang="en-US"/>
          </a:p>
        </p:txBody>
      </p:sp>
      <p:sp>
        <p:nvSpPr>
          <p:cNvPr id="6" name="页脚占位符 5">
            <a:extLst>
              <a:ext uri="{FF2B5EF4-FFF2-40B4-BE49-F238E27FC236}">
                <a16:creationId xmlns:a16="http://schemas.microsoft.com/office/drawing/2014/main" id="{F1A016B3-6882-47BC-A79A-2109F9F46C62}"/>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34F796CB-9ABF-42E1-9B02-1A823DE3FA82}"/>
              </a:ext>
            </a:extLst>
          </p:cNvPr>
          <p:cNvSpPr>
            <a:spLocks noGrp="1"/>
          </p:cNvSpPr>
          <p:nvPr>
            <p:ph type="sldNum" sz="quarter" idx="12"/>
          </p:nvPr>
        </p:nvSpPr>
        <p:spPr/>
        <p:txBody>
          <a:bodyPr/>
          <a:lstStyle>
            <a:lvl1pPr defTabSz="914400">
              <a:defRPr smtClean="0"/>
            </a:lvl1pPr>
          </a:lstStyle>
          <a:p>
            <a:pPr>
              <a:defRPr/>
            </a:pPr>
            <a:fld id="{DAB4FB95-A800-481C-B74F-FBF028691E53}" type="slidenum">
              <a:rPr lang="zh-CN" altLang="en-US"/>
              <a:pPr>
                <a:defRPr/>
              </a:pPr>
              <a:t>‹#›</a:t>
            </a:fld>
            <a:endParaRPr lang="zh-CN" altLang="en-US"/>
          </a:p>
        </p:txBody>
      </p:sp>
    </p:spTree>
    <p:extLst>
      <p:ext uri="{BB962C8B-B14F-4D97-AF65-F5344CB8AC3E}">
        <p14:creationId xmlns:p14="http://schemas.microsoft.com/office/powerpoint/2010/main" val="1136261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2"/>
            <a:ext cx="5486400" cy="566738"/>
          </a:xfrm>
        </p:spPr>
        <p:txBody>
          <a:bodyPr anchor="b"/>
          <a:lstStyle>
            <a:lvl1pPr algn="l">
              <a:defRPr sz="14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24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normAutofit/>
          </a:bodyPr>
          <a:lstStyle>
            <a:lvl1pPr marL="0" indent="0">
              <a:buNone/>
              <a:defRPr sz="900"/>
            </a:lvl1pPr>
            <a:lvl2pPr marL="257175" indent="0">
              <a:buNone/>
              <a:defRPr sz="675"/>
            </a:lvl2pPr>
            <a:lvl3pPr marL="514350" indent="0">
              <a:buNone/>
              <a:defRPr sz="565"/>
            </a:lvl3pPr>
            <a:lvl4pPr marL="771525" indent="0">
              <a:buNone/>
              <a:defRPr sz="505"/>
            </a:lvl4pPr>
            <a:lvl5pPr marL="1028700" indent="0">
              <a:buNone/>
              <a:defRPr sz="505"/>
            </a:lvl5pPr>
            <a:lvl6pPr marL="1285875" indent="0">
              <a:buNone/>
              <a:defRPr sz="505"/>
            </a:lvl6pPr>
            <a:lvl7pPr marL="1543050" indent="0">
              <a:buNone/>
              <a:defRPr sz="505"/>
            </a:lvl7pPr>
            <a:lvl8pPr marL="1800225" indent="0">
              <a:buNone/>
              <a:defRPr sz="505"/>
            </a:lvl8pPr>
            <a:lvl9pPr marL="2057400" indent="0">
              <a:buNone/>
              <a:defRPr sz="505"/>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640433-328B-4B0A-A9B7-07FA292AC282}"/>
              </a:ext>
            </a:extLst>
          </p:cNvPr>
          <p:cNvSpPr>
            <a:spLocks noGrp="1"/>
          </p:cNvSpPr>
          <p:nvPr>
            <p:ph type="dt" sz="half" idx="10"/>
          </p:nvPr>
        </p:nvSpPr>
        <p:spPr/>
        <p:txBody>
          <a:bodyPr/>
          <a:lstStyle>
            <a:lvl1pPr defTabSz="914400">
              <a:defRPr/>
            </a:lvl1pPr>
          </a:lstStyle>
          <a:p>
            <a:pPr>
              <a:defRPr/>
            </a:pPr>
            <a:fld id="{4E13F777-3DAF-4980-B2BE-5DF4D9261F87}" type="datetime3">
              <a:rPr lang="zh-CN" altLang="en-US"/>
              <a:pPr>
                <a:defRPr/>
              </a:pPr>
              <a:t>2024年10月10日星期四</a:t>
            </a:fld>
            <a:endParaRPr lang="zh-CN" altLang="en-US"/>
          </a:p>
        </p:txBody>
      </p:sp>
      <p:sp>
        <p:nvSpPr>
          <p:cNvPr id="6" name="页脚占位符 5">
            <a:extLst>
              <a:ext uri="{FF2B5EF4-FFF2-40B4-BE49-F238E27FC236}">
                <a16:creationId xmlns:a16="http://schemas.microsoft.com/office/drawing/2014/main" id="{6D8CBEB9-0FE3-40A1-AD0A-72F01AE317CC}"/>
              </a:ext>
            </a:extLst>
          </p:cNvPr>
          <p:cNvSpPr>
            <a:spLocks noGrp="1"/>
          </p:cNvSpPr>
          <p:nvPr>
            <p:ph type="ftr" sz="quarter" idx="11"/>
          </p:nvPr>
        </p:nvSpPr>
        <p:spPr/>
        <p:txBody>
          <a:bodyPr/>
          <a:lstStyle>
            <a:lvl1pPr defTabSz="914400">
              <a:defRPr/>
            </a:lvl1pPr>
          </a:lstStyle>
          <a:p>
            <a:pPr>
              <a:defRPr/>
            </a:pPr>
            <a:endParaRPr lang="zh-CN" altLang="en-US"/>
          </a:p>
        </p:txBody>
      </p:sp>
      <p:sp>
        <p:nvSpPr>
          <p:cNvPr id="7" name="灯片编号占位符 6">
            <a:extLst>
              <a:ext uri="{FF2B5EF4-FFF2-40B4-BE49-F238E27FC236}">
                <a16:creationId xmlns:a16="http://schemas.microsoft.com/office/drawing/2014/main" id="{97AFAF30-AFF2-4B56-A34C-AB78759B053A}"/>
              </a:ext>
            </a:extLst>
          </p:cNvPr>
          <p:cNvSpPr>
            <a:spLocks noGrp="1"/>
          </p:cNvSpPr>
          <p:nvPr>
            <p:ph type="sldNum" sz="quarter" idx="12"/>
          </p:nvPr>
        </p:nvSpPr>
        <p:spPr/>
        <p:txBody>
          <a:bodyPr/>
          <a:lstStyle>
            <a:lvl1pPr defTabSz="914400">
              <a:defRPr smtClean="0"/>
            </a:lvl1pPr>
          </a:lstStyle>
          <a:p>
            <a:pPr>
              <a:defRPr/>
            </a:pPr>
            <a:fld id="{989EE299-5CD5-47D5-86A0-1455F51845A2}" type="slidenum">
              <a:rPr lang="zh-CN" altLang="en-US"/>
              <a:pPr>
                <a:defRPr/>
              </a:pPr>
              <a:t>‹#›</a:t>
            </a:fld>
            <a:endParaRPr lang="zh-CN" altLang="en-US"/>
          </a:p>
        </p:txBody>
      </p:sp>
    </p:spTree>
    <p:extLst>
      <p:ext uri="{BB962C8B-B14F-4D97-AF65-F5344CB8AC3E}">
        <p14:creationId xmlns:p14="http://schemas.microsoft.com/office/powerpoint/2010/main" val="291019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1ED1C37-E44D-442F-A524-2B0CC91626CA}"/>
              </a:ext>
            </a:extLst>
          </p:cNvPr>
          <p:cNvSpPr>
            <a:spLocks noGrp="1"/>
          </p:cNvSpPr>
          <p:nvPr>
            <p:ph type="dt" sz="half" idx="10"/>
          </p:nvPr>
        </p:nvSpPr>
        <p:spPr/>
        <p:txBody>
          <a:bodyPr/>
          <a:lstStyle>
            <a:lvl1pPr defTabSz="914400">
              <a:defRPr/>
            </a:lvl1pPr>
          </a:lstStyle>
          <a:p>
            <a:pPr>
              <a:defRPr/>
            </a:pPr>
            <a:fld id="{2D9EDD0A-F19E-4B68-845E-06AD1900E8C7}" type="datetime3">
              <a:rPr lang="zh-CN" altLang="en-US"/>
              <a:pPr>
                <a:defRPr/>
              </a:pPr>
              <a:t>2024年10月10日星期四</a:t>
            </a:fld>
            <a:endParaRPr lang="zh-CN" altLang="en-US"/>
          </a:p>
        </p:txBody>
      </p:sp>
      <p:sp>
        <p:nvSpPr>
          <p:cNvPr id="5" name="页脚占位符 4">
            <a:extLst>
              <a:ext uri="{FF2B5EF4-FFF2-40B4-BE49-F238E27FC236}">
                <a16:creationId xmlns:a16="http://schemas.microsoft.com/office/drawing/2014/main" id="{DF180729-F4B8-40E4-B08B-7ACB3226009B}"/>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746DAB40-5DA0-4B06-93AA-9DD10C8D70E3}"/>
              </a:ext>
            </a:extLst>
          </p:cNvPr>
          <p:cNvSpPr>
            <a:spLocks noGrp="1"/>
          </p:cNvSpPr>
          <p:nvPr>
            <p:ph type="sldNum" sz="quarter" idx="12"/>
          </p:nvPr>
        </p:nvSpPr>
        <p:spPr/>
        <p:txBody>
          <a:bodyPr/>
          <a:lstStyle>
            <a:lvl1pPr defTabSz="914400">
              <a:defRPr smtClean="0"/>
            </a:lvl1pPr>
          </a:lstStyle>
          <a:p>
            <a:pPr>
              <a:defRPr/>
            </a:pPr>
            <a:fld id="{CC901749-B3AA-4CF1-8517-5C9AAF68D0BA}" type="slidenum">
              <a:rPr lang="zh-CN" altLang="en-US"/>
              <a:pPr>
                <a:defRPr/>
              </a:pPr>
              <a:t>‹#›</a:t>
            </a:fld>
            <a:endParaRPr lang="zh-CN" altLang="en-US"/>
          </a:p>
        </p:txBody>
      </p:sp>
    </p:spTree>
    <p:extLst>
      <p:ext uri="{BB962C8B-B14F-4D97-AF65-F5344CB8AC3E}">
        <p14:creationId xmlns:p14="http://schemas.microsoft.com/office/powerpoint/2010/main" val="3593373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53"/>
            <a:ext cx="2057400" cy="5851525"/>
          </a:xfrm>
        </p:spPr>
        <p:txBody>
          <a:bodyPr vert="eaVert"/>
          <a:lstStyle>
            <a:lvl1pPr>
              <a:defRPr sz="3600"/>
            </a:lvl1pPr>
          </a:lstStyle>
          <a:p>
            <a:r>
              <a:rPr lang="zh-CN" altLang="en-US" dirty="0"/>
              <a:t>单击此处编辑母版标题样式</a:t>
            </a:r>
          </a:p>
        </p:txBody>
      </p:sp>
      <p:sp>
        <p:nvSpPr>
          <p:cNvPr id="3" name="竖排文字占位符 2"/>
          <p:cNvSpPr>
            <a:spLocks noGrp="1"/>
          </p:cNvSpPr>
          <p:nvPr>
            <p:ph type="body" orient="vert" idx="1"/>
          </p:nvPr>
        </p:nvSpPr>
        <p:spPr>
          <a:xfrm>
            <a:off x="457202" y="274653"/>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07EAFEE-2AED-4036-B26B-3E98E7F8E0E2}"/>
              </a:ext>
            </a:extLst>
          </p:cNvPr>
          <p:cNvSpPr>
            <a:spLocks noGrp="1"/>
          </p:cNvSpPr>
          <p:nvPr>
            <p:ph type="dt" sz="half" idx="10"/>
          </p:nvPr>
        </p:nvSpPr>
        <p:spPr/>
        <p:txBody>
          <a:bodyPr/>
          <a:lstStyle>
            <a:lvl1pPr defTabSz="914400">
              <a:defRPr/>
            </a:lvl1pPr>
          </a:lstStyle>
          <a:p>
            <a:pPr>
              <a:defRPr/>
            </a:pPr>
            <a:fld id="{D2C9375E-6690-4556-ACFD-6BDFB3EA1D3F}" type="datetime3">
              <a:rPr lang="zh-CN" altLang="en-US"/>
              <a:pPr>
                <a:defRPr/>
              </a:pPr>
              <a:t>2024年10月10日星期四</a:t>
            </a:fld>
            <a:endParaRPr lang="zh-CN" altLang="en-US"/>
          </a:p>
        </p:txBody>
      </p:sp>
      <p:sp>
        <p:nvSpPr>
          <p:cNvPr id="5" name="页脚占位符 4">
            <a:extLst>
              <a:ext uri="{FF2B5EF4-FFF2-40B4-BE49-F238E27FC236}">
                <a16:creationId xmlns:a16="http://schemas.microsoft.com/office/drawing/2014/main" id="{91C2A883-DF10-4966-B647-50E3C652979F}"/>
              </a:ext>
            </a:extLst>
          </p:cNvPr>
          <p:cNvSpPr>
            <a:spLocks noGrp="1"/>
          </p:cNvSpPr>
          <p:nvPr>
            <p:ph type="ftr" sz="quarter" idx="11"/>
          </p:nvPr>
        </p:nvSpPr>
        <p:spPr/>
        <p:txBody>
          <a:bodyPr/>
          <a:lstStyle>
            <a:lvl1pPr defTabSz="914400">
              <a:defRPr/>
            </a:lvl1pPr>
          </a:lstStyle>
          <a:p>
            <a:pPr>
              <a:defRPr/>
            </a:pPr>
            <a:endParaRPr lang="zh-CN" altLang="en-US"/>
          </a:p>
        </p:txBody>
      </p:sp>
      <p:sp>
        <p:nvSpPr>
          <p:cNvPr id="6" name="灯片编号占位符 5">
            <a:extLst>
              <a:ext uri="{FF2B5EF4-FFF2-40B4-BE49-F238E27FC236}">
                <a16:creationId xmlns:a16="http://schemas.microsoft.com/office/drawing/2014/main" id="{E6E39B4D-11DB-4679-AAD6-935072A522CA}"/>
              </a:ext>
            </a:extLst>
          </p:cNvPr>
          <p:cNvSpPr>
            <a:spLocks noGrp="1"/>
          </p:cNvSpPr>
          <p:nvPr>
            <p:ph type="sldNum" sz="quarter" idx="12"/>
          </p:nvPr>
        </p:nvSpPr>
        <p:spPr/>
        <p:txBody>
          <a:bodyPr/>
          <a:lstStyle>
            <a:lvl1pPr defTabSz="914400">
              <a:defRPr smtClean="0"/>
            </a:lvl1pPr>
          </a:lstStyle>
          <a:p>
            <a:pPr>
              <a:defRPr/>
            </a:pPr>
            <a:fld id="{3ABE0CA0-36AA-41A8-B719-90D21FD379D3}" type="slidenum">
              <a:rPr lang="zh-CN" altLang="en-US"/>
              <a:pPr>
                <a:defRPr/>
              </a:pPr>
              <a:t>‹#›</a:t>
            </a:fld>
            <a:endParaRPr lang="zh-CN" altLang="en-US"/>
          </a:p>
        </p:txBody>
      </p:sp>
    </p:spTree>
    <p:extLst>
      <p:ext uri="{BB962C8B-B14F-4D97-AF65-F5344CB8AC3E}">
        <p14:creationId xmlns:p14="http://schemas.microsoft.com/office/powerpoint/2010/main" val="1238492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924800" cy="1143000"/>
          </a:xfrm>
        </p:spPr>
        <p:txBody>
          <a:bodyPr/>
          <a:lstStyle/>
          <a:p>
            <a:r>
              <a:rPr lang="zh-CN" altLang="en-US"/>
              <a:t>单击此处编辑母版标题样式</a:t>
            </a:r>
          </a:p>
        </p:txBody>
      </p:sp>
      <p:sp>
        <p:nvSpPr>
          <p:cNvPr id="3" name="表格占位符 2"/>
          <p:cNvSpPr>
            <a:spLocks noGrp="1"/>
          </p:cNvSpPr>
          <p:nvPr>
            <p:ph type="tbl" idx="1"/>
          </p:nvPr>
        </p:nvSpPr>
        <p:spPr>
          <a:xfrm>
            <a:off x="744538" y="1943100"/>
            <a:ext cx="8013700" cy="4132263"/>
          </a:xfrm>
        </p:spPr>
        <p:txBody>
          <a:bodyPr rtlCol="0">
            <a:normAutofit/>
          </a:bodyPr>
          <a:lstStyle/>
          <a:p>
            <a:pPr lvl="0"/>
            <a:endParaRPr lang="zh-CN" altLang="en-US" noProof="0"/>
          </a:p>
        </p:txBody>
      </p:sp>
      <p:sp>
        <p:nvSpPr>
          <p:cNvPr id="4" name="Rectangle 10">
            <a:extLst>
              <a:ext uri="{FF2B5EF4-FFF2-40B4-BE49-F238E27FC236}">
                <a16:creationId xmlns:a16="http://schemas.microsoft.com/office/drawing/2014/main" id="{4AFE91BA-F00D-4AD4-B0BA-3DD924CF58E0}"/>
              </a:ext>
            </a:extLst>
          </p:cNvPr>
          <p:cNvSpPr>
            <a:spLocks noGrp="1" noChangeArrowheads="1"/>
          </p:cNvSpPr>
          <p:nvPr>
            <p:ph type="dt" sz="half" idx="10"/>
          </p:nvPr>
        </p:nvSpPr>
        <p:spPr/>
        <p:txBody>
          <a:bodyPr/>
          <a:lstStyle>
            <a:lvl1pPr defTabSz="914400">
              <a:defRPr/>
            </a:lvl1pPr>
          </a:lstStyle>
          <a:p>
            <a:pPr>
              <a:defRPr/>
            </a:pPr>
            <a:fld id="{1E2A2476-27F5-4020-B096-A51AF3BE902A}" type="datetime3">
              <a:rPr lang="zh-CN" altLang="en-US"/>
              <a:pPr>
                <a:defRPr/>
              </a:pPr>
              <a:t>2024年10月10日星期四</a:t>
            </a:fld>
            <a:endParaRPr lang="en-US" altLang="zh-CN"/>
          </a:p>
        </p:txBody>
      </p:sp>
      <p:sp>
        <p:nvSpPr>
          <p:cNvPr id="5" name="Rectangle 11">
            <a:extLst>
              <a:ext uri="{FF2B5EF4-FFF2-40B4-BE49-F238E27FC236}">
                <a16:creationId xmlns:a16="http://schemas.microsoft.com/office/drawing/2014/main" id="{A144ED91-250A-4121-A971-42F29F3CCA1A}"/>
              </a:ext>
            </a:extLst>
          </p:cNvPr>
          <p:cNvSpPr>
            <a:spLocks noGrp="1" noChangeArrowheads="1"/>
          </p:cNvSpPr>
          <p:nvPr>
            <p:ph type="ftr" sz="quarter" idx="11"/>
          </p:nvPr>
        </p:nvSpPr>
        <p:spPr/>
        <p:txBody>
          <a:bodyPr/>
          <a:lstStyle>
            <a:lvl1pPr defTabSz="914400">
              <a:defRPr/>
            </a:lvl1pPr>
          </a:lstStyle>
          <a:p>
            <a:pPr>
              <a:defRPr/>
            </a:pPr>
            <a:endParaRPr lang="en-US" altLang="zh-CN"/>
          </a:p>
        </p:txBody>
      </p:sp>
      <p:sp>
        <p:nvSpPr>
          <p:cNvPr id="6" name="Rectangle 12">
            <a:extLst>
              <a:ext uri="{FF2B5EF4-FFF2-40B4-BE49-F238E27FC236}">
                <a16:creationId xmlns:a16="http://schemas.microsoft.com/office/drawing/2014/main" id="{66F7EBAB-EC2E-4AD3-9972-DB20B0E0718C}"/>
              </a:ext>
            </a:extLst>
          </p:cNvPr>
          <p:cNvSpPr>
            <a:spLocks noGrp="1" noChangeArrowheads="1"/>
          </p:cNvSpPr>
          <p:nvPr>
            <p:ph type="sldNum" sz="quarter" idx="12"/>
          </p:nvPr>
        </p:nvSpPr>
        <p:spPr/>
        <p:txBody>
          <a:bodyPr/>
          <a:lstStyle>
            <a:lvl1pPr defTabSz="914400">
              <a:defRPr smtClean="0"/>
            </a:lvl1pPr>
          </a:lstStyle>
          <a:p>
            <a:pPr>
              <a:defRPr/>
            </a:pPr>
            <a:fld id="{7233D89C-9E50-400E-9713-24DCDF395A0D}" type="slidenum">
              <a:rPr lang="en-US" altLang="zh-CN"/>
              <a:pPr>
                <a:defRPr/>
              </a:pPr>
              <a:t>‹#›</a:t>
            </a:fld>
            <a:endParaRPr lang="en-US" altLang="zh-CN"/>
          </a:p>
        </p:txBody>
      </p:sp>
    </p:spTree>
    <p:extLst>
      <p:ext uri="{BB962C8B-B14F-4D97-AF65-F5344CB8AC3E}">
        <p14:creationId xmlns:p14="http://schemas.microsoft.com/office/powerpoint/2010/main" val="501936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6A6CEE1C-B1E6-49A4-AC1B-9746BD606974}"/>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48">
            <a:extLst>
              <a:ext uri="{FF2B5EF4-FFF2-40B4-BE49-F238E27FC236}">
                <a16:creationId xmlns:a16="http://schemas.microsoft.com/office/drawing/2014/main" id="{04AD1090-538A-42E2-8FC2-8DCBA1DFD92F}"/>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 name="Rectangle 49">
            <a:extLst>
              <a:ext uri="{FF2B5EF4-FFF2-40B4-BE49-F238E27FC236}">
                <a16:creationId xmlns:a16="http://schemas.microsoft.com/office/drawing/2014/main" id="{E0EE0D81-301B-4484-91BA-B0B58E6F66B5}"/>
              </a:ext>
            </a:extLst>
          </p:cNvPr>
          <p:cNvSpPr>
            <a:spLocks noGrp="1" noChangeArrowheads="1"/>
          </p:cNvSpPr>
          <p:nvPr>
            <p:ph type="sldNum" sz="quarter" idx="12"/>
          </p:nvPr>
        </p:nvSpPr>
        <p:spPr/>
        <p:txBody>
          <a:bodyPr/>
          <a:lstStyle>
            <a:lvl1pPr>
              <a:defRPr smtClean="0"/>
            </a:lvl1pPr>
          </a:lstStyle>
          <a:p>
            <a:pPr>
              <a:defRPr/>
            </a:pPr>
            <a:fld id="{2E8A795D-5C57-46AB-9338-ADE1E384A567}" type="slidenum">
              <a:rPr lang="en-US" altLang="zh-CN"/>
              <a:pPr>
                <a:defRPr/>
              </a:pPr>
              <a:t>‹#›</a:t>
            </a:fld>
            <a:endParaRPr lang="en-US" altLang="zh-CN"/>
          </a:p>
        </p:txBody>
      </p:sp>
    </p:spTree>
    <p:extLst>
      <p:ext uri="{BB962C8B-B14F-4D97-AF65-F5344CB8AC3E}">
        <p14:creationId xmlns:p14="http://schemas.microsoft.com/office/powerpoint/2010/main" val="535324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158B3CC-6795-4F44-AB2B-EF39075C6D5E}"/>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E6B3E752-8151-48B2-8C0B-00E64A6707D8}"/>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5B973A4-BE0F-4B75-8849-400ABD700CCE}"/>
              </a:ext>
            </a:extLst>
          </p:cNvPr>
          <p:cNvSpPr>
            <a:spLocks noGrp="1"/>
          </p:cNvSpPr>
          <p:nvPr>
            <p:ph type="sldNum" sz="quarter" idx="12"/>
          </p:nvPr>
        </p:nvSpPr>
        <p:spPr/>
        <p:txBody>
          <a:bodyPr/>
          <a:lstStyle>
            <a:lvl1pPr>
              <a:defRPr/>
            </a:lvl1pPr>
          </a:lstStyle>
          <a:p>
            <a:pPr>
              <a:defRPr/>
            </a:pPr>
            <a:fld id="{F57BE183-248B-4D9E-8942-24EA97F5B21D}" type="slidenum">
              <a:rPr lang="zh-CN" altLang="en-US"/>
              <a:pPr>
                <a:defRPr/>
              </a:pPr>
              <a:t>‹#›</a:t>
            </a:fld>
            <a:endParaRPr lang="zh-CN" altLang="en-US"/>
          </a:p>
        </p:txBody>
      </p:sp>
    </p:spTree>
    <p:extLst>
      <p:ext uri="{BB962C8B-B14F-4D97-AF65-F5344CB8AC3E}">
        <p14:creationId xmlns:p14="http://schemas.microsoft.com/office/powerpoint/2010/main" val="2230091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2AC035-2DB8-4CB7-BB2A-B0851A312F2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09AD3E43-E6DF-4C11-8258-B6A8B17612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9AE69F1-9B60-42D2-9C03-FA85C8681E81}"/>
              </a:ext>
            </a:extLst>
          </p:cNvPr>
          <p:cNvSpPr>
            <a:spLocks noGrp="1"/>
          </p:cNvSpPr>
          <p:nvPr>
            <p:ph type="sldNum" sz="quarter" idx="12"/>
          </p:nvPr>
        </p:nvSpPr>
        <p:spPr/>
        <p:txBody>
          <a:bodyPr/>
          <a:lstStyle>
            <a:lvl1pPr>
              <a:defRPr/>
            </a:lvl1pPr>
          </a:lstStyle>
          <a:p>
            <a:pPr>
              <a:defRPr/>
            </a:pPr>
            <a:fld id="{50ECFE8E-F2CA-46AB-BA39-C7BD0A8C1E25}" type="slidenum">
              <a:rPr lang="zh-CN" altLang="en-US"/>
              <a:pPr>
                <a:defRPr/>
              </a:pPr>
              <a:t>‹#›</a:t>
            </a:fld>
            <a:endParaRPr lang="zh-CN" altLang="en-US"/>
          </a:p>
        </p:txBody>
      </p:sp>
    </p:spTree>
    <p:extLst>
      <p:ext uri="{BB962C8B-B14F-4D97-AF65-F5344CB8AC3E}">
        <p14:creationId xmlns:p14="http://schemas.microsoft.com/office/powerpoint/2010/main" val="3566134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77DCC0-2397-46C3-81CC-4C83BDE520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85115C91-F4BE-46A0-8D29-9165C0C40C7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28ADCED-787C-41B1-9819-99349E5413AD}"/>
              </a:ext>
            </a:extLst>
          </p:cNvPr>
          <p:cNvSpPr>
            <a:spLocks noGrp="1"/>
          </p:cNvSpPr>
          <p:nvPr>
            <p:ph type="sldNum" sz="quarter" idx="12"/>
          </p:nvPr>
        </p:nvSpPr>
        <p:spPr/>
        <p:txBody>
          <a:bodyPr/>
          <a:lstStyle>
            <a:lvl1pPr>
              <a:defRPr/>
            </a:lvl1pPr>
          </a:lstStyle>
          <a:p>
            <a:pPr>
              <a:defRPr/>
            </a:pPr>
            <a:fld id="{AE36448D-9006-43B5-A3D0-A5356A070ECE}" type="slidenum">
              <a:rPr lang="zh-CN" altLang="en-US"/>
              <a:pPr>
                <a:defRPr/>
              </a:pPr>
              <a:t>‹#›</a:t>
            </a:fld>
            <a:endParaRPr lang="zh-CN" altLang="en-US"/>
          </a:p>
        </p:txBody>
      </p:sp>
    </p:spTree>
    <p:extLst>
      <p:ext uri="{BB962C8B-B14F-4D97-AF65-F5344CB8AC3E}">
        <p14:creationId xmlns:p14="http://schemas.microsoft.com/office/powerpoint/2010/main" val="1600749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CA7C9172-E754-46B3-9862-027CD6CBAF52}"/>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6" name="页脚占位符 4">
            <a:extLst>
              <a:ext uri="{FF2B5EF4-FFF2-40B4-BE49-F238E27FC236}">
                <a16:creationId xmlns:a16="http://schemas.microsoft.com/office/drawing/2014/main" id="{6CF5896A-7A40-4D87-A83C-172336D2204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74E7C822-A520-4673-86FC-4FF954DFE46C}"/>
              </a:ext>
            </a:extLst>
          </p:cNvPr>
          <p:cNvSpPr>
            <a:spLocks noGrp="1"/>
          </p:cNvSpPr>
          <p:nvPr>
            <p:ph type="sldNum" sz="quarter" idx="12"/>
          </p:nvPr>
        </p:nvSpPr>
        <p:spPr/>
        <p:txBody>
          <a:bodyPr/>
          <a:lstStyle>
            <a:lvl1pPr>
              <a:defRPr/>
            </a:lvl1pPr>
          </a:lstStyle>
          <a:p>
            <a:pPr>
              <a:defRPr/>
            </a:pPr>
            <a:fld id="{53BA27EC-D108-4FB0-82DA-68AC0A38782F}" type="slidenum">
              <a:rPr lang="zh-CN" altLang="en-US"/>
              <a:pPr>
                <a:defRPr/>
              </a:pPr>
              <a:t>‹#›</a:t>
            </a:fld>
            <a:endParaRPr lang="zh-CN" altLang="en-US"/>
          </a:p>
        </p:txBody>
      </p:sp>
    </p:spTree>
    <p:extLst>
      <p:ext uri="{BB962C8B-B14F-4D97-AF65-F5344CB8AC3E}">
        <p14:creationId xmlns:p14="http://schemas.microsoft.com/office/powerpoint/2010/main" val="1834231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76DAB10C-6B6B-41DC-87B8-E0EC684B48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8" name="页脚占位符 4">
            <a:extLst>
              <a:ext uri="{FF2B5EF4-FFF2-40B4-BE49-F238E27FC236}">
                <a16:creationId xmlns:a16="http://schemas.microsoft.com/office/drawing/2014/main" id="{4ACDF288-E0D7-449D-BE80-342AAD48DEC5}"/>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209A8A68-13BC-4A82-96AD-3F8A86B59BF2}"/>
              </a:ext>
            </a:extLst>
          </p:cNvPr>
          <p:cNvSpPr>
            <a:spLocks noGrp="1"/>
          </p:cNvSpPr>
          <p:nvPr>
            <p:ph type="sldNum" sz="quarter" idx="12"/>
          </p:nvPr>
        </p:nvSpPr>
        <p:spPr/>
        <p:txBody>
          <a:bodyPr/>
          <a:lstStyle>
            <a:lvl1pPr>
              <a:defRPr/>
            </a:lvl1pPr>
          </a:lstStyle>
          <a:p>
            <a:pPr>
              <a:defRPr/>
            </a:pPr>
            <a:fld id="{10856861-FF12-48EA-A19C-676DD159F9D2}" type="slidenum">
              <a:rPr lang="zh-CN" altLang="en-US"/>
              <a:pPr>
                <a:defRPr/>
              </a:pPr>
              <a:t>‹#›</a:t>
            </a:fld>
            <a:endParaRPr lang="zh-CN" altLang="en-US"/>
          </a:p>
        </p:txBody>
      </p:sp>
    </p:spTree>
    <p:extLst>
      <p:ext uri="{BB962C8B-B14F-4D97-AF65-F5344CB8AC3E}">
        <p14:creationId xmlns:p14="http://schemas.microsoft.com/office/powerpoint/2010/main" val="376550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00389697-5FB3-496E-AA61-6C01BA5B1B60}"/>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4" name="页脚占位符 4">
            <a:extLst>
              <a:ext uri="{FF2B5EF4-FFF2-40B4-BE49-F238E27FC236}">
                <a16:creationId xmlns:a16="http://schemas.microsoft.com/office/drawing/2014/main" id="{0605EFCB-3CD5-4190-BB78-0F90DE36844D}"/>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D0437A9D-921D-4043-B26E-BAF99C6D6FD3}"/>
              </a:ext>
            </a:extLst>
          </p:cNvPr>
          <p:cNvSpPr>
            <a:spLocks noGrp="1"/>
          </p:cNvSpPr>
          <p:nvPr>
            <p:ph type="sldNum" sz="quarter" idx="12"/>
          </p:nvPr>
        </p:nvSpPr>
        <p:spPr/>
        <p:txBody>
          <a:bodyPr/>
          <a:lstStyle>
            <a:lvl1pPr>
              <a:defRPr/>
            </a:lvl1pPr>
          </a:lstStyle>
          <a:p>
            <a:pPr>
              <a:defRPr/>
            </a:pPr>
            <a:fld id="{844F80E0-400C-499B-A427-98DB4A7BA1C7}" type="slidenum">
              <a:rPr lang="zh-CN" altLang="en-US"/>
              <a:pPr>
                <a:defRPr/>
              </a:pPr>
              <a:t>‹#›</a:t>
            </a:fld>
            <a:endParaRPr lang="zh-CN" altLang="en-US"/>
          </a:p>
        </p:txBody>
      </p:sp>
    </p:spTree>
    <p:extLst>
      <p:ext uri="{BB962C8B-B14F-4D97-AF65-F5344CB8AC3E}">
        <p14:creationId xmlns:p14="http://schemas.microsoft.com/office/powerpoint/2010/main" val="833947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85D7DCE3-2289-433C-BD8E-8FE5967736F3}"/>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3" name="页脚占位符 4">
            <a:extLst>
              <a:ext uri="{FF2B5EF4-FFF2-40B4-BE49-F238E27FC236}">
                <a16:creationId xmlns:a16="http://schemas.microsoft.com/office/drawing/2014/main" id="{199B300C-79F4-46F2-992F-200EDC7A71F7}"/>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C3F90469-0D83-4E9F-912E-7196E7EA13D1}"/>
              </a:ext>
            </a:extLst>
          </p:cNvPr>
          <p:cNvSpPr>
            <a:spLocks noGrp="1"/>
          </p:cNvSpPr>
          <p:nvPr>
            <p:ph type="sldNum" sz="quarter" idx="12"/>
          </p:nvPr>
        </p:nvSpPr>
        <p:spPr/>
        <p:txBody>
          <a:bodyPr/>
          <a:lstStyle>
            <a:lvl1pPr>
              <a:defRPr/>
            </a:lvl1pPr>
          </a:lstStyle>
          <a:p>
            <a:pPr>
              <a:defRPr/>
            </a:pPr>
            <a:fld id="{98A9AD10-3D4B-4D13-B801-58E3E5240C74}" type="slidenum">
              <a:rPr lang="zh-CN" altLang="en-US"/>
              <a:pPr>
                <a:defRPr/>
              </a:pPr>
              <a:t>‹#›</a:t>
            </a:fld>
            <a:endParaRPr lang="zh-CN" altLang="en-US"/>
          </a:p>
        </p:txBody>
      </p:sp>
    </p:spTree>
    <p:extLst>
      <p:ext uri="{BB962C8B-B14F-4D97-AF65-F5344CB8AC3E}">
        <p14:creationId xmlns:p14="http://schemas.microsoft.com/office/powerpoint/2010/main" val="4121357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5D111E9-B7E2-49A0-AE3F-E675B023EC17}"/>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6" name="页脚占位符 4">
            <a:extLst>
              <a:ext uri="{FF2B5EF4-FFF2-40B4-BE49-F238E27FC236}">
                <a16:creationId xmlns:a16="http://schemas.microsoft.com/office/drawing/2014/main" id="{4CA9B249-3677-4487-8A03-60E048D38C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133748C-044C-4671-A451-818B6526AAD2}"/>
              </a:ext>
            </a:extLst>
          </p:cNvPr>
          <p:cNvSpPr>
            <a:spLocks noGrp="1"/>
          </p:cNvSpPr>
          <p:nvPr>
            <p:ph type="sldNum" sz="quarter" idx="12"/>
          </p:nvPr>
        </p:nvSpPr>
        <p:spPr/>
        <p:txBody>
          <a:bodyPr/>
          <a:lstStyle>
            <a:lvl1pPr>
              <a:defRPr/>
            </a:lvl1pPr>
          </a:lstStyle>
          <a:p>
            <a:pPr>
              <a:defRPr/>
            </a:pPr>
            <a:fld id="{B6C3BF1C-49AD-465B-B394-F465E1932659}" type="slidenum">
              <a:rPr lang="zh-CN" altLang="en-US"/>
              <a:pPr>
                <a:defRPr/>
              </a:pPr>
              <a:t>‹#›</a:t>
            </a:fld>
            <a:endParaRPr lang="zh-CN" altLang="en-US"/>
          </a:p>
        </p:txBody>
      </p:sp>
    </p:spTree>
    <p:extLst>
      <p:ext uri="{BB962C8B-B14F-4D97-AF65-F5344CB8AC3E}">
        <p14:creationId xmlns:p14="http://schemas.microsoft.com/office/powerpoint/2010/main" val="4175781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5FF20DEE-CF98-4A87-94F5-F9D2693EC7B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6" name="页脚占位符 4">
            <a:extLst>
              <a:ext uri="{FF2B5EF4-FFF2-40B4-BE49-F238E27FC236}">
                <a16:creationId xmlns:a16="http://schemas.microsoft.com/office/drawing/2014/main" id="{87899822-5070-4369-AA3C-BEE42237BF2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EA37F12-F519-4F34-9C62-1D0BA1C4BC09}"/>
              </a:ext>
            </a:extLst>
          </p:cNvPr>
          <p:cNvSpPr>
            <a:spLocks noGrp="1"/>
          </p:cNvSpPr>
          <p:nvPr>
            <p:ph type="sldNum" sz="quarter" idx="12"/>
          </p:nvPr>
        </p:nvSpPr>
        <p:spPr/>
        <p:txBody>
          <a:bodyPr/>
          <a:lstStyle>
            <a:lvl1pPr>
              <a:defRPr/>
            </a:lvl1pPr>
          </a:lstStyle>
          <a:p>
            <a:pPr>
              <a:defRPr/>
            </a:pPr>
            <a:fld id="{4ACF7598-3DFE-45FD-A427-1CB8AA817E3D}" type="slidenum">
              <a:rPr lang="zh-CN" altLang="en-US"/>
              <a:pPr>
                <a:defRPr/>
              </a:pPr>
              <a:t>‹#›</a:t>
            </a:fld>
            <a:endParaRPr lang="zh-CN" altLang="en-US"/>
          </a:p>
        </p:txBody>
      </p:sp>
    </p:spTree>
    <p:extLst>
      <p:ext uri="{BB962C8B-B14F-4D97-AF65-F5344CB8AC3E}">
        <p14:creationId xmlns:p14="http://schemas.microsoft.com/office/powerpoint/2010/main" val="14274079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8E2355-638B-4FF3-94E1-962889102FEF}"/>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B850D44C-D1E2-400D-B7FF-DBAF130A43F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3921039-F1A5-474F-8774-C13F5626C470}"/>
              </a:ext>
            </a:extLst>
          </p:cNvPr>
          <p:cNvSpPr>
            <a:spLocks noGrp="1"/>
          </p:cNvSpPr>
          <p:nvPr>
            <p:ph type="sldNum" sz="quarter" idx="12"/>
          </p:nvPr>
        </p:nvSpPr>
        <p:spPr/>
        <p:txBody>
          <a:bodyPr/>
          <a:lstStyle>
            <a:lvl1pPr>
              <a:defRPr/>
            </a:lvl1pPr>
          </a:lstStyle>
          <a:p>
            <a:pPr>
              <a:defRPr/>
            </a:pPr>
            <a:fld id="{D7B7429E-E955-441D-991C-C9295A2D7225}" type="slidenum">
              <a:rPr lang="zh-CN" altLang="en-US"/>
              <a:pPr>
                <a:defRPr/>
              </a:pPr>
              <a:t>‹#›</a:t>
            </a:fld>
            <a:endParaRPr lang="zh-CN" altLang="en-US"/>
          </a:p>
        </p:txBody>
      </p:sp>
    </p:spTree>
    <p:extLst>
      <p:ext uri="{BB962C8B-B14F-4D97-AF65-F5344CB8AC3E}">
        <p14:creationId xmlns:p14="http://schemas.microsoft.com/office/powerpoint/2010/main" val="2401092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2D3E4C-4F3F-435F-9CAA-3562E5166A99}"/>
              </a:ext>
            </a:extLst>
          </p:cNvPr>
          <p:cNvSpPr>
            <a:spLocks noGrp="1"/>
          </p:cNvSpPr>
          <p:nvPr>
            <p:ph type="dt" sz="half" idx="10"/>
          </p:nvPr>
        </p:nvSpPr>
        <p:spPr/>
        <p:txBody>
          <a:bodyPr/>
          <a:lstStyle>
            <a:lvl1pPr>
              <a:defRPr/>
            </a:lvl1pPr>
          </a:lstStyle>
          <a:p>
            <a:pPr>
              <a:defRPr/>
            </a:pPr>
            <a:fld id="{569522F3-4E8F-46C6-809E-E2A66B821E09}"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B0A12F98-D6B9-4892-8E78-EECC2397476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FF1D329-21A2-4267-9563-79DC215A231C}"/>
              </a:ext>
            </a:extLst>
          </p:cNvPr>
          <p:cNvSpPr>
            <a:spLocks noGrp="1"/>
          </p:cNvSpPr>
          <p:nvPr>
            <p:ph type="sldNum" sz="quarter" idx="12"/>
          </p:nvPr>
        </p:nvSpPr>
        <p:spPr/>
        <p:txBody>
          <a:bodyPr/>
          <a:lstStyle>
            <a:lvl1pPr>
              <a:defRPr/>
            </a:lvl1pPr>
          </a:lstStyle>
          <a:p>
            <a:pPr>
              <a:defRPr/>
            </a:pPr>
            <a:fld id="{3FD70E83-0C45-46DD-B498-CD49EC40E2F2}" type="slidenum">
              <a:rPr lang="zh-CN" altLang="en-US"/>
              <a:pPr>
                <a:defRPr/>
              </a:pPr>
              <a:t>‹#›</a:t>
            </a:fld>
            <a:endParaRPr lang="zh-CN" altLang="en-US"/>
          </a:p>
        </p:txBody>
      </p:sp>
    </p:spTree>
    <p:extLst>
      <p:ext uri="{BB962C8B-B14F-4D97-AF65-F5344CB8AC3E}">
        <p14:creationId xmlns:p14="http://schemas.microsoft.com/office/powerpoint/2010/main" val="7776209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DE278F-03BE-4D8C-9D85-5D41242C6FD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36487FF3-C6F4-458D-9601-147C00ABA72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09E32A5-6DE6-42AB-85DC-44220855887B}"/>
              </a:ext>
            </a:extLst>
          </p:cNvPr>
          <p:cNvSpPr>
            <a:spLocks noGrp="1"/>
          </p:cNvSpPr>
          <p:nvPr>
            <p:ph type="sldNum" sz="quarter" idx="12"/>
          </p:nvPr>
        </p:nvSpPr>
        <p:spPr/>
        <p:txBody>
          <a:bodyPr/>
          <a:lstStyle>
            <a:lvl1pPr>
              <a:defRPr/>
            </a:lvl1pPr>
          </a:lstStyle>
          <a:p>
            <a:pPr>
              <a:defRPr/>
            </a:pPr>
            <a:fld id="{26A132D5-C2AE-468B-B1E4-0B2C01F61FE9}" type="slidenum">
              <a:rPr lang="zh-CN" altLang="en-US"/>
              <a:pPr>
                <a:defRPr/>
              </a:pPr>
              <a:t>‹#›</a:t>
            </a:fld>
            <a:endParaRPr lang="zh-CN" altLang="en-US"/>
          </a:p>
        </p:txBody>
      </p:sp>
    </p:spTree>
    <p:extLst>
      <p:ext uri="{BB962C8B-B14F-4D97-AF65-F5344CB8AC3E}">
        <p14:creationId xmlns:p14="http://schemas.microsoft.com/office/powerpoint/2010/main" val="17425305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66D8E8-7188-465F-98B5-7DC20240169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08110A72-8C69-47F1-A644-59242129545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1CAF5CA-ECAF-4904-ABEE-6BE6863FBA7B}"/>
              </a:ext>
            </a:extLst>
          </p:cNvPr>
          <p:cNvSpPr>
            <a:spLocks noGrp="1"/>
          </p:cNvSpPr>
          <p:nvPr>
            <p:ph type="sldNum" sz="quarter" idx="12"/>
          </p:nvPr>
        </p:nvSpPr>
        <p:spPr/>
        <p:txBody>
          <a:bodyPr/>
          <a:lstStyle>
            <a:lvl1pPr>
              <a:defRPr/>
            </a:lvl1pPr>
          </a:lstStyle>
          <a:p>
            <a:pPr>
              <a:defRPr/>
            </a:pPr>
            <a:fld id="{9CDD9E8D-F988-4B62-8448-EB7931818387}" type="slidenum">
              <a:rPr lang="zh-CN" altLang="en-US"/>
              <a:pPr>
                <a:defRPr/>
              </a:pPr>
              <a:t>‹#›</a:t>
            </a:fld>
            <a:endParaRPr lang="zh-CN" altLang="en-US"/>
          </a:p>
        </p:txBody>
      </p:sp>
    </p:spTree>
    <p:extLst>
      <p:ext uri="{BB962C8B-B14F-4D97-AF65-F5344CB8AC3E}">
        <p14:creationId xmlns:p14="http://schemas.microsoft.com/office/powerpoint/2010/main" val="3973997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2B15ADC-3184-4730-893D-EEA9C209D3C4}"/>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0BAFE647-3285-45AF-882A-2840F7F9198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B9878C9-36E3-4003-8229-50D5DD9AF594}"/>
              </a:ext>
            </a:extLst>
          </p:cNvPr>
          <p:cNvSpPr>
            <a:spLocks noGrp="1"/>
          </p:cNvSpPr>
          <p:nvPr>
            <p:ph type="sldNum" sz="quarter" idx="12"/>
          </p:nvPr>
        </p:nvSpPr>
        <p:spPr/>
        <p:txBody>
          <a:bodyPr/>
          <a:lstStyle>
            <a:lvl1pPr>
              <a:defRPr/>
            </a:lvl1pPr>
          </a:lstStyle>
          <a:p>
            <a:pPr>
              <a:defRPr/>
            </a:pPr>
            <a:fld id="{66115898-3A35-473F-9976-A28C4DA5048E}" type="slidenum">
              <a:rPr lang="zh-CN" altLang="en-US"/>
              <a:pPr>
                <a:defRPr/>
              </a:pPr>
              <a:t>‹#›</a:t>
            </a:fld>
            <a:endParaRPr lang="zh-CN" altLang="en-US"/>
          </a:p>
        </p:txBody>
      </p:sp>
    </p:spTree>
    <p:extLst>
      <p:ext uri="{BB962C8B-B14F-4D97-AF65-F5344CB8AC3E}">
        <p14:creationId xmlns:p14="http://schemas.microsoft.com/office/powerpoint/2010/main" val="27655722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a:extLst>
              <a:ext uri="{FF2B5EF4-FFF2-40B4-BE49-F238E27FC236}">
                <a16:creationId xmlns:a16="http://schemas.microsoft.com/office/drawing/2014/main" id="{FB1ACDF3-216C-498F-B8F8-6E4FAB9933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6" name="页脚占位符 4">
            <a:extLst>
              <a:ext uri="{FF2B5EF4-FFF2-40B4-BE49-F238E27FC236}">
                <a16:creationId xmlns:a16="http://schemas.microsoft.com/office/drawing/2014/main" id="{D06C142E-A280-4DB3-9C09-A10AC29B746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F3B19F1-5045-470A-8BFA-3E0C1EB498A4}"/>
              </a:ext>
            </a:extLst>
          </p:cNvPr>
          <p:cNvSpPr>
            <a:spLocks noGrp="1"/>
          </p:cNvSpPr>
          <p:nvPr>
            <p:ph type="sldNum" sz="quarter" idx="12"/>
          </p:nvPr>
        </p:nvSpPr>
        <p:spPr/>
        <p:txBody>
          <a:bodyPr/>
          <a:lstStyle>
            <a:lvl1pPr>
              <a:defRPr/>
            </a:lvl1pPr>
          </a:lstStyle>
          <a:p>
            <a:pPr>
              <a:defRPr/>
            </a:pPr>
            <a:fld id="{304CE68C-4CB1-4902-8189-16DC8FCA6ED2}" type="slidenum">
              <a:rPr lang="zh-CN" altLang="en-US"/>
              <a:pPr>
                <a:defRPr/>
              </a:pPr>
              <a:t>‹#›</a:t>
            </a:fld>
            <a:endParaRPr lang="zh-CN" altLang="en-US"/>
          </a:p>
        </p:txBody>
      </p:sp>
    </p:spTree>
    <p:extLst>
      <p:ext uri="{BB962C8B-B14F-4D97-AF65-F5344CB8AC3E}">
        <p14:creationId xmlns:p14="http://schemas.microsoft.com/office/powerpoint/2010/main" val="36070310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82BA98D4-892C-4B76-8F5D-DF0ED95A825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8" name="页脚占位符 4">
            <a:extLst>
              <a:ext uri="{FF2B5EF4-FFF2-40B4-BE49-F238E27FC236}">
                <a16:creationId xmlns:a16="http://schemas.microsoft.com/office/drawing/2014/main" id="{AEEE9D08-55C3-471D-9BD2-F7F52885531F}"/>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63C928D7-CAA7-40D1-815B-E31C62DCE36F}"/>
              </a:ext>
            </a:extLst>
          </p:cNvPr>
          <p:cNvSpPr>
            <a:spLocks noGrp="1"/>
          </p:cNvSpPr>
          <p:nvPr>
            <p:ph type="sldNum" sz="quarter" idx="12"/>
          </p:nvPr>
        </p:nvSpPr>
        <p:spPr/>
        <p:txBody>
          <a:bodyPr/>
          <a:lstStyle>
            <a:lvl1pPr>
              <a:defRPr/>
            </a:lvl1pPr>
          </a:lstStyle>
          <a:p>
            <a:pPr>
              <a:defRPr/>
            </a:pPr>
            <a:fld id="{9DBCCEF3-0AFE-46E2-AB7C-5F4E51D265FB}" type="slidenum">
              <a:rPr lang="zh-CN" altLang="en-US"/>
              <a:pPr>
                <a:defRPr/>
              </a:pPr>
              <a:t>‹#›</a:t>
            </a:fld>
            <a:endParaRPr lang="zh-CN" altLang="en-US"/>
          </a:p>
        </p:txBody>
      </p:sp>
    </p:spTree>
    <p:extLst>
      <p:ext uri="{BB962C8B-B14F-4D97-AF65-F5344CB8AC3E}">
        <p14:creationId xmlns:p14="http://schemas.microsoft.com/office/powerpoint/2010/main" val="39221059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E6E57879-B456-4042-AB68-88F24B2E8FC6}"/>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4" name="页脚占位符 4">
            <a:extLst>
              <a:ext uri="{FF2B5EF4-FFF2-40B4-BE49-F238E27FC236}">
                <a16:creationId xmlns:a16="http://schemas.microsoft.com/office/drawing/2014/main" id="{6330E91E-5B48-4F52-BDC6-71262DE83C33}"/>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00C72200-3A16-4807-B56B-32B464BB1B88}"/>
              </a:ext>
            </a:extLst>
          </p:cNvPr>
          <p:cNvSpPr>
            <a:spLocks noGrp="1"/>
          </p:cNvSpPr>
          <p:nvPr>
            <p:ph type="sldNum" sz="quarter" idx="12"/>
          </p:nvPr>
        </p:nvSpPr>
        <p:spPr/>
        <p:txBody>
          <a:bodyPr/>
          <a:lstStyle>
            <a:lvl1pPr>
              <a:defRPr/>
            </a:lvl1pPr>
          </a:lstStyle>
          <a:p>
            <a:pPr>
              <a:defRPr/>
            </a:pPr>
            <a:fld id="{0BE448F3-4B52-483B-8C5D-0B7E860C5A86}" type="slidenum">
              <a:rPr lang="zh-CN" altLang="en-US"/>
              <a:pPr>
                <a:defRPr/>
              </a:pPr>
              <a:t>‹#›</a:t>
            </a:fld>
            <a:endParaRPr lang="zh-CN" altLang="en-US"/>
          </a:p>
        </p:txBody>
      </p:sp>
    </p:spTree>
    <p:extLst>
      <p:ext uri="{BB962C8B-B14F-4D97-AF65-F5344CB8AC3E}">
        <p14:creationId xmlns:p14="http://schemas.microsoft.com/office/powerpoint/2010/main" val="18911595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0B1BBC0-ED9E-4564-A4D3-5BD425A8EF45}"/>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3" name="页脚占位符 4">
            <a:extLst>
              <a:ext uri="{FF2B5EF4-FFF2-40B4-BE49-F238E27FC236}">
                <a16:creationId xmlns:a16="http://schemas.microsoft.com/office/drawing/2014/main" id="{C71891AB-3972-45E4-A97B-EF961F3D4EFC}"/>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E8C58131-0FF9-4816-93B7-EF588F64F29F}"/>
              </a:ext>
            </a:extLst>
          </p:cNvPr>
          <p:cNvSpPr>
            <a:spLocks noGrp="1"/>
          </p:cNvSpPr>
          <p:nvPr>
            <p:ph type="sldNum" sz="quarter" idx="12"/>
          </p:nvPr>
        </p:nvSpPr>
        <p:spPr/>
        <p:txBody>
          <a:bodyPr/>
          <a:lstStyle>
            <a:lvl1pPr>
              <a:defRPr/>
            </a:lvl1pPr>
          </a:lstStyle>
          <a:p>
            <a:pPr>
              <a:defRPr/>
            </a:pPr>
            <a:fld id="{D78E5027-E3A6-444E-86B4-D5FF5718D52D}" type="slidenum">
              <a:rPr lang="zh-CN" altLang="en-US"/>
              <a:pPr>
                <a:defRPr/>
              </a:pPr>
              <a:t>‹#›</a:t>
            </a:fld>
            <a:endParaRPr lang="zh-CN" altLang="en-US"/>
          </a:p>
        </p:txBody>
      </p:sp>
    </p:spTree>
    <p:extLst>
      <p:ext uri="{BB962C8B-B14F-4D97-AF65-F5344CB8AC3E}">
        <p14:creationId xmlns:p14="http://schemas.microsoft.com/office/powerpoint/2010/main" val="3864494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D00D7530-F098-4066-A62F-B3A755662673}"/>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6" name="页脚占位符 4">
            <a:extLst>
              <a:ext uri="{FF2B5EF4-FFF2-40B4-BE49-F238E27FC236}">
                <a16:creationId xmlns:a16="http://schemas.microsoft.com/office/drawing/2014/main" id="{A6479886-B568-4B9A-ABE6-B87E870306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F8A0DE3-7EAA-45D7-92A3-3AF97DF375CC}"/>
              </a:ext>
            </a:extLst>
          </p:cNvPr>
          <p:cNvSpPr>
            <a:spLocks noGrp="1"/>
          </p:cNvSpPr>
          <p:nvPr>
            <p:ph type="sldNum" sz="quarter" idx="12"/>
          </p:nvPr>
        </p:nvSpPr>
        <p:spPr/>
        <p:txBody>
          <a:bodyPr/>
          <a:lstStyle>
            <a:lvl1pPr>
              <a:defRPr/>
            </a:lvl1pPr>
          </a:lstStyle>
          <a:p>
            <a:pPr>
              <a:defRPr/>
            </a:pPr>
            <a:fld id="{559946A7-9CB0-4FC9-BF96-450377A79923}" type="slidenum">
              <a:rPr lang="zh-CN" altLang="en-US"/>
              <a:pPr>
                <a:defRPr/>
              </a:pPr>
              <a:t>‹#›</a:t>
            </a:fld>
            <a:endParaRPr lang="zh-CN" altLang="en-US"/>
          </a:p>
        </p:txBody>
      </p:sp>
    </p:spTree>
    <p:extLst>
      <p:ext uri="{BB962C8B-B14F-4D97-AF65-F5344CB8AC3E}">
        <p14:creationId xmlns:p14="http://schemas.microsoft.com/office/powerpoint/2010/main" val="31167881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9D032F32-0BE6-4AB3-ACD2-144B28DB6EB8}"/>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6" name="页脚占位符 4">
            <a:extLst>
              <a:ext uri="{FF2B5EF4-FFF2-40B4-BE49-F238E27FC236}">
                <a16:creationId xmlns:a16="http://schemas.microsoft.com/office/drawing/2014/main" id="{DD35E2EF-B16B-4C86-973E-10B1F1FBE0E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F855144-64AB-4D9B-A01B-A9BFDCCA0A67}"/>
              </a:ext>
            </a:extLst>
          </p:cNvPr>
          <p:cNvSpPr>
            <a:spLocks noGrp="1"/>
          </p:cNvSpPr>
          <p:nvPr>
            <p:ph type="sldNum" sz="quarter" idx="12"/>
          </p:nvPr>
        </p:nvSpPr>
        <p:spPr/>
        <p:txBody>
          <a:bodyPr/>
          <a:lstStyle>
            <a:lvl1pPr>
              <a:defRPr/>
            </a:lvl1pPr>
          </a:lstStyle>
          <a:p>
            <a:pPr>
              <a:defRPr/>
            </a:pPr>
            <a:fld id="{4F8D564F-0369-4BAC-8435-22D292AEDE58}" type="slidenum">
              <a:rPr lang="zh-CN" altLang="en-US"/>
              <a:pPr>
                <a:defRPr/>
              </a:pPr>
              <a:t>‹#›</a:t>
            </a:fld>
            <a:endParaRPr lang="zh-CN" altLang="en-US"/>
          </a:p>
        </p:txBody>
      </p:sp>
    </p:spTree>
    <p:extLst>
      <p:ext uri="{BB962C8B-B14F-4D97-AF65-F5344CB8AC3E}">
        <p14:creationId xmlns:p14="http://schemas.microsoft.com/office/powerpoint/2010/main" val="26384452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CAC827-B3E6-4371-8156-0D37982E6D62}"/>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1CF80222-F63E-48FF-AC3A-ACD693F42EB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003096C-9215-4B25-8ACB-3AD73834CCA7}"/>
              </a:ext>
            </a:extLst>
          </p:cNvPr>
          <p:cNvSpPr>
            <a:spLocks noGrp="1"/>
          </p:cNvSpPr>
          <p:nvPr>
            <p:ph type="sldNum" sz="quarter" idx="12"/>
          </p:nvPr>
        </p:nvSpPr>
        <p:spPr/>
        <p:txBody>
          <a:bodyPr/>
          <a:lstStyle>
            <a:lvl1pPr>
              <a:defRPr/>
            </a:lvl1pPr>
          </a:lstStyle>
          <a:p>
            <a:pPr>
              <a:defRPr/>
            </a:pPr>
            <a:fld id="{94B21B8E-9565-42FC-8610-4FE100101868}" type="slidenum">
              <a:rPr lang="zh-CN" altLang="en-US"/>
              <a:pPr>
                <a:defRPr/>
              </a:pPr>
              <a:t>‹#›</a:t>
            </a:fld>
            <a:endParaRPr lang="zh-CN" altLang="en-US"/>
          </a:p>
        </p:txBody>
      </p:sp>
    </p:spTree>
    <p:extLst>
      <p:ext uri="{BB962C8B-B14F-4D97-AF65-F5344CB8AC3E}">
        <p14:creationId xmlns:p14="http://schemas.microsoft.com/office/powerpoint/2010/main" val="12292867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62CB637-797A-4E67-A8EE-E8B2629D718F}"/>
              </a:ext>
            </a:extLst>
          </p:cNvPr>
          <p:cNvSpPr>
            <a:spLocks noGrp="1"/>
          </p:cNvSpPr>
          <p:nvPr>
            <p:ph type="dt" sz="half" idx="10"/>
          </p:nvPr>
        </p:nvSpPr>
        <p:spPr/>
        <p:txBody>
          <a:bodyPr/>
          <a:lstStyle>
            <a:lvl1pPr>
              <a:defRPr/>
            </a:lvl1pPr>
          </a:lstStyle>
          <a:p>
            <a:pPr>
              <a:defRPr/>
            </a:pPr>
            <a:fld id="{AA1BA76D-D034-4490-A9E2-343D9DF6B426}"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58F11FDC-FED6-4C8F-85AE-1AA82EB790A0}"/>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CB3265A-93FB-49B3-B392-6F76A17EEAD2}"/>
              </a:ext>
            </a:extLst>
          </p:cNvPr>
          <p:cNvSpPr>
            <a:spLocks noGrp="1"/>
          </p:cNvSpPr>
          <p:nvPr>
            <p:ph type="sldNum" sz="quarter" idx="12"/>
          </p:nvPr>
        </p:nvSpPr>
        <p:spPr/>
        <p:txBody>
          <a:bodyPr/>
          <a:lstStyle>
            <a:lvl1pPr>
              <a:defRPr/>
            </a:lvl1pPr>
          </a:lstStyle>
          <a:p>
            <a:pPr>
              <a:defRPr/>
            </a:pPr>
            <a:fld id="{2CD5DF0E-4B27-4C19-B9A0-01CBAF73C4C4}" type="slidenum">
              <a:rPr lang="zh-CN" altLang="en-US"/>
              <a:pPr>
                <a:defRPr/>
              </a:pPr>
              <a:t>‹#›</a:t>
            </a:fld>
            <a:endParaRPr lang="zh-CN" altLang="en-US"/>
          </a:p>
        </p:txBody>
      </p:sp>
    </p:spTree>
    <p:extLst>
      <p:ext uri="{BB962C8B-B14F-4D97-AF65-F5344CB8AC3E}">
        <p14:creationId xmlns:p14="http://schemas.microsoft.com/office/powerpoint/2010/main" val="37139518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5699E5CB-995B-4D77-891F-212E447DA9C3}"/>
              </a:ext>
            </a:extLst>
          </p:cNvPr>
          <p:cNvSpPr>
            <a:spLocks noGrp="1"/>
          </p:cNvSpPr>
          <p:nvPr>
            <p:ph type="dt" sz="half" idx="10"/>
          </p:nvPr>
        </p:nvSpPr>
        <p:spPr/>
        <p:txBody>
          <a:bodyPr/>
          <a:lstStyle>
            <a:lvl1pPr>
              <a:defRPr/>
            </a:lvl1pPr>
          </a:lstStyle>
          <a:p>
            <a:pPr>
              <a:defRPr/>
            </a:pPr>
            <a:fld id="{1977BACB-2D23-4B73-AF87-3642E0E97D6D}" type="datetimeFigureOut">
              <a:rPr lang="en-US"/>
              <a:pPr>
                <a:defRPr/>
              </a:pPr>
              <a:t>10/10/2024</a:t>
            </a:fld>
            <a:endParaRPr lang="en-US"/>
          </a:p>
        </p:txBody>
      </p:sp>
      <p:sp>
        <p:nvSpPr>
          <p:cNvPr id="5" name="Footer Placeholder 4">
            <a:extLst>
              <a:ext uri="{FF2B5EF4-FFF2-40B4-BE49-F238E27FC236}">
                <a16:creationId xmlns:a16="http://schemas.microsoft.com/office/drawing/2014/main" id="{ABC9EADA-9033-4B0F-8A2F-6B9740789E6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4DCA340-B27F-4D13-8D31-07B36190590C}"/>
              </a:ext>
            </a:extLst>
          </p:cNvPr>
          <p:cNvSpPr>
            <a:spLocks noGrp="1"/>
          </p:cNvSpPr>
          <p:nvPr>
            <p:ph type="sldNum" sz="quarter" idx="12"/>
          </p:nvPr>
        </p:nvSpPr>
        <p:spPr/>
        <p:txBody>
          <a:bodyPr/>
          <a:lstStyle>
            <a:lvl1pPr>
              <a:defRPr smtClean="0"/>
            </a:lvl1pPr>
          </a:lstStyle>
          <a:p>
            <a:pPr>
              <a:defRPr/>
            </a:pPr>
            <a:fld id="{27322659-8111-4AAB-B1F5-FF14D496601D}" type="slidenum">
              <a:rPr lang="en-US" altLang="zh-CN"/>
              <a:pPr>
                <a:defRPr/>
              </a:pPr>
              <a:t>‹#›</a:t>
            </a:fld>
            <a:endParaRPr lang="en-US" altLang="zh-CN"/>
          </a:p>
        </p:txBody>
      </p:sp>
    </p:spTree>
    <p:extLst>
      <p:ext uri="{BB962C8B-B14F-4D97-AF65-F5344CB8AC3E}">
        <p14:creationId xmlns:p14="http://schemas.microsoft.com/office/powerpoint/2010/main" val="5556082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B02D746C-EC3A-4A11-B191-DF23299C8DD8}"/>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624DBFFE-F4A3-49A0-980E-4B4273E86AB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5324EF4-FC77-4C8A-A372-998E09C1AE66}"/>
              </a:ext>
            </a:extLst>
          </p:cNvPr>
          <p:cNvSpPr>
            <a:spLocks noGrp="1"/>
          </p:cNvSpPr>
          <p:nvPr>
            <p:ph type="sldNum" sz="quarter" idx="12"/>
          </p:nvPr>
        </p:nvSpPr>
        <p:spPr/>
        <p:txBody>
          <a:bodyPr/>
          <a:lstStyle>
            <a:lvl1pPr>
              <a:defRPr smtClean="0"/>
            </a:lvl1pPr>
          </a:lstStyle>
          <a:p>
            <a:pPr>
              <a:defRPr/>
            </a:pPr>
            <a:fld id="{72962A2B-38DE-4A0F-928B-4B8CC60D56E3}" type="slidenum">
              <a:rPr lang="en-US" altLang="zh-CN"/>
              <a:pPr>
                <a:defRPr/>
              </a:pPr>
              <a:t>‹#›</a:t>
            </a:fld>
            <a:endParaRPr lang="en-US" altLang="zh-CN"/>
          </a:p>
        </p:txBody>
      </p:sp>
    </p:spTree>
    <p:extLst>
      <p:ext uri="{BB962C8B-B14F-4D97-AF65-F5344CB8AC3E}">
        <p14:creationId xmlns:p14="http://schemas.microsoft.com/office/powerpoint/2010/main" val="1263487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52634"/>
            <a:ext cx="7886700" cy="1500187"/>
          </a:xfrm>
        </p:spPr>
        <p:txBody>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9EEB28FA-0C40-4D8B-B6A5-01C45B83C154}"/>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7CD05B9B-346F-4EE8-9E9D-0EEBEB7CBE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87339AA-499E-421B-9AF3-08653456ADED}"/>
              </a:ext>
            </a:extLst>
          </p:cNvPr>
          <p:cNvSpPr>
            <a:spLocks noGrp="1"/>
          </p:cNvSpPr>
          <p:nvPr>
            <p:ph type="sldNum" sz="quarter" idx="12"/>
          </p:nvPr>
        </p:nvSpPr>
        <p:spPr/>
        <p:txBody>
          <a:bodyPr/>
          <a:lstStyle>
            <a:lvl1pPr>
              <a:defRPr smtClean="0"/>
            </a:lvl1pPr>
          </a:lstStyle>
          <a:p>
            <a:pPr>
              <a:defRPr/>
            </a:pPr>
            <a:fld id="{B9DA0385-217C-427B-A260-208E556E7765}" type="slidenum">
              <a:rPr lang="en-US" altLang="zh-CN"/>
              <a:pPr>
                <a:defRPr/>
              </a:pPr>
              <a:t>‹#›</a:t>
            </a:fld>
            <a:endParaRPr lang="en-US" altLang="zh-CN"/>
          </a:p>
        </p:txBody>
      </p:sp>
    </p:spTree>
    <p:extLst>
      <p:ext uri="{BB962C8B-B14F-4D97-AF65-F5344CB8AC3E}">
        <p14:creationId xmlns:p14="http://schemas.microsoft.com/office/powerpoint/2010/main" val="27423443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a:extLst>
              <a:ext uri="{FF2B5EF4-FFF2-40B4-BE49-F238E27FC236}">
                <a16:creationId xmlns:a16="http://schemas.microsoft.com/office/drawing/2014/main" id="{0502A75A-5183-4CD7-B473-CB1B5F042FBF}"/>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13E39325-2020-4B68-9903-E81D9FA6694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5C928518-271C-48E1-8054-EFD63D3CAE78}"/>
              </a:ext>
            </a:extLst>
          </p:cNvPr>
          <p:cNvSpPr>
            <a:spLocks noGrp="1"/>
          </p:cNvSpPr>
          <p:nvPr>
            <p:ph type="sldNum" sz="quarter" idx="12"/>
          </p:nvPr>
        </p:nvSpPr>
        <p:spPr/>
        <p:txBody>
          <a:bodyPr/>
          <a:lstStyle>
            <a:lvl1pPr>
              <a:defRPr smtClean="0"/>
            </a:lvl1pPr>
          </a:lstStyle>
          <a:p>
            <a:pPr>
              <a:defRPr/>
            </a:pPr>
            <a:fld id="{4F0E2534-3CC9-4FA6-B58C-CCC38E170BBB}" type="slidenum">
              <a:rPr lang="en-US" altLang="zh-CN"/>
              <a:pPr>
                <a:defRPr/>
              </a:pPr>
              <a:t>‹#›</a:t>
            </a:fld>
            <a:endParaRPr lang="en-US" altLang="zh-CN"/>
          </a:p>
        </p:txBody>
      </p:sp>
    </p:spTree>
    <p:extLst>
      <p:ext uri="{BB962C8B-B14F-4D97-AF65-F5344CB8AC3E}">
        <p14:creationId xmlns:p14="http://schemas.microsoft.com/office/powerpoint/2010/main" val="27723043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
        <p:nvSpPr>
          <p:cNvPr id="7" name="Date Placeholder 6">
            <a:extLst>
              <a:ext uri="{FF2B5EF4-FFF2-40B4-BE49-F238E27FC236}">
                <a16:creationId xmlns:a16="http://schemas.microsoft.com/office/drawing/2014/main" id="{65CE221F-09A0-4A0A-960A-F02096F257C6}"/>
              </a:ext>
            </a:extLst>
          </p:cNvPr>
          <p:cNvSpPr>
            <a:spLocks noGrp="1"/>
          </p:cNvSpPr>
          <p:nvPr>
            <p:ph type="dt" sz="half" idx="10"/>
          </p:nvPr>
        </p:nvSpPr>
        <p:spPr/>
        <p:txBody>
          <a:bodyPr/>
          <a:lstStyle>
            <a:lvl1pPr>
              <a:defRPr/>
            </a:lvl1pPr>
          </a:lstStyle>
          <a:p>
            <a:pPr>
              <a:defRPr/>
            </a:pPr>
            <a:endParaRPr lang="en-US" altLang="zh-CN"/>
          </a:p>
        </p:txBody>
      </p:sp>
      <p:sp>
        <p:nvSpPr>
          <p:cNvPr id="8" name="Footer Placeholder 7">
            <a:extLst>
              <a:ext uri="{FF2B5EF4-FFF2-40B4-BE49-F238E27FC236}">
                <a16:creationId xmlns:a16="http://schemas.microsoft.com/office/drawing/2014/main" id="{A75F6C4F-F484-4887-8B47-6410A014DE9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6ADBA3BE-A306-4801-9498-4A0FC089AED9}"/>
              </a:ext>
            </a:extLst>
          </p:cNvPr>
          <p:cNvSpPr>
            <a:spLocks noGrp="1"/>
          </p:cNvSpPr>
          <p:nvPr>
            <p:ph type="sldNum" sz="quarter" idx="12"/>
          </p:nvPr>
        </p:nvSpPr>
        <p:spPr/>
        <p:txBody>
          <a:bodyPr/>
          <a:lstStyle>
            <a:lvl1pPr>
              <a:defRPr smtClean="0"/>
            </a:lvl1pPr>
          </a:lstStyle>
          <a:p>
            <a:pPr>
              <a:defRPr/>
            </a:pPr>
            <a:fld id="{BC00BC91-16DF-45F1-805D-0FDA0E902C7E}" type="slidenum">
              <a:rPr lang="en-US" altLang="zh-CN"/>
              <a:pPr>
                <a:defRPr/>
              </a:pPr>
              <a:t>‹#›</a:t>
            </a:fld>
            <a:endParaRPr lang="en-US" altLang="zh-CN"/>
          </a:p>
        </p:txBody>
      </p:sp>
    </p:spTree>
    <p:extLst>
      <p:ext uri="{BB962C8B-B14F-4D97-AF65-F5344CB8AC3E}">
        <p14:creationId xmlns:p14="http://schemas.microsoft.com/office/powerpoint/2010/main" val="41639571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a:p>
        </p:txBody>
      </p:sp>
      <p:sp>
        <p:nvSpPr>
          <p:cNvPr id="3" name="Date Placeholder 2">
            <a:extLst>
              <a:ext uri="{FF2B5EF4-FFF2-40B4-BE49-F238E27FC236}">
                <a16:creationId xmlns:a16="http://schemas.microsoft.com/office/drawing/2014/main" id="{B8D8D5D6-8048-4E15-B676-2E8515CAA070}"/>
              </a:ext>
            </a:extLst>
          </p:cNvPr>
          <p:cNvSpPr>
            <a:spLocks noGrp="1"/>
          </p:cNvSpPr>
          <p:nvPr>
            <p:ph type="dt" sz="half" idx="10"/>
          </p:nvPr>
        </p:nvSpPr>
        <p:spPr/>
        <p:txBody>
          <a:bodyPr/>
          <a:lstStyle>
            <a:lvl1pPr>
              <a:defRPr/>
            </a:lvl1pPr>
          </a:lstStyle>
          <a:p>
            <a:pPr>
              <a:defRPr/>
            </a:pPr>
            <a:endParaRPr lang="en-US" altLang="zh-CN"/>
          </a:p>
        </p:txBody>
      </p:sp>
      <p:sp>
        <p:nvSpPr>
          <p:cNvPr id="4" name="Footer Placeholder 3">
            <a:extLst>
              <a:ext uri="{FF2B5EF4-FFF2-40B4-BE49-F238E27FC236}">
                <a16:creationId xmlns:a16="http://schemas.microsoft.com/office/drawing/2014/main" id="{5D811439-C18F-4A42-AE40-3CE20AF44F3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3900575-C2AA-420D-AEE0-4F101EFB7037}"/>
              </a:ext>
            </a:extLst>
          </p:cNvPr>
          <p:cNvSpPr>
            <a:spLocks noGrp="1"/>
          </p:cNvSpPr>
          <p:nvPr>
            <p:ph type="sldNum" sz="quarter" idx="12"/>
          </p:nvPr>
        </p:nvSpPr>
        <p:spPr/>
        <p:txBody>
          <a:bodyPr/>
          <a:lstStyle>
            <a:lvl1pPr>
              <a:defRPr smtClean="0"/>
            </a:lvl1pPr>
          </a:lstStyle>
          <a:p>
            <a:pPr>
              <a:defRPr/>
            </a:pPr>
            <a:fld id="{37C4C301-68E4-4B47-AE96-A2BDB53892B5}" type="slidenum">
              <a:rPr lang="en-US" altLang="zh-CN"/>
              <a:pPr>
                <a:defRPr/>
              </a:pPr>
              <a:t>‹#›</a:t>
            </a:fld>
            <a:endParaRPr lang="en-US" altLang="zh-CN"/>
          </a:p>
        </p:txBody>
      </p:sp>
    </p:spTree>
    <p:extLst>
      <p:ext uri="{BB962C8B-B14F-4D97-AF65-F5344CB8AC3E}">
        <p14:creationId xmlns:p14="http://schemas.microsoft.com/office/powerpoint/2010/main" val="1660819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C932AC-AD48-4B89-80D4-4E7BF13C33C5}"/>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2">
            <a:extLst>
              <a:ext uri="{FF2B5EF4-FFF2-40B4-BE49-F238E27FC236}">
                <a16:creationId xmlns:a16="http://schemas.microsoft.com/office/drawing/2014/main" id="{087BD01A-6944-424F-A2FD-7E76BC3D4CB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251727D5-0AD0-4864-9E16-C8931B7D3BC5}"/>
              </a:ext>
            </a:extLst>
          </p:cNvPr>
          <p:cNvSpPr>
            <a:spLocks noGrp="1"/>
          </p:cNvSpPr>
          <p:nvPr>
            <p:ph type="sldNum" sz="quarter" idx="12"/>
          </p:nvPr>
        </p:nvSpPr>
        <p:spPr/>
        <p:txBody>
          <a:bodyPr/>
          <a:lstStyle>
            <a:lvl1pPr>
              <a:defRPr smtClean="0"/>
            </a:lvl1pPr>
          </a:lstStyle>
          <a:p>
            <a:pPr>
              <a:defRPr/>
            </a:pPr>
            <a:fld id="{FF2ACD71-9DE8-4767-A023-64C61BA85513}" type="slidenum">
              <a:rPr lang="en-US" altLang="zh-CN"/>
              <a:pPr>
                <a:defRPr/>
              </a:pPr>
              <a:t>‹#›</a:t>
            </a:fld>
            <a:endParaRPr lang="en-US" altLang="zh-CN"/>
          </a:p>
        </p:txBody>
      </p:sp>
    </p:spTree>
    <p:extLst>
      <p:ext uri="{BB962C8B-B14F-4D97-AF65-F5344CB8AC3E}">
        <p14:creationId xmlns:p14="http://schemas.microsoft.com/office/powerpoint/2010/main" val="22813798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10F9EA5D-772B-4328-B61E-36BB93C08DF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D7EAB421-DDD2-4C83-BF74-DB8F37D8DD7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02863037-CDED-4AF8-B2CF-3C3BD8572C0D}"/>
              </a:ext>
            </a:extLst>
          </p:cNvPr>
          <p:cNvSpPr>
            <a:spLocks noGrp="1"/>
          </p:cNvSpPr>
          <p:nvPr>
            <p:ph type="sldNum" sz="quarter" idx="12"/>
          </p:nvPr>
        </p:nvSpPr>
        <p:spPr/>
        <p:txBody>
          <a:bodyPr/>
          <a:lstStyle>
            <a:lvl1pPr>
              <a:defRPr smtClean="0"/>
            </a:lvl1pPr>
          </a:lstStyle>
          <a:p>
            <a:pPr>
              <a:defRPr/>
            </a:pPr>
            <a:fld id="{CC68359B-9610-4188-BE23-6772B2F81205}" type="slidenum">
              <a:rPr lang="en-US" altLang="zh-CN"/>
              <a:pPr>
                <a:defRPr/>
              </a:pPr>
              <a:t>‹#›</a:t>
            </a:fld>
            <a:endParaRPr lang="en-US" altLang="zh-CN"/>
          </a:p>
        </p:txBody>
      </p:sp>
    </p:spTree>
    <p:extLst>
      <p:ext uri="{BB962C8B-B14F-4D97-AF65-F5344CB8AC3E}">
        <p14:creationId xmlns:p14="http://schemas.microsoft.com/office/powerpoint/2010/main" val="31356455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Date Placeholder 4">
            <a:extLst>
              <a:ext uri="{FF2B5EF4-FFF2-40B4-BE49-F238E27FC236}">
                <a16:creationId xmlns:a16="http://schemas.microsoft.com/office/drawing/2014/main" id="{EA2EB7FF-96EE-440A-93ED-23D0895E3943}"/>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5">
            <a:extLst>
              <a:ext uri="{FF2B5EF4-FFF2-40B4-BE49-F238E27FC236}">
                <a16:creationId xmlns:a16="http://schemas.microsoft.com/office/drawing/2014/main" id="{5D1DBC76-06F7-4B45-9A71-2520815C65D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F8E11C2D-0DEA-408E-ADEB-ECACC5AB155E}"/>
              </a:ext>
            </a:extLst>
          </p:cNvPr>
          <p:cNvSpPr>
            <a:spLocks noGrp="1"/>
          </p:cNvSpPr>
          <p:nvPr>
            <p:ph type="sldNum" sz="quarter" idx="12"/>
          </p:nvPr>
        </p:nvSpPr>
        <p:spPr/>
        <p:txBody>
          <a:bodyPr/>
          <a:lstStyle>
            <a:lvl1pPr>
              <a:defRPr smtClean="0"/>
            </a:lvl1pPr>
          </a:lstStyle>
          <a:p>
            <a:pPr>
              <a:defRPr/>
            </a:pPr>
            <a:fld id="{D680B30B-D817-4D08-A2D4-B112932B7220}" type="slidenum">
              <a:rPr lang="en-US" altLang="zh-CN"/>
              <a:pPr>
                <a:defRPr/>
              </a:pPr>
              <a:t>‹#›</a:t>
            </a:fld>
            <a:endParaRPr lang="en-US" altLang="zh-CN"/>
          </a:p>
        </p:txBody>
      </p:sp>
    </p:spTree>
    <p:extLst>
      <p:ext uri="{BB962C8B-B14F-4D97-AF65-F5344CB8AC3E}">
        <p14:creationId xmlns:p14="http://schemas.microsoft.com/office/powerpoint/2010/main" val="21992576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4207EC77-A460-4770-B260-720A6C8A38BB}"/>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C5791093-D137-4DA1-BAAD-DCFEBBB91A1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99617AC-4C68-4275-9D2E-C10D0D6BF9DE}"/>
              </a:ext>
            </a:extLst>
          </p:cNvPr>
          <p:cNvSpPr>
            <a:spLocks noGrp="1"/>
          </p:cNvSpPr>
          <p:nvPr>
            <p:ph type="sldNum" sz="quarter" idx="12"/>
          </p:nvPr>
        </p:nvSpPr>
        <p:spPr/>
        <p:txBody>
          <a:bodyPr/>
          <a:lstStyle>
            <a:lvl1pPr>
              <a:defRPr smtClean="0"/>
            </a:lvl1pPr>
          </a:lstStyle>
          <a:p>
            <a:pPr>
              <a:defRPr/>
            </a:pPr>
            <a:fld id="{224BA8E7-E9D2-4B20-9F10-495278E1502B}" type="slidenum">
              <a:rPr lang="en-US" altLang="zh-CN"/>
              <a:pPr>
                <a:defRPr/>
              </a:pPr>
              <a:t>‹#›</a:t>
            </a:fld>
            <a:endParaRPr lang="en-US" altLang="zh-CN"/>
          </a:p>
        </p:txBody>
      </p:sp>
    </p:spTree>
    <p:extLst>
      <p:ext uri="{BB962C8B-B14F-4D97-AF65-F5344CB8AC3E}">
        <p14:creationId xmlns:p14="http://schemas.microsoft.com/office/powerpoint/2010/main" val="30536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C55F969-EDC5-4474-8BFB-A9537FD161D9}"/>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9D32356E-143E-47E5-871B-5C6A987F038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8D28847-7C60-477F-9A1D-8495BDD0C0E7}"/>
              </a:ext>
            </a:extLst>
          </p:cNvPr>
          <p:cNvSpPr>
            <a:spLocks noGrp="1"/>
          </p:cNvSpPr>
          <p:nvPr>
            <p:ph type="sldNum" sz="quarter" idx="12"/>
          </p:nvPr>
        </p:nvSpPr>
        <p:spPr/>
        <p:txBody>
          <a:bodyPr/>
          <a:lstStyle>
            <a:lvl1pPr>
              <a:defRPr smtClean="0"/>
            </a:lvl1pPr>
          </a:lstStyle>
          <a:p>
            <a:pPr>
              <a:defRPr/>
            </a:pPr>
            <a:fld id="{0D00F23A-DB89-4E0B-AE76-FF440A598F9C}" type="slidenum">
              <a:rPr lang="en-US" altLang="zh-CN"/>
              <a:pPr>
                <a:defRPr/>
              </a:pPr>
              <a:t>‹#›</a:t>
            </a:fld>
            <a:endParaRPr lang="en-US" altLang="zh-CN"/>
          </a:p>
        </p:txBody>
      </p:sp>
    </p:spTree>
    <p:extLst>
      <p:ext uri="{BB962C8B-B14F-4D97-AF65-F5344CB8AC3E}">
        <p14:creationId xmlns:p14="http://schemas.microsoft.com/office/powerpoint/2010/main" val="3747056154"/>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2D37A657-DEF8-4A78-B0A2-137EE7E376FA}"/>
              </a:ext>
            </a:extLst>
          </p:cNvPr>
          <p:cNvSpPr>
            <a:spLocks noGrp="1" noChangeArrowheads="1"/>
          </p:cNvSpPr>
          <p:nvPr>
            <p:ph type="title"/>
          </p:nvPr>
        </p:nvSpPr>
        <p:spPr bwMode="auto">
          <a:xfrm>
            <a:off x="457200" y="142875"/>
            <a:ext cx="8229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4FA7415D-2A90-442A-B3F8-4EDBE792D668}"/>
              </a:ext>
            </a:extLst>
          </p:cNvPr>
          <p:cNvSpPr>
            <a:spLocks noGrp="1" noChangeArrowheads="1"/>
          </p:cNvSpPr>
          <p:nvPr>
            <p:ph type="body" idx="1"/>
          </p:nvPr>
        </p:nvSpPr>
        <p:spPr bwMode="auto">
          <a:xfrm>
            <a:off x="457200" y="1000125"/>
            <a:ext cx="8229600"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0CE9570-2725-44A5-85F1-85E7D53BF42D}"/>
              </a:ext>
            </a:extLst>
          </p:cNvPr>
          <p:cNvSpPr>
            <a:spLocks noGrp="1"/>
          </p:cNvSpPr>
          <p:nvPr>
            <p:ph type="dt" sz="half" idx="2"/>
          </p:nvPr>
        </p:nvSpPr>
        <p:spPr>
          <a:xfrm>
            <a:off x="457200" y="6391275"/>
            <a:ext cx="2133600" cy="365125"/>
          </a:xfrm>
          <a:prstGeom prst="rect">
            <a:avLst/>
          </a:prstGeom>
        </p:spPr>
        <p:txBody>
          <a:bodyPr vert="horz" lIns="91440" tIns="45720" rIns="91440" bIns="45720" rtlCol="0" anchor="ctr"/>
          <a:lstStyle>
            <a:lvl1pPr algn="l" defTabSz="913765">
              <a:defRPr sz="1000">
                <a:solidFill>
                  <a:prstClr val="black">
                    <a:tint val="75000"/>
                  </a:prstClr>
                </a:solidFill>
              </a:defRPr>
            </a:lvl1pPr>
          </a:lstStyle>
          <a:p>
            <a:pPr>
              <a:defRPr/>
            </a:pPr>
            <a:fld id="{21B27286-9A5A-4D22-A475-629F75BBB11E}" type="datetime3">
              <a:rPr lang="zh-CN" altLang="en-US"/>
              <a:pPr>
                <a:defRPr/>
              </a:pPr>
              <a:t>2024年10月10日星期四</a:t>
            </a:fld>
            <a:endParaRPr lang="zh-CN" altLang="en-US"/>
          </a:p>
        </p:txBody>
      </p:sp>
      <p:sp>
        <p:nvSpPr>
          <p:cNvPr id="5" name="页脚占位符 4">
            <a:extLst>
              <a:ext uri="{FF2B5EF4-FFF2-40B4-BE49-F238E27FC236}">
                <a16:creationId xmlns:a16="http://schemas.microsoft.com/office/drawing/2014/main" id="{7F1B649F-F52E-4CA9-A59B-1CF15EB18800}"/>
              </a:ext>
            </a:extLst>
          </p:cNvPr>
          <p:cNvSpPr>
            <a:spLocks noGrp="1"/>
          </p:cNvSpPr>
          <p:nvPr>
            <p:ph type="ftr" sz="quarter" idx="3"/>
          </p:nvPr>
        </p:nvSpPr>
        <p:spPr>
          <a:xfrm>
            <a:off x="2928938" y="6391275"/>
            <a:ext cx="3357562" cy="365125"/>
          </a:xfrm>
          <a:prstGeom prst="rect">
            <a:avLst/>
          </a:prstGeom>
        </p:spPr>
        <p:txBody>
          <a:bodyPr vert="horz" lIns="91440" tIns="46800" rIns="91440" bIns="45720" rtlCol="0" anchor="ctr"/>
          <a:lstStyle>
            <a:lvl1pPr algn="ctr" defTabSz="913765">
              <a:defRPr sz="1000">
                <a:solidFill>
                  <a:prstClr val="black">
                    <a:tint val="75000"/>
                  </a:prst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DFCEDEC4-0BBC-4269-8355-5F53D77F6E35}"/>
              </a:ext>
            </a:extLst>
          </p:cNvPr>
          <p:cNvSpPr>
            <a:spLocks noGrp="1"/>
          </p:cNvSpPr>
          <p:nvPr>
            <p:ph type="sldNum" sz="quarter" idx="4"/>
          </p:nvPr>
        </p:nvSpPr>
        <p:spPr>
          <a:xfrm>
            <a:off x="6553200" y="6391275"/>
            <a:ext cx="2133600" cy="365125"/>
          </a:xfrm>
          <a:prstGeom prst="rect">
            <a:avLst/>
          </a:prstGeom>
        </p:spPr>
        <p:txBody>
          <a:bodyPr vert="horz" wrap="square" lIns="91440" tIns="45720" rIns="91440" bIns="45720" numCol="1" anchor="ctr" anchorCtr="0" compatLnSpc="1">
            <a:prstTxWarp prst="textNoShape">
              <a:avLst/>
            </a:prstTxWarp>
          </a:bodyPr>
          <a:lstStyle>
            <a:lvl1pPr algn="r" defTabSz="912813">
              <a:defRPr sz="1000" smtClean="0">
                <a:solidFill>
                  <a:srgbClr val="898989"/>
                </a:solidFill>
              </a:defRPr>
            </a:lvl1pPr>
          </a:lstStyle>
          <a:p>
            <a:pPr>
              <a:defRPr/>
            </a:pPr>
            <a:fld id="{4BD7DFA0-CB83-4959-B82E-BF26DAC20941}" type="slidenum">
              <a:rPr lang="zh-CN" altLang="en-US"/>
              <a:pPr>
                <a:defRPr/>
              </a:pPr>
              <a:t>‹#›</a:t>
            </a:fld>
            <a:endParaRPr lang="zh-CN" altLang="en-US"/>
          </a:p>
        </p:txBody>
      </p:sp>
      <p:cxnSp>
        <p:nvCxnSpPr>
          <p:cNvPr id="7" name="直接连接符 6">
            <a:extLst>
              <a:ext uri="{FF2B5EF4-FFF2-40B4-BE49-F238E27FC236}">
                <a16:creationId xmlns:a16="http://schemas.microsoft.com/office/drawing/2014/main" id="{F7E5A205-0377-42C1-906C-8461D7620A2C}"/>
              </a:ext>
            </a:extLst>
          </p:cNvPr>
          <p:cNvCxnSpPr/>
          <p:nvPr/>
        </p:nvCxnSpPr>
        <p:spPr>
          <a:xfrm>
            <a:off x="0" y="857250"/>
            <a:ext cx="9144000" cy="1588"/>
          </a:xfrm>
          <a:prstGeom prst="line">
            <a:avLst/>
          </a:prstGeom>
          <a:ln w="63500" cap="flat" cmpd="thickThi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38B1EDF-EEDA-4138-91B5-309D103EA451}"/>
              </a:ext>
            </a:extLst>
          </p:cNvPr>
          <p:cNvCxnSpPr/>
          <p:nvPr/>
        </p:nvCxnSpPr>
        <p:spPr>
          <a:xfrm>
            <a:off x="0" y="6286500"/>
            <a:ext cx="9144000" cy="1588"/>
          </a:xfrm>
          <a:prstGeom prst="line">
            <a:avLst/>
          </a:prstGeom>
          <a:ln w="63500" cmpd="thinThick"/>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5057" r:id="rId1"/>
    <p:sldLayoutId id="2147485058" r:id="rId2"/>
    <p:sldLayoutId id="2147485059" r:id="rId3"/>
    <p:sldLayoutId id="2147485060" r:id="rId4"/>
    <p:sldLayoutId id="2147485061" r:id="rId5"/>
    <p:sldLayoutId id="2147485062" r:id="rId6"/>
    <p:sldLayoutId id="2147485034" r:id="rId7"/>
    <p:sldLayoutId id="2147485063" r:id="rId8"/>
    <p:sldLayoutId id="2147485064" r:id="rId9"/>
    <p:sldLayoutId id="2147485065" r:id="rId10"/>
    <p:sldLayoutId id="2147485066" r:id="rId11"/>
    <p:sldLayoutId id="2147485067" r:id="rId12"/>
    <p:sldLayoutId id="2147485068" r:id="rId13"/>
  </p:sldLayoutIdLst>
  <p:hf sldNum="0" hdr="0" ftr="0" dt="0"/>
  <p:txStyles>
    <p:titleStyle>
      <a:lvl1pPr algn="ctr" defTabSz="512763" rtl="0" eaLnBrk="0" fontAlgn="base" hangingPunct="0">
        <a:spcBef>
          <a:spcPct val="0"/>
        </a:spcBef>
        <a:spcAft>
          <a:spcPct val="0"/>
        </a:spcAft>
        <a:defRPr sz="2400" kern="1200">
          <a:solidFill>
            <a:schemeClr val="tx1"/>
          </a:solidFill>
          <a:latin typeface="+mj-lt"/>
          <a:ea typeface="+mj-ea"/>
          <a:cs typeface="+mj-cs"/>
        </a:defRPr>
      </a:lvl1pPr>
      <a:lvl2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2pPr>
      <a:lvl3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3pPr>
      <a:lvl4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4pPr>
      <a:lvl5pPr algn="ctr" defTabSz="512763" rtl="0" eaLnBrk="0" fontAlgn="base" hangingPunct="0">
        <a:spcBef>
          <a:spcPct val="0"/>
        </a:spcBef>
        <a:spcAft>
          <a:spcPct val="0"/>
        </a:spcAft>
        <a:defRPr sz="2400">
          <a:solidFill>
            <a:schemeClr val="tx1"/>
          </a:solidFill>
          <a:latin typeface="Arial" panose="020B0604020202020204" pitchFamily="34" charset="0"/>
          <a:ea typeface="黑体" panose="02010609060101010101" pitchFamily="49" charset="-122"/>
        </a:defRPr>
      </a:lvl5pPr>
      <a:lvl6pPr marL="4572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6pPr>
      <a:lvl7pPr marL="9144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7pPr>
      <a:lvl8pPr marL="13716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8pPr>
      <a:lvl9pPr marL="1828800" algn="ctr" defTabSz="512763" rtl="0" fontAlgn="base">
        <a:spcBef>
          <a:spcPct val="0"/>
        </a:spcBef>
        <a:spcAft>
          <a:spcPct val="0"/>
        </a:spcAft>
        <a:defRPr sz="2400">
          <a:solidFill>
            <a:schemeClr val="tx1"/>
          </a:solidFill>
          <a:latin typeface="Arial" panose="020B0604020202020204" pitchFamily="34" charset="0"/>
          <a:ea typeface="黑体" panose="02010609060101010101" pitchFamily="49" charset="-122"/>
        </a:defRPr>
      </a:lvl9pPr>
    </p:titleStyle>
    <p:bodyStyle>
      <a:lvl1pPr marL="192088" indent="-192088" algn="l" defTabSz="512763"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417513" indent="-160338" algn="l" defTabSz="512763"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2pPr>
      <a:lvl3pPr marL="641350" indent="-127000" algn="l" defTabSz="512763" rtl="0" eaLnBrk="0" fontAlgn="base" hangingPunct="0">
        <a:spcBef>
          <a:spcPct val="20000"/>
        </a:spcBef>
        <a:spcAft>
          <a:spcPct val="0"/>
        </a:spcAft>
        <a:buFont typeface="Arial" panose="020B0604020202020204" pitchFamily="34" charset="0"/>
        <a:buChar char="•"/>
        <a:defRPr sz="1600" kern="1200">
          <a:solidFill>
            <a:schemeClr val="tx1"/>
          </a:solidFill>
          <a:latin typeface="+mn-lt"/>
          <a:ea typeface="+mn-ea"/>
          <a:cs typeface="+mn-cs"/>
        </a:defRPr>
      </a:lvl3pPr>
      <a:lvl4pPr marL="898525"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4pPr>
      <a:lvl5pPr marL="1155700" indent="-127000" algn="l" defTabSz="512763" rtl="0" eaLnBrk="0" fontAlgn="base" hangingPunct="0">
        <a:spcBef>
          <a:spcPct val="20000"/>
        </a:spcBef>
        <a:spcAft>
          <a:spcPct val="0"/>
        </a:spcAft>
        <a:buFont typeface="Arial" panose="020B0604020202020204" pitchFamily="34" charset="0"/>
        <a:buChar char="»"/>
        <a:defRPr sz="1400" kern="1200">
          <a:solidFill>
            <a:schemeClr val="tx1"/>
          </a:solidFill>
          <a:latin typeface="+mn-lt"/>
          <a:ea typeface="+mn-ea"/>
          <a:cs typeface="+mn-cs"/>
        </a:defRPr>
      </a:lvl5pPr>
      <a:lvl6pPr marL="141414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6pPr>
      <a:lvl7pPr marL="167132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7pPr>
      <a:lvl8pPr marL="1928495"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8pPr>
      <a:lvl9pPr marL="2185670" indent="-128270" algn="l" defTabSz="513715"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9pPr>
    </p:bodyStyle>
    <p:otherStyle>
      <a:defPPr>
        <a:defRPr lang="zh-CN"/>
      </a:defPPr>
      <a:lvl1pPr marL="0" algn="l" defTabSz="513715" rtl="0" eaLnBrk="1" latinLnBrk="0" hangingPunct="1">
        <a:defRPr sz="1015" kern="1200">
          <a:solidFill>
            <a:schemeClr val="tx1"/>
          </a:solidFill>
          <a:latin typeface="+mn-lt"/>
          <a:ea typeface="+mn-ea"/>
          <a:cs typeface="+mn-cs"/>
        </a:defRPr>
      </a:lvl1pPr>
      <a:lvl2pPr marL="257175" algn="l" defTabSz="513715" rtl="0" eaLnBrk="1" latinLnBrk="0" hangingPunct="1">
        <a:defRPr sz="1015" kern="1200">
          <a:solidFill>
            <a:schemeClr val="tx1"/>
          </a:solidFill>
          <a:latin typeface="+mn-lt"/>
          <a:ea typeface="+mn-ea"/>
          <a:cs typeface="+mn-cs"/>
        </a:defRPr>
      </a:lvl2pPr>
      <a:lvl3pPr marL="514350" algn="l" defTabSz="513715" rtl="0" eaLnBrk="1" latinLnBrk="0" hangingPunct="1">
        <a:defRPr sz="1015" kern="1200">
          <a:solidFill>
            <a:schemeClr val="tx1"/>
          </a:solidFill>
          <a:latin typeface="+mn-lt"/>
          <a:ea typeface="+mn-ea"/>
          <a:cs typeface="+mn-cs"/>
        </a:defRPr>
      </a:lvl3pPr>
      <a:lvl4pPr marL="771525" algn="l" defTabSz="513715" rtl="0" eaLnBrk="1" latinLnBrk="0" hangingPunct="1">
        <a:defRPr sz="1015" kern="1200">
          <a:solidFill>
            <a:schemeClr val="tx1"/>
          </a:solidFill>
          <a:latin typeface="+mn-lt"/>
          <a:ea typeface="+mn-ea"/>
          <a:cs typeface="+mn-cs"/>
        </a:defRPr>
      </a:lvl4pPr>
      <a:lvl5pPr marL="1028700" algn="l" defTabSz="513715" rtl="0" eaLnBrk="1" latinLnBrk="0" hangingPunct="1">
        <a:defRPr sz="1015" kern="1200">
          <a:solidFill>
            <a:schemeClr val="tx1"/>
          </a:solidFill>
          <a:latin typeface="+mn-lt"/>
          <a:ea typeface="+mn-ea"/>
          <a:cs typeface="+mn-cs"/>
        </a:defRPr>
      </a:lvl5pPr>
      <a:lvl6pPr marL="1285875" algn="l" defTabSz="513715" rtl="0" eaLnBrk="1" latinLnBrk="0" hangingPunct="1">
        <a:defRPr sz="1015" kern="1200">
          <a:solidFill>
            <a:schemeClr val="tx1"/>
          </a:solidFill>
          <a:latin typeface="+mn-lt"/>
          <a:ea typeface="+mn-ea"/>
          <a:cs typeface="+mn-cs"/>
        </a:defRPr>
      </a:lvl6pPr>
      <a:lvl7pPr marL="1543050" algn="l" defTabSz="513715" rtl="0" eaLnBrk="1" latinLnBrk="0" hangingPunct="1">
        <a:defRPr sz="1015" kern="1200">
          <a:solidFill>
            <a:schemeClr val="tx1"/>
          </a:solidFill>
          <a:latin typeface="+mn-lt"/>
          <a:ea typeface="+mn-ea"/>
          <a:cs typeface="+mn-cs"/>
        </a:defRPr>
      </a:lvl7pPr>
      <a:lvl8pPr marL="1800225" algn="l" defTabSz="513715" rtl="0" eaLnBrk="1" latinLnBrk="0" hangingPunct="1">
        <a:defRPr sz="1015" kern="1200">
          <a:solidFill>
            <a:schemeClr val="tx1"/>
          </a:solidFill>
          <a:latin typeface="+mn-lt"/>
          <a:ea typeface="+mn-ea"/>
          <a:cs typeface="+mn-cs"/>
        </a:defRPr>
      </a:lvl8pPr>
      <a:lvl9pPr marL="2057400" algn="l" defTabSz="513715"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FFD39F70-0BB0-4AC2-A90C-E6C64EADCC90}"/>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a:extLst>
              <a:ext uri="{FF2B5EF4-FFF2-40B4-BE49-F238E27FC236}">
                <a16:creationId xmlns:a16="http://schemas.microsoft.com/office/drawing/2014/main" id="{6636DB0A-85E2-4055-B3CE-96C3B7C66DCD}"/>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099ACD-5484-4664-8010-F901F8885ED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69522F3-4E8F-46C6-809E-E2A66B821E09}"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A9ABCC43-AF1B-4E5E-A12F-999B3CE4B53D}"/>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4AD7DE29-F9B3-4C85-A707-B5D35972BCBA}"/>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A76952D7-EF9B-4A41-BF2E-379404780C7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35" r:id="rId1"/>
    <p:sldLayoutId id="2147485036" r:id="rId2"/>
    <p:sldLayoutId id="2147485037" r:id="rId3"/>
    <p:sldLayoutId id="2147485038" r:id="rId4"/>
    <p:sldLayoutId id="2147485039" r:id="rId5"/>
    <p:sldLayoutId id="2147485040" r:id="rId6"/>
    <p:sldLayoutId id="2147485041" r:id="rId7"/>
    <p:sldLayoutId id="2147485042" r:id="rId8"/>
    <p:sldLayoutId id="2147485043" r:id="rId9"/>
    <p:sldLayoutId id="2147485044" r:id="rId10"/>
    <p:sldLayoutId id="2147485045"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a:extLst>
              <a:ext uri="{FF2B5EF4-FFF2-40B4-BE49-F238E27FC236}">
                <a16:creationId xmlns:a16="http://schemas.microsoft.com/office/drawing/2014/main" id="{37325569-1B1B-4B17-B328-4712ED632871}"/>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文本占位符 2">
            <a:extLst>
              <a:ext uri="{FF2B5EF4-FFF2-40B4-BE49-F238E27FC236}">
                <a16:creationId xmlns:a16="http://schemas.microsoft.com/office/drawing/2014/main" id="{2A64365C-8E96-4F73-88BC-BDB5830226B7}"/>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5FCD62-AC2E-43C2-BE76-D287AC30A5C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A1BA76D-D034-4490-A9E2-343D9DF6B426}" type="datetimeFigureOut">
              <a:rPr lang="zh-CN" altLang="en-US"/>
              <a:pPr>
                <a:defRPr/>
              </a:pPr>
              <a:t>2024/10/10</a:t>
            </a:fld>
            <a:endParaRPr lang="zh-CN" altLang="en-US"/>
          </a:p>
        </p:txBody>
      </p:sp>
      <p:sp>
        <p:nvSpPr>
          <p:cNvPr id="5" name="页脚占位符 4">
            <a:extLst>
              <a:ext uri="{FF2B5EF4-FFF2-40B4-BE49-F238E27FC236}">
                <a16:creationId xmlns:a16="http://schemas.microsoft.com/office/drawing/2014/main" id="{876A6EFD-1465-4335-BB27-48965E1FE73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a:extLst>
              <a:ext uri="{FF2B5EF4-FFF2-40B4-BE49-F238E27FC236}">
                <a16:creationId xmlns:a16="http://schemas.microsoft.com/office/drawing/2014/main" id="{203D60C0-4DDC-4625-9AB7-A26C57DDE680}"/>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31BD40D6-595B-47D3-879E-A122AF10D23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5046" r:id="rId1"/>
    <p:sldLayoutId id="2147485047" r:id="rId2"/>
    <p:sldLayoutId id="2147485048" r:id="rId3"/>
    <p:sldLayoutId id="2147485049" r:id="rId4"/>
    <p:sldLayoutId id="2147485050" r:id="rId5"/>
    <p:sldLayoutId id="2147485051" r:id="rId6"/>
    <p:sldLayoutId id="2147485052" r:id="rId7"/>
    <p:sldLayoutId id="2147485053" r:id="rId8"/>
    <p:sldLayoutId id="2147485054" r:id="rId9"/>
    <p:sldLayoutId id="2147485055" r:id="rId10"/>
    <p:sldLayoutId id="2147485056"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EEDA3903-E769-4A98-B2AC-6A1876D4D00E}"/>
              </a:ext>
            </a:extLst>
          </p:cNvPr>
          <p:cNvSpPr>
            <a:spLocks noGrp="1" noChangeArrowheads="1"/>
          </p:cNvSpPr>
          <p:nvPr>
            <p:ph type="title"/>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9" name="Text Placeholder 2">
            <a:extLst>
              <a:ext uri="{FF2B5EF4-FFF2-40B4-BE49-F238E27FC236}">
                <a16:creationId xmlns:a16="http://schemas.microsoft.com/office/drawing/2014/main" id="{BA018CC4-E6C3-409F-A47D-F932743FFF94}"/>
              </a:ext>
            </a:extLst>
          </p:cNvPr>
          <p:cNvSpPr>
            <a:spLocks noGrp="1" noChangeArrowheads="1"/>
          </p:cNvSpPr>
          <p:nvPr>
            <p:ph type="body" idx="1"/>
          </p:nvPr>
        </p:nvSpPr>
        <p:spPr bwMode="auto">
          <a:xfrm>
            <a:off x="633413" y="1828800"/>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a:extLst>
              <a:ext uri="{FF2B5EF4-FFF2-40B4-BE49-F238E27FC236}">
                <a16:creationId xmlns:a16="http://schemas.microsoft.com/office/drawing/2014/main" id="{D68CCD12-EAFF-4F24-82AC-F30E3AE99810}"/>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86A6808D-1942-494C-8DF0-1089DDB9AD7B}"/>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02D995F8-4B68-415C-942E-E1A75C6DBCE7}"/>
              </a:ext>
            </a:extLst>
          </p:cNvPr>
          <p:cNvSpPr>
            <a:spLocks noGrp="1"/>
          </p:cNvSpPr>
          <p:nvPr>
            <p:ph type="sldNum" sz="quarter" idx="4"/>
          </p:nvPr>
        </p:nvSpPr>
        <p:spPr>
          <a:xfrm>
            <a:off x="6462713"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800" smtClean="0">
                <a:solidFill>
                  <a:srgbClr val="898989"/>
                </a:solidFill>
              </a:defRPr>
            </a:lvl1pPr>
          </a:lstStyle>
          <a:p>
            <a:pPr>
              <a:defRPr/>
            </a:pPr>
            <a:fld id="{1E2DC961-7D88-4FF7-89D1-D53EDDF2DB4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5069" r:id="rId1"/>
    <p:sldLayoutId id="2147485070" r:id="rId2"/>
    <p:sldLayoutId id="2147485071" r:id="rId3"/>
    <p:sldLayoutId id="2147485072" r:id="rId4"/>
    <p:sldLayoutId id="2147485073" r:id="rId5"/>
    <p:sldLayoutId id="2147485074" r:id="rId6"/>
    <p:sldLayoutId id="2147485075" r:id="rId7"/>
    <p:sldLayoutId id="2147485076" r:id="rId8"/>
    <p:sldLayoutId id="2147485077" r:id="rId9"/>
    <p:sldLayoutId id="2147485078" r:id="rId10"/>
    <p:sldLayoutId id="2147485079" r:id="rId11"/>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0.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7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8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10.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6.emf"/><Relationship Id="rId4" Type="http://schemas.openxmlformats.org/officeDocument/2006/relationships/image" Target="../media/image930.png"/></Relationships>
</file>

<file path=ppt/slides/_rels/slide9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990.png"/><Relationship Id="rId1" Type="http://schemas.openxmlformats.org/officeDocument/2006/relationships/slideLayout" Target="../slideLayouts/slideLayout2.xml"/><Relationship Id="rId4" Type="http://schemas.openxmlformats.org/officeDocument/2006/relationships/image" Target="../media/image112.emf"/></Relationships>
</file>

<file path=ppt/slides/_rels/slide106.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070.png"/><Relationship Id="rId1" Type="http://schemas.openxmlformats.org/officeDocument/2006/relationships/slideLayout" Target="../slideLayouts/slideLayout2.xml"/><Relationship Id="rId4" Type="http://schemas.openxmlformats.org/officeDocument/2006/relationships/image" Target="../media/image115.emf"/></Relationships>
</file>

<file path=ppt/slides/_rels/slide10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02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6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7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90.png"/><Relationship Id="rId2" Type="http://schemas.openxmlformats.org/officeDocument/2006/relationships/image" Target="../media/image1180.png"/><Relationship Id="rId1" Type="http://schemas.openxmlformats.org/officeDocument/2006/relationships/slideLayout" Target="../slideLayouts/slideLayout2.xml"/><Relationship Id="rId4" Type="http://schemas.openxmlformats.org/officeDocument/2006/relationships/image" Target="../media/image1200.png"/></Relationships>
</file>

<file path=ppt/slides/_rels/slide120.xml.rels><?xml version="1.0" encoding="UTF-8" standalone="yes"?>
<Relationships xmlns="http://schemas.openxmlformats.org/package/2006/relationships"><Relationship Id="rId2" Type="http://schemas.openxmlformats.org/officeDocument/2006/relationships/image" Target="../media/image121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3">
            <a:extLst>
              <a:ext uri="{FF2B5EF4-FFF2-40B4-BE49-F238E27FC236}">
                <a16:creationId xmlns:a16="http://schemas.microsoft.com/office/drawing/2014/main" id="{E6E024B2-E338-47D3-B952-17C8D3CA11A6}"/>
              </a:ext>
            </a:extLst>
          </p:cNvPr>
          <p:cNvSpPr>
            <a:spLocks noGrp="1"/>
          </p:cNvSpPr>
          <p:nvPr>
            <p:ph type="title" idx="4294967295"/>
          </p:nvPr>
        </p:nvSpPr>
        <p:spPr>
          <a:xfrm>
            <a:off x="623888" y="1709738"/>
            <a:ext cx="7886700" cy="2852737"/>
          </a:xfrm>
        </p:spPr>
        <p:txBody>
          <a:bodyPr/>
          <a:lstStyle/>
          <a:p>
            <a:pPr marL="457200" indent="-457200" eaLnBrk="1" hangingPunct="1">
              <a:defRPr/>
            </a:pPr>
            <a:br>
              <a:rPr lang="zh-CN" altLang="zh-CN" sz="6000">
                <a:effectLst>
                  <a:outerShdw blurRad="38100" dist="38100" dir="2700000" algn="tl">
                    <a:srgbClr val="C0C0C0"/>
                  </a:outerShdw>
                </a:effectLst>
              </a:rPr>
            </a:br>
            <a:endParaRPr lang="zh-CN" altLang="zh-CN" sz="6000">
              <a:effectLst>
                <a:outerShdw blurRad="38100" dist="38100" dir="2700000" algn="tl">
                  <a:srgbClr val="C0C0C0"/>
                </a:outerShdw>
              </a:effectLst>
            </a:endParaRPr>
          </a:p>
        </p:txBody>
      </p:sp>
      <p:sp>
        <p:nvSpPr>
          <p:cNvPr id="31747" name="文本占位符 4">
            <a:extLst>
              <a:ext uri="{FF2B5EF4-FFF2-40B4-BE49-F238E27FC236}">
                <a16:creationId xmlns:a16="http://schemas.microsoft.com/office/drawing/2014/main" id="{A3143DA6-CFC3-4C1F-8561-41F8006CA61A}"/>
              </a:ext>
            </a:extLst>
          </p:cNvPr>
          <p:cNvSpPr>
            <a:spLocks noGrp="1" noChangeArrowheads="1"/>
          </p:cNvSpPr>
          <p:nvPr>
            <p:ph type="body" idx="4294967295"/>
          </p:nvPr>
        </p:nvSpPr>
        <p:spPr>
          <a:xfrm>
            <a:off x="1" y="1536700"/>
            <a:ext cx="9144000" cy="1500188"/>
          </a:xfrm>
        </p:spPr>
        <p:txBody>
          <a:bodyPr/>
          <a:lstStyle/>
          <a:p>
            <a:pPr marL="0" indent="0" eaLnBrk="1" hangingPunct="1">
              <a:buFontTx/>
              <a:buNone/>
            </a:pPr>
            <a:r>
              <a:rPr lang="zh-CN" altLang="en-US" sz="6000" dirty="0">
                <a:solidFill>
                  <a:srgbClr val="10181C"/>
                </a:solidFill>
              </a:rPr>
              <a:t>第</a:t>
            </a:r>
            <a:r>
              <a:rPr lang="en-US" altLang="zh-CN" sz="6000" dirty="0">
                <a:solidFill>
                  <a:srgbClr val="10181C"/>
                </a:solidFill>
              </a:rPr>
              <a:t>2</a:t>
            </a:r>
            <a:r>
              <a:rPr lang="zh-CN" altLang="en-US" sz="6000" dirty="0">
                <a:solidFill>
                  <a:srgbClr val="10181C"/>
                </a:solidFill>
              </a:rPr>
              <a:t>章随机数的产生和检验</a:t>
            </a:r>
            <a:endParaRPr lang="zh-CN" altLang="zh-CN" sz="6000" dirty="0">
              <a:solidFill>
                <a:srgbClr val="10181C"/>
              </a:solidFill>
            </a:endParaRPr>
          </a:p>
        </p:txBody>
      </p:sp>
      <p:sp>
        <p:nvSpPr>
          <p:cNvPr id="31748" name="Rectangle 3">
            <a:extLst>
              <a:ext uri="{FF2B5EF4-FFF2-40B4-BE49-F238E27FC236}">
                <a16:creationId xmlns:a16="http://schemas.microsoft.com/office/drawing/2014/main" id="{6AB8C210-2E54-4F36-809C-4F77A4B7AC2A}"/>
              </a:ext>
            </a:extLst>
          </p:cNvPr>
          <p:cNvSpPr txBox="1">
            <a:spLocks noChangeArrowheads="1"/>
          </p:cNvSpPr>
          <p:nvPr/>
        </p:nvSpPr>
        <p:spPr bwMode="auto">
          <a:xfrm>
            <a:off x="1061609" y="2759076"/>
            <a:ext cx="7245805"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457200" indent="-457200">
              <a:spcBef>
                <a:spcPct val="20000"/>
              </a:spcBef>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Font typeface="Arial" panose="020B0604020202020204" pitchFamily="34" charset="0"/>
              <a:buChar char="–"/>
              <a:defRPr>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Arial" panose="020B0604020202020204" pitchFamily="34" charset="0"/>
              <a:buChar char="•"/>
              <a:defRPr sz="16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4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2.1 </a:t>
            </a:r>
            <a:r>
              <a:rPr lang="zh-CN" altLang="en-US" sz="3600" b="1" dirty="0">
                <a:latin typeface="Verdana" panose="020B0604030504040204" pitchFamily="34" charset="0"/>
              </a:rPr>
              <a:t>随机数产生器</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2.2 </a:t>
            </a:r>
            <a:r>
              <a:rPr lang="zh-CN" altLang="en-US" sz="3600" b="1" dirty="0">
                <a:latin typeface="Verdana" panose="020B0604030504040204" pitchFamily="34" charset="0"/>
              </a:rPr>
              <a:t>均匀随机数的产生和检验</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2.3 </a:t>
            </a:r>
            <a:r>
              <a:rPr lang="zh-CN" altLang="en-US" sz="3600" b="1" dirty="0">
                <a:latin typeface="Verdana" panose="020B0604030504040204" pitchFamily="34" charset="0"/>
              </a:rPr>
              <a:t>非均匀随机数的产生</a:t>
            </a:r>
            <a:endParaRPr lang="en-US" altLang="zh-CN" sz="3600" b="1" dirty="0">
              <a:latin typeface="Verdana" panose="020B0604030504040204" pitchFamily="34" charset="0"/>
            </a:endParaRPr>
          </a:p>
          <a:p>
            <a:pPr algn="just" eaLnBrk="1" hangingPunct="1">
              <a:buClr>
                <a:schemeClr val="folHlink"/>
              </a:buClr>
              <a:buSzPct val="60000"/>
              <a:buFont typeface="Wingdings" panose="05000000000000000000" pitchFamily="2" charset="2"/>
              <a:buChar char="n"/>
            </a:pPr>
            <a:r>
              <a:rPr lang="en-US" altLang="zh-CN" sz="3600" b="1" dirty="0">
                <a:latin typeface="Verdana" panose="020B0604030504040204" pitchFamily="34" charset="0"/>
              </a:rPr>
              <a:t>2.4</a:t>
            </a:r>
            <a:r>
              <a:rPr lang="zh-CN" altLang="en-US" sz="3600" b="1" dirty="0">
                <a:latin typeface="Verdana" panose="020B0604030504040204" pitchFamily="34" charset="0"/>
              </a:rPr>
              <a:t> 随机向量的产生</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2.1 </a:t>
            </a:r>
            <a:r>
              <a:rPr lang="zh-CN" altLang="en-US" dirty="0"/>
              <a:t>随机数产生器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39007" y="802410"/>
            <a:ext cx="8865985"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FF0000"/>
                </a:solidFill>
                <a:latin typeface="Verdana" panose="020B0604030504040204" pitchFamily="34" charset="0"/>
              </a:rPr>
              <a:t>使用随机性</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抛硬币</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彩票</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网络信息或信用卡信息需要通过安全确认，随机数就被用来形成加密密钥</a:t>
            </a:r>
          </a:p>
          <a:p>
            <a:pPr marL="457200" indent="-457200" eaLnBrk="1" hangingPunct="1">
              <a:spcBef>
                <a:spcPct val="20000"/>
              </a:spcBef>
              <a:buFontTx/>
              <a:buChar char="-"/>
            </a:pPr>
            <a:r>
              <a:rPr lang="zh-CN" altLang="en-US" sz="3200" dirty="0">
                <a:solidFill>
                  <a:srgbClr val="006699"/>
                </a:solidFill>
                <a:latin typeface="Verdana" panose="020B0604030504040204" pitchFamily="34" charset="0"/>
              </a:rPr>
              <a:t>随机数也可以用来</a:t>
            </a:r>
            <a:r>
              <a:rPr lang="zh-CN" altLang="en-US" sz="3200" b="1" dirty="0">
                <a:solidFill>
                  <a:srgbClr val="006699"/>
                </a:solidFill>
                <a:latin typeface="Verdana" panose="020B0604030504040204" pitchFamily="34" charset="0"/>
              </a:rPr>
              <a:t>模拟</a:t>
            </a:r>
            <a:r>
              <a:rPr lang="zh-CN" altLang="en-US" sz="3200" dirty="0">
                <a:solidFill>
                  <a:srgbClr val="006699"/>
                </a:solidFill>
                <a:latin typeface="Verdana" panose="020B0604030504040204" pitchFamily="34" charset="0"/>
              </a:rPr>
              <a:t>真实世界的现象。例如，经营自动取款机网络的银行设计的软件，常常通过随机时间随机取款机来模拟客户访问自己的帐户来测试软件的功能。</a:t>
            </a:r>
            <a:endParaRPr lang="en-US" altLang="zh-CN" sz="3200" dirty="0">
              <a:solidFill>
                <a:srgbClr val="006699"/>
              </a:solidFill>
              <a:latin typeface="Verdana" panose="020B0604030504040204" pitchFamily="34" charset="0"/>
            </a:endParaRPr>
          </a:p>
          <a:p>
            <a:pPr marL="457200" indent="-457200" eaLnBrk="1" hangingPunct="1">
              <a:spcBef>
                <a:spcPct val="20000"/>
              </a:spcBef>
              <a:buFontTx/>
              <a:buChar char="-"/>
            </a:pPr>
            <a:r>
              <a:rPr lang="zh-CN" altLang="en-US" sz="3200" dirty="0">
                <a:solidFill>
                  <a:srgbClr val="006699"/>
                </a:solidFill>
                <a:latin typeface="Verdana" panose="020B0604030504040204" pitchFamily="34" charset="0"/>
              </a:rPr>
              <a:t>蒙特卡罗算法</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2.1 </a:t>
            </a:r>
            <a:r>
              <a:rPr lang="zh-CN" altLang="en-US" dirty="0"/>
              <a:t>随机数产生器</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FF5D14C-95B3-4CF1-BF98-91BC0AC93EA6}"/>
                  </a:ext>
                </a:extLst>
              </p:cNvPr>
              <p:cNvSpPr txBox="1"/>
              <p:nvPr/>
            </p:nvSpPr>
            <p:spPr>
              <a:xfrm>
                <a:off x="136749" y="1673805"/>
                <a:ext cx="8870501" cy="2754600"/>
              </a:xfrm>
              <a:prstGeom prst="rect">
                <a:avLst/>
              </a:prstGeom>
              <a:noFill/>
              <a:ln w="25400">
                <a:noFill/>
              </a:ln>
            </p:spPr>
            <p:txBody>
              <a:bodyPr wrap="square">
                <a:spAutoFit/>
              </a:bodyPr>
              <a:lstStyle/>
              <a:p>
                <a:pPr>
                  <a:spcBef>
                    <a:spcPts val="900"/>
                  </a:spcBef>
                  <a:spcAft>
                    <a:spcPts val="900"/>
                  </a:spcAft>
                </a:pPr>
                <a:r>
                  <a:rPr lang="zh-CN" altLang="zh-CN" sz="3200" dirty="0">
                    <a:solidFill>
                      <a:srgbClr val="006699"/>
                    </a:solidFill>
                    <a:latin typeface="Verdana" panose="020B0604030504040204" pitchFamily="34" charset="0"/>
                  </a:rPr>
                  <a:t>设随机变量</a:t>
                </a:r>
                <a14:m>
                  <m:oMath xmlns:m="http://schemas.openxmlformats.org/officeDocument/2006/math">
                    <m:r>
                      <a:rPr lang="en-US" altLang="zh-CN" sz="3200">
                        <a:solidFill>
                          <a:srgbClr val="006699"/>
                        </a:solidFill>
                        <a:latin typeface="Cambria Math" panose="02040503050406030204" pitchFamily="18" charset="0"/>
                      </a:rPr>
                      <m:t>𝑋</m:t>
                    </m:r>
                  </m:oMath>
                </a14:m>
                <a:r>
                  <a:rPr lang="zh-CN" altLang="zh-CN" sz="3200" dirty="0">
                    <a:solidFill>
                      <a:srgbClr val="006699"/>
                    </a:solidFill>
                    <a:latin typeface="Verdana" panose="020B0604030504040204" pitchFamily="34" charset="0"/>
                  </a:rPr>
                  <a:t>有分布函数</a:t>
                </a:r>
                <a14:m>
                  <m:oMath xmlns:m="http://schemas.openxmlformats.org/officeDocument/2006/math">
                    <m:r>
                      <a:rPr lang="en-US" altLang="zh-CN" sz="3200">
                        <a:solidFill>
                          <a:srgbClr val="006699"/>
                        </a:solidFill>
                        <a:latin typeface="Cambria Math" panose="02040503050406030204" pitchFamily="18" charset="0"/>
                      </a:rPr>
                      <m:t>𝐹</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zh-CN" altLang="zh-CN" sz="3200" dirty="0">
                    <a:solidFill>
                      <a:srgbClr val="006699"/>
                    </a:solidFill>
                    <a:latin typeface="Verdana" panose="020B0604030504040204" pitchFamily="34" charset="0"/>
                  </a:rPr>
                  <a:t>，</a:t>
                </a:r>
              </a:p>
              <a:p>
                <a:pPr>
                  <a:spcBef>
                    <a:spcPts val="900"/>
                  </a:spcBef>
                  <a:spcAft>
                    <a:spcPts val="900"/>
                  </a:spcAft>
                </a:pPr>
                <a14:m>
                  <m:oMath xmlns:m="http://schemas.openxmlformats.org/officeDocument/2006/math">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𝑖</m:t>
                        </m:r>
                      </m:sub>
                    </m:sSub>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𝑖</m:t>
                    </m:r>
                    <m:r>
                      <a:rPr lang="en-US" altLang="zh-CN" sz="3200">
                        <a:solidFill>
                          <a:srgbClr val="006699"/>
                        </a:solidFill>
                        <a:latin typeface="Cambria Math" panose="02040503050406030204" pitchFamily="18" charset="0"/>
                      </a:rPr>
                      <m:t>=1,2,…}</m:t>
                    </m:r>
                  </m:oMath>
                </a14:m>
                <a:r>
                  <a:rPr lang="zh-CN" altLang="zh-CN" sz="3200" dirty="0">
                    <a:solidFill>
                      <a:srgbClr val="006699"/>
                    </a:solidFill>
                    <a:latin typeface="Verdana" panose="020B0604030504040204" pitchFamily="34" charset="0"/>
                  </a:rPr>
                  <a:t>独立同分布</a:t>
                </a:r>
                <a14:m>
                  <m:oMath xmlns:m="http://schemas.openxmlformats.org/officeDocument/2006/math">
                    <m:r>
                      <a:rPr lang="en-US" altLang="zh-CN" sz="3200">
                        <a:solidFill>
                          <a:srgbClr val="006699"/>
                        </a:solidFill>
                        <a:latin typeface="Cambria Math" panose="02040503050406030204" pitchFamily="18" charset="0"/>
                      </a:rPr>
                      <m:t>𝐹</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zh-CN" altLang="zh-CN" sz="3200" dirty="0">
                    <a:solidFill>
                      <a:srgbClr val="006699"/>
                    </a:solidFill>
                    <a:latin typeface="Verdana" panose="020B0604030504040204" pitchFamily="34" charset="0"/>
                  </a:rPr>
                  <a:t>， </a:t>
                </a:r>
              </a:p>
              <a:p>
                <a:pPr>
                  <a:spcBef>
                    <a:spcPts val="900"/>
                  </a:spcBef>
                  <a:spcAft>
                    <a:spcPts val="900"/>
                  </a:spcAft>
                </a:pPr>
                <a:r>
                  <a:rPr lang="zh-CN" altLang="zh-CN" sz="3200" dirty="0">
                    <a:solidFill>
                      <a:srgbClr val="006699"/>
                    </a:solidFill>
                    <a:latin typeface="Verdana" panose="020B0604030504040204" pitchFamily="34" charset="0"/>
                  </a:rPr>
                  <a:t>则</a:t>
                </a:r>
                <a14:m>
                  <m:oMath xmlns:m="http://schemas.openxmlformats.org/officeDocument/2006/math">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𝑖</m:t>
                        </m:r>
                      </m:sub>
                    </m:sSub>
                    <m:r>
                      <a:rPr lang="en-US" altLang="zh-CN" sz="2800">
                        <a:solidFill>
                          <a:srgbClr val="006699"/>
                        </a:solidFill>
                        <a:latin typeface="Cambria Math" panose="02040503050406030204" pitchFamily="18" charset="0"/>
                      </a:rPr>
                      <m:t>,</m:t>
                    </m:r>
                    <m:r>
                      <a:rPr lang="en-US" altLang="zh-CN" sz="2800">
                        <a:solidFill>
                          <a:srgbClr val="006699"/>
                        </a:solidFill>
                        <a:latin typeface="Cambria Math" panose="02040503050406030204" pitchFamily="18" charset="0"/>
                      </a:rPr>
                      <m:t>𝑖</m:t>
                    </m:r>
                    <m:r>
                      <a:rPr lang="en-US" altLang="zh-CN" sz="2800">
                        <a:solidFill>
                          <a:srgbClr val="006699"/>
                        </a:solidFill>
                        <a:latin typeface="Cambria Math" panose="02040503050406030204" pitchFamily="18" charset="0"/>
                      </a:rPr>
                      <m:t>=1,2,…}</m:t>
                    </m:r>
                  </m:oMath>
                </a14:m>
                <a:r>
                  <a:rPr lang="zh-CN" altLang="zh-CN" sz="3200" dirty="0">
                    <a:solidFill>
                      <a:srgbClr val="006699"/>
                    </a:solidFill>
                    <a:latin typeface="Verdana" panose="020B0604030504040204" pitchFamily="34" charset="0"/>
                  </a:rPr>
                  <a:t>的一次观测的数值 </a:t>
                </a:r>
                <a14:m>
                  <m:oMath xmlns:m="http://schemas.openxmlformats.org/officeDocument/2006/math">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𝑖</m:t>
                        </m:r>
                      </m:sub>
                    </m:sSub>
                    <m:r>
                      <a:rPr lang="en-US" altLang="zh-CN" sz="2800">
                        <a:solidFill>
                          <a:srgbClr val="006699"/>
                        </a:solidFill>
                        <a:latin typeface="Cambria Math" panose="02040503050406030204" pitchFamily="18" charset="0"/>
                      </a:rPr>
                      <m:t>,</m:t>
                    </m:r>
                    <m:r>
                      <a:rPr lang="en-US" altLang="zh-CN" sz="2800">
                        <a:solidFill>
                          <a:srgbClr val="006699"/>
                        </a:solidFill>
                        <a:latin typeface="Cambria Math" panose="02040503050406030204" pitchFamily="18" charset="0"/>
                      </a:rPr>
                      <m:t>𝑖</m:t>
                    </m:r>
                    <m:r>
                      <a:rPr lang="en-US" altLang="zh-CN" sz="2800">
                        <a:solidFill>
                          <a:srgbClr val="006699"/>
                        </a:solidFill>
                        <a:latin typeface="Cambria Math" panose="02040503050406030204" pitchFamily="18" charset="0"/>
                      </a:rPr>
                      <m:t>=1,2,…}</m:t>
                    </m:r>
                  </m:oMath>
                </a14:m>
                <a:endParaRPr lang="zh-CN" altLang="zh-CN" sz="3200" dirty="0">
                  <a:solidFill>
                    <a:srgbClr val="006699"/>
                  </a:solidFill>
                  <a:latin typeface="Verdana" panose="020B0604030504040204" pitchFamily="34" charset="0"/>
                </a:endParaRPr>
              </a:p>
              <a:p>
                <a:pPr>
                  <a:spcBef>
                    <a:spcPts val="900"/>
                  </a:spcBef>
                  <a:spcAft>
                    <a:spcPts val="900"/>
                  </a:spcAft>
                </a:pPr>
                <a:r>
                  <a:rPr lang="zh-CN" altLang="en-US" sz="3200" dirty="0">
                    <a:solidFill>
                      <a:srgbClr val="006699"/>
                    </a:solidFill>
                    <a:latin typeface="Verdana" panose="020B0604030504040204" pitchFamily="34" charset="0"/>
                  </a:rPr>
                  <a:t>称为</a:t>
                </a:r>
                <a:r>
                  <a:rPr lang="zh-CN" altLang="zh-CN" sz="3200" dirty="0">
                    <a:solidFill>
                      <a:srgbClr val="006699"/>
                    </a:solidFill>
                    <a:latin typeface="Verdana" panose="020B0604030504040204" pitchFamily="34" charset="0"/>
                  </a:rPr>
                  <a:t>分布</a:t>
                </a:r>
                <a14:m>
                  <m:oMath xmlns:m="http://schemas.openxmlformats.org/officeDocument/2006/math">
                    <m:r>
                      <a:rPr lang="en-US" altLang="zh-CN" sz="3200">
                        <a:solidFill>
                          <a:srgbClr val="006699"/>
                        </a:solidFill>
                        <a:latin typeface="Cambria Math" panose="02040503050406030204" pitchFamily="18" charset="0"/>
                      </a:rPr>
                      <m:t>𝐹</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𝑥</m:t>
                        </m:r>
                      </m:e>
                    </m:d>
                  </m:oMath>
                </a14:m>
                <a:r>
                  <a:rPr lang="zh-CN" altLang="zh-CN" sz="3200" dirty="0">
                    <a:solidFill>
                      <a:srgbClr val="006699"/>
                    </a:solidFill>
                    <a:latin typeface="Verdana" panose="020B0604030504040204" pitchFamily="34" charset="0"/>
                  </a:rPr>
                  <a:t>的随机数序列， 简称</a:t>
                </a:r>
                <a:r>
                  <a:rPr lang="zh-CN" altLang="zh-CN" sz="3200" b="1" dirty="0">
                    <a:solidFill>
                      <a:srgbClr val="FF0000"/>
                    </a:solidFill>
                    <a:latin typeface="Verdana" panose="020B0604030504040204" pitchFamily="34" charset="0"/>
                  </a:rPr>
                  <a:t>随机数</a:t>
                </a:r>
                <a:r>
                  <a:rPr lang="zh-CN" altLang="zh-CN" sz="3200" dirty="0">
                    <a:solidFill>
                      <a:srgbClr val="006699"/>
                    </a:solidFill>
                    <a:latin typeface="Verdana" panose="020B0604030504040204" pitchFamily="34" charset="0"/>
                  </a:rPr>
                  <a:t>。</a:t>
                </a:r>
              </a:p>
            </p:txBody>
          </p:sp>
        </mc:Choice>
        <mc:Fallback xmlns="">
          <p:sp>
            <p:nvSpPr>
              <p:cNvPr id="5" name="文本框 4">
                <a:extLst>
                  <a:ext uri="{FF2B5EF4-FFF2-40B4-BE49-F238E27FC236}">
                    <a16:creationId xmlns:a16="http://schemas.microsoft.com/office/drawing/2014/main" id="{FFF5D14C-95B3-4CF1-BF98-91BC0AC93EA6}"/>
                  </a:ext>
                </a:extLst>
              </p:cNvPr>
              <p:cNvSpPr txBox="1">
                <a:spLocks noRot="1" noChangeAspect="1" noMove="1" noResize="1" noEditPoints="1" noAdjustHandles="1" noChangeArrowheads="1" noChangeShapeType="1" noTextEdit="1"/>
              </p:cNvSpPr>
              <p:nvPr/>
            </p:nvSpPr>
            <p:spPr>
              <a:xfrm>
                <a:off x="136749" y="1673805"/>
                <a:ext cx="8870501" cy="2754600"/>
              </a:xfrm>
              <a:prstGeom prst="rect">
                <a:avLst/>
              </a:prstGeom>
              <a:blipFill>
                <a:blip r:embed="rId2"/>
                <a:stretch>
                  <a:fillRect l="-1717" t="-3548" b="-5765"/>
                </a:stretch>
              </a:blipFill>
              <a:ln w="25400">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03BB3A-51E9-44CA-A683-B5C0E966DAFD}"/>
              </a:ext>
            </a:extLst>
          </p:cNvPr>
          <p:cNvSpPr/>
          <p:nvPr/>
        </p:nvSpPr>
        <p:spPr>
          <a:xfrm>
            <a:off x="21572" y="1448780"/>
            <a:ext cx="8870502" cy="3046988"/>
          </a:xfrm>
          <a:prstGeom prst="rect">
            <a:avLst/>
          </a:prstGeom>
        </p:spPr>
        <p:txBody>
          <a:bodyPr wrap="square">
            <a:spAutoFit/>
          </a:bodyPr>
          <a:lstStyle/>
          <a:p>
            <a:pPr marL="285750" indent="-285750">
              <a:buFont typeface="Arial" panose="020B0604020202020204" pitchFamily="34" charset="0"/>
              <a:buChar char="•"/>
            </a:pPr>
            <a:r>
              <a:rPr lang="zh-CN" altLang="en-US" sz="3200" dirty="0">
                <a:solidFill>
                  <a:srgbClr val="006699"/>
                </a:solidFill>
                <a:latin typeface="Verdana" panose="020B0604030504040204" pitchFamily="34" charset="0"/>
              </a:rPr>
              <a:t>需要某种分布的随机数时，一般先生成</a:t>
            </a:r>
            <a:r>
              <a:rPr lang="zh-CN" altLang="en-US" sz="3200" b="1" dirty="0">
                <a:solidFill>
                  <a:srgbClr val="006699"/>
                </a:solidFill>
                <a:latin typeface="Verdana" panose="020B0604030504040204" pitchFamily="34" charset="0"/>
              </a:rPr>
              <a:t>均匀分布</a:t>
            </a:r>
            <a:r>
              <a:rPr lang="zh-CN" altLang="en-US" sz="3200" dirty="0">
                <a:solidFill>
                  <a:srgbClr val="006699"/>
                </a:solidFill>
                <a:latin typeface="Verdana" panose="020B0604030504040204" pitchFamily="34" charset="0"/>
              </a:rPr>
              <a:t>随机数， </a:t>
            </a:r>
            <a:endParaRPr lang="en-US" altLang="zh-CN" sz="3200" dirty="0">
              <a:solidFill>
                <a:srgbClr val="006699"/>
              </a:solidFill>
              <a:latin typeface="Verdana" panose="020B0604030504040204" pitchFamily="34" charset="0"/>
            </a:endParaRPr>
          </a:p>
          <a:p>
            <a:pPr marL="285750" indent="-285750">
              <a:buFont typeface="Arial" panose="020B0604020202020204" pitchFamily="34" charset="0"/>
              <a:buChar char="•"/>
            </a:pPr>
            <a:r>
              <a:rPr lang="zh-CN" altLang="en-US" sz="3200" dirty="0">
                <a:solidFill>
                  <a:srgbClr val="006699"/>
                </a:solidFill>
                <a:latin typeface="Verdana" panose="020B0604030504040204" pitchFamily="34" charset="0"/>
              </a:rPr>
              <a:t>然后由均匀分布随机数再转换得到</a:t>
            </a:r>
            <a:r>
              <a:rPr lang="zh-CN" altLang="en-US" sz="3200" b="1" dirty="0">
                <a:solidFill>
                  <a:srgbClr val="006699"/>
                </a:solidFill>
                <a:latin typeface="Verdana" panose="020B0604030504040204" pitchFamily="34" charset="0"/>
              </a:rPr>
              <a:t>其它分布</a:t>
            </a:r>
            <a:r>
              <a:rPr lang="zh-CN" altLang="en-US" sz="3200" dirty="0">
                <a:solidFill>
                  <a:srgbClr val="006699"/>
                </a:solidFill>
                <a:latin typeface="Verdana" panose="020B0604030504040204" pitchFamily="34" charset="0"/>
              </a:rPr>
              <a:t>的随机数。 </a:t>
            </a:r>
            <a:endParaRPr lang="en-US" altLang="zh-CN" sz="3200" dirty="0">
              <a:solidFill>
                <a:srgbClr val="006699"/>
              </a:solidFill>
              <a:latin typeface="Verdana" panose="020B0604030504040204" pitchFamily="34" charset="0"/>
            </a:endParaRPr>
          </a:p>
          <a:p>
            <a:pPr marL="285750" indent="-285750">
              <a:buFont typeface="Arial" panose="020B0604020202020204" pitchFamily="34" charset="0"/>
              <a:buChar char="•"/>
            </a:pPr>
            <a:r>
              <a:rPr lang="zh-CN" altLang="en-US" sz="3200" dirty="0">
                <a:solidFill>
                  <a:srgbClr val="006699"/>
                </a:solidFill>
                <a:latin typeface="Verdana" panose="020B0604030504040204" pitchFamily="34" charset="0"/>
              </a:rPr>
              <a:t>产生均匀分布随机数的算法叫做</a:t>
            </a:r>
            <a:r>
              <a:rPr lang="zh-CN" altLang="en-US" sz="3200" b="1" dirty="0">
                <a:solidFill>
                  <a:srgbClr val="FF0000"/>
                </a:solidFill>
                <a:latin typeface="Verdana" panose="020B0604030504040204" pitchFamily="34" charset="0"/>
              </a:rPr>
              <a:t>均匀分布随机数发生器</a:t>
            </a:r>
            <a:r>
              <a:rPr lang="zh-CN" altLang="en-US" sz="3200" dirty="0">
                <a:solidFill>
                  <a:srgbClr val="006699"/>
                </a:solidFill>
                <a:latin typeface="Verdana" panose="020B0604030504040204" pitchFamily="34" charset="0"/>
              </a:rPr>
              <a:t>。</a:t>
            </a:r>
          </a:p>
        </p:txBody>
      </p:sp>
    </p:spTree>
    <p:extLst>
      <p:ext uri="{BB962C8B-B14F-4D97-AF65-F5344CB8AC3E}">
        <p14:creationId xmlns:p14="http://schemas.microsoft.com/office/powerpoint/2010/main" val="72105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2.1 </a:t>
            </a:r>
            <a:r>
              <a:rPr lang="zh-CN" altLang="en-US" dirty="0"/>
              <a:t>随机数产生器</a:t>
            </a:r>
          </a:p>
        </p:txBody>
      </p:sp>
      <p:sp>
        <p:nvSpPr>
          <p:cNvPr id="2" name="矩形 1">
            <a:extLst>
              <a:ext uri="{FF2B5EF4-FFF2-40B4-BE49-F238E27FC236}">
                <a16:creationId xmlns:a16="http://schemas.microsoft.com/office/drawing/2014/main" id="{3F827C60-74D6-4135-A208-AADCDDF3BED2}"/>
              </a:ext>
            </a:extLst>
          </p:cNvPr>
          <p:cNvSpPr/>
          <p:nvPr/>
        </p:nvSpPr>
        <p:spPr>
          <a:xfrm>
            <a:off x="136749" y="1043735"/>
            <a:ext cx="8870502" cy="5016758"/>
          </a:xfrm>
          <a:prstGeom prst="rect">
            <a:avLst/>
          </a:prstGeom>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均匀分布随机数发生器生成的是</a:t>
            </a:r>
            <a:r>
              <a:rPr lang="en-US" altLang="zh-CN" sz="3200" dirty="0">
                <a:solidFill>
                  <a:srgbClr val="006699"/>
                </a:solidFill>
                <a:latin typeface="Verdana" panose="020B0604030504040204" pitchFamily="34" charset="0"/>
              </a:rPr>
              <a:t>{0,1,…,M} </a:t>
            </a:r>
            <a:r>
              <a:rPr lang="zh-CN" altLang="en-US" sz="3200" dirty="0">
                <a:solidFill>
                  <a:srgbClr val="006699"/>
                </a:solidFill>
                <a:latin typeface="Verdana" panose="020B0604030504040204" pitchFamily="34" charset="0"/>
              </a:rPr>
              <a:t>或</a:t>
            </a:r>
            <a:r>
              <a:rPr lang="en-US" altLang="zh-CN" sz="3200" dirty="0">
                <a:solidFill>
                  <a:srgbClr val="006699"/>
                </a:solidFill>
                <a:latin typeface="Verdana" panose="020B0604030504040204" pitchFamily="34" charset="0"/>
              </a:rPr>
              <a:t>{1,2,…,M} </a:t>
            </a:r>
            <a:r>
              <a:rPr lang="zh-CN" altLang="en-US" sz="3200" dirty="0">
                <a:solidFill>
                  <a:srgbClr val="006699"/>
                </a:solidFill>
                <a:latin typeface="Verdana" panose="020B0604030504040204" pitchFamily="34" charset="0"/>
              </a:rPr>
              <a:t>上离散取值的</a:t>
            </a:r>
            <a:r>
              <a:rPr lang="zh-CN" altLang="en-US" sz="3200" b="1" dirty="0">
                <a:solidFill>
                  <a:srgbClr val="006699"/>
                </a:solidFill>
                <a:latin typeface="Verdana" panose="020B0604030504040204" pitchFamily="34" charset="0"/>
              </a:rPr>
              <a:t>离散均匀分布</a:t>
            </a:r>
            <a:r>
              <a:rPr lang="zh-CN" altLang="en-US" sz="3200" dirty="0">
                <a:solidFill>
                  <a:srgbClr val="006699"/>
                </a:solidFill>
                <a:latin typeface="Verdana" panose="020B0604030504040204" pitchFamily="34" charset="0"/>
              </a:rPr>
              <a:t>， 然后除以</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或</a:t>
            </a:r>
            <a:r>
              <a:rPr lang="en-US" altLang="zh-CN" sz="3200" dirty="0">
                <a:solidFill>
                  <a:srgbClr val="006699"/>
                </a:solidFill>
                <a:latin typeface="Verdana" panose="020B0604030504040204" pitchFamily="34" charset="0"/>
              </a:rPr>
              <a:t>M+1</a:t>
            </a:r>
            <a:r>
              <a:rPr lang="zh-CN" altLang="en-US" sz="3200" dirty="0">
                <a:solidFill>
                  <a:srgbClr val="006699"/>
                </a:solidFill>
                <a:latin typeface="Verdana" panose="020B0604030504040204" pitchFamily="34" charset="0"/>
              </a:rPr>
              <a:t>变成</a:t>
            </a:r>
            <a:r>
              <a:rPr lang="en-US" altLang="zh-CN" sz="3200" dirty="0">
                <a:solidFill>
                  <a:srgbClr val="006699"/>
                </a:solidFill>
                <a:latin typeface="Verdana" panose="020B0604030504040204" pitchFamily="34" charset="0"/>
              </a:rPr>
              <a:t>[0,1]</a:t>
            </a:r>
            <a:r>
              <a:rPr lang="zh-CN" altLang="en-US" sz="3200" dirty="0">
                <a:solidFill>
                  <a:srgbClr val="006699"/>
                </a:solidFill>
                <a:latin typeface="Verdana" panose="020B0604030504040204" pitchFamily="34" charset="0"/>
              </a:rPr>
              <a:t>内的值当作连续型均匀分布随机数，</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实际上是只取了有限个值。 </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因为取值个数有限， 根据算法可知序列一定在某个时间发生</a:t>
            </a:r>
            <a:r>
              <a:rPr lang="zh-CN" altLang="en-US" sz="3200" b="1" dirty="0">
                <a:solidFill>
                  <a:srgbClr val="FF0000"/>
                </a:solidFill>
                <a:latin typeface="Verdana" panose="020B0604030504040204" pitchFamily="34" charset="0"/>
              </a:rPr>
              <a:t>重复</a:t>
            </a:r>
            <a:r>
              <a:rPr lang="zh-CN" altLang="en-US" sz="3200" dirty="0">
                <a:solidFill>
                  <a:srgbClr val="006699"/>
                </a:solidFill>
                <a:latin typeface="Verdana" panose="020B0604030504040204" pitchFamily="34" charset="0"/>
              </a:rPr>
              <a:t>， 使得序列发生重复的间隔</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叫做</a:t>
            </a:r>
            <a:r>
              <a:rPr lang="zh-CN" altLang="en-US" sz="3200" dirty="0">
                <a:solidFill>
                  <a:srgbClr val="FF0000"/>
                </a:solidFill>
                <a:latin typeface="Verdana" panose="020B0604030504040204" pitchFamily="34" charset="0"/>
              </a:rPr>
              <a:t>随机数发生器的周期</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好的随机数发生器可以保证</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很大而且周期很长。</a:t>
            </a:r>
          </a:p>
        </p:txBody>
      </p:sp>
    </p:spTree>
    <p:extLst>
      <p:ext uri="{BB962C8B-B14F-4D97-AF65-F5344CB8AC3E}">
        <p14:creationId xmlns:p14="http://schemas.microsoft.com/office/powerpoint/2010/main" val="12947669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2.1 </a:t>
            </a:r>
            <a:r>
              <a:rPr lang="zh-CN" altLang="en-US" dirty="0"/>
              <a:t>随机数产生器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FF0000"/>
                </a:solidFill>
                <a:latin typeface="Verdana" panose="020B0604030504040204" pitchFamily="34" charset="0"/>
              </a:rPr>
              <a:t>随机数检验的意义</a:t>
            </a:r>
          </a:p>
        </p:txBody>
      </p:sp>
      <p:sp>
        <p:nvSpPr>
          <p:cNvPr id="2" name="矩形 1">
            <a:extLst>
              <a:ext uri="{FF2B5EF4-FFF2-40B4-BE49-F238E27FC236}">
                <a16:creationId xmlns:a16="http://schemas.microsoft.com/office/drawing/2014/main" id="{3F827C60-74D6-4135-A208-AADCDDF3BED2}"/>
              </a:ext>
            </a:extLst>
          </p:cNvPr>
          <p:cNvSpPr/>
          <p:nvPr/>
        </p:nvSpPr>
        <p:spPr>
          <a:xfrm>
            <a:off x="-15875" y="2350389"/>
            <a:ext cx="8908355" cy="2554545"/>
          </a:xfrm>
          <a:prstGeom prst="rect">
            <a:avLst/>
          </a:prstGeom>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有意识地写上</a:t>
            </a:r>
            <a:r>
              <a:rPr lang="en-US" altLang="zh-CN" sz="3200" dirty="0">
                <a:solidFill>
                  <a:srgbClr val="006699"/>
                </a:solidFill>
                <a:latin typeface="Verdana" panose="020B0604030504040204" pitchFamily="34" charset="0"/>
              </a:rPr>
              <a:t>0</a:t>
            </a:r>
            <a:r>
              <a:rPr lang="zh-CN" altLang="en-US" sz="3200" dirty="0">
                <a:solidFill>
                  <a:srgbClr val="006699"/>
                </a:solidFill>
                <a:latin typeface="Verdana" panose="020B0604030504040204" pitchFamily="34" charset="0"/>
              </a:rPr>
              <a:t>和</a:t>
            </a:r>
            <a:r>
              <a:rPr lang="en-US" altLang="zh-CN" sz="32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组成的序列？</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自然现象极有可能产生真正的随机数序列</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无理数兀给出的数字是否形成一个随机序列？</a:t>
            </a:r>
            <a:endParaRPr lang="zh-CN" altLang="en-US" dirty="0"/>
          </a:p>
        </p:txBody>
      </p:sp>
    </p:spTree>
    <p:extLst>
      <p:ext uri="{BB962C8B-B14F-4D97-AF65-F5344CB8AC3E}">
        <p14:creationId xmlns:p14="http://schemas.microsoft.com/office/powerpoint/2010/main" val="14069370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2.1 </a:t>
            </a:r>
            <a:r>
              <a:rPr lang="zh-CN" altLang="en-US" dirty="0"/>
              <a:t>随机数产生器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06515" y="953725"/>
            <a:ext cx="8370930" cy="5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FF0000"/>
                </a:solidFill>
                <a:latin typeface="Verdana" panose="020B0604030504040204" pitchFamily="34" charset="0"/>
              </a:rPr>
              <a:t>平方取中法</a:t>
            </a:r>
          </a:p>
          <a:p>
            <a:pPr eaLnBrk="1" hangingPunct="1">
              <a:spcBef>
                <a:spcPct val="20000"/>
              </a:spcBef>
              <a:buFontTx/>
              <a:buChar char="•"/>
            </a:pPr>
            <a:r>
              <a:rPr lang="zh-CN" altLang="en-US" sz="3200" dirty="0">
                <a:solidFill>
                  <a:srgbClr val="006699"/>
                </a:solidFill>
                <a:latin typeface="Verdana" panose="020B0604030504040204" pitchFamily="34" charset="0"/>
              </a:rPr>
              <a:t>假设我们想产生一个</a:t>
            </a:r>
            <a:r>
              <a:rPr lang="en-US" altLang="zh-CN" sz="3200" b="1" dirty="0">
                <a:solidFill>
                  <a:srgbClr val="006699"/>
                </a:solidFill>
                <a:latin typeface="Verdana" panose="020B0604030504040204" pitchFamily="34" charset="0"/>
              </a:rPr>
              <a:t>8</a:t>
            </a:r>
            <a:r>
              <a:rPr lang="zh-CN" altLang="en-US" sz="3200" b="1" dirty="0">
                <a:solidFill>
                  <a:srgbClr val="006699"/>
                </a:solidFill>
                <a:latin typeface="Verdana" panose="020B0604030504040204" pitchFamily="34" charset="0"/>
              </a:rPr>
              <a:t>位数</a:t>
            </a:r>
            <a:r>
              <a:rPr lang="zh-CN" altLang="en-US" sz="3200" dirty="0">
                <a:solidFill>
                  <a:srgbClr val="006699"/>
                </a:solidFill>
                <a:latin typeface="Verdana" panose="020B0604030504040204" pitchFamily="34" charset="0"/>
              </a:rPr>
              <a:t>的随机序列，</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先给定一个初始值</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下一个随机数</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取自</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a:t>
            </a:r>
            <a:r>
              <a:rPr lang="en-US" altLang="zh-CN" sz="3200" baseline="300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的中间八位数。</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例如， 给定</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 </a:t>
            </a:r>
            <a:r>
              <a:rPr lang="en-US" altLang="zh-CN" sz="3200" dirty="0">
                <a:solidFill>
                  <a:srgbClr val="006699"/>
                </a:solidFill>
                <a:latin typeface="Verdana" panose="020B0604030504040204" pitchFamily="34" charset="0"/>
              </a:rPr>
              <a:t>=35385906</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这时</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a:t>
            </a:r>
            <a:r>
              <a:rPr lang="en-US" altLang="zh-CN" sz="3200" baseline="30000" dirty="0">
                <a:solidFill>
                  <a:srgbClr val="006699"/>
                </a:solidFill>
                <a:latin typeface="Verdana" panose="020B0604030504040204" pitchFamily="34" charset="0"/>
              </a:rPr>
              <a:t>2 </a:t>
            </a:r>
            <a:r>
              <a:rPr lang="en-US" altLang="zh-CN" sz="3200" dirty="0">
                <a:solidFill>
                  <a:srgbClr val="006699"/>
                </a:solidFill>
                <a:latin typeface="Verdana" panose="020B0604030504040204" pitchFamily="34" charset="0"/>
              </a:rPr>
              <a:t>=1252162343440836</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去掉其首尾各</a:t>
            </a:r>
            <a:r>
              <a:rPr lang="en-US" altLang="zh-CN" sz="3200" dirty="0">
                <a:solidFill>
                  <a:srgbClr val="006699"/>
                </a:solidFill>
                <a:latin typeface="Verdana" panose="020B0604030504040204" pitchFamily="34" charset="0"/>
              </a:rPr>
              <a:t>4</a:t>
            </a:r>
            <a:r>
              <a:rPr lang="zh-CN" altLang="en-US" sz="3200" dirty="0">
                <a:solidFill>
                  <a:srgbClr val="006699"/>
                </a:solidFill>
                <a:latin typeface="Verdana" panose="020B0604030504040204" pitchFamily="34" charset="0"/>
              </a:rPr>
              <a:t>位数，得到下一个数</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 </a:t>
            </a:r>
            <a:r>
              <a:rPr lang="en-US" altLang="zh-CN" sz="3200" dirty="0">
                <a:solidFill>
                  <a:srgbClr val="006699"/>
                </a:solidFill>
                <a:latin typeface="Verdana" panose="020B0604030504040204" pitchFamily="34" charset="0"/>
              </a:rPr>
              <a:t>=16234344</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这样重复做几次，就得到一系列数。</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6172385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 </a:t>
            </a:r>
            <a:r>
              <a:rPr lang="zh-CN" altLang="en-US" dirty="0"/>
              <a:t>均匀随机数的产生和检验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403775"/>
            <a:ext cx="837093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2.2.1 </a:t>
            </a:r>
            <a:r>
              <a:rPr lang="zh-CN" altLang="en-US" sz="3200" dirty="0">
                <a:solidFill>
                  <a:srgbClr val="006699"/>
                </a:solidFill>
                <a:latin typeface="Verdana" panose="020B0604030504040204" pitchFamily="34" charset="0"/>
              </a:rPr>
              <a:t>线性同余发生器</a:t>
            </a:r>
            <a:r>
              <a:rPr lang="en-US" altLang="zh-CN" sz="3200" dirty="0">
                <a:solidFill>
                  <a:srgbClr val="006699"/>
                </a:solidFill>
                <a:latin typeface="Verdana" panose="020B0604030504040204" pitchFamily="34" charset="0"/>
              </a:rPr>
              <a:t>(LCG)</a:t>
            </a:r>
          </a:p>
          <a:p>
            <a:pPr marL="0" indent="0" eaLnBrk="1" hangingPunct="1">
              <a:spcBef>
                <a:spcPct val="20000"/>
              </a:spcBef>
            </a:pPr>
            <a:r>
              <a:rPr lang="en-US" altLang="zh-CN" sz="3200" dirty="0">
                <a:solidFill>
                  <a:srgbClr val="006699"/>
                </a:solidFill>
                <a:latin typeface="Verdana" panose="020B0604030504040204" pitchFamily="34" charset="0"/>
              </a:rPr>
              <a:t>2.2.2 </a:t>
            </a:r>
            <a:r>
              <a:rPr lang="zh-CN" altLang="en-US" sz="3200" dirty="0">
                <a:solidFill>
                  <a:srgbClr val="006699"/>
                </a:solidFill>
                <a:latin typeface="Verdana" panose="020B0604030504040204" pitchFamily="34" charset="0"/>
              </a:rPr>
              <a:t>混合同余发生器</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2.2.3 </a:t>
            </a:r>
            <a:r>
              <a:rPr lang="zh-CN" altLang="en-US" sz="3200" dirty="0">
                <a:solidFill>
                  <a:srgbClr val="006699"/>
                </a:solidFill>
                <a:latin typeface="Verdana" panose="020B0604030504040204" pitchFamily="34" charset="0"/>
              </a:rPr>
              <a:t>乘同余法</a:t>
            </a:r>
          </a:p>
          <a:p>
            <a:pPr marL="0" indent="0" eaLnBrk="1" hangingPunct="1">
              <a:spcBef>
                <a:spcPct val="20000"/>
              </a:spcBef>
            </a:pPr>
            <a:r>
              <a:rPr lang="en-US" altLang="zh-CN" sz="3200" dirty="0">
                <a:solidFill>
                  <a:srgbClr val="006699"/>
                </a:solidFill>
                <a:latin typeface="Verdana" panose="020B0604030504040204" pitchFamily="34" charset="0"/>
              </a:rPr>
              <a:t>2.2.4 FSR</a:t>
            </a:r>
            <a:r>
              <a:rPr lang="zh-CN" altLang="en-US" sz="3200" dirty="0">
                <a:solidFill>
                  <a:srgbClr val="006699"/>
                </a:solidFill>
                <a:latin typeface="Verdana" panose="020B0604030504040204" pitchFamily="34" charset="0"/>
              </a:rPr>
              <a:t>发生器</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2.2.5 </a:t>
            </a:r>
            <a:r>
              <a:rPr lang="zh-CN" altLang="en-US" sz="3200" dirty="0">
                <a:solidFill>
                  <a:srgbClr val="006699"/>
                </a:solidFill>
                <a:latin typeface="Verdana" panose="020B0604030504040204" pitchFamily="34" charset="0"/>
              </a:rPr>
              <a:t>组合发生器法</a:t>
            </a:r>
          </a:p>
          <a:p>
            <a:pPr marL="0" indent="0" eaLnBrk="1" hangingPunct="1">
              <a:spcBef>
                <a:spcPct val="20000"/>
              </a:spcBef>
            </a:pPr>
            <a:r>
              <a:rPr lang="en-US" altLang="zh-CN" sz="3200" dirty="0">
                <a:solidFill>
                  <a:srgbClr val="006699"/>
                </a:solidFill>
                <a:latin typeface="Verdana" panose="020B0604030504040204" pitchFamily="34" charset="0"/>
              </a:rPr>
              <a:t>2.2.6 </a:t>
            </a:r>
            <a:r>
              <a:rPr lang="zh-CN" altLang="en-US" sz="3200" dirty="0">
                <a:solidFill>
                  <a:srgbClr val="006699"/>
                </a:solidFill>
                <a:latin typeface="Verdana" panose="020B0604030504040204" pitchFamily="34" charset="0"/>
              </a:rPr>
              <a:t>随机数的检验</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41597524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latin typeface="Verdana" panose="020B0604030504040204" pitchFamily="34" charset="0"/>
              </a:rPr>
              <a:t>定义</a:t>
            </a:r>
            <a:r>
              <a:rPr lang="en-US" altLang="zh-CN" sz="3200" dirty="0">
                <a:latin typeface="Verdana" panose="020B0604030504040204" pitchFamily="34" charset="0"/>
              </a:rPr>
              <a:t> (</a:t>
            </a:r>
            <a:r>
              <a:rPr lang="zh-CN" altLang="en-US" sz="3200" dirty="0">
                <a:latin typeface="Verdana" panose="020B0604030504040204" pitchFamily="34" charset="0"/>
              </a:rPr>
              <a:t>同余</a:t>
            </a:r>
            <a:r>
              <a:rPr lang="en-US" altLang="zh-CN" sz="3200" dirty="0">
                <a:latin typeface="Verdana" panose="020B0604030504040204" pitchFamily="34" charset="0"/>
              </a:rPr>
              <a:t>) </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设</a:t>
            </a:r>
            <a:r>
              <a:rPr lang="en-US" altLang="zh-CN" sz="3200" dirty="0" err="1">
                <a:solidFill>
                  <a:srgbClr val="006699"/>
                </a:solidFill>
                <a:latin typeface="Verdana" panose="020B0604030504040204" pitchFamily="34" charset="0"/>
              </a:rPr>
              <a:t>i,j</a:t>
            </a:r>
            <a:r>
              <a:rPr lang="zh-CN" altLang="en-US" sz="3200" dirty="0">
                <a:solidFill>
                  <a:srgbClr val="006699"/>
                </a:solidFill>
                <a:latin typeface="Verdana" panose="020B0604030504040204" pitchFamily="34" charset="0"/>
              </a:rPr>
              <a:t>为整数，</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为正整数，</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若</a:t>
            </a:r>
            <a:r>
              <a:rPr lang="en-US" altLang="zh-CN" sz="3200" dirty="0">
                <a:solidFill>
                  <a:srgbClr val="006699"/>
                </a:solidFill>
                <a:latin typeface="Verdana" panose="020B0604030504040204" pitchFamily="34" charset="0"/>
              </a:rPr>
              <a:t>j-</a:t>
            </a:r>
            <a:r>
              <a:rPr lang="en-US" altLang="zh-CN" sz="3200" dirty="0" err="1">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为</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的倍数， </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则称</a:t>
            </a:r>
            <a:r>
              <a:rPr lang="en-US" altLang="zh-CN" sz="32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与</a:t>
            </a:r>
            <a:r>
              <a:rPr lang="en-US" altLang="zh-CN" sz="3200" dirty="0">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关于模</a:t>
            </a:r>
            <a:r>
              <a:rPr lang="en-US" altLang="zh-CN" sz="3200" dirty="0">
                <a:solidFill>
                  <a:srgbClr val="006699"/>
                </a:solidFill>
                <a:latin typeface="Verdana" panose="020B0604030504040204" pitchFamily="34" charset="0"/>
              </a:rPr>
              <a:t>M</a:t>
            </a:r>
            <a:r>
              <a:rPr lang="zh-CN" altLang="en-US" sz="3200" b="1" dirty="0">
                <a:solidFill>
                  <a:srgbClr val="FF0000"/>
                </a:solidFill>
                <a:latin typeface="Verdana" panose="020B0604030504040204" pitchFamily="34" charset="0"/>
              </a:rPr>
              <a:t>同余</a:t>
            </a:r>
            <a:r>
              <a:rPr lang="zh-CN" altLang="en-US" sz="3200" dirty="0">
                <a:solidFill>
                  <a:srgbClr val="006699"/>
                </a:solidFill>
                <a:latin typeface="Verdana" panose="020B0604030504040204" pitchFamily="34" charset="0"/>
              </a:rPr>
              <a:t>，记为 </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否则称</a:t>
            </a:r>
            <a:r>
              <a:rPr lang="en-US" altLang="zh-CN" sz="32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与</a:t>
            </a:r>
            <a:r>
              <a:rPr lang="en-US" altLang="zh-CN" sz="3200" dirty="0">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关于</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不同余。</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C7BB60F-A4AC-45CA-A7B9-1309A31699D6}"/>
                  </a:ext>
                </a:extLst>
              </p:cNvPr>
              <p:cNvSpPr/>
              <p:nvPr/>
            </p:nvSpPr>
            <p:spPr>
              <a:xfrm>
                <a:off x="5787135" y="2818825"/>
                <a:ext cx="264758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a:solidFill>
                            <a:srgbClr val="006699"/>
                          </a:solidFill>
                          <a:latin typeface="Cambria Math" panose="02040503050406030204" pitchFamily="18" charset="0"/>
                        </a:rPr>
                        <m:t>𝑖</m:t>
                      </m:r>
                      <m:r>
                        <a:rPr lang="zh-CN" altLang="en-US" sz="3200">
                          <a:solidFill>
                            <a:srgbClr val="006699"/>
                          </a:solidFill>
                          <a:latin typeface="Cambria Math" panose="02040503050406030204" pitchFamily="18" charset="0"/>
                        </a:rPr>
                        <m:t>≡</m:t>
                      </m:r>
                      <m:r>
                        <a:rPr lang="zh-CN" altLang="en-US" sz="3200">
                          <a:solidFill>
                            <a:srgbClr val="006699"/>
                          </a:solidFill>
                          <a:latin typeface="Cambria Math" panose="02040503050406030204" pitchFamily="18" charset="0"/>
                        </a:rPr>
                        <m:t>𝑗</m:t>
                      </m:r>
                      <m:d>
                        <m:dPr>
                          <m:ctrlPr>
                            <a:rPr lang="zh-CN" altLang="en-US" sz="3200" i="1">
                              <a:solidFill>
                                <a:srgbClr val="006699"/>
                              </a:solidFill>
                              <a:latin typeface="Cambria Math" panose="02040503050406030204" pitchFamily="18" charset="0"/>
                            </a:rPr>
                          </m:ctrlPr>
                        </m:dPr>
                        <m:e>
                          <m:r>
                            <m:rPr>
                              <m:sty m:val="p"/>
                            </m:rPr>
                            <a:rPr lang="zh-CN" altLang="en-US" sz="3200">
                              <a:solidFill>
                                <a:srgbClr val="006699"/>
                              </a:solidFill>
                              <a:latin typeface="Cambria Math" panose="02040503050406030204" pitchFamily="18" charset="0"/>
                            </a:rPr>
                            <m:t>mod</m:t>
                          </m:r>
                          <m:r>
                            <a:rPr lang="zh-CN" altLang="en-US" sz="3200">
                              <a:solidFill>
                                <a:srgbClr val="006699"/>
                              </a:solidFill>
                              <a:latin typeface="Cambria Math" panose="02040503050406030204" pitchFamily="18" charset="0"/>
                            </a:rPr>
                            <m:t>𝑀</m:t>
                          </m:r>
                        </m:e>
                      </m:d>
                    </m:oMath>
                  </m:oMathPara>
                </a14:m>
                <a:endParaRPr lang="zh-CN" altLang="en-US" sz="3200" dirty="0">
                  <a:solidFill>
                    <a:srgbClr val="006699"/>
                  </a:solidFill>
                  <a:latin typeface="Verdana" panose="020B0604030504040204" pitchFamily="34" charset="0"/>
                </a:endParaRPr>
              </a:p>
            </p:txBody>
          </p:sp>
        </mc:Choice>
        <mc:Fallback xmlns="">
          <p:sp>
            <p:nvSpPr>
              <p:cNvPr id="3" name="矩形 2">
                <a:extLst>
                  <a:ext uri="{FF2B5EF4-FFF2-40B4-BE49-F238E27FC236}">
                    <a16:creationId xmlns:a16="http://schemas.microsoft.com/office/drawing/2014/main" id="{9C7BB60F-A4AC-45CA-A7B9-1309A31699D6}"/>
                  </a:ext>
                </a:extLst>
              </p:cNvPr>
              <p:cNvSpPr>
                <a:spLocks noRot="1" noChangeAspect="1" noMove="1" noResize="1" noEditPoints="1" noAdjustHandles="1" noChangeArrowheads="1" noChangeShapeType="1" noTextEdit="1"/>
              </p:cNvSpPr>
              <p:nvPr/>
            </p:nvSpPr>
            <p:spPr>
              <a:xfrm>
                <a:off x="5787135" y="2818825"/>
                <a:ext cx="2647584"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52088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06515" y="198884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latin typeface="Verdana" panose="020B0604030504040204" pitchFamily="34" charset="0"/>
              </a:rPr>
              <a:t>例</a:t>
            </a:r>
            <a:r>
              <a:rPr lang="en-US" altLang="zh-CN" sz="3200" dirty="0">
                <a:latin typeface="Verdana" panose="020B0604030504040204" pitchFamily="34" charset="0"/>
              </a:rPr>
              <a:t>5.1</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E9FF453-76E3-439E-B1D3-3247C3DC217C}"/>
                  </a:ext>
                </a:extLst>
              </p:cNvPr>
              <p:cNvSpPr/>
              <p:nvPr/>
            </p:nvSpPr>
            <p:spPr>
              <a:xfrm>
                <a:off x="2274130" y="2706450"/>
                <a:ext cx="3649589" cy="17970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600" i="1">
                              <a:latin typeface="Cambria Math" panose="02040503050406030204" pitchFamily="18" charset="0"/>
                            </a:rPr>
                          </m:ctrlPr>
                        </m:mPr>
                        <m:mr>
                          <m:e>
                            <m:d>
                              <m:dPr>
                                <m:begChr m:val=""/>
                                <m:ctrlPr>
                                  <a:rPr lang="zh-CN" altLang="en-US" sz="3600" i="1">
                                    <a:latin typeface="Cambria Math" panose="02040503050406030204" pitchFamily="18" charset="0"/>
                                  </a:rPr>
                                </m:ctrlPr>
                              </m:dPr>
                              <m:e>
                                <m:r>
                                  <a:rPr lang="zh-CN" altLang="en-US" sz="3600">
                                    <a:latin typeface="Cambria Math" panose="02040503050406030204" pitchFamily="18" charset="0"/>
                                  </a:rPr>
                                  <m:t>11</m:t>
                                </m:r>
                                <m:r>
                                  <a:rPr lang="zh-CN" altLang="en-US" sz="3600" i="0">
                                    <a:latin typeface="Cambria Math" panose="02040503050406030204" pitchFamily="18" charset="0"/>
                                  </a:rPr>
                                  <m:t>≡1(</m:t>
                                </m:r>
                                <m:r>
                                  <m:rPr>
                                    <m:sty m:val="p"/>
                                  </m:rPr>
                                  <a:rPr lang="zh-CN" altLang="en-US" sz="3600" i="0">
                                    <a:latin typeface="Cambria Math" panose="02040503050406030204" pitchFamily="18" charset="0"/>
                                  </a:rPr>
                                  <m:t>mod</m:t>
                                </m:r>
                                <m:r>
                                  <m:rPr>
                                    <m:nor/>
                                  </m:rPr>
                                  <a:rPr lang="zh-CN" altLang="en-US" sz="3600" i="1">
                                    <a:latin typeface="Cambria Math" panose="02040503050406030204" pitchFamily="18" charset="0"/>
                                  </a:rPr>
                                  <m:t> 10</m:t>
                                </m:r>
                              </m:e>
                            </m:d>
                          </m:e>
                        </m:mr>
                        <m:mr>
                          <m:e>
                            <m:d>
                              <m:dPr>
                                <m:begChr m:val=""/>
                                <m:ctrlPr>
                                  <a:rPr lang="zh-CN" altLang="en-US" sz="3600" i="1">
                                    <a:latin typeface="Cambria Math" panose="02040503050406030204" pitchFamily="18" charset="0"/>
                                  </a:rPr>
                                </m:ctrlPr>
                              </m:dPr>
                              <m:e>
                                <m:r>
                                  <a:rPr lang="zh-CN" altLang="en-US" sz="3600" i="0">
                                    <a:latin typeface="Cambria Math" panose="02040503050406030204" pitchFamily="18" charset="0"/>
                                  </a:rPr>
                                  <m:t>1≡11(</m:t>
                                </m:r>
                                <m:r>
                                  <m:rPr>
                                    <m:sty m:val="p"/>
                                  </m:rPr>
                                  <a:rPr lang="zh-CN" altLang="en-US" sz="3600" i="0">
                                    <a:latin typeface="Cambria Math" panose="02040503050406030204" pitchFamily="18" charset="0"/>
                                  </a:rPr>
                                  <m:t>mod</m:t>
                                </m:r>
                                <m:r>
                                  <m:rPr>
                                    <m:nor/>
                                  </m:rPr>
                                  <a:rPr lang="zh-CN" altLang="en-US" sz="3600" i="1">
                                    <a:latin typeface="Cambria Math" panose="02040503050406030204" pitchFamily="18" charset="0"/>
                                  </a:rPr>
                                  <m:t> 10</m:t>
                                </m:r>
                              </m:e>
                            </m:d>
                          </m:e>
                        </m:mr>
                        <m:mr>
                          <m:e>
                            <m:d>
                              <m:dPr>
                                <m:begChr m:val=""/>
                                <m:ctrlPr>
                                  <a:rPr lang="zh-CN" altLang="en-US" sz="3600" i="1">
                                    <a:latin typeface="Cambria Math" panose="02040503050406030204" pitchFamily="18" charset="0"/>
                                  </a:rPr>
                                </m:ctrlPr>
                              </m:dPr>
                              <m:e>
                                <m:r>
                                  <a:rPr lang="zh-CN" altLang="en-US" sz="3600" i="0">
                                    <a:latin typeface="Cambria Math" panose="02040503050406030204" pitchFamily="18" charset="0"/>
                                  </a:rPr>
                                  <m:t>−9≡1(</m:t>
                                </m:r>
                                <m:r>
                                  <m:rPr>
                                    <m:sty m:val="p"/>
                                  </m:rPr>
                                  <a:rPr lang="zh-CN" altLang="en-US" sz="3600" i="0">
                                    <a:latin typeface="Cambria Math" panose="02040503050406030204" pitchFamily="18" charset="0"/>
                                  </a:rPr>
                                  <m:t>mod</m:t>
                                </m:r>
                                <m:r>
                                  <m:rPr>
                                    <m:nor/>
                                  </m:rPr>
                                  <a:rPr lang="zh-CN" altLang="en-US" sz="3600" i="1">
                                    <a:latin typeface="Cambria Math" panose="02040503050406030204" pitchFamily="18" charset="0"/>
                                  </a:rPr>
                                  <m:t> 10</m:t>
                                </m:r>
                              </m:e>
                            </m:d>
                          </m:e>
                        </m:mr>
                      </m:m>
                    </m:oMath>
                  </m:oMathPara>
                </a14:m>
                <a:endParaRPr lang="zh-CN" altLang="en-US" sz="3600" dirty="0"/>
              </a:p>
            </p:txBody>
          </p:sp>
        </mc:Choice>
        <mc:Fallback xmlns="">
          <p:sp>
            <p:nvSpPr>
              <p:cNvPr id="2" name="矩形 1">
                <a:extLst>
                  <a:ext uri="{FF2B5EF4-FFF2-40B4-BE49-F238E27FC236}">
                    <a16:creationId xmlns:a16="http://schemas.microsoft.com/office/drawing/2014/main" id="{7E9FF453-76E3-439E-B1D3-3247C3DC217C}"/>
                  </a:ext>
                </a:extLst>
              </p:cNvPr>
              <p:cNvSpPr>
                <a:spLocks noRot="1" noChangeAspect="1" noMove="1" noResize="1" noEditPoints="1" noAdjustHandles="1" noChangeArrowheads="1" noChangeShapeType="1" noTextEdit="1"/>
              </p:cNvSpPr>
              <p:nvPr/>
            </p:nvSpPr>
            <p:spPr>
              <a:xfrm>
                <a:off x="2274130" y="2706450"/>
                <a:ext cx="3649589" cy="179709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763167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19" y="1178750"/>
            <a:ext cx="868596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latin typeface="Verdana" panose="020B0604030504040204" pitchFamily="34" charset="0"/>
              </a:rPr>
              <a:t>同余性质：</a:t>
            </a:r>
          </a:p>
          <a:p>
            <a:pPr marL="0" indent="0" eaLnBrk="1" hangingPunct="1">
              <a:spcBef>
                <a:spcPct val="20000"/>
              </a:spcBef>
            </a:pPr>
            <a:r>
              <a:rPr lang="en-US" altLang="zh-CN" sz="3200" dirty="0">
                <a:solidFill>
                  <a:srgbClr val="006699"/>
                </a:solidFill>
                <a:latin typeface="Verdana" panose="020B0604030504040204" pitchFamily="34" charset="0"/>
              </a:rPr>
              <a:t>1 </a:t>
            </a:r>
            <a:r>
              <a:rPr lang="zh-CN" altLang="en-US" sz="3200" dirty="0">
                <a:solidFill>
                  <a:srgbClr val="006699"/>
                </a:solidFill>
                <a:latin typeface="Verdana" panose="020B0604030504040204" pitchFamily="34" charset="0"/>
              </a:rPr>
              <a:t>对称性：</a:t>
            </a:r>
          </a:p>
          <a:p>
            <a:pPr marL="0" indent="0" eaLnBrk="1" hangingPunct="1">
              <a:spcBef>
                <a:spcPct val="20000"/>
              </a:spcBef>
            </a:pPr>
            <a:r>
              <a:rPr lang="en-US" altLang="zh-CN" sz="3200" dirty="0">
                <a:solidFill>
                  <a:srgbClr val="006699"/>
                </a:solidFill>
                <a:latin typeface="Verdana" panose="020B0604030504040204" pitchFamily="34" charset="0"/>
              </a:rPr>
              <a:t>2 </a:t>
            </a:r>
            <a:r>
              <a:rPr lang="zh-CN" altLang="en-US" sz="3200" dirty="0">
                <a:solidFill>
                  <a:srgbClr val="006699"/>
                </a:solidFill>
                <a:latin typeface="Verdana" panose="020B0604030504040204" pitchFamily="34" charset="0"/>
              </a:rPr>
              <a:t>传递性：若</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              则</a:t>
            </a:r>
          </a:p>
          <a:p>
            <a:pPr marL="0" indent="0" eaLnBrk="1" hangingPunct="1">
              <a:spcBef>
                <a:spcPct val="20000"/>
              </a:spcBef>
            </a:pPr>
            <a:r>
              <a:rPr lang="en-US" altLang="zh-CN" sz="3200" dirty="0">
                <a:solidFill>
                  <a:srgbClr val="006699"/>
                </a:solidFill>
                <a:latin typeface="Verdana" panose="020B0604030504040204" pitchFamily="34" charset="0"/>
              </a:rPr>
              <a:t>3 </a:t>
            </a:r>
            <a:r>
              <a:rPr lang="zh-CN" altLang="en-US" sz="3200" dirty="0">
                <a:solidFill>
                  <a:srgbClr val="006699"/>
                </a:solidFill>
                <a:latin typeface="Verdana" panose="020B0604030504040204" pitchFamily="34" charset="0"/>
              </a:rPr>
              <a:t>若</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   则</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9E166ED-B850-40DC-BA52-7F9396EC81DF}"/>
                  </a:ext>
                </a:extLst>
              </p:cNvPr>
              <p:cNvSpPr/>
              <p:nvPr/>
            </p:nvSpPr>
            <p:spPr>
              <a:xfrm>
                <a:off x="2006715" y="1808820"/>
                <a:ext cx="5588581"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𝑖</m:t>
                      </m:r>
                      <m:r>
                        <a:rPr lang="zh-CN" altLang="en-US" sz="3200" i="0">
                          <a:latin typeface="Cambria Math" panose="02040503050406030204" pitchFamily="18" charset="0"/>
                        </a:rPr>
                        <m:t>≡</m:t>
                      </m:r>
                      <m:r>
                        <a:rPr lang="zh-CN" altLang="en-US" sz="3200" i="1">
                          <a:latin typeface="Cambria Math" panose="02040503050406030204" pitchFamily="18" charset="0"/>
                        </a:rPr>
                        <m:t>𝑗</m:t>
                      </m:r>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r>
                        <a:rPr lang="zh-CN" altLang="en-US" sz="3200" i="0">
                          <a:latin typeface="Cambria Math" panose="02040503050406030204" pitchFamily="18" charset="0"/>
                        </a:rPr>
                        <m:t>⇔</m:t>
                      </m:r>
                      <m:r>
                        <a:rPr lang="zh-CN" altLang="en-US" sz="3200" i="1">
                          <a:latin typeface="Cambria Math" panose="02040503050406030204" pitchFamily="18" charset="0"/>
                        </a:rPr>
                        <m:t>𝑗</m:t>
                      </m:r>
                      <m:r>
                        <a:rPr lang="zh-CN" altLang="en-US" sz="3200" i="0">
                          <a:latin typeface="Cambria Math" panose="02040503050406030204" pitchFamily="18" charset="0"/>
                        </a:rPr>
                        <m:t>≡</m:t>
                      </m:r>
                      <m:r>
                        <a:rPr lang="zh-CN" altLang="en-US" sz="3200" i="1">
                          <a:latin typeface="Cambria Math" panose="02040503050406030204" pitchFamily="18" charset="0"/>
                        </a:rPr>
                        <m:t>𝑖</m:t>
                      </m:r>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oMath>
                  </m:oMathPara>
                </a14:m>
                <a:endParaRPr lang="zh-CN" altLang="en-US" dirty="0"/>
              </a:p>
            </p:txBody>
          </p:sp>
        </mc:Choice>
        <mc:Fallback xmlns="">
          <p:sp>
            <p:nvSpPr>
              <p:cNvPr id="2" name="矩形 1">
                <a:extLst>
                  <a:ext uri="{FF2B5EF4-FFF2-40B4-BE49-F238E27FC236}">
                    <a16:creationId xmlns:a16="http://schemas.microsoft.com/office/drawing/2014/main" id="{39E166ED-B850-40DC-BA52-7F9396EC81DF}"/>
                  </a:ext>
                </a:extLst>
              </p:cNvPr>
              <p:cNvSpPr>
                <a:spLocks noRot="1" noChangeAspect="1" noMove="1" noResize="1" noEditPoints="1" noAdjustHandles="1" noChangeArrowheads="1" noChangeShapeType="1" noTextEdit="1"/>
              </p:cNvSpPr>
              <p:nvPr/>
            </p:nvSpPr>
            <p:spPr>
              <a:xfrm>
                <a:off x="2006715" y="1808820"/>
                <a:ext cx="5588581" cy="58477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7D2A247-EE24-4461-9C00-4CEF86614A0A}"/>
                  </a:ext>
                </a:extLst>
              </p:cNvPr>
              <p:cNvSpPr/>
              <p:nvPr/>
            </p:nvSpPr>
            <p:spPr>
              <a:xfrm>
                <a:off x="2894342" y="2365224"/>
                <a:ext cx="5184368"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𝑖</m:t>
                      </m:r>
                      <m:r>
                        <a:rPr lang="zh-CN" altLang="en-US" sz="3200" i="0">
                          <a:latin typeface="Cambria Math" panose="02040503050406030204" pitchFamily="18" charset="0"/>
                        </a:rPr>
                        <m:t>≡</m:t>
                      </m:r>
                      <m:r>
                        <a:rPr lang="zh-CN" altLang="en-US" sz="3200" i="1">
                          <a:latin typeface="Cambria Math" panose="02040503050406030204" pitchFamily="18" charset="0"/>
                        </a:rPr>
                        <m:t>𝑗</m:t>
                      </m:r>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r>
                        <a:rPr lang="zh-CN" altLang="en-US" sz="3200" i="0">
                          <a:latin typeface="Cambria Math" panose="02040503050406030204" pitchFamily="18" charset="0"/>
                        </a:rPr>
                        <m:t>,</m:t>
                      </m:r>
                      <m:r>
                        <a:rPr lang="zh-CN" altLang="en-US" sz="3200" i="1">
                          <a:latin typeface="Cambria Math" panose="02040503050406030204" pitchFamily="18" charset="0"/>
                        </a:rPr>
                        <m:t>𝑗</m:t>
                      </m:r>
                      <m:r>
                        <a:rPr lang="zh-CN" altLang="en-US" sz="3200" i="0">
                          <a:latin typeface="Cambria Math" panose="02040503050406030204" pitchFamily="18" charset="0"/>
                        </a:rPr>
                        <m:t>≡</m:t>
                      </m:r>
                      <m:r>
                        <a:rPr lang="zh-CN" altLang="en-US" sz="3200" i="1">
                          <a:latin typeface="Cambria Math" panose="02040503050406030204" pitchFamily="18" charset="0"/>
                        </a:rPr>
                        <m:t>𝑘</m:t>
                      </m:r>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oMath>
                  </m:oMathPara>
                </a14:m>
                <a:endParaRPr lang="zh-CN" altLang="en-US" sz="3200" dirty="0"/>
              </a:p>
            </p:txBody>
          </p:sp>
        </mc:Choice>
        <mc:Fallback xmlns="">
          <p:sp>
            <p:nvSpPr>
              <p:cNvPr id="3" name="矩形 2">
                <a:extLst>
                  <a:ext uri="{FF2B5EF4-FFF2-40B4-BE49-F238E27FC236}">
                    <a16:creationId xmlns:a16="http://schemas.microsoft.com/office/drawing/2014/main" id="{47D2A247-EE24-4461-9C00-4CEF86614A0A}"/>
                  </a:ext>
                </a:extLst>
              </p:cNvPr>
              <p:cNvSpPr>
                <a:spLocks noRot="1" noChangeAspect="1" noMove="1" noResize="1" noEditPoints="1" noAdjustHandles="1" noChangeArrowheads="1" noChangeShapeType="1" noTextEdit="1"/>
              </p:cNvSpPr>
              <p:nvPr/>
            </p:nvSpPr>
            <p:spPr>
              <a:xfrm>
                <a:off x="2894342" y="2365224"/>
                <a:ext cx="5184368"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FCC5CCC-5AF5-4992-902C-D4B4755C8E31}"/>
                  </a:ext>
                </a:extLst>
              </p:cNvPr>
              <p:cNvSpPr/>
              <p:nvPr/>
            </p:nvSpPr>
            <p:spPr>
              <a:xfrm>
                <a:off x="2894342" y="2981490"/>
                <a:ext cx="270073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𝑖</m:t>
                      </m:r>
                      <m:r>
                        <a:rPr lang="zh-CN" altLang="en-US" sz="3200" i="0">
                          <a:latin typeface="Cambria Math" panose="02040503050406030204" pitchFamily="18" charset="0"/>
                        </a:rPr>
                        <m:t>≡</m:t>
                      </m:r>
                      <m:r>
                        <a:rPr lang="zh-CN" altLang="en-US" sz="3200" i="1">
                          <a:latin typeface="Cambria Math" panose="02040503050406030204" pitchFamily="18" charset="0"/>
                        </a:rPr>
                        <m:t>𝑘</m:t>
                      </m:r>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oMath>
                  </m:oMathPara>
                </a14:m>
                <a:endParaRPr lang="zh-CN" altLang="en-US" sz="3200" dirty="0"/>
              </a:p>
            </p:txBody>
          </p:sp>
        </mc:Choice>
        <mc:Fallback xmlns="">
          <p:sp>
            <p:nvSpPr>
              <p:cNvPr id="4" name="矩形 3">
                <a:extLst>
                  <a:ext uri="{FF2B5EF4-FFF2-40B4-BE49-F238E27FC236}">
                    <a16:creationId xmlns:a16="http://schemas.microsoft.com/office/drawing/2014/main" id="{1FCC5CCC-5AF5-4992-902C-D4B4755C8E31}"/>
                  </a:ext>
                </a:extLst>
              </p:cNvPr>
              <p:cNvSpPr>
                <a:spLocks noRot="1" noChangeAspect="1" noMove="1" noResize="1" noEditPoints="1" noAdjustHandles="1" noChangeArrowheads="1" noChangeShapeType="1" noTextEdit="1"/>
              </p:cNvSpPr>
              <p:nvPr/>
            </p:nvSpPr>
            <p:spPr>
              <a:xfrm>
                <a:off x="2894342" y="2981490"/>
                <a:ext cx="2700739"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2F30699-6243-47F8-8233-F19C2C6537AE}"/>
                  </a:ext>
                </a:extLst>
              </p:cNvPr>
              <p:cNvSpPr/>
              <p:nvPr/>
            </p:nvSpPr>
            <p:spPr>
              <a:xfrm>
                <a:off x="1096284" y="3536567"/>
                <a:ext cx="576279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𝑖</m:t>
                          </m:r>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𝑗</m:t>
                          </m:r>
                        </m:e>
                        <m:sub>
                          <m:r>
                            <a:rPr lang="zh-CN" altLang="en-US" sz="3200" i="0">
                              <a:latin typeface="Cambria Math" panose="02040503050406030204" pitchFamily="18" charset="0"/>
                            </a:rPr>
                            <m:t>1</m:t>
                          </m:r>
                        </m:sub>
                      </m:sSub>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𝑖</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𝑗</m:t>
                          </m:r>
                        </m:e>
                        <m:sub>
                          <m:r>
                            <a:rPr lang="zh-CN" altLang="en-US" sz="3200" i="0">
                              <a:latin typeface="Cambria Math" panose="02040503050406030204" pitchFamily="18" charset="0"/>
                            </a:rPr>
                            <m:t>2</m:t>
                          </m:r>
                        </m:sub>
                      </m:sSub>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oMath>
                  </m:oMathPara>
                </a14:m>
                <a:endParaRPr lang="zh-CN" altLang="en-US" sz="3200" dirty="0"/>
              </a:p>
            </p:txBody>
          </p:sp>
        </mc:Choice>
        <mc:Fallback xmlns="">
          <p:sp>
            <p:nvSpPr>
              <p:cNvPr id="5" name="矩形 4">
                <a:extLst>
                  <a:ext uri="{FF2B5EF4-FFF2-40B4-BE49-F238E27FC236}">
                    <a16:creationId xmlns:a16="http://schemas.microsoft.com/office/drawing/2014/main" id="{C2F30699-6243-47F8-8233-F19C2C6537AE}"/>
                  </a:ext>
                </a:extLst>
              </p:cNvPr>
              <p:cNvSpPr>
                <a:spLocks noRot="1" noChangeAspect="1" noMove="1" noResize="1" noEditPoints="1" noAdjustHandles="1" noChangeArrowheads="1" noChangeShapeType="1" noTextEdit="1"/>
              </p:cNvSpPr>
              <p:nvPr/>
            </p:nvSpPr>
            <p:spPr>
              <a:xfrm>
                <a:off x="1096284" y="3536567"/>
                <a:ext cx="5762796" cy="58477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DA082E6-2049-401C-AD9F-2DF1B16AA8D4}"/>
                  </a:ext>
                </a:extLst>
              </p:cNvPr>
              <p:cNvSpPr/>
              <p:nvPr/>
            </p:nvSpPr>
            <p:spPr>
              <a:xfrm>
                <a:off x="1096284" y="4216062"/>
                <a:ext cx="4701031" cy="10789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200" i="1">
                              <a:latin typeface="Cambria Math" panose="02040503050406030204" pitchFamily="18" charset="0"/>
                            </a:rPr>
                          </m:ctrlPr>
                        </m:mPr>
                        <m:mr>
                          <m:e>
                            <m:d>
                              <m:dPr>
                                <m:beg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𝑖</m:t>
                                    </m:r>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𝑖</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𝑗</m:t>
                                    </m:r>
                                  </m:e>
                                  <m:sub>
                                    <m:r>
                                      <a:rPr lang="zh-CN" altLang="en-US" sz="3200" i="0">
                                        <a:latin typeface="Cambria Math" panose="02040503050406030204" pitchFamily="18" charset="0"/>
                                      </a:rPr>
                                      <m:t>1</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𝑗</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1">
                                    <a:latin typeface="Cambria Math" panose="02040503050406030204" pitchFamily="18" charset="0"/>
                                  </a:rPr>
                                  <m:t>𝑀</m:t>
                                </m:r>
                              </m:e>
                            </m:d>
                          </m:e>
                        </m:mr>
                        <m:mr>
                          <m:e>
                            <m:d>
                              <m:dPr>
                                <m:beg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𝑖</m:t>
                                    </m:r>
                                  </m:e>
                                  <m:sub>
                                    <m:r>
                                      <a:rPr lang="zh-CN" altLang="en-US" sz="3200" i="0">
                                        <a:latin typeface="Cambria Math" panose="02040503050406030204" pitchFamily="18" charset="0"/>
                                      </a:rPr>
                                      <m:t>1</m:t>
                                    </m:r>
                                  </m:sub>
                                </m:sSub>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𝑖</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𝑗</m:t>
                                    </m:r>
                                  </m:e>
                                  <m:sub>
                                    <m:r>
                                      <a:rPr lang="zh-CN" altLang="en-US" sz="3200" i="0">
                                        <a:latin typeface="Cambria Math" panose="02040503050406030204" pitchFamily="18" charset="0"/>
                                      </a:rPr>
                                      <m:t>1</m:t>
                                    </m:r>
                                  </m:sub>
                                </m:sSub>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𝑗</m:t>
                                    </m:r>
                                  </m:e>
                                  <m:sub>
                                    <m:r>
                                      <a:rPr lang="zh-CN" altLang="en-US" sz="3200" i="0">
                                        <a:latin typeface="Cambria Math" panose="02040503050406030204" pitchFamily="18" charset="0"/>
                                      </a:rPr>
                                      <m:t>2</m:t>
                                    </m:r>
                                  </m:sub>
                                </m:sSub>
                                <m:r>
                                  <a:rPr lang="zh-CN" altLang="en-US" sz="3200" i="0">
                                    <a:latin typeface="Cambria Math" panose="02040503050406030204" pitchFamily="18" charset="0"/>
                                  </a:rPr>
                                  <m:t>(</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1">
                                    <a:latin typeface="Cambria Math" panose="02040503050406030204" pitchFamily="18" charset="0"/>
                                  </a:rPr>
                                  <m:t>𝑀</m:t>
                                </m:r>
                              </m:e>
                            </m:d>
                          </m:e>
                        </m:mr>
                      </m:m>
                    </m:oMath>
                  </m:oMathPara>
                </a14:m>
                <a:endParaRPr lang="zh-CN" altLang="en-US" sz="3200" dirty="0"/>
              </a:p>
            </p:txBody>
          </p:sp>
        </mc:Choice>
        <mc:Fallback xmlns="">
          <p:sp>
            <p:nvSpPr>
              <p:cNvPr id="7" name="矩形 6">
                <a:extLst>
                  <a:ext uri="{FF2B5EF4-FFF2-40B4-BE49-F238E27FC236}">
                    <a16:creationId xmlns:a16="http://schemas.microsoft.com/office/drawing/2014/main" id="{6DA082E6-2049-401C-AD9F-2DF1B16AA8D4}"/>
                  </a:ext>
                </a:extLst>
              </p:cNvPr>
              <p:cNvSpPr>
                <a:spLocks noRot="1" noChangeAspect="1" noMove="1" noResize="1" noEditPoints="1" noAdjustHandles="1" noChangeArrowheads="1" noChangeShapeType="1" noTextEdit="1"/>
              </p:cNvSpPr>
              <p:nvPr/>
            </p:nvSpPr>
            <p:spPr>
              <a:xfrm>
                <a:off x="1096284" y="4216062"/>
                <a:ext cx="4701031" cy="1078950"/>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78321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19" y="1178750"/>
            <a:ext cx="8685965"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latin typeface="Verdana" panose="020B0604030504040204" pitchFamily="34" charset="0"/>
              </a:rPr>
              <a:t>同余性质：</a:t>
            </a:r>
          </a:p>
          <a:p>
            <a:pPr marL="0" indent="0" eaLnBrk="1" hangingPunct="1">
              <a:spcBef>
                <a:spcPct val="20000"/>
              </a:spcBef>
            </a:pPr>
            <a:r>
              <a:rPr lang="en-US" altLang="zh-CN" sz="3200" dirty="0">
                <a:solidFill>
                  <a:srgbClr val="006699"/>
                </a:solidFill>
                <a:latin typeface="Verdana" panose="020B0604030504040204" pitchFamily="34" charset="0"/>
              </a:rPr>
              <a:t>4 </a:t>
            </a:r>
            <a:r>
              <a:rPr lang="zh-CN" altLang="en-US" sz="3200" dirty="0">
                <a:solidFill>
                  <a:srgbClr val="006699"/>
                </a:solidFill>
                <a:latin typeface="Verdana" panose="020B0604030504040204" pitchFamily="34" charset="0"/>
              </a:rPr>
              <a:t>若                      </a:t>
            </a:r>
            <a:r>
              <a:rPr lang="en-US" altLang="zh-CN" sz="3200" dirty="0">
                <a:solidFill>
                  <a:srgbClr val="006699"/>
                </a:solidFill>
                <a:latin typeface="Verdana" panose="020B0604030504040204" pitchFamily="34" charset="0"/>
              </a:rPr>
              <a:t>(k</a:t>
            </a:r>
            <a:r>
              <a:rPr lang="zh-CN" altLang="en-US" sz="3200" dirty="0">
                <a:solidFill>
                  <a:srgbClr val="006699"/>
                </a:solidFill>
                <a:latin typeface="Verdana" panose="020B0604030504040204" pitchFamily="34" charset="0"/>
              </a:rPr>
              <a:t>为正整数</a:t>
            </a:r>
            <a:r>
              <a:rPr lang="en-US" altLang="zh-CN" sz="3200" dirty="0">
                <a:solidFill>
                  <a:srgbClr val="006699"/>
                </a:solidFill>
                <a:latin typeface="Verdana" panose="020B0604030504040204" pitchFamily="34" charset="0"/>
              </a:rPr>
              <a:t>), </a:t>
            </a:r>
          </a:p>
          <a:p>
            <a:pPr marL="0" indent="0" eaLnBrk="1" hangingPunct="1">
              <a:spcBef>
                <a:spcPct val="20000"/>
              </a:spcBef>
            </a:pP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则</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其中             表示</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和</a:t>
            </a:r>
            <a:r>
              <a:rPr lang="en-US" altLang="zh-CN" sz="3200" dirty="0">
                <a:solidFill>
                  <a:srgbClr val="006699"/>
                </a:solidFill>
                <a:latin typeface="Verdana" panose="020B0604030504040204" pitchFamily="34" charset="0"/>
              </a:rPr>
              <a:t>k</a:t>
            </a:r>
            <a:r>
              <a:rPr lang="zh-CN" altLang="en-US" sz="3200" dirty="0">
                <a:solidFill>
                  <a:srgbClr val="006699"/>
                </a:solidFill>
                <a:latin typeface="Verdana" panose="020B0604030504040204" pitchFamily="34" charset="0"/>
              </a:rPr>
              <a:t>的最大公约数</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C7DC7AF-AE47-44B2-A636-AC2742B4B746}"/>
                  </a:ext>
                </a:extLst>
              </p:cNvPr>
              <p:cNvSpPr/>
              <p:nvPr/>
            </p:nvSpPr>
            <p:spPr>
              <a:xfrm>
                <a:off x="1151620" y="1808328"/>
                <a:ext cx="307327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𝑖𝑘</m:t>
                      </m:r>
                      <m:r>
                        <a:rPr lang="zh-CN" altLang="en-US" sz="3200" i="0">
                          <a:latin typeface="Cambria Math" panose="02040503050406030204" pitchFamily="18" charset="0"/>
                        </a:rPr>
                        <m:t>≡</m:t>
                      </m:r>
                      <m:r>
                        <a:rPr lang="zh-CN" altLang="en-US" sz="3200" i="1">
                          <a:latin typeface="Cambria Math" panose="02040503050406030204" pitchFamily="18" charset="0"/>
                        </a:rPr>
                        <m:t>𝑗𝑘</m:t>
                      </m:r>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r>
                            <a:rPr lang="zh-CN" altLang="en-US" sz="3200" i="1">
                              <a:latin typeface="Cambria Math" panose="02040503050406030204" pitchFamily="18" charset="0"/>
                            </a:rPr>
                            <m:t>𝑀</m:t>
                          </m:r>
                        </m:e>
                      </m:d>
                    </m:oMath>
                  </m:oMathPara>
                </a14:m>
                <a:endParaRPr lang="zh-CN" altLang="en-US" sz="3200" dirty="0"/>
              </a:p>
            </p:txBody>
          </p:sp>
        </mc:Choice>
        <mc:Fallback xmlns="">
          <p:sp>
            <p:nvSpPr>
              <p:cNvPr id="6" name="矩形 5">
                <a:extLst>
                  <a:ext uri="{FF2B5EF4-FFF2-40B4-BE49-F238E27FC236}">
                    <a16:creationId xmlns:a16="http://schemas.microsoft.com/office/drawing/2014/main" id="{BC7DC7AF-AE47-44B2-A636-AC2742B4B746}"/>
                  </a:ext>
                </a:extLst>
              </p:cNvPr>
              <p:cNvSpPr>
                <a:spLocks noRot="1" noChangeAspect="1" noMove="1" noResize="1" noEditPoints="1" noAdjustHandles="1" noChangeArrowheads="1" noChangeShapeType="1" noTextEdit="1"/>
              </p:cNvSpPr>
              <p:nvPr/>
            </p:nvSpPr>
            <p:spPr>
              <a:xfrm>
                <a:off x="1151620" y="1808328"/>
                <a:ext cx="3073277"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D80BB998-7CB5-4C7A-8B39-0BE34676C05D}"/>
                  </a:ext>
                </a:extLst>
              </p:cNvPr>
              <p:cNvSpPr/>
              <p:nvPr/>
            </p:nvSpPr>
            <p:spPr>
              <a:xfrm>
                <a:off x="1468750" y="2331891"/>
                <a:ext cx="4228273" cy="1198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𝑖</m:t>
                      </m:r>
                      <m:r>
                        <a:rPr lang="zh-CN" altLang="en-US" sz="3200" i="0">
                          <a:latin typeface="Cambria Math" panose="02040503050406030204" pitchFamily="18" charset="0"/>
                        </a:rPr>
                        <m:t>≡</m:t>
                      </m:r>
                      <m:r>
                        <a:rPr lang="zh-CN" altLang="en-US" sz="3200" i="1">
                          <a:latin typeface="Cambria Math" panose="02040503050406030204" pitchFamily="18" charset="0"/>
                        </a:rPr>
                        <m:t>𝑗</m:t>
                      </m:r>
                      <m:d>
                        <m:dPr>
                          <m:ctrlPr>
                            <a:rPr lang="zh-CN" altLang="en-US" sz="3200" i="1">
                              <a:latin typeface="Cambria Math" panose="02040503050406030204" pitchFamily="18" charset="0"/>
                            </a:rPr>
                          </m:ctrlPr>
                        </m:dPr>
                        <m:e>
                          <m:r>
                            <m:rPr>
                              <m:sty m:val="p"/>
                            </m:rPr>
                            <a:rPr lang="zh-CN" altLang="en-US" sz="3200" i="0">
                              <a:latin typeface="Cambria Math" panose="02040503050406030204" pitchFamily="18" charset="0"/>
                            </a:rPr>
                            <m:t>mod</m:t>
                          </m:r>
                          <m:f>
                            <m:fPr>
                              <m:ctrlPr>
                                <a:rPr lang="zh-CN" altLang="en-US" sz="3200" i="1">
                                  <a:latin typeface="Cambria Math" panose="02040503050406030204" pitchFamily="18" charset="0"/>
                                </a:rPr>
                              </m:ctrlPr>
                            </m:fPr>
                            <m:num>
                              <m:r>
                                <a:rPr lang="zh-CN" altLang="en-US" sz="3200" i="1">
                                  <a:latin typeface="Cambria Math" panose="02040503050406030204" pitchFamily="18" charset="0"/>
                                </a:rPr>
                                <m:t>𝑀</m:t>
                              </m:r>
                            </m:num>
                            <m:den>
                              <m:d>
                                <m:dPr>
                                  <m:begChr m:val=""/>
                                  <m:ctrlPr>
                                    <a:rPr lang="zh-CN" altLang="en-US" sz="3200" i="1">
                                      <a:latin typeface="Cambria Math" panose="02040503050406030204" pitchFamily="18" charset="0"/>
                                    </a:rPr>
                                  </m:ctrlPr>
                                </m:dPr>
                                <m:e>
                                  <m:r>
                                    <m:rPr>
                                      <m:nor/>
                                    </m:rPr>
                                    <a:rPr lang="zh-CN" altLang="en-US" sz="3200" i="1">
                                      <a:latin typeface="Cambria Math" panose="02040503050406030204" pitchFamily="18" charset="0"/>
                                    </a:rPr>
                                    <m:t>gcd</m:t>
                                  </m:r>
                                  <m:r>
                                    <a:rPr lang="zh-CN" altLang="en-US" sz="3200" i="0">
                                      <a:latin typeface="Cambria Math" panose="02040503050406030204" pitchFamily="18" charset="0"/>
                                    </a:rPr>
                                    <m:t>(</m:t>
                                  </m:r>
                                  <m:r>
                                    <a:rPr lang="zh-CN" altLang="en-US" sz="3200" i="1">
                                      <a:latin typeface="Cambria Math" panose="02040503050406030204" pitchFamily="18" charset="0"/>
                                    </a:rPr>
                                    <m:t>𝑀</m:t>
                                  </m:r>
                                  <m:r>
                                    <a:rPr lang="zh-CN" altLang="en-US" sz="3200" i="0">
                                      <a:latin typeface="Cambria Math" panose="02040503050406030204" pitchFamily="18" charset="0"/>
                                    </a:rPr>
                                    <m:t>,</m:t>
                                  </m:r>
                                  <m:r>
                                    <a:rPr lang="zh-CN" altLang="en-US" sz="3200" i="1">
                                      <a:latin typeface="Cambria Math" panose="02040503050406030204" pitchFamily="18" charset="0"/>
                                    </a:rPr>
                                    <m:t>𝑘</m:t>
                                  </m:r>
                                </m:e>
                              </m:d>
                            </m:den>
                          </m:f>
                        </m:e>
                      </m:d>
                    </m:oMath>
                  </m:oMathPara>
                </a14:m>
                <a:endParaRPr lang="zh-CN" altLang="en-US" sz="3200" dirty="0"/>
              </a:p>
            </p:txBody>
          </p:sp>
        </mc:Choice>
        <mc:Fallback xmlns="">
          <p:sp>
            <p:nvSpPr>
              <p:cNvPr id="8" name="矩形 7">
                <a:extLst>
                  <a:ext uri="{FF2B5EF4-FFF2-40B4-BE49-F238E27FC236}">
                    <a16:creationId xmlns:a16="http://schemas.microsoft.com/office/drawing/2014/main" id="{D80BB998-7CB5-4C7A-8B39-0BE34676C05D}"/>
                  </a:ext>
                </a:extLst>
              </p:cNvPr>
              <p:cNvSpPr>
                <a:spLocks noRot="1" noChangeAspect="1" noMove="1" noResize="1" noEditPoints="1" noAdjustHandles="1" noChangeArrowheads="1" noChangeShapeType="1" noTextEdit="1"/>
              </p:cNvSpPr>
              <p:nvPr/>
            </p:nvSpPr>
            <p:spPr>
              <a:xfrm>
                <a:off x="1468750" y="2331891"/>
                <a:ext cx="4228273" cy="119885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D4B96AD-D083-4A28-A194-7BF9B471B2B6}"/>
                  </a:ext>
                </a:extLst>
              </p:cNvPr>
              <p:cNvSpPr/>
              <p:nvPr/>
            </p:nvSpPr>
            <p:spPr>
              <a:xfrm>
                <a:off x="1151620" y="3554554"/>
                <a:ext cx="2050048"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3200" i="1">
                              <a:latin typeface="Cambria Math" panose="02040503050406030204" pitchFamily="18" charset="0"/>
                            </a:rPr>
                          </m:ctrlPr>
                        </m:dPr>
                        <m:e>
                          <m:r>
                            <m:rPr>
                              <m:nor/>
                            </m:rPr>
                            <a:rPr lang="zh-CN" altLang="en-US" sz="3200"/>
                            <m:t>gcd</m:t>
                          </m:r>
                          <m:r>
                            <a:rPr lang="zh-CN" altLang="en-US" sz="3200" i="0">
                              <a:latin typeface="Cambria Math" panose="02040503050406030204" pitchFamily="18" charset="0"/>
                            </a:rPr>
                            <m:t>(</m:t>
                          </m:r>
                          <m:r>
                            <a:rPr lang="zh-CN" altLang="en-US" sz="3200" i="1">
                              <a:latin typeface="Cambria Math" panose="02040503050406030204" pitchFamily="18" charset="0"/>
                            </a:rPr>
                            <m:t>𝑀</m:t>
                          </m:r>
                          <m:r>
                            <a:rPr lang="zh-CN" altLang="en-US" sz="3200" i="0">
                              <a:latin typeface="Cambria Math" panose="02040503050406030204" pitchFamily="18" charset="0"/>
                            </a:rPr>
                            <m:t>,</m:t>
                          </m:r>
                          <m:r>
                            <a:rPr lang="zh-CN" altLang="en-US" sz="3200" i="1">
                              <a:latin typeface="Cambria Math" panose="02040503050406030204" pitchFamily="18" charset="0"/>
                            </a:rPr>
                            <m:t>𝑘</m:t>
                          </m:r>
                        </m:e>
                      </m:d>
                    </m:oMath>
                  </m:oMathPara>
                </a14:m>
                <a:endParaRPr lang="zh-CN" altLang="en-US" sz="3200" dirty="0"/>
              </a:p>
            </p:txBody>
          </p:sp>
        </mc:Choice>
        <mc:Fallback xmlns="">
          <p:sp>
            <p:nvSpPr>
              <p:cNvPr id="9" name="矩形 8">
                <a:extLst>
                  <a:ext uri="{FF2B5EF4-FFF2-40B4-BE49-F238E27FC236}">
                    <a16:creationId xmlns:a16="http://schemas.microsoft.com/office/drawing/2014/main" id="{6D4B96AD-D083-4A28-A194-7BF9B471B2B6}"/>
                  </a:ext>
                </a:extLst>
              </p:cNvPr>
              <p:cNvSpPr>
                <a:spLocks noRot="1" noChangeAspect="1" noMove="1" noResize="1" noEditPoints="1" noAdjustHandles="1" noChangeArrowheads="1" noChangeShapeType="1" noTextEdit="1"/>
              </p:cNvSpPr>
              <p:nvPr/>
            </p:nvSpPr>
            <p:spPr>
              <a:xfrm>
                <a:off x="1151620" y="3554554"/>
                <a:ext cx="2050048" cy="584775"/>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222265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73885" y="1117598"/>
            <a:ext cx="8370930" cy="4622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b="1" dirty="0">
                <a:solidFill>
                  <a:srgbClr val="FF0000"/>
                </a:solidFill>
                <a:latin typeface="Verdana" panose="020B0604030504040204" pitchFamily="34" charset="0"/>
              </a:rPr>
              <a:t>线性同余随机数发生器</a:t>
            </a:r>
            <a:r>
              <a:rPr lang="zh-CN" altLang="en-US" sz="3200" dirty="0">
                <a:solidFill>
                  <a:srgbClr val="006699"/>
                </a:solidFill>
                <a:latin typeface="Verdana" panose="020B0604030504040204" pitchFamily="34" charset="0"/>
              </a:rPr>
              <a:t>是利用求余运算的随机数发生器。 其递推公式为</a:t>
            </a: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正整数</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为除数</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正整数</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为乘数</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非负整数</a:t>
            </a:r>
            <a:r>
              <a:rPr lang="en-US" altLang="zh-CN" sz="3200" dirty="0">
                <a:solidFill>
                  <a:srgbClr val="006699"/>
                </a:solidFill>
                <a:latin typeface="Verdana" panose="020B0604030504040204" pitchFamily="34" charset="0"/>
              </a:rPr>
              <a:t>c</a:t>
            </a:r>
            <a:r>
              <a:rPr lang="zh-CN" altLang="en-US" sz="3200" dirty="0">
                <a:solidFill>
                  <a:srgbClr val="006699"/>
                </a:solidFill>
                <a:latin typeface="Verdana" panose="020B0604030504040204" pitchFamily="34" charset="0"/>
              </a:rPr>
              <a:t>为增量</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888A7AC-8F2D-40FC-ACCE-05A0F8D232E4}"/>
                  </a:ext>
                </a:extLst>
              </p:cNvPr>
              <p:cNvSpPr/>
              <p:nvPr/>
            </p:nvSpPr>
            <p:spPr>
              <a:xfrm>
                <a:off x="599185" y="2258870"/>
                <a:ext cx="6999480" cy="1443537"/>
              </a:xfrm>
              <a:prstGeom prst="rect">
                <a:avLst/>
              </a:prstGeom>
            </p:spPr>
            <p:txBody>
              <a:bodyPr wrap="none">
                <a:spAutoFit/>
              </a:bodyPr>
              <a:lstStyle/>
              <a:p>
                <a:pPr algn="just"/>
                <a14:m>
                  <m:oMathPara xmlns:m="http://schemas.openxmlformats.org/officeDocument/2006/math">
                    <m:oMathParaPr>
                      <m:jc m:val="left"/>
                    </m:oMathParaPr>
                    <m:oMath xmlns:m="http://schemas.openxmlformats.org/officeDocument/2006/math">
                      <m:m>
                        <m:mPr>
                          <m:plcHide m:val="on"/>
                          <m:mcs>
                            <m:mc>
                              <m:mcPr>
                                <m:count m:val="1"/>
                                <m:mcJc m:val="center"/>
                              </m:mcPr>
                            </m:mc>
                          </m:mcs>
                          <m:ctrlPr>
                            <a:rPr lang="zh-CN" altLang="en-US" sz="3200" i="1">
                              <a:latin typeface="Cambria Math" panose="02040503050406030204" pitchFamily="18" charset="0"/>
                            </a:rPr>
                          </m:ctrlPr>
                        </m:mPr>
                        <m:mr>
                          <m:e>
                            <m:m>
                              <m:mPr>
                                <m:plcHide m:val="on"/>
                                <m:mcs>
                                  <m:mc>
                                    <m:mcPr>
                                      <m:count m:val="1"/>
                                      <m:mcJc m:val="center"/>
                                    </m:mcPr>
                                  </m:mc>
                                </m:mcs>
                                <m:ctrlPr>
                                  <a:rPr lang="zh-CN" altLang="en-US" sz="3200" i="1">
                                    <a:latin typeface="Cambria Math" panose="02040503050406030204" pitchFamily="18" charset="0"/>
                                  </a:rPr>
                                </m:ctrlPr>
                              </m:mPr>
                              <m:m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𝑎</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i="0">
                                          <a:latin typeface="Cambria Math" panose="02040503050406030204" pitchFamily="18" charset="0"/>
                                        </a:rPr>
                                        <m:t>−1</m:t>
                                      </m:r>
                                    </m:sub>
                                  </m:sSub>
                                  <m:r>
                                    <a:rPr lang="zh-CN" altLang="en-US" sz="3200" i="0">
                                      <a:latin typeface="Cambria Math" panose="02040503050406030204" pitchFamily="18" charset="0"/>
                                    </a:rPr>
                                    <m:t>+</m:t>
                                  </m:r>
                                  <m:r>
                                    <a:rPr lang="zh-CN" altLang="en-US" sz="3200" i="1">
                                      <a:latin typeface="Cambria Math" panose="02040503050406030204" pitchFamily="18" charset="0"/>
                                    </a:rPr>
                                    <m:t>𝑐</m:t>
                                  </m:r>
                                  <m:r>
                                    <a:rPr lang="zh-CN" altLang="en-US" sz="3200" i="0">
                                      <a:latin typeface="Cambria Math" panose="02040503050406030204" pitchFamily="18" charset="0"/>
                                    </a:rPr>
                                    <m:t>)(</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1">
                                      <a:latin typeface="Cambria Math" panose="02040503050406030204" pitchFamily="18" charset="0"/>
                                    </a:rPr>
                                    <m:t>𝑀</m:t>
                                  </m:r>
                                  <m:r>
                                    <a:rPr lang="zh-CN" altLang="en-US" sz="3200" i="0">
                                      <a:latin typeface="Cambria Math" panose="02040503050406030204" pitchFamily="18" charset="0"/>
                                    </a:rPr>
                                    <m:t>),</m:t>
                                  </m:r>
                                  <m:r>
                                    <m:rPr>
                                      <m:nor/>
                                    </m:rPr>
                                    <a:rPr lang="zh-CN" altLang="en-US" sz="3200" i="1">
                                      <a:latin typeface="Cambria Math" panose="02040503050406030204" pitchFamily="18" charset="0"/>
                                    </a:rPr>
                                    <m:t> </m:t>
                                  </m:r>
                                  <m:r>
                                    <a:rPr lang="zh-CN" altLang="en-US" sz="3200" i="1">
                                      <a:latin typeface="Cambria Math" panose="02040503050406030204" pitchFamily="18" charset="0"/>
                                    </a:rPr>
                                    <m:t>𝑛</m:t>
                                  </m:r>
                                  <m:r>
                                    <a:rPr lang="zh-CN" altLang="en-US" sz="3200" i="0">
                                      <a:latin typeface="Cambria Math" panose="02040503050406030204" pitchFamily="18" charset="0"/>
                                    </a:rPr>
                                    <m:t>=1,2,…</m:t>
                                  </m:r>
                                </m:e>
                              </m:mr>
                            </m:m>
                          </m:e>
                        </m:mr>
                        <m:m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num>
                              <m:den>
                                <m:r>
                                  <a:rPr lang="zh-CN" altLang="en-US" sz="3200" i="1">
                                    <a:latin typeface="Cambria Math" panose="02040503050406030204" pitchFamily="18" charset="0"/>
                                  </a:rPr>
                                  <m:t>𝑀</m:t>
                                </m:r>
                              </m:den>
                            </m:f>
                          </m:e>
                        </m:mr>
                      </m:m>
                    </m:oMath>
                  </m:oMathPara>
                </a14:m>
                <a:endParaRPr lang="zh-CN" altLang="en-US" sz="3200" dirty="0"/>
              </a:p>
            </p:txBody>
          </p:sp>
        </mc:Choice>
        <mc:Fallback xmlns="">
          <p:sp>
            <p:nvSpPr>
              <p:cNvPr id="3" name="矩形 2">
                <a:extLst>
                  <a:ext uri="{FF2B5EF4-FFF2-40B4-BE49-F238E27FC236}">
                    <a16:creationId xmlns:a16="http://schemas.microsoft.com/office/drawing/2014/main" id="{A888A7AC-8F2D-40FC-ACCE-05A0F8D232E4}"/>
                  </a:ext>
                </a:extLst>
              </p:cNvPr>
              <p:cNvSpPr>
                <a:spLocks noRot="1" noChangeAspect="1" noMove="1" noResize="1" noEditPoints="1" noAdjustHandles="1" noChangeArrowheads="1" noChangeShapeType="1" noTextEdit="1"/>
              </p:cNvSpPr>
              <p:nvPr/>
            </p:nvSpPr>
            <p:spPr>
              <a:xfrm>
                <a:off x="599185" y="2258870"/>
                <a:ext cx="6999480" cy="1443537"/>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06654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662363"/>
            <a:ext cx="8370930" cy="176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如果取</a:t>
            </a:r>
            <a:r>
              <a:rPr lang="en-US" altLang="zh-CN" sz="3200" dirty="0">
                <a:solidFill>
                  <a:srgbClr val="006699"/>
                </a:solidFill>
                <a:latin typeface="Verdana" panose="020B0604030504040204" pitchFamily="34" charset="0"/>
              </a:rPr>
              <a:t>c=0</a:t>
            </a:r>
            <a:r>
              <a:rPr lang="zh-CN" altLang="en-US" sz="3200" dirty="0">
                <a:solidFill>
                  <a:srgbClr val="006699"/>
                </a:solidFill>
                <a:latin typeface="Verdana" panose="020B0604030504040204" pitchFamily="34" charset="0"/>
              </a:rPr>
              <a:t>， 称为</a:t>
            </a:r>
            <a:r>
              <a:rPr lang="zh-CN" altLang="en-US" sz="3200" dirty="0">
                <a:solidFill>
                  <a:srgbClr val="FF0000"/>
                </a:solidFill>
                <a:latin typeface="Verdana" panose="020B0604030504040204" pitchFamily="34" charset="0"/>
              </a:rPr>
              <a:t>乘同余发生器</a:t>
            </a:r>
            <a:endParaRPr lang="en-US" altLang="zh-CN" sz="3200" dirty="0">
              <a:solidFill>
                <a:srgbClr val="FF0000"/>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如果取</a:t>
            </a:r>
            <a:r>
              <a:rPr lang="en-US" altLang="zh-CN" sz="3200" dirty="0">
                <a:solidFill>
                  <a:srgbClr val="006699"/>
                </a:solidFill>
                <a:latin typeface="Verdana" panose="020B0604030504040204" pitchFamily="34" charset="0"/>
              </a:rPr>
              <a:t>c&gt;0</a:t>
            </a:r>
            <a:r>
              <a:rPr lang="zh-CN" altLang="en-US" sz="3200" dirty="0">
                <a:solidFill>
                  <a:srgbClr val="006699"/>
                </a:solidFill>
                <a:latin typeface="Verdana" panose="020B0604030504040204" pitchFamily="34" charset="0"/>
              </a:rPr>
              <a:t>， 称为</a:t>
            </a:r>
            <a:r>
              <a:rPr lang="zh-CN" altLang="en-US" sz="3200" dirty="0">
                <a:solidFill>
                  <a:srgbClr val="FF0000"/>
                </a:solidFill>
                <a:latin typeface="Verdana" panose="020B0604030504040204" pitchFamily="34" charset="0"/>
              </a:rPr>
              <a:t>混合同余发生器</a:t>
            </a:r>
            <a:endParaRPr lang="en-US" altLang="zh-CN" sz="3200" dirty="0">
              <a:solidFill>
                <a:srgbClr val="FF0000"/>
              </a:solidFill>
              <a:latin typeface="Verdana" panose="020B0604030504040204" pitchFamily="34" charset="0"/>
            </a:endParaRPr>
          </a:p>
        </p:txBody>
      </p:sp>
    </p:spTree>
    <p:extLst>
      <p:ext uri="{BB962C8B-B14F-4D97-AF65-F5344CB8AC3E}">
        <p14:creationId xmlns:p14="http://schemas.microsoft.com/office/powerpoint/2010/main" val="18036447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662363"/>
            <a:ext cx="8370930" cy="324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若存在正整数</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和</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使得 </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m</a:t>
            </a:r>
            <a:r>
              <a:rPr lang="en-US" altLang="zh-CN" sz="3200" dirty="0">
                <a:solidFill>
                  <a:srgbClr val="006699"/>
                </a:solidFill>
                <a:latin typeface="Verdana" panose="020B0604030504040204" pitchFamily="34" charset="0"/>
              </a:rPr>
              <a:t>(m&lt;n)</a:t>
            </a:r>
            <a:r>
              <a:rPr lang="zh-CN" altLang="en-US" sz="3200" dirty="0">
                <a:solidFill>
                  <a:srgbClr val="006699"/>
                </a:solidFill>
                <a:latin typeface="Verdana" panose="020B0604030504040204" pitchFamily="34" charset="0"/>
              </a:rPr>
              <a:t>， 则必有</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n+k</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m+k</a:t>
            </a:r>
            <a:r>
              <a:rPr lang="en-US" altLang="zh-CN" sz="3200" dirty="0" err="1">
                <a:solidFill>
                  <a:srgbClr val="006699"/>
                </a:solidFill>
                <a:latin typeface="Verdana" panose="020B0604030504040204" pitchFamily="34" charset="0"/>
              </a:rPr>
              <a:t>,k</a:t>
            </a:r>
            <a:r>
              <a:rPr lang="en-US" altLang="zh-CN" sz="3200" dirty="0">
                <a:solidFill>
                  <a:srgbClr val="006699"/>
                </a:solidFill>
                <a:latin typeface="Verdana" panose="020B0604030504040204" pitchFamily="34" charset="0"/>
              </a:rPr>
              <a:t>=0,1,2,…, </a:t>
            </a:r>
          </a:p>
          <a:p>
            <a:pPr eaLnBrk="1" hangingPunct="1">
              <a:spcBef>
                <a:spcPct val="20000"/>
              </a:spcBef>
              <a:buFontTx/>
              <a:buChar char="•"/>
            </a:pPr>
            <a:r>
              <a:rPr lang="zh-CN" altLang="en-US" sz="3200" dirty="0">
                <a:solidFill>
                  <a:srgbClr val="006699"/>
                </a:solidFill>
                <a:latin typeface="Verdana" panose="020B0604030504040204" pitchFamily="34" charset="0"/>
              </a:rPr>
              <a:t>即</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n+1</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n+2</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重复了</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m</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m+1</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m+2</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 称这样的</a:t>
            </a:r>
            <a:r>
              <a:rPr lang="en-US" altLang="zh-CN" sz="3200" dirty="0">
                <a:solidFill>
                  <a:srgbClr val="006699"/>
                </a:solidFill>
                <a:latin typeface="Verdana" panose="020B0604030504040204" pitchFamily="34" charset="0"/>
              </a:rPr>
              <a:t>n−m</a:t>
            </a:r>
            <a:r>
              <a:rPr lang="zh-CN" altLang="en-US" sz="3200" dirty="0">
                <a:solidFill>
                  <a:srgbClr val="006699"/>
                </a:solidFill>
                <a:latin typeface="Verdana" panose="020B0604030504040204" pitchFamily="34" charset="0"/>
              </a:rPr>
              <a:t>的最小值</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为此</a:t>
            </a:r>
            <a:r>
              <a:rPr lang="zh-CN" altLang="en-US" sz="3200" b="1" dirty="0">
                <a:solidFill>
                  <a:srgbClr val="FF0000"/>
                </a:solidFill>
                <a:latin typeface="Verdana" panose="020B0604030504040204" pitchFamily="34" charset="0"/>
              </a:rPr>
              <a:t>随机数发生器在初值</a:t>
            </a:r>
            <a:r>
              <a:rPr lang="en-US" altLang="zh-CN" sz="3200" b="1" dirty="0">
                <a:solidFill>
                  <a:srgbClr val="FF0000"/>
                </a:solidFill>
                <a:latin typeface="Verdana" panose="020B0604030504040204" pitchFamily="34" charset="0"/>
              </a:rPr>
              <a:t>x</a:t>
            </a:r>
            <a:r>
              <a:rPr lang="en-US" altLang="zh-CN" sz="3200" b="1" baseline="-25000" dirty="0">
                <a:solidFill>
                  <a:srgbClr val="FF0000"/>
                </a:solidFill>
                <a:latin typeface="Verdana" panose="020B0604030504040204" pitchFamily="34" charset="0"/>
              </a:rPr>
              <a:t>0</a:t>
            </a:r>
            <a:r>
              <a:rPr lang="zh-CN" altLang="en-US" sz="3200" b="1" dirty="0">
                <a:solidFill>
                  <a:srgbClr val="FF0000"/>
                </a:solidFill>
                <a:latin typeface="Verdana" panose="020B0604030504040204" pitchFamily="34" charset="0"/>
              </a:rPr>
              <a:t>下的周期</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由序列取值的有限性可见</a:t>
            </a:r>
            <a:r>
              <a:rPr lang="en-US" altLang="zh-CN" sz="3200" dirty="0">
                <a:solidFill>
                  <a:srgbClr val="006699"/>
                </a:solidFill>
                <a:latin typeface="Verdana" panose="020B0604030504040204" pitchFamily="34" charset="0"/>
              </a:rPr>
              <a:t>T≤M</a:t>
            </a:r>
            <a:endParaRPr lang="en-US" altLang="zh-CN" sz="3200" dirty="0">
              <a:solidFill>
                <a:srgbClr val="FF0000"/>
              </a:solidFill>
              <a:latin typeface="Verdana" panose="020B0604030504040204" pitchFamily="34" charset="0"/>
            </a:endParaRPr>
          </a:p>
        </p:txBody>
      </p:sp>
    </p:spTree>
    <p:extLst>
      <p:ext uri="{BB962C8B-B14F-4D97-AF65-F5344CB8AC3E}">
        <p14:creationId xmlns:p14="http://schemas.microsoft.com/office/powerpoint/2010/main" val="41168006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73885" y="1048845"/>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5.2 </a:t>
            </a:r>
            <a:r>
              <a:rPr lang="zh-CN" altLang="en-US" sz="3200" dirty="0">
                <a:solidFill>
                  <a:srgbClr val="006699"/>
                </a:solidFill>
                <a:latin typeface="Verdana" panose="020B0604030504040204" pitchFamily="34" charset="0"/>
              </a:rPr>
              <a:t>考虑线性同余发生器</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B6782754-110D-4D38-BC6B-2A135323D4C4}"/>
                  </a:ext>
                </a:extLst>
              </p:cNvPr>
              <p:cNvSpPr/>
              <p:nvPr/>
            </p:nvSpPr>
            <p:spPr>
              <a:xfrm>
                <a:off x="1725550" y="1790267"/>
                <a:ext cx="474674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=7</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i="0">
                                  <a:latin typeface="Cambria Math" panose="02040503050406030204" pitchFamily="18" charset="0"/>
                                </a:rPr>
                                <m:t>−1</m:t>
                              </m:r>
                            </m:sub>
                          </m:sSub>
                          <m:r>
                            <a:rPr lang="zh-CN" altLang="en-US" sz="3200" i="0">
                              <a:latin typeface="Cambria Math" panose="02040503050406030204" pitchFamily="18" charset="0"/>
                            </a:rPr>
                            <m:t>+7(</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0">
                              <a:latin typeface="Cambria Math" panose="02040503050406030204" pitchFamily="18" charset="0"/>
                            </a:rPr>
                            <m:t>10</m:t>
                          </m:r>
                        </m:e>
                      </m:d>
                    </m:oMath>
                  </m:oMathPara>
                </a14:m>
                <a:endParaRPr lang="zh-CN" altLang="en-US" sz="3200" dirty="0"/>
              </a:p>
            </p:txBody>
          </p:sp>
        </mc:Choice>
        <mc:Fallback xmlns="">
          <p:sp>
            <p:nvSpPr>
              <p:cNvPr id="2" name="矩形 1">
                <a:extLst>
                  <a:ext uri="{FF2B5EF4-FFF2-40B4-BE49-F238E27FC236}">
                    <a16:creationId xmlns:a16="http://schemas.microsoft.com/office/drawing/2014/main" id="{B6782754-110D-4D38-BC6B-2A135323D4C4}"/>
                  </a:ext>
                </a:extLst>
              </p:cNvPr>
              <p:cNvSpPr>
                <a:spLocks noRot="1" noChangeAspect="1" noMove="1" noResize="1" noEditPoints="1" noAdjustHandles="1" noChangeArrowheads="1" noChangeShapeType="1" noTextEdit="1"/>
              </p:cNvSpPr>
              <p:nvPr/>
            </p:nvSpPr>
            <p:spPr>
              <a:xfrm>
                <a:off x="1725550" y="1790267"/>
                <a:ext cx="4746749" cy="584775"/>
              </a:xfrm>
              <a:prstGeom prst="rect">
                <a:avLst/>
              </a:prstGeom>
              <a:blipFill>
                <a:blip r:embed="rId2"/>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55371DC-472E-4631-A68B-9F5868B43701}"/>
              </a:ext>
            </a:extLst>
          </p:cNvPr>
          <p:cNvSpPr/>
          <p:nvPr/>
        </p:nvSpPr>
        <p:spPr>
          <a:xfrm>
            <a:off x="386535" y="2531689"/>
            <a:ext cx="8370930" cy="1766637"/>
          </a:xfrm>
          <a:prstGeom prst="rect">
            <a:avLst/>
          </a:prstGeom>
        </p:spPr>
        <p:txBody>
          <a:bodyPr wrap="square">
            <a:spAutoFit/>
          </a:bodyPr>
          <a:lstStyle/>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取初值</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a:t>
            </a:r>
            <a:r>
              <a:rPr lang="en-US" altLang="zh-CN" sz="3200" dirty="0">
                <a:solidFill>
                  <a:srgbClr val="006699"/>
                </a:solidFill>
                <a:latin typeface="Verdana" panose="020B0604030504040204" pitchFamily="34" charset="0"/>
              </a:rPr>
              <a:t>=7, </a:t>
            </a: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数列为</a:t>
            </a:r>
            <a:r>
              <a:rPr lang="en-US" altLang="zh-CN" sz="3200" dirty="0">
                <a:solidFill>
                  <a:srgbClr val="006699"/>
                </a:solidFill>
                <a:latin typeface="Verdana" panose="020B0604030504040204" pitchFamily="34" charset="0"/>
              </a:rPr>
              <a:t>: (7, 6, 9, 0, 7, 6, 9, 0, 7,…), </a:t>
            </a: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周期为</a:t>
            </a:r>
            <a:r>
              <a:rPr lang="en-US" altLang="zh-CN" sz="3200" dirty="0">
                <a:solidFill>
                  <a:srgbClr val="006699"/>
                </a:solidFill>
                <a:latin typeface="Verdana" panose="020B0604030504040204" pitchFamily="34" charset="0"/>
              </a:rPr>
              <a:t>T=4 &lt; M=10</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695208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521550" y="953725"/>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5.3 </a:t>
            </a:r>
            <a:r>
              <a:rPr lang="zh-CN" altLang="en-US" sz="3200" dirty="0">
                <a:solidFill>
                  <a:srgbClr val="006699"/>
                </a:solidFill>
                <a:latin typeface="Verdana" panose="020B0604030504040204" pitchFamily="34" charset="0"/>
              </a:rPr>
              <a:t>考虑线性同余发生器</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CB22342-4220-4020-8C64-930116FC7378}"/>
                  </a:ext>
                </a:extLst>
              </p:cNvPr>
              <p:cNvSpPr/>
              <p:nvPr/>
            </p:nvSpPr>
            <p:spPr>
              <a:xfrm>
                <a:off x="1871700" y="1853825"/>
                <a:ext cx="474674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=5</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i="0">
                                  <a:latin typeface="Cambria Math" panose="02040503050406030204" pitchFamily="18" charset="0"/>
                                </a:rPr>
                                <m:t>−1</m:t>
                              </m:r>
                            </m:sub>
                          </m:sSub>
                          <m:r>
                            <a:rPr lang="zh-CN" altLang="en-US" sz="3200" i="0">
                              <a:latin typeface="Cambria Math" panose="02040503050406030204" pitchFamily="18" charset="0"/>
                            </a:rPr>
                            <m:t>+1(</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0">
                              <a:latin typeface="Cambria Math" panose="02040503050406030204" pitchFamily="18" charset="0"/>
                            </a:rPr>
                            <m:t>10</m:t>
                          </m:r>
                        </m:e>
                      </m:d>
                    </m:oMath>
                  </m:oMathPara>
                </a14:m>
                <a:endParaRPr lang="zh-CN" altLang="en-US" sz="3200" dirty="0"/>
              </a:p>
            </p:txBody>
          </p:sp>
        </mc:Choice>
        <mc:Fallback xmlns="">
          <p:sp>
            <p:nvSpPr>
              <p:cNvPr id="2" name="矩形 1">
                <a:extLst>
                  <a:ext uri="{FF2B5EF4-FFF2-40B4-BE49-F238E27FC236}">
                    <a16:creationId xmlns:a16="http://schemas.microsoft.com/office/drawing/2014/main" id="{6CB22342-4220-4020-8C64-930116FC7378}"/>
                  </a:ext>
                </a:extLst>
              </p:cNvPr>
              <p:cNvSpPr>
                <a:spLocks noRot="1" noChangeAspect="1" noMove="1" noResize="1" noEditPoints="1" noAdjustHandles="1" noChangeArrowheads="1" noChangeShapeType="1" noTextEdit="1"/>
              </p:cNvSpPr>
              <p:nvPr/>
            </p:nvSpPr>
            <p:spPr>
              <a:xfrm>
                <a:off x="1871700" y="1853825"/>
                <a:ext cx="4746749" cy="584775"/>
              </a:xfrm>
              <a:prstGeom prst="rect">
                <a:avLst/>
              </a:prstGeom>
              <a:blipFill>
                <a:blip r:embed="rId2"/>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F104CB37-7A25-42F0-A0F1-3D32962EDAD3}"/>
              </a:ext>
            </a:extLst>
          </p:cNvPr>
          <p:cNvSpPr/>
          <p:nvPr/>
        </p:nvSpPr>
        <p:spPr>
          <a:xfrm>
            <a:off x="1376645" y="3429000"/>
            <a:ext cx="7290810" cy="1766637"/>
          </a:xfrm>
          <a:prstGeom prst="rect">
            <a:avLst/>
          </a:prstGeom>
        </p:spPr>
        <p:txBody>
          <a:bodyPr wrap="square">
            <a:spAutoFit/>
          </a:bodyPr>
          <a:lstStyle/>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取初值</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a:t>
            </a:r>
            <a:r>
              <a:rPr lang="en-US" altLang="zh-CN" sz="32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数列为</a:t>
            </a:r>
            <a:r>
              <a:rPr lang="en-US" altLang="zh-CN" sz="3200" dirty="0">
                <a:solidFill>
                  <a:srgbClr val="006699"/>
                </a:solidFill>
                <a:latin typeface="Verdana" panose="020B0604030504040204" pitchFamily="34" charset="0"/>
              </a:rPr>
              <a:t>: (1, 6, 1, 6, 1, …)</a:t>
            </a: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周期</a:t>
            </a:r>
            <a:r>
              <a:rPr lang="en-US" altLang="zh-CN" sz="3200" dirty="0">
                <a:solidFill>
                  <a:srgbClr val="006699"/>
                </a:solidFill>
                <a:latin typeface="Verdana" panose="020B0604030504040204" pitchFamily="34" charset="0"/>
              </a:rPr>
              <a:t>T=2</a:t>
            </a:r>
          </a:p>
        </p:txBody>
      </p:sp>
    </p:spTree>
    <p:extLst>
      <p:ext uri="{BB962C8B-B14F-4D97-AF65-F5344CB8AC3E}">
        <p14:creationId xmlns:p14="http://schemas.microsoft.com/office/powerpoint/2010/main" val="28302012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2.2.1 </a:t>
            </a:r>
            <a:r>
              <a:rPr lang="zh-CN" altLang="en-US" dirty="0"/>
              <a:t>线性同余发生器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73885" y="1048845"/>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5.4 </a:t>
            </a:r>
            <a:r>
              <a:rPr lang="zh-CN" altLang="en-US" sz="3200" dirty="0">
                <a:solidFill>
                  <a:srgbClr val="006699"/>
                </a:solidFill>
                <a:latin typeface="Verdana" panose="020B0604030504040204" pitchFamily="34" charset="0"/>
              </a:rPr>
              <a:t>考虑线性同余发生器</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864FACB2-AE5F-4410-84B5-56AEE78814B8}"/>
                  </a:ext>
                </a:extLst>
              </p:cNvPr>
              <p:cNvSpPr/>
              <p:nvPr/>
            </p:nvSpPr>
            <p:spPr>
              <a:xfrm>
                <a:off x="2099789" y="1633620"/>
                <a:ext cx="451912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200" i="1">
                              <a:latin typeface="Cambria Math" panose="02040503050406030204" pitchFamily="18" charset="0"/>
                            </a:rPr>
                          </m:ctrlPr>
                        </m:mPr>
                        <m:mr>
                          <m:e>
                            <m:m>
                              <m:mPr>
                                <m:plcHide m:val="on"/>
                                <m:mcs>
                                  <m:mc>
                                    <m:mcPr>
                                      <m:count m:val="1"/>
                                      <m:mcJc m:val="center"/>
                                    </m:mcPr>
                                  </m:mc>
                                </m:mcs>
                                <m:ctrlPr>
                                  <a:rPr lang="zh-CN" altLang="en-US" sz="3200" i="1">
                                    <a:latin typeface="Cambria Math" panose="02040503050406030204" pitchFamily="18" charset="0"/>
                                  </a:rPr>
                                </m:ctrlPr>
                              </m:mPr>
                              <m:mr>
                                <m:e>
                                  <m:d>
                                    <m:dPr>
                                      <m:beg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=5</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i="0">
                                              <a:latin typeface="Cambria Math" panose="02040503050406030204" pitchFamily="18" charset="0"/>
                                            </a:rPr>
                                            <m:t>−1</m:t>
                                          </m:r>
                                        </m:sub>
                                      </m:sSub>
                                      <m:r>
                                        <a:rPr lang="zh-CN" altLang="en-US" sz="3200" i="0">
                                          <a:latin typeface="Cambria Math" panose="02040503050406030204" pitchFamily="18" charset="0"/>
                                        </a:rPr>
                                        <m:t>+1(</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0">
                                          <a:latin typeface="Cambria Math" panose="02040503050406030204" pitchFamily="18" charset="0"/>
                                        </a:rPr>
                                        <m:t>8</m:t>
                                      </m:r>
                                    </m:e>
                                  </m:d>
                                </m:e>
                              </m:mr>
                            </m:m>
                          </m:e>
                        </m:mr>
                      </m:m>
                    </m:oMath>
                  </m:oMathPara>
                </a14:m>
                <a:endParaRPr lang="zh-CN" altLang="en-US" sz="3200" dirty="0"/>
              </a:p>
            </p:txBody>
          </p:sp>
        </mc:Choice>
        <mc:Fallback xmlns="">
          <p:sp>
            <p:nvSpPr>
              <p:cNvPr id="3" name="矩形 2">
                <a:extLst>
                  <a:ext uri="{FF2B5EF4-FFF2-40B4-BE49-F238E27FC236}">
                    <a16:creationId xmlns:a16="http://schemas.microsoft.com/office/drawing/2014/main" id="{864FACB2-AE5F-4410-84B5-56AEE78814B8}"/>
                  </a:ext>
                </a:extLst>
              </p:cNvPr>
              <p:cNvSpPr>
                <a:spLocks noRot="1" noChangeAspect="1" noMove="1" noResize="1" noEditPoints="1" noAdjustHandles="1" noChangeArrowheads="1" noChangeShapeType="1" noTextEdit="1"/>
              </p:cNvSpPr>
              <p:nvPr/>
            </p:nvSpPr>
            <p:spPr>
              <a:xfrm>
                <a:off x="2099789" y="1633620"/>
                <a:ext cx="4519122" cy="584775"/>
              </a:xfrm>
              <a:prstGeom prst="rect">
                <a:avLst/>
              </a:prstGeom>
              <a:blipFill>
                <a:blip r:embed="rId2"/>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157287C0-2061-497F-809B-E600988CE83E}"/>
              </a:ext>
            </a:extLst>
          </p:cNvPr>
          <p:cNvSpPr/>
          <p:nvPr/>
        </p:nvSpPr>
        <p:spPr>
          <a:xfrm>
            <a:off x="386534" y="2397949"/>
            <a:ext cx="8757465" cy="1766637"/>
          </a:xfrm>
          <a:prstGeom prst="rect">
            <a:avLst/>
          </a:prstGeom>
        </p:spPr>
        <p:txBody>
          <a:bodyPr wrap="square">
            <a:spAutoFit/>
          </a:bodyPr>
          <a:lstStyle/>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取初值</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a:t>
            </a:r>
            <a:r>
              <a:rPr lang="en-US" altLang="zh-CN" sz="3200" dirty="0">
                <a:solidFill>
                  <a:srgbClr val="006699"/>
                </a:solidFill>
                <a:latin typeface="Verdana" panose="020B0604030504040204" pitchFamily="34" charset="0"/>
              </a:rPr>
              <a:t>=1</a:t>
            </a: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数列为</a:t>
            </a:r>
            <a:r>
              <a:rPr lang="en-US" altLang="zh-CN" sz="3200" dirty="0">
                <a:solidFill>
                  <a:srgbClr val="006699"/>
                </a:solidFill>
                <a:latin typeface="Verdana" panose="020B0604030504040204" pitchFamily="34" charset="0"/>
              </a:rPr>
              <a:t>(1, 6, 7, 4, 5, 2, 3, 0, 1, 6, 7,…)</a:t>
            </a: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周期</a:t>
            </a:r>
            <a:r>
              <a:rPr lang="en-US" altLang="zh-CN" sz="3200" dirty="0">
                <a:solidFill>
                  <a:srgbClr val="006699"/>
                </a:solidFill>
                <a:latin typeface="Verdana" panose="020B0604030504040204" pitchFamily="34" charset="0"/>
              </a:rPr>
              <a:t>T=8=M</a:t>
            </a:r>
            <a:r>
              <a:rPr lang="zh-CN" altLang="en-US" sz="3200" dirty="0">
                <a:solidFill>
                  <a:srgbClr val="006699"/>
                </a:solidFill>
                <a:latin typeface="Verdana" panose="020B0604030504040204" pitchFamily="34" charset="0"/>
              </a:rPr>
              <a:t>达最大周期（</a:t>
            </a:r>
            <a:r>
              <a:rPr lang="zh-CN" altLang="en-US" sz="3200" b="1" dirty="0">
                <a:solidFill>
                  <a:srgbClr val="FF0000"/>
                </a:solidFill>
                <a:latin typeface="Verdana" panose="020B0604030504040204" pitchFamily="34" charset="0"/>
              </a:rPr>
              <a:t>满周期</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3211183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2.2.2 </a:t>
            </a:r>
            <a:r>
              <a:rPr lang="zh-CN" altLang="en-US" dirty="0"/>
              <a:t>混合同余发生器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06515" y="1216086"/>
            <a:ext cx="8370930" cy="442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线性同余发生器中</a:t>
            </a:r>
            <a:r>
              <a:rPr lang="en-US" altLang="zh-CN" sz="3200" dirty="0">
                <a:solidFill>
                  <a:srgbClr val="006699"/>
                </a:solidFill>
                <a:latin typeface="Verdana" panose="020B0604030504040204" pitchFamily="34" charset="0"/>
              </a:rPr>
              <a:t>c&gt;0</a:t>
            </a:r>
            <a:r>
              <a:rPr lang="zh-CN" altLang="en-US" sz="3200" dirty="0">
                <a:solidFill>
                  <a:srgbClr val="006699"/>
                </a:solidFill>
                <a:latin typeface="Verdana" panose="020B0604030504040204" pitchFamily="34" charset="0"/>
              </a:rPr>
              <a:t>时称为</a:t>
            </a:r>
            <a:r>
              <a:rPr lang="zh-CN" altLang="en-US" sz="3200" b="1" dirty="0">
                <a:solidFill>
                  <a:srgbClr val="FF0000"/>
                </a:solidFill>
                <a:latin typeface="Verdana" panose="020B0604030504040204" pitchFamily="34" charset="0"/>
              </a:rPr>
              <a:t>混合同余发生器</a:t>
            </a:r>
          </a:p>
          <a:p>
            <a:pPr eaLnBrk="1" hangingPunct="1">
              <a:spcBef>
                <a:spcPct val="20000"/>
              </a:spcBef>
              <a:buFontTx/>
              <a:buChar char="•"/>
            </a:pPr>
            <a:r>
              <a:rPr lang="zh-CN" altLang="en-US" sz="3200" b="1" dirty="0">
                <a:solidFill>
                  <a:srgbClr val="FF0000"/>
                </a:solidFill>
                <a:latin typeface="Verdana" panose="020B0604030504040204" pitchFamily="34" charset="0"/>
              </a:rPr>
              <a:t>定理</a:t>
            </a:r>
            <a:r>
              <a:rPr lang="en-US" altLang="zh-CN" sz="3200" b="1" dirty="0">
                <a:solidFill>
                  <a:srgbClr val="FF0000"/>
                </a:solidFill>
                <a:latin typeface="Verdana" panose="020B0604030504040204" pitchFamily="34" charset="0"/>
              </a:rPr>
              <a:t>5.1</a:t>
            </a:r>
            <a:r>
              <a:rPr lang="zh-CN" altLang="en-US" sz="3200" b="1" dirty="0">
                <a:solidFill>
                  <a:srgbClr val="FF0000"/>
                </a:solidFill>
                <a:latin typeface="Verdana" panose="020B0604030504040204" pitchFamily="34" charset="0"/>
              </a:rPr>
              <a:t> </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混合同余发生器达到满周期的一个充分条件</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当下列三个条件都满足时，混合同余发生器可以达到满周期</a:t>
            </a:r>
            <a:r>
              <a:rPr lang="en-US" altLang="zh-CN" sz="3200" dirty="0">
                <a:solidFill>
                  <a:srgbClr val="006699"/>
                </a:solidFill>
                <a:latin typeface="Verdana" panose="020B0604030504040204" pitchFamily="34" charset="0"/>
              </a:rPr>
              <a:t>:</a:t>
            </a:r>
          </a:p>
          <a:p>
            <a:pPr marL="0" indent="0" eaLnBrk="1" hangingPunct="1">
              <a:spcBef>
                <a:spcPct val="20000"/>
              </a:spcBef>
            </a:pPr>
            <a:r>
              <a:rPr lang="en-US" altLang="zh-CN" sz="3200" dirty="0">
                <a:solidFill>
                  <a:srgbClr val="006699"/>
                </a:solidFill>
                <a:latin typeface="Verdana" panose="020B0604030504040204" pitchFamily="34" charset="0"/>
              </a:rPr>
              <a:t>        1, c</a:t>
            </a:r>
            <a:r>
              <a:rPr lang="zh-CN" altLang="en-US" sz="3200" dirty="0">
                <a:solidFill>
                  <a:srgbClr val="006699"/>
                </a:solidFill>
                <a:latin typeface="Verdana" panose="020B0604030504040204" pitchFamily="34" charset="0"/>
              </a:rPr>
              <a:t>与</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互素</a:t>
            </a:r>
            <a:r>
              <a:rPr lang="en-US" altLang="zh-CN" sz="3200" dirty="0">
                <a:solidFill>
                  <a:srgbClr val="006699"/>
                </a:solidFill>
                <a:latin typeface="Verdana" panose="020B0604030504040204" pitchFamily="34" charset="0"/>
              </a:rPr>
              <a:t>;</a:t>
            </a:r>
          </a:p>
          <a:p>
            <a:pPr marL="0" indent="0" eaLnBrk="1" hangingPunct="1">
              <a:spcBef>
                <a:spcPct val="20000"/>
              </a:spcBef>
            </a:pPr>
            <a:r>
              <a:rPr lang="zh-CN" altLang="en-US" sz="3200" dirty="0">
                <a:solidFill>
                  <a:srgbClr val="006699"/>
                </a:solidFill>
                <a:latin typeface="Verdana" panose="020B0604030504040204" pitchFamily="34" charset="0"/>
              </a:rPr>
              <a:t>        </a:t>
            </a:r>
            <a:r>
              <a:rPr lang="en-US" altLang="zh-CN" sz="32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对</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的任一个素因子</a:t>
            </a:r>
            <a:r>
              <a:rPr lang="en-US" altLang="zh-CN" sz="3200" dirty="0">
                <a:solidFill>
                  <a:srgbClr val="006699"/>
                </a:solidFill>
                <a:latin typeface="Verdana" panose="020B0604030504040204" pitchFamily="34" charset="0"/>
              </a:rPr>
              <a:t>P</a:t>
            </a:r>
            <a:r>
              <a:rPr lang="zh-CN" altLang="en-US" sz="3200" dirty="0">
                <a:solidFill>
                  <a:srgbClr val="006699"/>
                </a:solidFill>
                <a:latin typeface="Verdana" panose="020B0604030504040204" pitchFamily="34" charset="0"/>
              </a:rPr>
              <a:t>，</a:t>
            </a:r>
            <a:r>
              <a:rPr lang="en-US" altLang="zh-CN" sz="3200" dirty="0">
                <a:solidFill>
                  <a:srgbClr val="006699"/>
                </a:solidFill>
                <a:latin typeface="Verdana" panose="020B0604030504040204" pitchFamily="34" charset="0"/>
              </a:rPr>
              <a:t>a-1</a:t>
            </a:r>
            <a:r>
              <a:rPr lang="zh-CN" altLang="en-US" sz="3200" dirty="0">
                <a:solidFill>
                  <a:srgbClr val="006699"/>
                </a:solidFill>
                <a:latin typeface="Verdana" panose="020B0604030504040204" pitchFamily="34" charset="0"/>
              </a:rPr>
              <a:t>被</a:t>
            </a:r>
            <a:r>
              <a:rPr lang="en-US" altLang="zh-CN" sz="3200" dirty="0">
                <a:solidFill>
                  <a:srgbClr val="006699"/>
                </a:solidFill>
                <a:latin typeface="Verdana" panose="020B0604030504040204" pitchFamily="34" charset="0"/>
              </a:rPr>
              <a:t>P</a:t>
            </a:r>
            <a:r>
              <a:rPr lang="zh-CN" altLang="en-US" sz="3200" dirty="0">
                <a:solidFill>
                  <a:srgbClr val="006699"/>
                </a:solidFill>
                <a:latin typeface="Verdana" panose="020B0604030504040204" pitchFamily="34" charset="0"/>
              </a:rPr>
              <a:t>整除</a:t>
            </a:r>
            <a:r>
              <a:rPr lang="en-US" altLang="zh-CN" sz="3200" dirty="0">
                <a:solidFill>
                  <a:srgbClr val="006699"/>
                </a:solidFill>
                <a:latin typeface="Verdana" panose="020B0604030504040204" pitchFamily="34" charset="0"/>
              </a:rPr>
              <a:t>;</a:t>
            </a:r>
          </a:p>
          <a:p>
            <a:pPr marL="0" indent="0" eaLnBrk="1" hangingPunct="1">
              <a:spcBef>
                <a:spcPct val="20000"/>
              </a:spcBef>
            </a:pPr>
            <a:r>
              <a:rPr lang="zh-CN" altLang="en-US" sz="3200" dirty="0">
                <a:solidFill>
                  <a:srgbClr val="006699"/>
                </a:solidFill>
                <a:latin typeface="Verdana" panose="020B0604030504040204" pitchFamily="34" charset="0"/>
              </a:rPr>
              <a:t>        </a:t>
            </a:r>
            <a:r>
              <a:rPr lang="en-US" altLang="zh-CN" sz="3200" dirty="0">
                <a:solidFill>
                  <a:srgbClr val="006699"/>
                </a:solidFill>
                <a:latin typeface="Verdana" panose="020B0604030504040204" pitchFamily="34" charset="0"/>
              </a:rPr>
              <a:t>3, </a:t>
            </a:r>
            <a:r>
              <a:rPr lang="zh-CN" altLang="en-US" sz="3200" dirty="0">
                <a:solidFill>
                  <a:srgbClr val="006699"/>
                </a:solidFill>
                <a:latin typeface="Verdana" panose="020B0604030504040204" pitchFamily="34" charset="0"/>
              </a:rPr>
              <a:t>如果</a:t>
            </a:r>
            <a:r>
              <a:rPr lang="en-US" altLang="zh-CN" sz="3200" dirty="0">
                <a:solidFill>
                  <a:srgbClr val="006699"/>
                </a:solidFill>
                <a:latin typeface="Verdana" panose="020B0604030504040204" pitchFamily="34" charset="0"/>
              </a:rPr>
              <a:t>4</a:t>
            </a:r>
            <a:r>
              <a:rPr lang="zh-CN" altLang="en-US" sz="3200" dirty="0">
                <a:solidFill>
                  <a:srgbClr val="006699"/>
                </a:solidFill>
                <a:latin typeface="Verdana" panose="020B0604030504040204" pitchFamily="34" charset="0"/>
              </a:rPr>
              <a:t>是</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的因子，则</a:t>
            </a:r>
            <a:r>
              <a:rPr lang="en-US" altLang="zh-CN" sz="3200" dirty="0">
                <a:solidFill>
                  <a:srgbClr val="006699"/>
                </a:solidFill>
                <a:latin typeface="Verdana" panose="020B0604030504040204" pitchFamily="34" charset="0"/>
              </a:rPr>
              <a:t>a-1</a:t>
            </a:r>
            <a:r>
              <a:rPr lang="zh-CN" altLang="en-US" sz="3200" dirty="0">
                <a:solidFill>
                  <a:srgbClr val="006699"/>
                </a:solidFill>
                <a:latin typeface="Verdana" panose="020B0604030504040204" pitchFamily="34" charset="0"/>
              </a:rPr>
              <a:t>被</a:t>
            </a:r>
            <a:r>
              <a:rPr lang="en-US" altLang="zh-CN" sz="3200" dirty="0">
                <a:solidFill>
                  <a:srgbClr val="006699"/>
                </a:solidFill>
                <a:latin typeface="Verdana" panose="020B0604030504040204" pitchFamily="34" charset="0"/>
              </a:rPr>
              <a:t>4</a:t>
            </a:r>
            <a:r>
              <a:rPr lang="zh-CN" altLang="en-US" sz="3200" dirty="0">
                <a:solidFill>
                  <a:srgbClr val="006699"/>
                </a:solidFill>
                <a:latin typeface="Verdana" panose="020B0604030504040204" pitchFamily="34" charset="0"/>
              </a:rPr>
              <a:t>整除。</a:t>
            </a:r>
          </a:p>
        </p:txBody>
      </p:sp>
    </p:spTree>
    <p:extLst>
      <p:ext uri="{BB962C8B-B14F-4D97-AF65-F5344CB8AC3E}">
        <p14:creationId xmlns:p14="http://schemas.microsoft.com/office/powerpoint/2010/main" val="29778481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2.2.2 </a:t>
            </a:r>
            <a:r>
              <a:rPr lang="zh-CN" altLang="en-US" dirty="0"/>
              <a:t>混合同余发生器</a:t>
            </a:r>
          </a:p>
        </p:txBody>
      </p:sp>
      <p:pic>
        <p:nvPicPr>
          <p:cNvPr id="8" name="图片 7">
            <a:extLst>
              <a:ext uri="{FF2B5EF4-FFF2-40B4-BE49-F238E27FC236}">
                <a16:creationId xmlns:a16="http://schemas.microsoft.com/office/drawing/2014/main" id="{81BBE2B7-CB69-4DF8-B8A5-34706B9CC7BF}"/>
              </a:ext>
            </a:extLst>
          </p:cNvPr>
          <p:cNvPicPr>
            <a:picLocks noChangeAspect="1"/>
          </p:cNvPicPr>
          <p:nvPr/>
        </p:nvPicPr>
        <p:blipFill>
          <a:blip r:embed="rId2"/>
          <a:stretch>
            <a:fillRect/>
          </a:stretch>
        </p:blipFill>
        <p:spPr>
          <a:xfrm>
            <a:off x="276205" y="2528900"/>
            <a:ext cx="4373666" cy="1125125"/>
          </a:xfrm>
          <a:prstGeom prst="rect">
            <a:avLst/>
          </a:prstGeom>
        </p:spPr>
      </p:pic>
      <p:pic>
        <p:nvPicPr>
          <p:cNvPr id="9" name="图片 8">
            <a:extLst>
              <a:ext uri="{FF2B5EF4-FFF2-40B4-BE49-F238E27FC236}">
                <a16:creationId xmlns:a16="http://schemas.microsoft.com/office/drawing/2014/main" id="{48ED3EB1-62C2-4D3B-87CF-BA42CB9552F2}"/>
              </a:ext>
            </a:extLst>
          </p:cNvPr>
          <p:cNvPicPr>
            <a:picLocks noChangeAspect="1"/>
          </p:cNvPicPr>
          <p:nvPr/>
        </p:nvPicPr>
        <p:blipFill>
          <a:blip r:embed="rId3"/>
          <a:stretch>
            <a:fillRect/>
          </a:stretch>
        </p:blipFill>
        <p:spPr>
          <a:xfrm>
            <a:off x="276205" y="3969060"/>
            <a:ext cx="7014911" cy="1948794"/>
          </a:xfrm>
          <a:prstGeom prst="rect">
            <a:avLst/>
          </a:prstGeom>
        </p:spPr>
      </p:pic>
      <p:sp>
        <p:nvSpPr>
          <p:cNvPr id="6" name="文本框 5">
            <a:extLst>
              <a:ext uri="{FF2B5EF4-FFF2-40B4-BE49-F238E27FC236}">
                <a16:creationId xmlns:a16="http://schemas.microsoft.com/office/drawing/2014/main" id="{0095FC0D-E9B4-4652-8D7A-54377EC196E2}"/>
              </a:ext>
            </a:extLst>
          </p:cNvPr>
          <p:cNvSpPr txBox="1"/>
          <p:nvPr/>
        </p:nvSpPr>
        <p:spPr>
          <a:xfrm>
            <a:off x="254005" y="1340698"/>
            <a:ext cx="4690532" cy="584775"/>
          </a:xfrm>
          <a:prstGeom prst="rect">
            <a:avLst/>
          </a:prstGeom>
          <a:noFill/>
          <a:ln w="25400">
            <a:noFill/>
          </a:ln>
        </p:spPr>
        <p:txBody>
          <a:bodyPr wrap="square">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3200" b="0" i="1" u="none" strike="noStrike" kern="1200" cap="none" spc="0" normalizeH="0" baseline="0" noProof="0" dirty="0" err="1">
                <a:ln>
                  <a:noFill/>
                </a:ln>
                <a:solidFill>
                  <a:srgbClr val="006699"/>
                </a:solidFill>
                <a:effectLst/>
                <a:uLnTx/>
                <a:uFillTx/>
                <a:latin typeface="Verdana" panose="020B0604030504040204" pitchFamily="34" charset="0"/>
                <a:ea typeface="宋体" panose="02010600030101010101" pitchFamily="2" charset="-122"/>
                <a:cs typeface="+mn-cs"/>
              </a:rPr>
              <a:t>X</a:t>
            </a:r>
            <a:r>
              <a:rPr kumimoji="0" lang="en-US" altLang="zh-CN" sz="3200" b="0" i="0" u="none" strike="noStrike" kern="1200" cap="none" spc="0" normalizeH="0" baseline="-25000" noProof="0" dirty="0" err="1">
                <a:ln>
                  <a:noFill/>
                </a:ln>
                <a:solidFill>
                  <a:srgbClr val="006699"/>
                </a:solidFill>
                <a:effectLst/>
                <a:uLnTx/>
                <a:uFillTx/>
                <a:latin typeface="Verdana" panose="020B0604030504040204" pitchFamily="34" charset="0"/>
                <a:ea typeface="宋体" panose="02010600030101010101" pitchFamily="2" charset="-122"/>
                <a:cs typeface="+mn-cs"/>
              </a:rPr>
              <a:t>n</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的统计性质：</a:t>
            </a:r>
          </a:p>
        </p:txBody>
      </p:sp>
    </p:spTree>
    <p:extLst>
      <p:ext uri="{BB962C8B-B14F-4D97-AF65-F5344CB8AC3E}">
        <p14:creationId xmlns:p14="http://schemas.microsoft.com/office/powerpoint/2010/main" val="38314455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2.2.2 </a:t>
            </a:r>
            <a:r>
              <a:rPr lang="zh-CN" altLang="en-US" dirty="0"/>
              <a:t>混合同余发生器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41362" y="998730"/>
            <a:ext cx="8229600" cy="4622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于是当</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很大时，</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i="1" dirty="0">
                <a:solidFill>
                  <a:srgbClr val="006699"/>
                </a:solidFill>
                <a:latin typeface="Verdana" panose="020B0604030504040204" pitchFamily="34" charset="0"/>
              </a:rPr>
              <a:t>R</a:t>
            </a:r>
            <a:r>
              <a:rPr lang="en-US" altLang="zh-CN" sz="3200" baseline="-250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的统计性质</a:t>
            </a: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说明</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充分大时，生成的数列</a:t>
            </a:r>
            <a:r>
              <a:rPr lang="en-US" altLang="zh-CN" sz="3200" i="1" dirty="0">
                <a:solidFill>
                  <a:srgbClr val="006699"/>
                </a:solidFill>
                <a:latin typeface="Verdana" panose="020B0604030504040204" pitchFamily="34" charset="0"/>
              </a:rPr>
              <a:t>R</a:t>
            </a:r>
            <a:r>
              <a:rPr lang="en-US" altLang="zh-CN" sz="3200" baseline="-250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很接近于均匀分布</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E853F60-4E5B-49DE-B191-180210D21505}"/>
                  </a:ext>
                </a:extLst>
              </p:cNvPr>
              <p:cNvSpPr/>
              <p:nvPr/>
            </p:nvSpPr>
            <p:spPr>
              <a:xfrm>
                <a:off x="1691680" y="2258870"/>
                <a:ext cx="4474716" cy="200702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200" i="1">
                              <a:latin typeface="Cambria Math" panose="02040503050406030204" pitchFamily="18" charset="0"/>
                            </a:rPr>
                          </m:ctrlPr>
                        </m:mPr>
                        <m:mr>
                          <m:e>
                            <m:r>
                              <a:rPr lang="zh-CN" altLang="en-US" sz="3200" i="1">
                                <a:latin typeface="Cambria Math" panose="02040503050406030204" pitchFamily="18" charset="0"/>
                              </a:rPr>
                              <m:t>𝐸</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2</m:t>
                                </m:r>
                              </m:den>
                            </m:f>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2</m:t>
                                </m:r>
                                <m:r>
                                  <a:rPr lang="zh-CN" altLang="en-US" sz="3200" i="1">
                                    <a:latin typeface="Cambria Math" panose="02040503050406030204" pitchFamily="18" charset="0"/>
                                  </a:rPr>
                                  <m:t>𝑀</m:t>
                                </m:r>
                              </m:den>
                            </m:f>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2</m:t>
                                </m:r>
                              </m:den>
                            </m:f>
                          </m:e>
                        </m:mr>
                        <m:mr>
                          <m:e>
                            <m:r>
                              <m:rPr>
                                <m:nor/>
                              </m:rPr>
                              <a:rPr lang="zh-CN" altLang="en-US" sz="3200" i="1">
                                <a:latin typeface="Cambria Math" panose="02040503050406030204" pitchFamily="18" charset="0"/>
                              </a:rPr>
                              <m:t>Var</m:t>
                            </m:r>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12</m:t>
                                </m:r>
                              </m:den>
                            </m:f>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12</m:t>
                                </m:r>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𝑀</m:t>
                                    </m:r>
                                  </m:e>
                                  <m:sup>
                                    <m:r>
                                      <a:rPr lang="zh-CN" altLang="en-US" sz="3200" i="0">
                                        <a:latin typeface="Cambria Math" panose="02040503050406030204" pitchFamily="18" charset="0"/>
                                      </a:rPr>
                                      <m:t>2</m:t>
                                    </m:r>
                                  </m:sup>
                                </m:sSup>
                              </m:den>
                            </m:f>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12</m:t>
                                </m:r>
                              </m:den>
                            </m:f>
                          </m:e>
                        </m:mr>
                      </m:m>
                    </m:oMath>
                  </m:oMathPara>
                </a14:m>
                <a:endParaRPr lang="zh-CN" altLang="en-US" dirty="0"/>
              </a:p>
            </p:txBody>
          </p:sp>
        </mc:Choice>
        <mc:Fallback xmlns="">
          <p:sp>
            <p:nvSpPr>
              <p:cNvPr id="2" name="矩形 1">
                <a:extLst>
                  <a:ext uri="{FF2B5EF4-FFF2-40B4-BE49-F238E27FC236}">
                    <a16:creationId xmlns:a16="http://schemas.microsoft.com/office/drawing/2014/main" id="{5E853F60-4E5B-49DE-B191-180210D21505}"/>
                  </a:ext>
                </a:extLst>
              </p:cNvPr>
              <p:cNvSpPr>
                <a:spLocks noRot="1" noChangeAspect="1" noMove="1" noResize="1" noEditPoints="1" noAdjustHandles="1" noChangeArrowheads="1" noChangeShapeType="1" noTextEdit="1"/>
              </p:cNvSpPr>
              <p:nvPr/>
            </p:nvSpPr>
            <p:spPr>
              <a:xfrm>
                <a:off x="1691680" y="2258870"/>
                <a:ext cx="4474716" cy="2007024"/>
              </a:xfrm>
              <a:prstGeom prst="rect">
                <a:avLst/>
              </a:prstGeom>
              <a:blipFill>
                <a:blip r:embed="rId2"/>
                <a:stretch>
                  <a:fillRect r="-104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53527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AE81B03-3897-486A-8B1A-B1B3FC263C65}"/>
              </a:ext>
            </a:extLst>
          </p:cNvPr>
          <p:cNvSpPr txBox="1"/>
          <p:nvPr/>
        </p:nvSpPr>
        <p:spPr>
          <a:xfrm>
            <a:off x="296525" y="1133745"/>
            <a:ext cx="9144000" cy="1077218"/>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t>满周期的混合同余发生器序列中前后两项自相关系数的近似公式</a:t>
            </a:r>
          </a:p>
        </p:txBody>
      </p:sp>
      <p:sp>
        <p:nvSpPr>
          <p:cNvPr id="7" name="文本框 6">
            <a:extLst>
              <a:ext uri="{FF2B5EF4-FFF2-40B4-BE49-F238E27FC236}">
                <a16:creationId xmlns:a16="http://schemas.microsoft.com/office/drawing/2014/main" id="{923E43BB-969B-4795-9670-0309CF0919EA}"/>
              </a:ext>
            </a:extLst>
          </p:cNvPr>
          <p:cNvSpPr txBox="1"/>
          <p:nvPr/>
        </p:nvSpPr>
        <p:spPr>
          <a:xfrm>
            <a:off x="316697" y="4354650"/>
            <a:ext cx="4724400" cy="584775"/>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latin typeface="+mn-lt"/>
              </a:rPr>
              <a:t>应该选</a:t>
            </a:r>
            <a:r>
              <a:rPr lang="en-US" altLang="zh-CN" sz="3200" dirty="0">
                <a:latin typeface="+mn-lt"/>
              </a:rPr>
              <a:t>a</a:t>
            </a:r>
            <a:r>
              <a:rPr lang="zh-CN" altLang="en-US" sz="3200" dirty="0">
                <a:latin typeface="+mn-lt"/>
              </a:rPr>
              <a:t>值大</a:t>
            </a:r>
            <a:r>
              <a:rPr lang="en-US" altLang="zh-CN" sz="3200" dirty="0">
                <a:latin typeface="+mn-lt"/>
              </a:rPr>
              <a:t>(</a:t>
            </a:r>
            <a:r>
              <a:rPr lang="zh-CN" altLang="en-US" sz="3200" dirty="0">
                <a:latin typeface="+mn-lt"/>
              </a:rPr>
              <a:t>但</a:t>
            </a:r>
            <a:r>
              <a:rPr lang="en-US" altLang="zh-CN" sz="3200" dirty="0">
                <a:latin typeface="+mn-lt"/>
              </a:rPr>
              <a:t>a&lt;M)</a:t>
            </a:r>
            <a:endParaRPr lang="zh-CN" altLang="en-US" sz="3200" dirty="0">
              <a:latin typeface="+mn-lt"/>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A57BFCF-954E-420C-9E79-B63437F0AD12}"/>
                  </a:ext>
                </a:extLst>
              </p:cNvPr>
              <p:cNvSpPr txBox="1"/>
              <p:nvPr/>
            </p:nvSpPr>
            <p:spPr>
              <a:xfrm>
                <a:off x="1376645" y="2831945"/>
                <a:ext cx="5664950" cy="901722"/>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𝜌</m:t>
                      </m:r>
                      <m:d>
                        <m:dPr>
                          <m:ctrlPr>
                            <a:rPr lang="zh-CN" altLang="en-US" sz="2800" i="1">
                              <a:latin typeface="Cambria Math" panose="02040503050406030204" pitchFamily="18" charset="0"/>
                            </a:rPr>
                          </m:ctrlPr>
                        </m:dPr>
                        <m:e>
                          <m:r>
                            <a:rPr lang="zh-CN" altLang="en-US" sz="2800" i="0">
                              <a:latin typeface="Cambria Math" panose="02040503050406030204" pitchFamily="18" charset="0"/>
                            </a:rPr>
                            <m:t>1</m:t>
                          </m:r>
                        </m:e>
                      </m:d>
                      <m:r>
                        <a:rPr lang="zh-CN" altLang="en-US" sz="2800" i="0">
                          <a:latin typeface="Cambria Math" panose="02040503050406030204" pitchFamily="18" charset="0"/>
                        </a:rPr>
                        <m:t>≈</m:t>
                      </m:r>
                      <m:f>
                        <m:fPr>
                          <m:ctrlPr>
                            <a:rPr lang="zh-CN" altLang="en-US" sz="2800" i="1">
                              <a:solidFill>
                                <a:srgbClr val="836967"/>
                              </a:solidFill>
                              <a:latin typeface="Cambria Math" panose="02040503050406030204" pitchFamily="18" charset="0"/>
                            </a:rPr>
                          </m:ctrlPr>
                        </m:fPr>
                        <m:num>
                          <m:r>
                            <a:rPr lang="zh-CN" altLang="en-US" sz="2800" i="0">
                              <a:latin typeface="Cambria Math" panose="02040503050406030204" pitchFamily="18" charset="0"/>
                            </a:rPr>
                            <m:t>1</m:t>
                          </m:r>
                        </m:num>
                        <m:den>
                          <m:r>
                            <a:rPr lang="zh-CN" altLang="en-US" sz="2800" i="1">
                              <a:latin typeface="Cambria Math" panose="02040503050406030204" pitchFamily="18" charset="0"/>
                            </a:rPr>
                            <m:t>𝑎</m:t>
                          </m:r>
                        </m:den>
                      </m:f>
                      <m:r>
                        <a:rPr lang="zh-CN" altLang="en-US" sz="2800" i="0">
                          <a:latin typeface="Cambria Math" panose="02040503050406030204" pitchFamily="18" charset="0"/>
                        </a:rPr>
                        <m:t>−</m:t>
                      </m:r>
                      <m:f>
                        <m:fPr>
                          <m:ctrlPr>
                            <a:rPr lang="zh-CN" altLang="en-US" sz="2800" i="1">
                              <a:solidFill>
                                <a:srgbClr val="836967"/>
                              </a:solidFill>
                              <a:latin typeface="Cambria Math" panose="02040503050406030204" pitchFamily="18" charset="0"/>
                            </a:rPr>
                          </m:ctrlPr>
                        </m:fPr>
                        <m:num>
                          <m:r>
                            <a:rPr lang="zh-CN" altLang="en-US" sz="2800" i="0">
                              <a:latin typeface="Cambria Math" panose="02040503050406030204" pitchFamily="18" charset="0"/>
                            </a:rPr>
                            <m:t>6</m:t>
                          </m:r>
                          <m:r>
                            <a:rPr lang="zh-CN" altLang="en-US" sz="2800" i="1">
                              <a:latin typeface="Cambria Math" panose="02040503050406030204" pitchFamily="18" charset="0"/>
                            </a:rPr>
                            <m:t>𝑐</m:t>
                          </m:r>
                        </m:num>
                        <m:den>
                          <m:r>
                            <a:rPr lang="zh-CN" altLang="en-US" sz="2800" i="1">
                              <a:latin typeface="Cambria Math" panose="02040503050406030204" pitchFamily="18" charset="0"/>
                            </a:rPr>
                            <m:t>𝑎𝑀</m:t>
                          </m:r>
                        </m:den>
                      </m:f>
                      <m:d>
                        <m:dPr>
                          <m:ctrlPr>
                            <a:rPr lang="zh-CN" altLang="en-US" sz="2800" i="1">
                              <a:latin typeface="Cambria Math" panose="02040503050406030204" pitchFamily="18" charset="0"/>
                            </a:rPr>
                          </m:ctrlPr>
                        </m:dPr>
                        <m:e>
                          <m:r>
                            <a:rPr lang="zh-CN" altLang="en-US" sz="2800" i="0">
                              <a:latin typeface="Cambria Math" panose="02040503050406030204" pitchFamily="18" charset="0"/>
                            </a:rPr>
                            <m:t>1−</m:t>
                          </m:r>
                          <m:f>
                            <m:fPr>
                              <m:ctrlPr>
                                <a:rPr lang="zh-CN" altLang="en-US" sz="2800" i="1">
                                  <a:solidFill>
                                    <a:srgbClr val="836967"/>
                                  </a:solidFill>
                                  <a:latin typeface="Cambria Math" panose="02040503050406030204" pitchFamily="18" charset="0"/>
                                </a:rPr>
                              </m:ctrlPr>
                            </m:fPr>
                            <m:num>
                              <m:r>
                                <a:rPr lang="zh-CN" altLang="en-US" sz="2800" i="1">
                                  <a:latin typeface="Cambria Math" panose="02040503050406030204" pitchFamily="18" charset="0"/>
                                </a:rPr>
                                <m:t>𝑐</m:t>
                              </m:r>
                            </m:num>
                            <m:den>
                              <m:r>
                                <a:rPr lang="zh-CN" altLang="en-US" sz="2800" i="1">
                                  <a:latin typeface="Cambria Math" panose="02040503050406030204" pitchFamily="18" charset="0"/>
                                </a:rPr>
                                <m:t>𝑀</m:t>
                              </m:r>
                            </m:den>
                          </m:f>
                        </m:e>
                      </m:d>
                    </m:oMath>
                  </m:oMathPara>
                </a14:m>
                <a:endParaRPr lang="zh-CN" altLang="en-US" sz="2800" dirty="0"/>
              </a:p>
            </p:txBody>
          </p:sp>
        </mc:Choice>
        <mc:Fallback xmlns="">
          <p:sp>
            <p:nvSpPr>
              <p:cNvPr id="9" name="文本框 8">
                <a:extLst>
                  <a:ext uri="{FF2B5EF4-FFF2-40B4-BE49-F238E27FC236}">
                    <a16:creationId xmlns:a16="http://schemas.microsoft.com/office/drawing/2014/main" id="{9A57BFCF-954E-420C-9E79-B63437F0AD12}"/>
                  </a:ext>
                </a:extLst>
              </p:cNvPr>
              <p:cNvSpPr txBox="1">
                <a:spLocks noRot="1" noChangeAspect="1" noMove="1" noResize="1" noEditPoints="1" noAdjustHandles="1" noChangeArrowheads="1" noChangeShapeType="1" noTextEdit="1"/>
              </p:cNvSpPr>
              <p:nvPr/>
            </p:nvSpPr>
            <p:spPr>
              <a:xfrm>
                <a:off x="1376645" y="2831945"/>
                <a:ext cx="5664950" cy="901722"/>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55716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2.2.2 </a:t>
            </a:r>
            <a:r>
              <a:rPr lang="zh-CN" altLang="en-US" dirty="0"/>
              <a:t>混合同余发生器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953725"/>
            <a:ext cx="837093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5.5 Kobayashi</a:t>
            </a:r>
            <a:r>
              <a:rPr lang="zh-CN" altLang="en-US" sz="3200" dirty="0">
                <a:solidFill>
                  <a:srgbClr val="006699"/>
                </a:solidFill>
                <a:latin typeface="Verdana" panose="020B0604030504040204" pitchFamily="34" charset="0"/>
              </a:rPr>
              <a:t>提出了如下的满周期</a:t>
            </a:r>
            <a:r>
              <a:rPr lang="en-US" altLang="zh-CN" sz="3200" dirty="0">
                <a:solidFill>
                  <a:srgbClr val="006699"/>
                </a:solidFill>
                <a:latin typeface="Verdana" panose="020B0604030504040204" pitchFamily="34" charset="0"/>
              </a:rPr>
              <a:t>2</a:t>
            </a:r>
            <a:r>
              <a:rPr lang="en-US" altLang="zh-CN" sz="3200" baseline="30000" dirty="0">
                <a:solidFill>
                  <a:srgbClr val="006699"/>
                </a:solidFill>
                <a:latin typeface="Verdana" panose="020B0604030504040204" pitchFamily="34" charset="0"/>
              </a:rPr>
              <a:t>31</a:t>
            </a:r>
            <a:r>
              <a:rPr lang="zh-CN" altLang="en-US" sz="3200" dirty="0">
                <a:solidFill>
                  <a:srgbClr val="006699"/>
                </a:solidFill>
                <a:latin typeface="Verdana" panose="020B0604030504040204" pitchFamily="34" charset="0"/>
              </a:rPr>
              <a:t>的混合同余发生器</a:t>
            </a:r>
          </a:p>
        </p:txBody>
      </p:sp>
      <p:sp>
        <p:nvSpPr>
          <p:cNvPr id="3" name="矩形 2">
            <a:extLst>
              <a:ext uri="{FF2B5EF4-FFF2-40B4-BE49-F238E27FC236}">
                <a16:creationId xmlns:a16="http://schemas.microsoft.com/office/drawing/2014/main" id="{E09CD7C2-B865-4A7E-9203-821F4A0D8B1A}"/>
              </a:ext>
            </a:extLst>
          </p:cNvPr>
          <p:cNvSpPr/>
          <p:nvPr/>
        </p:nvSpPr>
        <p:spPr>
          <a:xfrm>
            <a:off x="597789" y="4227203"/>
            <a:ext cx="7002271" cy="584775"/>
          </a:xfrm>
          <a:prstGeom prst="rect">
            <a:avLst/>
          </a:prstGeom>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其周期较长，统计性质比较好</a:t>
            </a:r>
            <a:endParaRPr lang="zh-CN" altLang="en-US" dirty="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E70648F-F047-47BD-BD6E-CBD019DE3E0E}"/>
                  </a:ext>
                </a:extLst>
              </p:cNvPr>
              <p:cNvSpPr/>
              <p:nvPr/>
            </p:nvSpPr>
            <p:spPr>
              <a:xfrm>
                <a:off x="0" y="2973683"/>
                <a:ext cx="8892480"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a:latin typeface="Cambria Math" panose="02040503050406030204" pitchFamily="18" charset="0"/>
                            </a:rPr>
                            <m:t>=(314159269</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a:latin typeface="Cambria Math" panose="02040503050406030204" pitchFamily="18" charset="0"/>
                                </a:rPr>
                                <m:t>−1</m:t>
                              </m:r>
                            </m:sub>
                          </m:sSub>
                          <m:r>
                            <a:rPr lang="zh-CN" altLang="en-US" sz="3200" i="0">
                              <a:latin typeface="Cambria Math" panose="02040503050406030204" pitchFamily="18" charset="0"/>
                            </a:rPr>
                            <m:t>+453806245)(</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sSup>
                            <m:sSupPr>
                              <m:ctrlPr>
                                <a:rPr lang="zh-CN" altLang="en-US" sz="3200" i="1">
                                  <a:latin typeface="Cambria Math" panose="02040503050406030204" pitchFamily="18" charset="0"/>
                                </a:rPr>
                              </m:ctrlPr>
                            </m:sSupPr>
                            <m:e>
                              <m:r>
                                <a:rPr lang="zh-CN" altLang="en-US" sz="3200" i="0">
                                  <a:latin typeface="Cambria Math" panose="02040503050406030204" pitchFamily="18" charset="0"/>
                                </a:rPr>
                                <m:t>2</m:t>
                              </m:r>
                            </m:e>
                            <m:sup>
                              <m:r>
                                <a:rPr lang="zh-CN" altLang="en-US" sz="3200" i="0">
                                  <a:latin typeface="Cambria Math" panose="02040503050406030204" pitchFamily="18" charset="0"/>
                                </a:rPr>
                                <m:t>31</m:t>
                              </m:r>
                            </m:sup>
                          </m:sSup>
                        </m:e>
                      </m:d>
                    </m:oMath>
                  </m:oMathPara>
                </a14:m>
                <a:endParaRPr lang="zh-CN" altLang="en-US" dirty="0"/>
              </a:p>
            </p:txBody>
          </p:sp>
        </mc:Choice>
        <mc:Fallback xmlns="">
          <p:sp>
            <p:nvSpPr>
              <p:cNvPr id="4" name="矩形 3">
                <a:extLst>
                  <a:ext uri="{FF2B5EF4-FFF2-40B4-BE49-F238E27FC236}">
                    <a16:creationId xmlns:a16="http://schemas.microsoft.com/office/drawing/2014/main" id="{0E70648F-F047-47BD-BD6E-CBD019DE3E0E}"/>
                  </a:ext>
                </a:extLst>
              </p:cNvPr>
              <p:cNvSpPr>
                <a:spLocks noRot="1" noChangeAspect="1" noMove="1" noResize="1" noEditPoints="1" noAdjustHandles="1" noChangeArrowheads="1" noChangeShapeType="1" noTextEdit="1"/>
              </p:cNvSpPr>
              <p:nvPr/>
            </p:nvSpPr>
            <p:spPr>
              <a:xfrm>
                <a:off x="0" y="2973683"/>
                <a:ext cx="8892480"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83345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2.2.3 </a:t>
            </a:r>
            <a:r>
              <a:rPr lang="zh-CN" altLang="en-US" dirty="0"/>
              <a:t>乘同余法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线性同余发生器中</a:t>
            </a:r>
            <a:r>
              <a:rPr lang="en-US" altLang="zh-CN" sz="3200" dirty="0">
                <a:solidFill>
                  <a:srgbClr val="006699"/>
                </a:solidFill>
                <a:latin typeface="Verdana" panose="020B0604030504040204" pitchFamily="34" charset="0"/>
              </a:rPr>
              <a:t>c=0</a:t>
            </a:r>
            <a:r>
              <a:rPr lang="zh-CN" altLang="en-US" sz="3200" dirty="0">
                <a:solidFill>
                  <a:srgbClr val="006699"/>
                </a:solidFill>
                <a:latin typeface="Verdana" panose="020B0604030504040204" pitchFamily="34" charset="0"/>
              </a:rPr>
              <a:t>时的生成方法称为</a:t>
            </a:r>
            <a:r>
              <a:rPr lang="zh-CN" altLang="en-US" sz="3200" b="1" dirty="0">
                <a:solidFill>
                  <a:srgbClr val="FF0000"/>
                </a:solidFill>
                <a:latin typeface="Verdana" panose="020B0604030504040204" pitchFamily="34" charset="0"/>
              </a:rPr>
              <a:t>乘同余法</a:t>
            </a:r>
            <a:r>
              <a:rPr lang="zh-CN" altLang="en-US" sz="3200" dirty="0">
                <a:solidFill>
                  <a:srgbClr val="006699"/>
                </a:solidFill>
                <a:latin typeface="Verdana" panose="020B0604030504040204" pitchFamily="34" charset="0"/>
              </a:rPr>
              <a:t>，或称积式发生器。 </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这时的递推公式为</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3A7E5F9-9021-4BF0-AF3A-49269AB15B98}"/>
                  </a:ext>
                </a:extLst>
              </p:cNvPr>
              <p:cNvSpPr/>
              <p:nvPr/>
            </p:nvSpPr>
            <p:spPr>
              <a:xfrm>
                <a:off x="836585" y="2947448"/>
                <a:ext cx="596894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𝑎</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i="0">
                              <a:latin typeface="Cambria Math" panose="02040503050406030204" pitchFamily="18" charset="0"/>
                            </a:rPr>
                            <m:t>−1</m:t>
                          </m:r>
                        </m:sub>
                      </m:sSub>
                      <m:r>
                        <a:rPr lang="zh-CN" altLang="en-US" sz="3200" i="0">
                          <a:latin typeface="Cambria Math" panose="02040503050406030204" pitchFamily="18" charset="0"/>
                        </a:rPr>
                        <m:t>(</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1">
                          <a:latin typeface="Cambria Math" panose="02040503050406030204" pitchFamily="18" charset="0"/>
                        </a:rPr>
                        <m:t>𝑀</m:t>
                      </m:r>
                      <m:r>
                        <a:rPr lang="zh-CN" altLang="en-US" sz="3200" i="0">
                          <a:latin typeface="Cambria Math" panose="02040503050406030204" pitchFamily="18" charset="0"/>
                        </a:rPr>
                        <m:t>),</m:t>
                      </m:r>
                      <m:r>
                        <m:rPr>
                          <m:nor/>
                        </m:rPr>
                        <a:rPr lang="zh-CN" altLang="en-US" sz="3200" i="1">
                          <a:latin typeface="Cambria Math" panose="02040503050406030204" pitchFamily="18" charset="0"/>
                        </a:rPr>
                        <m:t> </m:t>
                      </m:r>
                      <m:r>
                        <a:rPr lang="zh-CN" altLang="en-US" sz="3200" i="1">
                          <a:latin typeface="Cambria Math" panose="02040503050406030204" pitchFamily="18" charset="0"/>
                        </a:rPr>
                        <m:t>𝑛</m:t>
                      </m:r>
                      <m:r>
                        <a:rPr lang="zh-CN" altLang="en-US" sz="3200" i="0">
                          <a:latin typeface="Cambria Math" panose="02040503050406030204" pitchFamily="18" charset="0"/>
                        </a:rPr>
                        <m:t>=1,2,…</m:t>
                      </m:r>
                    </m:oMath>
                  </m:oMathPara>
                </a14:m>
                <a:endParaRPr lang="zh-CN" altLang="en-US" sz="3200" dirty="0"/>
              </a:p>
            </p:txBody>
          </p:sp>
        </mc:Choice>
        <mc:Fallback xmlns="">
          <p:sp>
            <p:nvSpPr>
              <p:cNvPr id="2" name="矩形 1">
                <a:extLst>
                  <a:ext uri="{FF2B5EF4-FFF2-40B4-BE49-F238E27FC236}">
                    <a16:creationId xmlns:a16="http://schemas.microsoft.com/office/drawing/2014/main" id="{F3A7E5F9-9021-4BF0-AF3A-49269AB15B98}"/>
                  </a:ext>
                </a:extLst>
              </p:cNvPr>
              <p:cNvSpPr>
                <a:spLocks noRot="1" noChangeAspect="1" noMove="1" noResize="1" noEditPoints="1" noAdjustHandles="1" noChangeArrowheads="1" noChangeShapeType="1" noTextEdit="1"/>
              </p:cNvSpPr>
              <p:nvPr/>
            </p:nvSpPr>
            <p:spPr>
              <a:xfrm>
                <a:off x="836585" y="2947448"/>
                <a:ext cx="5968942" cy="58477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585BB74E-58C5-40F5-9BF9-187B6D33D409}"/>
                  </a:ext>
                </a:extLst>
              </p:cNvPr>
              <p:cNvSpPr/>
              <p:nvPr/>
            </p:nvSpPr>
            <p:spPr>
              <a:xfrm>
                <a:off x="971600" y="3924055"/>
                <a:ext cx="1733295" cy="9325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solidFill>
                                <a:prstClr val="black"/>
                              </a:solidFill>
                              <a:latin typeface="Cambria Math" panose="02040503050406030204" pitchFamily="18" charset="0"/>
                            </a:rPr>
                          </m:ctrlPr>
                        </m:sSubPr>
                        <m:e>
                          <m:r>
                            <a:rPr lang="zh-CN" altLang="en-US" sz="3200" i="1">
                              <a:solidFill>
                                <a:prstClr val="black"/>
                              </a:solidFill>
                              <a:latin typeface="Cambria Math" panose="02040503050406030204" pitchFamily="18" charset="0"/>
                            </a:rPr>
                            <m:t>𝑅</m:t>
                          </m:r>
                        </m:e>
                        <m:sub>
                          <m:r>
                            <a:rPr lang="zh-CN" altLang="en-US" sz="3200" i="1">
                              <a:solidFill>
                                <a:prstClr val="black"/>
                              </a:solidFill>
                              <a:latin typeface="Cambria Math" panose="02040503050406030204" pitchFamily="18" charset="0"/>
                            </a:rPr>
                            <m:t>𝑛</m:t>
                          </m:r>
                        </m:sub>
                      </m:sSub>
                      <m:r>
                        <a:rPr lang="zh-CN" altLang="en-US" sz="3200">
                          <a:solidFill>
                            <a:prstClr val="black"/>
                          </a:solidFill>
                          <a:latin typeface="Cambria Math" panose="02040503050406030204" pitchFamily="18" charset="0"/>
                        </a:rPr>
                        <m:t>=</m:t>
                      </m:r>
                      <m:f>
                        <m:fPr>
                          <m:ctrlPr>
                            <a:rPr lang="zh-CN" altLang="en-US" sz="3200" i="1">
                              <a:solidFill>
                                <a:prstClr val="black"/>
                              </a:solidFill>
                              <a:latin typeface="Cambria Math" panose="02040503050406030204" pitchFamily="18" charset="0"/>
                            </a:rPr>
                          </m:ctrlPr>
                        </m:fPr>
                        <m:num>
                          <m:sSub>
                            <m:sSubPr>
                              <m:ctrlPr>
                                <a:rPr lang="zh-CN" altLang="en-US" sz="3200" i="1">
                                  <a:solidFill>
                                    <a:prstClr val="black"/>
                                  </a:solidFill>
                                  <a:latin typeface="Cambria Math" panose="02040503050406030204" pitchFamily="18" charset="0"/>
                                </a:rPr>
                              </m:ctrlPr>
                            </m:sSubPr>
                            <m:e>
                              <m:r>
                                <a:rPr lang="zh-CN" altLang="en-US" sz="3200" i="1">
                                  <a:solidFill>
                                    <a:prstClr val="black"/>
                                  </a:solidFill>
                                  <a:latin typeface="Cambria Math" panose="02040503050406030204" pitchFamily="18" charset="0"/>
                                </a:rPr>
                                <m:t>𝑥</m:t>
                              </m:r>
                            </m:e>
                            <m:sub>
                              <m:r>
                                <a:rPr lang="zh-CN" altLang="en-US" sz="3200" i="1">
                                  <a:solidFill>
                                    <a:prstClr val="black"/>
                                  </a:solidFill>
                                  <a:latin typeface="Cambria Math" panose="02040503050406030204" pitchFamily="18" charset="0"/>
                                </a:rPr>
                                <m:t>𝑛</m:t>
                              </m:r>
                            </m:sub>
                          </m:sSub>
                        </m:num>
                        <m:den>
                          <m:r>
                            <a:rPr lang="zh-CN" altLang="en-US" sz="3200" i="1">
                              <a:solidFill>
                                <a:prstClr val="black"/>
                              </a:solidFill>
                              <a:latin typeface="Cambria Math" panose="02040503050406030204" pitchFamily="18" charset="0"/>
                            </a:rPr>
                            <m:t>𝑀</m:t>
                          </m:r>
                        </m:den>
                      </m:f>
                    </m:oMath>
                  </m:oMathPara>
                </a14:m>
                <a:endParaRPr lang="zh-CN" altLang="en-US" dirty="0"/>
              </a:p>
            </p:txBody>
          </p:sp>
        </mc:Choice>
        <mc:Fallback xmlns="">
          <p:sp>
            <p:nvSpPr>
              <p:cNvPr id="4" name="矩形 3">
                <a:extLst>
                  <a:ext uri="{FF2B5EF4-FFF2-40B4-BE49-F238E27FC236}">
                    <a16:creationId xmlns:a16="http://schemas.microsoft.com/office/drawing/2014/main" id="{585BB74E-58C5-40F5-9BF9-187B6D33D409}"/>
                  </a:ext>
                </a:extLst>
              </p:cNvPr>
              <p:cNvSpPr>
                <a:spLocks noRot="1" noChangeAspect="1" noMove="1" noResize="1" noEditPoints="1" noAdjustHandles="1" noChangeArrowheads="1" noChangeShapeType="1" noTextEdit="1"/>
              </p:cNvSpPr>
              <p:nvPr/>
            </p:nvSpPr>
            <p:spPr>
              <a:xfrm>
                <a:off x="971600" y="3924055"/>
                <a:ext cx="1733295" cy="932563"/>
              </a:xfrm>
              <a:prstGeom prst="rect">
                <a:avLst/>
              </a:prstGeom>
              <a:blipFill>
                <a:blip r:embed="rId3"/>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6EA0FBB4-8EB9-4B38-856E-DC68F1006697}"/>
              </a:ext>
            </a:extLst>
          </p:cNvPr>
          <p:cNvSpPr/>
          <p:nvPr/>
        </p:nvSpPr>
        <p:spPr>
          <a:xfrm>
            <a:off x="418894" y="4856618"/>
            <a:ext cx="8370929" cy="1077218"/>
          </a:xfrm>
          <a:prstGeom prst="rect">
            <a:avLst/>
          </a:prstGeom>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乘同余法能够达到的最大周期是</a:t>
            </a:r>
            <a:r>
              <a:rPr lang="en-US" altLang="zh-CN" sz="3200" dirty="0">
                <a:solidFill>
                  <a:srgbClr val="006699"/>
                </a:solidFill>
                <a:latin typeface="Verdana" panose="020B0604030504040204" pitchFamily="34" charset="0"/>
              </a:rPr>
              <a:t>M−1</a:t>
            </a: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每个</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都只在</a:t>
            </a:r>
            <a:r>
              <a:rPr lang="en-US" altLang="zh-CN" sz="3200" dirty="0">
                <a:solidFill>
                  <a:srgbClr val="006699"/>
                </a:solidFill>
                <a:latin typeface="Verdana" panose="020B0604030504040204" pitchFamily="34" charset="0"/>
              </a:rPr>
              <a:t>{</a:t>
            </a:r>
            <a:r>
              <a:rPr lang="en-US" altLang="zh-CN" sz="3200" b="1" dirty="0">
                <a:solidFill>
                  <a:srgbClr val="006699"/>
                </a:solidFill>
                <a:latin typeface="Verdana" panose="020B0604030504040204" pitchFamily="34" charset="0"/>
              </a:rPr>
              <a:t>1,2,…,M−1</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中取值。</a:t>
            </a:r>
            <a:endParaRPr lang="zh-CN" altLang="en-US" dirty="0"/>
          </a:p>
        </p:txBody>
      </p:sp>
    </p:spTree>
    <p:extLst>
      <p:ext uri="{BB962C8B-B14F-4D97-AF65-F5344CB8AC3E}">
        <p14:creationId xmlns:p14="http://schemas.microsoft.com/office/powerpoint/2010/main" val="1207992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2.2.3 </a:t>
            </a:r>
            <a:r>
              <a:rPr lang="zh-CN" altLang="en-US" dirty="0"/>
              <a:t>乘同余法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3834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定义</a:t>
            </a:r>
            <a:r>
              <a:rPr lang="en-US" altLang="zh-CN" sz="3200" dirty="0">
                <a:solidFill>
                  <a:srgbClr val="006699"/>
                </a:solidFill>
                <a:latin typeface="Verdana" panose="020B0604030504040204" pitchFamily="34" charset="0"/>
              </a:rPr>
              <a:t>5.2 (</a:t>
            </a:r>
            <a:r>
              <a:rPr lang="zh-CN" altLang="en-US" sz="3200" dirty="0">
                <a:solidFill>
                  <a:srgbClr val="006699"/>
                </a:solidFill>
                <a:latin typeface="Verdana" panose="020B0604030504040204" pitchFamily="34" charset="0"/>
              </a:rPr>
              <a:t>阶数</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设正整数</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与正整数</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互素， 称满足</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的最小正整数</a:t>
            </a:r>
            <a:r>
              <a:rPr lang="en-US" altLang="zh-CN" sz="3200" dirty="0">
                <a:solidFill>
                  <a:srgbClr val="006699"/>
                </a:solidFill>
                <a:latin typeface="Verdana" panose="020B0604030504040204" pitchFamily="34" charset="0"/>
              </a:rPr>
              <a:t>V</a:t>
            </a:r>
            <a:r>
              <a:rPr lang="zh-CN" altLang="en-US" sz="3200" dirty="0">
                <a:solidFill>
                  <a:srgbClr val="006699"/>
                </a:solidFill>
                <a:latin typeface="Verdana" panose="020B0604030504040204" pitchFamily="34" charset="0"/>
              </a:rPr>
              <a:t>为</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对模</a:t>
            </a:r>
            <a:r>
              <a:rPr lang="en-US" altLang="zh-CN" sz="3200" dirty="0">
                <a:solidFill>
                  <a:srgbClr val="006699"/>
                </a:solidFill>
                <a:latin typeface="Verdana" panose="020B0604030504040204" pitchFamily="34" charset="0"/>
              </a:rPr>
              <a:t>M </a:t>
            </a:r>
            <a:r>
              <a:rPr lang="zh-CN" altLang="en-US" sz="3200" dirty="0">
                <a:solidFill>
                  <a:srgbClr val="006699"/>
                </a:solidFill>
                <a:latin typeface="Verdana" panose="020B0604030504040204" pitchFamily="34" charset="0"/>
              </a:rPr>
              <a:t>的阶数</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或次数</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，简称为</a:t>
            </a:r>
            <a:r>
              <a:rPr lang="en-US" altLang="zh-CN" sz="3200" b="1" dirty="0">
                <a:solidFill>
                  <a:srgbClr val="FF0000"/>
                </a:solidFill>
                <a:latin typeface="Verdana" panose="020B0604030504040204" pitchFamily="34" charset="0"/>
              </a:rPr>
              <a:t>a</a:t>
            </a:r>
            <a:r>
              <a:rPr lang="zh-CN" altLang="en-US" sz="3200" b="1" dirty="0">
                <a:solidFill>
                  <a:srgbClr val="FF0000"/>
                </a:solidFill>
                <a:latin typeface="Verdana" panose="020B0604030504040204" pitchFamily="34" charset="0"/>
              </a:rPr>
              <a:t>的阶数</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b="1" dirty="0">
                <a:solidFill>
                  <a:srgbClr val="FF0000"/>
                </a:solidFill>
                <a:latin typeface="Verdana" panose="020B0604030504040204" pitchFamily="34" charset="0"/>
              </a:rPr>
              <a:t>Lemma 5.1 </a:t>
            </a:r>
            <a:r>
              <a:rPr lang="zh-CN" altLang="en-US" sz="3200" dirty="0">
                <a:solidFill>
                  <a:srgbClr val="006699"/>
                </a:solidFill>
                <a:latin typeface="Verdana" panose="020B0604030504040204" pitchFamily="34" charset="0"/>
              </a:rPr>
              <a:t>设</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与</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互素，初值</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0</a:t>
            </a:r>
            <a:r>
              <a:rPr lang="zh-CN" altLang="en-US" sz="3200" dirty="0">
                <a:solidFill>
                  <a:srgbClr val="006699"/>
                </a:solidFill>
                <a:latin typeface="Verdana" panose="020B0604030504040204" pitchFamily="34" charset="0"/>
              </a:rPr>
              <a:t>与</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互素， 则乘同余法的周期为</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对模</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的阶数</a:t>
            </a:r>
            <a:r>
              <a:rPr lang="en-US" altLang="zh-CN" sz="3200" dirty="0">
                <a:solidFill>
                  <a:srgbClr val="006699"/>
                </a:solidFill>
                <a:latin typeface="Verdana" panose="020B0604030504040204" pitchFamily="34" charset="0"/>
              </a:rPr>
              <a:t>V</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176E60D-1834-4728-855D-34C751C51076}"/>
                  </a:ext>
                </a:extLst>
              </p:cNvPr>
              <p:cNvSpPr/>
              <p:nvPr/>
            </p:nvSpPr>
            <p:spPr>
              <a:xfrm>
                <a:off x="2276745" y="1674270"/>
                <a:ext cx="3280450"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3200" i="1">
                              <a:latin typeface="Cambria Math" panose="02040503050406030204" pitchFamily="18" charset="0"/>
                            </a:rPr>
                          </m:ctrlPr>
                        </m:dPr>
                        <m:e>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𝑎</m:t>
                              </m:r>
                            </m:e>
                            <m:sup>
                              <m:r>
                                <a:rPr lang="zh-CN" altLang="en-US" sz="3200" i="1">
                                  <a:latin typeface="Cambria Math" panose="02040503050406030204" pitchFamily="18" charset="0"/>
                                </a:rPr>
                                <m:t>𝑉</m:t>
                              </m:r>
                            </m:sup>
                          </m:sSup>
                          <m:r>
                            <a:rPr lang="zh-CN" altLang="en-US" sz="3200" i="0">
                              <a:latin typeface="Cambria Math" panose="02040503050406030204" pitchFamily="18" charset="0"/>
                            </a:rPr>
                            <m:t>≡1</m:t>
                          </m:r>
                          <m:r>
                            <m:rPr>
                              <m:nor/>
                            </m:rPr>
                            <a:rPr lang="zh-CN" altLang="en-US" sz="3200" i="1">
                              <a:latin typeface="Cambria Math" panose="02040503050406030204" pitchFamily="18" charset="0"/>
                            </a:rPr>
                            <m:t> </m:t>
                          </m:r>
                          <m:r>
                            <a:rPr lang="zh-CN" altLang="en-US" sz="3200" i="0">
                              <a:latin typeface="Cambria Math" panose="02040503050406030204" pitchFamily="18" charset="0"/>
                            </a:rPr>
                            <m:t>(</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r>
                            <a:rPr lang="zh-CN" altLang="en-US" sz="3200" i="1">
                              <a:latin typeface="Cambria Math" panose="02040503050406030204" pitchFamily="18" charset="0"/>
                            </a:rPr>
                            <m:t>𝑀</m:t>
                          </m:r>
                        </m:e>
                      </m:d>
                    </m:oMath>
                  </m:oMathPara>
                </a14:m>
                <a:endParaRPr lang="zh-CN" altLang="en-US" sz="3200" dirty="0"/>
              </a:p>
            </p:txBody>
          </p:sp>
        </mc:Choice>
        <mc:Fallback xmlns="">
          <p:sp>
            <p:nvSpPr>
              <p:cNvPr id="3" name="矩形 2">
                <a:extLst>
                  <a:ext uri="{FF2B5EF4-FFF2-40B4-BE49-F238E27FC236}">
                    <a16:creationId xmlns:a16="http://schemas.microsoft.com/office/drawing/2014/main" id="{0176E60D-1834-4728-855D-34C751C51076}"/>
                  </a:ext>
                </a:extLst>
              </p:cNvPr>
              <p:cNvSpPr>
                <a:spLocks noRot="1" noChangeAspect="1" noMove="1" noResize="1" noEditPoints="1" noAdjustHandles="1" noChangeArrowheads="1" noChangeShapeType="1" noTextEdit="1"/>
              </p:cNvSpPr>
              <p:nvPr/>
            </p:nvSpPr>
            <p:spPr>
              <a:xfrm>
                <a:off x="2276745" y="1674270"/>
                <a:ext cx="3280450"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084848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3" end="3"/>
                                            </p:txEl>
                                          </p:spTgt>
                                        </p:tgtEl>
                                        <p:attrNameLst>
                                          <p:attrName>style.visibility</p:attrName>
                                        </p:attrNameLst>
                                      </p:cBhvr>
                                      <p:to>
                                        <p:strVal val="visible"/>
                                      </p:to>
                                    </p:set>
                                    <p:anim calcmode="lin" valueType="num">
                                      <p:cBhvr additive="base">
                                        <p:cTn id="7"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2.2.3 </a:t>
            </a:r>
            <a:r>
              <a:rPr lang="zh-CN" altLang="en-US" dirty="0"/>
              <a:t>乘同余法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当</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充分大时可以类似得到</a:t>
            </a:r>
          </a:p>
        </p:txBody>
      </p:sp>
      <p:sp>
        <p:nvSpPr>
          <p:cNvPr id="2" name="矩形 1">
            <a:extLst>
              <a:ext uri="{FF2B5EF4-FFF2-40B4-BE49-F238E27FC236}">
                <a16:creationId xmlns:a16="http://schemas.microsoft.com/office/drawing/2014/main" id="{A7E510A7-F707-4674-A693-FBBCACA34E09}"/>
              </a:ext>
            </a:extLst>
          </p:cNvPr>
          <p:cNvSpPr/>
          <p:nvPr/>
        </p:nvSpPr>
        <p:spPr>
          <a:xfrm>
            <a:off x="140325" y="4239090"/>
            <a:ext cx="8863350" cy="1569660"/>
          </a:xfrm>
          <a:prstGeom prst="rect">
            <a:avLst/>
          </a:prstGeom>
        </p:spPr>
        <p:txBody>
          <a:bodyPr wrap="square">
            <a:spAutoFit/>
          </a:bodyPr>
          <a:lstStyle/>
          <a:p>
            <a:r>
              <a:rPr lang="zh-CN" altLang="en-US" sz="3200" dirty="0">
                <a:solidFill>
                  <a:srgbClr val="006699"/>
                </a:solidFill>
                <a:latin typeface="Verdana" panose="020B0604030504040204" pitchFamily="34" charset="0"/>
              </a:rPr>
              <a:t>为了使得前后两项的相关系数较小， 应取</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较大且</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使得</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的二进制表示排列无规律。</a:t>
            </a:r>
            <a:endParaRPr lang="zh-CN" altLang="en-US" dirty="0"/>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5726255E-A6A1-47DB-A8D9-4B6AC3A3CF64}"/>
                  </a:ext>
                </a:extLst>
              </p:cNvPr>
              <p:cNvSpPr/>
              <p:nvPr/>
            </p:nvSpPr>
            <p:spPr>
              <a:xfrm>
                <a:off x="1676004" y="2414683"/>
                <a:ext cx="5521961" cy="10143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zh-CN" altLang="en-US" sz="3200" i="1">
                              <a:latin typeface="Cambria Math" panose="02040503050406030204" pitchFamily="18" charset="0"/>
                            </a:rPr>
                          </m:ctrlPr>
                        </m:mPr>
                        <m:mr>
                          <m:e>
                            <m:r>
                              <a:rPr lang="zh-CN" altLang="en-US" sz="3200" i="1">
                                <a:latin typeface="Cambria Math" panose="02040503050406030204" pitchFamily="18" charset="0"/>
                              </a:rPr>
                              <m:t>𝐸</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e>
                          <m:e>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2</m:t>
                                </m:r>
                              </m:den>
                            </m:f>
                            <m:r>
                              <a:rPr lang="zh-CN" altLang="en-US" sz="3200" i="0">
                                <a:latin typeface="Cambria Math" panose="02040503050406030204" pitchFamily="18" charset="0"/>
                              </a:rPr>
                              <m:t>,</m:t>
                            </m:r>
                          </m:e>
                          <m:e>
                            <m:r>
                              <m:rPr>
                                <m:nor/>
                              </m:rPr>
                              <a:rPr lang="zh-CN" altLang="en-US" sz="3200" i="1">
                                <a:latin typeface="Cambria Math" panose="02040503050406030204" pitchFamily="18" charset="0"/>
                              </a:rPr>
                              <m:t>Var</m:t>
                            </m:r>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e>
                          <m:e>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12</m:t>
                                </m:r>
                              </m:den>
                            </m:f>
                            <m:r>
                              <a:rPr lang="zh-CN" altLang="en-US" sz="3200" i="0">
                                <a:latin typeface="Cambria Math" panose="02040503050406030204" pitchFamily="18" charset="0"/>
                              </a:rPr>
                              <m:t>.</m:t>
                            </m:r>
                          </m:e>
                        </m:mr>
                      </m:m>
                    </m:oMath>
                  </m:oMathPara>
                </a14:m>
                <a:endParaRPr lang="zh-CN" altLang="en-US" sz="3200" dirty="0"/>
              </a:p>
            </p:txBody>
          </p:sp>
        </mc:Choice>
        <mc:Fallback xmlns="">
          <p:sp>
            <p:nvSpPr>
              <p:cNvPr id="4" name="矩形 3">
                <a:extLst>
                  <a:ext uri="{FF2B5EF4-FFF2-40B4-BE49-F238E27FC236}">
                    <a16:creationId xmlns:a16="http://schemas.microsoft.com/office/drawing/2014/main" id="{5726255E-A6A1-47DB-A8D9-4B6AC3A3CF64}"/>
                  </a:ext>
                </a:extLst>
              </p:cNvPr>
              <p:cNvSpPr>
                <a:spLocks noRot="1" noChangeAspect="1" noMove="1" noResize="1" noEditPoints="1" noAdjustHandles="1" noChangeArrowheads="1" noChangeShapeType="1" noTextEdit="1"/>
              </p:cNvSpPr>
              <p:nvPr/>
            </p:nvSpPr>
            <p:spPr>
              <a:xfrm>
                <a:off x="1676004" y="2414683"/>
                <a:ext cx="5521961" cy="1014317"/>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183570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2.2.3 </a:t>
            </a:r>
            <a:r>
              <a:rPr lang="zh-CN" altLang="en-US" dirty="0"/>
              <a:t>乘同余法</a:t>
            </a:r>
          </a:p>
        </p:txBody>
      </p:sp>
      <p:sp>
        <p:nvSpPr>
          <p:cNvPr id="2" name="矩形 1">
            <a:extLst>
              <a:ext uri="{FF2B5EF4-FFF2-40B4-BE49-F238E27FC236}">
                <a16:creationId xmlns:a16="http://schemas.microsoft.com/office/drawing/2014/main" id="{99D062BB-8F58-4B93-B42A-3A94E797A6B6}"/>
              </a:ext>
            </a:extLst>
          </p:cNvPr>
          <p:cNvSpPr/>
          <p:nvPr/>
        </p:nvSpPr>
        <p:spPr>
          <a:xfrm>
            <a:off x="476545" y="1043735"/>
            <a:ext cx="5514651" cy="584775"/>
          </a:xfrm>
          <a:prstGeom prst="rect">
            <a:avLst/>
          </a:prstGeom>
        </p:spPr>
        <p:txBody>
          <a:bodyPr wrap="none">
            <a:spAutoFit/>
          </a:bodyPr>
          <a:lstStyle/>
          <a:p>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5.6 </a:t>
            </a:r>
            <a:r>
              <a:rPr lang="zh-CN" altLang="en-US" sz="3200" dirty="0">
                <a:solidFill>
                  <a:srgbClr val="006699"/>
                </a:solidFill>
                <a:latin typeface="Verdana" panose="020B0604030504040204" pitchFamily="34" charset="0"/>
              </a:rPr>
              <a:t>考虑如</a:t>
            </a:r>
            <a:r>
              <a:rPr lang="zh-CN" altLang="en-US" sz="3200" dirty="0">
                <a:solidFill>
                  <a:srgbClr val="FF0000"/>
                </a:solidFill>
                <a:latin typeface="Verdana" panose="020B0604030504040204" pitchFamily="34" charset="0"/>
              </a:rPr>
              <a:t>下乘同余发生器</a:t>
            </a:r>
            <a:endParaRPr lang="en-US" altLang="zh-CN" sz="3200" dirty="0">
              <a:solidFill>
                <a:srgbClr val="FF0000"/>
              </a:solidFill>
              <a:latin typeface="Verdana" panose="020B0604030504040204" pitchFamily="34" charset="0"/>
            </a:endParaRPr>
          </a:p>
        </p:txBody>
      </p:sp>
      <p:sp>
        <p:nvSpPr>
          <p:cNvPr id="4" name="矩形 3">
            <a:extLst>
              <a:ext uri="{FF2B5EF4-FFF2-40B4-BE49-F238E27FC236}">
                <a16:creationId xmlns:a16="http://schemas.microsoft.com/office/drawing/2014/main" id="{1A8E3751-21FF-4C72-9B40-536B81AA61D0}"/>
              </a:ext>
            </a:extLst>
          </p:cNvPr>
          <p:cNvSpPr/>
          <p:nvPr/>
        </p:nvSpPr>
        <p:spPr>
          <a:xfrm>
            <a:off x="69718" y="3457658"/>
            <a:ext cx="5927725" cy="584775"/>
          </a:xfrm>
          <a:prstGeom prst="rect">
            <a:avLst/>
          </a:prstGeom>
        </p:spPr>
        <p:txBody>
          <a:bodyPr wrap="square">
            <a:spAutoFit/>
          </a:bodyPr>
          <a:lstStyle/>
          <a:p>
            <a:pPr lvl="0"/>
            <a:r>
              <a:rPr lang="zh-CN" altLang="en-US" sz="3200" dirty="0">
                <a:solidFill>
                  <a:srgbClr val="006699"/>
                </a:solidFill>
                <a:latin typeface="Verdana" panose="020B0604030504040204" pitchFamily="34" charset="0"/>
              </a:rPr>
              <a:t>再考虑如下的</a:t>
            </a:r>
            <a:r>
              <a:rPr lang="zh-CN" altLang="en-US" sz="3200" dirty="0">
                <a:solidFill>
                  <a:srgbClr val="FF0000"/>
                </a:solidFill>
                <a:latin typeface="Verdana" panose="020B0604030504040204" pitchFamily="34" charset="0"/>
              </a:rPr>
              <a:t>混合同余发生器</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EF7C9E12-1A74-48CC-B8E0-4CA9DEBA75E1}"/>
                  </a:ext>
                </a:extLst>
              </p:cNvPr>
              <p:cNvSpPr/>
              <p:nvPr/>
            </p:nvSpPr>
            <p:spPr>
              <a:xfrm>
                <a:off x="1480921" y="1721889"/>
                <a:ext cx="5603585" cy="10872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3200" i="1">
                              <a:latin typeface="Cambria Math" panose="02040503050406030204" pitchFamily="18" charset="0"/>
                            </a:rPr>
                          </m:ctrlPr>
                        </m:mPr>
                        <m:m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a:latin typeface="Cambria Math" panose="02040503050406030204" pitchFamily="18" charset="0"/>
                              </a:rPr>
                              <m:t>=</m:t>
                            </m:r>
                          </m:e>
                          <m:e>
                            <m:d>
                              <m:dPr>
                                <m:ctrlPr>
                                  <a:rPr lang="zh-CN" altLang="en-US" sz="3200" i="1">
                                    <a:latin typeface="Cambria Math" panose="02040503050406030204" pitchFamily="18" charset="0"/>
                                  </a:rPr>
                                </m:ctrlPr>
                              </m:dPr>
                              <m:e>
                                <m:r>
                                  <a:rPr lang="zh-CN" altLang="en-US" sz="3200">
                                    <a:latin typeface="Cambria Math" panose="02040503050406030204" pitchFamily="18" charset="0"/>
                                  </a:rPr>
                                  <m:t>8</m:t>
                                </m:r>
                                <m:r>
                                  <a:rPr lang="zh-CN" altLang="en-US" sz="3200" i="1">
                                    <a:latin typeface="Cambria Math" panose="02040503050406030204" pitchFamily="18" charset="0"/>
                                  </a:rPr>
                                  <m:t>𝛼</m:t>
                                </m:r>
                                <m:r>
                                  <a:rPr lang="zh-CN" altLang="en-US" sz="3200">
                                    <a:latin typeface="Cambria Math" panose="02040503050406030204" pitchFamily="18" charset="0"/>
                                  </a:rPr>
                                  <m:t>+5)</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a:latin typeface="Cambria Math" panose="02040503050406030204" pitchFamily="18" charset="0"/>
                                      </a:rPr>
                                      <m:t>−1</m:t>
                                    </m:r>
                                  </m:sub>
                                </m:sSub>
                                <m:r>
                                  <a:rPr lang="zh-CN" altLang="en-US" sz="3200">
                                    <a:latin typeface="Cambria Math" panose="02040503050406030204" pitchFamily="18" charset="0"/>
                                  </a:rPr>
                                  <m:t>(</m:t>
                                </m:r>
                                <m:r>
                                  <m:rPr>
                                    <m:sty m:val="p"/>
                                  </m:rPr>
                                  <a:rPr lang="zh-CN" altLang="en-US" sz="3200">
                                    <a:latin typeface="Cambria Math" panose="02040503050406030204" pitchFamily="18" charset="0"/>
                                  </a:rPr>
                                  <m:t>mod</m:t>
                                </m:r>
                                <m:r>
                                  <m:rPr>
                                    <m:nor/>
                                  </m:rPr>
                                  <a:rPr lang="zh-CN" altLang="en-US" sz="3200" i="1">
                                    <a:latin typeface="Cambria Math" panose="02040503050406030204" pitchFamily="18" charset="0"/>
                                  </a:rPr>
                                  <m:t> </m:t>
                                </m:r>
                                <m:sSup>
                                  <m:sSupPr>
                                    <m:ctrlPr>
                                      <a:rPr lang="zh-CN" altLang="en-US" sz="3200" i="1">
                                        <a:latin typeface="Cambria Math" panose="02040503050406030204" pitchFamily="18" charset="0"/>
                                      </a:rPr>
                                    </m:ctrlPr>
                                  </m:sSupPr>
                                  <m:e>
                                    <m:r>
                                      <a:rPr lang="zh-CN" altLang="en-US" sz="3200">
                                        <a:latin typeface="Cambria Math" panose="02040503050406030204" pitchFamily="18" charset="0"/>
                                      </a:rPr>
                                      <m:t>2</m:t>
                                    </m:r>
                                  </m:e>
                                  <m:sup>
                                    <m:r>
                                      <a:rPr lang="zh-CN" altLang="en-US" sz="3200" i="1">
                                        <a:latin typeface="Cambria Math" panose="02040503050406030204" pitchFamily="18" charset="0"/>
                                      </a:rPr>
                                      <m:t>𝐿</m:t>
                                    </m:r>
                                  </m:sup>
                                </m:sSup>
                              </m:e>
                            </m:d>
                          </m:e>
                        </m:mr>
                        <m:m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a:latin typeface="Cambria Math" panose="02040503050406030204" pitchFamily="18" charset="0"/>
                                  </a:rPr>
                                  <m:t>0</m:t>
                                </m:r>
                              </m:sub>
                            </m:sSub>
                            <m:r>
                              <a:rPr lang="zh-CN" altLang="en-US" sz="3200">
                                <a:latin typeface="Cambria Math" panose="02040503050406030204" pitchFamily="18" charset="0"/>
                              </a:rPr>
                              <m:t>=</m:t>
                            </m:r>
                          </m:e>
                          <m:e>
                            <m:r>
                              <a:rPr lang="zh-CN" altLang="en-US" sz="3200">
                                <a:latin typeface="Cambria Math" panose="02040503050406030204" pitchFamily="18" charset="0"/>
                              </a:rPr>
                              <m:t>4</m:t>
                            </m:r>
                            <m:r>
                              <a:rPr lang="zh-CN" altLang="en-US" sz="3200" i="1">
                                <a:latin typeface="Cambria Math" panose="02040503050406030204" pitchFamily="18" charset="0"/>
                              </a:rPr>
                              <m:t>𝑏</m:t>
                            </m:r>
                            <m:r>
                              <a:rPr lang="zh-CN" altLang="en-US" sz="3200">
                                <a:latin typeface="Cambria Math" panose="02040503050406030204" pitchFamily="18" charset="0"/>
                              </a:rPr>
                              <m:t>+1</m:t>
                            </m:r>
                          </m:e>
                        </m:mr>
                      </m:m>
                    </m:oMath>
                  </m:oMathPara>
                </a14:m>
                <a:endParaRPr lang="zh-CN" altLang="en-US" sz="3200" dirty="0"/>
              </a:p>
            </p:txBody>
          </p:sp>
        </mc:Choice>
        <mc:Fallback xmlns="">
          <p:sp>
            <p:nvSpPr>
              <p:cNvPr id="6" name="矩形 5">
                <a:extLst>
                  <a:ext uri="{FF2B5EF4-FFF2-40B4-BE49-F238E27FC236}">
                    <a16:creationId xmlns:a16="http://schemas.microsoft.com/office/drawing/2014/main" id="{EF7C9E12-1A74-48CC-B8E0-4CA9DEBA75E1}"/>
                  </a:ext>
                </a:extLst>
              </p:cNvPr>
              <p:cNvSpPr>
                <a:spLocks noRot="1" noChangeAspect="1" noMove="1" noResize="1" noEditPoints="1" noAdjustHandles="1" noChangeArrowheads="1" noChangeShapeType="1" noTextEdit="1"/>
              </p:cNvSpPr>
              <p:nvPr/>
            </p:nvSpPr>
            <p:spPr>
              <a:xfrm>
                <a:off x="1480921" y="1721889"/>
                <a:ext cx="5603585" cy="108728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7E4CDEC-72CB-462E-9F12-30E8CFB138BA}"/>
                  </a:ext>
                </a:extLst>
              </p:cNvPr>
              <p:cNvSpPr/>
              <p:nvPr/>
            </p:nvSpPr>
            <p:spPr>
              <a:xfrm>
                <a:off x="463677" y="4087611"/>
                <a:ext cx="8464625" cy="12066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3200" i="1">
                              <a:latin typeface="Cambria Math" panose="02040503050406030204" pitchFamily="18" charset="0"/>
                            </a:rPr>
                          </m:ctrlPr>
                        </m:mPr>
                        <m:mr>
                          <m:e>
                            <m:sSubSup>
                              <m:sSubSupPr>
                                <m:ctrlPr>
                                  <a:rPr lang="zh-CN" altLang="en-US" sz="3200" i="1">
                                    <a:latin typeface="Cambria Math" panose="02040503050406030204" pitchFamily="18" charset="0"/>
                                  </a:rPr>
                                </m:ctrlPr>
                              </m:sSubSup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up>
                                <m:r>
                                  <a:rPr lang="zh-CN" altLang="en-US" sz="3200" i="0">
                                    <a:latin typeface="Cambria Math" panose="02040503050406030204" pitchFamily="18" charset="0"/>
                                  </a:rPr>
                                  <m:t>∗</m:t>
                                </m:r>
                              </m:sup>
                            </m:sSubSup>
                            <m:r>
                              <a:rPr lang="zh-CN" altLang="en-US" sz="3200" i="0">
                                <a:latin typeface="Cambria Math" panose="02040503050406030204" pitchFamily="18" charset="0"/>
                              </a:rPr>
                              <m:t>=</m:t>
                            </m:r>
                          </m:e>
                          <m:e>
                            <m:d>
                              <m:dPr>
                                <m:ctrlPr>
                                  <a:rPr lang="zh-CN" altLang="en-US" sz="3200" i="1">
                                    <a:latin typeface="Cambria Math" panose="02040503050406030204" pitchFamily="18" charset="0"/>
                                  </a:rPr>
                                </m:ctrlPr>
                              </m:dPr>
                              <m:e>
                                <m:r>
                                  <a:rPr lang="zh-CN" altLang="en-US" sz="3200" i="0">
                                    <a:latin typeface="Cambria Math" panose="02040503050406030204" pitchFamily="18" charset="0"/>
                                  </a:rPr>
                                  <m:t>8</m:t>
                                </m:r>
                                <m:r>
                                  <a:rPr lang="zh-CN" altLang="en-US" sz="3200" i="1">
                                    <a:latin typeface="Cambria Math" panose="02040503050406030204" pitchFamily="18" charset="0"/>
                                  </a:rPr>
                                  <m:t>𝛼</m:t>
                                </m:r>
                                <m:r>
                                  <a:rPr lang="zh-CN" altLang="en-US" sz="3200" i="0">
                                    <a:latin typeface="Cambria Math" panose="02040503050406030204" pitchFamily="18" charset="0"/>
                                  </a:rPr>
                                  <m:t>+5)</m:t>
                                </m:r>
                                <m:sSubSup>
                                  <m:sSubSupPr>
                                    <m:ctrlPr>
                                      <a:rPr lang="zh-CN" altLang="en-US" sz="3200" i="1">
                                        <a:latin typeface="Cambria Math" panose="02040503050406030204" pitchFamily="18" charset="0"/>
                                      </a:rPr>
                                    </m:ctrlPr>
                                  </m:sSubSup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r>
                                      <a:rPr lang="zh-CN" altLang="en-US" sz="3200" i="0">
                                        <a:latin typeface="Cambria Math" panose="02040503050406030204" pitchFamily="18" charset="0"/>
                                      </a:rPr>
                                      <m:t>−1</m:t>
                                    </m:r>
                                  </m:sub>
                                  <m:sup>
                                    <m:r>
                                      <a:rPr lang="zh-CN" altLang="en-US" sz="3200" i="0">
                                        <a:latin typeface="Cambria Math" panose="02040503050406030204" pitchFamily="18" charset="0"/>
                                      </a:rPr>
                                      <m:t>∗</m:t>
                                    </m:r>
                                  </m:sup>
                                </m:sSubSup>
                                <m:r>
                                  <a:rPr lang="zh-CN" altLang="en-US" sz="3200" i="0">
                                    <a:latin typeface="Cambria Math" panose="02040503050406030204" pitchFamily="18" charset="0"/>
                                  </a:rPr>
                                  <m:t>+(2</m:t>
                                </m:r>
                                <m:r>
                                  <a:rPr lang="zh-CN" altLang="en-US" sz="3200" i="1">
                                    <a:latin typeface="Cambria Math" panose="02040503050406030204" pitchFamily="18" charset="0"/>
                                  </a:rPr>
                                  <m:t>𝛼</m:t>
                                </m:r>
                                <m:r>
                                  <a:rPr lang="zh-CN" altLang="en-US" sz="3200" i="0">
                                    <a:latin typeface="Cambria Math" panose="02040503050406030204" pitchFamily="18" charset="0"/>
                                  </a:rPr>
                                  <m:t>+1)</m:t>
                                </m:r>
                                <m:r>
                                  <m:rPr>
                                    <m:nor/>
                                  </m:rPr>
                                  <a:rPr lang="zh-CN" altLang="en-US" sz="3200" i="1">
                                    <a:latin typeface="Cambria Math" panose="02040503050406030204" pitchFamily="18" charset="0"/>
                                  </a:rPr>
                                  <m:t> </m:t>
                                </m:r>
                                <m:r>
                                  <a:rPr lang="zh-CN" altLang="en-US" sz="3200" i="0">
                                    <a:latin typeface="Cambria Math" panose="02040503050406030204" pitchFamily="18" charset="0"/>
                                  </a:rPr>
                                  <m:t>(</m:t>
                                </m:r>
                                <m:r>
                                  <m:rPr>
                                    <m:sty m:val="p"/>
                                  </m:rPr>
                                  <a:rPr lang="zh-CN" altLang="en-US" sz="3200" i="0">
                                    <a:latin typeface="Cambria Math" panose="02040503050406030204" pitchFamily="18" charset="0"/>
                                  </a:rPr>
                                  <m:t>mod</m:t>
                                </m:r>
                                <m:r>
                                  <m:rPr>
                                    <m:nor/>
                                  </m:rPr>
                                  <a:rPr lang="zh-CN" altLang="en-US" sz="3200" i="1">
                                    <a:latin typeface="Cambria Math" panose="02040503050406030204" pitchFamily="18" charset="0"/>
                                  </a:rPr>
                                  <m:t> </m:t>
                                </m:r>
                                <m:sSup>
                                  <m:sSupPr>
                                    <m:ctrlPr>
                                      <a:rPr lang="zh-CN" altLang="en-US" sz="3200" i="1">
                                        <a:latin typeface="Cambria Math" panose="02040503050406030204" pitchFamily="18" charset="0"/>
                                      </a:rPr>
                                    </m:ctrlPr>
                                  </m:sSupPr>
                                  <m:e>
                                    <m:r>
                                      <a:rPr lang="zh-CN" altLang="en-US" sz="3200" i="0">
                                        <a:latin typeface="Cambria Math" panose="02040503050406030204" pitchFamily="18" charset="0"/>
                                      </a:rPr>
                                      <m:t>2</m:t>
                                    </m:r>
                                  </m:e>
                                  <m:sup>
                                    <m:r>
                                      <a:rPr lang="zh-CN" altLang="en-US" sz="3200" i="1">
                                        <a:latin typeface="Cambria Math" panose="02040503050406030204" pitchFamily="18" charset="0"/>
                                      </a:rPr>
                                      <m:t>𝐿</m:t>
                                    </m:r>
                                    <m:r>
                                      <a:rPr lang="zh-CN" altLang="en-US" sz="3200" i="0">
                                        <a:latin typeface="Cambria Math" panose="02040503050406030204" pitchFamily="18" charset="0"/>
                                      </a:rPr>
                                      <m:t>−2</m:t>
                                    </m:r>
                                  </m:sup>
                                </m:sSup>
                              </m:e>
                            </m:d>
                          </m:e>
                        </m:mr>
                        <m:mr>
                          <m:e>
                            <m:sSubSup>
                              <m:sSubSupPr>
                                <m:ctrlPr>
                                  <a:rPr lang="zh-CN" altLang="en-US" sz="3200" i="1">
                                    <a:latin typeface="Cambria Math" panose="02040503050406030204" pitchFamily="18" charset="0"/>
                                  </a:rPr>
                                </m:ctrlPr>
                              </m:sSubSupPr>
                              <m:e>
                                <m:r>
                                  <a:rPr lang="zh-CN" altLang="en-US" sz="3200" i="1">
                                    <a:latin typeface="Cambria Math" panose="02040503050406030204" pitchFamily="18" charset="0"/>
                                  </a:rPr>
                                  <m:t>𝑥</m:t>
                                </m:r>
                              </m:e>
                              <m:sub>
                                <m:r>
                                  <a:rPr lang="zh-CN" altLang="en-US" sz="3200" i="0">
                                    <a:latin typeface="Cambria Math" panose="02040503050406030204" pitchFamily="18" charset="0"/>
                                  </a:rPr>
                                  <m:t>0</m:t>
                                </m:r>
                              </m:sub>
                              <m:sup>
                                <m:r>
                                  <a:rPr lang="zh-CN" altLang="en-US" sz="3200" i="0">
                                    <a:latin typeface="Cambria Math" panose="02040503050406030204" pitchFamily="18" charset="0"/>
                                  </a:rPr>
                                  <m:t>∗</m:t>
                                </m:r>
                              </m:sup>
                            </m:sSubSup>
                            <m:r>
                              <a:rPr lang="zh-CN" altLang="en-US" sz="3200" i="0">
                                <a:latin typeface="Cambria Math" panose="02040503050406030204" pitchFamily="18" charset="0"/>
                              </a:rPr>
                              <m:t>=</m:t>
                            </m:r>
                          </m:e>
                          <m:e>
                            <m:r>
                              <a:rPr lang="zh-CN" altLang="en-US" sz="3200" i="1">
                                <a:latin typeface="Cambria Math" panose="02040503050406030204" pitchFamily="18" charset="0"/>
                              </a:rPr>
                              <m:t>𝑏</m:t>
                            </m:r>
                          </m:e>
                        </m:mr>
                      </m:m>
                    </m:oMath>
                  </m:oMathPara>
                </a14:m>
                <a:endParaRPr lang="zh-CN" altLang="en-US" sz="3200" dirty="0"/>
              </a:p>
            </p:txBody>
          </p:sp>
        </mc:Choice>
        <mc:Fallback xmlns="">
          <p:sp>
            <p:nvSpPr>
              <p:cNvPr id="7" name="矩形 6">
                <a:extLst>
                  <a:ext uri="{FF2B5EF4-FFF2-40B4-BE49-F238E27FC236}">
                    <a16:creationId xmlns:a16="http://schemas.microsoft.com/office/drawing/2014/main" id="{07E4CDEC-72CB-462E-9F12-30E8CFB138BA}"/>
                  </a:ext>
                </a:extLst>
              </p:cNvPr>
              <p:cNvSpPr>
                <a:spLocks noRot="1" noChangeAspect="1" noMove="1" noResize="1" noEditPoints="1" noAdjustHandles="1" noChangeArrowheads="1" noChangeShapeType="1" noTextEdit="1"/>
              </p:cNvSpPr>
              <p:nvPr/>
            </p:nvSpPr>
            <p:spPr>
              <a:xfrm>
                <a:off x="463677" y="4087611"/>
                <a:ext cx="8464625" cy="1206612"/>
              </a:xfrm>
              <a:prstGeom prst="rect">
                <a:avLst/>
              </a:prstGeom>
              <a:blipFill>
                <a:blip r:embed="rId3"/>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24A902A1-E73A-4D7F-9577-74985C4ACFA6}"/>
              </a:ext>
            </a:extLst>
          </p:cNvPr>
          <p:cNvSpPr/>
          <p:nvPr/>
        </p:nvSpPr>
        <p:spPr>
          <a:xfrm>
            <a:off x="69718" y="5579193"/>
            <a:ext cx="595035" cy="584775"/>
          </a:xfrm>
          <a:prstGeom prst="rect">
            <a:avLst/>
          </a:prstGeom>
        </p:spPr>
        <p:txBody>
          <a:bodyPr wrap="none">
            <a:spAutoFit/>
          </a:bodyPr>
          <a:lstStyle/>
          <a:p>
            <a:r>
              <a:rPr lang="zh-CN" altLang="en-US" sz="3200" dirty="0">
                <a:solidFill>
                  <a:srgbClr val="006699"/>
                </a:solidFill>
                <a:latin typeface="Verdana" panose="020B0604030504040204" pitchFamily="34" charset="0"/>
              </a:rPr>
              <a:t>则</a:t>
            </a:r>
            <a:endParaRPr lang="zh-CN" altLang="en-US" dirty="0"/>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269AC8E3-04ED-4FB1-AB41-0A698412C58A}"/>
                  </a:ext>
                </a:extLst>
              </p:cNvPr>
              <p:cNvSpPr/>
              <p:nvPr/>
            </p:nvSpPr>
            <p:spPr>
              <a:xfrm>
                <a:off x="1106459" y="5531918"/>
                <a:ext cx="488255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smtClean="0">
                              <a:latin typeface="Cambria Math" panose="02040503050406030204" pitchFamily="18" charset="0"/>
                            </a:rPr>
                          </m:ctrlPr>
                        </m:sSub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=4</m:t>
                      </m:r>
                      <m:sSubSup>
                        <m:sSubSupPr>
                          <m:ctrlPr>
                            <a:rPr lang="zh-CN" altLang="en-US" sz="3200" i="1">
                              <a:latin typeface="Cambria Math" panose="02040503050406030204" pitchFamily="18" charset="0"/>
                            </a:rPr>
                          </m:ctrlPr>
                        </m:sSubSupPr>
                        <m:e>
                          <m:r>
                            <a:rPr lang="zh-CN" altLang="en-US" sz="3200" i="1">
                              <a:latin typeface="Cambria Math" panose="02040503050406030204" pitchFamily="18" charset="0"/>
                            </a:rPr>
                            <m:t>𝑥</m:t>
                          </m:r>
                        </m:e>
                        <m:sub>
                          <m:r>
                            <a:rPr lang="zh-CN" altLang="en-US" sz="3200" i="1">
                              <a:latin typeface="Cambria Math" panose="02040503050406030204" pitchFamily="18" charset="0"/>
                            </a:rPr>
                            <m:t>𝑛</m:t>
                          </m:r>
                        </m:sub>
                        <m:sup>
                          <m:r>
                            <a:rPr lang="zh-CN" altLang="en-US" sz="3200" i="0">
                              <a:latin typeface="Cambria Math" panose="02040503050406030204" pitchFamily="18" charset="0"/>
                            </a:rPr>
                            <m:t>∗</m:t>
                          </m:r>
                        </m:sup>
                      </m:sSubSup>
                      <m:r>
                        <a:rPr lang="zh-CN" altLang="en-US" sz="3200" i="0">
                          <a:latin typeface="Cambria Math" panose="02040503050406030204" pitchFamily="18" charset="0"/>
                        </a:rPr>
                        <m:t>+1,</m:t>
                      </m:r>
                      <m:r>
                        <a:rPr lang="zh-CN" altLang="en-US" sz="3200" i="1">
                          <a:latin typeface="Cambria Math" panose="02040503050406030204" pitchFamily="18" charset="0"/>
                        </a:rPr>
                        <m:t>𝑛</m:t>
                      </m:r>
                      <m:r>
                        <a:rPr lang="zh-CN" altLang="en-US" sz="3200" i="0">
                          <a:latin typeface="Cambria Math" panose="02040503050406030204" pitchFamily="18" charset="0"/>
                        </a:rPr>
                        <m:t>=0,1,2,…</m:t>
                      </m:r>
                    </m:oMath>
                  </m:oMathPara>
                </a14:m>
                <a:endParaRPr lang="zh-CN" altLang="en-US" sz="3200" dirty="0"/>
              </a:p>
            </p:txBody>
          </p:sp>
        </mc:Choice>
        <mc:Fallback xmlns="">
          <p:sp>
            <p:nvSpPr>
              <p:cNvPr id="9" name="矩形 8">
                <a:extLst>
                  <a:ext uri="{FF2B5EF4-FFF2-40B4-BE49-F238E27FC236}">
                    <a16:creationId xmlns:a16="http://schemas.microsoft.com/office/drawing/2014/main" id="{269AC8E3-04ED-4FB1-AB41-0A698412C58A}"/>
                  </a:ext>
                </a:extLst>
              </p:cNvPr>
              <p:cNvSpPr>
                <a:spLocks noRot="1" noChangeAspect="1" noMove="1" noResize="1" noEditPoints="1" noAdjustHandles="1" noChangeArrowheads="1" noChangeShapeType="1" noTextEdit="1"/>
              </p:cNvSpPr>
              <p:nvPr/>
            </p:nvSpPr>
            <p:spPr>
              <a:xfrm>
                <a:off x="1106459" y="5531918"/>
                <a:ext cx="4882555" cy="58477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305440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2.2.4 FSR</a:t>
            </a:r>
            <a:r>
              <a:rPr lang="zh-CN" altLang="en-US" dirty="0"/>
              <a:t>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4622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线性同余法</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周期不可能超过</a:t>
            </a:r>
            <a:r>
              <a:rPr lang="en-US" altLang="zh-CN" sz="3200" dirty="0">
                <a:solidFill>
                  <a:srgbClr val="006699"/>
                </a:solidFill>
                <a:latin typeface="Verdana" panose="020B0604030504040204" pitchFamily="34" charset="0"/>
              </a:rPr>
              <a:t>2</a:t>
            </a:r>
            <a:r>
              <a:rPr lang="en-US" altLang="zh-CN" sz="3200" baseline="30000" dirty="0">
                <a:solidFill>
                  <a:srgbClr val="006699"/>
                </a:solidFill>
                <a:latin typeface="Verdana" panose="020B0604030504040204" pitchFamily="34" charset="0"/>
              </a:rPr>
              <a:t>L</a:t>
            </a:r>
            <a:r>
              <a:rPr lang="en-US" altLang="zh-CN" sz="3200" dirty="0">
                <a:solidFill>
                  <a:srgbClr val="006699"/>
                </a:solidFill>
                <a:latin typeface="Verdana" panose="020B0604030504040204" pitchFamily="34" charset="0"/>
              </a:rPr>
              <a:t>(L</a:t>
            </a:r>
            <a:r>
              <a:rPr lang="zh-CN" altLang="en-US" sz="3200" dirty="0">
                <a:solidFill>
                  <a:srgbClr val="006699"/>
                </a:solidFill>
                <a:latin typeface="Verdana" panose="020B0604030504040204" pitchFamily="34" charset="0"/>
              </a:rPr>
              <a:t>为整数型尾数的位数</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zh-CN" altLang="en-US"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作为</a:t>
            </a:r>
            <a:r>
              <a:rPr lang="zh-CN" altLang="en-US" sz="3200" b="1" dirty="0">
                <a:solidFill>
                  <a:srgbClr val="006699"/>
                </a:solidFill>
                <a:latin typeface="Verdana" panose="020B0604030504040204" pitchFamily="34" charset="0"/>
              </a:rPr>
              <a:t>多维</a:t>
            </a:r>
            <a:r>
              <a:rPr lang="zh-CN" altLang="en-US" sz="3200" dirty="0">
                <a:solidFill>
                  <a:srgbClr val="006699"/>
                </a:solidFill>
                <a:latin typeface="Verdana" panose="020B0604030504040204" pitchFamily="34" charset="0"/>
              </a:rPr>
              <a:t>随机数相关性大</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分布不均匀</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基于</a:t>
            </a:r>
            <a:r>
              <a:rPr lang="en-US" altLang="zh-CN" sz="3200" dirty="0" err="1">
                <a:solidFill>
                  <a:srgbClr val="006699"/>
                </a:solidFill>
                <a:latin typeface="Verdana" panose="020B0604030504040204" pitchFamily="34" charset="0"/>
              </a:rPr>
              <a:t>Tausworthe</a:t>
            </a:r>
            <a:r>
              <a:rPr lang="en-US" altLang="zh-CN" sz="3200" dirty="0">
                <a:solidFill>
                  <a:srgbClr val="006699"/>
                </a:solidFill>
                <a:latin typeface="Verdana" panose="020B0604030504040204" pitchFamily="34" charset="0"/>
              </a:rPr>
              <a:t>(1965)</a:t>
            </a:r>
            <a:r>
              <a:rPr lang="zh-CN" altLang="en-US" sz="3200" dirty="0">
                <a:solidFill>
                  <a:srgbClr val="006699"/>
                </a:solidFill>
                <a:latin typeface="Verdana" panose="020B0604030504040204" pitchFamily="34" charset="0"/>
              </a:rPr>
              <a:t>文章的</a:t>
            </a:r>
            <a:r>
              <a:rPr lang="en-US" altLang="zh-CN" sz="3200" dirty="0">
                <a:solidFill>
                  <a:srgbClr val="006699"/>
                </a:solidFill>
                <a:latin typeface="Verdana" panose="020B0604030504040204" pitchFamily="34" charset="0"/>
              </a:rPr>
              <a:t>FSR</a:t>
            </a:r>
            <a:r>
              <a:rPr lang="zh-CN" altLang="en-US" sz="3200" dirty="0">
                <a:solidFill>
                  <a:srgbClr val="006699"/>
                </a:solidFill>
                <a:latin typeface="Verdana" panose="020B0604030504040204" pitchFamily="34" charset="0"/>
              </a:rPr>
              <a:t>方法是一种全新的做法， 对这些方面有改善。</a:t>
            </a:r>
          </a:p>
        </p:txBody>
      </p:sp>
    </p:spTree>
    <p:extLst>
      <p:ext uri="{BB962C8B-B14F-4D97-AF65-F5344CB8AC3E}">
        <p14:creationId xmlns:p14="http://schemas.microsoft.com/office/powerpoint/2010/main" val="8459552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2.2.4 FSR</a:t>
            </a:r>
            <a:r>
              <a:rPr lang="zh-CN" altLang="en-US" dirty="0"/>
              <a:t>发生器</a:t>
            </a:r>
          </a:p>
        </p:txBody>
      </p:sp>
      <mc:AlternateContent xmlns:mc="http://schemas.openxmlformats.org/markup-compatibility/2006" xmlns:a14="http://schemas.microsoft.com/office/drawing/2010/main">
        <mc:Choice Requires="a14">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5875" y="1046637"/>
                <a:ext cx="8899100" cy="265303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en-US" altLang="zh-CN" sz="3200" dirty="0">
                    <a:solidFill>
                      <a:srgbClr val="006699"/>
                    </a:solidFill>
                    <a:latin typeface="Verdana" panose="020B0604030504040204" pitchFamily="34" charset="0"/>
                  </a:rPr>
                  <a:t>FSR(Feedback Shift Register</a:t>
                </a:r>
                <a:r>
                  <a:rPr lang="zh-CN" altLang="en-US" sz="3200" dirty="0">
                    <a:solidFill>
                      <a:srgbClr val="006699"/>
                    </a:solidFill>
                    <a:latin typeface="Verdana" panose="020B0604030504040204" pitchFamily="34" charset="0"/>
                  </a:rPr>
                  <a:t>，反馈位移寄存器法</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按照某种递推法则生成一系列</a:t>
                </a:r>
                <a:r>
                  <a:rPr lang="zh-CN" altLang="en-US" sz="3200" dirty="0">
                    <a:solidFill>
                      <a:srgbClr val="FF0000"/>
                    </a:solidFill>
                    <a:latin typeface="Verdana" panose="020B0604030504040204" pitchFamily="34" charset="0"/>
                  </a:rPr>
                  <a:t>二进制数</a:t>
                </a:r>
                <a14:m>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𝛼</m:t>
                        </m:r>
                      </m:e>
                      <m:sub>
                        <m:r>
                          <a:rPr lang="zh-CN" altLang="en-US" sz="3200">
                            <a:latin typeface="Cambria Math" panose="02040503050406030204" pitchFamily="18" charset="0"/>
                          </a:rPr>
                          <m:t>1</m:t>
                        </m:r>
                      </m:sub>
                    </m:sSub>
                    <m:r>
                      <a:rPr lang="zh-CN" altLang="en-US" sz="320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𝛼</m:t>
                        </m:r>
                      </m:e>
                      <m:sub>
                        <m:r>
                          <a:rPr lang="zh-CN" altLang="en-US" sz="3200">
                            <a:latin typeface="Cambria Math" panose="02040503050406030204" pitchFamily="18" charset="0"/>
                          </a:rPr>
                          <m:t>2</m:t>
                        </m:r>
                      </m:sub>
                    </m:sSub>
                    <m:r>
                      <a:rPr lang="zh-CN" altLang="en-US" sz="320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𝛼</m:t>
                        </m:r>
                      </m:e>
                      <m:sub>
                        <m:r>
                          <a:rPr lang="zh-CN" altLang="en-US" sz="3200" i="1">
                            <a:latin typeface="Cambria Math" panose="02040503050406030204" pitchFamily="18" charset="0"/>
                          </a:rPr>
                          <m:t>𝑘</m:t>
                        </m:r>
                      </m:sub>
                    </m:sSub>
                    <m:r>
                      <a:rPr lang="zh-CN" altLang="en-US" sz="3200">
                        <a:latin typeface="Cambria Math" panose="02040503050406030204" pitchFamily="18" charset="0"/>
                      </a:rPr>
                      <m:t>,…</m:t>
                    </m:r>
                  </m:oMath>
                </a14:m>
                <a:endParaRPr lang="zh-CN" altLang="en-US" sz="3200" dirty="0"/>
              </a:p>
              <a:p>
                <a:pPr eaLnBrk="1" hangingPunct="1">
                  <a:spcBef>
                    <a:spcPct val="20000"/>
                  </a:spcBef>
                  <a:buFontTx/>
                  <a:buChar char="•"/>
                </a:pPr>
                <a:r>
                  <a:rPr lang="zh-CN" altLang="en-US" sz="3200" dirty="0">
                    <a:solidFill>
                      <a:srgbClr val="006699"/>
                    </a:solidFill>
                    <a:latin typeface="Verdana" panose="020B0604030504040204" pitchFamily="34" charset="0"/>
                  </a:rPr>
                  <a:t>其中</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由前面的若干个  </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线性组合并求除以</a:t>
                </a:r>
                <a:r>
                  <a:rPr lang="en-US" altLang="zh-CN" sz="32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的余数产生</a:t>
                </a:r>
                <a:r>
                  <a:rPr lang="en-US" altLang="zh-CN" sz="3200" dirty="0">
                    <a:solidFill>
                      <a:srgbClr val="006699"/>
                    </a:solidFill>
                    <a:latin typeface="Verdana" panose="020B0604030504040204" pitchFamily="34" charset="0"/>
                  </a:rPr>
                  <a:t>:</a:t>
                </a:r>
                <a:endParaRPr lang="zh-CN" altLang="en-US" sz="3200" dirty="0">
                  <a:solidFill>
                    <a:srgbClr val="006699"/>
                  </a:solidFill>
                  <a:latin typeface="Verdana" panose="020B0604030504040204" pitchFamily="34" charset="0"/>
                </a:endParaRPr>
              </a:p>
            </p:txBody>
          </p:sp>
        </mc:Choice>
        <mc:Fallback xmlns="">
          <p:sp>
            <p:nvSpPr>
              <p:cNvPr id="32771" name="矩形 2">
                <a:extLst>
                  <a:ext uri="{FF2B5EF4-FFF2-40B4-BE49-F238E27FC236}">
                    <a16:creationId xmlns:a16="http://schemas.microsoft.com/office/drawing/2014/main" id="{B731BE61-7118-4693-9D37-9B3F32F84AAF}"/>
                  </a:ext>
                </a:extLst>
              </p:cNvPr>
              <p:cNvSpPr>
                <a:spLocks noRot="1" noChangeAspect="1" noMove="1" noResize="1" noEditPoints="1" noAdjustHandles="1" noChangeArrowheads="1" noChangeShapeType="1" noTextEdit="1"/>
              </p:cNvSpPr>
              <p:nvPr/>
            </p:nvSpPr>
            <p:spPr bwMode="auto">
              <a:xfrm>
                <a:off x="-15875" y="1046637"/>
                <a:ext cx="8899100" cy="2653034"/>
              </a:xfrm>
              <a:prstGeom prst="rect">
                <a:avLst/>
              </a:prstGeom>
              <a:blipFill>
                <a:blip r:embed="rId2"/>
                <a:stretch>
                  <a:fillRect l="-1781" t="-3448" r="-1575" b="-68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40B6F09-95BB-495B-87E2-53B05BF56BD3}"/>
                  </a:ext>
                </a:extLst>
              </p:cNvPr>
              <p:cNvSpPr/>
              <p:nvPr/>
            </p:nvSpPr>
            <p:spPr>
              <a:xfrm>
                <a:off x="1135462" y="2541535"/>
                <a:ext cx="752321"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𝛼</m:t>
                          </m:r>
                        </m:e>
                        <m:sub>
                          <m:r>
                            <a:rPr lang="zh-CN" altLang="en-US" sz="3200" i="1">
                              <a:latin typeface="Cambria Math" panose="02040503050406030204" pitchFamily="18" charset="0"/>
                            </a:rPr>
                            <m:t>𝑘</m:t>
                          </m:r>
                        </m:sub>
                      </m:sSub>
                    </m:oMath>
                  </m:oMathPara>
                </a14:m>
                <a:endParaRPr lang="zh-CN" altLang="en-US" sz="3200" dirty="0"/>
              </a:p>
            </p:txBody>
          </p:sp>
        </mc:Choice>
        <mc:Fallback xmlns="">
          <p:sp>
            <p:nvSpPr>
              <p:cNvPr id="3" name="矩形 2">
                <a:extLst>
                  <a:ext uri="{FF2B5EF4-FFF2-40B4-BE49-F238E27FC236}">
                    <a16:creationId xmlns:a16="http://schemas.microsoft.com/office/drawing/2014/main" id="{140B6F09-95BB-495B-87E2-53B05BF56BD3}"/>
                  </a:ext>
                </a:extLst>
              </p:cNvPr>
              <p:cNvSpPr>
                <a:spLocks noRot="1" noChangeAspect="1" noMove="1" noResize="1" noEditPoints="1" noAdjustHandles="1" noChangeArrowheads="1" noChangeShapeType="1" noTextEdit="1"/>
              </p:cNvSpPr>
              <p:nvPr/>
            </p:nvSpPr>
            <p:spPr>
              <a:xfrm>
                <a:off x="1135462" y="2541535"/>
                <a:ext cx="752321"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3314C873-14D6-4982-9A0D-7F60EA82B228}"/>
                  </a:ext>
                </a:extLst>
              </p:cNvPr>
              <p:cNvSpPr/>
              <p:nvPr/>
            </p:nvSpPr>
            <p:spPr>
              <a:xfrm>
                <a:off x="4582586" y="2622514"/>
                <a:ext cx="99623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𝛼</m:t>
                              </m:r>
                            </m:e>
                            <m:sub>
                              <m:r>
                                <a:rPr lang="zh-CN" altLang="en-US" sz="3200" i="1">
                                  <a:latin typeface="Cambria Math" panose="02040503050406030204" pitchFamily="18" charset="0"/>
                                </a:rPr>
                                <m:t>𝑖</m:t>
                              </m:r>
                            </m:sub>
                          </m:sSub>
                        </m:e>
                      </m:d>
                    </m:oMath>
                  </m:oMathPara>
                </a14:m>
                <a:endParaRPr lang="zh-CN" altLang="en-US" sz="3200" dirty="0"/>
              </a:p>
            </p:txBody>
          </p:sp>
        </mc:Choice>
        <mc:Fallback xmlns="">
          <p:sp>
            <p:nvSpPr>
              <p:cNvPr id="4" name="矩形 3">
                <a:extLst>
                  <a:ext uri="{FF2B5EF4-FFF2-40B4-BE49-F238E27FC236}">
                    <a16:creationId xmlns:a16="http://schemas.microsoft.com/office/drawing/2014/main" id="{3314C873-14D6-4982-9A0D-7F60EA82B228}"/>
                  </a:ext>
                </a:extLst>
              </p:cNvPr>
              <p:cNvSpPr>
                <a:spLocks noRot="1" noChangeAspect="1" noMove="1" noResize="1" noEditPoints="1" noAdjustHandles="1" noChangeArrowheads="1" noChangeShapeType="1" noTextEdit="1"/>
              </p:cNvSpPr>
              <p:nvPr/>
            </p:nvSpPr>
            <p:spPr>
              <a:xfrm>
                <a:off x="4582586" y="2622514"/>
                <a:ext cx="996235"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E012EB3-69EF-4130-BADD-3C6DEA447AA4}"/>
                  </a:ext>
                </a:extLst>
              </p:cNvPr>
              <p:cNvSpPr/>
              <p:nvPr/>
            </p:nvSpPr>
            <p:spPr>
              <a:xfrm>
                <a:off x="309508" y="3622258"/>
                <a:ext cx="8892480" cy="987322"/>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𝛼</m:t>
                          </m:r>
                        </m:e>
                        <m:sub>
                          <m:r>
                            <a:rPr lang="zh-CN" altLang="en-US" sz="2800" i="1">
                              <a:latin typeface="Cambria Math" panose="02040503050406030204" pitchFamily="18" charset="0"/>
                            </a:rPr>
                            <m:t>𝑘</m:t>
                          </m:r>
                        </m:sub>
                      </m:sSub>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𝑐</m:t>
                          </m:r>
                        </m:e>
                        <m:sub>
                          <m:r>
                            <a:rPr lang="zh-CN" altLang="en-US" sz="2800" i="1">
                              <a:latin typeface="Cambria Math" panose="02040503050406030204" pitchFamily="18" charset="0"/>
                            </a:rPr>
                            <m:t>𝑝</m:t>
                          </m:r>
                        </m:sub>
                      </m:s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𝛼</m:t>
                          </m:r>
                        </m:e>
                        <m:sub>
                          <m:r>
                            <a:rPr lang="zh-CN" altLang="en-US" sz="2800" i="1">
                              <a:latin typeface="Cambria Math" panose="02040503050406030204" pitchFamily="18" charset="0"/>
                            </a:rPr>
                            <m:t>𝑘</m:t>
                          </m:r>
                          <m:r>
                            <a:rPr lang="zh-CN" altLang="en-US" sz="2800" i="0">
                              <a:latin typeface="Cambria Math" panose="02040503050406030204" pitchFamily="18" charset="0"/>
                            </a:rPr>
                            <m:t>−</m:t>
                          </m:r>
                          <m:r>
                            <a:rPr lang="zh-CN" altLang="en-US" sz="2800" i="1">
                              <a:latin typeface="Cambria Math" panose="02040503050406030204" pitchFamily="18" charset="0"/>
                            </a:rPr>
                            <m:t>𝑝</m:t>
                          </m:r>
                        </m:sub>
                      </m:sSub>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𝑐</m:t>
                          </m:r>
                        </m:e>
                        <m:sub>
                          <m:r>
                            <a:rPr lang="zh-CN" altLang="en-US" sz="2800" i="1">
                              <a:latin typeface="Cambria Math" panose="02040503050406030204" pitchFamily="18" charset="0"/>
                            </a:rPr>
                            <m:t>𝑝</m:t>
                          </m:r>
                          <m:r>
                            <a:rPr lang="zh-CN" altLang="en-US" sz="2800" i="0">
                              <a:latin typeface="Cambria Math" panose="02040503050406030204" pitchFamily="18" charset="0"/>
                            </a:rPr>
                            <m:t>−1</m:t>
                          </m:r>
                        </m:sub>
                      </m:s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𝛼</m:t>
                          </m:r>
                        </m:e>
                        <m:sub>
                          <m:r>
                            <a:rPr lang="zh-CN" altLang="en-US" sz="2800" i="1">
                              <a:latin typeface="Cambria Math" panose="02040503050406030204" pitchFamily="18" charset="0"/>
                            </a:rPr>
                            <m:t>𝑘</m:t>
                          </m:r>
                          <m:r>
                            <a:rPr lang="zh-CN" altLang="en-US" sz="2800" i="0">
                              <a:latin typeface="Cambria Math" panose="02040503050406030204" pitchFamily="18" charset="0"/>
                            </a:rPr>
                            <m:t>−</m:t>
                          </m:r>
                          <m:r>
                            <a:rPr lang="zh-CN" altLang="en-US" sz="2800" i="1">
                              <a:latin typeface="Cambria Math" panose="02040503050406030204" pitchFamily="18" charset="0"/>
                            </a:rPr>
                            <m:t>𝑝</m:t>
                          </m:r>
                          <m:r>
                            <a:rPr lang="zh-CN" altLang="en-US" sz="2800" i="0">
                              <a:latin typeface="Cambria Math" panose="02040503050406030204" pitchFamily="18" charset="0"/>
                            </a:rPr>
                            <m:t>+1</m:t>
                          </m:r>
                        </m:sub>
                      </m:sSub>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𝑐</m:t>
                          </m:r>
                        </m:e>
                        <m:sub>
                          <m:r>
                            <a:rPr lang="zh-CN" altLang="en-US" sz="2800" i="0">
                              <a:latin typeface="Cambria Math" panose="02040503050406030204" pitchFamily="18" charset="0"/>
                            </a:rPr>
                            <m:t>1</m:t>
                          </m:r>
                        </m:sub>
                      </m:sSub>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𝛼</m:t>
                          </m:r>
                        </m:e>
                        <m:sub>
                          <m:r>
                            <a:rPr lang="zh-CN" altLang="en-US" sz="2800" i="1">
                              <a:latin typeface="Cambria Math" panose="02040503050406030204" pitchFamily="18" charset="0"/>
                            </a:rPr>
                            <m:t>𝑘</m:t>
                          </m:r>
                          <m:r>
                            <a:rPr lang="zh-CN" altLang="en-US" sz="2800" i="0">
                              <a:latin typeface="Cambria Math" panose="02040503050406030204" pitchFamily="18" charset="0"/>
                            </a:rPr>
                            <m:t>−1</m:t>
                          </m:r>
                        </m:sub>
                      </m:sSub>
                      <m:r>
                        <a:rPr lang="zh-CN" altLang="en-US" sz="2800" i="0">
                          <a:latin typeface="Cambria Math" panose="02040503050406030204" pitchFamily="18" charset="0"/>
                        </a:rPr>
                        <m:t>)(</m:t>
                      </m:r>
                      <m:r>
                        <m:rPr>
                          <m:sty m:val="p"/>
                        </m:rPr>
                        <a:rPr lang="zh-CN" altLang="en-US" sz="2800" i="0">
                          <a:latin typeface="Cambria Math" panose="02040503050406030204" pitchFamily="18" charset="0"/>
                        </a:rPr>
                        <m:t>mod</m:t>
                      </m:r>
                      <m:r>
                        <m:rPr>
                          <m:nor/>
                        </m:rPr>
                        <a:rPr lang="zh-CN" altLang="en-US" sz="2800" i="1">
                          <a:latin typeface="Cambria Math" panose="02040503050406030204" pitchFamily="18" charset="0"/>
                        </a:rPr>
                        <m:t> </m:t>
                      </m:r>
                      <m:r>
                        <a:rPr lang="zh-CN" altLang="en-US" sz="2800" i="0">
                          <a:latin typeface="Cambria Math" panose="02040503050406030204" pitchFamily="18" charset="0"/>
                        </a:rPr>
                        <m:t>2),</m:t>
                      </m:r>
                      <m:r>
                        <m:rPr>
                          <m:nor/>
                        </m:rPr>
                        <a:rPr lang="zh-CN" altLang="en-US" sz="2800" i="1">
                          <a:latin typeface="Cambria Math" panose="02040503050406030204" pitchFamily="18" charset="0"/>
                        </a:rPr>
                        <m:t> </m:t>
                      </m:r>
                    </m:oMath>
                  </m:oMathPara>
                </a14:m>
                <a:endParaRPr lang="en-US" altLang="zh-CN" sz="28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zh-CN" altLang="en-US" sz="2800" i="1">
                          <a:latin typeface="Cambria Math" panose="02040503050406030204" pitchFamily="18" charset="0"/>
                        </a:rPr>
                        <m:t>𝑘</m:t>
                      </m:r>
                      <m:r>
                        <a:rPr lang="zh-CN" altLang="en-US" sz="2800" i="0">
                          <a:latin typeface="Cambria Math" panose="02040503050406030204" pitchFamily="18" charset="0"/>
                        </a:rPr>
                        <m:t>=1,2,…</m:t>
                      </m:r>
                    </m:oMath>
                  </m:oMathPara>
                </a14:m>
                <a:endParaRPr lang="zh-CN" altLang="en-US" sz="2800" dirty="0"/>
              </a:p>
            </p:txBody>
          </p:sp>
        </mc:Choice>
        <mc:Fallback xmlns="">
          <p:sp>
            <p:nvSpPr>
              <p:cNvPr id="6" name="矩形 5">
                <a:extLst>
                  <a:ext uri="{FF2B5EF4-FFF2-40B4-BE49-F238E27FC236}">
                    <a16:creationId xmlns:a16="http://schemas.microsoft.com/office/drawing/2014/main" id="{FE012EB3-69EF-4130-BADD-3C6DEA447AA4}"/>
                  </a:ext>
                </a:extLst>
              </p:cNvPr>
              <p:cNvSpPr>
                <a:spLocks noRot="1" noChangeAspect="1" noMove="1" noResize="1" noEditPoints="1" noAdjustHandles="1" noChangeArrowheads="1" noChangeShapeType="1" noTextEdit="1"/>
              </p:cNvSpPr>
              <p:nvPr/>
            </p:nvSpPr>
            <p:spPr>
              <a:xfrm>
                <a:off x="309508" y="3622258"/>
                <a:ext cx="8892480" cy="987322"/>
              </a:xfrm>
              <a:prstGeom prst="rect">
                <a:avLst/>
              </a:prstGeom>
              <a:blipFill>
                <a:blip r:embed="rId5"/>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7429F7DC-FBC0-4574-800A-3800C0CFA24F}"/>
              </a:ext>
            </a:extLst>
          </p:cNvPr>
          <p:cNvSpPr/>
          <p:nvPr/>
        </p:nvSpPr>
        <p:spPr>
          <a:xfrm>
            <a:off x="323655" y="4734145"/>
            <a:ext cx="8496690" cy="1077218"/>
          </a:xfrm>
          <a:prstGeom prst="rect">
            <a:avLst/>
          </a:prstGeom>
        </p:spPr>
        <p:txBody>
          <a:bodyPr wrap="square">
            <a:spAutoFit/>
          </a:bodyPr>
          <a:lstStyle/>
          <a:p>
            <a:r>
              <a:rPr lang="zh-CN" altLang="en-US" sz="3200" dirty="0">
                <a:solidFill>
                  <a:srgbClr val="006699"/>
                </a:solidFill>
                <a:latin typeface="Verdana" panose="020B0604030504040204" pitchFamily="34" charset="0"/>
              </a:rPr>
              <a:t>线性组合系数</a:t>
            </a:r>
            <a:r>
              <a:rPr lang="en-US" altLang="zh-CN" sz="3200" dirty="0">
                <a:solidFill>
                  <a:srgbClr val="FF0000"/>
                </a:solidFill>
                <a:latin typeface="Verdana" panose="020B0604030504040204" pitchFamily="34" charset="0"/>
              </a:rPr>
              <a:t>{c</a:t>
            </a:r>
            <a:r>
              <a:rPr lang="en-US" altLang="zh-CN" sz="3200" baseline="-25000" dirty="0">
                <a:solidFill>
                  <a:srgbClr val="FF0000"/>
                </a:solidFill>
                <a:latin typeface="Verdana" panose="020B0604030504040204" pitchFamily="34" charset="0"/>
              </a:rPr>
              <a:t>i</a:t>
            </a:r>
            <a:r>
              <a:rPr lang="en-US" altLang="zh-CN" sz="3200" dirty="0">
                <a:solidFill>
                  <a:srgbClr val="FF0000"/>
                </a:solidFill>
                <a:latin typeface="Verdana" panose="020B0604030504040204" pitchFamily="34" charset="0"/>
              </a:rPr>
              <a:t>}</a:t>
            </a:r>
            <a:r>
              <a:rPr lang="zh-CN" altLang="en-US" sz="3200" dirty="0">
                <a:solidFill>
                  <a:srgbClr val="FF0000"/>
                </a:solidFill>
                <a:latin typeface="Verdana" panose="020B0604030504040204" pitchFamily="34" charset="0"/>
              </a:rPr>
              <a:t>只取</a:t>
            </a:r>
            <a:r>
              <a:rPr lang="en-US" altLang="zh-CN" sz="3200" dirty="0">
                <a:solidFill>
                  <a:srgbClr val="FF0000"/>
                </a:solidFill>
                <a:latin typeface="Verdana" panose="020B0604030504040204" pitchFamily="34" charset="0"/>
              </a:rPr>
              <a:t>0, 1</a:t>
            </a:r>
            <a:r>
              <a:rPr lang="zh-CN" altLang="en-US" sz="3200" dirty="0">
                <a:solidFill>
                  <a:srgbClr val="006699"/>
                </a:solidFill>
                <a:latin typeface="Verdana" panose="020B0604030504040204" pitchFamily="34" charset="0"/>
              </a:rPr>
              <a:t>， 这样的递推可以利用程序语言中的整数二进制运算快速实现。</a:t>
            </a:r>
            <a:endParaRPr lang="zh-CN" altLang="en-US" dirty="0"/>
          </a:p>
        </p:txBody>
      </p:sp>
    </p:spTree>
    <p:extLst>
      <p:ext uri="{BB962C8B-B14F-4D97-AF65-F5344CB8AC3E}">
        <p14:creationId xmlns:p14="http://schemas.microsoft.com/office/powerpoint/2010/main" val="28975059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2.2.4 FSR</a:t>
            </a:r>
            <a:r>
              <a:rPr lang="zh-CN" altLang="en-US" dirty="0"/>
              <a:t>发生器</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8D587F9-31CF-4555-B182-0DB0560B3E90}"/>
                  </a:ext>
                </a:extLst>
              </p:cNvPr>
              <p:cNvSpPr txBox="1"/>
              <p:nvPr/>
            </p:nvSpPr>
            <p:spPr>
              <a:xfrm>
                <a:off x="-22045" y="1070502"/>
                <a:ext cx="8820980" cy="2341603"/>
              </a:xfrm>
              <a:prstGeom prst="rect">
                <a:avLst/>
              </a:prstGeom>
              <a:noFill/>
              <a:ln w="25400">
                <a:noFill/>
              </a:ln>
            </p:spPr>
            <p:txBody>
              <a:bodyPr wrap="square">
                <a:spAutoFit/>
              </a:bodyPr>
              <a:lstStyle/>
              <a:p>
                <a:pPr>
                  <a:spcBef>
                    <a:spcPts val="900"/>
                  </a:spcBef>
                  <a:spcAft>
                    <a:spcPts val="900"/>
                  </a:spcAft>
                </a:pPr>
                <a:r>
                  <a:rPr lang="en-US" altLang="zh-CN" sz="2800" dirty="0" err="1">
                    <a:effectLst/>
                    <a:latin typeface="宋体" panose="02010600030101010101" pitchFamily="2" charset="-122"/>
                    <a:cs typeface="Times New Roman" panose="02020603050405020304" pitchFamily="18" charset="0"/>
                  </a:rPr>
                  <a:t>给定初值</a:t>
                </a:r>
                <a14:m>
                  <m:oMath xmlns:m="http://schemas.openxmlformats.org/officeDocument/2006/math">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𝛼</m:t>
                            </m:r>
                          </m:e>
                          <m:sub>
                            <m:r>
                              <a:rPr lang="en-US" altLang="zh-CN" sz="2800" i="1">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𝑝</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𝛼</m:t>
                            </m:r>
                          </m:e>
                          <m:sub>
                            <m:r>
                              <a:rPr lang="en-US" altLang="zh-CN" sz="2800" i="1">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𝑝</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2</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𝛼</m:t>
                            </m:r>
                          </m:e>
                          <m:sub>
                            <m:r>
                              <a:rPr lang="en-US" altLang="zh-CN" sz="2800" i="1">
                                <a:effectLst/>
                                <a:latin typeface="Cambria Math" panose="02040503050406030204" pitchFamily="18" charset="0"/>
                                <a:cs typeface="Times New Roman" panose="02020603050405020304" pitchFamily="18" charset="0"/>
                              </a:rPr>
                              <m:t>0</m:t>
                            </m:r>
                          </m:sub>
                        </m:sSub>
                      </m:e>
                    </m:d>
                  </m:oMath>
                </a14:m>
                <a:r>
                  <a:rPr lang="en-US" altLang="zh-CN" sz="2800" dirty="0" err="1">
                    <a:effectLst/>
                    <a:latin typeface="宋体" panose="02010600030101010101" pitchFamily="2" charset="-122"/>
                    <a:cs typeface="Times New Roman" panose="02020603050405020304" pitchFamily="18" charset="0"/>
                  </a:rPr>
                  <a:t>向前递推</a:t>
                </a:r>
                <a:r>
                  <a:rPr lang="en-US" altLang="zh-CN" sz="2800" dirty="0">
                    <a:effectLst/>
                    <a:latin typeface="宋体" panose="02010600030101010101" pitchFamily="2" charset="-122"/>
                    <a:cs typeface="Times New Roman" panose="02020603050405020304" pitchFamily="18" charset="0"/>
                  </a:rPr>
                  <a:t>，</a:t>
                </a:r>
                <a:r>
                  <a:rPr lang="en-US" altLang="zh-CN" sz="2800" dirty="0">
                    <a:effectLst/>
                    <a:latin typeface="Cambria" panose="02040503050406030204" pitchFamily="18" charset="0"/>
                    <a:cs typeface="Times New Roman" panose="02020603050405020304" pitchFamily="18" charset="0"/>
                  </a:rPr>
                  <a:t> </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800" dirty="0" err="1">
                    <a:effectLst/>
                    <a:latin typeface="宋体" panose="02010600030101010101" pitchFamily="2" charset="-122"/>
                    <a:cs typeface="Times New Roman" panose="02020603050405020304" pitchFamily="18" charset="0"/>
                  </a:rPr>
                  <a:t>得到</a:t>
                </a:r>
                <a14:m>
                  <m:oMath xmlns:m="http://schemas.openxmlformats.org/officeDocument/2006/math">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𝛼</m:t>
                        </m:r>
                      </m:e>
                      <m:sub>
                        <m:r>
                          <a:rPr lang="en-US" altLang="zh-CN" sz="2800" i="1">
                            <a:effectLst/>
                            <a:latin typeface="Cambria Math" panose="02040503050406030204" pitchFamily="18" charset="0"/>
                            <a:cs typeface="Times New Roman" panose="02020603050405020304" pitchFamily="18" charset="0"/>
                          </a:rPr>
                          <m:t>𝑘</m:t>
                        </m:r>
                      </m:sub>
                    </m:sSub>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𝑘</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1</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2</m:t>
                    </m:r>
                    <m:r>
                      <a:rPr lang="en-US" altLang="zh-CN" sz="2800">
                        <a:effectLst/>
                        <a:latin typeface="Cambria Math" panose="02040503050406030204" pitchFamily="18" charset="0"/>
                        <a:cs typeface="Times New Roman" panose="02020603050405020304" pitchFamily="18" charset="0"/>
                      </a:rPr>
                      <m:t>,…}</m:t>
                    </m:r>
                  </m:oMath>
                </a14:m>
                <a:r>
                  <a:rPr lang="en-US" altLang="zh-CN" sz="2800" dirty="0" err="1">
                    <a:effectLst/>
                    <a:latin typeface="宋体" panose="02010600030101010101" pitchFamily="2" charset="-122"/>
                    <a:cs typeface="Times New Roman" panose="02020603050405020304" pitchFamily="18" charset="0"/>
                  </a:rPr>
                  <a:t>序列后依次截取长度为</a:t>
                </a:r>
                <a:r>
                  <a:rPr lang="en-US" altLang="zh-CN" sz="2800" dirty="0" err="1">
                    <a:effectLst/>
                    <a:latin typeface="Cambria" panose="02040503050406030204" pitchFamily="18" charset="0"/>
                    <a:cs typeface="Times New Roman" panose="02020603050405020304" pitchFamily="18" charset="0"/>
                  </a:rPr>
                  <a:t>L</a:t>
                </a:r>
                <a:r>
                  <a:rPr lang="en-US" altLang="zh-CN" sz="2800" dirty="0" err="1">
                    <a:effectLst/>
                    <a:latin typeface="宋体" panose="02010600030101010101" pitchFamily="2" charset="-122"/>
                    <a:cs typeface="Times New Roman" panose="02020603050405020304" pitchFamily="18" charset="0"/>
                  </a:rPr>
                  <a:t>的二进制位组合成整数</a:t>
                </a:r>
                <a14:m>
                  <m:oMath xmlns:m="http://schemas.openxmlformats.org/officeDocument/2006/math">
                    <m:sSub>
                      <m:sSubPr>
                        <m:ctrlPr>
                          <a:rPr lang="zh-CN" altLang="zh-CN" sz="2800" i="1"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FF0000"/>
                            </a:solidFill>
                            <a:effectLst/>
                            <a:latin typeface="Cambria Math" panose="02040503050406030204" pitchFamily="18" charset="0"/>
                            <a:cs typeface="Times New Roman" panose="02020603050405020304" pitchFamily="18" charset="0"/>
                          </a:rPr>
                          <m:t>𝑥</m:t>
                        </m:r>
                      </m:e>
                      <m:sub>
                        <m:r>
                          <a:rPr lang="en-US" altLang="zh-CN" sz="2800" i="1">
                            <a:solidFill>
                              <a:srgbClr val="FF0000"/>
                            </a:solidFill>
                            <a:effectLst/>
                            <a:latin typeface="Cambria Math" panose="02040503050406030204" pitchFamily="18" charset="0"/>
                            <a:cs typeface="Times New Roman" panose="02020603050405020304" pitchFamily="18" charset="0"/>
                          </a:rPr>
                          <m:t>𝑛</m:t>
                        </m:r>
                      </m:sub>
                    </m:sSub>
                  </m:oMath>
                </a14:m>
                <a:r>
                  <a:rPr lang="en-US" altLang="zh-CN" sz="2800" dirty="0">
                    <a:effectLst/>
                    <a:latin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800" dirty="0">
                    <a:effectLst/>
                    <a:latin typeface="宋体" panose="02010600030101010101" pitchFamily="2" charset="-122"/>
                    <a:cs typeface="Times New Roman" panose="02020603050405020304" pitchFamily="18" charset="0"/>
                  </a:rPr>
                  <a:t>取</a:t>
                </a:r>
                <a:r>
                  <a:rPr lang="en-US" altLang="zh-CN" sz="2800" dirty="0">
                    <a:effectLst/>
                    <a:latin typeface="Cambria" panose="02040503050406030204" pitchFamily="18" charset="0"/>
                    <a:cs typeface="Times New Roman" panose="02020603050405020304" pitchFamily="18" charset="0"/>
                  </a:rPr>
                  <a:t> </a:t>
                </a:r>
                <a14:m>
                  <m:oMath xmlns:m="http://schemas.openxmlformats.org/officeDocument/2006/math">
                    <m:sSub>
                      <m:sSubPr>
                        <m:ctrlPr>
                          <a:rPr lang="zh-CN" altLang="zh-CN" sz="2800" i="1"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FF0000"/>
                            </a:solidFill>
                            <a:effectLst/>
                            <a:latin typeface="Cambria Math" panose="02040503050406030204" pitchFamily="18" charset="0"/>
                            <a:cs typeface="Times New Roman" panose="02020603050405020304" pitchFamily="18" charset="0"/>
                          </a:rPr>
                          <m:t>𝑅</m:t>
                        </m:r>
                      </m:e>
                      <m:sub>
                        <m:r>
                          <a:rPr lang="en-US" altLang="zh-CN" sz="2800" i="1">
                            <a:solidFill>
                              <a:srgbClr val="FF0000"/>
                            </a:solidFill>
                            <a:effectLst/>
                            <a:latin typeface="Cambria Math" panose="02040503050406030204" pitchFamily="18" charset="0"/>
                            <a:cs typeface="Times New Roman" panose="02020603050405020304" pitchFamily="18" charset="0"/>
                          </a:rPr>
                          <m:t>𝑛</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𝑥</m:t>
                        </m:r>
                      </m:e>
                      <m:sub>
                        <m:r>
                          <a:rPr lang="en-US" altLang="zh-CN" sz="2800" i="1">
                            <a:effectLst/>
                            <a:latin typeface="Cambria Math" panose="02040503050406030204" pitchFamily="18" charset="0"/>
                            <a:cs typeface="Times New Roman" panose="02020603050405020304" pitchFamily="18" charset="0"/>
                          </a:rPr>
                          <m:t>𝑛</m:t>
                        </m:r>
                      </m:sub>
                    </m:sSub>
                    <m:r>
                      <a:rPr lang="en-US" altLang="zh-CN" sz="2800">
                        <a:effectLst/>
                        <a:latin typeface="Cambria Math" panose="02040503050406030204" pitchFamily="18" charset="0"/>
                        <a:cs typeface="Times New Roman" panose="02020603050405020304" pitchFamily="18" charset="0"/>
                      </a:rPr>
                      <m:t>/</m:t>
                    </m:r>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effectLst/>
                            <a:latin typeface="Cambria Math" panose="02040503050406030204" pitchFamily="18" charset="0"/>
                            <a:cs typeface="Times New Roman" panose="02020603050405020304" pitchFamily="18" charset="0"/>
                          </a:rPr>
                          <m:t>2</m:t>
                        </m:r>
                      </m:e>
                      <m:sup>
                        <m:r>
                          <a:rPr lang="en-US" altLang="zh-CN" sz="2800" i="1">
                            <a:effectLst/>
                            <a:latin typeface="Cambria Math" panose="02040503050406030204" pitchFamily="18" charset="0"/>
                            <a:cs typeface="Times New Roman" panose="02020603050405020304" pitchFamily="18" charset="0"/>
                          </a:rPr>
                          <m:t>𝐿</m:t>
                        </m:r>
                      </m:sup>
                    </m:sSup>
                  </m:oMath>
                </a14:m>
                <a:r>
                  <a:rPr lang="en-US" altLang="zh-CN" sz="2800" dirty="0">
                    <a:effectLst/>
                    <a:latin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78D587F9-31CF-4555-B182-0DB0560B3E90}"/>
                  </a:ext>
                </a:extLst>
              </p:cNvPr>
              <p:cNvSpPr txBox="1">
                <a:spLocks noRot="1" noChangeAspect="1" noMove="1" noResize="1" noEditPoints="1" noAdjustHandles="1" noChangeArrowheads="1" noChangeShapeType="1" noTextEdit="1"/>
              </p:cNvSpPr>
              <p:nvPr/>
            </p:nvSpPr>
            <p:spPr>
              <a:xfrm>
                <a:off x="-22045" y="1070502"/>
                <a:ext cx="8820980" cy="2341603"/>
              </a:xfrm>
              <a:prstGeom prst="rect">
                <a:avLst/>
              </a:prstGeom>
              <a:blipFill>
                <a:blip r:embed="rId2"/>
                <a:stretch>
                  <a:fillRect l="-1382" t="-2865" r="-1037" b="-5729"/>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254414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2.2.4 FSR</a:t>
            </a:r>
            <a:r>
              <a:rPr lang="zh-CN" altLang="en-US" dirty="0"/>
              <a:t>发生器</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en-US" altLang="zh-CN" sz="3200" dirty="0">
                <a:solidFill>
                  <a:srgbClr val="006699"/>
                </a:solidFill>
                <a:latin typeface="Verdana" panose="020B0604030504040204" pitchFamily="34" charset="0"/>
              </a:rPr>
              <a:t>FSR</a:t>
            </a:r>
            <a:r>
              <a:rPr lang="zh-CN" altLang="en-US" sz="3200" dirty="0">
                <a:solidFill>
                  <a:srgbClr val="006699"/>
                </a:solidFill>
                <a:latin typeface="Verdana" panose="020B0604030504040204" pitchFamily="34" charset="0"/>
              </a:rPr>
              <a:t>算法中系数</a:t>
            </a:r>
            <a:r>
              <a:rPr lang="en-US" altLang="zh-CN" sz="3200" dirty="0">
                <a:solidFill>
                  <a:srgbClr val="006699"/>
                </a:solidFill>
                <a:latin typeface="Verdana" panose="020B0604030504040204" pitchFamily="34" charset="0"/>
              </a:rPr>
              <a:t>(c</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,c</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,…,c</a:t>
            </a:r>
            <a:r>
              <a:rPr lang="en-US" altLang="zh-CN" sz="3200" baseline="-25000" dirty="0">
                <a:solidFill>
                  <a:srgbClr val="006699"/>
                </a:solidFill>
                <a:latin typeface="Verdana" panose="020B0604030504040204" pitchFamily="34" charset="0"/>
              </a:rPr>
              <a:t>p</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如果仅有两个为</a:t>
            </a:r>
            <a:r>
              <a:rPr lang="en-US" altLang="zh-CN" sz="32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 比如</a:t>
            </a:r>
            <a:r>
              <a:rPr lang="en-US" altLang="zh-CN" sz="3200" dirty="0">
                <a:solidFill>
                  <a:srgbClr val="006699"/>
                </a:solidFill>
                <a:latin typeface="Verdana" panose="020B0604030504040204" pitchFamily="34" charset="0"/>
              </a:rPr>
              <a:t>c</a:t>
            </a:r>
            <a:r>
              <a:rPr lang="en-US" altLang="zh-CN" sz="3200" baseline="-25000" dirty="0">
                <a:solidFill>
                  <a:srgbClr val="006699"/>
                </a:solidFill>
                <a:latin typeface="Verdana" panose="020B0604030504040204" pitchFamily="34" charset="0"/>
              </a:rPr>
              <a:t>p</a:t>
            </a:r>
            <a:r>
              <a:rPr lang="en-US" altLang="zh-CN" sz="3200" dirty="0">
                <a:solidFill>
                  <a:srgbClr val="006699"/>
                </a:solidFill>
                <a:latin typeface="Verdana" panose="020B0604030504040204" pitchFamily="34" charset="0"/>
              </a:rPr>
              <a:t>=c</a:t>
            </a:r>
            <a:r>
              <a:rPr lang="en-US" altLang="zh-CN" sz="3200" baseline="-25000" dirty="0">
                <a:solidFill>
                  <a:srgbClr val="006699"/>
                </a:solidFill>
                <a:latin typeface="Verdana" panose="020B0604030504040204" pitchFamily="34" charset="0"/>
              </a:rPr>
              <a:t>p−q</a:t>
            </a:r>
            <a:r>
              <a:rPr lang="en-US" altLang="zh-CN" sz="3200" dirty="0">
                <a:solidFill>
                  <a:srgbClr val="006699"/>
                </a:solidFill>
                <a:latin typeface="Verdana" panose="020B0604030504040204" pitchFamily="34" charset="0"/>
              </a:rPr>
              <a:t>=1(1&lt;q&lt;p), </a:t>
            </a:r>
            <a:r>
              <a:rPr lang="zh-CN" altLang="en-US" sz="3200" dirty="0">
                <a:solidFill>
                  <a:srgbClr val="006699"/>
                </a:solidFill>
                <a:latin typeface="Verdana" panose="020B0604030504040204" pitchFamily="34" charset="0"/>
              </a:rPr>
              <a:t>则算法变成</a:t>
            </a:r>
          </a:p>
        </p:txBody>
      </p:sp>
      <p:pic>
        <p:nvPicPr>
          <p:cNvPr id="2" name="图片 1">
            <a:extLst>
              <a:ext uri="{FF2B5EF4-FFF2-40B4-BE49-F238E27FC236}">
                <a16:creationId xmlns:a16="http://schemas.microsoft.com/office/drawing/2014/main" id="{F56A2E6E-BE61-4D43-8E2F-8701F88CA052}"/>
              </a:ext>
            </a:extLst>
          </p:cNvPr>
          <p:cNvPicPr>
            <a:picLocks noChangeAspect="1"/>
          </p:cNvPicPr>
          <p:nvPr/>
        </p:nvPicPr>
        <p:blipFill>
          <a:blip r:embed="rId2"/>
          <a:stretch>
            <a:fillRect/>
          </a:stretch>
        </p:blipFill>
        <p:spPr>
          <a:xfrm>
            <a:off x="1421650" y="2279974"/>
            <a:ext cx="4817846" cy="2298052"/>
          </a:xfrm>
          <a:prstGeom prst="rect">
            <a:avLst/>
          </a:prstGeom>
        </p:spPr>
      </p:pic>
    </p:spTree>
    <p:extLst>
      <p:ext uri="{BB962C8B-B14F-4D97-AF65-F5344CB8AC3E}">
        <p14:creationId xmlns:p14="http://schemas.microsoft.com/office/powerpoint/2010/main" val="7441283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2.2.5 </a:t>
            </a:r>
            <a:r>
              <a:rPr lang="zh-CN" altLang="en-US" dirty="0"/>
              <a:t>组合发生器法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5.10 Wichmann</a:t>
            </a:r>
            <a:r>
              <a:rPr lang="zh-CN" altLang="en-US" sz="3200" dirty="0">
                <a:solidFill>
                  <a:srgbClr val="006699"/>
                </a:solidFill>
                <a:latin typeface="Verdana" panose="020B0604030504040204" pitchFamily="34" charset="0"/>
              </a:rPr>
              <a:t>和</a:t>
            </a:r>
            <a:r>
              <a:rPr lang="en-US" altLang="zh-CN" sz="3200" dirty="0">
                <a:solidFill>
                  <a:srgbClr val="006699"/>
                </a:solidFill>
                <a:latin typeface="Verdana" panose="020B0604030504040204" pitchFamily="34" charset="0"/>
              </a:rPr>
              <a:t>Hill</a:t>
            </a:r>
            <a:r>
              <a:rPr lang="zh-CN" altLang="en-US" sz="3200" dirty="0">
                <a:solidFill>
                  <a:srgbClr val="006699"/>
                </a:solidFill>
                <a:latin typeface="Verdana" panose="020B0604030504040204" pitchFamily="34" charset="0"/>
              </a:rPr>
              <a:t>（</a:t>
            </a:r>
            <a:r>
              <a:rPr lang="en-US" altLang="zh-CN" sz="3200" dirty="0">
                <a:solidFill>
                  <a:srgbClr val="006699"/>
                </a:solidFill>
                <a:latin typeface="Verdana" panose="020B0604030504040204" pitchFamily="34" charset="0"/>
              </a:rPr>
              <a:t>1982</a:t>
            </a:r>
            <a:r>
              <a:rPr lang="zh-CN" altLang="en-US" sz="3200" dirty="0">
                <a:solidFill>
                  <a:srgbClr val="006699"/>
                </a:solidFill>
                <a:latin typeface="Verdana" panose="020B0604030504040204" pitchFamily="34" charset="0"/>
              </a:rPr>
              <a:t>）设计了如下的线性组合发生器。</a:t>
            </a:r>
          </a:p>
          <a:p>
            <a:pPr marL="0" indent="0" eaLnBrk="1" hangingPunct="1">
              <a:spcBef>
                <a:spcPct val="20000"/>
              </a:spcBef>
            </a:pPr>
            <a:r>
              <a:rPr lang="zh-CN" altLang="en-US" sz="3200" dirty="0">
                <a:solidFill>
                  <a:srgbClr val="006699"/>
                </a:solidFill>
                <a:latin typeface="Verdana" panose="020B0604030504040204" pitchFamily="34" charset="0"/>
              </a:rPr>
              <a:t>利用三个</a:t>
            </a:r>
            <a:r>
              <a:rPr lang="en-US" altLang="zh-CN" sz="3200" dirty="0">
                <a:solidFill>
                  <a:srgbClr val="006699"/>
                </a:solidFill>
                <a:latin typeface="Verdana" panose="020B0604030504040204" pitchFamily="34" charset="0"/>
              </a:rPr>
              <a:t>16</a:t>
            </a:r>
            <a:r>
              <a:rPr lang="zh-CN" altLang="en-US" sz="3200" dirty="0">
                <a:solidFill>
                  <a:srgbClr val="006699"/>
                </a:solidFill>
                <a:latin typeface="Verdana" panose="020B0604030504040204" pitchFamily="34" charset="0"/>
              </a:rPr>
              <a:t>位运算的素数模乘同余发生器</a:t>
            </a:r>
            <a:r>
              <a:rPr lang="en-US" altLang="zh-CN" sz="3200" dirty="0">
                <a:solidFill>
                  <a:srgbClr val="006699"/>
                </a:solidFill>
                <a:latin typeface="Verdana" panose="020B0604030504040204" pitchFamily="34" charset="0"/>
              </a:rPr>
              <a:t>:</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3FE0A25-652C-4674-A87B-4DC86A018E67}"/>
                  </a:ext>
                </a:extLst>
              </p:cNvPr>
              <p:cNvSpPr/>
              <p:nvPr/>
            </p:nvSpPr>
            <p:spPr>
              <a:xfrm>
                <a:off x="1061610" y="2886335"/>
                <a:ext cx="6394186" cy="20034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zh-CN" altLang="en-US" sz="3200" i="1" smtClean="0">
                              <a:latin typeface="Cambria Math" panose="02040503050406030204" pitchFamily="18" charset="0"/>
                            </a:rPr>
                          </m:ctrlPr>
                        </m:mPr>
                        <m:m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𝑈</m:t>
                                </m:r>
                              </m:e>
                              <m:sub>
                                <m:r>
                                  <a:rPr lang="zh-CN" altLang="en-US" sz="3200" i="1">
                                    <a:latin typeface="Cambria Math" panose="02040503050406030204" pitchFamily="18" charset="0"/>
                                  </a:rPr>
                                  <m:t>𝑛</m:t>
                                </m:r>
                              </m:sub>
                            </m:sSub>
                          </m:e>
                          <m:e>
                            <m:r>
                              <a:rPr lang="zh-CN" altLang="en-US" sz="3200">
                                <a:latin typeface="Cambria Math" panose="02040503050406030204" pitchFamily="18" charset="0"/>
                              </a:rPr>
                              <m:t>=</m:t>
                            </m:r>
                          </m:e>
                          <m:e>
                            <m:d>
                              <m:dPr>
                                <m:begChr m:val=""/>
                                <m:ctrlPr>
                                  <a:rPr lang="zh-CN" altLang="en-US" sz="3200" i="1">
                                    <a:latin typeface="Cambria Math" panose="02040503050406030204" pitchFamily="18" charset="0"/>
                                  </a:rPr>
                                </m:ctrlPr>
                              </m:dPr>
                              <m:e>
                                <m:r>
                                  <a:rPr lang="zh-CN" altLang="en-US" sz="3200">
                                    <a:latin typeface="Cambria Math" panose="02040503050406030204" pitchFamily="18" charset="0"/>
                                  </a:rPr>
                                  <m:t>171</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𝑈</m:t>
                                    </m:r>
                                  </m:e>
                                  <m:sub>
                                    <m:r>
                                      <a:rPr lang="zh-CN" altLang="en-US" sz="3200" i="1">
                                        <a:latin typeface="Cambria Math" panose="02040503050406030204" pitchFamily="18" charset="0"/>
                                      </a:rPr>
                                      <m:t>𝑛</m:t>
                                    </m:r>
                                    <m:r>
                                      <a:rPr lang="zh-CN" altLang="en-US" sz="3200">
                                        <a:latin typeface="Cambria Math" panose="02040503050406030204" pitchFamily="18" charset="0"/>
                                      </a:rPr>
                                      <m:t>−1</m:t>
                                    </m:r>
                                  </m:sub>
                                </m:sSub>
                                <m:r>
                                  <m:rPr>
                                    <m:nor/>
                                  </m:rPr>
                                  <a:rPr lang="zh-CN" altLang="en-US" sz="3200" i="1">
                                    <a:latin typeface="Cambria Math" panose="02040503050406030204" pitchFamily="18" charset="0"/>
                                  </a:rPr>
                                  <m:t> </m:t>
                                </m:r>
                                <m:r>
                                  <a:rPr lang="zh-CN" altLang="en-US" sz="3200">
                                    <a:latin typeface="Cambria Math" panose="02040503050406030204" pitchFamily="18" charset="0"/>
                                  </a:rPr>
                                  <m:t>(</m:t>
                                </m:r>
                                <m:r>
                                  <m:rPr>
                                    <m:sty m:val="p"/>
                                  </m:rPr>
                                  <a:rPr lang="zh-CN" altLang="en-US" sz="3200">
                                    <a:latin typeface="Cambria Math" panose="02040503050406030204" pitchFamily="18" charset="0"/>
                                  </a:rPr>
                                  <m:t>mod</m:t>
                                </m:r>
                                <m:r>
                                  <m:rPr>
                                    <m:nor/>
                                  </m:rPr>
                                  <a:rPr lang="zh-CN" altLang="en-US" sz="3200" i="1">
                                    <a:latin typeface="Cambria Math" panose="02040503050406030204" pitchFamily="18" charset="0"/>
                                  </a:rPr>
                                  <m:t> </m:t>
                                </m:r>
                                <m:r>
                                  <a:rPr lang="zh-CN" altLang="en-US" sz="3200">
                                    <a:latin typeface="Cambria Math" panose="02040503050406030204" pitchFamily="18" charset="0"/>
                                  </a:rPr>
                                  <m:t>30269</m:t>
                                </m:r>
                              </m:e>
                            </m:d>
                          </m:e>
                        </m:mr>
                        <m:m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𝑉</m:t>
                                </m:r>
                              </m:e>
                              <m:sub>
                                <m:r>
                                  <a:rPr lang="zh-CN" altLang="en-US" sz="3200" i="1">
                                    <a:latin typeface="Cambria Math" panose="02040503050406030204" pitchFamily="18" charset="0"/>
                                  </a:rPr>
                                  <m:t>𝑛</m:t>
                                </m:r>
                              </m:sub>
                            </m:sSub>
                          </m:e>
                          <m:e>
                            <m:r>
                              <a:rPr lang="zh-CN" altLang="en-US" sz="3200">
                                <a:latin typeface="Cambria Math" panose="02040503050406030204" pitchFamily="18" charset="0"/>
                              </a:rPr>
                              <m:t>=</m:t>
                            </m:r>
                          </m:e>
                          <m:e>
                            <m:d>
                              <m:dPr>
                                <m:begChr m:val=""/>
                                <m:ctrlPr>
                                  <a:rPr lang="zh-CN" altLang="en-US" sz="3200" i="1">
                                    <a:latin typeface="Cambria Math" panose="02040503050406030204" pitchFamily="18" charset="0"/>
                                  </a:rPr>
                                </m:ctrlPr>
                              </m:dPr>
                              <m:e>
                                <m:r>
                                  <a:rPr lang="zh-CN" altLang="en-US" sz="3200">
                                    <a:latin typeface="Cambria Math" panose="02040503050406030204" pitchFamily="18" charset="0"/>
                                  </a:rPr>
                                  <m:t>172</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𝑉</m:t>
                                    </m:r>
                                  </m:e>
                                  <m:sub>
                                    <m:r>
                                      <a:rPr lang="zh-CN" altLang="en-US" sz="3200" i="1">
                                        <a:latin typeface="Cambria Math" panose="02040503050406030204" pitchFamily="18" charset="0"/>
                                      </a:rPr>
                                      <m:t>𝑛</m:t>
                                    </m:r>
                                    <m:r>
                                      <a:rPr lang="zh-CN" altLang="en-US" sz="3200">
                                        <a:latin typeface="Cambria Math" panose="02040503050406030204" pitchFamily="18" charset="0"/>
                                      </a:rPr>
                                      <m:t>−1</m:t>
                                    </m:r>
                                  </m:sub>
                                </m:sSub>
                                <m:r>
                                  <m:rPr>
                                    <m:nor/>
                                  </m:rPr>
                                  <a:rPr lang="zh-CN" altLang="en-US" sz="3200" i="1">
                                    <a:latin typeface="Cambria Math" panose="02040503050406030204" pitchFamily="18" charset="0"/>
                                  </a:rPr>
                                  <m:t> </m:t>
                                </m:r>
                                <m:r>
                                  <a:rPr lang="zh-CN" altLang="en-US" sz="3200">
                                    <a:latin typeface="Cambria Math" panose="02040503050406030204" pitchFamily="18" charset="0"/>
                                  </a:rPr>
                                  <m:t>(</m:t>
                                </m:r>
                                <m:r>
                                  <m:rPr>
                                    <m:sty m:val="p"/>
                                  </m:rPr>
                                  <a:rPr lang="zh-CN" altLang="en-US" sz="3200">
                                    <a:latin typeface="Cambria Math" panose="02040503050406030204" pitchFamily="18" charset="0"/>
                                  </a:rPr>
                                  <m:t>mod</m:t>
                                </m:r>
                                <m:r>
                                  <m:rPr>
                                    <m:nor/>
                                  </m:rPr>
                                  <a:rPr lang="zh-CN" altLang="en-US" sz="3200" i="1">
                                    <a:latin typeface="Cambria Math" panose="02040503050406030204" pitchFamily="18" charset="0"/>
                                  </a:rPr>
                                  <m:t> </m:t>
                                </m:r>
                                <m:r>
                                  <a:rPr lang="zh-CN" altLang="en-US" sz="3200">
                                    <a:latin typeface="Cambria Math" panose="02040503050406030204" pitchFamily="18" charset="0"/>
                                  </a:rPr>
                                  <m:t>30307</m:t>
                                </m:r>
                              </m:e>
                            </m:d>
                          </m:e>
                        </m:mr>
                        <m:m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𝑊</m:t>
                                </m:r>
                              </m:e>
                              <m:sub>
                                <m:r>
                                  <a:rPr lang="zh-CN" altLang="en-US" sz="3200" i="1">
                                    <a:latin typeface="Cambria Math" panose="02040503050406030204" pitchFamily="18" charset="0"/>
                                  </a:rPr>
                                  <m:t>𝑛</m:t>
                                </m:r>
                              </m:sub>
                            </m:sSub>
                          </m:e>
                          <m:e>
                            <m:r>
                              <a:rPr lang="zh-CN" altLang="en-US" sz="3200">
                                <a:latin typeface="Cambria Math" panose="02040503050406030204" pitchFamily="18" charset="0"/>
                              </a:rPr>
                              <m:t>=</m:t>
                            </m:r>
                          </m:e>
                          <m:e>
                            <m:d>
                              <m:dPr>
                                <m:begChr m:val=""/>
                                <m:ctrlPr>
                                  <a:rPr lang="zh-CN" altLang="en-US" sz="3200" i="1">
                                    <a:latin typeface="Cambria Math" panose="02040503050406030204" pitchFamily="18" charset="0"/>
                                  </a:rPr>
                                </m:ctrlPr>
                              </m:dPr>
                              <m:e>
                                <m:r>
                                  <a:rPr lang="zh-CN" altLang="en-US" sz="3200">
                                    <a:latin typeface="Cambria Math" panose="02040503050406030204" pitchFamily="18" charset="0"/>
                                  </a:rPr>
                                  <m:t>170</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𝑊</m:t>
                                    </m:r>
                                  </m:e>
                                  <m:sub>
                                    <m:r>
                                      <a:rPr lang="zh-CN" altLang="en-US" sz="3200" i="1">
                                        <a:latin typeface="Cambria Math" panose="02040503050406030204" pitchFamily="18" charset="0"/>
                                      </a:rPr>
                                      <m:t>𝑛</m:t>
                                    </m:r>
                                    <m:r>
                                      <a:rPr lang="zh-CN" altLang="en-US" sz="3200">
                                        <a:latin typeface="Cambria Math" panose="02040503050406030204" pitchFamily="18" charset="0"/>
                                      </a:rPr>
                                      <m:t>−1</m:t>
                                    </m:r>
                                  </m:sub>
                                </m:sSub>
                                <m:r>
                                  <m:rPr>
                                    <m:nor/>
                                  </m:rPr>
                                  <a:rPr lang="zh-CN" altLang="en-US" sz="3200" i="1">
                                    <a:latin typeface="Cambria Math" panose="02040503050406030204" pitchFamily="18" charset="0"/>
                                  </a:rPr>
                                  <m:t> </m:t>
                                </m:r>
                                <m:r>
                                  <a:rPr lang="zh-CN" altLang="en-US" sz="3200">
                                    <a:latin typeface="Cambria Math" panose="02040503050406030204" pitchFamily="18" charset="0"/>
                                  </a:rPr>
                                  <m:t>(</m:t>
                                </m:r>
                                <m:r>
                                  <m:rPr>
                                    <m:sty m:val="p"/>
                                  </m:rPr>
                                  <a:rPr lang="zh-CN" altLang="en-US" sz="3200">
                                    <a:latin typeface="Cambria Math" panose="02040503050406030204" pitchFamily="18" charset="0"/>
                                  </a:rPr>
                                  <m:t>mod</m:t>
                                </m:r>
                                <m:r>
                                  <m:rPr>
                                    <m:nor/>
                                  </m:rPr>
                                  <a:rPr lang="zh-CN" altLang="en-US" sz="3200" i="1">
                                    <a:latin typeface="Cambria Math" panose="02040503050406030204" pitchFamily="18" charset="0"/>
                                  </a:rPr>
                                  <m:t> </m:t>
                                </m:r>
                                <m:r>
                                  <a:rPr lang="zh-CN" altLang="en-US" sz="3200">
                                    <a:latin typeface="Cambria Math" panose="02040503050406030204" pitchFamily="18" charset="0"/>
                                  </a:rPr>
                                  <m:t>30323</m:t>
                                </m:r>
                              </m:e>
                            </m:d>
                          </m:e>
                        </m:mr>
                      </m:m>
                    </m:oMath>
                  </m:oMathPara>
                </a14:m>
                <a:endParaRPr lang="zh-CN" altLang="en-US" sz="3200" dirty="0"/>
              </a:p>
            </p:txBody>
          </p:sp>
        </mc:Choice>
        <mc:Fallback xmlns="">
          <p:sp>
            <p:nvSpPr>
              <p:cNvPr id="3" name="矩形 2">
                <a:extLst>
                  <a:ext uri="{FF2B5EF4-FFF2-40B4-BE49-F238E27FC236}">
                    <a16:creationId xmlns:a16="http://schemas.microsoft.com/office/drawing/2014/main" id="{43FE0A25-652C-4674-A87B-4DC86A018E67}"/>
                  </a:ext>
                </a:extLst>
              </p:cNvPr>
              <p:cNvSpPr>
                <a:spLocks noRot="1" noChangeAspect="1" noMove="1" noResize="1" noEditPoints="1" noAdjustHandles="1" noChangeArrowheads="1" noChangeShapeType="1" noTextEdit="1"/>
              </p:cNvSpPr>
              <p:nvPr/>
            </p:nvSpPr>
            <p:spPr>
              <a:xfrm>
                <a:off x="1061610" y="2886335"/>
                <a:ext cx="6394186" cy="2003497"/>
              </a:xfrm>
              <a:prstGeom prst="rect">
                <a:avLst/>
              </a:prstGeom>
              <a:blipFill>
                <a:blip r:embed="rId2"/>
                <a:stretch>
                  <a:fillRect/>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2178E1B0-394B-4982-9D58-DFBC5A58A95A}"/>
              </a:ext>
            </a:extLst>
          </p:cNvPr>
          <p:cNvSpPr/>
          <p:nvPr/>
        </p:nvSpPr>
        <p:spPr>
          <a:xfrm>
            <a:off x="1057" y="4908683"/>
            <a:ext cx="3653564" cy="584775"/>
          </a:xfrm>
          <a:prstGeom prst="rect">
            <a:avLst/>
          </a:prstGeom>
        </p:spPr>
        <p:txBody>
          <a:bodyPr wrap="none">
            <a:spAutoFit/>
          </a:bodyPr>
          <a:lstStyle/>
          <a:p>
            <a:r>
              <a:rPr lang="zh-CN" altLang="en-US" sz="3200" dirty="0">
                <a:solidFill>
                  <a:srgbClr val="006699"/>
                </a:solidFill>
                <a:latin typeface="Verdana" panose="020B0604030504040204" pitchFamily="34" charset="0"/>
              </a:rPr>
              <a:t>作线性组合并求余</a:t>
            </a:r>
            <a:r>
              <a:rPr lang="en-US" altLang="zh-CN" sz="3200" dirty="0">
                <a:solidFill>
                  <a:srgbClr val="006699"/>
                </a:solidFill>
                <a:latin typeface="Verdana" panose="020B0604030504040204" pitchFamily="34" charset="0"/>
              </a:rPr>
              <a:t>:</a:t>
            </a:r>
            <a:endParaRPr lang="zh-CN" altLang="en-US"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E6DB628-BE0F-4380-A153-D34436C7AEA3}"/>
                  </a:ext>
                </a:extLst>
              </p:cNvPr>
              <p:cNvSpPr/>
              <p:nvPr/>
            </p:nvSpPr>
            <p:spPr>
              <a:xfrm>
                <a:off x="58252" y="5523784"/>
                <a:ext cx="9027495" cy="53476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𝑅</m:t>
                              </m:r>
                            </m:e>
                            <m:sub>
                              <m:r>
                                <a:rPr lang="zh-CN" altLang="en-US" sz="2400" i="1">
                                  <a:latin typeface="Cambria Math" panose="02040503050406030204" pitchFamily="18" charset="0"/>
                                </a:rPr>
                                <m:t>𝑛</m:t>
                              </m:r>
                            </m:sub>
                          </m:sSub>
                          <m:r>
                            <a:rPr lang="zh-CN" altLang="en-US" sz="2400" i="0">
                              <a:latin typeface="Cambria Math" panose="02040503050406030204" pitchFamily="18" charset="0"/>
                            </a:rPr>
                            <m:t>=(</m:t>
                          </m:r>
                          <m:f>
                            <m:fPr>
                              <m:type m:val="lin"/>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𝑈</m:t>
                                  </m:r>
                                </m:e>
                                <m:sub>
                                  <m:r>
                                    <a:rPr lang="zh-CN" altLang="en-US" sz="2400" i="1">
                                      <a:latin typeface="Cambria Math" panose="02040503050406030204" pitchFamily="18" charset="0"/>
                                    </a:rPr>
                                    <m:t>𝑛</m:t>
                                  </m:r>
                                </m:sub>
                              </m:sSub>
                            </m:num>
                            <m:den>
                              <m:r>
                                <a:rPr lang="zh-CN" altLang="en-US" sz="2400" i="0">
                                  <a:latin typeface="Cambria Math" panose="02040503050406030204" pitchFamily="18" charset="0"/>
                                </a:rPr>
                                <m:t>30269</m:t>
                              </m:r>
                            </m:den>
                          </m:f>
                          <m:r>
                            <a:rPr lang="zh-CN" altLang="en-US" sz="2400" i="0">
                              <a:latin typeface="Cambria Math" panose="02040503050406030204" pitchFamily="18" charset="0"/>
                            </a:rPr>
                            <m:t>+</m:t>
                          </m:r>
                          <m:f>
                            <m:fPr>
                              <m:type m:val="lin"/>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𝑉</m:t>
                                  </m:r>
                                </m:e>
                                <m:sub>
                                  <m:r>
                                    <a:rPr lang="zh-CN" altLang="en-US" sz="2400" i="1">
                                      <a:latin typeface="Cambria Math" panose="02040503050406030204" pitchFamily="18" charset="0"/>
                                    </a:rPr>
                                    <m:t>𝑛</m:t>
                                  </m:r>
                                </m:sub>
                              </m:sSub>
                            </m:num>
                            <m:den>
                              <m:r>
                                <a:rPr lang="zh-CN" altLang="en-US" sz="2400" i="0">
                                  <a:latin typeface="Cambria Math" panose="02040503050406030204" pitchFamily="18" charset="0"/>
                                </a:rPr>
                                <m:t>30307</m:t>
                              </m:r>
                            </m:den>
                          </m:f>
                          <m:r>
                            <a:rPr lang="zh-CN" altLang="en-US" sz="2400" i="0">
                              <a:latin typeface="Cambria Math" panose="02040503050406030204" pitchFamily="18" charset="0"/>
                            </a:rPr>
                            <m:t>+</m:t>
                          </m:r>
                          <m:f>
                            <m:fPr>
                              <m:type m:val="lin"/>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𝑊</m:t>
                                  </m:r>
                                </m:e>
                                <m:sub>
                                  <m:r>
                                    <a:rPr lang="zh-CN" altLang="en-US" sz="2400" i="1">
                                      <a:latin typeface="Cambria Math" panose="02040503050406030204" pitchFamily="18" charset="0"/>
                                    </a:rPr>
                                    <m:t>𝑛</m:t>
                                  </m:r>
                                </m:sub>
                              </m:sSub>
                            </m:num>
                            <m:den>
                              <m:r>
                                <a:rPr lang="zh-CN" altLang="en-US" sz="2400" i="0">
                                  <a:latin typeface="Cambria Math" panose="02040503050406030204" pitchFamily="18" charset="0"/>
                                </a:rPr>
                                <m:t>30323</m:t>
                              </m:r>
                            </m:den>
                          </m:f>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0">
                              <a:latin typeface="Cambria Math" panose="02040503050406030204" pitchFamily="18" charset="0"/>
                            </a:rPr>
                            <m:t>(</m:t>
                          </m:r>
                          <m:r>
                            <m:rPr>
                              <m:sty m:val="p"/>
                            </m:rPr>
                            <a:rPr lang="zh-CN" altLang="en-US" sz="2400" i="0">
                              <a:latin typeface="Cambria Math" panose="02040503050406030204" pitchFamily="18" charset="0"/>
                            </a:rPr>
                            <m:t>mod</m:t>
                          </m:r>
                          <m:r>
                            <m:rPr>
                              <m:nor/>
                            </m:rPr>
                            <a:rPr lang="zh-CN" altLang="en-US" sz="2400" i="1">
                              <a:latin typeface="Cambria Math" panose="02040503050406030204" pitchFamily="18" charset="0"/>
                            </a:rPr>
                            <m:t> </m:t>
                          </m:r>
                          <m:r>
                            <a:rPr lang="zh-CN" altLang="en-US" sz="2400" i="0">
                              <a:latin typeface="Cambria Math" panose="02040503050406030204" pitchFamily="18" charset="0"/>
                            </a:rPr>
                            <m:t>1</m:t>
                          </m:r>
                        </m:e>
                      </m:d>
                    </m:oMath>
                  </m:oMathPara>
                </a14:m>
                <a:endParaRPr lang="zh-CN" altLang="en-US" sz="2400" dirty="0"/>
              </a:p>
            </p:txBody>
          </p:sp>
        </mc:Choice>
        <mc:Fallback xmlns="">
          <p:sp>
            <p:nvSpPr>
              <p:cNvPr id="7" name="矩形 6">
                <a:extLst>
                  <a:ext uri="{FF2B5EF4-FFF2-40B4-BE49-F238E27FC236}">
                    <a16:creationId xmlns:a16="http://schemas.microsoft.com/office/drawing/2014/main" id="{9E6DB628-BE0F-4380-A153-D34436C7AEA3}"/>
                  </a:ext>
                </a:extLst>
              </p:cNvPr>
              <p:cNvSpPr>
                <a:spLocks noRot="1" noChangeAspect="1" noMove="1" noResize="1" noEditPoints="1" noAdjustHandles="1" noChangeArrowheads="1" noChangeShapeType="1" noTextEdit="1"/>
              </p:cNvSpPr>
              <p:nvPr/>
            </p:nvSpPr>
            <p:spPr>
              <a:xfrm>
                <a:off x="58252" y="5523784"/>
                <a:ext cx="9027495" cy="534762"/>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423830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2.2.5 </a:t>
            </a:r>
            <a:r>
              <a:rPr lang="zh-CN" altLang="en-US" dirty="0"/>
              <a:t>组合发生器法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785813"/>
            <a:ext cx="914400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5.11 </a:t>
            </a:r>
            <a:r>
              <a:rPr lang="en-US" altLang="zh-CN" sz="3200" dirty="0" err="1">
                <a:solidFill>
                  <a:srgbClr val="006699"/>
                </a:solidFill>
                <a:latin typeface="Verdana" panose="020B0604030504040204" pitchFamily="34" charset="0"/>
              </a:rPr>
              <a:t>MacLaren</a:t>
            </a:r>
            <a:r>
              <a:rPr lang="zh-CN" altLang="en-US" sz="3200" dirty="0">
                <a:solidFill>
                  <a:srgbClr val="006699"/>
                </a:solidFill>
                <a:latin typeface="Verdana" panose="020B0604030504040204" pitchFamily="34" charset="0"/>
              </a:rPr>
              <a:t>和</a:t>
            </a:r>
            <a:r>
              <a:rPr lang="en-US" altLang="zh-CN" sz="3200" dirty="0" err="1">
                <a:solidFill>
                  <a:srgbClr val="006699"/>
                </a:solidFill>
                <a:latin typeface="Verdana" panose="020B0604030504040204" pitchFamily="34" charset="0"/>
              </a:rPr>
              <a:t>Marsaglia</a:t>
            </a:r>
            <a:r>
              <a:rPr lang="en-US" altLang="zh-CN" sz="3200" dirty="0">
                <a:solidFill>
                  <a:srgbClr val="006699"/>
                </a:solidFill>
                <a:latin typeface="Verdana" panose="020B0604030504040204" pitchFamily="34" charset="0"/>
              </a:rPr>
              <a:t>(1965)</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组合</a:t>
            </a:r>
            <a:r>
              <a:rPr lang="zh-CN" altLang="en-US" sz="3200" dirty="0">
                <a:solidFill>
                  <a:srgbClr val="FF0000"/>
                </a:solidFill>
                <a:latin typeface="Verdana" panose="020B0604030504040204" pitchFamily="34" charset="0"/>
              </a:rPr>
              <a:t>两个同余发生器</a:t>
            </a:r>
            <a:r>
              <a:rPr lang="zh-CN" altLang="en-US" sz="3200" dirty="0">
                <a:solidFill>
                  <a:srgbClr val="006699"/>
                </a:solidFill>
                <a:latin typeface="Verdana" panose="020B0604030504040204" pitchFamily="34" charset="0"/>
              </a:rPr>
              <a:t>，一个用来“搅乱”次序。</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设有两个同余发生器</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和</a:t>
            </a:r>
            <a:r>
              <a:rPr lang="en-US" altLang="zh-CN" sz="3200" dirty="0">
                <a:solidFill>
                  <a:srgbClr val="006699"/>
                </a:solidFill>
                <a:latin typeface="Verdana" panose="020B0604030504040204" pitchFamily="34" charset="0"/>
              </a:rPr>
              <a:t>B</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用</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产生</a:t>
            </a:r>
            <a:r>
              <a:rPr lang="en-US" altLang="zh-CN" sz="3200" dirty="0">
                <a:solidFill>
                  <a:srgbClr val="006699"/>
                </a:solidFill>
                <a:latin typeface="Verdana" panose="020B0604030504040204" pitchFamily="34" charset="0"/>
              </a:rPr>
              <a:t>m</a:t>
            </a:r>
            <a:r>
              <a:rPr lang="zh-CN" altLang="en-US" sz="3200" dirty="0">
                <a:solidFill>
                  <a:srgbClr val="006699"/>
                </a:solidFill>
                <a:latin typeface="Verdana" panose="020B0604030504040204" pitchFamily="34" charset="0"/>
              </a:rPr>
              <a:t>个随机数</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如</a:t>
            </a:r>
            <a:r>
              <a:rPr lang="en-US" altLang="zh-CN" sz="3200" dirty="0">
                <a:solidFill>
                  <a:srgbClr val="006699"/>
                </a:solidFill>
                <a:latin typeface="Verdana" panose="020B0604030504040204" pitchFamily="34" charset="0"/>
              </a:rPr>
              <a:t>m=128)</a:t>
            </a:r>
            <a:r>
              <a:rPr lang="zh-CN" altLang="en-US" sz="3200" dirty="0">
                <a:solidFill>
                  <a:srgbClr val="006699"/>
                </a:solidFill>
                <a:latin typeface="Verdana" panose="020B0604030504040204" pitchFamily="34" charset="0"/>
              </a:rPr>
              <a:t>， 存放在数组</a:t>
            </a:r>
            <a:r>
              <a:rPr lang="en-US" altLang="zh-CN" sz="3200" dirty="0">
                <a:solidFill>
                  <a:srgbClr val="006699"/>
                </a:solidFill>
                <a:latin typeface="Verdana" panose="020B0604030504040204" pitchFamily="34" charset="0"/>
              </a:rPr>
              <a:t>T=(t</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,…,t</a:t>
            </a:r>
            <a:r>
              <a:rPr lang="en-US" altLang="zh-CN" sz="3200" baseline="-25000" dirty="0">
                <a:solidFill>
                  <a:srgbClr val="006699"/>
                </a:solidFill>
                <a:latin typeface="Verdana" panose="020B0604030504040204" pitchFamily="34" charset="0"/>
              </a:rPr>
              <a:t>m</a:t>
            </a:r>
            <a:r>
              <a:rPr lang="en-US" altLang="zh-CN" sz="3200" dirty="0">
                <a:solidFill>
                  <a:srgbClr val="006699"/>
                </a:solidFill>
                <a:latin typeface="Verdana" panose="020B0604030504040204" pitchFamily="34" charset="0"/>
              </a:rPr>
              <a:t>). </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需要产生</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时，从</a:t>
            </a:r>
            <a:r>
              <a:rPr lang="en-US" altLang="zh-CN" sz="3200" dirty="0">
                <a:solidFill>
                  <a:srgbClr val="006699"/>
                </a:solidFill>
                <a:latin typeface="Verdana" panose="020B0604030504040204" pitchFamily="34" charset="0"/>
              </a:rPr>
              <a:t>B</a:t>
            </a:r>
            <a:r>
              <a:rPr lang="zh-CN" altLang="en-US" sz="3200" dirty="0">
                <a:solidFill>
                  <a:srgbClr val="006699"/>
                </a:solidFill>
                <a:latin typeface="Verdana" panose="020B0604030504040204" pitchFamily="34" charset="0"/>
              </a:rPr>
              <a:t>中生成一个随机下标</a:t>
            </a:r>
            <a:r>
              <a:rPr lang="en-US" altLang="zh-CN" sz="3200" dirty="0">
                <a:solidFill>
                  <a:srgbClr val="006699"/>
                </a:solidFill>
                <a:latin typeface="Verdana" panose="020B0604030504040204" pitchFamily="34" charset="0"/>
              </a:rPr>
              <a:t>j∈{1,2,…,m}</a:t>
            </a:r>
            <a:r>
              <a:rPr lang="zh-CN" altLang="en-US" sz="3200" dirty="0">
                <a:solidFill>
                  <a:srgbClr val="006699"/>
                </a:solidFill>
                <a:latin typeface="Verdana" panose="020B0604030504040204" pitchFamily="34" charset="0"/>
              </a:rPr>
              <a:t>， 取</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t</a:t>
            </a:r>
            <a:r>
              <a:rPr lang="en-US" altLang="zh-CN" sz="3200" baseline="-25000" dirty="0" err="1">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 但从</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再生成一个新随机数</a:t>
            </a:r>
            <a:r>
              <a:rPr lang="en-US" altLang="zh-CN" sz="3200" dirty="0">
                <a:solidFill>
                  <a:srgbClr val="006699"/>
                </a:solidFill>
                <a:latin typeface="Verdana" panose="020B0604030504040204" pitchFamily="34" charset="0"/>
              </a:rPr>
              <a:t>y</a:t>
            </a:r>
            <a:r>
              <a:rPr lang="zh-CN" altLang="en-US" sz="3200" dirty="0">
                <a:solidFill>
                  <a:srgbClr val="006699"/>
                </a:solidFill>
                <a:latin typeface="Verdana" panose="020B0604030504040204" pitchFamily="34" charset="0"/>
              </a:rPr>
              <a:t>代替</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中的</a:t>
            </a:r>
            <a:r>
              <a:rPr lang="en-US" altLang="zh-CN" sz="3200" dirty="0" err="1">
                <a:solidFill>
                  <a:srgbClr val="006699"/>
                </a:solidFill>
                <a:latin typeface="Verdana" panose="020B0604030504040204" pitchFamily="34" charset="0"/>
              </a:rPr>
              <a:t>t</a:t>
            </a:r>
            <a:r>
              <a:rPr lang="en-US" altLang="zh-CN" sz="3200" baseline="-25000" dirty="0" err="1">
                <a:solidFill>
                  <a:srgbClr val="006699"/>
                </a:solidFill>
                <a:latin typeface="Verdana" panose="020B0604030504040204" pitchFamily="34" charset="0"/>
              </a:rPr>
              <a:t>j</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如此重复。</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这样组合可以增强随机性，加大周期</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可超过</a:t>
            </a:r>
            <a:r>
              <a:rPr lang="en-US" altLang="zh-CN" sz="3200" dirty="0">
                <a:solidFill>
                  <a:srgbClr val="006699"/>
                </a:solidFill>
                <a:latin typeface="Verdana" panose="020B0604030504040204" pitchFamily="34" charset="0"/>
              </a:rPr>
              <a:t>2L)</a:t>
            </a:r>
            <a:r>
              <a:rPr lang="zh-CN" altLang="en-US" sz="3200" dirty="0">
                <a:solidFill>
                  <a:srgbClr val="006699"/>
                </a:solidFill>
                <a:latin typeface="Verdana" panose="020B0604030504040204" pitchFamily="34" charset="0"/>
              </a:rPr>
              <a:t>。 也可以只使用一个发生器，用</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n−1</a:t>
            </a:r>
            <a:r>
              <a:rPr lang="zh-CN" altLang="en-US" sz="3200" dirty="0">
                <a:solidFill>
                  <a:srgbClr val="006699"/>
                </a:solidFill>
                <a:latin typeface="Verdana" panose="020B0604030504040204" pitchFamily="34" charset="0"/>
              </a:rPr>
              <a:t>来选择下标。</a:t>
            </a:r>
          </a:p>
        </p:txBody>
      </p:sp>
    </p:spTree>
    <p:extLst>
      <p:ext uri="{BB962C8B-B14F-4D97-AF65-F5344CB8AC3E}">
        <p14:creationId xmlns:p14="http://schemas.microsoft.com/office/powerpoint/2010/main" val="4352615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05FFBCE-4F12-4C15-BB78-43281E7D4096}"/>
              </a:ext>
            </a:extLst>
          </p:cNvPr>
          <p:cNvSpPr txBox="1"/>
          <p:nvPr/>
        </p:nvSpPr>
        <p:spPr>
          <a:xfrm>
            <a:off x="251519" y="998730"/>
            <a:ext cx="8595956" cy="5262979"/>
          </a:xfrm>
          <a:prstGeom prst="rect">
            <a:avLst/>
          </a:prstGeom>
          <a:noFill/>
          <a:ln w="25400">
            <a:noFill/>
          </a:ln>
        </p:spPr>
        <p:txBody>
          <a:bodyPr wrap="square">
            <a:spAutoFit/>
          </a:bodyPr>
          <a:lstStyle/>
          <a:p>
            <a:pPr marL="285750" indent="-285750">
              <a:buFont typeface="Arial" panose="020B0604020202020204" pitchFamily="34" charset="0"/>
              <a:buChar char="•"/>
            </a:pPr>
            <a:r>
              <a:rPr lang="zh-CN" altLang="en-US" sz="4000" b="1" dirty="0">
                <a:solidFill>
                  <a:srgbClr val="006699"/>
                </a:solidFill>
                <a:latin typeface="Verdana" panose="020B0604030504040204" pitchFamily="34" charset="0"/>
              </a:rPr>
              <a:t>理论检验</a:t>
            </a:r>
            <a:endParaRPr lang="en-US" altLang="zh-CN" sz="4000" b="1"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   不必产生任何随机数</a:t>
            </a:r>
            <a:endParaRPr lang="en-US" altLang="zh-CN" sz="320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pPr marL="285750" indent="-285750">
              <a:buFont typeface="Arial" panose="020B0604020202020204" pitchFamily="34" charset="0"/>
              <a:buChar char="•"/>
            </a:pPr>
            <a:r>
              <a:rPr lang="zh-CN" altLang="en-US" sz="4000" b="1" dirty="0">
                <a:solidFill>
                  <a:srgbClr val="006699"/>
                </a:solidFill>
                <a:latin typeface="Verdana" panose="020B0604030504040204" pitchFamily="34" charset="0"/>
              </a:rPr>
              <a:t>经验检验</a:t>
            </a:r>
            <a:endParaRPr lang="en-US" altLang="zh-CN" sz="4000" b="1"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     以发生器产生的均匀随机数列为基础的</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1</a:t>
            </a:r>
            <a:r>
              <a:rPr lang="zh-CN" altLang="en-US" sz="3200" dirty="0">
                <a:solidFill>
                  <a:srgbClr val="006699"/>
                </a:solidFill>
                <a:latin typeface="Verdana" panose="020B0604030504040204" pitchFamily="34" charset="0"/>
              </a:rPr>
              <a:t>，参数检验</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2</a:t>
            </a:r>
            <a:r>
              <a:rPr lang="zh-CN" altLang="en-US" sz="3200" dirty="0">
                <a:solidFill>
                  <a:srgbClr val="006699"/>
                </a:solidFill>
                <a:latin typeface="Verdana" panose="020B0604030504040204" pitchFamily="34" charset="0"/>
              </a:rPr>
              <a:t>，均匀性检验     </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3</a:t>
            </a:r>
            <a:r>
              <a:rPr lang="zh-CN" altLang="en-US" sz="3200" dirty="0">
                <a:solidFill>
                  <a:srgbClr val="006699"/>
                </a:solidFill>
                <a:latin typeface="Verdana" panose="020B0604030504040204" pitchFamily="34" charset="0"/>
              </a:rPr>
              <a:t> ，独立性检验</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4</a:t>
            </a:r>
            <a:r>
              <a:rPr lang="zh-CN" altLang="en-US" sz="3200" dirty="0">
                <a:solidFill>
                  <a:srgbClr val="006699"/>
                </a:solidFill>
                <a:latin typeface="Verdana" panose="020B0604030504040204" pitchFamily="34" charset="0"/>
              </a:rPr>
              <a:t> ，组合规律检验</a:t>
            </a:r>
            <a:endParaRPr lang="en-US" altLang="zh-CN" sz="3200" dirty="0">
              <a:solidFill>
                <a:srgbClr val="006699"/>
              </a:solidFill>
              <a:latin typeface="Verdana" panose="020B0604030504040204" pitchFamily="34" charset="0"/>
            </a:endParaRPr>
          </a:p>
          <a:p>
            <a:endParaRPr lang="zh-CN" altLang="en-US" sz="3200" dirty="0">
              <a:solidFill>
                <a:srgbClr val="006699"/>
              </a:solidFill>
              <a:latin typeface="Verdana" panose="020B0604030504040204" pitchFamily="34" charset="0"/>
            </a:endParaRPr>
          </a:p>
        </p:txBody>
      </p:sp>
      <p:sp>
        <p:nvSpPr>
          <p:cNvPr id="4" name="标题 1">
            <a:extLst>
              <a:ext uri="{FF2B5EF4-FFF2-40B4-BE49-F238E27FC236}">
                <a16:creationId xmlns:a16="http://schemas.microsoft.com/office/drawing/2014/main" id="{58FABB93-5F9F-4126-8327-D998ED2FD204}"/>
              </a:ext>
            </a:extLst>
          </p:cNvPr>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2.2.6 </a:t>
            </a:r>
            <a:r>
              <a:rPr lang="zh-CN" altLang="en-US" dirty="0"/>
              <a:t>随机数的检验</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mc:AlternateContent xmlns:mc="http://schemas.openxmlformats.org/markup-compatibility/2006" xmlns:a14="http://schemas.microsoft.com/office/drawing/2010/main">
        <mc:Choice Requires="a14">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17570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1 </a:t>
                </a:r>
                <a:r>
                  <a:rPr lang="zh-CN" altLang="en-US" sz="3200" dirty="0">
                    <a:solidFill>
                      <a:srgbClr val="006699"/>
                    </a:solidFill>
                    <a:latin typeface="Verdana" panose="020B0604030504040204" pitchFamily="34" charset="0"/>
                  </a:rPr>
                  <a:t>对随机数列</a:t>
                </a:r>
                <a14:m>
                  <m:oMath xmlns:m="http://schemas.openxmlformats.org/officeDocument/2006/math">
                    <m:m>
                      <m:mPr>
                        <m:plcHide m:val="on"/>
                        <m:mcs>
                          <m:mc>
                            <m:mcPr>
                              <m:count m:val="1"/>
                              <m:mcJc m:val="center"/>
                            </m:mcPr>
                          </m:mc>
                        </m:mcs>
                        <m:ctrlPr>
                          <a:rPr lang="zh-CN" altLang="en-US" sz="3200" i="1">
                            <a:latin typeface="Cambria Math" panose="02040503050406030204" pitchFamily="18" charset="0"/>
                          </a:rPr>
                        </m:ctrlPr>
                      </m:mPr>
                      <m:mr>
                        <m:e>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a:latin typeface="Cambria Math" panose="02040503050406030204" pitchFamily="18" charset="0"/>
                                </a:rPr>
                                <m:t>,</m:t>
                              </m:r>
                              <m:r>
                                <a:rPr lang="zh-CN" altLang="en-US" sz="3200" i="1">
                                  <a:latin typeface="Cambria Math" panose="02040503050406030204" pitchFamily="18" charset="0"/>
                                </a:rPr>
                                <m:t>𝑛</m:t>
                              </m:r>
                              <m:r>
                                <a:rPr lang="zh-CN" altLang="en-US" sz="3200">
                                  <a:latin typeface="Cambria Math" panose="02040503050406030204" pitchFamily="18" charset="0"/>
                                </a:rPr>
                                <m:t>=1,2,…,</m:t>
                              </m:r>
                              <m:r>
                                <a:rPr lang="zh-CN" altLang="en-US" sz="3200" i="1">
                                  <a:latin typeface="Cambria Math" panose="02040503050406030204" pitchFamily="18" charset="0"/>
                                </a:rPr>
                                <m:t>𝑁</m:t>
                              </m:r>
                            </m:e>
                          </m:d>
                        </m:e>
                      </m:mr>
                    </m:m>
                  </m:oMath>
                </a14:m>
                <a:endParaRPr lang="zh-CN" altLang="en-US" sz="3200" dirty="0"/>
              </a:p>
              <a:p>
                <a:pPr marL="0" indent="0" eaLnBrk="1" hangingPunct="1">
                  <a:spcBef>
                    <a:spcPct val="20000"/>
                  </a:spcBef>
                </a:pPr>
                <a:r>
                  <a:rPr lang="zh-CN" altLang="en-US" sz="3200" dirty="0">
                    <a:solidFill>
                      <a:srgbClr val="006699"/>
                    </a:solidFill>
                    <a:latin typeface="Verdana" panose="020B0604030504040204" pitchFamily="34" charset="0"/>
                  </a:rPr>
                  <a:t>计算</a:t>
                </a:r>
              </a:p>
            </p:txBody>
          </p:sp>
        </mc:Choice>
        <mc:Fallback xmlns="">
          <p:sp>
            <p:nvSpPr>
              <p:cNvPr id="32771" name="矩形 2">
                <a:extLst>
                  <a:ext uri="{FF2B5EF4-FFF2-40B4-BE49-F238E27FC236}">
                    <a16:creationId xmlns:a16="http://schemas.microsoft.com/office/drawing/2014/main" id="{B731BE61-7118-4693-9D37-9B3F32F84AAF}"/>
                  </a:ext>
                </a:extLst>
              </p:cNvPr>
              <p:cNvSpPr>
                <a:spLocks noRot="1" noChangeAspect="1" noMove="1" noResize="1" noEditPoints="1" noAdjustHandles="1" noChangeArrowheads="1" noChangeShapeType="1" noTextEdit="1"/>
              </p:cNvSpPr>
              <p:nvPr/>
            </p:nvSpPr>
            <p:spPr bwMode="auto">
              <a:xfrm>
                <a:off x="251520" y="1178750"/>
                <a:ext cx="8370930" cy="1175706"/>
              </a:xfrm>
              <a:prstGeom prst="rect">
                <a:avLst/>
              </a:prstGeom>
              <a:blipFill>
                <a:blip r:embed="rId2"/>
                <a:stretch>
                  <a:fillRect l="-1821" t="-8290" b="-150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E248261-E1F2-4190-818E-7AA61F86114C}"/>
              </a:ext>
            </a:extLst>
          </p:cNvPr>
          <p:cNvSpPr/>
          <p:nvPr/>
        </p:nvSpPr>
        <p:spPr>
          <a:xfrm>
            <a:off x="263715" y="4443236"/>
            <a:ext cx="8640960" cy="1569660"/>
          </a:xfrm>
          <a:prstGeom prst="rect">
            <a:avLst/>
          </a:prstGeom>
        </p:spPr>
        <p:txBody>
          <a:bodyPr wrap="square">
            <a:spAutoFit/>
          </a:bodyPr>
          <a:lstStyle/>
          <a:p>
            <a:pPr lvl="0" eaLnBrk="1" hangingPunct="1">
              <a:spcBef>
                <a:spcPct val="20000"/>
              </a:spcBef>
            </a:pPr>
            <a:r>
              <a:rPr lang="zh-CN" altLang="en-US" sz="3200" dirty="0">
                <a:solidFill>
                  <a:srgbClr val="006699"/>
                </a:solidFill>
                <a:latin typeface="Verdana" panose="020B0604030504040204" pitchFamily="34" charset="0"/>
              </a:rPr>
              <a:t>则</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时      </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和</a:t>
            </a:r>
            <a:r>
              <a:rPr lang="en-US" altLang="zh-CN" sz="3200" dirty="0">
                <a:solidFill>
                  <a:srgbClr val="006699"/>
                </a:solidFill>
                <a:latin typeface="Verdana" panose="020B0604030504040204" pitchFamily="34" charset="0"/>
              </a:rPr>
              <a:t>S</a:t>
            </a:r>
            <a:r>
              <a:rPr lang="en-US" altLang="zh-CN" sz="3200" baseline="300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均渐近服从正态分布， 可以用</a:t>
            </a:r>
            <a:r>
              <a:rPr lang="en-US" altLang="zh-CN" sz="3200" dirty="0">
                <a:solidFill>
                  <a:srgbClr val="FF0000"/>
                </a:solidFill>
                <a:latin typeface="Verdana" panose="020B0604030504040204" pitchFamily="34" charset="0"/>
              </a:rPr>
              <a:t>Z</a:t>
            </a:r>
            <a:r>
              <a:rPr lang="zh-CN" altLang="en-US" sz="3200" dirty="0">
                <a:solidFill>
                  <a:srgbClr val="FF0000"/>
                </a:solidFill>
                <a:latin typeface="Verdana" panose="020B0604030504040204" pitchFamily="34" charset="0"/>
              </a:rPr>
              <a:t>检验法</a:t>
            </a:r>
            <a:r>
              <a:rPr lang="zh-CN" altLang="en-US" sz="3200" dirty="0">
                <a:solidFill>
                  <a:srgbClr val="006699"/>
                </a:solidFill>
                <a:latin typeface="Verdana" panose="020B0604030504040204" pitchFamily="34" charset="0"/>
              </a:rPr>
              <a:t>检验这三个统计量与理论期望值的偏离程度。</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4F7F4FEC-B096-4C86-B23D-58A8E1B92DD5}"/>
                  </a:ext>
                </a:extLst>
              </p:cNvPr>
              <p:cNvSpPr/>
              <p:nvPr/>
            </p:nvSpPr>
            <p:spPr>
              <a:xfrm>
                <a:off x="2231740" y="4443236"/>
                <a:ext cx="118872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a:latin typeface="Cambria Math" panose="02040503050406030204" pitchFamily="18" charset="0"/>
                            </a:rPr>
                          </m:ctrlPr>
                        </m:accPr>
                        <m:e>
                          <m:r>
                            <a:rPr lang="zh-CN" altLang="en-US" sz="3200" i="1">
                              <a:latin typeface="Cambria Math" panose="02040503050406030204" pitchFamily="18" charset="0"/>
                            </a:rPr>
                            <m:t>𝑅</m:t>
                          </m:r>
                        </m:e>
                      </m:acc>
                      <m:r>
                        <a:rPr lang="zh-CN" altLang="en-US" sz="3200" i="0">
                          <a:latin typeface="Cambria Math" panose="02040503050406030204" pitchFamily="18" charset="0"/>
                        </a:rPr>
                        <m:t>,</m:t>
                      </m:r>
                      <m:m>
                        <m:mPr>
                          <m:plcHide m:val="on"/>
                          <m:mcs>
                            <m:mc>
                              <m:mcPr>
                                <m:count m:val="1"/>
                                <m:mcJc m:val="center"/>
                              </m:mcPr>
                            </m:mc>
                          </m:mcs>
                          <m:ctrlPr>
                            <a:rPr lang="zh-CN" altLang="en-US" sz="3200" i="1">
                              <a:latin typeface="Cambria Math" panose="02040503050406030204" pitchFamily="18" charset="0"/>
                            </a:rPr>
                          </m:ctrlPr>
                        </m:mPr>
                        <m:mr>
                          <m:e>
                            <m:acc>
                              <m:accPr>
                                <m:chr m:val="̅"/>
                                <m:ctrlPr>
                                  <a:rPr lang="zh-CN" altLang="en-US" sz="3200" i="1">
                                    <a:latin typeface="Cambria Math" panose="02040503050406030204" pitchFamily="18" charset="0"/>
                                  </a:rPr>
                                </m:ctrlPr>
                              </m:accPr>
                              <m:e>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𝑅</m:t>
                                    </m:r>
                                  </m:e>
                                  <m:sup>
                                    <m:r>
                                      <a:rPr lang="zh-CN" altLang="en-US" sz="3200" i="0">
                                        <a:latin typeface="Cambria Math" panose="02040503050406030204" pitchFamily="18" charset="0"/>
                                      </a:rPr>
                                      <m:t>2</m:t>
                                    </m:r>
                                  </m:sup>
                                </m:sSup>
                              </m:e>
                            </m:acc>
                          </m:e>
                        </m:mr>
                      </m:m>
                    </m:oMath>
                  </m:oMathPara>
                </a14:m>
                <a:endParaRPr lang="zh-CN" altLang="en-US" sz="3200" dirty="0"/>
              </a:p>
            </p:txBody>
          </p:sp>
        </mc:Choice>
        <mc:Fallback xmlns="">
          <p:sp>
            <p:nvSpPr>
              <p:cNvPr id="5" name="矩形 4">
                <a:extLst>
                  <a:ext uri="{FF2B5EF4-FFF2-40B4-BE49-F238E27FC236}">
                    <a16:creationId xmlns:a16="http://schemas.microsoft.com/office/drawing/2014/main" id="{4F7F4FEC-B096-4C86-B23D-58A8E1B92DD5}"/>
                  </a:ext>
                </a:extLst>
              </p:cNvPr>
              <p:cNvSpPr>
                <a:spLocks noRot="1" noChangeAspect="1" noMove="1" noResize="1" noEditPoints="1" noAdjustHandles="1" noChangeArrowheads="1" noChangeShapeType="1" noTextEdit="1"/>
              </p:cNvSpPr>
              <p:nvPr/>
            </p:nvSpPr>
            <p:spPr>
              <a:xfrm>
                <a:off x="2231740" y="4443236"/>
                <a:ext cx="1188723" cy="584775"/>
              </a:xfrm>
              <a:prstGeom prst="rect">
                <a:avLst/>
              </a:prstGeom>
              <a:blipFill>
                <a:blip r:embed="rId4"/>
                <a:stretch>
                  <a:fillRect/>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CBA4BDDA-D5EC-4D25-87C8-72CD22BBB8BC}"/>
              </a:ext>
            </a:extLst>
          </p:cNvPr>
          <p:cNvPicPr>
            <a:picLocks noChangeAspect="1"/>
          </p:cNvPicPr>
          <p:nvPr/>
        </p:nvPicPr>
        <p:blipFill>
          <a:blip r:embed="rId5"/>
          <a:stretch>
            <a:fillRect/>
          </a:stretch>
        </p:blipFill>
        <p:spPr>
          <a:xfrm>
            <a:off x="634998" y="2874593"/>
            <a:ext cx="8016645" cy="1089311"/>
          </a:xfrm>
          <a:prstGeom prst="rect">
            <a:avLst/>
          </a:prstGeom>
        </p:spPr>
      </p:pic>
    </p:spTree>
    <p:extLst>
      <p:ext uri="{BB962C8B-B14F-4D97-AF65-F5344CB8AC3E}">
        <p14:creationId xmlns:p14="http://schemas.microsoft.com/office/powerpoint/2010/main" val="401619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01BC64D-91AF-497B-845A-1CE201CF0CB1}"/>
              </a:ext>
            </a:extLst>
          </p:cNvPr>
          <p:cNvSpPr txBox="1"/>
          <p:nvPr/>
        </p:nvSpPr>
        <p:spPr>
          <a:xfrm>
            <a:off x="116505" y="233645"/>
            <a:ext cx="4589754" cy="523220"/>
          </a:xfrm>
          <a:prstGeom prst="rect">
            <a:avLst/>
          </a:prstGeom>
          <a:noFill/>
          <a:ln w="25400">
            <a:noFill/>
          </a:ln>
        </p:spPr>
        <p:txBody>
          <a:bodyPr wrap="square">
            <a:spAutoFit/>
          </a:bodyPr>
          <a:lstStyle/>
          <a:p>
            <a:r>
              <a:rPr lang="en-US" altLang="zh-CN" sz="2800" b="1" dirty="0"/>
              <a:t>Z</a:t>
            </a:r>
            <a:r>
              <a:rPr lang="zh-CN" altLang="en-US" sz="2800" b="1" dirty="0"/>
              <a:t>检验法</a:t>
            </a:r>
          </a:p>
        </p:txBody>
      </p:sp>
      <p:pic>
        <p:nvPicPr>
          <p:cNvPr id="4" name="图片 3">
            <a:extLst>
              <a:ext uri="{FF2B5EF4-FFF2-40B4-BE49-F238E27FC236}">
                <a16:creationId xmlns:a16="http://schemas.microsoft.com/office/drawing/2014/main" id="{03166022-7713-48E1-9E88-C1AC48CFE640}"/>
              </a:ext>
            </a:extLst>
          </p:cNvPr>
          <p:cNvPicPr>
            <a:picLocks noChangeAspect="1"/>
          </p:cNvPicPr>
          <p:nvPr/>
        </p:nvPicPr>
        <p:blipFill>
          <a:blip r:embed="rId2"/>
          <a:stretch>
            <a:fillRect/>
          </a:stretch>
        </p:blipFill>
        <p:spPr>
          <a:xfrm>
            <a:off x="884178" y="1628800"/>
            <a:ext cx="7375644" cy="312326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2 </a:t>
            </a:r>
            <a:r>
              <a:rPr lang="zh-CN" altLang="en-US" sz="3200" dirty="0">
                <a:solidFill>
                  <a:srgbClr val="006699"/>
                </a:solidFill>
                <a:latin typeface="Verdana" panose="020B0604030504040204" pitchFamily="34" charset="0"/>
              </a:rPr>
              <a:t>把</a:t>
            </a:r>
            <a:r>
              <a:rPr lang="en-US" altLang="zh-CN" sz="3200" dirty="0">
                <a:solidFill>
                  <a:srgbClr val="006699"/>
                </a:solidFill>
                <a:latin typeface="Verdana" panose="020B0604030504040204" pitchFamily="34" charset="0"/>
              </a:rPr>
              <a:t>[0,1]</a:t>
            </a:r>
            <a:r>
              <a:rPr lang="zh-CN" altLang="en-US" sz="3200" dirty="0">
                <a:solidFill>
                  <a:srgbClr val="006699"/>
                </a:solidFill>
                <a:latin typeface="Verdana" panose="020B0604030504040204" pitchFamily="34" charset="0"/>
              </a:rPr>
              <a:t>等分成</a:t>
            </a:r>
            <a:r>
              <a:rPr lang="en-US" altLang="zh-CN" sz="3200" dirty="0">
                <a:solidFill>
                  <a:srgbClr val="006699"/>
                </a:solidFill>
                <a:latin typeface="Verdana" panose="020B0604030504040204" pitchFamily="34" charset="0"/>
              </a:rPr>
              <a:t>k</a:t>
            </a:r>
            <a:r>
              <a:rPr lang="zh-CN" altLang="en-US" sz="3200" dirty="0">
                <a:solidFill>
                  <a:srgbClr val="006699"/>
                </a:solidFill>
                <a:latin typeface="Verdana" panose="020B0604030504040204" pitchFamily="34" charset="0"/>
              </a:rPr>
              <a:t>段，用</a:t>
            </a:r>
            <a:r>
              <a:rPr lang="zh-CN" altLang="en-US" sz="3200" dirty="0">
                <a:solidFill>
                  <a:srgbClr val="FF0000"/>
                </a:solidFill>
                <a:latin typeface="Verdana" panose="020B0604030504040204" pitchFamily="34" charset="0"/>
              </a:rPr>
              <a:t>拟合优度卡方检验法</a:t>
            </a:r>
            <a:r>
              <a:rPr lang="zh-CN" altLang="en-US" sz="3200" dirty="0">
                <a:solidFill>
                  <a:srgbClr val="006699"/>
                </a:solidFill>
                <a:latin typeface="Verdana" panose="020B0604030504040204" pitchFamily="34" charset="0"/>
              </a:rPr>
              <a:t>检验</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落在每一段的取值概率是否近似为</a:t>
            </a:r>
            <a:r>
              <a:rPr lang="en-US" altLang="zh-CN" sz="3200" dirty="0">
                <a:solidFill>
                  <a:srgbClr val="006699"/>
                </a:solidFill>
                <a:latin typeface="Verdana" panose="020B0604030504040204" pitchFamily="34" charset="0"/>
              </a:rPr>
              <a:t>1/k</a:t>
            </a:r>
            <a:r>
              <a:rPr lang="zh-CN" altLang="en-US" sz="3200" dirty="0">
                <a:solidFill>
                  <a:srgbClr val="006699"/>
                </a:solidFill>
                <a:latin typeface="Verdana" panose="020B0604030504040204" pitchFamily="34" charset="0"/>
              </a:rPr>
              <a:t>。</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8FB3641-5C2A-4203-AF68-0C002BA18FB4}"/>
                  </a:ext>
                </a:extLst>
              </p:cNvPr>
              <p:cNvSpPr/>
              <p:nvPr/>
            </p:nvSpPr>
            <p:spPr>
              <a:xfrm>
                <a:off x="1286635" y="1628800"/>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2" name="矩形 1">
                <a:extLst>
                  <a:ext uri="{FF2B5EF4-FFF2-40B4-BE49-F238E27FC236}">
                    <a16:creationId xmlns:a16="http://schemas.microsoft.com/office/drawing/2014/main" id="{C8FB3641-5C2A-4203-AF68-0C002BA18FB4}"/>
                  </a:ext>
                </a:extLst>
              </p:cNvPr>
              <p:cNvSpPr>
                <a:spLocks noRot="1" noChangeAspect="1" noMove="1" noResize="1" noEditPoints="1" noAdjustHandles="1" noChangeArrowheads="1" noChangeShapeType="1" noTextEdit="1"/>
              </p:cNvSpPr>
              <p:nvPr/>
            </p:nvSpPr>
            <p:spPr>
              <a:xfrm>
                <a:off x="1286635" y="1628800"/>
                <a:ext cx="3553024"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534325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3 </a:t>
            </a:r>
            <a:r>
              <a:rPr lang="zh-CN" altLang="en-US" sz="3200" dirty="0">
                <a:solidFill>
                  <a:srgbClr val="006699"/>
                </a:solidFill>
                <a:latin typeface="Verdana" panose="020B0604030504040204" pitchFamily="34" charset="0"/>
              </a:rPr>
              <a:t>用</a:t>
            </a:r>
            <a:r>
              <a:rPr lang="en-US" altLang="zh-CN" sz="3200" dirty="0">
                <a:solidFill>
                  <a:srgbClr val="FF0000"/>
                </a:solidFill>
                <a:latin typeface="Verdana" panose="020B0604030504040204" pitchFamily="34" charset="0"/>
              </a:rPr>
              <a:t>Kolmogorov-Smirnov</a:t>
            </a:r>
            <a:r>
              <a:rPr lang="zh-CN" altLang="en-US" sz="3200" dirty="0">
                <a:solidFill>
                  <a:srgbClr val="FF0000"/>
                </a:solidFill>
                <a:latin typeface="Verdana" panose="020B0604030504040204" pitchFamily="34" charset="0"/>
              </a:rPr>
              <a:t>检验法</a:t>
            </a:r>
            <a:r>
              <a:rPr lang="zh-CN" altLang="en-US" sz="3200" dirty="0">
                <a:solidFill>
                  <a:srgbClr val="006699"/>
                </a:solidFill>
                <a:latin typeface="Verdana" panose="020B0604030504040204" pitchFamily="34" charset="0"/>
              </a:rPr>
              <a:t>进行拟合优度检验， 看</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是否与</a:t>
            </a:r>
            <a:r>
              <a:rPr lang="en-US" altLang="zh-CN" sz="3200" dirty="0">
                <a:solidFill>
                  <a:srgbClr val="006699"/>
                </a:solidFill>
                <a:latin typeface="Verdana" panose="020B0604030504040204" pitchFamily="34" charset="0"/>
              </a:rPr>
              <a:t>U[0,1]</a:t>
            </a:r>
            <a:r>
              <a:rPr lang="zh-CN" altLang="en-US" sz="3200" dirty="0">
                <a:solidFill>
                  <a:srgbClr val="006699"/>
                </a:solidFill>
                <a:latin typeface="Verdana" panose="020B0604030504040204" pitchFamily="34" charset="0"/>
              </a:rPr>
              <a:t>分布相符。</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D88C3C4F-A911-47A4-A9F1-A6BE228153CD}"/>
                  </a:ext>
                </a:extLst>
              </p:cNvPr>
              <p:cNvSpPr/>
              <p:nvPr/>
            </p:nvSpPr>
            <p:spPr>
              <a:xfrm>
                <a:off x="3086835" y="1583795"/>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4" name="矩形 3">
                <a:extLst>
                  <a:ext uri="{FF2B5EF4-FFF2-40B4-BE49-F238E27FC236}">
                    <a16:creationId xmlns:a16="http://schemas.microsoft.com/office/drawing/2014/main" id="{D88C3C4F-A911-47A4-A9F1-A6BE228153CD}"/>
                  </a:ext>
                </a:extLst>
              </p:cNvPr>
              <p:cNvSpPr>
                <a:spLocks noRot="1" noChangeAspect="1" noMove="1" noResize="1" noEditPoints="1" noAdjustHandles="1" noChangeArrowheads="1" noChangeShapeType="1" noTextEdit="1"/>
              </p:cNvSpPr>
              <p:nvPr/>
            </p:nvSpPr>
            <p:spPr>
              <a:xfrm>
                <a:off x="3086835" y="1583795"/>
                <a:ext cx="3553024"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19543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2653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4 </a:t>
            </a:r>
            <a:r>
              <a:rPr lang="zh-CN" altLang="en-US" sz="3200" dirty="0">
                <a:solidFill>
                  <a:srgbClr val="006699"/>
                </a:solidFill>
                <a:latin typeface="Verdana" panose="020B0604030504040204" pitchFamily="34" charset="0"/>
              </a:rPr>
              <a:t>把</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每</a:t>
            </a:r>
            <a:r>
              <a:rPr lang="en-US" altLang="zh-CN" sz="3200"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个组合在一起成为</a:t>
            </a:r>
            <a:r>
              <a:rPr lang="en-US" altLang="zh-CN" sz="3200" dirty="0">
                <a:solidFill>
                  <a:srgbClr val="006699"/>
                </a:solidFill>
                <a:latin typeface="Verdana" panose="020B0604030504040204" pitchFamily="34" charset="0"/>
              </a:rPr>
              <a:t>R</a:t>
            </a:r>
            <a:r>
              <a:rPr lang="en-US" altLang="zh-CN" sz="3200" baseline="30000"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向量， 把超立方体</a:t>
            </a:r>
            <a:r>
              <a:rPr lang="en-US" altLang="zh-CN" sz="3200" dirty="0">
                <a:solidFill>
                  <a:srgbClr val="006699"/>
                </a:solidFill>
                <a:latin typeface="Verdana" panose="020B0604030504040204" pitchFamily="34" charset="0"/>
              </a:rPr>
              <a:t> [0,1]</a:t>
            </a:r>
            <a:r>
              <a:rPr lang="en-US" altLang="zh-CN" sz="3200" baseline="30000"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每一维均分为</a:t>
            </a:r>
            <a:r>
              <a:rPr lang="en-US" altLang="zh-CN" sz="3200" dirty="0">
                <a:solidFill>
                  <a:srgbClr val="006699"/>
                </a:solidFill>
                <a:latin typeface="Verdana" panose="020B0604030504040204" pitchFamily="34" charset="0"/>
              </a:rPr>
              <a:t>k</a:t>
            </a:r>
            <a:r>
              <a:rPr lang="zh-CN" altLang="en-US" sz="3200" dirty="0">
                <a:solidFill>
                  <a:srgbClr val="006699"/>
                </a:solidFill>
                <a:latin typeface="Verdana" panose="020B0604030504040204" pitchFamily="34" charset="0"/>
              </a:rPr>
              <a:t>份，得到</a:t>
            </a:r>
            <a:r>
              <a:rPr lang="en-US" altLang="zh-CN" sz="3200" dirty="0" err="1">
                <a:solidFill>
                  <a:srgbClr val="006699"/>
                </a:solidFill>
                <a:latin typeface="Verdana" panose="020B0604030504040204" pitchFamily="34" charset="0"/>
              </a:rPr>
              <a:t>k</a:t>
            </a:r>
            <a:r>
              <a:rPr lang="en-US" altLang="zh-CN" sz="3200" baseline="30000" dirty="0" err="1">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个子集， 用</a:t>
            </a:r>
            <a:r>
              <a:rPr lang="zh-CN" altLang="en-US" sz="3200" dirty="0">
                <a:solidFill>
                  <a:srgbClr val="FF0000"/>
                </a:solidFill>
                <a:latin typeface="Verdana" panose="020B0604030504040204" pitchFamily="34" charset="0"/>
              </a:rPr>
              <a:t>卡方检验法</a:t>
            </a:r>
            <a:r>
              <a:rPr lang="zh-CN" altLang="en-US" sz="3200" dirty="0">
                <a:solidFill>
                  <a:srgbClr val="006699"/>
                </a:solidFill>
                <a:latin typeface="Verdana" panose="020B0604030504040204" pitchFamily="34" charset="0"/>
              </a:rPr>
              <a:t>检验组合得到的</a:t>
            </a:r>
            <a:r>
              <a:rPr lang="en-US" altLang="zh-CN" sz="3200" dirty="0">
                <a:solidFill>
                  <a:srgbClr val="006699"/>
                </a:solidFill>
                <a:latin typeface="Verdana" panose="020B0604030504040204" pitchFamily="34" charset="0"/>
              </a:rPr>
              <a:t>R</a:t>
            </a:r>
            <a:r>
              <a:rPr lang="en-US" altLang="zh-CN" sz="3200" baseline="30000" dirty="0">
                <a:solidFill>
                  <a:srgbClr val="006699"/>
                </a:solidFill>
                <a:latin typeface="Verdana" panose="020B0604030504040204" pitchFamily="34" charset="0"/>
              </a:rPr>
              <a:t>d</a:t>
            </a:r>
            <a:r>
              <a:rPr lang="zh-CN" altLang="en-US" sz="3200" dirty="0">
                <a:solidFill>
                  <a:srgbClr val="006699"/>
                </a:solidFill>
                <a:latin typeface="Verdana" panose="020B0604030504040204" pitchFamily="34" charset="0"/>
              </a:rPr>
              <a:t>向量落在每个子集的概率是否近似为</a:t>
            </a:r>
            <a:r>
              <a:rPr lang="en-US" altLang="zh-CN" sz="3200" dirty="0">
                <a:solidFill>
                  <a:srgbClr val="006699"/>
                </a:solidFill>
                <a:latin typeface="Verdana" panose="020B0604030504040204" pitchFamily="34" charset="0"/>
              </a:rPr>
              <a:t>k</a:t>
            </a:r>
            <a:r>
              <a:rPr lang="en-US" altLang="zh-CN" sz="3200" baseline="30000" dirty="0">
                <a:solidFill>
                  <a:srgbClr val="006699"/>
                </a:solidFill>
                <a:latin typeface="Verdana" panose="020B0604030504040204" pitchFamily="34" charset="0"/>
              </a:rPr>
              <a:t>-d </a:t>
            </a:r>
            <a:r>
              <a:rPr lang="zh-CN" altLang="en-US" sz="3200" dirty="0">
                <a:solidFill>
                  <a:srgbClr val="006699"/>
                </a:solidFill>
                <a:latin typeface="Verdana" panose="020B0604030504040204" pitchFamily="34" charset="0"/>
              </a:rPr>
              <a:t>。</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6B03274-065A-4DB5-9D45-1CD6849DF8A6}"/>
                  </a:ext>
                </a:extLst>
              </p:cNvPr>
              <p:cNvSpPr/>
              <p:nvPr/>
            </p:nvSpPr>
            <p:spPr>
              <a:xfrm>
                <a:off x="1241630" y="1178750"/>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5" name="矩形 4">
                <a:extLst>
                  <a:ext uri="{FF2B5EF4-FFF2-40B4-BE49-F238E27FC236}">
                    <a16:creationId xmlns:a16="http://schemas.microsoft.com/office/drawing/2014/main" id="{66B03274-065A-4DB5-9D45-1CD6849DF8A6}"/>
                  </a:ext>
                </a:extLst>
              </p:cNvPr>
              <p:cNvSpPr>
                <a:spLocks noRot="1" noChangeAspect="1" noMove="1" noResize="1" noEditPoints="1" noAdjustHandles="1" noChangeArrowheads="1" noChangeShapeType="1" noTextEdit="1"/>
              </p:cNvSpPr>
              <p:nvPr/>
            </p:nvSpPr>
            <p:spPr>
              <a:xfrm>
                <a:off x="1241630" y="1178750"/>
                <a:ext cx="3553024"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62994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5 </a:t>
            </a:r>
            <a:r>
              <a:rPr lang="zh-CN" altLang="en-US" sz="3200" dirty="0">
                <a:solidFill>
                  <a:srgbClr val="006699"/>
                </a:solidFill>
                <a:latin typeface="Verdana" panose="020B0604030504040204" pitchFamily="34" charset="0"/>
              </a:rPr>
              <a:t>把                          看作时间序列样本，计算其样本自相关函数列</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 在                        独立同分布情况下</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应该渐近服从独立的标准正态分布， 可以据此进行白噪声检验。</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1911961-D13C-48AC-B804-34E6876D216C}"/>
                  </a:ext>
                </a:extLst>
              </p:cNvPr>
              <p:cNvSpPr/>
              <p:nvPr/>
            </p:nvSpPr>
            <p:spPr>
              <a:xfrm>
                <a:off x="1241630" y="1178750"/>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4" name="矩形 3">
                <a:extLst>
                  <a:ext uri="{FF2B5EF4-FFF2-40B4-BE49-F238E27FC236}">
                    <a16:creationId xmlns:a16="http://schemas.microsoft.com/office/drawing/2014/main" id="{A1911961-D13C-48AC-B804-34E6876D216C}"/>
                  </a:ext>
                </a:extLst>
              </p:cNvPr>
              <p:cNvSpPr>
                <a:spLocks noRot="1" noChangeAspect="1" noMove="1" noResize="1" noEditPoints="1" noAdjustHandles="1" noChangeArrowheads="1" noChangeShapeType="1" noTextEdit="1"/>
              </p:cNvSpPr>
              <p:nvPr/>
            </p:nvSpPr>
            <p:spPr>
              <a:xfrm>
                <a:off x="1241630" y="1178750"/>
                <a:ext cx="3553024" cy="58477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CCF0996-CB82-4439-9910-C1212D03B2FA}"/>
                  </a:ext>
                </a:extLst>
              </p:cNvPr>
              <p:cNvSpPr/>
              <p:nvPr/>
            </p:nvSpPr>
            <p:spPr>
              <a:xfrm>
                <a:off x="3924482" y="2156462"/>
                <a:ext cx="2914452" cy="6584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acc>
                                <m:accPr>
                                  <m:chr m:val="̂"/>
                                  <m:ctrlPr>
                                    <a:rPr lang="zh-CN" altLang="en-US" sz="3200" i="1">
                                      <a:latin typeface="Cambria Math" panose="02040503050406030204" pitchFamily="18" charset="0"/>
                                    </a:rPr>
                                  </m:ctrlPr>
                                </m:accPr>
                                <m:e>
                                  <m:r>
                                    <a:rPr lang="zh-CN" altLang="en-US" sz="3200" i="1">
                                      <a:latin typeface="Cambria Math" panose="02040503050406030204" pitchFamily="18" charset="0"/>
                                    </a:rPr>
                                    <m:t>𝜌</m:t>
                                  </m:r>
                                </m:e>
                              </m:acc>
                            </m:e>
                            <m:sub>
                              <m:r>
                                <a:rPr lang="zh-CN" altLang="en-US" sz="3200" i="1">
                                  <a:latin typeface="Cambria Math" panose="02040503050406030204" pitchFamily="18" charset="0"/>
                                </a:rPr>
                                <m:t>𝑗</m:t>
                              </m:r>
                            </m:sub>
                          </m:sSub>
                          <m:r>
                            <a:rPr lang="zh-CN" altLang="en-US" sz="3200" i="0">
                              <a:latin typeface="Cambria Math" panose="02040503050406030204" pitchFamily="18" charset="0"/>
                            </a:rPr>
                            <m:t>,</m:t>
                          </m:r>
                          <m:r>
                            <a:rPr lang="zh-CN" altLang="en-US" sz="3200" i="1">
                              <a:latin typeface="Cambria Math" panose="02040503050406030204" pitchFamily="18" charset="0"/>
                            </a:rPr>
                            <m:t>𝑗</m:t>
                          </m:r>
                          <m:r>
                            <a:rPr lang="zh-CN" altLang="en-US" sz="3200" i="0">
                              <a:latin typeface="Cambria Math" panose="02040503050406030204" pitchFamily="18" charset="0"/>
                            </a:rPr>
                            <m:t>=1,2,…</m:t>
                          </m:r>
                        </m:e>
                      </m:d>
                    </m:oMath>
                  </m:oMathPara>
                </a14:m>
                <a:endParaRPr lang="zh-CN" altLang="en-US" sz="3200" dirty="0"/>
              </a:p>
            </p:txBody>
          </p:sp>
        </mc:Choice>
        <mc:Fallback xmlns="">
          <p:sp>
            <p:nvSpPr>
              <p:cNvPr id="2" name="矩形 1">
                <a:extLst>
                  <a:ext uri="{FF2B5EF4-FFF2-40B4-BE49-F238E27FC236}">
                    <a16:creationId xmlns:a16="http://schemas.microsoft.com/office/drawing/2014/main" id="{1CCF0996-CB82-4439-9910-C1212D03B2FA}"/>
                  </a:ext>
                </a:extLst>
              </p:cNvPr>
              <p:cNvSpPr>
                <a:spLocks noRot="1" noChangeAspect="1" noMove="1" noResize="1" noEditPoints="1" noAdjustHandles="1" noChangeArrowheads="1" noChangeShapeType="1" noTextEdit="1"/>
              </p:cNvSpPr>
              <p:nvPr/>
            </p:nvSpPr>
            <p:spPr>
              <a:xfrm>
                <a:off x="3924482" y="2156462"/>
                <a:ext cx="2914452" cy="65845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0C3431F-2689-4A5A-BA17-FBDEED138E6D}"/>
                  </a:ext>
                </a:extLst>
              </p:cNvPr>
              <p:cNvSpPr/>
              <p:nvPr/>
            </p:nvSpPr>
            <p:spPr>
              <a:xfrm>
                <a:off x="883961" y="2844225"/>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6" name="矩形 5">
                <a:extLst>
                  <a:ext uri="{FF2B5EF4-FFF2-40B4-BE49-F238E27FC236}">
                    <a16:creationId xmlns:a16="http://schemas.microsoft.com/office/drawing/2014/main" id="{D0C3431F-2689-4A5A-BA17-FBDEED138E6D}"/>
                  </a:ext>
                </a:extLst>
              </p:cNvPr>
              <p:cNvSpPr>
                <a:spLocks noRot="1" noChangeAspect="1" noMove="1" noResize="1" noEditPoints="1" noAdjustHandles="1" noChangeArrowheads="1" noChangeShapeType="1" noTextEdit="1"/>
              </p:cNvSpPr>
              <p:nvPr/>
            </p:nvSpPr>
            <p:spPr>
              <a:xfrm>
                <a:off x="883961" y="2844225"/>
                <a:ext cx="3553024"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766C0DAC-26A9-4673-91E3-27FE5AE283D8}"/>
                  </a:ext>
                </a:extLst>
              </p:cNvPr>
              <p:cNvSpPr/>
              <p:nvPr/>
            </p:nvSpPr>
            <p:spPr>
              <a:xfrm>
                <a:off x="1421650" y="3481090"/>
                <a:ext cx="3960058" cy="6905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rad>
                            <m:radPr>
                              <m:degHide m:val="on"/>
                              <m:ctrlPr>
                                <a:rPr lang="zh-CN" altLang="en-US" sz="3200" i="1">
                                  <a:latin typeface="Cambria Math" panose="02040503050406030204" pitchFamily="18" charset="0"/>
                                </a:rPr>
                              </m:ctrlPr>
                            </m:radPr>
                            <m:deg/>
                            <m:e>
                              <m:r>
                                <a:rPr lang="zh-CN" altLang="en-US" sz="3200" i="1">
                                  <a:latin typeface="Cambria Math" panose="02040503050406030204" pitchFamily="18" charset="0"/>
                                </a:rPr>
                                <m:t>𝑁</m:t>
                              </m:r>
                            </m:e>
                          </m:rad>
                          <m:sSub>
                            <m:sSubPr>
                              <m:ctrlPr>
                                <a:rPr lang="zh-CN" altLang="en-US" sz="3200" i="1">
                                  <a:latin typeface="Cambria Math" panose="02040503050406030204" pitchFamily="18" charset="0"/>
                                </a:rPr>
                              </m:ctrlPr>
                            </m:sSubPr>
                            <m:e>
                              <m:acc>
                                <m:accPr>
                                  <m:chr m:val="̂"/>
                                  <m:ctrlPr>
                                    <a:rPr lang="zh-CN" altLang="en-US" sz="3200" i="1">
                                      <a:latin typeface="Cambria Math" panose="02040503050406030204" pitchFamily="18" charset="0"/>
                                    </a:rPr>
                                  </m:ctrlPr>
                                </m:accPr>
                                <m:e>
                                  <m:r>
                                    <a:rPr lang="zh-CN" altLang="en-US" sz="3200" i="1">
                                      <a:latin typeface="Cambria Math" panose="02040503050406030204" pitchFamily="18" charset="0"/>
                                    </a:rPr>
                                    <m:t>𝜌</m:t>
                                  </m:r>
                                </m:e>
                              </m:acc>
                            </m:e>
                            <m:sub>
                              <m:r>
                                <a:rPr lang="zh-CN" altLang="en-US" sz="3200" i="1">
                                  <a:latin typeface="Cambria Math" panose="02040503050406030204" pitchFamily="18" charset="0"/>
                                </a:rPr>
                                <m:t>𝑗</m:t>
                              </m:r>
                            </m:sub>
                          </m:sSub>
                          <m:r>
                            <a:rPr lang="zh-CN" altLang="en-US" sz="3200" i="0">
                              <a:latin typeface="Cambria Math" panose="02040503050406030204" pitchFamily="18" charset="0"/>
                            </a:rPr>
                            <m:t>,</m:t>
                          </m:r>
                          <m:r>
                            <a:rPr lang="zh-CN" altLang="en-US" sz="3200" i="1">
                              <a:latin typeface="Cambria Math" panose="02040503050406030204" pitchFamily="18" charset="0"/>
                            </a:rPr>
                            <m:t>𝑗</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3" name="矩形 2">
                <a:extLst>
                  <a:ext uri="{FF2B5EF4-FFF2-40B4-BE49-F238E27FC236}">
                    <a16:creationId xmlns:a16="http://schemas.microsoft.com/office/drawing/2014/main" id="{766C0DAC-26A9-4673-91E3-27FE5AE283D8}"/>
                  </a:ext>
                </a:extLst>
              </p:cNvPr>
              <p:cNvSpPr>
                <a:spLocks noRot="1" noChangeAspect="1" noMove="1" noResize="1" noEditPoints="1" noAdjustHandles="1" noChangeArrowheads="1" noChangeShapeType="1" noTextEdit="1"/>
              </p:cNvSpPr>
              <p:nvPr/>
            </p:nvSpPr>
            <p:spPr>
              <a:xfrm>
                <a:off x="1421650" y="3481090"/>
                <a:ext cx="3960058" cy="690574"/>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189528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6 </a:t>
            </a:r>
            <a:r>
              <a:rPr lang="zh-CN" altLang="en-US" sz="3200" dirty="0">
                <a:solidFill>
                  <a:srgbClr val="006699"/>
                </a:solidFill>
                <a:latin typeface="Verdana" panose="020B0604030504040204" pitchFamily="34" charset="0"/>
              </a:rPr>
              <a:t>把</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离散化为</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令</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其中</a:t>
            </a:r>
            <a:r>
              <a:rPr lang="en-US" altLang="zh-CN" sz="3200" dirty="0">
                <a:solidFill>
                  <a:srgbClr val="006699"/>
                </a:solidFill>
                <a:latin typeface="Verdana" panose="020B0604030504040204" pitchFamily="34" charset="0"/>
              </a:rPr>
              <a:t>b</a:t>
            </a:r>
            <a:r>
              <a:rPr lang="zh-CN" altLang="en-US" sz="3200" dirty="0">
                <a:solidFill>
                  <a:srgbClr val="006699"/>
                </a:solidFill>
                <a:latin typeface="Verdana" panose="020B0604030504040204" pitchFamily="34" charset="0"/>
              </a:rPr>
              <a:t>为正整数</a:t>
            </a:r>
            <a:r>
              <a:rPr lang="en-US" altLang="zh-CN" sz="3200" dirty="0">
                <a:solidFill>
                  <a:srgbClr val="006699"/>
                </a:solidFill>
                <a:latin typeface="Verdana" panose="020B0604030504040204" pitchFamily="34" charset="0"/>
              </a:rPr>
              <a:t>, n=1,2,…, N-b, </a:t>
            </a:r>
          </a:p>
          <a:p>
            <a:pPr marL="0" indent="0" eaLnBrk="1" hangingPunct="1">
              <a:spcBef>
                <a:spcPct val="20000"/>
              </a:spcBef>
            </a:pPr>
            <a:r>
              <a:rPr lang="zh-CN" altLang="en-US" sz="3200" dirty="0">
                <a:solidFill>
                  <a:srgbClr val="006699"/>
                </a:solidFill>
                <a:latin typeface="Verdana" panose="020B0604030504040204" pitchFamily="34" charset="0"/>
              </a:rPr>
              <a:t>用</a:t>
            </a:r>
            <a:r>
              <a:rPr lang="zh-CN" altLang="en-US" sz="3200" dirty="0">
                <a:solidFill>
                  <a:srgbClr val="FF0000"/>
                </a:solidFill>
                <a:latin typeface="Verdana" panose="020B0604030504040204" pitchFamily="34" charset="0"/>
              </a:rPr>
              <a:t>列联表检验法</a:t>
            </a:r>
            <a:r>
              <a:rPr lang="zh-CN" altLang="en-US" sz="3200" dirty="0">
                <a:solidFill>
                  <a:srgbClr val="006699"/>
                </a:solidFill>
                <a:latin typeface="Verdana" panose="020B0604030504040204" pitchFamily="34" charset="0"/>
              </a:rPr>
              <a:t>检验</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的独立性。</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31BE574-3C81-45E1-B580-2EC57F71736B}"/>
                  </a:ext>
                </a:extLst>
              </p:cNvPr>
              <p:cNvSpPr/>
              <p:nvPr/>
            </p:nvSpPr>
            <p:spPr>
              <a:xfrm>
                <a:off x="1241630" y="1178750"/>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4" name="矩形 3">
                <a:extLst>
                  <a:ext uri="{FF2B5EF4-FFF2-40B4-BE49-F238E27FC236}">
                    <a16:creationId xmlns:a16="http://schemas.microsoft.com/office/drawing/2014/main" id="{931BE574-3C81-45E1-B580-2EC57F71736B}"/>
                  </a:ext>
                </a:extLst>
              </p:cNvPr>
              <p:cNvSpPr>
                <a:spLocks noRot="1" noChangeAspect="1" noMove="1" noResize="1" noEditPoints="1" noAdjustHandles="1" noChangeArrowheads="1" noChangeShapeType="1" noTextEdit="1"/>
              </p:cNvSpPr>
              <p:nvPr/>
            </p:nvSpPr>
            <p:spPr>
              <a:xfrm>
                <a:off x="1241630" y="1178750"/>
                <a:ext cx="3553024" cy="58477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3EF98E4-9710-4DB6-A02F-A25A29419181}"/>
                  </a:ext>
                </a:extLst>
              </p:cNvPr>
              <p:cNvSpPr/>
              <p:nvPr/>
            </p:nvSpPr>
            <p:spPr>
              <a:xfrm>
                <a:off x="1511660" y="1864074"/>
                <a:ext cx="559986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m:rPr>
                          <m:nor/>
                        </m:rPr>
                        <a:rPr lang="zh-CN" altLang="en-US" sz="3200" i="1">
                          <a:latin typeface="Cambria Math" panose="02040503050406030204" pitchFamily="18" charset="0"/>
                        </a:rPr>
                        <m:t>floor</m:t>
                      </m:r>
                      <m:r>
                        <a:rPr lang="zh-CN" altLang="en-US" sz="3200" i="0">
                          <a:latin typeface="Cambria Math" panose="02040503050406030204" pitchFamily="18" charset="0"/>
                        </a:rPr>
                        <m:t>(</m:t>
                      </m:r>
                      <m:r>
                        <a:rPr lang="zh-CN" altLang="en-US" sz="3200" i="1">
                          <a:latin typeface="Cambria Math" panose="02040503050406030204" pitchFamily="18" charset="0"/>
                        </a:rPr>
                        <m:t>𝑘</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oMath>
                  </m:oMathPara>
                </a14:m>
                <a:endParaRPr lang="zh-CN" altLang="en-US" sz="3200" dirty="0"/>
              </a:p>
            </p:txBody>
          </p:sp>
        </mc:Choice>
        <mc:Fallback xmlns="">
          <p:sp>
            <p:nvSpPr>
              <p:cNvPr id="2" name="矩形 1">
                <a:extLst>
                  <a:ext uri="{FF2B5EF4-FFF2-40B4-BE49-F238E27FC236}">
                    <a16:creationId xmlns:a16="http://schemas.microsoft.com/office/drawing/2014/main" id="{43EF98E4-9710-4DB6-A02F-A25A29419181}"/>
                  </a:ext>
                </a:extLst>
              </p:cNvPr>
              <p:cNvSpPr>
                <a:spLocks noRot="1" noChangeAspect="1" noMove="1" noResize="1" noEditPoints="1" noAdjustHandles="1" noChangeArrowheads="1" noChangeShapeType="1" noTextEdit="1"/>
              </p:cNvSpPr>
              <p:nvPr/>
            </p:nvSpPr>
            <p:spPr>
              <a:xfrm>
                <a:off x="1511660" y="1864074"/>
                <a:ext cx="5599866"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823DF952-5849-4B0B-B67B-4B79B6C5C809}"/>
                  </a:ext>
                </a:extLst>
              </p:cNvPr>
              <p:cNvSpPr/>
              <p:nvPr/>
            </p:nvSpPr>
            <p:spPr>
              <a:xfrm>
                <a:off x="712851" y="2949495"/>
                <a:ext cx="359874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𝜉</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𝜂</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r>
                            <a:rPr lang="zh-CN" altLang="en-US" sz="3200" i="0">
                              <a:latin typeface="Cambria Math" panose="02040503050406030204" pitchFamily="18" charset="0"/>
                            </a:rPr>
                            <m:t>+</m:t>
                          </m:r>
                          <m:r>
                            <a:rPr lang="zh-CN" altLang="en-US" sz="3200" i="1">
                              <a:latin typeface="Cambria Math" panose="02040503050406030204" pitchFamily="18" charset="0"/>
                            </a:rPr>
                            <m:t>𝑏</m:t>
                          </m:r>
                        </m:sub>
                      </m:sSub>
                    </m:oMath>
                  </m:oMathPara>
                </a14:m>
                <a:endParaRPr lang="zh-CN" altLang="en-US" sz="3200" dirty="0"/>
              </a:p>
            </p:txBody>
          </p:sp>
        </mc:Choice>
        <mc:Fallback xmlns="">
          <p:sp>
            <p:nvSpPr>
              <p:cNvPr id="3" name="矩形 2">
                <a:extLst>
                  <a:ext uri="{FF2B5EF4-FFF2-40B4-BE49-F238E27FC236}">
                    <a16:creationId xmlns:a16="http://schemas.microsoft.com/office/drawing/2014/main" id="{823DF952-5849-4B0B-B67B-4B79B6C5C809}"/>
                  </a:ext>
                </a:extLst>
              </p:cNvPr>
              <p:cNvSpPr>
                <a:spLocks noRot="1" noChangeAspect="1" noMove="1" noResize="1" noEditPoints="1" noAdjustHandles="1" noChangeArrowheads="1" noChangeShapeType="1" noTextEdit="1"/>
              </p:cNvSpPr>
              <p:nvPr/>
            </p:nvSpPr>
            <p:spPr>
              <a:xfrm>
                <a:off x="712851" y="2949495"/>
                <a:ext cx="3598742"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208E5DC-CE50-4826-9F80-F986E98C846B}"/>
                  </a:ext>
                </a:extLst>
              </p:cNvPr>
              <p:cNvSpPr/>
              <p:nvPr/>
            </p:nvSpPr>
            <p:spPr>
              <a:xfrm>
                <a:off x="4153388" y="4091341"/>
                <a:ext cx="1282531"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𝜉</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𝜂</m:t>
                          </m:r>
                        </m:e>
                        <m:sub>
                          <m:r>
                            <a:rPr lang="zh-CN" altLang="en-US" sz="3200" i="1">
                              <a:latin typeface="Cambria Math" panose="02040503050406030204" pitchFamily="18" charset="0"/>
                            </a:rPr>
                            <m:t>𝑛</m:t>
                          </m:r>
                        </m:sub>
                      </m:sSub>
                    </m:oMath>
                  </m:oMathPara>
                </a14:m>
                <a:endParaRPr lang="zh-CN" altLang="en-US" sz="3200" dirty="0"/>
              </a:p>
            </p:txBody>
          </p:sp>
        </mc:Choice>
        <mc:Fallback xmlns="">
          <p:sp>
            <p:nvSpPr>
              <p:cNvPr id="5" name="矩形 4">
                <a:extLst>
                  <a:ext uri="{FF2B5EF4-FFF2-40B4-BE49-F238E27FC236}">
                    <a16:creationId xmlns:a16="http://schemas.microsoft.com/office/drawing/2014/main" id="{A208E5DC-CE50-4826-9F80-F986E98C846B}"/>
                  </a:ext>
                </a:extLst>
              </p:cNvPr>
              <p:cNvSpPr>
                <a:spLocks noRot="1" noChangeAspect="1" noMove="1" noResize="1" noEditPoints="1" noAdjustHandles="1" noChangeArrowheads="1" noChangeShapeType="1" noTextEdit="1"/>
              </p:cNvSpPr>
              <p:nvPr/>
            </p:nvSpPr>
            <p:spPr>
              <a:xfrm>
                <a:off x="4153388" y="4091341"/>
                <a:ext cx="1282531" cy="584775"/>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23303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8730"/>
            <a:ext cx="8640960" cy="43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7 </a:t>
            </a:r>
            <a:r>
              <a:rPr lang="zh-CN" altLang="en-US" sz="3200" dirty="0">
                <a:solidFill>
                  <a:srgbClr val="006699"/>
                </a:solidFill>
                <a:latin typeface="Verdana" panose="020B0604030504040204" pitchFamily="34" charset="0"/>
              </a:rPr>
              <a:t>游程检验</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把序列  </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按顺序切分为不同段，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每一段中的数值都是递增的，这样的一段叫做一个</a:t>
            </a:r>
            <a:r>
              <a:rPr lang="zh-CN" altLang="en-US" sz="3200" dirty="0">
                <a:solidFill>
                  <a:srgbClr val="FF0000"/>
                </a:solidFill>
                <a:latin typeface="Verdana" panose="020B0604030504040204" pitchFamily="34" charset="0"/>
              </a:rPr>
              <a:t>上升游程</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如</a:t>
            </a:r>
            <a:r>
              <a:rPr lang="en-US" altLang="zh-CN" sz="3200" dirty="0">
                <a:solidFill>
                  <a:srgbClr val="006699"/>
                </a:solidFill>
                <a:latin typeface="Verdana" panose="020B0604030504040204" pitchFamily="34" charset="0"/>
              </a:rPr>
              <a:t>(0.8555), (0.108, 0.226), (0.108, 0.226),(0.055, 0.545, 0.642, 0.870) ,... </a:t>
            </a:r>
            <a:r>
              <a:rPr lang="zh-CN" altLang="en-US" sz="3200" dirty="0">
                <a:solidFill>
                  <a:srgbClr val="006699"/>
                </a:solidFill>
                <a:latin typeface="Verdana" panose="020B0604030504040204" pitchFamily="34" charset="0"/>
              </a:rPr>
              <a:t>。</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7A49D68-AA67-45DF-A950-31C7B0DCDAB7}"/>
                  </a:ext>
                </a:extLst>
              </p:cNvPr>
              <p:cNvSpPr/>
              <p:nvPr/>
            </p:nvSpPr>
            <p:spPr>
              <a:xfrm>
                <a:off x="1691680" y="1628800"/>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4" name="矩形 3">
                <a:extLst>
                  <a:ext uri="{FF2B5EF4-FFF2-40B4-BE49-F238E27FC236}">
                    <a16:creationId xmlns:a16="http://schemas.microsoft.com/office/drawing/2014/main" id="{67A49D68-AA67-45DF-A950-31C7B0DCDAB7}"/>
                  </a:ext>
                </a:extLst>
              </p:cNvPr>
              <p:cNvSpPr>
                <a:spLocks noRot="1" noChangeAspect="1" noMove="1" noResize="1" noEditPoints="1" noAdjustHandles="1" noChangeArrowheads="1" noChangeShapeType="1" noTextEdit="1"/>
              </p:cNvSpPr>
              <p:nvPr/>
            </p:nvSpPr>
            <p:spPr>
              <a:xfrm>
                <a:off x="1691680" y="1628800"/>
                <a:ext cx="3553024"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084683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98730"/>
            <a:ext cx="8640960" cy="3834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7 </a:t>
            </a:r>
            <a:r>
              <a:rPr lang="zh-CN" altLang="en-US" sz="3200" dirty="0">
                <a:solidFill>
                  <a:srgbClr val="006699"/>
                </a:solidFill>
                <a:latin typeface="Verdana" panose="020B0604030504040204" pitchFamily="34" charset="0"/>
              </a:rPr>
              <a:t>游程检验</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在相邻的两个上升游程中前一个游程的最后一个值大于后一个游程的第一个值。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在</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独立同分布条件下游程长度的理论分布可以得知，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然后可以比较实际游程长度与独立同分布条件下期望长度</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C6FC8320-1ACA-47A4-829E-AE9333706811}"/>
                  </a:ext>
                </a:extLst>
              </p:cNvPr>
              <p:cNvSpPr/>
              <p:nvPr/>
            </p:nvSpPr>
            <p:spPr>
              <a:xfrm>
                <a:off x="1007011" y="2623790"/>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5" name="矩形 4">
                <a:extLst>
                  <a:ext uri="{FF2B5EF4-FFF2-40B4-BE49-F238E27FC236}">
                    <a16:creationId xmlns:a16="http://schemas.microsoft.com/office/drawing/2014/main" id="{C6FC8320-1ACA-47A4-829E-AE9333706811}"/>
                  </a:ext>
                </a:extLst>
              </p:cNvPr>
              <p:cNvSpPr>
                <a:spLocks noRot="1" noChangeAspect="1" noMove="1" noResize="1" noEditPoints="1" noAdjustHandles="1" noChangeArrowheads="1" noChangeShapeType="1" noTextEdit="1"/>
              </p:cNvSpPr>
              <p:nvPr/>
            </p:nvSpPr>
            <p:spPr>
              <a:xfrm>
                <a:off x="1007011" y="2623790"/>
                <a:ext cx="3553024"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08401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06515" y="953725"/>
            <a:ext cx="8370930"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8 </a:t>
            </a:r>
            <a:r>
              <a:rPr lang="zh-CN" altLang="en-US" sz="3200" dirty="0">
                <a:solidFill>
                  <a:srgbClr val="006699"/>
                </a:solidFill>
                <a:latin typeface="Verdana" panose="020B0604030504040204" pitchFamily="34" charset="0"/>
              </a:rPr>
              <a:t>扑克检验</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把    </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离散化为</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然后每连续的</a:t>
            </a:r>
            <a:r>
              <a:rPr lang="en-US" altLang="zh-CN" sz="3200" dirty="0">
                <a:solidFill>
                  <a:srgbClr val="006699"/>
                </a:solidFill>
                <a:latin typeface="Verdana" panose="020B0604030504040204" pitchFamily="34" charset="0"/>
              </a:rPr>
              <a:t>8</a:t>
            </a:r>
            <a:r>
              <a:rPr lang="zh-CN" altLang="en-US" sz="3200" dirty="0">
                <a:solidFill>
                  <a:srgbClr val="006699"/>
                </a:solidFill>
                <a:latin typeface="Verdana" panose="020B0604030504040204" pitchFamily="34" charset="0"/>
              </a:rPr>
              <a:t>个作为一组， 计数每组内不同数字的个数（</a:t>
            </a:r>
            <a:r>
              <a:rPr lang="en-US" altLang="zh-CN" sz="3200" dirty="0">
                <a:solidFill>
                  <a:srgbClr val="006699"/>
                </a:solidFill>
                <a:latin typeface="Verdana" panose="020B0604030504040204" pitchFamily="34" charset="0"/>
              </a:rPr>
              <a:t>1-8</a:t>
            </a:r>
            <a:r>
              <a:rPr lang="zh-CN" altLang="en-US" sz="3200" dirty="0">
                <a:solidFill>
                  <a:srgbClr val="006699"/>
                </a:solidFill>
                <a:latin typeface="Verdana" panose="020B0604030504040204" pitchFamily="34" charset="0"/>
              </a:rPr>
              <a:t>个）。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在</a:t>
            </a:r>
            <a:r>
              <a:rPr lang="en-US" altLang="zh-CN" sz="3200" dirty="0">
                <a:solidFill>
                  <a:srgbClr val="006699"/>
                </a:solidFill>
                <a:latin typeface="Verdana" panose="020B0604030504040204" pitchFamily="34" charset="0"/>
              </a:rPr>
              <a:t>R</a:t>
            </a:r>
            <a:r>
              <a:rPr lang="en-US" altLang="zh-CN" sz="3200" baseline="-250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同均匀分布条件下每组内不同数字个数的理论分布概率可以计算出来，</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然后用</a:t>
            </a:r>
            <a:r>
              <a:rPr lang="zh-CN" altLang="en-US" sz="3200" dirty="0">
                <a:solidFill>
                  <a:srgbClr val="FF0000"/>
                </a:solidFill>
                <a:latin typeface="Verdana" panose="020B0604030504040204" pitchFamily="34" charset="0"/>
              </a:rPr>
              <a:t>卡方检验法</a:t>
            </a:r>
            <a:r>
              <a:rPr lang="zh-CN" altLang="en-US" sz="3200" dirty="0">
                <a:solidFill>
                  <a:srgbClr val="006699"/>
                </a:solidFill>
                <a:latin typeface="Verdana" panose="020B0604030504040204" pitchFamily="34" charset="0"/>
              </a:rPr>
              <a:t>检验实际观测与理论概率是否相符。</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77D273C-C875-4217-ABAB-460FDECB9E56}"/>
                  </a:ext>
                </a:extLst>
              </p:cNvPr>
              <p:cNvSpPr/>
              <p:nvPr/>
            </p:nvSpPr>
            <p:spPr>
              <a:xfrm>
                <a:off x="1196625" y="1514408"/>
                <a:ext cx="3553024"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4" name="矩形 3">
                <a:extLst>
                  <a:ext uri="{FF2B5EF4-FFF2-40B4-BE49-F238E27FC236}">
                    <a16:creationId xmlns:a16="http://schemas.microsoft.com/office/drawing/2014/main" id="{277D273C-C875-4217-ABAB-460FDECB9E56}"/>
                  </a:ext>
                </a:extLst>
              </p:cNvPr>
              <p:cNvSpPr>
                <a:spLocks noRot="1" noChangeAspect="1" noMove="1" noResize="1" noEditPoints="1" noAdjustHandles="1" noChangeArrowheads="1" noChangeShapeType="1" noTextEdit="1"/>
              </p:cNvSpPr>
              <p:nvPr/>
            </p:nvSpPr>
            <p:spPr>
              <a:xfrm>
                <a:off x="1196625" y="1514408"/>
                <a:ext cx="3553024" cy="58477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5117341-A201-4F4D-808B-7B1203F90F4F}"/>
                  </a:ext>
                </a:extLst>
              </p:cNvPr>
              <p:cNvSpPr/>
              <p:nvPr/>
            </p:nvSpPr>
            <p:spPr>
              <a:xfrm>
                <a:off x="1454661" y="2118260"/>
                <a:ext cx="559986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m:rPr>
                          <m:nor/>
                        </m:rPr>
                        <a:rPr lang="zh-CN" altLang="en-US" sz="3200" i="1">
                          <a:latin typeface="Cambria Math" panose="02040503050406030204" pitchFamily="18" charset="0"/>
                        </a:rPr>
                        <m:t>floor</m:t>
                      </m:r>
                      <m:r>
                        <a:rPr lang="zh-CN" altLang="en-US" sz="3200" i="0">
                          <a:latin typeface="Cambria Math" panose="02040503050406030204" pitchFamily="18" charset="0"/>
                        </a:rPr>
                        <m:t>(</m:t>
                      </m:r>
                      <m:r>
                        <a:rPr lang="zh-CN" altLang="en-US" sz="3200" i="1">
                          <a:latin typeface="Cambria Math" panose="02040503050406030204" pitchFamily="18" charset="0"/>
                        </a:rPr>
                        <m:t>𝑘</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oMath>
                  </m:oMathPara>
                </a14:m>
                <a:endParaRPr lang="zh-CN" altLang="en-US" sz="3200" dirty="0"/>
              </a:p>
            </p:txBody>
          </p:sp>
        </mc:Choice>
        <mc:Fallback xmlns="">
          <p:sp>
            <p:nvSpPr>
              <p:cNvPr id="6" name="矩形 5">
                <a:extLst>
                  <a:ext uri="{FF2B5EF4-FFF2-40B4-BE49-F238E27FC236}">
                    <a16:creationId xmlns:a16="http://schemas.microsoft.com/office/drawing/2014/main" id="{B5117341-A201-4F4D-808B-7B1203F90F4F}"/>
                  </a:ext>
                </a:extLst>
              </p:cNvPr>
              <p:cNvSpPr>
                <a:spLocks noRot="1" noChangeAspect="1" noMove="1" noResize="1" noEditPoints="1" noAdjustHandles="1" noChangeArrowheads="1" noChangeShapeType="1" noTextEdit="1"/>
              </p:cNvSpPr>
              <p:nvPr/>
            </p:nvSpPr>
            <p:spPr>
              <a:xfrm>
                <a:off x="1454661" y="2118260"/>
                <a:ext cx="5599866" cy="584775"/>
              </a:xfrm>
              <a:prstGeom prst="rect">
                <a:avLst/>
              </a:prstGeom>
              <a:blipFill>
                <a:blip r:embed="rId3"/>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53F94874-1BDB-4DC9-9FC0-9E4481D2EC2D}"/>
              </a:ext>
            </a:extLst>
          </p:cNvPr>
          <p:cNvSpPr txBox="1"/>
          <p:nvPr/>
        </p:nvSpPr>
        <p:spPr>
          <a:xfrm>
            <a:off x="1016605" y="6345793"/>
            <a:ext cx="7950232" cy="369332"/>
          </a:xfrm>
          <a:prstGeom prst="rect">
            <a:avLst/>
          </a:prstGeom>
          <a:noFill/>
          <a:ln w="25400">
            <a:noFill/>
          </a:ln>
        </p:spPr>
        <p:txBody>
          <a:bodyPr wrap="square">
            <a:spAutoFit/>
          </a:bodyPr>
          <a:lstStyle/>
          <a:p>
            <a:r>
              <a:rPr lang="en-US" altLang="zh-CN" dirty="0"/>
              <a:t>http://www.gmbz.org.cn/main/viewfile/20220805030323734119.html</a:t>
            </a:r>
            <a:endParaRPr lang="zh-CN" altLang="en-US" dirty="0"/>
          </a:p>
        </p:txBody>
      </p:sp>
    </p:spTree>
    <p:extLst>
      <p:ext uri="{BB962C8B-B14F-4D97-AF65-F5344CB8AC3E}">
        <p14:creationId xmlns:p14="http://schemas.microsoft.com/office/powerpoint/2010/main" val="33646205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 y="1178750"/>
            <a:ext cx="8937485" cy="442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9 </a:t>
            </a:r>
            <a:r>
              <a:rPr lang="zh-CN" altLang="en-US" sz="3200" dirty="0">
                <a:solidFill>
                  <a:srgbClr val="006699"/>
                </a:solidFill>
                <a:latin typeface="Verdana" panose="020B0604030504040204" pitchFamily="34" charset="0"/>
              </a:rPr>
              <a:t>配套检验</a:t>
            </a:r>
          </a:p>
          <a:p>
            <a:pPr marL="457200" indent="-457200" eaLnBrk="1" hangingPunct="1">
              <a:spcBef>
                <a:spcPct val="20000"/>
              </a:spcBef>
              <a:buFont typeface="Arial" panose="020B0604020202020204" pitchFamily="34" charset="0"/>
              <a:buChar char="•"/>
            </a:pPr>
            <a:r>
              <a:rPr lang="en-US" altLang="zh-CN" sz="3200" dirty="0">
                <a:solidFill>
                  <a:srgbClr val="006699"/>
                </a:solidFill>
                <a:latin typeface="Verdana" panose="020B0604030504040204" pitchFamily="34" charset="0"/>
              </a:rPr>
              <a:t>{ R</a:t>
            </a:r>
            <a:r>
              <a:rPr lang="en-US" altLang="zh-CN" sz="3200" baseline="-25000" dirty="0">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离散化为     </a:t>
            </a:r>
            <a:r>
              <a:rPr lang="en-US" altLang="zh-CN" sz="3200" dirty="0">
                <a:solidFill>
                  <a:srgbClr val="006699"/>
                </a:solidFill>
                <a:latin typeface="Verdana" panose="020B0604030504040204" pitchFamily="34" charset="0"/>
              </a:rPr>
              <a:t>                (k</a:t>
            </a:r>
            <a:r>
              <a:rPr lang="zh-CN" altLang="en-US" sz="3200" dirty="0">
                <a:solidFill>
                  <a:srgbClr val="006699"/>
                </a:solidFill>
                <a:latin typeface="Verdana" panose="020B0604030504040204" pitchFamily="34" charset="0"/>
              </a:rPr>
              <a:t>为正整数</a:t>
            </a:r>
            <a:r>
              <a:rPr lang="en-US" altLang="zh-CN" sz="3200" dirty="0">
                <a:solidFill>
                  <a:srgbClr val="006699"/>
                </a:solidFill>
                <a:latin typeface="Verdana" panose="020B0604030504040204" pitchFamily="34" charset="0"/>
              </a:rPr>
              <a:t>), n=1,2,…, N, </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然后顺序抽取</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直到</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y</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的可能取值</a:t>
            </a:r>
            <a:r>
              <a:rPr lang="en-US" altLang="zh-CN" sz="3200" dirty="0">
                <a:solidFill>
                  <a:srgbClr val="006699"/>
                </a:solidFill>
                <a:latin typeface="Verdana" panose="020B0604030504040204" pitchFamily="34" charset="0"/>
              </a:rPr>
              <a:t>{0,1,…,k-1}</a:t>
            </a:r>
            <a:r>
              <a:rPr lang="zh-CN" altLang="en-US" sz="3200" dirty="0">
                <a:solidFill>
                  <a:srgbClr val="006699"/>
                </a:solidFill>
                <a:latin typeface="Verdana" panose="020B0604030504040204" pitchFamily="34" charset="0"/>
              </a:rPr>
              <a:t>都出现过为止，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记录需要抽取的</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y</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的个数</a:t>
            </a:r>
            <a:r>
              <a:rPr lang="en-US" altLang="zh-CN" sz="3200" dirty="0">
                <a:solidFill>
                  <a:srgbClr val="006699"/>
                </a:solidFill>
                <a:latin typeface="Verdana" panose="020B0604030504040204" pitchFamily="34" charset="0"/>
              </a:rPr>
              <a:t>L</a:t>
            </a:r>
            <a:r>
              <a:rPr lang="zh-CN" altLang="en-US" sz="3200" dirty="0">
                <a:solidFill>
                  <a:srgbClr val="006699"/>
                </a:solidFill>
                <a:latin typeface="Verdana" panose="020B0604030504040204" pitchFamily="34" charset="0"/>
              </a:rPr>
              <a:t>， 反复抽取并记录配齐数字需要抽取的值的个数</a:t>
            </a:r>
            <a:r>
              <a:rPr lang="en-US" altLang="zh-CN" sz="3200" dirty="0" err="1">
                <a:solidFill>
                  <a:srgbClr val="006699"/>
                </a:solidFill>
                <a:latin typeface="Verdana" panose="020B0604030504040204" pitchFamily="34" charset="0"/>
              </a:rPr>
              <a:t>l</a:t>
            </a:r>
            <a:r>
              <a:rPr lang="en-US" altLang="zh-CN" sz="3200" baseline="-25000" dirty="0" err="1">
                <a:solidFill>
                  <a:srgbClr val="006699"/>
                </a:solidFill>
                <a:latin typeface="Verdana" panose="020B0604030504040204" pitchFamily="34" charset="0"/>
              </a:rPr>
              <a:t>j</a:t>
            </a:r>
            <a:r>
              <a:rPr lang="en-US" altLang="zh-CN" sz="3200" dirty="0">
                <a:solidFill>
                  <a:srgbClr val="006699"/>
                </a:solidFill>
                <a:latin typeface="Verdana" panose="020B0604030504040204" pitchFamily="34" charset="0"/>
              </a:rPr>
              <a:t>, j=1,2,…</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BF91429-1407-426F-91BE-2B4B62E9CB5B}"/>
                  </a:ext>
                </a:extLst>
              </p:cNvPr>
              <p:cNvSpPr/>
              <p:nvPr/>
            </p:nvSpPr>
            <p:spPr>
              <a:xfrm>
                <a:off x="3227686" y="1763525"/>
                <a:ext cx="3133935"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m:rPr>
                              <m:nor/>
                            </m:rPr>
                            <a:rPr lang="zh-CN" altLang="en-US" sz="3200" i="1">
                              <a:latin typeface="Cambria Math" panose="02040503050406030204" pitchFamily="18" charset="0"/>
                            </a:rPr>
                            <m:t>floor</m:t>
                          </m:r>
                          <m:r>
                            <a:rPr lang="zh-CN" altLang="en-US" sz="3200" i="0">
                              <a:latin typeface="Cambria Math" panose="02040503050406030204" pitchFamily="18" charset="0"/>
                            </a:rPr>
                            <m:t>(</m:t>
                          </m:r>
                          <m:r>
                            <a:rPr lang="zh-CN" altLang="en-US" sz="3200" i="1">
                              <a:latin typeface="Cambria Math" panose="02040503050406030204" pitchFamily="18" charset="0"/>
                            </a:rPr>
                            <m:t>𝑘</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e>
                      </m:d>
                    </m:oMath>
                  </m:oMathPara>
                </a14:m>
                <a:endParaRPr lang="zh-CN" altLang="en-US" sz="3200" dirty="0"/>
              </a:p>
            </p:txBody>
          </p:sp>
        </mc:Choice>
        <mc:Fallback xmlns="">
          <p:sp>
            <p:nvSpPr>
              <p:cNvPr id="2" name="矩形 1">
                <a:extLst>
                  <a:ext uri="{FF2B5EF4-FFF2-40B4-BE49-F238E27FC236}">
                    <a16:creationId xmlns:a16="http://schemas.microsoft.com/office/drawing/2014/main" id="{ABF91429-1407-426F-91BE-2B4B62E9CB5B}"/>
                  </a:ext>
                </a:extLst>
              </p:cNvPr>
              <p:cNvSpPr>
                <a:spLocks noRot="1" noChangeAspect="1" noMove="1" noResize="1" noEditPoints="1" noAdjustHandles="1" noChangeArrowheads="1" noChangeShapeType="1" noTextEdit="1"/>
              </p:cNvSpPr>
              <p:nvPr/>
            </p:nvSpPr>
            <p:spPr>
              <a:xfrm>
                <a:off x="3227686" y="1763525"/>
                <a:ext cx="3133935" cy="58477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6B43587-0B3C-4581-836D-437739679575}"/>
                  </a:ext>
                </a:extLst>
              </p:cNvPr>
              <p:cNvSpPr/>
              <p:nvPr/>
            </p:nvSpPr>
            <p:spPr>
              <a:xfrm>
                <a:off x="3048694" y="2844225"/>
                <a:ext cx="3491918"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3200" i="1">
                              <a:latin typeface="Cambria Math" panose="02040503050406030204" pitchFamily="18" charset="0"/>
                            </a:rPr>
                          </m:ctrlPr>
                        </m:d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=1,2,…,</m:t>
                          </m:r>
                          <m:r>
                            <a:rPr lang="zh-CN" altLang="en-US" sz="3200" i="1">
                              <a:latin typeface="Cambria Math" panose="02040503050406030204" pitchFamily="18" charset="0"/>
                            </a:rPr>
                            <m:t>𝑁</m:t>
                          </m:r>
                        </m:e>
                      </m:d>
                    </m:oMath>
                  </m:oMathPara>
                </a14:m>
                <a:endParaRPr lang="zh-CN" altLang="en-US" sz="3200" dirty="0"/>
              </a:p>
            </p:txBody>
          </p:sp>
        </mc:Choice>
        <mc:Fallback xmlns="">
          <p:sp>
            <p:nvSpPr>
              <p:cNvPr id="3" name="矩形 2">
                <a:extLst>
                  <a:ext uri="{FF2B5EF4-FFF2-40B4-BE49-F238E27FC236}">
                    <a16:creationId xmlns:a16="http://schemas.microsoft.com/office/drawing/2014/main" id="{A6B43587-0B3C-4581-836D-437739679575}"/>
                  </a:ext>
                </a:extLst>
              </p:cNvPr>
              <p:cNvSpPr>
                <a:spLocks noRot="1" noChangeAspect="1" noMove="1" noResize="1" noEditPoints="1" noAdjustHandles="1" noChangeArrowheads="1" noChangeShapeType="1" noTextEdit="1"/>
              </p:cNvSpPr>
              <p:nvPr/>
            </p:nvSpPr>
            <p:spPr>
              <a:xfrm>
                <a:off x="3048694" y="2844225"/>
                <a:ext cx="3491918" cy="584775"/>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120395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 y="1178750"/>
            <a:ext cx="8937485" cy="3834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9 </a:t>
            </a:r>
            <a:r>
              <a:rPr lang="zh-CN" altLang="en-US" sz="3200" dirty="0">
                <a:solidFill>
                  <a:srgbClr val="006699"/>
                </a:solidFill>
                <a:latin typeface="Verdana" panose="020B0604030504040204" pitchFamily="34" charset="0"/>
              </a:rPr>
              <a:t>配套检验</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在</a:t>
            </a:r>
            <a:r>
              <a:rPr lang="en-US" altLang="zh-CN" sz="3200" dirty="0">
                <a:solidFill>
                  <a:srgbClr val="006699"/>
                </a:solidFill>
                <a:latin typeface="Verdana" panose="020B0604030504040204" pitchFamily="34" charset="0"/>
              </a:rPr>
              <a:t>{ R</a:t>
            </a:r>
            <a:r>
              <a:rPr lang="en-US" altLang="zh-CN" sz="3200" baseline="-25000" dirty="0">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独立同</a:t>
            </a:r>
            <a:r>
              <a:rPr lang="en-US" altLang="zh-CN" sz="3200" dirty="0">
                <a:solidFill>
                  <a:srgbClr val="006699"/>
                </a:solidFill>
                <a:latin typeface="Verdana" panose="020B0604030504040204" pitchFamily="34" charset="0"/>
              </a:rPr>
              <a:t>U(0,1)</a:t>
            </a:r>
            <a:r>
              <a:rPr lang="zh-CN" altLang="en-US" sz="3200" dirty="0">
                <a:solidFill>
                  <a:srgbClr val="006699"/>
                </a:solidFill>
                <a:latin typeface="Verdana" panose="020B0604030504040204" pitchFamily="34" charset="0"/>
              </a:rPr>
              <a:t>分布条件下这样的</a:t>
            </a:r>
            <a:r>
              <a:rPr lang="en-US" altLang="zh-CN" sz="3200" dirty="0">
                <a:solidFill>
                  <a:srgbClr val="006699"/>
                </a:solidFill>
                <a:latin typeface="Verdana" panose="020B0604030504040204" pitchFamily="34" charset="0"/>
              </a:rPr>
              <a:t>L</a:t>
            </a:r>
            <a:r>
              <a:rPr lang="zh-CN" altLang="en-US" sz="3200" dirty="0">
                <a:solidFill>
                  <a:srgbClr val="006699"/>
                </a:solidFill>
                <a:latin typeface="Verdana" panose="020B0604030504040204" pitchFamily="34" charset="0"/>
              </a:rPr>
              <a:t>分布可以得到，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可以计算</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l</a:t>
            </a:r>
            <a:r>
              <a:rPr lang="en-US" altLang="zh-CN" sz="3200" baseline="-25000" dirty="0" err="1">
                <a:solidFill>
                  <a:srgbClr val="006699"/>
                </a:solidFill>
                <a:latin typeface="Verdana" panose="020B0604030504040204" pitchFamily="34" charset="0"/>
              </a:rPr>
              <a:t>j</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的平均值并用渐近正态分布检验观测均值与理论均值的差异大小，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或直接用</a:t>
            </a:r>
            <a:r>
              <a:rPr lang="zh-CN" altLang="en-US" sz="3200" dirty="0">
                <a:solidFill>
                  <a:srgbClr val="FF0000"/>
                </a:solidFill>
                <a:latin typeface="Verdana" panose="020B0604030504040204" pitchFamily="34" charset="0"/>
              </a:rPr>
              <a:t>卡方检验法</a:t>
            </a:r>
            <a:r>
              <a:rPr lang="zh-CN" altLang="en-US" sz="3200" dirty="0">
                <a:solidFill>
                  <a:srgbClr val="006699"/>
                </a:solidFill>
                <a:latin typeface="Verdana" panose="020B0604030504040204" pitchFamily="34" charset="0"/>
              </a:rPr>
              <a:t>比较</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l</a:t>
            </a:r>
            <a:r>
              <a:rPr lang="en-US" altLang="zh-CN" sz="3200" baseline="-25000" dirty="0" err="1">
                <a:solidFill>
                  <a:srgbClr val="006699"/>
                </a:solidFill>
                <a:latin typeface="Verdana" panose="020B0604030504040204" pitchFamily="34" charset="0"/>
              </a:rPr>
              <a:t>j</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的样本频数与理论期望值。</a:t>
            </a:r>
          </a:p>
        </p:txBody>
      </p:sp>
    </p:spTree>
    <p:extLst>
      <p:ext uri="{BB962C8B-B14F-4D97-AF65-F5344CB8AC3E}">
        <p14:creationId xmlns:p14="http://schemas.microsoft.com/office/powerpoint/2010/main" val="42560001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mc:AlternateContent xmlns:mc="http://schemas.openxmlformats.org/markup-compatibility/2006" xmlns:a14="http://schemas.microsoft.com/office/drawing/2010/main">
        <mc:Choice Requires="a14">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386535" y="1178750"/>
                <a:ext cx="8370930" cy="4866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10 </a:t>
                </a:r>
                <a:r>
                  <a:rPr lang="zh-CN" altLang="en-US" sz="3200" dirty="0">
                    <a:solidFill>
                      <a:srgbClr val="006699"/>
                    </a:solidFill>
                    <a:latin typeface="Verdana" panose="020B0604030504040204" pitchFamily="34" charset="0"/>
                  </a:rPr>
                  <a:t>正负连检验</a:t>
                </a:r>
              </a:p>
              <a:p>
                <a:pPr marL="0" indent="0" eaLnBrk="1" hangingPunct="1">
                  <a:spcBef>
                    <a:spcPct val="20000"/>
                  </a:spcBef>
                </a:pPr>
                <a:r>
                  <a:rPr lang="zh-CN" altLang="en-US" sz="3200" dirty="0">
                    <a:solidFill>
                      <a:srgbClr val="006699"/>
                    </a:solidFill>
                    <a:latin typeface="Verdana" panose="020B0604030504040204" pitchFamily="34" charset="0"/>
                  </a:rPr>
                  <a:t>令</a:t>
                </a:r>
                <a14:m>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sub>
                    </m:sSub>
                    <m:r>
                      <a:rPr lang="zh-CN" altLang="en-US" sz="320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a:latin typeface="Cambria Math" panose="02040503050406030204" pitchFamily="18" charset="0"/>
                          </a:rPr>
                          <m:t>1</m:t>
                        </m:r>
                      </m:num>
                      <m:den>
                        <m:r>
                          <a:rPr lang="zh-CN" altLang="en-US" sz="3200">
                            <a:latin typeface="Cambria Math" panose="02040503050406030204" pitchFamily="18" charset="0"/>
                          </a:rPr>
                          <m:t>2</m:t>
                        </m:r>
                      </m:den>
                    </m:f>
                  </m:oMath>
                </a14:m>
                <a:endParaRPr lang="zh-CN" altLang="en-US" sz="3200" dirty="0"/>
              </a:p>
              <a:p>
                <a:pPr marL="0" indent="0" eaLnBrk="1" hangingPunct="1">
                  <a:spcBef>
                    <a:spcPct val="20000"/>
                  </a:spcBef>
                </a:pPr>
                <a:r>
                  <a:rPr lang="zh-CN" altLang="en-US" sz="3200" dirty="0">
                    <a:solidFill>
                      <a:srgbClr val="006699"/>
                    </a:solidFill>
                    <a:latin typeface="Verdana" panose="020B0604030504040204" pitchFamily="34" charset="0"/>
                  </a:rPr>
                  <a:t>把连续的</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y</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的负值分为一段， 每段叫做一个“</a:t>
                </a:r>
                <a:r>
                  <a:rPr lang="zh-CN" altLang="en-US" sz="3200" dirty="0">
                    <a:solidFill>
                      <a:srgbClr val="FF0000"/>
                    </a:solidFill>
                    <a:latin typeface="Verdana" panose="020B0604030504040204" pitchFamily="34" charset="0"/>
                  </a:rPr>
                  <a:t>连</a:t>
                </a:r>
                <a:r>
                  <a:rPr lang="zh-CN" altLang="en-US" sz="3200" dirty="0">
                    <a:solidFill>
                      <a:srgbClr val="006699"/>
                    </a:solidFill>
                    <a:latin typeface="Verdana" panose="020B0604030504040204" pitchFamily="34" charset="0"/>
                  </a:rPr>
                  <a:t>”， 连长</a:t>
                </a:r>
                <a:r>
                  <a:rPr lang="en-US" altLang="zh-CN" sz="3200" dirty="0">
                    <a:solidFill>
                      <a:srgbClr val="006699"/>
                    </a:solidFill>
                    <a:latin typeface="Verdana" panose="020B0604030504040204" pitchFamily="34" charset="0"/>
                  </a:rPr>
                  <a:t>L</a:t>
                </a:r>
                <a:r>
                  <a:rPr lang="zh-CN" altLang="en-US" sz="3200" dirty="0">
                    <a:solidFill>
                      <a:srgbClr val="006699"/>
                    </a:solidFill>
                    <a:latin typeface="Verdana" panose="020B0604030504040204" pitchFamily="34" charset="0"/>
                  </a:rPr>
                  <a:t>的分布概率为</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可以用</a:t>
                </a:r>
                <a:r>
                  <a:rPr lang="zh-CN" altLang="en-US" sz="3200" dirty="0">
                    <a:solidFill>
                      <a:srgbClr val="FF0000"/>
                    </a:solidFill>
                    <a:latin typeface="Verdana" panose="020B0604030504040204" pitchFamily="34" charset="0"/>
                  </a:rPr>
                  <a:t>卡方检验法</a:t>
                </a:r>
                <a:r>
                  <a:rPr lang="zh-CN" altLang="en-US" sz="3200" dirty="0">
                    <a:solidFill>
                      <a:srgbClr val="006699"/>
                    </a:solidFill>
                    <a:latin typeface="Verdana" panose="020B0604030504040204" pitchFamily="34" charset="0"/>
                  </a:rPr>
                  <a:t>检验</a:t>
                </a:r>
                <a:r>
                  <a:rPr lang="en-US" altLang="zh-CN" sz="3200" dirty="0">
                    <a:solidFill>
                      <a:srgbClr val="006699"/>
                    </a:solidFill>
                    <a:latin typeface="Verdana" panose="020B0604030504040204" pitchFamily="34" charset="0"/>
                  </a:rPr>
                  <a:t>L</a:t>
                </a:r>
                <a:r>
                  <a:rPr lang="zh-CN" altLang="en-US" sz="3200" dirty="0">
                    <a:solidFill>
                      <a:srgbClr val="006699"/>
                    </a:solidFill>
                    <a:latin typeface="Verdana" panose="020B0604030504040204" pitchFamily="34" charset="0"/>
                  </a:rPr>
                  <a:t>的分布； </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总连数</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满足</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可以用</a:t>
                </a:r>
                <a:r>
                  <a:rPr lang="en-US" altLang="zh-CN" sz="3200" dirty="0">
                    <a:solidFill>
                      <a:srgbClr val="FF0000"/>
                    </a:solidFill>
                    <a:latin typeface="Verdana" panose="020B0604030504040204" pitchFamily="34" charset="0"/>
                  </a:rPr>
                  <a:t>Z</a:t>
                </a:r>
                <a:r>
                  <a:rPr lang="zh-CN" altLang="en-US" sz="3200" dirty="0">
                    <a:solidFill>
                      <a:srgbClr val="FF0000"/>
                    </a:solidFill>
                    <a:latin typeface="Verdana" panose="020B0604030504040204" pitchFamily="34" charset="0"/>
                  </a:rPr>
                  <a:t>检验法</a:t>
                </a:r>
                <a:r>
                  <a:rPr lang="zh-CN" altLang="en-US" sz="3200" dirty="0">
                    <a:solidFill>
                      <a:srgbClr val="006699"/>
                    </a:solidFill>
                    <a:latin typeface="Verdana" panose="020B0604030504040204" pitchFamily="34" charset="0"/>
                  </a:rPr>
                  <a:t>检验</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的值与理论期望的差距。</a:t>
                </a:r>
              </a:p>
            </p:txBody>
          </p:sp>
        </mc:Choice>
        <mc:Fallback xmlns="">
          <p:sp>
            <p:nvSpPr>
              <p:cNvPr id="32771" name="矩形 2">
                <a:extLst>
                  <a:ext uri="{FF2B5EF4-FFF2-40B4-BE49-F238E27FC236}">
                    <a16:creationId xmlns:a16="http://schemas.microsoft.com/office/drawing/2014/main" id="{B731BE61-7118-4693-9D37-9B3F32F84AAF}"/>
                  </a:ext>
                </a:extLst>
              </p:cNvPr>
              <p:cNvSpPr>
                <a:spLocks noRot="1" noChangeAspect="1" noMove="1" noResize="1" noEditPoints="1" noAdjustHandles="1" noChangeArrowheads="1" noChangeShapeType="1" noTextEdit="1"/>
              </p:cNvSpPr>
              <p:nvPr/>
            </p:nvSpPr>
            <p:spPr bwMode="auto">
              <a:xfrm>
                <a:off x="386535" y="1178750"/>
                <a:ext cx="8370930" cy="4866332"/>
              </a:xfrm>
              <a:prstGeom prst="rect">
                <a:avLst/>
              </a:prstGeom>
              <a:blipFill>
                <a:blip r:embed="rId2"/>
                <a:stretch>
                  <a:fillRect l="-1820" t="-1877" r="-2547" b="-31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1E64A1A-A4AA-4079-B7DF-63828049189A}"/>
                  </a:ext>
                </a:extLst>
              </p:cNvPr>
              <p:cNvSpPr/>
              <p:nvPr/>
            </p:nvSpPr>
            <p:spPr>
              <a:xfrm>
                <a:off x="1007947" y="3602094"/>
                <a:ext cx="5017271" cy="5936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𝑃</m:t>
                      </m:r>
                      <m:r>
                        <a:rPr lang="zh-CN" altLang="en-US" sz="3200" i="0">
                          <a:latin typeface="Cambria Math" panose="02040503050406030204" pitchFamily="18" charset="0"/>
                        </a:rPr>
                        <m:t>(</m:t>
                      </m:r>
                      <m:r>
                        <a:rPr lang="zh-CN" altLang="en-US" sz="3200" i="1">
                          <a:latin typeface="Cambria Math" panose="02040503050406030204" pitchFamily="18" charset="0"/>
                        </a:rPr>
                        <m:t>𝐿</m:t>
                      </m:r>
                      <m:r>
                        <a:rPr lang="zh-CN" altLang="en-US" sz="3200" i="0">
                          <a:latin typeface="Cambria Math" panose="02040503050406030204" pitchFamily="18" charset="0"/>
                        </a:rPr>
                        <m:t>=</m:t>
                      </m:r>
                      <m:r>
                        <a:rPr lang="zh-CN" altLang="en-US" sz="3200" i="1">
                          <a:latin typeface="Cambria Math" panose="02040503050406030204" pitchFamily="18" charset="0"/>
                        </a:rPr>
                        <m:t>𝑘</m:t>
                      </m:r>
                      <m:r>
                        <a:rPr lang="zh-CN" altLang="en-US" sz="3200" i="0">
                          <a:latin typeface="Cambria Math" panose="02040503050406030204" pitchFamily="18" charset="0"/>
                        </a:rPr>
                        <m:t>)=</m:t>
                      </m:r>
                      <m:sSup>
                        <m:sSupPr>
                          <m:ctrlPr>
                            <a:rPr lang="zh-CN" altLang="en-US" sz="3200" i="1">
                              <a:latin typeface="Cambria Math" panose="02040503050406030204" pitchFamily="18" charset="0"/>
                            </a:rPr>
                          </m:ctrlPr>
                        </m:sSupPr>
                        <m:e>
                          <m:r>
                            <a:rPr lang="zh-CN" altLang="en-US" sz="3200" i="0">
                              <a:latin typeface="Cambria Math" panose="02040503050406030204" pitchFamily="18" charset="0"/>
                            </a:rPr>
                            <m:t>2</m:t>
                          </m:r>
                        </m:e>
                        <m:sup>
                          <m:r>
                            <a:rPr lang="zh-CN" altLang="en-US" sz="3200" i="0">
                              <a:latin typeface="Cambria Math" panose="02040503050406030204" pitchFamily="18" charset="0"/>
                            </a:rPr>
                            <m:t>−</m:t>
                          </m:r>
                          <m:r>
                            <a:rPr lang="zh-CN" altLang="en-US" sz="3200" i="1">
                              <a:latin typeface="Cambria Math" panose="02040503050406030204" pitchFamily="18" charset="0"/>
                            </a:rPr>
                            <m:t>𝑘</m:t>
                          </m:r>
                        </m:sup>
                      </m:sSup>
                      <m:r>
                        <a:rPr lang="zh-CN" altLang="en-US" sz="3200" i="0">
                          <a:latin typeface="Cambria Math" panose="02040503050406030204" pitchFamily="18" charset="0"/>
                        </a:rPr>
                        <m:t>,</m:t>
                      </m:r>
                      <m:r>
                        <a:rPr lang="zh-CN" altLang="en-US" sz="3200" i="1">
                          <a:latin typeface="Cambria Math" panose="02040503050406030204" pitchFamily="18" charset="0"/>
                        </a:rPr>
                        <m:t>𝑘</m:t>
                      </m:r>
                      <m:r>
                        <a:rPr lang="zh-CN" altLang="en-US" sz="3200" i="0">
                          <a:latin typeface="Cambria Math" panose="02040503050406030204" pitchFamily="18" charset="0"/>
                        </a:rPr>
                        <m:t>=1,2,…</m:t>
                      </m:r>
                    </m:oMath>
                  </m:oMathPara>
                </a14:m>
                <a:endParaRPr lang="zh-CN" altLang="en-US" sz="3200" dirty="0"/>
              </a:p>
            </p:txBody>
          </p:sp>
        </mc:Choice>
        <mc:Fallback xmlns="">
          <p:sp>
            <p:nvSpPr>
              <p:cNvPr id="6" name="矩形 5">
                <a:extLst>
                  <a:ext uri="{FF2B5EF4-FFF2-40B4-BE49-F238E27FC236}">
                    <a16:creationId xmlns:a16="http://schemas.microsoft.com/office/drawing/2014/main" id="{81E64A1A-A4AA-4079-B7DF-63828049189A}"/>
                  </a:ext>
                </a:extLst>
              </p:cNvPr>
              <p:cNvSpPr>
                <a:spLocks noRot="1" noChangeAspect="1" noMove="1" noResize="1" noEditPoints="1" noAdjustHandles="1" noChangeArrowheads="1" noChangeShapeType="1" noTextEdit="1"/>
              </p:cNvSpPr>
              <p:nvPr/>
            </p:nvSpPr>
            <p:spPr>
              <a:xfrm>
                <a:off x="1007947" y="3602094"/>
                <a:ext cx="5017271" cy="59362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AA356B6-CB99-48E4-9F99-DC32F311042A}"/>
                  </a:ext>
                </a:extLst>
              </p:cNvPr>
              <p:cNvSpPr/>
              <p:nvPr/>
            </p:nvSpPr>
            <p:spPr>
              <a:xfrm>
                <a:off x="3057579" y="4816290"/>
                <a:ext cx="3028841"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𝐸𝑇</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+1</m:t>
                          </m:r>
                        </m:num>
                        <m:den>
                          <m:r>
                            <a:rPr lang="zh-CN" altLang="en-US" i="0">
                              <a:latin typeface="Cambria Math" panose="02040503050406030204" pitchFamily="18" charset="0"/>
                            </a:rPr>
                            <m:t>2</m:t>
                          </m:r>
                        </m:den>
                      </m:f>
                      <m:r>
                        <a:rPr lang="zh-CN" altLang="en-US" i="0">
                          <a:latin typeface="Cambria Math" panose="02040503050406030204" pitchFamily="18" charset="0"/>
                        </a:rPr>
                        <m:t>,</m:t>
                      </m:r>
                      <m:r>
                        <m:rPr>
                          <m:nor/>
                        </m:rPr>
                        <a:rPr lang="zh-CN" altLang="en-US" i="1">
                          <a:latin typeface="Cambria Math" panose="02040503050406030204" pitchFamily="18" charset="0"/>
                        </a:rPr>
                        <m:t>Var</m:t>
                      </m:r>
                      <m:r>
                        <a:rPr lang="zh-CN" altLang="en-US" i="0">
                          <a:latin typeface="Cambria Math" panose="02040503050406030204" pitchFamily="18" charset="0"/>
                        </a:rPr>
                        <m:t>(</m:t>
                      </m:r>
                      <m:r>
                        <a:rPr lang="zh-CN" altLang="en-US" i="1">
                          <a:latin typeface="Cambria Math" panose="02040503050406030204" pitchFamily="18" charset="0"/>
                        </a:rPr>
                        <m:t>𝑇</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−1</m:t>
                          </m:r>
                        </m:num>
                        <m:den>
                          <m:r>
                            <a:rPr lang="zh-CN" altLang="en-US" i="0">
                              <a:latin typeface="Cambria Math" panose="02040503050406030204" pitchFamily="18" charset="0"/>
                            </a:rPr>
                            <m:t>4</m:t>
                          </m:r>
                        </m:den>
                      </m:f>
                    </m:oMath>
                  </m:oMathPara>
                </a14:m>
                <a:endParaRPr lang="zh-CN" altLang="en-US" dirty="0"/>
              </a:p>
            </p:txBody>
          </p:sp>
        </mc:Choice>
        <mc:Fallback xmlns="">
          <p:sp>
            <p:nvSpPr>
              <p:cNvPr id="7" name="矩形 6">
                <a:extLst>
                  <a:ext uri="{FF2B5EF4-FFF2-40B4-BE49-F238E27FC236}">
                    <a16:creationId xmlns:a16="http://schemas.microsoft.com/office/drawing/2014/main" id="{DAA356B6-CB99-48E4-9F99-DC32F311042A}"/>
                  </a:ext>
                </a:extLst>
              </p:cNvPr>
              <p:cNvSpPr>
                <a:spLocks noRot="1" noChangeAspect="1" noMove="1" noResize="1" noEditPoints="1" noAdjustHandles="1" noChangeArrowheads="1" noChangeShapeType="1" noTextEdit="1"/>
              </p:cNvSpPr>
              <p:nvPr/>
            </p:nvSpPr>
            <p:spPr>
              <a:xfrm>
                <a:off x="3057579" y="4816290"/>
                <a:ext cx="3028841" cy="610936"/>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46472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2.2.6 </a:t>
            </a:r>
            <a:r>
              <a:rPr lang="zh-CN" altLang="en-US" dirty="0"/>
              <a:t>随机数的检验</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 y="1178750"/>
            <a:ext cx="8937484"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11 </a:t>
            </a:r>
            <a:r>
              <a:rPr lang="zh-CN" altLang="en-US" sz="3200" dirty="0">
                <a:solidFill>
                  <a:srgbClr val="006699"/>
                </a:solidFill>
                <a:latin typeface="Verdana" panose="020B0604030504040204" pitchFamily="34" charset="0"/>
              </a:rPr>
              <a:t>升降连检验</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计算</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把连续的正值的</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y</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分为一段叫做一个</a:t>
            </a:r>
            <a:r>
              <a:rPr lang="zh-CN" altLang="en-US" sz="3200" dirty="0">
                <a:solidFill>
                  <a:srgbClr val="FF0000"/>
                </a:solidFill>
                <a:latin typeface="Verdana" panose="020B0604030504040204" pitchFamily="34" charset="0"/>
              </a:rPr>
              <a:t>上升连</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把连续的负值的</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y</a:t>
            </a:r>
            <a:r>
              <a:rPr lang="en-US" altLang="zh-CN" sz="3200" baseline="-25000" dirty="0" err="1">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分为一段叫做一个</a:t>
            </a:r>
            <a:r>
              <a:rPr lang="zh-CN" altLang="en-US" sz="3200" dirty="0">
                <a:solidFill>
                  <a:srgbClr val="FF0000"/>
                </a:solidFill>
                <a:latin typeface="Verdana" panose="020B0604030504040204" pitchFamily="34" charset="0"/>
              </a:rPr>
              <a:t>下降连</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可以用</a:t>
            </a:r>
            <a:r>
              <a:rPr lang="zh-CN" altLang="en-US" sz="3200" dirty="0">
                <a:solidFill>
                  <a:srgbClr val="FF0000"/>
                </a:solidFill>
                <a:latin typeface="Verdana" panose="020B0604030504040204" pitchFamily="34" charset="0"/>
              </a:rPr>
              <a:t>卡方检验法</a:t>
            </a:r>
            <a:r>
              <a:rPr lang="zh-CN" altLang="en-US" sz="3200" dirty="0">
                <a:solidFill>
                  <a:srgbClr val="006699"/>
                </a:solidFill>
                <a:latin typeface="Verdana" panose="020B0604030504040204" pitchFamily="34" charset="0"/>
              </a:rPr>
              <a:t>比较连的长度与</a:t>
            </a:r>
            <a:r>
              <a:rPr lang="en-US" altLang="zh-CN" sz="3200" dirty="0">
                <a:solidFill>
                  <a:srgbClr val="006699"/>
                </a:solidFill>
                <a:latin typeface="Verdana" panose="020B0604030504040204" pitchFamily="34" charset="0"/>
              </a:rPr>
              <a:t> {R</a:t>
            </a:r>
            <a:r>
              <a:rPr lang="en-US" altLang="zh-CN" sz="3200" baseline="-25000" dirty="0">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独立同分布假设下的理论分布， </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或用</a:t>
            </a:r>
            <a:r>
              <a:rPr lang="en-US" altLang="zh-CN" sz="3200" dirty="0">
                <a:solidFill>
                  <a:srgbClr val="FF0000"/>
                </a:solidFill>
                <a:latin typeface="Verdana" panose="020B0604030504040204" pitchFamily="34" charset="0"/>
              </a:rPr>
              <a:t>Z</a:t>
            </a:r>
            <a:r>
              <a:rPr lang="zh-CN" altLang="en-US" sz="3200" dirty="0">
                <a:solidFill>
                  <a:srgbClr val="FF0000"/>
                </a:solidFill>
                <a:latin typeface="Verdana" panose="020B0604030504040204" pitchFamily="34" charset="0"/>
              </a:rPr>
              <a:t>检验法</a:t>
            </a:r>
            <a:r>
              <a:rPr lang="zh-CN" altLang="en-US" sz="3200" dirty="0">
                <a:solidFill>
                  <a:srgbClr val="006699"/>
                </a:solidFill>
                <a:latin typeface="Verdana" panose="020B0604030504040204" pitchFamily="34" charset="0"/>
              </a:rPr>
              <a:t>比较总连数与理论期望值的差距。</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A53309C-2AAB-4177-A5D8-166B53806F17}"/>
                  </a:ext>
                </a:extLst>
              </p:cNvPr>
              <p:cNvSpPr/>
              <p:nvPr/>
            </p:nvSpPr>
            <p:spPr>
              <a:xfrm>
                <a:off x="1807557" y="1763815"/>
                <a:ext cx="552888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𝑦</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sub>
                      </m:sSub>
                      <m:r>
                        <a:rPr lang="zh-CN" altLang="en-US" sz="3200" i="0">
                          <a:latin typeface="Cambria Math" panose="02040503050406030204" pitchFamily="18" charset="0"/>
                        </a:rPr>
                        <m:t>−</m:t>
                      </m:r>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𝑅</m:t>
                          </m:r>
                        </m:e>
                        <m:sub>
                          <m:r>
                            <a:rPr lang="zh-CN" altLang="en-US" sz="3200" i="1">
                              <a:latin typeface="Cambria Math" panose="02040503050406030204" pitchFamily="18" charset="0"/>
                            </a:rPr>
                            <m:t>𝑛</m:t>
                          </m:r>
                          <m:r>
                            <a:rPr lang="zh-CN" altLang="en-US" sz="3200" i="0">
                              <a:latin typeface="Cambria Math" panose="02040503050406030204" pitchFamily="18" charset="0"/>
                            </a:rPr>
                            <m:t>−1</m:t>
                          </m:r>
                        </m:sub>
                      </m:sSub>
                      <m:r>
                        <a:rPr lang="zh-CN" altLang="en-US" sz="3200" i="0">
                          <a:latin typeface="Cambria Math" panose="02040503050406030204" pitchFamily="18" charset="0"/>
                        </a:rPr>
                        <m:t>,</m:t>
                      </m:r>
                      <m:r>
                        <a:rPr lang="zh-CN" altLang="en-US" sz="3200" i="1">
                          <a:latin typeface="Cambria Math" panose="02040503050406030204" pitchFamily="18" charset="0"/>
                        </a:rPr>
                        <m:t>𝑛</m:t>
                      </m:r>
                      <m:r>
                        <a:rPr lang="zh-CN" altLang="en-US" sz="3200" i="0">
                          <a:latin typeface="Cambria Math" panose="02040503050406030204" pitchFamily="18" charset="0"/>
                        </a:rPr>
                        <m:t>=2,3,…,</m:t>
                      </m:r>
                      <m:r>
                        <a:rPr lang="zh-CN" altLang="en-US" sz="3200" i="1">
                          <a:latin typeface="Cambria Math" panose="02040503050406030204" pitchFamily="18" charset="0"/>
                        </a:rPr>
                        <m:t>𝑁</m:t>
                      </m:r>
                    </m:oMath>
                  </m:oMathPara>
                </a14:m>
                <a:endParaRPr lang="zh-CN" altLang="en-US" sz="3200" dirty="0"/>
              </a:p>
            </p:txBody>
          </p:sp>
        </mc:Choice>
        <mc:Fallback xmlns="">
          <p:sp>
            <p:nvSpPr>
              <p:cNvPr id="2" name="矩形 1">
                <a:extLst>
                  <a:ext uri="{FF2B5EF4-FFF2-40B4-BE49-F238E27FC236}">
                    <a16:creationId xmlns:a16="http://schemas.microsoft.com/office/drawing/2014/main" id="{3A53309C-2AAB-4177-A5D8-166B53806F17}"/>
                  </a:ext>
                </a:extLst>
              </p:cNvPr>
              <p:cNvSpPr>
                <a:spLocks noRot="1" noChangeAspect="1" noMove="1" noResize="1" noEditPoints="1" noAdjustHandles="1" noChangeArrowheads="1" noChangeShapeType="1" noTextEdit="1"/>
              </p:cNvSpPr>
              <p:nvPr/>
            </p:nvSpPr>
            <p:spPr>
              <a:xfrm>
                <a:off x="1807557" y="1763815"/>
                <a:ext cx="5528886" cy="584775"/>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113501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 </a:t>
            </a:r>
            <a:r>
              <a:rPr lang="zh-CN" altLang="en-US" dirty="0"/>
              <a:t>非均匀随机数的产生</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en-US" altLang="zh-CN" sz="3200" dirty="0">
                <a:solidFill>
                  <a:srgbClr val="006699"/>
                </a:solidFill>
                <a:latin typeface="Verdana" panose="020B0604030504040204" pitchFamily="34" charset="0"/>
              </a:rPr>
              <a:t>2.3.1 </a:t>
            </a:r>
            <a:r>
              <a:rPr lang="zh-CN" altLang="en-US" sz="3200" dirty="0">
                <a:solidFill>
                  <a:srgbClr val="006699"/>
                </a:solidFill>
                <a:latin typeface="Verdana" panose="020B0604030504040204" pitchFamily="34" charset="0"/>
              </a:rPr>
              <a:t>逆变换法</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2.3.2 </a:t>
            </a:r>
            <a:r>
              <a:rPr lang="zh-CN" altLang="en-US" sz="3200" dirty="0">
                <a:solidFill>
                  <a:srgbClr val="006699"/>
                </a:solidFill>
                <a:latin typeface="Verdana" panose="020B0604030504040204" pitchFamily="34" charset="0"/>
              </a:rPr>
              <a:t>用逆变换法生成离散型随机数</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2.3.3 </a:t>
            </a:r>
            <a:r>
              <a:rPr lang="zh-CN" altLang="en-US" sz="3200" dirty="0">
                <a:solidFill>
                  <a:srgbClr val="006699"/>
                </a:solidFill>
                <a:latin typeface="Verdana" panose="020B0604030504040204" pitchFamily="34" charset="0"/>
              </a:rPr>
              <a:t>用逆变换法生成连续型随机数</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2.3.4 </a:t>
            </a:r>
            <a:r>
              <a:rPr lang="zh-CN" altLang="en-US" sz="3200" dirty="0">
                <a:solidFill>
                  <a:srgbClr val="006699"/>
                </a:solidFill>
                <a:latin typeface="Verdana" panose="020B0604030504040204" pitchFamily="34" charset="0"/>
              </a:rPr>
              <a:t>利用变换生成随机数</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2.3.5 </a:t>
            </a:r>
            <a:r>
              <a:rPr lang="zh-CN" altLang="en-US" sz="3200" dirty="0">
                <a:solidFill>
                  <a:srgbClr val="006699"/>
                </a:solidFill>
                <a:latin typeface="Verdana" panose="020B0604030504040204" pitchFamily="34" charset="0"/>
              </a:rPr>
              <a:t>舍选法</a:t>
            </a: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2.3.6 </a:t>
            </a:r>
            <a:r>
              <a:rPr lang="zh-CN" altLang="en-US" sz="3200" dirty="0">
                <a:solidFill>
                  <a:srgbClr val="006699"/>
                </a:solidFill>
                <a:latin typeface="Verdana" panose="020B0604030504040204" pitchFamily="34" charset="0"/>
              </a:rPr>
              <a:t>复合法</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16197352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2.3.1 </a:t>
            </a:r>
            <a:r>
              <a:rPr lang="zh-CN" altLang="en-US" dirty="0"/>
              <a:t>逆变换法</a:t>
            </a:r>
            <a:r>
              <a:rPr kumimoji="0" lang="en-US" altLang="zh-CN" sz="2800" b="0" i="0" u="none" strike="noStrike" kern="1200" cap="none" spc="0" normalizeH="0" baseline="0" noProof="0" dirty="0">
                <a:ln>
                  <a:noFill/>
                </a:ln>
                <a:solidFill>
                  <a:prstClr val="black"/>
                </a:solidFill>
                <a:effectLst/>
                <a:uLnTx/>
                <a:uFillTx/>
                <a:latin typeface="Arial"/>
                <a:ea typeface="黑体" panose="02010609060101010101" pitchFamily="49" charset="-122"/>
                <a:cs typeface="+mj-cs"/>
              </a:rPr>
              <a:t>(The Inverse Transform Method)</a:t>
            </a:r>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7CF5C1F-AB5F-4BCA-90BD-5807B4E42056}"/>
                  </a:ext>
                </a:extLst>
              </p:cNvPr>
              <p:cNvSpPr txBox="1"/>
              <p:nvPr/>
            </p:nvSpPr>
            <p:spPr>
              <a:xfrm>
                <a:off x="0" y="891355"/>
                <a:ext cx="9027495" cy="2292935"/>
              </a:xfrm>
              <a:prstGeom prst="rect">
                <a:avLst/>
              </a:prstGeom>
              <a:noFill/>
              <a:ln w="25400">
                <a:noFill/>
              </a:ln>
            </p:spPr>
            <p:txBody>
              <a:bodyPr wrap="square">
                <a:spAutoFit/>
              </a:bodyPr>
              <a:lstStyle/>
              <a:p>
                <a:pPr>
                  <a:spcBef>
                    <a:spcPts val="900"/>
                  </a:spcBef>
                  <a:spcAft>
                    <a:spcPts val="900"/>
                  </a:spcAft>
                </a:pPr>
                <a:r>
                  <a:rPr lang="en-US" altLang="zh-CN" sz="3200" b="1" dirty="0">
                    <a:effectLst/>
                    <a:latin typeface="+mn-lt"/>
                    <a:cs typeface="Times New Roman" panose="02020603050405020304" pitchFamily="18" charset="0"/>
                  </a:rPr>
                  <a:t>定理6.1</a:t>
                </a:r>
                <a:r>
                  <a:rPr lang="en-US" altLang="zh-CN" sz="3200" dirty="0">
                    <a:effectLst/>
                    <a:latin typeface="+mn-lt"/>
                    <a:cs typeface="Times New Roman" panose="02020603050405020304" pitchFamily="18" charset="0"/>
                  </a:rPr>
                  <a:t> </a:t>
                </a:r>
                <a:r>
                  <a:rPr lang="en-US" altLang="zh-CN" sz="3200" dirty="0" err="1">
                    <a:effectLst/>
                    <a:latin typeface="+mn-lt"/>
                    <a:cs typeface="Times New Roman" panose="02020603050405020304" pitchFamily="18" charset="0"/>
                  </a:rPr>
                  <a:t>X为</a:t>
                </a:r>
                <a:r>
                  <a:rPr lang="en-US" altLang="zh-CN" sz="3200" b="1" dirty="0" err="1">
                    <a:effectLst/>
                    <a:latin typeface="+mn-lt"/>
                    <a:cs typeface="Times New Roman" panose="02020603050405020304" pitchFamily="18" charset="0"/>
                  </a:rPr>
                  <a:t>连续型</a:t>
                </a:r>
                <a:r>
                  <a:rPr lang="en-US" altLang="zh-CN" sz="3200" dirty="0" err="1">
                    <a:effectLst/>
                    <a:latin typeface="+mn-lt"/>
                    <a:cs typeface="Times New Roman" panose="02020603050405020304" pitchFamily="18" charset="0"/>
                  </a:rPr>
                  <a:t>随机变量，取值于区间</a:t>
                </a:r>
                <a:r>
                  <a:rPr lang="en-US" altLang="zh-CN" sz="3200" dirty="0">
                    <a:effectLst/>
                    <a:latin typeface="+mn-lt"/>
                    <a:cs typeface="Times New Roman" panose="02020603050405020304" pitchFamily="18" charset="0"/>
                  </a:rPr>
                  <a:t>(</a:t>
                </a:r>
                <a:r>
                  <a:rPr lang="en-US" altLang="zh-CN" sz="3200" dirty="0" err="1">
                    <a:effectLst/>
                    <a:latin typeface="+mn-lt"/>
                    <a:cs typeface="Times New Roman" panose="02020603050405020304" pitchFamily="18" charset="0"/>
                  </a:rPr>
                  <a:t>a,b</a:t>
                </a:r>
                <a:r>
                  <a:rPr lang="en-US" altLang="zh-CN" sz="3200" dirty="0">
                    <a:effectLst/>
                    <a:latin typeface="+mn-lt"/>
                    <a:cs typeface="Times New Roman" panose="02020603050405020304" pitchFamily="18" charset="0"/>
                  </a:rPr>
                  <a:t>)(</a:t>
                </a:r>
                <a:r>
                  <a:rPr lang="en-US" altLang="zh-CN" sz="3200" dirty="0" err="1">
                    <a:effectLst/>
                    <a:latin typeface="+mn-lt"/>
                    <a:cs typeface="Times New Roman" panose="02020603050405020304" pitchFamily="18" charset="0"/>
                  </a:rPr>
                  <a:t>可包括</a:t>
                </a:r>
                <a14:m>
                  <m:oMath xmlns:m="http://schemas.openxmlformats.org/officeDocument/2006/math">
                    <m:r>
                      <a:rPr lang="en-US" altLang="zh-CN" sz="3200">
                        <a:effectLst/>
                        <a:latin typeface="Cambria Math" panose="02040503050406030204" pitchFamily="18" charset="0"/>
                        <a:cs typeface="Times New Roman" panose="02020603050405020304" pitchFamily="18" charset="0"/>
                      </a:rPr>
                      <m:t>±∞</m:t>
                    </m:r>
                  </m:oMath>
                </a14:m>
                <a:r>
                  <a:rPr lang="en-US" altLang="zh-CN" sz="3200" dirty="0" err="1">
                    <a:effectLst/>
                    <a:latin typeface="+mn-lt"/>
                    <a:cs typeface="Times New Roman" panose="02020603050405020304" pitchFamily="18" charset="0"/>
                  </a:rPr>
                  <a:t>和端点</a:t>
                </a:r>
                <a:r>
                  <a:rPr lang="en-US" altLang="zh-CN" sz="3200" dirty="0">
                    <a:effectLst/>
                    <a:latin typeface="+mn-lt"/>
                    <a:cs typeface="Times New Roman" panose="02020603050405020304" pitchFamily="18" charset="0"/>
                  </a:rPr>
                  <a:t>), </a:t>
                </a:r>
                <a:r>
                  <a:rPr lang="en-US" altLang="zh-CN" sz="3200" dirty="0" err="1">
                    <a:effectLst/>
                    <a:latin typeface="+mn-lt"/>
                    <a:cs typeface="Times New Roman" panose="02020603050405020304" pitchFamily="18" charset="0"/>
                  </a:rPr>
                  <a:t>X的密度在</a:t>
                </a:r>
                <a:r>
                  <a:rPr lang="en-US" altLang="zh-CN" sz="3200" dirty="0">
                    <a:effectLst/>
                    <a:latin typeface="+mn-lt"/>
                    <a:cs typeface="Times New Roman" panose="02020603050405020304" pitchFamily="18" charset="0"/>
                  </a:rPr>
                  <a:t>(</a:t>
                </a:r>
                <a:r>
                  <a:rPr lang="en-US" altLang="zh-CN" sz="3200" dirty="0" err="1">
                    <a:effectLst/>
                    <a:latin typeface="+mn-lt"/>
                    <a:cs typeface="Times New Roman" panose="02020603050405020304" pitchFamily="18" charset="0"/>
                  </a:rPr>
                  <a:t>a,b</a:t>
                </a:r>
                <a:r>
                  <a:rPr lang="en-US" altLang="zh-CN" sz="3200" dirty="0">
                    <a:effectLst/>
                    <a:latin typeface="+mn-lt"/>
                    <a:cs typeface="Times New Roman" panose="02020603050405020304" pitchFamily="18" charset="0"/>
                  </a:rPr>
                  <a:t>)</a:t>
                </a:r>
                <a:r>
                  <a:rPr lang="en-US" altLang="zh-CN" sz="3200" dirty="0" err="1">
                    <a:effectLst/>
                    <a:latin typeface="+mn-lt"/>
                    <a:cs typeface="Times New Roman" panose="02020603050405020304" pitchFamily="18" charset="0"/>
                  </a:rPr>
                  <a:t>上取正值，X的分布函数为F</a:t>
                </a:r>
                <a:r>
                  <a:rPr lang="en-US" altLang="zh-CN" sz="3200" dirty="0">
                    <a:effectLst/>
                    <a:latin typeface="+mn-lt"/>
                    <a:cs typeface="Times New Roman" panose="02020603050405020304" pitchFamily="18" charset="0"/>
                  </a:rPr>
                  <a:t>(x)， </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𝑈</m:t>
                    </m:r>
                    <m:r>
                      <a:rPr lang="en-US" altLang="zh-CN" sz="3200">
                        <a:effectLst/>
                        <a:latin typeface="Cambria Math" panose="02040503050406030204" pitchFamily="18" charset="0"/>
                        <a:cs typeface="Times New Roman" panose="02020603050405020304" pitchFamily="18" charset="0"/>
                      </a:rPr>
                      <m:t>∼</m:t>
                    </m:r>
                    <m:r>
                      <m:rPr>
                        <m:nor/>
                      </m:rPr>
                      <a:rPr lang="en-US" altLang="zh-CN" sz="3200">
                        <a:effectLst/>
                        <a:latin typeface="+mn-lt"/>
                        <a:cs typeface="Times New Roman" panose="02020603050405020304" pitchFamily="18" charset="0"/>
                      </a:rPr>
                      <m:t>U</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a:effectLst/>
                            <a:latin typeface="Cambria Math" panose="02040503050406030204" pitchFamily="18" charset="0"/>
                            <a:cs typeface="Times New Roman" panose="02020603050405020304" pitchFamily="18" charset="0"/>
                          </a:rPr>
                          <m:t>0</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1</m:t>
                        </m:r>
                      </m:e>
                    </m:d>
                  </m:oMath>
                </a14:m>
                <a:r>
                  <a:rPr lang="en-US" altLang="zh-CN" sz="3200" dirty="0">
                    <a:effectLst/>
                    <a:latin typeface="+mn-lt"/>
                    <a:cs typeface="Times New Roman" panose="02020603050405020304" pitchFamily="18" charset="0"/>
                  </a:rPr>
                  <a:t>， </a:t>
                </a:r>
              </a:p>
              <a:p>
                <a:pPr>
                  <a:spcBef>
                    <a:spcPts val="900"/>
                  </a:spcBef>
                  <a:spcAft>
                    <a:spcPts val="900"/>
                  </a:spcAft>
                </a:pPr>
                <a:r>
                  <a:rPr lang="en-US" altLang="zh-CN" sz="3200" dirty="0">
                    <a:effectLst/>
                    <a:latin typeface="+mn-lt"/>
                    <a:cs typeface="Times New Roman" panose="02020603050405020304" pitchFamily="18" charset="0"/>
                  </a:rPr>
                  <a:t>则</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𝑌</m:t>
                    </m:r>
                    <m:r>
                      <a:rPr lang="en-US" altLang="zh-CN" sz="3200">
                        <a:effectLst/>
                        <a:latin typeface="Cambria Math" panose="02040503050406030204" pitchFamily="18" charset="0"/>
                        <a:cs typeface="Times New Roman" panose="02020603050405020304" pitchFamily="18" charset="0"/>
                      </a:rPr>
                      <m:t>=</m:t>
                    </m:r>
                    <m:sSup>
                      <m:sSup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3200" i="1">
                            <a:effectLst/>
                            <a:latin typeface="Cambria Math" panose="02040503050406030204" pitchFamily="18" charset="0"/>
                            <a:cs typeface="Times New Roman" panose="02020603050405020304" pitchFamily="18" charset="0"/>
                          </a:rPr>
                          <m:t>𝐹</m:t>
                        </m:r>
                      </m:e>
                      <m:sup>
                        <m:r>
                          <a:rPr lang="en-US" altLang="zh-CN" sz="3200" i="1">
                            <a:effectLst/>
                            <a:latin typeface="Cambria Math" panose="02040503050406030204" pitchFamily="18" charset="0"/>
                            <a:cs typeface="Times New Roman" panose="02020603050405020304" pitchFamily="18" charset="0"/>
                          </a:rPr>
                          <m:t>−1</m:t>
                        </m:r>
                      </m:sup>
                    </m:sSup>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a:effectLst/>
                            <a:latin typeface="Cambria Math" panose="02040503050406030204" pitchFamily="18" charset="0"/>
                            <a:cs typeface="Times New Roman" panose="02020603050405020304" pitchFamily="18" charset="0"/>
                          </a:rPr>
                          <m:t>𝑈</m:t>
                        </m:r>
                      </m:e>
                    </m:d>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𝐹</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a:effectLst/>
                            <a:latin typeface="Cambria Math" panose="02040503050406030204" pitchFamily="18" charset="0"/>
                            <a:cs typeface="Times New Roman" panose="02020603050405020304" pitchFamily="18" charset="0"/>
                          </a:rPr>
                          <m:t>⋅</m:t>
                        </m:r>
                      </m:e>
                    </m:d>
                  </m:oMath>
                </a14:m>
                <a:r>
                  <a:rPr lang="en-US" altLang="zh-CN" sz="3200" dirty="0">
                    <a:effectLst/>
                    <a:latin typeface="+mn-lt"/>
                    <a:cs typeface="Times New Roman" panose="02020603050405020304" pitchFamily="18" charset="0"/>
                  </a:rPr>
                  <a:t>。</a:t>
                </a:r>
                <a:endParaRPr lang="zh-CN" altLang="zh-CN" sz="3200" dirty="0">
                  <a:effectLst/>
                  <a:latin typeface="+mn-lt"/>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C7CF5C1F-AB5F-4BCA-90BD-5807B4E42056}"/>
                  </a:ext>
                </a:extLst>
              </p:cNvPr>
              <p:cNvSpPr txBox="1">
                <a:spLocks noRot="1" noChangeAspect="1" noMove="1" noResize="1" noEditPoints="1" noAdjustHandles="1" noChangeArrowheads="1" noChangeShapeType="1" noTextEdit="1"/>
              </p:cNvSpPr>
              <p:nvPr/>
            </p:nvSpPr>
            <p:spPr>
              <a:xfrm>
                <a:off x="0" y="891355"/>
                <a:ext cx="9027495" cy="2292935"/>
              </a:xfrm>
              <a:prstGeom prst="rect">
                <a:avLst/>
              </a:prstGeom>
              <a:blipFill>
                <a:blip r:embed="rId2"/>
                <a:stretch>
                  <a:fillRect l="-1688" t="-4521" r="-1688" b="-7181"/>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75D417E-30D4-4BCC-91D6-D533385B75CB}"/>
                  </a:ext>
                </a:extLst>
              </p:cNvPr>
              <p:cNvSpPr txBox="1"/>
              <p:nvPr/>
            </p:nvSpPr>
            <p:spPr>
              <a:xfrm>
                <a:off x="-25658" y="3289832"/>
                <a:ext cx="9358405" cy="2900794"/>
              </a:xfrm>
              <a:prstGeom prst="rect">
                <a:avLst/>
              </a:prstGeom>
              <a:noFill/>
              <a:ln w="25400">
                <a:noFill/>
              </a:ln>
            </p:spPr>
            <p:txBody>
              <a:bodyPr wrap="square">
                <a:spAutoFit/>
              </a:bodyPr>
              <a:lstStyle/>
              <a:p>
                <a:pPr>
                  <a:spcBef>
                    <a:spcPts val="900"/>
                  </a:spcBef>
                  <a:spcAft>
                    <a:spcPts val="900"/>
                  </a:spcAft>
                </a:pPr>
                <a:r>
                  <a:rPr lang="en-US" altLang="zh-CN" sz="3200" b="1" dirty="0">
                    <a:effectLst/>
                    <a:latin typeface="+mn-lt"/>
                    <a:cs typeface="Times New Roman" panose="02020603050405020304" pitchFamily="18" charset="0"/>
                  </a:rPr>
                  <a:t>定理6.2</a:t>
                </a:r>
                <a:r>
                  <a:rPr lang="en-US" altLang="zh-CN" sz="3200" dirty="0">
                    <a:effectLst/>
                    <a:latin typeface="+mn-lt"/>
                    <a:cs typeface="Times New Roman" panose="02020603050405020304" pitchFamily="18" charset="0"/>
                  </a:rPr>
                  <a:t> </a:t>
                </a:r>
                <a:r>
                  <a:rPr lang="en-US" altLang="zh-CN" sz="3200" dirty="0" err="1">
                    <a:effectLst/>
                    <a:latin typeface="+mn-lt"/>
                    <a:cs typeface="Times New Roman" panose="02020603050405020304" pitchFamily="18" charset="0"/>
                  </a:rPr>
                  <a:t>设X为</a:t>
                </a:r>
                <a:r>
                  <a:rPr lang="en-US" altLang="zh-CN" sz="3200" b="1" dirty="0" err="1">
                    <a:effectLst/>
                    <a:latin typeface="+mn-lt"/>
                    <a:cs typeface="Times New Roman" panose="02020603050405020304" pitchFamily="18" charset="0"/>
                  </a:rPr>
                  <a:t>离散型</a:t>
                </a:r>
                <a:r>
                  <a:rPr lang="en-US" altLang="zh-CN" sz="3200" dirty="0" err="1">
                    <a:effectLst/>
                    <a:latin typeface="+mn-lt"/>
                    <a:cs typeface="Times New Roman" panose="02020603050405020304" pitchFamily="18" charset="0"/>
                  </a:rPr>
                  <a:t>随机变量</a:t>
                </a:r>
                <a:r>
                  <a:rPr lang="en-US" altLang="zh-CN" sz="3200" dirty="0">
                    <a:effectLst/>
                    <a:latin typeface="+mn-lt"/>
                    <a:cs typeface="Times New Roman" panose="02020603050405020304" pitchFamily="18" charset="0"/>
                  </a:rPr>
                  <a:t>, </a:t>
                </a:r>
                <a:r>
                  <a:rPr lang="en-US" altLang="zh-CN" sz="3200" dirty="0" err="1">
                    <a:effectLst/>
                    <a:latin typeface="+mn-lt"/>
                    <a:cs typeface="Times New Roman" panose="02020603050405020304" pitchFamily="18" charset="0"/>
                  </a:rPr>
                  <a:t>取值于集合</a:t>
                </a:r>
                <a14:m>
                  <m:oMath xmlns:m="http://schemas.openxmlformats.org/officeDocument/2006/math">
                    <m:r>
                      <a:rPr lang="en-US" altLang="zh-CN" sz="3200">
                        <a:effectLst/>
                        <a:latin typeface="Cambria Math" panose="02040503050406030204" pitchFamily="18" charset="0"/>
                        <a:cs typeface="Times New Roman" panose="02020603050405020304" pitchFamily="18" charset="0"/>
                      </a:rPr>
                      <m:t>{</m:t>
                    </m:r>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1</m:t>
                        </m:r>
                      </m:sub>
                    </m:sSub>
                    <m:r>
                      <a:rPr lang="en-US" altLang="zh-CN" sz="3200">
                        <a:effectLst/>
                        <a:latin typeface="Cambria Math" panose="02040503050406030204" pitchFamily="18" charset="0"/>
                        <a:cs typeface="Times New Roman" panose="02020603050405020304" pitchFamily="18" charset="0"/>
                      </a:rPr>
                      <m:t>,</m:t>
                    </m:r>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2</m:t>
                        </m:r>
                      </m:sub>
                    </m:sSub>
                    <m:r>
                      <a:rPr lang="en-US" altLang="zh-CN" sz="3200">
                        <a:effectLst/>
                        <a:latin typeface="Cambria Math" panose="02040503050406030204" pitchFamily="18" charset="0"/>
                        <a:cs typeface="Times New Roman" panose="02020603050405020304" pitchFamily="18" charset="0"/>
                      </a:rPr>
                      <m:t>,…}</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1</m:t>
                            </m:r>
                          </m:sub>
                        </m:sSub>
                        <m:r>
                          <a:rPr lang="en-US" altLang="zh-CN" sz="3200">
                            <a:effectLst/>
                            <a:latin typeface="Cambria Math" panose="02040503050406030204" pitchFamily="18" charset="0"/>
                            <a:cs typeface="Times New Roman" panose="02020603050405020304" pitchFamily="18" charset="0"/>
                          </a:rPr>
                          <m:t>&lt;</m:t>
                        </m:r>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2</m:t>
                            </m:r>
                          </m:sub>
                        </m:sSub>
                        <m:r>
                          <a:rPr lang="en-US" altLang="zh-CN" sz="3200">
                            <a:effectLst/>
                            <a:latin typeface="Cambria Math" panose="02040503050406030204" pitchFamily="18" charset="0"/>
                            <a:cs typeface="Times New Roman" panose="02020603050405020304" pitchFamily="18" charset="0"/>
                          </a:rPr>
                          <m:t>&lt;…</m:t>
                        </m:r>
                      </m:e>
                    </m:d>
                  </m:oMath>
                </a14:m>
                <a:r>
                  <a:rPr lang="en-US" altLang="zh-CN" sz="3200" dirty="0">
                    <a:effectLst/>
                    <a:latin typeface="+mn-lt"/>
                    <a:cs typeface="Times New Roman" panose="02020603050405020304" pitchFamily="18" charset="0"/>
                  </a:rPr>
                  <a:t>，F(x)</a:t>
                </a:r>
                <a:r>
                  <a:rPr lang="en-US" altLang="zh-CN" sz="3200" dirty="0" err="1">
                    <a:effectLst/>
                    <a:latin typeface="+mn-lt"/>
                    <a:cs typeface="Times New Roman" panose="02020603050405020304" pitchFamily="18" charset="0"/>
                  </a:rPr>
                  <a:t>为X的分布函数</a:t>
                </a:r>
                <a:r>
                  <a:rPr lang="en-US" altLang="zh-CN" sz="3200" dirty="0">
                    <a:effectLst/>
                    <a:latin typeface="+mn-lt"/>
                    <a:cs typeface="Times New Roman" panose="02020603050405020304" pitchFamily="18" charset="0"/>
                  </a:rPr>
                  <a:t>， </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𝑈</m:t>
                    </m:r>
                    <m:r>
                      <a:rPr lang="en-US" altLang="zh-CN" sz="3200">
                        <a:effectLst/>
                        <a:latin typeface="Cambria Math" panose="02040503050406030204" pitchFamily="18" charset="0"/>
                        <a:cs typeface="Times New Roman" panose="02020603050405020304" pitchFamily="18" charset="0"/>
                      </a:rPr>
                      <m:t>∼</m:t>
                    </m:r>
                    <m:r>
                      <m:rPr>
                        <m:nor/>
                      </m:rPr>
                      <a:rPr lang="en-US" altLang="zh-CN" sz="3200">
                        <a:effectLst/>
                        <a:latin typeface="+mn-lt"/>
                        <a:cs typeface="Times New Roman" panose="02020603050405020304" pitchFamily="18" charset="0"/>
                      </a:rPr>
                      <m:t>U</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a:effectLst/>
                            <a:latin typeface="Cambria Math" panose="02040503050406030204" pitchFamily="18" charset="0"/>
                            <a:cs typeface="Times New Roman" panose="02020603050405020304" pitchFamily="18" charset="0"/>
                          </a:rPr>
                          <m:t>0</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1</m:t>
                        </m:r>
                      </m:e>
                    </m:d>
                  </m:oMath>
                </a14:m>
                <a:r>
                  <a:rPr lang="en-US" altLang="zh-CN" sz="3200" dirty="0">
                    <a:effectLst/>
                    <a:latin typeface="+mn-lt"/>
                    <a:cs typeface="Times New Roman" panose="02020603050405020304" pitchFamily="18" charset="0"/>
                  </a:rPr>
                  <a:t>， </a:t>
                </a:r>
                <a:r>
                  <a:rPr lang="en-US" altLang="zh-CN" sz="3200" dirty="0" err="1">
                    <a:effectLst/>
                    <a:latin typeface="+mn-lt"/>
                    <a:cs typeface="Times New Roman" panose="02020603050405020304" pitchFamily="18" charset="0"/>
                  </a:rPr>
                  <a:t>根据U的值定义随机变量Y为</a:t>
                </a:r>
                <a:endParaRPr lang="zh-CN" altLang="zh-CN" sz="3200" dirty="0">
                  <a:effectLst/>
                  <a:latin typeface="+mn-lt"/>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3200" i="1">
                                <a:effectLst/>
                                <a:latin typeface="Cambria Math" panose="02040503050406030204" pitchFamily="18" charset="0"/>
                                <a:cs typeface="Times New Roman" panose="02020603050405020304" pitchFamily="18" charset="0"/>
                              </a:rPr>
                              <m:t>𝑌</m:t>
                            </m:r>
                            <m:r>
                              <a:rPr lang="en-US" altLang="zh-CN" sz="3200">
                                <a:effectLst/>
                                <a:latin typeface="Cambria Math" panose="02040503050406030204" pitchFamily="18" charset="0"/>
                                <a:cs typeface="Times New Roman" panose="02020603050405020304" pitchFamily="18" charset="0"/>
                              </a:rPr>
                              <m:t>=</m:t>
                            </m:r>
                          </m:e>
                          <m:e>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𝑖</m:t>
                                </m:r>
                              </m:sub>
                            </m:sSub>
                            <m:r>
                              <a:rPr lang="en-US" altLang="zh-CN" sz="3200" i="1">
                                <a:effectLst/>
                                <a:latin typeface="Cambria Math" panose="02040503050406030204" pitchFamily="18" charset="0"/>
                                <a:cs typeface="Times New Roman" panose="02020603050405020304" pitchFamily="18" charset="0"/>
                              </a:rPr>
                              <m:t> </m:t>
                            </m:r>
                            <m:r>
                              <m:rPr>
                                <m:nor/>
                              </m:rPr>
                              <a:rPr lang="en-US" altLang="zh-CN" sz="3200">
                                <a:effectLst/>
                                <a:latin typeface="+mn-lt"/>
                                <a:cs typeface="Times New Roman" panose="02020603050405020304" pitchFamily="18" charset="0"/>
                              </a:rPr>
                              <m:t>当且仅当</m:t>
                            </m:r>
                            <m:r>
                              <a:rPr lang="en-US" altLang="zh-CN" sz="3200" i="1">
                                <a:effectLst/>
                                <a:latin typeface="Cambria Math" panose="02040503050406030204" pitchFamily="18" charset="0"/>
                                <a:cs typeface="Times New Roman" panose="02020603050405020304" pitchFamily="18" charset="0"/>
                              </a:rPr>
                              <m:t> </m:t>
                            </m:r>
                            <m:r>
                              <a:rPr lang="en-US" altLang="zh-CN" sz="3200" i="1">
                                <a:effectLst/>
                                <a:latin typeface="Cambria Math" panose="02040503050406030204" pitchFamily="18" charset="0"/>
                                <a:cs typeface="Times New Roman" panose="02020603050405020304" pitchFamily="18" charset="0"/>
                              </a:rPr>
                              <m:t>𝐹</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𝑖</m:t>
                                    </m:r>
                                    <m:r>
                                      <a:rPr lang="en-US" altLang="zh-CN" sz="3200" i="1">
                                        <a:effectLst/>
                                        <a:latin typeface="Cambria Math" panose="02040503050406030204" pitchFamily="18" charset="0"/>
                                        <a:cs typeface="Times New Roman" panose="02020603050405020304" pitchFamily="18" charset="0"/>
                                      </a:rPr>
                                      <m:t>−1</m:t>
                                    </m:r>
                                  </m:sub>
                                </m:sSub>
                              </m:e>
                            </m:d>
                            <m:r>
                              <a:rPr lang="en-US" altLang="zh-CN" sz="3200">
                                <a:effectLst/>
                                <a:latin typeface="Cambria Math" panose="02040503050406030204" pitchFamily="18" charset="0"/>
                                <a:cs typeface="Times New Roman" panose="02020603050405020304" pitchFamily="18" charset="0"/>
                              </a:rPr>
                              <m:t>&lt;</m:t>
                            </m:r>
                            <m:r>
                              <a:rPr lang="en-US" altLang="zh-CN" sz="3200" i="1">
                                <a:effectLst/>
                                <a:latin typeface="Cambria Math" panose="02040503050406030204" pitchFamily="18" charset="0"/>
                                <a:cs typeface="Times New Roman" panose="02020603050405020304" pitchFamily="18" charset="0"/>
                              </a:rPr>
                              <m:t>𝑈</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𝐹</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𝑖</m:t>
                                    </m:r>
                                  </m:sub>
                                </m:sSub>
                              </m:e>
                            </m:d>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 </m:t>
                            </m:r>
                            <m:r>
                              <a:rPr lang="en-US" altLang="zh-CN" sz="3200" i="1">
                                <a:effectLst/>
                                <a:latin typeface="Cambria Math" panose="02040503050406030204" pitchFamily="18" charset="0"/>
                                <a:cs typeface="Times New Roman" panose="02020603050405020304" pitchFamily="18" charset="0"/>
                              </a:rPr>
                              <m:t>𝑖</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1</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2</m:t>
                            </m:r>
                            <m:r>
                              <a:rPr lang="en-US" altLang="zh-CN" sz="3200">
                                <a:effectLst/>
                                <a:latin typeface="Cambria Math" panose="02040503050406030204" pitchFamily="18" charset="0"/>
                                <a:cs typeface="Times New Roman" panose="02020603050405020304" pitchFamily="18" charset="0"/>
                              </a:rPr>
                              <m:t>,…</m:t>
                            </m:r>
                          </m:e>
                        </m:mr>
                      </m:m>
                    </m:oMath>
                  </m:oMathPara>
                </a14:m>
                <a:endParaRPr lang="zh-CN" altLang="zh-CN" sz="3200" dirty="0">
                  <a:effectLst/>
                  <a:latin typeface="+mn-lt"/>
                  <a:cs typeface="Times New Roman" panose="02020603050405020304" pitchFamily="18" charset="0"/>
                </a:endParaRPr>
              </a:p>
              <a:p>
                <a:pPr>
                  <a:spcBef>
                    <a:spcPts val="900"/>
                  </a:spcBef>
                  <a:spcAft>
                    <a:spcPts val="900"/>
                  </a:spcAft>
                </a:pPr>
                <a:r>
                  <a:rPr lang="en-US" altLang="zh-CN" sz="3200" dirty="0">
                    <a:effectLst/>
                    <a:latin typeface="+mn-lt"/>
                    <a:cs typeface="Times New Roman" panose="02020603050405020304" pitchFamily="18" charset="0"/>
                  </a:rPr>
                  <a:t>(</a:t>
                </a:r>
                <a:r>
                  <a:rPr lang="en-US" altLang="zh-CN" sz="3200" dirty="0" err="1">
                    <a:effectLst/>
                    <a:latin typeface="+mn-lt"/>
                    <a:cs typeface="Times New Roman" panose="02020603050405020304" pitchFamily="18" charset="0"/>
                  </a:rPr>
                  <a:t>定义</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𝐹</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𝑎</m:t>
                            </m:r>
                          </m:e>
                          <m:sub>
                            <m:r>
                              <a:rPr lang="en-US" altLang="zh-CN" sz="3200" i="1">
                                <a:effectLst/>
                                <a:latin typeface="Cambria Math" panose="02040503050406030204" pitchFamily="18" charset="0"/>
                                <a:cs typeface="Times New Roman" panose="02020603050405020304" pitchFamily="18" charset="0"/>
                              </a:rPr>
                              <m:t>0</m:t>
                            </m:r>
                          </m:sub>
                        </m:sSub>
                      </m:e>
                    </m:d>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0</m:t>
                    </m:r>
                  </m:oMath>
                </a14:m>
                <a:r>
                  <a:rPr lang="en-US" altLang="zh-CN" sz="3200" dirty="0">
                    <a:effectLst/>
                    <a:latin typeface="+mn-lt"/>
                    <a:cs typeface="Times New Roman" panose="02020603050405020304" pitchFamily="18" charset="0"/>
                  </a:rPr>
                  <a:t>) 则</a:t>
                </a:r>
                <a14:m>
                  <m:oMath xmlns:m="http://schemas.openxmlformats.org/officeDocument/2006/math">
                    <m:r>
                      <a:rPr lang="en-US" altLang="zh-CN" sz="3200" i="1">
                        <a:effectLst/>
                        <a:latin typeface="Cambria Math" panose="02040503050406030204" pitchFamily="18" charset="0"/>
                        <a:cs typeface="Times New Roman" panose="02020603050405020304" pitchFamily="18" charset="0"/>
                      </a:rPr>
                      <m:t>𝑌</m:t>
                    </m:r>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𝐹</m:t>
                    </m:r>
                    <m:d>
                      <m:d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a:effectLst/>
                            <a:latin typeface="Cambria Math" panose="02040503050406030204" pitchFamily="18" charset="0"/>
                            <a:cs typeface="Times New Roman" panose="02020603050405020304" pitchFamily="18" charset="0"/>
                          </a:rPr>
                          <m:t>𝑦</m:t>
                        </m:r>
                      </m:e>
                    </m:d>
                  </m:oMath>
                </a14:m>
                <a:endParaRPr lang="zh-CN" altLang="zh-CN" sz="3200" dirty="0">
                  <a:effectLst/>
                  <a:latin typeface="+mn-lt"/>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B75D417E-30D4-4BCC-91D6-D533385B75CB}"/>
                  </a:ext>
                </a:extLst>
              </p:cNvPr>
              <p:cNvSpPr txBox="1">
                <a:spLocks noRot="1" noChangeAspect="1" noMove="1" noResize="1" noEditPoints="1" noAdjustHandles="1" noChangeArrowheads="1" noChangeShapeType="1" noTextEdit="1"/>
              </p:cNvSpPr>
              <p:nvPr/>
            </p:nvSpPr>
            <p:spPr>
              <a:xfrm>
                <a:off x="-25658" y="3289832"/>
                <a:ext cx="9358405" cy="2900794"/>
              </a:xfrm>
              <a:prstGeom prst="rect">
                <a:avLst/>
              </a:prstGeom>
              <a:blipFill>
                <a:blip r:embed="rId3"/>
                <a:stretch>
                  <a:fillRect l="-1694" t="-3571" b="-5882"/>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8246419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7367377-93CF-4BD0-92FE-640B0704D1B7}"/>
              </a:ext>
            </a:extLst>
          </p:cNvPr>
          <p:cNvPicPr>
            <a:picLocks noChangeAspect="1"/>
          </p:cNvPicPr>
          <p:nvPr/>
        </p:nvPicPr>
        <p:blipFill>
          <a:blip r:embed="rId2"/>
          <a:stretch>
            <a:fillRect/>
          </a:stretch>
        </p:blipFill>
        <p:spPr>
          <a:xfrm>
            <a:off x="881590" y="953725"/>
            <a:ext cx="7650850" cy="5192687"/>
          </a:xfrm>
          <a:prstGeom prst="rect">
            <a:avLst/>
          </a:prstGeom>
        </p:spPr>
      </p:pic>
      <p:sp>
        <p:nvSpPr>
          <p:cNvPr id="6" name="标题 1">
            <a:extLst>
              <a:ext uri="{FF2B5EF4-FFF2-40B4-BE49-F238E27FC236}">
                <a16:creationId xmlns:a16="http://schemas.microsoft.com/office/drawing/2014/main" id="{8056BA47-9240-4C98-9696-8CA571696ECF}"/>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2.3.1 </a:t>
            </a:r>
            <a:r>
              <a:rPr lang="zh-CN" altLang="en-US" dirty="0"/>
              <a:t>逆变换法</a:t>
            </a:r>
          </a:p>
        </p:txBody>
      </p:sp>
    </p:spTree>
    <p:extLst>
      <p:ext uri="{BB962C8B-B14F-4D97-AF65-F5344CB8AC3E}">
        <p14:creationId xmlns:p14="http://schemas.microsoft.com/office/powerpoint/2010/main" val="42900193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0479224-0085-4B88-938A-D329EF5B5479}"/>
                  </a:ext>
                </a:extLst>
              </p:cNvPr>
              <p:cNvSpPr txBox="1"/>
              <p:nvPr/>
            </p:nvSpPr>
            <p:spPr>
              <a:xfrm>
                <a:off x="0" y="807676"/>
                <a:ext cx="8458305" cy="1955472"/>
              </a:xfrm>
              <a:prstGeom prst="rect">
                <a:avLst/>
              </a:prstGeom>
              <a:noFill/>
              <a:ln w="25400">
                <a:noFill/>
              </a:ln>
            </p:spPr>
            <p:txBody>
              <a:bodyPr wrap="square">
                <a:spAutoFit/>
              </a:bodyPr>
              <a:lstStyle/>
              <a:p>
                <a:pPr>
                  <a:spcBef>
                    <a:spcPts val="900"/>
                  </a:spcBef>
                  <a:spcAft>
                    <a:spcPts val="900"/>
                  </a:spcAft>
                </a:pPr>
                <a:r>
                  <a:rPr lang="en-US" altLang="zh-CN" sz="3200" dirty="0" err="1">
                    <a:effectLst/>
                    <a:latin typeface="宋体" panose="02010600030101010101" pitchFamily="2" charset="-122"/>
                    <a:ea typeface="宋体" panose="02010600030101010101" pitchFamily="2" charset="-122"/>
                    <a:cs typeface="Times New Roman" panose="02020603050405020304" pitchFamily="18" charset="0"/>
                  </a:rPr>
                  <a:t>模拟分布列为</a:t>
                </a:r>
                <a:r>
                  <a:rPr lang="en-US" altLang="zh-CN" sz="3200"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zh-CN" sz="32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0.20</m:t>
                      </m:r>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0.15</m:t>
                      </m:r>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0.25</m:t>
                      </m:r>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0.40</m:t>
                      </m:r>
                    </m:oMath>
                  </m:oMathPara>
                </a14:m>
                <a:endParaRPr lang="zh-CN" altLang="zh-CN" sz="32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3200" dirty="0" err="1">
                    <a:effectLst/>
                    <a:latin typeface="宋体" panose="02010600030101010101" pitchFamily="2" charset="-122"/>
                    <a:ea typeface="宋体" panose="02010600030101010101" pitchFamily="2" charset="-122"/>
                    <a:cs typeface="Times New Roman" panose="02020603050405020304" pitchFamily="18" charset="0"/>
                  </a:rPr>
                  <a:t>的随机变量</a:t>
                </a:r>
                <a14:m>
                  <m:oMath xmlns:m="http://schemas.openxmlformats.org/officeDocument/2006/math">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𝑋</m:t>
                    </m:r>
                  </m:oMath>
                </a14:m>
                <a:r>
                  <a:rPr lang="en-US" altLang="zh-CN" sz="3200" dirty="0">
                    <a:effectLst/>
                    <a:latin typeface="Cambria" panose="02040503050406030204" pitchFamily="18" charset="0"/>
                    <a:ea typeface="宋体" panose="02010600030101010101" pitchFamily="2" charset="-122"/>
                    <a:cs typeface="Times New Roman" panose="02020603050405020304" pitchFamily="18" charset="0"/>
                  </a:rPr>
                  <a:t>(</a:t>
                </a:r>
                <a:r>
                  <a:rPr lang="en-US" altLang="zh-CN" sz="3200" dirty="0" err="1">
                    <a:effectLst/>
                    <a:latin typeface="宋体" panose="02010600030101010101" pitchFamily="2" charset="-122"/>
                    <a:ea typeface="宋体" panose="02010600030101010101" pitchFamily="2" charset="-122"/>
                    <a:cs typeface="Times New Roman" panose="02020603050405020304" pitchFamily="18" charset="0"/>
                  </a:rPr>
                  <a:t>其中</a:t>
                </a:r>
                <a14:m>
                  <m:oMath xmlns:m="http://schemas.openxmlformats.org/officeDocument/2006/math">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𝑃</m:t>
                    </m:r>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effectLst/>
                        <a:latin typeface="Cambria Math" panose="02040503050406030204" pitchFamily="18" charset="0"/>
                        <a:ea typeface="宋体" panose="02010600030101010101" pitchFamily="2" charset="-122"/>
                        <a:cs typeface="Times New Roman" panose="02020603050405020304" pitchFamily="18" charset="0"/>
                      </a:rPr>
                      <m:t>𝑗</m:t>
                    </m:r>
                    <m:r>
                      <a:rPr lang="en-US" altLang="zh-CN" sz="3200">
                        <a:effectLst/>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32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3200" dirty="0">
                  <a:effectLst/>
                  <a:latin typeface="Cambria" panose="02040503050406030204" pitchFamily="18" charset="0"/>
                  <a:ea typeface="宋体" panose="02010600030101010101" pitchFamily="2"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B0479224-0085-4B88-938A-D329EF5B5479}"/>
                  </a:ext>
                </a:extLst>
              </p:cNvPr>
              <p:cNvSpPr txBox="1">
                <a:spLocks noRot="1" noChangeAspect="1" noMove="1" noResize="1" noEditPoints="1" noAdjustHandles="1" noChangeArrowheads="1" noChangeShapeType="1" noTextEdit="1"/>
              </p:cNvSpPr>
              <p:nvPr/>
            </p:nvSpPr>
            <p:spPr>
              <a:xfrm>
                <a:off x="0" y="807676"/>
                <a:ext cx="8458305" cy="1955472"/>
              </a:xfrm>
              <a:prstGeom prst="rect">
                <a:avLst/>
              </a:prstGeom>
              <a:blipFill>
                <a:blip r:embed="rId2"/>
                <a:stretch>
                  <a:fillRect l="-1801" t="-4984" b="-7165"/>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817E512-E305-4771-BBF3-8A43F26403E9}"/>
                  </a:ext>
                </a:extLst>
              </p:cNvPr>
              <p:cNvSpPr txBox="1"/>
              <p:nvPr/>
            </p:nvSpPr>
            <p:spPr>
              <a:xfrm>
                <a:off x="4109398" y="2885850"/>
                <a:ext cx="4691848" cy="3177793"/>
              </a:xfrm>
              <a:prstGeom prst="rect">
                <a:avLst/>
              </a:prstGeom>
              <a:noFill/>
              <a:ln w="25400">
                <a:noFill/>
              </a:ln>
            </p:spPr>
            <p:txBody>
              <a:bodyPr wrap="square">
                <a:spAutoFit/>
              </a:bodyPr>
              <a:lstStyle/>
              <a:p>
                <a:pPr>
                  <a:spcBef>
                    <a:spcPts val="900"/>
                  </a:spcBef>
                  <a:spcAft>
                    <a:spcPts val="900"/>
                  </a:spcAft>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法</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1 (</a:t>
                </a:r>
                <a:r>
                  <a:rPr lang="en-US" altLang="zh-CN" sz="2400" dirty="0" err="1">
                    <a:effectLst/>
                    <a:latin typeface="宋体" panose="02010600030101010101" pitchFamily="2" charset="-122"/>
                    <a:ea typeface="宋体" panose="02010600030101010101" pitchFamily="2" charset="-122"/>
                    <a:cs typeface="Times New Roman" panose="02020603050405020304" pitchFamily="18" charset="0"/>
                  </a:rPr>
                  <a:t>自然顺序</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err="1">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2400" dirty="0" err="1">
                    <a:effectLst/>
                    <a:latin typeface="Cambria" panose="02040503050406030204" pitchFamily="18" charset="0"/>
                    <a:ea typeface="宋体" panose="02010600030101010101" pitchFamily="2" charset="-122"/>
                    <a:cs typeface="Times New Roman" panose="02020603050405020304" pitchFamily="18" charset="0"/>
                  </a:rPr>
                  <a:t>U</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400" smtClean="0">
                        <a:effectLst/>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 </m:t>
                    </m:r>
                  </m:oMath>
                </a14:m>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0.20,</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则令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X = 1</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且停止</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err="1">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2400" i="1" dirty="0" err="1">
                    <a:effectLst/>
                    <a:latin typeface="Cambria" panose="02040503050406030204" pitchFamily="18" charset="0"/>
                    <a:ea typeface="宋体" panose="02010600030101010101" pitchFamily="2" charset="-122"/>
                    <a:cs typeface="Times New Roman" panose="02020603050405020304" pitchFamily="18" charset="0"/>
                  </a:rPr>
                  <a:t>U</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400" smtClean="0">
                        <a:effectLst/>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 </m:t>
                    </m:r>
                  </m:oMath>
                </a14:m>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0.35=0.2+0.15,</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则令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X = 2</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且停止</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err="1">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2400" dirty="0" err="1">
                    <a:effectLst/>
                    <a:latin typeface="Cambria" panose="02040503050406030204" pitchFamily="18" charset="0"/>
                    <a:ea typeface="宋体" panose="02010600030101010101" pitchFamily="2" charset="-122"/>
                    <a:cs typeface="Times New Roman" panose="02020603050405020304" pitchFamily="18" charset="0"/>
                  </a:rPr>
                  <a:t>U</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400" smtClean="0">
                        <a:effectLst/>
                        <a:latin typeface="Cambria Math" panose="02040503050406030204" pitchFamily="18" charset="0"/>
                        <a:cs typeface="Times New Roman" panose="02020603050405020304" pitchFamily="18" charset="0"/>
                      </a:rPr>
                      <m:t>≤</m:t>
                    </m:r>
                  </m:oMath>
                </a14:m>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 0.60=0.2+0.15+0.25,</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则令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X = 3</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且停止</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err="1">
                    <a:effectLst/>
                    <a:latin typeface="宋体" panose="02010600030101010101" pitchFamily="2" charset="-122"/>
                    <a:ea typeface="宋体" panose="02010600030101010101" pitchFamily="2" charset="-122"/>
                    <a:cs typeface="Times New Roman" panose="02020603050405020304" pitchFamily="18" charset="0"/>
                  </a:rPr>
                  <a:t>否则令</a:t>
                </a:r>
                <a:r>
                  <a:rPr lang="en-US" altLang="zh-CN" sz="2400" dirty="0" err="1">
                    <a:effectLst/>
                    <a:latin typeface="Cambria" panose="02040503050406030204" pitchFamily="18" charset="0"/>
                    <a:ea typeface="宋体" panose="02010600030101010101" pitchFamily="2" charset="-122"/>
                    <a:cs typeface="Times New Roman" panose="02020603050405020304" pitchFamily="18" charset="0"/>
                  </a:rPr>
                  <a:t>X</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 = 4.</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E817E512-E305-4771-BBF3-8A43F26403E9}"/>
                  </a:ext>
                </a:extLst>
              </p:cNvPr>
              <p:cNvSpPr txBox="1">
                <a:spLocks noRot="1" noChangeAspect="1" noMove="1" noResize="1" noEditPoints="1" noAdjustHandles="1" noChangeArrowheads="1" noChangeShapeType="1" noTextEdit="1"/>
              </p:cNvSpPr>
              <p:nvPr/>
            </p:nvSpPr>
            <p:spPr>
              <a:xfrm>
                <a:off x="4109398" y="2885850"/>
                <a:ext cx="4691848" cy="3177793"/>
              </a:xfrm>
              <a:prstGeom prst="rect">
                <a:avLst/>
              </a:prstGeom>
              <a:blipFill>
                <a:blip r:embed="rId3"/>
                <a:stretch>
                  <a:fillRect l="-1948" t="-2107" r="-2208" b="-3257"/>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9893394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6B6852B-D494-44A4-BB16-0DB53628D267}"/>
                  </a:ext>
                </a:extLst>
              </p:cNvPr>
              <p:cNvSpPr txBox="1"/>
              <p:nvPr/>
            </p:nvSpPr>
            <p:spPr>
              <a:xfrm>
                <a:off x="656565" y="1043735"/>
                <a:ext cx="5958037" cy="3094245"/>
              </a:xfrm>
              <a:prstGeom prst="rect">
                <a:avLst/>
              </a:prstGeom>
              <a:noFill/>
              <a:ln w="25400">
                <a:noFill/>
              </a:ln>
            </p:spPr>
            <p:txBody>
              <a:bodyPr wrap="square">
                <a:spAutoFit/>
              </a:bodyPr>
              <a:lstStyle/>
              <a:p>
                <a:pPr>
                  <a:spcBef>
                    <a:spcPts val="900"/>
                  </a:spcBef>
                  <a:spcAft>
                    <a:spcPts val="900"/>
                  </a:spcAft>
                </a:pPr>
                <a:r>
                  <a:rPr lang="zh-CN" altLang="zh-CN" sz="3200" dirty="0">
                    <a:effectLst/>
                    <a:latin typeface="Cambria" panose="02040503050406030204" pitchFamily="18" charset="0"/>
                    <a:cs typeface="Times New Roman" panose="02020603050405020304" pitchFamily="18" charset="0"/>
                  </a:rPr>
                  <a:t>法</a:t>
                </a:r>
                <a:r>
                  <a:rPr lang="en-US" altLang="zh-CN" sz="3200" dirty="0">
                    <a:effectLst/>
                    <a:latin typeface="Cambria" panose="02040503050406030204" pitchFamily="18" charset="0"/>
                    <a:cs typeface="Times New Roman" panose="02020603050405020304" pitchFamily="18" charset="0"/>
                  </a:rPr>
                  <a:t>2 (</a:t>
                </a:r>
                <a14:m>
                  <m:oMath xmlns:m="http://schemas.openxmlformats.org/officeDocument/2006/math">
                    <m:sSub>
                      <m:sSubPr>
                        <m:ctrlPr>
                          <a:rPr lang="zh-CN" altLang="zh-CN" sz="32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i="1">
                            <a:effectLst/>
                            <a:latin typeface="Cambria Math" panose="02040503050406030204" pitchFamily="18" charset="0"/>
                            <a:cs typeface="Times New Roman" panose="02020603050405020304" pitchFamily="18" charset="0"/>
                          </a:rPr>
                          <m:t>𝑃</m:t>
                        </m:r>
                      </m:e>
                      <m:sub>
                        <m:r>
                          <a:rPr lang="en-US" altLang="zh-CN" sz="3200" i="1">
                            <a:effectLst/>
                            <a:latin typeface="Cambria Math" panose="02040503050406030204" pitchFamily="18" charset="0"/>
                            <a:cs typeface="Times New Roman" panose="02020603050405020304" pitchFamily="18" charset="0"/>
                          </a:rPr>
                          <m:t>𝑗</m:t>
                        </m:r>
                      </m:sub>
                    </m:sSub>
                  </m:oMath>
                </a14:m>
                <a:r>
                  <a:rPr lang="zh-CN" altLang="zh-CN" sz="3200" dirty="0">
                    <a:effectLst/>
                    <a:latin typeface="Cambria" panose="02040503050406030204" pitchFamily="18" charset="0"/>
                    <a:cs typeface="Times New Roman" panose="02020603050405020304" pitchFamily="18" charset="0"/>
                  </a:rPr>
                  <a:t>从大到小排序</a:t>
                </a:r>
                <a:r>
                  <a:rPr lang="en-US" altLang="zh-CN" sz="3200" dirty="0">
                    <a:effectLst/>
                    <a:latin typeface="Cambria" panose="02040503050406030204" pitchFamily="18" charset="0"/>
                    <a:cs typeface="Times New Roman" panose="02020603050405020304" pitchFamily="18" charset="0"/>
                  </a:rPr>
                  <a:t>)</a:t>
                </a:r>
                <a:endParaRPr lang="zh-CN" altLang="zh-CN" sz="3200" dirty="0">
                  <a:effectLst/>
                  <a:latin typeface="Cambria" panose="02040503050406030204" pitchFamily="18" charset="0"/>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3200" dirty="0" err="1">
                    <a:effectLst/>
                    <a:latin typeface="宋体" panose="02010600030101010101" pitchFamily="2" charset="-122"/>
                    <a:cs typeface="Times New Roman" panose="02020603050405020304" pitchFamily="18" charset="0"/>
                  </a:rPr>
                  <a:t>如果</a:t>
                </a:r>
                <a:r>
                  <a:rPr lang="en-US" altLang="zh-CN" sz="3200" dirty="0" err="1">
                    <a:effectLst/>
                    <a:latin typeface="Cambria" panose="02040503050406030204" pitchFamily="18" charset="0"/>
                    <a:cs typeface="Times New Roman" panose="02020603050405020304" pitchFamily="18" charset="0"/>
                  </a:rPr>
                  <a:t>U</a:t>
                </a:r>
                <a:r>
                  <a:rPr lang="en-US" altLang="zh-CN" sz="3200" dirty="0">
                    <a:effectLst/>
                    <a:cs typeface="Times New Roman" panose="02020603050405020304" pitchFamily="18" charset="0"/>
                  </a:rPr>
                  <a:t> </a:t>
                </a:r>
                <a14:m>
                  <m:oMath xmlns:m="http://schemas.openxmlformats.org/officeDocument/2006/math">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 </m:t>
                    </m:r>
                  </m:oMath>
                </a14:m>
                <a:r>
                  <a:rPr lang="en-US" altLang="zh-CN" sz="3200" dirty="0">
                    <a:effectLst/>
                    <a:latin typeface="Cambria" panose="02040503050406030204" pitchFamily="18" charset="0"/>
                    <a:cs typeface="Times New Roman" panose="02020603050405020304" pitchFamily="18" charset="0"/>
                  </a:rPr>
                  <a:t>0.40,</a:t>
                </a:r>
                <a:r>
                  <a:rPr lang="en-US" altLang="zh-CN" sz="3200" dirty="0">
                    <a:effectLst/>
                    <a:latin typeface="宋体" panose="02010600030101010101" pitchFamily="2" charset="-122"/>
                    <a:cs typeface="Times New Roman" panose="02020603050405020304" pitchFamily="18" charset="0"/>
                  </a:rPr>
                  <a:t>则令</a:t>
                </a:r>
                <a:r>
                  <a:rPr lang="en-US" altLang="zh-CN" sz="3200" dirty="0">
                    <a:effectLst/>
                    <a:latin typeface="Cambria" panose="02040503050406030204" pitchFamily="18" charset="0"/>
                    <a:cs typeface="Times New Roman" panose="02020603050405020304" pitchFamily="18" charset="0"/>
                  </a:rPr>
                  <a:t>X=4</a:t>
                </a:r>
                <a:r>
                  <a:rPr lang="en-US" altLang="zh-CN" sz="3200" dirty="0">
                    <a:effectLst/>
                    <a:latin typeface="宋体" panose="02010600030101010101" pitchFamily="2" charset="-122"/>
                    <a:cs typeface="Times New Roman" panose="02020603050405020304" pitchFamily="18" charset="0"/>
                  </a:rPr>
                  <a:t>且停止</a:t>
                </a:r>
                <a:endParaRPr lang="zh-CN" altLang="zh-CN" sz="3200" dirty="0">
                  <a:effectLst/>
                  <a:latin typeface="Cambria" panose="02040503050406030204" pitchFamily="18" charset="0"/>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3200" dirty="0" err="1">
                    <a:effectLst/>
                    <a:latin typeface="宋体" panose="02010600030101010101" pitchFamily="2" charset="-122"/>
                    <a:cs typeface="Times New Roman" panose="02020603050405020304" pitchFamily="18" charset="0"/>
                  </a:rPr>
                  <a:t>如果</a:t>
                </a:r>
                <a:r>
                  <a:rPr lang="en-US" altLang="zh-CN" sz="3200" dirty="0" err="1">
                    <a:effectLst/>
                    <a:latin typeface="Cambria" panose="02040503050406030204" pitchFamily="18" charset="0"/>
                    <a:cs typeface="Times New Roman" panose="02020603050405020304" pitchFamily="18" charset="0"/>
                  </a:rPr>
                  <a:t>U</a:t>
                </a:r>
                <a:r>
                  <a:rPr lang="en-US" altLang="zh-CN" sz="3200" dirty="0">
                    <a:effectLst/>
                    <a:cs typeface="Times New Roman" panose="02020603050405020304" pitchFamily="18" charset="0"/>
                  </a:rPr>
                  <a:t> </a:t>
                </a:r>
                <a14:m>
                  <m:oMath xmlns:m="http://schemas.openxmlformats.org/officeDocument/2006/math">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 </m:t>
                    </m:r>
                  </m:oMath>
                </a14:m>
                <a:r>
                  <a:rPr lang="en-US" altLang="zh-CN" sz="3200" dirty="0">
                    <a:effectLst/>
                    <a:latin typeface="Cambria" panose="02040503050406030204" pitchFamily="18" charset="0"/>
                    <a:cs typeface="Times New Roman" panose="02020603050405020304" pitchFamily="18" charset="0"/>
                  </a:rPr>
                  <a:t>0.65,</a:t>
                </a:r>
                <a:r>
                  <a:rPr lang="en-US" altLang="zh-CN" sz="3200" dirty="0">
                    <a:effectLst/>
                    <a:latin typeface="宋体" panose="02010600030101010101" pitchFamily="2" charset="-122"/>
                    <a:cs typeface="Times New Roman" panose="02020603050405020304" pitchFamily="18" charset="0"/>
                  </a:rPr>
                  <a:t>则令</a:t>
                </a:r>
                <a:r>
                  <a:rPr lang="en-US" altLang="zh-CN" sz="3200" dirty="0">
                    <a:effectLst/>
                    <a:latin typeface="Cambria" panose="02040503050406030204" pitchFamily="18" charset="0"/>
                    <a:cs typeface="Times New Roman" panose="02020603050405020304" pitchFamily="18" charset="0"/>
                  </a:rPr>
                  <a:t>X=3</a:t>
                </a:r>
                <a:r>
                  <a:rPr lang="en-US" altLang="zh-CN" sz="3200" dirty="0">
                    <a:effectLst/>
                    <a:latin typeface="宋体" panose="02010600030101010101" pitchFamily="2" charset="-122"/>
                    <a:cs typeface="Times New Roman" panose="02020603050405020304" pitchFamily="18" charset="0"/>
                  </a:rPr>
                  <a:t>且停止</a:t>
                </a:r>
                <a:endParaRPr lang="zh-CN" altLang="zh-CN" sz="3200" dirty="0">
                  <a:effectLst/>
                  <a:latin typeface="Cambria" panose="02040503050406030204" pitchFamily="18" charset="0"/>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3200" dirty="0" err="1">
                    <a:effectLst/>
                    <a:latin typeface="宋体" panose="02010600030101010101" pitchFamily="2" charset="-122"/>
                    <a:cs typeface="Times New Roman" panose="02020603050405020304" pitchFamily="18" charset="0"/>
                  </a:rPr>
                  <a:t>如果</a:t>
                </a:r>
                <a:r>
                  <a:rPr lang="en-US" altLang="zh-CN" sz="3200" dirty="0" err="1">
                    <a:effectLst/>
                    <a:latin typeface="Cambria" panose="02040503050406030204" pitchFamily="18" charset="0"/>
                    <a:cs typeface="Times New Roman" panose="02020603050405020304" pitchFamily="18" charset="0"/>
                  </a:rPr>
                  <a:t>U</a:t>
                </a:r>
                <a:r>
                  <a:rPr lang="en-US" altLang="zh-CN" sz="3200" dirty="0">
                    <a:effectLst/>
                    <a:cs typeface="Times New Roman" panose="02020603050405020304" pitchFamily="18" charset="0"/>
                  </a:rPr>
                  <a:t> </a:t>
                </a:r>
                <a14:m>
                  <m:oMath xmlns:m="http://schemas.openxmlformats.org/officeDocument/2006/math">
                    <m:r>
                      <a:rPr lang="en-US" altLang="zh-CN" sz="3200">
                        <a:effectLst/>
                        <a:latin typeface="Cambria Math" panose="02040503050406030204" pitchFamily="18" charset="0"/>
                        <a:cs typeface="Times New Roman" panose="02020603050405020304" pitchFamily="18" charset="0"/>
                      </a:rPr>
                      <m:t>≤</m:t>
                    </m:r>
                    <m:r>
                      <a:rPr lang="en-US" altLang="zh-CN" sz="3200" i="1">
                        <a:effectLst/>
                        <a:latin typeface="Cambria Math" panose="02040503050406030204" pitchFamily="18" charset="0"/>
                        <a:cs typeface="Times New Roman" panose="02020603050405020304" pitchFamily="18" charset="0"/>
                      </a:rPr>
                      <m:t> </m:t>
                    </m:r>
                  </m:oMath>
                </a14:m>
                <a:r>
                  <a:rPr lang="en-US" altLang="zh-CN" sz="3200" dirty="0">
                    <a:effectLst/>
                    <a:latin typeface="Cambria" panose="02040503050406030204" pitchFamily="18" charset="0"/>
                    <a:cs typeface="Times New Roman" panose="02020603050405020304" pitchFamily="18" charset="0"/>
                  </a:rPr>
                  <a:t>0.85,</a:t>
                </a:r>
                <a:r>
                  <a:rPr lang="en-US" altLang="zh-CN" sz="3200" dirty="0">
                    <a:effectLst/>
                    <a:latin typeface="宋体" panose="02010600030101010101" pitchFamily="2" charset="-122"/>
                    <a:cs typeface="Times New Roman" panose="02020603050405020304" pitchFamily="18" charset="0"/>
                  </a:rPr>
                  <a:t>则令</a:t>
                </a:r>
                <a:r>
                  <a:rPr lang="en-US" altLang="zh-CN" sz="3200" dirty="0">
                    <a:effectLst/>
                    <a:latin typeface="Cambria" panose="02040503050406030204" pitchFamily="18" charset="0"/>
                    <a:cs typeface="Times New Roman" panose="02020603050405020304" pitchFamily="18" charset="0"/>
                  </a:rPr>
                  <a:t>X =1</a:t>
                </a:r>
                <a:r>
                  <a:rPr lang="en-US" altLang="zh-CN" sz="3200" dirty="0">
                    <a:effectLst/>
                    <a:latin typeface="宋体" panose="02010600030101010101" pitchFamily="2" charset="-122"/>
                    <a:cs typeface="Times New Roman" panose="02020603050405020304" pitchFamily="18" charset="0"/>
                  </a:rPr>
                  <a:t>且停止</a:t>
                </a:r>
                <a:endParaRPr lang="zh-CN" altLang="zh-CN" sz="3200" dirty="0">
                  <a:effectLst/>
                  <a:latin typeface="Cambria" panose="02040503050406030204" pitchFamily="18" charset="0"/>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3200" dirty="0" err="1">
                    <a:effectLst/>
                    <a:latin typeface="宋体" panose="02010600030101010101" pitchFamily="2" charset="-122"/>
                    <a:cs typeface="Times New Roman" panose="02020603050405020304" pitchFamily="18" charset="0"/>
                  </a:rPr>
                  <a:t>否则令</a:t>
                </a:r>
                <a:r>
                  <a:rPr lang="en-US" altLang="zh-CN" sz="3200" dirty="0" err="1">
                    <a:effectLst/>
                    <a:latin typeface="Cambria" panose="02040503050406030204" pitchFamily="18" charset="0"/>
                    <a:cs typeface="Times New Roman" panose="02020603050405020304" pitchFamily="18" charset="0"/>
                  </a:rPr>
                  <a:t>X</a:t>
                </a:r>
                <a:r>
                  <a:rPr lang="en-US" altLang="zh-CN" sz="3200" dirty="0">
                    <a:effectLst/>
                    <a:latin typeface="Cambria" panose="02040503050406030204" pitchFamily="18" charset="0"/>
                    <a:cs typeface="Times New Roman" panose="02020603050405020304" pitchFamily="18" charset="0"/>
                  </a:rPr>
                  <a:t>=2.</a:t>
                </a:r>
                <a:endParaRPr lang="zh-CN" altLang="zh-CN" sz="3200" dirty="0">
                  <a:effectLst/>
                  <a:latin typeface="Cambria" panose="020405030504060302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16B6852B-D494-44A4-BB16-0DB53628D267}"/>
                  </a:ext>
                </a:extLst>
              </p:cNvPr>
              <p:cNvSpPr txBox="1">
                <a:spLocks noRot="1" noChangeAspect="1" noMove="1" noResize="1" noEditPoints="1" noAdjustHandles="1" noChangeArrowheads="1" noChangeShapeType="1" noTextEdit="1"/>
              </p:cNvSpPr>
              <p:nvPr/>
            </p:nvSpPr>
            <p:spPr>
              <a:xfrm>
                <a:off x="656565" y="1043735"/>
                <a:ext cx="5958037" cy="3094245"/>
              </a:xfrm>
              <a:prstGeom prst="rect">
                <a:avLst/>
              </a:prstGeom>
              <a:blipFill>
                <a:blip r:embed="rId2"/>
                <a:stretch>
                  <a:fillRect l="-2661" t="-3346" b="-5512"/>
                </a:stretch>
              </a:blipFill>
              <a:ln w="25400">
                <a:noFill/>
              </a:ln>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06515" y="998730"/>
            <a:ext cx="8370930" cy="294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 (</a:t>
            </a:r>
            <a:r>
              <a:rPr lang="zh-CN" altLang="en-US" sz="3200" dirty="0">
                <a:solidFill>
                  <a:srgbClr val="FF0000"/>
                </a:solidFill>
                <a:latin typeface="Verdana" panose="020B0604030504040204" pitchFamily="34" charset="0"/>
              </a:rPr>
              <a:t>离散均匀分布</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如果随机变量</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在</a:t>
            </a:r>
            <a:r>
              <a:rPr lang="en-US" altLang="zh-CN" sz="3200" dirty="0">
                <a:solidFill>
                  <a:srgbClr val="006699"/>
                </a:solidFill>
                <a:latin typeface="Verdana" panose="020B0604030504040204" pitchFamily="34" charset="0"/>
              </a:rPr>
              <a:t>{1,2,...,m }</a:t>
            </a:r>
            <a:r>
              <a:rPr lang="zh-CN" altLang="en-US" sz="3200" dirty="0">
                <a:solidFill>
                  <a:srgbClr val="006699"/>
                </a:solidFill>
                <a:latin typeface="Verdana" panose="020B0604030504040204" pitchFamily="34" charset="0"/>
              </a:rPr>
              <a:t>中取值且</a:t>
            </a: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则称</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服从</a:t>
            </a:r>
            <a:r>
              <a:rPr lang="zh-CN" altLang="en-US" sz="3200" b="1" dirty="0">
                <a:solidFill>
                  <a:srgbClr val="006699"/>
                </a:solidFill>
                <a:latin typeface="Verdana" panose="020B0604030504040204" pitchFamily="34" charset="0"/>
              </a:rPr>
              <a:t>离散均匀分布</a:t>
            </a:r>
            <a:endParaRPr lang="en-US" altLang="zh-CN" sz="3200" b="1"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632938C-D34A-46A7-B9CF-79692F8D0B4F}"/>
                  </a:ext>
                </a:extLst>
              </p:cNvPr>
              <p:cNvSpPr/>
              <p:nvPr/>
            </p:nvSpPr>
            <p:spPr>
              <a:xfrm>
                <a:off x="1993632" y="2177514"/>
                <a:ext cx="5728718" cy="101752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𝑃</m:t>
                      </m:r>
                      <m:r>
                        <a:rPr lang="zh-CN" altLang="en-US" sz="3200" i="0">
                          <a:latin typeface="Cambria Math" panose="02040503050406030204" pitchFamily="18" charset="0"/>
                        </a:rPr>
                        <m:t>(</m:t>
                      </m:r>
                      <m:r>
                        <a:rPr lang="zh-CN" altLang="en-US" sz="3200" i="1">
                          <a:latin typeface="Cambria Math" panose="02040503050406030204" pitchFamily="18" charset="0"/>
                        </a:rPr>
                        <m:t>𝑋</m:t>
                      </m:r>
                      <m:r>
                        <a:rPr lang="zh-CN" altLang="en-US" sz="3200" i="0">
                          <a:latin typeface="Cambria Math" panose="02040503050406030204" pitchFamily="18" charset="0"/>
                        </a:rPr>
                        <m:t>=</m:t>
                      </m:r>
                      <m:r>
                        <a:rPr lang="zh-CN" altLang="en-US" sz="3200" i="1">
                          <a:latin typeface="Cambria Math" panose="02040503050406030204" pitchFamily="18" charset="0"/>
                        </a:rPr>
                        <m:t>𝑖</m:t>
                      </m:r>
                      <m:r>
                        <a:rPr lang="zh-CN" altLang="en-US" sz="3200" i="0">
                          <a:latin typeface="Cambria Math" panose="02040503050406030204" pitchFamily="18" charset="0"/>
                        </a:rPr>
                        <m:t>)=</m:t>
                      </m:r>
                      <m:f>
                        <m:fPr>
                          <m:ctrlPr>
                            <a:rPr lang="zh-CN" altLang="en-US" sz="3200" i="1">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1">
                              <a:latin typeface="Cambria Math" panose="02040503050406030204" pitchFamily="18" charset="0"/>
                            </a:rPr>
                            <m:t>𝑚</m:t>
                          </m:r>
                        </m:den>
                      </m:f>
                      <m:r>
                        <a:rPr lang="zh-CN" altLang="en-US" sz="3200" i="0">
                          <a:latin typeface="Cambria Math" panose="02040503050406030204" pitchFamily="18" charset="0"/>
                        </a:rPr>
                        <m:t>,</m:t>
                      </m:r>
                      <m:r>
                        <a:rPr lang="zh-CN" altLang="en-US" sz="3200" i="1">
                          <a:latin typeface="Cambria Math" panose="02040503050406030204" pitchFamily="18" charset="0"/>
                        </a:rPr>
                        <m:t>𝑖</m:t>
                      </m:r>
                      <m:r>
                        <a:rPr lang="zh-CN" altLang="en-US" sz="3200" i="0">
                          <a:latin typeface="Cambria Math" panose="02040503050406030204" pitchFamily="18" charset="0"/>
                        </a:rPr>
                        <m:t>=1,2,…,</m:t>
                      </m:r>
                      <m:r>
                        <a:rPr lang="zh-CN" altLang="en-US" sz="3200" i="1">
                          <a:latin typeface="Cambria Math" panose="02040503050406030204" pitchFamily="18" charset="0"/>
                        </a:rPr>
                        <m:t>𝑚</m:t>
                      </m:r>
                    </m:oMath>
                  </m:oMathPara>
                </a14:m>
                <a:endParaRPr lang="zh-CN" altLang="en-US" sz="3200" dirty="0"/>
              </a:p>
            </p:txBody>
          </p:sp>
        </mc:Choice>
        <mc:Fallback xmlns="">
          <p:sp>
            <p:nvSpPr>
              <p:cNvPr id="2" name="矩形 1">
                <a:extLst>
                  <a:ext uri="{FF2B5EF4-FFF2-40B4-BE49-F238E27FC236}">
                    <a16:creationId xmlns:a16="http://schemas.microsoft.com/office/drawing/2014/main" id="{7632938C-D34A-46A7-B9CF-79692F8D0B4F}"/>
                  </a:ext>
                </a:extLst>
              </p:cNvPr>
              <p:cNvSpPr>
                <a:spLocks noRot="1" noChangeAspect="1" noMove="1" noResize="1" noEditPoints="1" noAdjustHandles="1" noChangeArrowheads="1" noChangeShapeType="1" noTextEdit="1"/>
              </p:cNvSpPr>
              <p:nvPr/>
            </p:nvSpPr>
            <p:spPr>
              <a:xfrm>
                <a:off x="1993632" y="2177514"/>
                <a:ext cx="5728718" cy="101752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EE311DE-88A8-44DC-9FA7-D1EF919D8008}"/>
                  </a:ext>
                </a:extLst>
              </p:cNvPr>
              <p:cNvSpPr txBox="1"/>
              <p:nvPr/>
            </p:nvSpPr>
            <p:spPr>
              <a:xfrm>
                <a:off x="2938800" y="3806633"/>
                <a:ext cx="6196167" cy="2445541"/>
              </a:xfrm>
              <a:prstGeom prst="rect">
                <a:avLst/>
              </a:prstGeom>
              <a:noFill/>
              <a:ln w="25400">
                <a:noFill/>
              </a:ln>
            </p:spPr>
            <p:txBody>
              <a:bodyPr wrap="square">
                <a:spAutoFit/>
              </a:bodyPr>
              <a:lstStyle/>
              <a:p>
                <a:pPr>
                  <a:spcBef>
                    <a:spcPts val="900"/>
                  </a:spcBef>
                  <a:spcAft>
                    <a:spcPts val="900"/>
                  </a:spcAft>
                </a:pPr>
                <a:r>
                  <a:rPr lang="en-US" altLang="zh-CN" sz="2400" dirty="0">
                    <a:effectLst/>
                    <a:latin typeface="宋体" panose="02010600030101010101" pitchFamily="2" charset="-122"/>
                    <a:cs typeface="Times New Roman" panose="02020603050405020304" pitchFamily="18" charset="0"/>
                  </a:rPr>
                  <a:t>由于</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𝑋</m:t>
                    </m:r>
                    <m:r>
                      <a:rPr lang="en-US" altLang="zh-CN" sz="2400">
                        <a:effectLst/>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𝑗</m:t>
                    </m:r>
                    <m:r>
                      <a:rPr lang="en-US" altLang="zh-CN" sz="2400" i="1">
                        <a:effectLst/>
                        <a:latin typeface="Cambria Math" panose="02040503050406030204" pitchFamily="18" charset="0"/>
                        <a:cs typeface="Times New Roman" panose="02020603050405020304" pitchFamily="18" charset="0"/>
                      </a:rPr>
                      <m:t> </m:t>
                    </m:r>
                    <m:d>
                      <m:d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400">
                            <a:effectLst/>
                            <a:latin typeface="Cambria" panose="02040503050406030204" pitchFamily="18" charset="0"/>
                            <a:cs typeface="Times New Roman" panose="02020603050405020304" pitchFamily="18" charset="0"/>
                          </a:rPr>
                          <m:t>if</m:t>
                        </m:r>
                        <m:r>
                          <a:rPr lang="en-US" altLang="zh-CN" sz="2400" i="1">
                            <a:effectLst/>
                            <a:latin typeface="Cambria Math" panose="02040503050406030204" pitchFamily="18" charset="0"/>
                            <a:cs typeface="Times New Roman" panose="02020603050405020304" pitchFamily="18" charset="0"/>
                          </a:rPr>
                          <m:t> </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cs typeface="Times New Roman" panose="02020603050405020304" pitchFamily="18" charset="0"/>
                              </a:rPr>
                              <m:t>𝑗</m:t>
                            </m:r>
                            <m:r>
                              <a:rPr lang="en-US" altLang="zh-CN" sz="2400" i="1">
                                <a:effectLst/>
                                <a:latin typeface="Cambria Math" panose="02040503050406030204" pitchFamily="18" charset="0"/>
                                <a:cs typeface="Times New Roman" panose="02020603050405020304" pitchFamily="18" charset="0"/>
                              </a:rPr>
                              <m:t>−1</m:t>
                            </m:r>
                          </m:num>
                          <m:den>
                            <m:r>
                              <a:rPr lang="en-US" altLang="zh-CN" sz="2400" b="0" i="1" smtClean="0">
                                <a:effectLst/>
                                <a:latin typeface="Cambria Math" panose="02040503050406030204" pitchFamily="18" charset="0"/>
                                <a:cs typeface="Times New Roman" panose="02020603050405020304" pitchFamily="18" charset="0"/>
                              </a:rPr>
                              <m:t>𝑚</m:t>
                            </m:r>
                          </m:den>
                        </m:f>
                        <m:r>
                          <a:rPr lang="en-US" altLang="zh-CN" sz="2400" b="0" i="0" smtClean="0">
                            <a:effectLst/>
                            <a:latin typeface="Cambria Math" panose="02040503050406030204" pitchFamily="18" charset="0"/>
                            <a:cs typeface="Times New Roman" panose="02020603050405020304" pitchFamily="18" charset="0"/>
                          </a:rPr>
                          <m:t>&lt;</m:t>
                        </m:r>
                        <m:r>
                          <a:rPr lang="en-US" altLang="zh-CN" sz="2400" i="1">
                            <a:effectLst/>
                            <a:latin typeface="Cambria Math" panose="02040503050406030204" pitchFamily="18" charset="0"/>
                            <a:cs typeface="Times New Roman" panose="02020603050405020304" pitchFamily="18" charset="0"/>
                          </a:rPr>
                          <m:t>𝑈</m:t>
                        </m:r>
                        <m:r>
                          <a:rPr lang="en-US" altLang="zh-CN" sz="2400">
                            <a:latin typeface="Cambria Math" panose="02040503050406030204" pitchFamily="18" charset="0"/>
                            <a:cs typeface="Times New Roman" panose="02020603050405020304" pitchFamily="18" charset="0"/>
                          </a:rPr>
                          <m:t>≤</m:t>
                        </m:r>
                        <m:f>
                          <m:f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a:effectLst/>
                                <a:latin typeface="Cambria Math" panose="02040503050406030204" pitchFamily="18" charset="0"/>
                                <a:cs typeface="Times New Roman" panose="02020603050405020304" pitchFamily="18" charset="0"/>
                              </a:rPr>
                              <m:t>𝑗</m:t>
                            </m:r>
                          </m:num>
                          <m:den>
                            <m:r>
                              <a:rPr lang="en-US" altLang="zh-CN" sz="2400" b="0" i="1" smtClean="0">
                                <a:effectLst/>
                                <a:latin typeface="Cambria Math" panose="02040503050406030204" pitchFamily="18" charset="0"/>
                                <a:cs typeface="Times New Roman" panose="02020603050405020304" pitchFamily="18" charset="0"/>
                              </a:rPr>
                              <m:t>𝑚</m:t>
                            </m:r>
                          </m:den>
                        </m:f>
                      </m:e>
                    </m:d>
                  </m:oMath>
                </a14:m>
                <a:endParaRPr lang="zh-CN" altLang="zh-CN" sz="24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400" dirty="0">
                    <a:effectLst/>
                    <a:latin typeface="宋体" panose="02010600030101010101" pitchFamily="2" charset="-122"/>
                    <a:cs typeface="Times New Roman" panose="02020603050405020304" pitchFamily="18" charset="0"/>
                  </a:rPr>
                  <a:t>即</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𝑋</m:t>
                    </m:r>
                    <m:r>
                      <a:rPr lang="en-US" altLang="zh-CN" sz="2400">
                        <a:effectLst/>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𝑗</m:t>
                    </m:r>
                    <m:r>
                      <a:rPr lang="en-US" altLang="zh-CN" sz="2400" i="1">
                        <a:effectLst/>
                        <a:latin typeface="Cambria Math" panose="02040503050406030204" pitchFamily="18" charset="0"/>
                        <a:cs typeface="Times New Roman" panose="02020603050405020304" pitchFamily="18" charset="0"/>
                      </a:rPr>
                      <m:t> </m:t>
                    </m:r>
                    <m:d>
                      <m:d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400">
                            <a:effectLst/>
                            <a:latin typeface="Cambria" panose="02040503050406030204" pitchFamily="18" charset="0"/>
                            <a:cs typeface="Times New Roman" panose="02020603050405020304" pitchFamily="18" charset="0"/>
                          </a:rPr>
                          <m:t>if</m:t>
                        </m:r>
                        <m:r>
                          <a:rPr lang="en-US" altLang="zh-CN" sz="2400" i="1">
                            <a:effectLst/>
                            <a:latin typeface="Cambria Math" panose="02040503050406030204" pitchFamily="18" charset="0"/>
                            <a:cs typeface="Times New Roman" panose="02020603050405020304" pitchFamily="18" charset="0"/>
                          </a:rPr>
                          <m:t> </m:t>
                        </m:r>
                        <m:r>
                          <a:rPr lang="en-US" altLang="zh-CN" sz="2400" i="1">
                            <a:effectLst/>
                            <a:latin typeface="Cambria Math" panose="02040503050406030204" pitchFamily="18" charset="0"/>
                            <a:cs typeface="Times New Roman" panose="02020603050405020304" pitchFamily="18" charset="0"/>
                          </a:rPr>
                          <m:t>𝑗</m:t>
                        </m:r>
                        <m:r>
                          <a:rPr lang="en-US" altLang="zh-CN" sz="2400" i="1">
                            <a:effectLst/>
                            <a:latin typeface="Cambria Math" panose="02040503050406030204" pitchFamily="18" charset="0"/>
                            <a:cs typeface="Times New Roman" panose="02020603050405020304" pitchFamily="18" charset="0"/>
                          </a:rPr>
                          <m:t>−1</m:t>
                        </m:r>
                        <m:r>
                          <a:rPr lang="en-US" altLang="zh-CN" sz="2400" b="0" i="0" smtClean="0">
                            <a:effectLst/>
                            <a:latin typeface="Cambria Math" panose="02040503050406030204" pitchFamily="18" charset="0"/>
                            <a:cs typeface="Times New Roman" panose="02020603050405020304" pitchFamily="18" charset="0"/>
                          </a:rPr>
                          <m:t>&lt;</m:t>
                        </m:r>
                        <m:r>
                          <a:rPr lang="en-US" altLang="zh-CN" sz="2400" b="0" i="1" smtClean="0">
                            <a:effectLst/>
                            <a:latin typeface="Cambria Math" panose="02040503050406030204" pitchFamily="18" charset="0"/>
                            <a:cs typeface="Times New Roman" panose="02020603050405020304" pitchFamily="18" charset="0"/>
                          </a:rPr>
                          <m:t>𝑚</m:t>
                        </m:r>
                        <m:r>
                          <a:rPr lang="en-US" altLang="zh-CN" sz="2400" i="1">
                            <a:effectLst/>
                            <a:latin typeface="Cambria Math" panose="02040503050406030204" pitchFamily="18" charset="0"/>
                            <a:cs typeface="Times New Roman" panose="02020603050405020304" pitchFamily="18" charset="0"/>
                          </a:rPr>
                          <m:t>𝑈</m:t>
                        </m:r>
                        <m:r>
                          <a:rPr lang="en-US" altLang="zh-CN" sz="2400">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𝑗</m:t>
                        </m:r>
                      </m:e>
                    </m:d>
                  </m:oMath>
                </a14:m>
                <a:endParaRPr lang="zh-CN" altLang="zh-CN" sz="24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400" dirty="0">
                    <a:effectLst/>
                    <a:latin typeface="宋体" panose="02010600030101010101" pitchFamily="2" charset="-122"/>
                    <a:cs typeface="Times New Roman" panose="02020603050405020304" pitchFamily="18" charset="0"/>
                  </a:rPr>
                  <a:t>则</a:t>
                </a:r>
                <a14:m>
                  <m:oMath xmlns:m="http://schemas.openxmlformats.org/officeDocument/2006/math">
                    <m:r>
                      <a:rPr lang="en-US" altLang="zh-CN" sz="2400" i="1">
                        <a:effectLst/>
                        <a:latin typeface="Cambria Math" panose="02040503050406030204" pitchFamily="18" charset="0"/>
                        <a:cs typeface="Times New Roman" panose="02020603050405020304" pitchFamily="18" charset="0"/>
                      </a:rPr>
                      <m:t>𝑋</m:t>
                    </m:r>
                    <m:r>
                      <a:rPr lang="en-US" altLang="zh-CN" sz="2400">
                        <a:effectLst/>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𝐼𝑛𝑡</m:t>
                    </m:r>
                    <m:d>
                      <m:d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b="0" i="1" smtClean="0">
                            <a:effectLst/>
                            <a:latin typeface="Cambria Math" panose="02040503050406030204" pitchFamily="18" charset="0"/>
                            <a:cs typeface="Times New Roman" panose="02020603050405020304" pitchFamily="18" charset="0"/>
                          </a:rPr>
                          <m:t>𝑚</m:t>
                        </m:r>
                        <m:r>
                          <a:rPr lang="en-US" altLang="zh-CN" sz="2400" i="1">
                            <a:effectLst/>
                            <a:latin typeface="Cambria Math" panose="02040503050406030204" pitchFamily="18" charset="0"/>
                            <a:cs typeface="Times New Roman" panose="02020603050405020304" pitchFamily="18" charset="0"/>
                          </a:rPr>
                          <m:t>𝑈</m:t>
                        </m:r>
                      </m:e>
                    </m:d>
                    <m:r>
                      <a:rPr lang="en-US" altLang="zh-CN" sz="2400">
                        <a:effectLst/>
                        <a:latin typeface="Cambria Math" panose="02040503050406030204" pitchFamily="18" charset="0"/>
                        <a:cs typeface="Times New Roman" panose="02020603050405020304" pitchFamily="18" charset="0"/>
                      </a:rPr>
                      <m:t>+</m:t>
                    </m:r>
                    <m:r>
                      <a:rPr lang="en-US" altLang="zh-CN" sz="2400" i="1">
                        <a:effectLst/>
                        <a:latin typeface="Cambria Math" panose="02040503050406030204" pitchFamily="18" charset="0"/>
                        <a:cs typeface="Times New Roman" panose="02020603050405020304" pitchFamily="18" charset="0"/>
                      </a:rPr>
                      <m:t>1</m:t>
                    </m:r>
                  </m:oMath>
                </a14:m>
                <a:endParaRPr lang="zh-CN" altLang="zh-CN" sz="2400" dirty="0">
                  <a:effectLst/>
                  <a:latin typeface="Cambria" panose="02040503050406030204" pitchFamily="18" charset="0"/>
                  <a:cs typeface="Times New Roman" panose="02020603050405020304" pitchFamily="18" charset="0"/>
                </a:endParaRPr>
              </a:p>
              <a:p>
                <a:pPr>
                  <a:spcBef>
                    <a:spcPts val="900"/>
                  </a:spcBef>
                  <a:spcAft>
                    <a:spcPts val="900"/>
                  </a:spcAft>
                </a:pPr>
                <a:r>
                  <a:rPr lang="en-US" altLang="zh-CN" sz="2400" dirty="0" err="1">
                    <a:effectLst/>
                    <a:latin typeface="宋体" panose="02010600030101010101" pitchFamily="2" charset="-122"/>
                    <a:cs typeface="Times New Roman" panose="02020603050405020304" pitchFamily="18" charset="0"/>
                  </a:rPr>
                  <a:t>其中</a:t>
                </a:r>
                <a:r>
                  <a:rPr lang="en-US" altLang="zh-CN" sz="2400" dirty="0" err="1">
                    <a:effectLst/>
                    <a:latin typeface="Cambria" panose="02040503050406030204" pitchFamily="18" charset="0"/>
                    <a:cs typeface="Times New Roman" panose="02020603050405020304" pitchFamily="18" charset="0"/>
                  </a:rPr>
                  <a:t>Int</a:t>
                </a:r>
                <a:r>
                  <a:rPr lang="en-US" altLang="zh-CN" sz="2400" dirty="0">
                    <a:effectLst/>
                    <a:latin typeface="Cambria" panose="02040503050406030204" pitchFamily="18" charset="0"/>
                    <a:cs typeface="Times New Roman" panose="02020603050405020304" pitchFamily="18" charset="0"/>
                  </a:rPr>
                  <a:t>(x)</a:t>
                </a:r>
                <a:r>
                  <a:rPr lang="en-US" altLang="zh-CN" sz="2400" dirty="0" err="1">
                    <a:effectLst/>
                    <a:latin typeface="宋体" panose="02010600030101010101" pitchFamily="2" charset="-122"/>
                    <a:cs typeface="Times New Roman" panose="02020603050405020304" pitchFamily="18" charset="0"/>
                  </a:rPr>
                  <a:t>表示取整，不大于</a:t>
                </a:r>
                <a:r>
                  <a:rPr lang="en-US" altLang="zh-CN" sz="2400" dirty="0" err="1">
                    <a:effectLst/>
                    <a:latin typeface="Cambria" panose="02040503050406030204" pitchFamily="18" charset="0"/>
                    <a:cs typeface="Times New Roman" panose="02020603050405020304" pitchFamily="18" charset="0"/>
                  </a:rPr>
                  <a:t>x</a:t>
                </a:r>
                <a:r>
                  <a:rPr lang="en-US" altLang="zh-CN" sz="2400" dirty="0" err="1">
                    <a:effectLst/>
                    <a:latin typeface="宋体" panose="02010600030101010101" pitchFamily="2" charset="-122"/>
                    <a:cs typeface="Times New Roman" panose="02020603050405020304" pitchFamily="18" charset="0"/>
                  </a:rPr>
                  <a:t>的最大整数</a:t>
                </a:r>
                <a:endParaRPr lang="zh-CN" altLang="zh-CN" sz="2400" dirty="0">
                  <a:effectLst/>
                  <a:latin typeface="Cambria" panose="020405030504060302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1EE311DE-88A8-44DC-9FA7-D1EF919D8008}"/>
                  </a:ext>
                </a:extLst>
              </p:cNvPr>
              <p:cNvSpPr txBox="1">
                <a:spLocks noRot="1" noChangeAspect="1" noMove="1" noResize="1" noEditPoints="1" noAdjustHandles="1" noChangeArrowheads="1" noChangeShapeType="1" noTextEdit="1"/>
              </p:cNvSpPr>
              <p:nvPr/>
            </p:nvSpPr>
            <p:spPr>
              <a:xfrm>
                <a:off x="2938800" y="3806633"/>
                <a:ext cx="6196167" cy="2445541"/>
              </a:xfrm>
              <a:prstGeom prst="rect">
                <a:avLst/>
              </a:prstGeom>
              <a:blipFill>
                <a:blip r:embed="rId3"/>
                <a:stretch>
                  <a:fillRect l="-1475" b="-4478"/>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0153065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6.3 (</a:t>
            </a:r>
            <a:r>
              <a:rPr lang="zh-CN" altLang="en-US" sz="3200" dirty="0">
                <a:solidFill>
                  <a:srgbClr val="FF0000"/>
                </a:solidFill>
                <a:latin typeface="Verdana" panose="020B0604030504040204" pitchFamily="34" charset="0"/>
              </a:rPr>
              <a:t>无放回抽样</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生成（</a:t>
            </a:r>
            <a:r>
              <a:rPr lang="en-US" altLang="zh-CN" sz="3200" dirty="0">
                <a:solidFill>
                  <a:srgbClr val="006699"/>
                </a:solidFill>
                <a:latin typeface="Verdana" panose="020B0604030504040204" pitchFamily="34" charset="0"/>
              </a:rPr>
              <a:t>1,2,3</a:t>
            </a:r>
            <a:r>
              <a:rPr lang="zh-CN" altLang="en-US" sz="3200" dirty="0">
                <a:solidFill>
                  <a:srgbClr val="006699"/>
                </a:solidFill>
                <a:latin typeface="Verdana" panose="020B0604030504040204" pitchFamily="34" charset="0"/>
              </a:rPr>
              <a:t>，</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）的一个随机排列。</a:t>
            </a:r>
            <a:endParaRPr lang="en-US" altLang="zh-CN" sz="3200" b="1"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66EBC57-4E59-4163-BB2F-573E1ABA003A}"/>
                  </a:ext>
                </a:extLst>
              </p:cNvPr>
              <p:cNvSpPr txBox="1"/>
              <p:nvPr/>
            </p:nvSpPr>
            <p:spPr>
              <a:xfrm>
                <a:off x="251520" y="2483895"/>
                <a:ext cx="8730970" cy="3434273"/>
              </a:xfrm>
              <a:prstGeom prst="rect">
                <a:avLst/>
              </a:prstGeom>
              <a:noFill/>
              <a:ln w="25400">
                <a:noFill/>
              </a:ln>
            </p:spPr>
            <p:txBody>
              <a:bodyPr wrap="square">
                <a:spAutoFit/>
              </a:bodyPr>
              <a:lstStyle/>
              <a:p>
                <a:pPr>
                  <a:spcBef>
                    <a:spcPts val="900"/>
                  </a:spcBef>
                  <a:spcAft>
                    <a:spcPts val="900"/>
                  </a:spcAft>
                </a:pPr>
                <a:r>
                  <a:rPr lang="en-US" altLang="zh-CN" sz="2400" dirty="0" err="1">
                    <a:effectLst/>
                    <a:latin typeface="宋体" panose="02010600030101010101" pitchFamily="2" charset="-122"/>
                    <a:ea typeface="宋体" panose="02010600030101010101" pitchFamily="2" charset="-122"/>
                    <a:cs typeface="Times New Roman" panose="02020603050405020304" pitchFamily="18" charset="0"/>
                  </a:rPr>
                  <a:t>生成随机排列的</a:t>
                </a:r>
                <a:r>
                  <a:rPr lang="en-US" altLang="zh-CN" sz="2400" b="1" dirty="0" err="1">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1:</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设</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𝑛</m:t>
                        </m:r>
                      </m:sub>
                    </m:sSub>
                  </m:oMath>
                </a14:m>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是</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1,2,..,,n</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的任一排列</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2:</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k=n.</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3:</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生成一随机数</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U,</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并设</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I=Int(</a:t>
                </a:r>
                <a:r>
                  <a:rPr lang="en-US" altLang="zh-CN" sz="2400" dirty="0" err="1">
                    <a:effectLst/>
                    <a:latin typeface="Cambria" panose="02040503050406030204" pitchFamily="18" charset="0"/>
                    <a:ea typeface="宋体" panose="02010600030101010101" pitchFamily="2" charset="-122"/>
                    <a:cs typeface="Times New Roman" panose="02020603050405020304" pitchFamily="18" charset="0"/>
                  </a:rPr>
                  <a:t>kU</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)+1.</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4:</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交换</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𝐼</m:t>
                        </m:r>
                      </m:sub>
                    </m:sSub>
                  </m:oMath>
                </a14:m>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和</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𝑘</m:t>
                        </m:r>
                      </m:sub>
                    </m:sSub>
                  </m:oMath>
                </a14:m>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5:</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k=k-1,</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k&gt;1,</a:t>
                </a: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则转至步骤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3.</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a:p>
                <a:pPr marL="342900" lvl="0" indent="-342900">
                  <a:spcAft>
                    <a:spcPts val="1000"/>
                  </a:spcAft>
                  <a:buFont typeface="Arial" panose="020B0604020202020204" pitchFamily="34" charset="0"/>
                  <a:buChar char="•"/>
                </a:pPr>
                <a:r>
                  <a:rPr lang="en-US" altLang="zh-CN" sz="24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6:</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altLang="zh-CN" sz="2400" i="1">
                            <a:effectLst/>
                            <a:latin typeface="Cambria Math" panose="02040503050406030204" pitchFamily="18" charset="0"/>
                            <a:ea typeface="宋体" panose="02010600030101010101" pitchFamily="2" charset="-122"/>
                            <a:cs typeface="Times New Roman" panose="02020603050405020304" pitchFamily="18" charset="0"/>
                          </a:rPr>
                          <m:t>𝑛</m:t>
                        </m:r>
                      </m:sub>
                    </m:sSub>
                  </m:oMath>
                </a14:m>
                <a:r>
                  <a:rPr lang="en-US" altLang="zh-CN" sz="2400" dirty="0" err="1">
                    <a:effectLst/>
                    <a:latin typeface="宋体" panose="02010600030101010101" pitchFamily="2" charset="-122"/>
                    <a:ea typeface="宋体" panose="02010600030101010101" pitchFamily="2" charset="-122"/>
                    <a:cs typeface="Times New Roman" panose="02020603050405020304" pitchFamily="18" charset="0"/>
                  </a:rPr>
                  <a:t>为所求的随机排列</a:t>
                </a:r>
                <a:r>
                  <a:rPr lang="en-US" altLang="zh-CN" sz="24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400" dirty="0">
                  <a:effectLst/>
                  <a:latin typeface="Cambria" panose="02040503050406030204" pitchFamily="18" charset="0"/>
                  <a:ea typeface="宋体" panose="0201060003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D66EBC57-4E59-4163-BB2F-573E1ABA003A}"/>
                  </a:ext>
                </a:extLst>
              </p:cNvPr>
              <p:cNvSpPr txBox="1">
                <a:spLocks noRot="1" noChangeAspect="1" noMove="1" noResize="1" noEditPoints="1" noAdjustHandles="1" noChangeArrowheads="1" noChangeShapeType="1" noTextEdit="1"/>
              </p:cNvSpPr>
              <p:nvPr/>
            </p:nvSpPr>
            <p:spPr>
              <a:xfrm>
                <a:off x="251520" y="2483895"/>
                <a:ext cx="8730970" cy="3434273"/>
              </a:xfrm>
              <a:prstGeom prst="rect">
                <a:avLst/>
              </a:prstGeom>
              <a:blipFill>
                <a:blip r:embed="rId2"/>
                <a:stretch>
                  <a:fillRect l="-1047" t="-1950" b="-3014"/>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28004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19" y="1178750"/>
            <a:ext cx="8595955" cy="2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6.4 (</a:t>
            </a:r>
            <a:r>
              <a:rPr lang="zh-CN" altLang="en-US" sz="3200" dirty="0">
                <a:solidFill>
                  <a:srgbClr val="FF0000"/>
                </a:solidFill>
                <a:latin typeface="Verdana" panose="020B0604030504040204" pitchFamily="34" charset="0"/>
              </a:rPr>
              <a:t>几何分布随机数</a:t>
            </a:r>
            <a:r>
              <a:rPr lang="en-US" altLang="zh-CN" sz="3200" dirty="0">
                <a:solidFill>
                  <a:srgbClr val="006699"/>
                </a:solidFill>
                <a:latin typeface="Verdana" panose="020B0604030504040204" pitchFamily="34" charset="0"/>
              </a:rPr>
              <a:t>)</a:t>
            </a:r>
          </a:p>
          <a:p>
            <a:pPr marL="0" indent="0" eaLnBrk="1" hangingPunct="1">
              <a:spcBef>
                <a:spcPct val="20000"/>
              </a:spcBef>
            </a:pPr>
            <a:r>
              <a:rPr lang="zh-CN" altLang="en-US" sz="3200" dirty="0">
                <a:solidFill>
                  <a:srgbClr val="006699"/>
                </a:solidFill>
                <a:latin typeface="Verdana" panose="020B0604030504040204" pitchFamily="34" charset="0"/>
              </a:rPr>
              <a:t>设随机变量</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表示在成功概率为</a:t>
            </a:r>
            <a:r>
              <a:rPr lang="en-US" altLang="zh-CN" sz="3200" dirty="0">
                <a:solidFill>
                  <a:srgbClr val="006699"/>
                </a:solidFill>
                <a:latin typeface="Verdana" panose="020B0604030504040204" pitchFamily="34" charset="0"/>
              </a:rPr>
              <a:t>p(0&lt;p&lt;1)</a:t>
            </a:r>
            <a:r>
              <a:rPr lang="zh-CN" altLang="en-US" sz="3200" dirty="0">
                <a:solidFill>
                  <a:srgbClr val="006699"/>
                </a:solidFill>
                <a:latin typeface="Verdana" panose="020B0604030504040204" pitchFamily="34" charset="0"/>
              </a:rPr>
              <a:t>的独立重复试验中首次成功所需的试验次数， </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则</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的概率分布为</a:t>
            </a:r>
            <a:endParaRPr lang="en-US" altLang="zh-CN" sz="3200" b="1"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3D896F24-18F7-482C-B576-B7C53E287BA0}"/>
                  </a:ext>
                </a:extLst>
              </p:cNvPr>
              <p:cNvSpPr/>
              <p:nvPr/>
            </p:nvSpPr>
            <p:spPr>
              <a:xfrm>
                <a:off x="791580" y="3541424"/>
                <a:ext cx="6900543" cy="5786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800" i="1">
                              <a:latin typeface="Cambria Math" panose="02040503050406030204" pitchFamily="18" charset="0"/>
                            </a:rPr>
                          </m:ctrlPr>
                        </m:mPr>
                        <m:mr>
                          <m:e>
                            <m:d>
                              <m:dPr>
                                <m:begChr m:val=""/>
                                <m:ctrlPr>
                                  <a:rPr lang="zh-CN" altLang="en-US" sz="2800" i="1">
                                    <a:latin typeface="Cambria Math" panose="02040503050406030204" pitchFamily="18" charset="0"/>
                                  </a:rPr>
                                </m:ctrlPr>
                              </m:dPr>
                              <m:e>
                                <m:r>
                                  <a:rPr lang="zh-CN" altLang="en-US" sz="2800" i="1">
                                    <a:latin typeface="Cambria Math" panose="02040503050406030204" pitchFamily="18" charset="0"/>
                                  </a:rPr>
                                  <m:t>𝑃</m:t>
                                </m:r>
                                <m:r>
                                  <a:rPr lang="zh-CN" altLang="en-US" sz="2800" i="0">
                                    <a:latin typeface="Cambria Math" panose="02040503050406030204" pitchFamily="18" charset="0"/>
                                  </a:rPr>
                                  <m:t>(</m:t>
                                </m:r>
                                <m:r>
                                  <a:rPr lang="zh-CN" altLang="en-US" sz="2800" i="1">
                                    <a:latin typeface="Cambria Math" panose="02040503050406030204" pitchFamily="18" charset="0"/>
                                  </a:rPr>
                                  <m:t>𝑋</m:t>
                                </m:r>
                                <m:r>
                                  <a:rPr lang="zh-CN" altLang="en-US" sz="2800" i="0">
                                    <a:latin typeface="Cambria Math" panose="02040503050406030204" pitchFamily="18" charset="0"/>
                                  </a:rPr>
                                  <m:t>=</m:t>
                                </m:r>
                                <m:r>
                                  <a:rPr lang="zh-CN" altLang="en-US" sz="2800" i="1">
                                    <a:latin typeface="Cambria Math" panose="02040503050406030204" pitchFamily="18" charset="0"/>
                                  </a:rPr>
                                  <m:t>𝑘</m:t>
                                </m:r>
                                <m:r>
                                  <a:rPr lang="zh-CN" altLang="en-US" sz="2800" i="0">
                                    <a:latin typeface="Cambria Math" panose="02040503050406030204" pitchFamily="18" charset="0"/>
                                  </a:rPr>
                                  <m:t>)=</m:t>
                                </m:r>
                                <m:r>
                                  <a:rPr lang="zh-CN" altLang="en-US" sz="2800" i="1">
                                    <a:latin typeface="Cambria Math" panose="02040503050406030204" pitchFamily="18" charset="0"/>
                                  </a:rPr>
                                  <m:t>𝑝</m:t>
                                </m:r>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𝑞</m:t>
                                    </m:r>
                                  </m:e>
                                  <m:sup>
                                    <m:r>
                                      <a:rPr lang="zh-CN" altLang="en-US" sz="2800" i="1">
                                        <a:latin typeface="Cambria Math" panose="02040503050406030204" pitchFamily="18" charset="0"/>
                                      </a:rPr>
                                      <m:t>𝑘</m:t>
                                    </m:r>
                                    <m:r>
                                      <a:rPr lang="zh-CN" altLang="en-US" sz="2800" i="0">
                                        <a:latin typeface="Cambria Math" panose="02040503050406030204" pitchFamily="18" charset="0"/>
                                      </a:rPr>
                                      <m:t>−1</m:t>
                                    </m:r>
                                  </m:sup>
                                </m:sSup>
                                <m:r>
                                  <a:rPr lang="zh-CN" altLang="en-US" sz="2800" i="0">
                                    <a:latin typeface="Cambria Math" panose="02040503050406030204" pitchFamily="18" charset="0"/>
                                  </a:rPr>
                                  <m:t>,</m:t>
                                </m:r>
                                <m:r>
                                  <a:rPr lang="zh-CN" altLang="en-US" sz="2800" i="1">
                                    <a:latin typeface="Cambria Math" panose="02040503050406030204" pitchFamily="18" charset="0"/>
                                  </a:rPr>
                                  <m:t>𝑘</m:t>
                                </m:r>
                                <m:r>
                                  <a:rPr lang="zh-CN" altLang="en-US" sz="2800" i="0">
                                    <a:latin typeface="Cambria Math" panose="02040503050406030204" pitchFamily="18" charset="0"/>
                                  </a:rPr>
                                  <m:t>=1,2,…,</m:t>
                                </m:r>
                                <m:r>
                                  <m:rPr>
                                    <m:nor/>
                                  </m:rPr>
                                  <a:rPr lang="zh-CN" altLang="en-US" sz="2800" i="1">
                                    <a:latin typeface="Cambria Math" panose="02040503050406030204" pitchFamily="18" charset="0"/>
                                  </a:rPr>
                                  <m:t> </m:t>
                                </m:r>
                                <m:r>
                                  <a:rPr lang="zh-CN" altLang="en-US" sz="2800" i="0">
                                    <a:latin typeface="Cambria Math" panose="02040503050406030204" pitchFamily="18" charset="0"/>
                                  </a:rPr>
                                  <m:t>(</m:t>
                                </m:r>
                                <m:r>
                                  <a:rPr lang="zh-CN" altLang="en-US" sz="2800" i="1">
                                    <a:latin typeface="Cambria Math" panose="02040503050406030204" pitchFamily="18" charset="0"/>
                                  </a:rPr>
                                  <m:t>𝑞</m:t>
                                </m:r>
                                <m:r>
                                  <a:rPr lang="zh-CN" altLang="en-US" sz="2800" i="0">
                                    <a:latin typeface="Cambria Math" panose="02040503050406030204" pitchFamily="18" charset="0"/>
                                  </a:rPr>
                                  <m:t>=1−</m:t>
                                </m:r>
                                <m:r>
                                  <a:rPr lang="zh-CN" altLang="en-US" sz="2800" i="1">
                                    <a:latin typeface="Cambria Math" panose="02040503050406030204" pitchFamily="18" charset="0"/>
                                  </a:rPr>
                                  <m:t>𝑝</m:t>
                                </m:r>
                              </m:e>
                            </m:d>
                          </m:e>
                        </m:mr>
                      </m:m>
                    </m:oMath>
                  </m:oMathPara>
                </a14:m>
                <a:endParaRPr lang="zh-CN" altLang="en-US" sz="2800" dirty="0"/>
              </a:p>
            </p:txBody>
          </p:sp>
        </mc:Choice>
        <mc:Fallback xmlns="">
          <p:sp>
            <p:nvSpPr>
              <p:cNvPr id="3" name="矩形 2">
                <a:extLst>
                  <a:ext uri="{FF2B5EF4-FFF2-40B4-BE49-F238E27FC236}">
                    <a16:creationId xmlns:a16="http://schemas.microsoft.com/office/drawing/2014/main" id="{3D896F24-18F7-482C-B576-B7C53E287BA0}"/>
                  </a:ext>
                </a:extLst>
              </p:cNvPr>
              <p:cNvSpPr>
                <a:spLocks noRot="1" noChangeAspect="1" noMove="1" noResize="1" noEditPoints="1" noAdjustHandles="1" noChangeArrowheads="1" noChangeShapeType="1" noTextEdit="1"/>
              </p:cNvSpPr>
              <p:nvPr/>
            </p:nvSpPr>
            <p:spPr>
              <a:xfrm>
                <a:off x="791580" y="3541424"/>
                <a:ext cx="6900543" cy="578685"/>
              </a:xfrm>
              <a:prstGeom prst="rect">
                <a:avLst/>
              </a:prstGeom>
              <a:blipFill>
                <a:blip r:embed="rId2"/>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3230F67-606B-4AF8-B795-06405A71FD69}"/>
              </a:ext>
            </a:extLst>
          </p:cNvPr>
          <p:cNvSpPr/>
          <p:nvPr/>
        </p:nvSpPr>
        <p:spPr>
          <a:xfrm>
            <a:off x="386535" y="4305210"/>
            <a:ext cx="4451860" cy="584775"/>
          </a:xfrm>
          <a:prstGeom prst="rect">
            <a:avLst/>
          </a:prstGeom>
        </p:spPr>
        <p:txBody>
          <a:bodyPr wrap="none">
            <a:spAutoFit/>
          </a:bodyPr>
          <a:lstStyle/>
          <a:p>
            <a:r>
              <a:rPr lang="zh-CN" altLang="en-US" sz="3200" dirty="0">
                <a:solidFill>
                  <a:srgbClr val="006699"/>
                </a:solidFill>
                <a:latin typeface="Verdana" panose="020B0604030504040204" pitchFamily="34" charset="0"/>
              </a:rPr>
              <a:t>称</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服从几何分布</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记为</a:t>
            </a:r>
            <a:endParaRPr lang="zh-CN" altLang="en-US" dirty="0"/>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835DB050-85C0-4863-A240-1627614BE45F}"/>
                  </a:ext>
                </a:extLst>
              </p:cNvPr>
              <p:cNvSpPr/>
              <p:nvPr/>
            </p:nvSpPr>
            <p:spPr>
              <a:xfrm>
                <a:off x="2075617" y="5139734"/>
                <a:ext cx="216623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2800" i="1">
                              <a:latin typeface="Cambria Math" panose="02040503050406030204" pitchFamily="18" charset="0"/>
                            </a:rPr>
                          </m:ctrlPr>
                        </m:dPr>
                        <m:e>
                          <m:r>
                            <a:rPr lang="zh-CN" altLang="en-US" sz="2800" i="1">
                              <a:latin typeface="Cambria Math" panose="02040503050406030204" pitchFamily="18" charset="0"/>
                            </a:rPr>
                            <m:t>𝑋</m:t>
                          </m:r>
                          <m:r>
                            <a:rPr lang="zh-CN" altLang="en-US" sz="2800" i="0">
                              <a:latin typeface="Cambria Math" panose="02040503050406030204" pitchFamily="18" charset="0"/>
                            </a:rPr>
                            <m:t>~</m:t>
                          </m:r>
                          <m:r>
                            <m:rPr>
                              <m:nor/>
                            </m:rPr>
                            <a:rPr lang="zh-CN" altLang="en-US" sz="2800" i="1">
                              <a:latin typeface="Cambria Math" panose="02040503050406030204" pitchFamily="18" charset="0"/>
                            </a:rPr>
                            <m:t>Geom</m:t>
                          </m:r>
                          <m:r>
                            <a:rPr lang="zh-CN" altLang="en-US" sz="2800" i="0">
                              <a:latin typeface="Cambria Math" panose="02040503050406030204" pitchFamily="18" charset="0"/>
                            </a:rPr>
                            <m:t>(</m:t>
                          </m:r>
                          <m:r>
                            <a:rPr lang="zh-CN" altLang="en-US" sz="2800" i="1">
                              <a:latin typeface="Cambria Math" panose="02040503050406030204" pitchFamily="18" charset="0"/>
                            </a:rPr>
                            <m:t>𝑝</m:t>
                          </m:r>
                        </m:e>
                      </m:d>
                    </m:oMath>
                  </m:oMathPara>
                </a14:m>
                <a:endParaRPr lang="zh-CN" altLang="en-US" sz="2800" dirty="0"/>
              </a:p>
            </p:txBody>
          </p:sp>
        </mc:Choice>
        <mc:Fallback xmlns="">
          <p:sp>
            <p:nvSpPr>
              <p:cNvPr id="5" name="矩形 4">
                <a:extLst>
                  <a:ext uri="{FF2B5EF4-FFF2-40B4-BE49-F238E27FC236}">
                    <a16:creationId xmlns:a16="http://schemas.microsoft.com/office/drawing/2014/main" id="{835DB050-85C0-4863-A240-1627614BE45F}"/>
                  </a:ext>
                </a:extLst>
              </p:cNvPr>
              <p:cNvSpPr>
                <a:spLocks noRot="1" noChangeAspect="1" noMove="1" noResize="1" noEditPoints="1" noAdjustHandles="1" noChangeArrowheads="1" noChangeShapeType="1" noTextEdit="1"/>
              </p:cNvSpPr>
              <p:nvPr/>
            </p:nvSpPr>
            <p:spPr>
              <a:xfrm>
                <a:off x="2075617" y="5139734"/>
                <a:ext cx="2166234" cy="523220"/>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626257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19" y="1178750"/>
            <a:ext cx="85959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6.4 (</a:t>
            </a:r>
            <a:r>
              <a:rPr lang="zh-CN" altLang="en-US" sz="3200" dirty="0">
                <a:solidFill>
                  <a:srgbClr val="006699"/>
                </a:solidFill>
                <a:latin typeface="Verdana" panose="020B0604030504040204" pitchFamily="34" charset="0"/>
              </a:rPr>
              <a:t>几何分布随机数</a:t>
            </a:r>
            <a:r>
              <a:rPr lang="en-US" altLang="zh-CN" sz="3200" dirty="0">
                <a:solidFill>
                  <a:srgbClr val="006699"/>
                </a:solidFill>
                <a:latin typeface="Verdana" panose="020B0604030504040204" pitchFamily="34" charset="0"/>
              </a:rPr>
              <a:t>)</a:t>
            </a:r>
          </a:p>
        </p:txBody>
      </p:sp>
      <p:sp>
        <p:nvSpPr>
          <p:cNvPr id="4" name="矩形 3">
            <a:extLst>
              <a:ext uri="{FF2B5EF4-FFF2-40B4-BE49-F238E27FC236}">
                <a16:creationId xmlns:a16="http://schemas.microsoft.com/office/drawing/2014/main" id="{53230F67-606B-4AF8-B795-06405A71FD69}"/>
              </a:ext>
            </a:extLst>
          </p:cNvPr>
          <p:cNvSpPr/>
          <p:nvPr/>
        </p:nvSpPr>
        <p:spPr>
          <a:xfrm>
            <a:off x="244446" y="1937024"/>
            <a:ext cx="4713150" cy="4524315"/>
          </a:xfrm>
          <a:prstGeom prst="rect">
            <a:avLst/>
          </a:prstGeom>
        </p:spPr>
        <p:txBody>
          <a:bodyPr wrap="none">
            <a:spAutoFit/>
          </a:bodyPr>
          <a:lstStyle/>
          <a:p>
            <a:r>
              <a:rPr lang="zh-CN" altLang="en-US" sz="3200" dirty="0">
                <a:solidFill>
                  <a:srgbClr val="006699"/>
                </a:solidFill>
                <a:latin typeface="Verdana" panose="020B0604030504040204" pitchFamily="34" charset="0"/>
              </a:rPr>
              <a:t>分布函数</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令</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FF0000"/>
                </a:solidFill>
                <a:latin typeface="Verdana" panose="020B0604030504040204" pitchFamily="34" charset="0"/>
              </a:rPr>
              <a:t>生成</a:t>
            </a:r>
            <a:r>
              <a:rPr lang="en-US" altLang="zh-CN" sz="3200" dirty="0">
                <a:solidFill>
                  <a:srgbClr val="FF0000"/>
                </a:solidFill>
                <a:latin typeface="Verdana" panose="020B0604030504040204" pitchFamily="34" charset="0"/>
              </a:rPr>
              <a:t>X</a:t>
            </a:r>
            <a:r>
              <a:rPr lang="zh-CN" altLang="en-US" sz="3200" dirty="0">
                <a:solidFill>
                  <a:srgbClr val="FF0000"/>
                </a:solidFill>
                <a:latin typeface="Verdana" panose="020B0604030504040204" pitchFamily="34" charset="0"/>
              </a:rPr>
              <a:t>的方法</a:t>
            </a:r>
            <a:r>
              <a:rPr lang="zh-CN" altLang="en-US" sz="3200" dirty="0">
                <a:solidFill>
                  <a:srgbClr val="006699"/>
                </a:solidFill>
                <a:latin typeface="Verdana" panose="020B0604030504040204" pitchFamily="34" charset="0"/>
              </a:rPr>
              <a:t>为当且仅当</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时取</a:t>
            </a:r>
            <a:r>
              <a:rPr lang="en-US" altLang="zh-CN" sz="3200" dirty="0">
                <a:solidFill>
                  <a:srgbClr val="006699"/>
                </a:solidFill>
                <a:latin typeface="Verdana" panose="020B0604030504040204" pitchFamily="34" charset="0"/>
              </a:rPr>
              <a:t>X=k</a:t>
            </a:r>
            <a:r>
              <a:rPr lang="zh-CN" altLang="en-US" sz="3200" dirty="0">
                <a:solidFill>
                  <a:srgbClr val="006699"/>
                </a:solidFill>
                <a:latin typeface="Verdana" panose="020B0604030504040204" pitchFamily="34" charset="0"/>
              </a:rPr>
              <a:t>， </a:t>
            </a:r>
            <a:r>
              <a:rPr lang="en-US" altLang="zh-CN" sz="3200" dirty="0">
                <a:solidFill>
                  <a:srgbClr val="006699"/>
                </a:solidFill>
                <a:latin typeface="Verdana" panose="020B0604030504040204" pitchFamily="34" charset="0"/>
              </a:rPr>
              <a:t>k=1,2, …</a:t>
            </a:r>
            <a:r>
              <a:rPr lang="zh-CN" altLang="en-US" sz="3200" dirty="0">
                <a:solidFill>
                  <a:srgbClr val="006699"/>
                </a:solidFill>
                <a:latin typeface="Verdana" panose="020B0604030504040204" pitchFamily="34" charset="0"/>
              </a:rPr>
              <a:t>。</a:t>
            </a:r>
          </a:p>
          <a:p>
            <a:endParaRPr lang="zh-CN" altLang="en-US"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此条件等价于</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FBB627A-F696-475E-8A83-1641400A1B90}"/>
                  </a:ext>
                </a:extLst>
              </p:cNvPr>
              <p:cNvSpPr/>
              <p:nvPr/>
            </p:nvSpPr>
            <p:spPr>
              <a:xfrm>
                <a:off x="2146079" y="1928175"/>
                <a:ext cx="4851841" cy="5936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3200" i="1">
                          <a:latin typeface="Cambria Math" panose="02040503050406030204" pitchFamily="18" charset="0"/>
                        </a:rPr>
                        <m:t>𝐹</m:t>
                      </m:r>
                      <m:r>
                        <a:rPr lang="zh-CN" altLang="en-US" sz="3200" i="0">
                          <a:latin typeface="Cambria Math" panose="02040503050406030204" pitchFamily="18" charset="0"/>
                        </a:rPr>
                        <m:t>(</m:t>
                      </m:r>
                      <m:r>
                        <a:rPr lang="zh-CN" altLang="en-US" sz="3200" i="1">
                          <a:latin typeface="Cambria Math" panose="02040503050406030204" pitchFamily="18" charset="0"/>
                        </a:rPr>
                        <m:t>𝑘</m:t>
                      </m:r>
                      <m:r>
                        <a:rPr lang="zh-CN" altLang="en-US" sz="3200" i="0">
                          <a:latin typeface="Cambria Math" panose="02040503050406030204" pitchFamily="18" charset="0"/>
                        </a:rPr>
                        <m:t>)=1−</m:t>
                      </m:r>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𝑞</m:t>
                          </m:r>
                        </m:e>
                        <m:sup>
                          <m:r>
                            <a:rPr lang="zh-CN" altLang="en-US" sz="3200" i="1">
                              <a:latin typeface="Cambria Math" panose="02040503050406030204" pitchFamily="18" charset="0"/>
                            </a:rPr>
                            <m:t>𝑘</m:t>
                          </m:r>
                        </m:sup>
                      </m:sSup>
                      <m:r>
                        <a:rPr lang="zh-CN" altLang="en-US" sz="3200" i="0">
                          <a:latin typeface="Cambria Math" panose="02040503050406030204" pitchFamily="18" charset="0"/>
                        </a:rPr>
                        <m:t>,</m:t>
                      </m:r>
                      <m:r>
                        <m:rPr>
                          <m:nor/>
                        </m:rPr>
                        <a:rPr lang="zh-CN" altLang="en-US" sz="3200" i="1">
                          <a:latin typeface="Cambria Math" panose="02040503050406030204" pitchFamily="18" charset="0"/>
                        </a:rPr>
                        <m:t> </m:t>
                      </m:r>
                      <m:r>
                        <a:rPr lang="zh-CN" altLang="en-US" sz="3200" i="1">
                          <a:latin typeface="Cambria Math" panose="02040503050406030204" pitchFamily="18" charset="0"/>
                        </a:rPr>
                        <m:t>𝑘</m:t>
                      </m:r>
                      <m:r>
                        <a:rPr lang="zh-CN" altLang="en-US" sz="3200" i="0">
                          <a:latin typeface="Cambria Math" panose="02040503050406030204" pitchFamily="18" charset="0"/>
                        </a:rPr>
                        <m:t>=1,2,…</m:t>
                      </m:r>
                    </m:oMath>
                  </m:oMathPara>
                </a14:m>
                <a:endParaRPr lang="zh-CN" altLang="en-US" sz="3200" dirty="0"/>
              </a:p>
            </p:txBody>
          </p:sp>
        </mc:Choice>
        <mc:Fallback xmlns="">
          <p:sp>
            <p:nvSpPr>
              <p:cNvPr id="2" name="矩形 1">
                <a:extLst>
                  <a:ext uri="{FF2B5EF4-FFF2-40B4-BE49-F238E27FC236}">
                    <a16:creationId xmlns:a16="http://schemas.microsoft.com/office/drawing/2014/main" id="{1FBB627A-F696-475E-8A83-1641400A1B90}"/>
                  </a:ext>
                </a:extLst>
              </p:cNvPr>
              <p:cNvSpPr>
                <a:spLocks noRot="1" noChangeAspect="1" noMove="1" noResize="1" noEditPoints="1" noAdjustHandles="1" noChangeArrowheads="1" noChangeShapeType="1" noTextEdit="1"/>
              </p:cNvSpPr>
              <p:nvPr/>
            </p:nvSpPr>
            <p:spPr>
              <a:xfrm>
                <a:off x="2146079" y="1928175"/>
                <a:ext cx="4851841" cy="59362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1646F1B-F02C-492E-AB65-BD3AC6EA8729}"/>
                  </a:ext>
                </a:extLst>
              </p:cNvPr>
              <p:cNvSpPr/>
              <p:nvPr/>
            </p:nvSpPr>
            <p:spPr>
              <a:xfrm>
                <a:off x="2317086" y="2844225"/>
                <a:ext cx="2254913"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3200" i="1">
                              <a:latin typeface="Cambria Math" panose="02040503050406030204" pitchFamily="18" charset="0"/>
                            </a:rPr>
                          </m:ctrlPr>
                        </m:dPr>
                        <m:e>
                          <m:r>
                            <a:rPr lang="zh-CN" altLang="en-US" sz="3200" i="1">
                              <a:latin typeface="Cambria Math" panose="02040503050406030204" pitchFamily="18" charset="0"/>
                            </a:rPr>
                            <m:t>𝑈</m:t>
                          </m:r>
                          <m:r>
                            <a:rPr lang="zh-CN" altLang="en-US" sz="3200" i="0">
                              <a:latin typeface="Cambria Math" panose="02040503050406030204" pitchFamily="18" charset="0"/>
                            </a:rPr>
                            <m:t>∼</m:t>
                          </m:r>
                          <m:r>
                            <m:rPr>
                              <m:nor/>
                            </m:rPr>
                            <a:rPr lang="zh-CN" altLang="en-US" sz="3200" i="1">
                              <a:latin typeface="Cambria Math" panose="02040503050406030204" pitchFamily="18" charset="0"/>
                            </a:rPr>
                            <m:t>U</m:t>
                          </m:r>
                          <m:r>
                            <a:rPr lang="zh-CN" altLang="en-US" sz="3200" i="0">
                              <a:latin typeface="Cambria Math" panose="02040503050406030204" pitchFamily="18" charset="0"/>
                            </a:rPr>
                            <m:t>(0,1</m:t>
                          </m:r>
                        </m:e>
                      </m:d>
                    </m:oMath>
                  </m:oMathPara>
                </a14:m>
                <a:endParaRPr lang="zh-CN" altLang="en-US" sz="3200" dirty="0"/>
              </a:p>
            </p:txBody>
          </p:sp>
        </mc:Choice>
        <mc:Fallback xmlns="">
          <p:sp>
            <p:nvSpPr>
              <p:cNvPr id="8" name="矩形 7">
                <a:extLst>
                  <a:ext uri="{FF2B5EF4-FFF2-40B4-BE49-F238E27FC236}">
                    <a16:creationId xmlns:a16="http://schemas.microsoft.com/office/drawing/2014/main" id="{11646F1B-F02C-492E-AB65-BD3AC6EA8729}"/>
                  </a:ext>
                </a:extLst>
              </p:cNvPr>
              <p:cNvSpPr>
                <a:spLocks noRot="1" noChangeAspect="1" noMove="1" noResize="1" noEditPoints="1" noAdjustHandles="1" noChangeArrowheads="1" noChangeShapeType="1" noTextEdit="1"/>
              </p:cNvSpPr>
              <p:nvPr/>
            </p:nvSpPr>
            <p:spPr>
              <a:xfrm>
                <a:off x="2317086" y="2844225"/>
                <a:ext cx="2254913"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EC6C8C88-63C1-483D-B242-1A0EE9A2DC86}"/>
                  </a:ext>
                </a:extLst>
              </p:cNvPr>
              <p:cNvSpPr/>
              <p:nvPr/>
            </p:nvSpPr>
            <p:spPr>
              <a:xfrm>
                <a:off x="4797025" y="3805287"/>
                <a:ext cx="3842911" cy="5309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a:latin typeface="Cambria Math" panose="02040503050406030204" pitchFamily="18" charset="0"/>
                        </a:rPr>
                        <m:t>1</m:t>
                      </m:r>
                      <m:r>
                        <a:rPr lang="zh-CN" altLang="en-US" sz="2800" i="0">
                          <a:latin typeface="Cambria Math" panose="02040503050406030204" pitchFamily="18" charset="0"/>
                        </a:rPr>
                        <m:t>−</m:t>
                      </m:r>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𝑞</m:t>
                          </m:r>
                        </m:e>
                        <m:sup>
                          <m:r>
                            <a:rPr lang="zh-CN" altLang="en-US" sz="2800" i="1">
                              <a:latin typeface="Cambria Math" panose="02040503050406030204" pitchFamily="18" charset="0"/>
                            </a:rPr>
                            <m:t>𝑘</m:t>
                          </m:r>
                          <m:r>
                            <a:rPr lang="zh-CN" altLang="en-US" sz="2800" i="0">
                              <a:latin typeface="Cambria Math" panose="02040503050406030204" pitchFamily="18" charset="0"/>
                            </a:rPr>
                            <m:t>−1</m:t>
                          </m:r>
                        </m:sup>
                      </m:sSup>
                      <m:r>
                        <a:rPr lang="zh-CN" altLang="en-US" sz="2800" i="0">
                          <a:latin typeface="Cambria Math" panose="02040503050406030204" pitchFamily="18" charset="0"/>
                        </a:rPr>
                        <m:t>&lt;</m:t>
                      </m:r>
                      <m:r>
                        <a:rPr lang="zh-CN" altLang="en-US" sz="2800" i="1">
                          <a:latin typeface="Cambria Math" panose="02040503050406030204" pitchFamily="18" charset="0"/>
                        </a:rPr>
                        <m:t>𝑈</m:t>
                      </m:r>
                      <m:r>
                        <a:rPr lang="zh-CN" altLang="en-US" sz="2800" i="0">
                          <a:latin typeface="Cambria Math" panose="02040503050406030204" pitchFamily="18" charset="0"/>
                        </a:rPr>
                        <m:t>≤1−</m:t>
                      </m:r>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𝑞</m:t>
                          </m:r>
                        </m:e>
                        <m:sup>
                          <m:r>
                            <a:rPr lang="zh-CN" altLang="en-US" sz="2800" i="1">
                              <a:latin typeface="Cambria Math" panose="02040503050406030204" pitchFamily="18" charset="0"/>
                            </a:rPr>
                            <m:t>𝑘</m:t>
                          </m:r>
                        </m:sup>
                      </m:sSup>
                    </m:oMath>
                  </m:oMathPara>
                </a14:m>
                <a:endParaRPr lang="zh-CN" altLang="en-US" sz="2800" dirty="0"/>
              </a:p>
            </p:txBody>
          </p:sp>
        </mc:Choice>
        <mc:Fallback xmlns="">
          <p:sp>
            <p:nvSpPr>
              <p:cNvPr id="9" name="矩形 8">
                <a:extLst>
                  <a:ext uri="{FF2B5EF4-FFF2-40B4-BE49-F238E27FC236}">
                    <a16:creationId xmlns:a16="http://schemas.microsoft.com/office/drawing/2014/main" id="{EC6C8C88-63C1-483D-B242-1A0EE9A2DC86}"/>
                  </a:ext>
                </a:extLst>
              </p:cNvPr>
              <p:cNvSpPr>
                <a:spLocks noRot="1" noChangeAspect="1" noMove="1" noResize="1" noEditPoints="1" noAdjustHandles="1" noChangeArrowheads="1" noChangeShapeType="1" noTextEdit="1"/>
              </p:cNvSpPr>
              <p:nvPr/>
            </p:nvSpPr>
            <p:spPr>
              <a:xfrm>
                <a:off x="4797025" y="3805287"/>
                <a:ext cx="3842911" cy="53091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91E50BE3-B224-4632-A0EA-0B672AB3A61E}"/>
                  </a:ext>
                </a:extLst>
              </p:cNvPr>
              <p:cNvSpPr/>
              <p:nvPr/>
            </p:nvSpPr>
            <p:spPr>
              <a:xfrm>
                <a:off x="3069724" y="5617470"/>
                <a:ext cx="3648756" cy="5885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200" i="1">
                              <a:latin typeface="Cambria Math" panose="02040503050406030204" pitchFamily="18" charset="0"/>
                            </a:rPr>
                          </m:ctrlPr>
                        </m:mPr>
                        <m:mr>
                          <m:e>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𝑞</m:t>
                                </m:r>
                              </m:e>
                              <m:sup>
                                <m:r>
                                  <a:rPr lang="zh-CN" altLang="en-US" sz="3200" i="1">
                                    <a:latin typeface="Cambria Math" panose="02040503050406030204" pitchFamily="18" charset="0"/>
                                  </a:rPr>
                                  <m:t>𝑘</m:t>
                                </m:r>
                              </m:sup>
                            </m:sSup>
                            <m:r>
                              <a:rPr lang="zh-CN" altLang="en-US" sz="3200" i="0">
                                <a:latin typeface="Cambria Math" panose="02040503050406030204" pitchFamily="18" charset="0"/>
                              </a:rPr>
                              <m:t>≤1−</m:t>
                            </m:r>
                            <m:r>
                              <a:rPr lang="zh-CN" altLang="en-US" sz="3200" i="1">
                                <a:latin typeface="Cambria Math" panose="02040503050406030204" pitchFamily="18" charset="0"/>
                              </a:rPr>
                              <m:t>𝑈</m:t>
                            </m:r>
                            <m:r>
                              <a:rPr lang="zh-CN" altLang="en-US" sz="3200" i="0">
                                <a:latin typeface="Cambria Math" panose="02040503050406030204" pitchFamily="18" charset="0"/>
                              </a:rPr>
                              <m:t>&lt;</m:t>
                            </m:r>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𝑞</m:t>
                                </m:r>
                              </m:e>
                              <m:sup>
                                <m:r>
                                  <a:rPr lang="zh-CN" altLang="en-US" sz="3200" i="1">
                                    <a:latin typeface="Cambria Math" panose="02040503050406030204" pitchFamily="18" charset="0"/>
                                  </a:rPr>
                                  <m:t>𝑘</m:t>
                                </m:r>
                                <m:r>
                                  <a:rPr lang="zh-CN" altLang="en-US" sz="3200" i="0">
                                    <a:latin typeface="Cambria Math" panose="02040503050406030204" pitchFamily="18" charset="0"/>
                                  </a:rPr>
                                  <m:t>−1</m:t>
                                </m:r>
                              </m:sup>
                            </m:sSup>
                          </m:e>
                        </m:mr>
                      </m:m>
                    </m:oMath>
                  </m:oMathPara>
                </a14:m>
                <a:endParaRPr lang="zh-CN" altLang="en-US" sz="3200" dirty="0"/>
              </a:p>
            </p:txBody>
          </p:sp>
        </mc:Choice>
        <mc:Fallback xmlns="">
          <p:sp>
            <p:nvSpPr>
              <p:cNvPr id="10" name="矩形 9">
                <a:extLst>
                  <a:ext uri="{FF2B5EF4-FFF2-40B4-BE49-F238E27FC236}">
                    <a16:creationId xmlns:a16="http://schemas.microsoft.com/office/drawing/2014/main" id="{91E50BE3-B224-4632-A0EA-0B672AB3A61E}"/>
                  </a:ext>
                </a:extLst>
              </p:cNvPr>
              <p:cNvSpPr>
                <a:spLocks noRot="1" noChangeAspect="1" noMove="1" noResize="1" noEditPoints="1" noAdjustHandles="1" noChangeArrowheads="1" noChangeShapeType="1" noTextEdit="1"/>
              </p:cNvSpPr>
              <p:nvPr/>
            </p:nvSpPr>
            <p:spPr>
              <a:xfrm>
                <a:off x="3069724" y="5617470"/>
                <a:ext cx="3648756" cy="588559"/>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61359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6.4 (</a:t>
            </a:r>
            <a:r>
              <a:rPr lang="zh-CN" altLang="en-US" sz="3200" dirty="0">
                <a:solidFill>
                  <a:srgbClr val="006699"/>
                </a:solidFill>
                <a:latin typeface="Verdana" panose="020B0604030504040204" pitchFamily="34" charset="0"/>
              </a:rPr>
              <a:t>几何分布随机数</a:t>
            </a:r>
            <a:r>
              <a:rPr lang="en-US" altLang="zh-CN" sz="3200" dirty="0">
                <a:solidFill>
                  <a:srgbClr val="006699"/>
                </a:solidFill>
                <a:latin typeface="Verdana" panose="020B0604030504040204" pitchFamily="34" charset="0"/>
              </a:rPr>
              <a:t>)</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0C13584-32F9-4193-A1F8-D55D222159C3}"/>
                  </a:ext>
                </a:extLst>
              </p:cNvPr>
              <p:cNvSpPr/>
              <p:nvPr/>
            </p:nvSpPr>
            <p:spPr>
              <a:xfrm>
                <a:off x="1016605" y="1533340"/>
                <a:ext cx="5771901" cy="30489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2800" i="1">
                              <a:latin typeface="Cambria Math" panose="02040503050406030204" pitchFamily="18" charset="0"/>
                            </a:rPr>
                          </m:ctrlPr>
                        </m:mPr>
                        <m:mr>
                          <m:e>
                            <m:r>
                              <a:rPr lang="zh-CN" altLang="en-US" sz="2800" i="1">
                                <a:latin typeface="Cambria Math" panose="02040503050406030204" pitchFamily="18" charset="0"/>
                              </a:rPr>
                              <m:t>𝑋</m:t>
                            </m:r>
                            <m:r>
                              <a:rPr lang="zh-CN" altLang="en-US" sz="2800" i="0">
                                <a:latin typeface="Cambria Math" panose="02040503050406030204" pitchFamily="18" charset="0"/>
                              </a:rPr>
                              <m:t>=</m:t>
                            </m:r>
                          </m:e>
                          <m:e>
                            <m:d>
                              <m:dPr>
                                <m:begChr m:val=""/>
                                <m:end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min</m:t>
                                </m:r>
                                <m:r>
                                  <a:rPr lang="zh-CN" altLang="en-US" sz="2800" i="0">
                                    <a:latin typeface="Cambria Math" panose="02040503050406030204" pitchFamily="18" charset="0"/>
                                  </a:rPr>
                                  <m:t>{</m:t>
                                </m:r>
                                <m:r>
                                  <a:rPr lang="zh-CN" altLang="en-US" sz="2800" i="1">
                                    <a:latin typeface="Cambria Math" panose="02040503050406030204" pitchFamily="18" charset="0"/>
                                  </a:rPr>
                                  <m:t>𝑘</m:t>
                                </m:r>
                                <m:r>
                                  <a:rPr lang="zh-CN" altLang="en-US" sz="2800" i="0">
                                    <a:latin typeface="Cambria Math" panose="02040503050406030204" pitchFamily="18" charset="0"/>
                                  </a:rPr>
                                  <m:t>:</m:t>
                                </m:r>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𝑞</m:t>
                                    </m:r>
                                  </m:e>
                                  <m:sup>
                                    <m:r>
                                      <a:rPr lang="zh-CN" altLang="en-US" sz="2800" i="1">
                                        <a:latin typeface="Cambria Math" panose="02040503050406030204" pitchFamily="18" charset="0"/>
                                      </a:rPr>
                                      <m:t>𝑘</m:t>
                                    </m:r>
                                  </m:sup>
                                </m:sSup>
                                <m:r>
                                  <a:rPr lang="zh-CN" altLang="en-US" sz="2800" i="0">
                                    <a:latin typeface="Cambria Math" panose="02040503050406030204" pitchFamily="18" charset="0"/>
                                  </a:rPr>
                                  <m:t>≤1−</m:t>
                                </m:r>
                                <m:r>
                                  <a:rPr lang="zh-CN" altLang="en-US" sz="2800" i="1">
                                    <a:latin typeface="Cambria Math" panose="02040503050406030204" pitchFamily="18" charset="0"/>
                                  </a:rPr>
                                  <m:t>𝑈</m:t>
                                </m:r>
                              </m:e>
                            </m:d>
                          </m:e>
                        </m:mr>
                        <m:mr>
                          <m:e>
                            <m:r>
                              <a:rPr lang="zh-CN" altLang="en-US" sz="2800" i="0">
                                <a:latin typeface="Cambria Math" panose="02040503050406030204" pitchFamily="18" charset="0"/>
                              </a:rPr>
                              <m:t>=</m:t>
                            </m:r>
                          </m:e>
                          <m:e>
                            <m:d>
                              <m:dPr>
                                <m:begChr m:val=""/>
                                <m:end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min</m:t>
                                </m:r>
                                <m:r>
                                  <a:rPr lang="zh-CN" altLang="en-US" sz="2800" i="0">
                                    <a:latin typeface="Cambria Math" panose="02040503050406030204" pitchFamily="18" charset="0"/>
                                  </a:rPr>
                                  <m:t>{</m:t>
                                </m:r>
                                <m:r>
                                  <a:rPr lang="zh-CN" altLang="en-US" sz="2800" i="1">
                                    <a:latin typeface="Cambria Math" panose="02040503050406030204" pitchFamily="18" charset="0"/>
                                  </a:rPr>
                                  <m:t>𝑘</m:t>
                                </m:r>
                                <m:r>
                                  <a:rPr lang="zh-CN" altLang="en-US" sz="2800" i="0">
                                    <a:latin typeface="Cambria Math" panose="02040503050406030204" pitchFamily="18" charset="0"/>
                                  </a:rPr>
                                  <m:t>:</m:t>
                                </m:r>
                                <m:r>
                                  <a:rPr lang="zh-CN" altLang="en-US" sz="2800" i="1">
                                    <a:latin typeface="Cambria Math" panose="02040503050406030204" pitchFamily="18" charset="0"/>
                                  </a:rPr>
                                  <m:t>𝑘</m:t>
                                </m:r>
                                <m:r>
                                  <m:rPr>
                                    <m:sty m:val="p"/>
                                  </m:rPr>
                                  <a:rPr lang="zh-CN" altLang="en-US" sz="2800" i="0">
                                    <a:latin typeface="Cambria Math" panose="02040503050406030204" pitchFamily="18" charset="0"/>
                                  </a:rPr>
                                  <m:t>log</m:t>
                                </m:r>
                                <m:r>
                                  <a:rPr lang="zh-CN" altLang="en-US" sz="2800" i="0">
                                    <a:latin typeface="Cambria Math" panose="02040503050406030204" pitchFamily="18" charset="0"/>
                                  </a:rPr>
                                  <m:t>(</m:t>
                                </m:r>
                                <m:r>
                                  <a:rPr lang="zh-CN" altLang="en-US" sz="2800" i="1">
                                    <a:latin typeface="Cambria Math" panose="02040503050406030204" pitchFamily="18" charset="0"/>
                                  </a:rPr>
                                  <m:t>𝑞</m:t>
                                </m:r>
                                <m:r>
                                  <a:rPr lang="zh-CN" altLang="en-US" sz="2800" i="0">
                                    <a:latin typeface="Cambria Math" panose="02040503050406030204" pitchFamily="18" charset="0"/>
                                  </a:rPr>
                                  <m:t>)≤</m:t>
                                </m:r>
                                <m:r>
                                  <m:rPr>
                                    <m:sty m:val="p"/>
                                  </m:rPr>
                                  <a:rPr lang="zh-CN" altLang="en-US" sz="2800" i="0">
                                    <a:latin typeface="Cambria Math" panose="02040503050406030204" pitchFamily="18" charset="0"/>
                                  </a:rPr>
                                  <m:t>log</m:t>
                                </m:r>
                                <m:r>
                                  <a:rPr lang="zh-CN" altLang="en-US" sz="2800" i="0">
                                    <a:latin typeface="Cambria Math" panose="02040503050406030204" pitchFamily="18" charset="0"/>
                                  </a:rPr>
                                  <m:t>(1−</m:t>
                                </m:r>
                                <m:r>
                                  <a:rPr lang="zh-CN" altLang="en-US" sz="2800" i="1">
                                    <a:latin typeface="Cambria Math" panose="02040503050406030204" pitchFamily="18" charset="0"/>
                                  </a:rPr>
                                  <m:t>𝑈</m:t>
                                </m:r>
                                <m:r>
                                  <a:rPr lang="zh-CN" altLang="en-US" sz="2800" i="0">
                                    <a:latin typeface="Cambria Math" panose="02040503050406030204" pitchFamily="18" charset="0"/>
                                  </a:rPr>
                                  <m:t>)</m:t>
                                </m:r>
                              </m:e>
                            </m:d>
                          </m:e>
                        </m:mr>
                        <m:mr>
                          <m:e>
                            <m:r>
                              <a:rPr lang="zh-CN" altLang="en-US" sz="2800" i="0">
                                <a:latin typeface="Cambria Math" panose="02040503050406030204" pitchFamily="18" charset="0"/>
                              </a:rPr>
                              <m:t>=</m:t>
                            </m:r>
                          </m:e>
                          <m:e>
                            <m:d>
                              <m:dPr>
                                <m:begChr m:val=""/>
                                <m:end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min</m:t>
                                </m:r>
                                <m:r>
                                  <a:rPr lang="zh-CN" altLang="en-US" sz="2800" i="0">
                                    <a:latin typeface="Cambria Math" panose="02040503050406030204" pitchFamily="18" charset="0"/>
                                  </a:rPr>
                                  <m:t>{</m:t>
                                </m:r>
                                <m:r>
                                  <a:rPr lang="zh-CN" altLang="en-US" sz="2800" i="1">
                                    <a:latin typeface="Cambria Math" panose="02040503050406030204" pitchFamily="18" charset="0"/>
                                  </a:rPr>
                                  <m:t>𝑘</m:t>
                                </m:r>
                                <m:r>
                                  <a:rPr lang="zh-CN" altLang="en-US" sz="2800" i="0">
                                    <a:latin typeface="Cambria Math" panose="02040503050406030204" pitchFamily="18" charset="0"/>
                                  </a:rPr>
                                  <m:t>:</m:t>
                                </m:r>
                                <m:r>
                                  <a:rPr lang="zh-CN" altLang="en-US" sz="2800" i="1">
                                    <a:latin typeface="Cambria Math" panose="02040503050406030204" pitchFamily="18" charset="0"/>
                                  </a:rPr>
                                  <m:t>𝑘</m:t>
                                </m:r>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d>
                                      <m:dPr>
                                        <m:beg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log</m:t>
                                        </m:r>
                                        <m:r>
                                          <a:rPr lang="zh-CN" altLang="en-US" sz="2800" i="0">
                                            <a:latin typeface="Cambria Math" panose="02040503050406030204" pitchFamily="18" charset="0"/>
                                          </a:rPr>
                                          <m:t>(1−</m:t>
                                        </m:r>
                                        <m:r>
                                          <a:rPr lang="zh-CN" altLang="en-US" sz="2800" i="1">
                                            <a:latin typeface="Cambria Math" panose="02040503050406030204" pitchFamily="18" charset="0"/>
                                          </a:rPr>
                                          <m:t>𝑈</m:t>
                                        </m:r>
                                      </m:e>
                                    </m:d>
                                  </m:num>
                                  <m:den>
                                    <m:d>
                                      <m:dPr>
                                        <m:beg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log</m:t>
                                        </m:r>
                                        <m:r>
                                          <a:rPr lang="zh-CN" altLang="en-US" sz="2800" i="0">
                                            <a:latin typeface="Cambria Math" panose="02040503050406030204" pitchFamily="18" charset="0"/>
                                          </a:rPr>
                                          <m:t>(</m:t>
                                        </m:r>
                                        <m:r>
                                          <a:rPr lang="zh-CN" altLang="en-US" sz="2800" i="1">
                                            <a:latin typeface="Cambria Math" panose="02040503050406030204" pitchFamily="18" charset="0"/>
                                          </a:rPr>
                                          <m:t>𝑞</m:t>
                                        </m:r>
                                      </m:e>
                                    </m:d>
                                  </m:den>
                                </m:f>
                              </m:e>
                            </m:d>
                          </m:e>
                        </m:mr>
                        <m:mr>
                          <m:e>
                            <m:r>
                              <a:rPr lang="zh-CN" altLang="en-US" sz="2800" i="0">
                                <a:latin typeface="Cambria Math" panose="02040503050406030204" pitchFamily="18" charset="0"/>
                              </a:rPr>
                              <m:t>=</m:t>
                            </m:r>
                          </m:e>
                          <m:e>
                            <m:r>
                              <m:rPr>
                                <m:nor/>
                              </m:rPr>
                              <a:rPr lang="zh-CN" altLang="en-US" sz="2800" i="1">
                                <a:latin typeface="Cambria Math" panose="02040503050406030204" pitchFamily="18" charset="0"/>
                              </a:rPr>
                              <m:t>ceil</m:t>
                            </m:r>
                            <m:d>
                              <m:dPr>
                                <m:ctrlPr>
                                  <a:rPr lang="zh-CN" altLang="en-US" sz="2800" i="1">
                                    <a:latin typeface="Cambria Math" panose="02040503050406030204" pitchFamily="18" charset="0"/>
                                  </a:rPr>
                                </m:ctrlPr>
                              </m:dPr>
                              <m:e>
                                <m:f>
                                  <m:fPr>
                                    <m:ctrlPr>
                                      <a:rPr lang="zh-CN" altLang="en-US" sz="2800" i="1">
                                        <a:latin typeface="Cambria Math" panose="02040503050406030204" pitchFamily="18" charset="0"/>
                                      </a:rPr>
                                    </m:ctrlPr>
                                  </m:fPr>
                                  <m:num>
                                    <m:d>
                                      <m:dPr>
                                        <m:beg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log</m:t>
                                        </m:r>
                                        <m:r>
                                          <a:rPr lang="zh-CN" altLang="en-US" sz="2800" i="0">
                                            <a:latin typeface="Cambria Math" panose="02040503050406030204" pitchFamily="18" charset="0"/>
                                          </a:rPr>
                                          <m:t>(1−</m:t>
                                        </m:r>
                                        <m:r>
                                          <a:rPr lang="zh-CN" altLang="en-US" sz="2800" i="1">
                                            <a:latin typeface="Cambria Math" panose="02040503050406030204" pitchFamily="18" charset="0"/>
                                          </a:rPr>
                                          <m:t>𝑈</m:t>
                                        </m:r>
                                      </m:e>
                                    </m:d>
                                  </m:num>
                                  <m:den>
                                    <m:d>
                                      <m:dPr>
                                        <m:beg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log</m:t>
                                        </m:r>
                                        <m:r>
                                          <a:rPr lang="zh-CN" altLang="en-US" sz="2800" i="0">
                                            <a:latin typeface="Cambria Math" panose="02040503050406030204" pitchFamily="18" charset="0"/>
                                          </a:rPr>
                                          <m:t>(</m:t>
                                        </m:r>
                                        <m:r>
                                          <a:rPr lang="zh-CN" altLang="en-US" sz="2800" i="1">
                                            <a:latin typeface="Cambria Math" panose="02040503050406030204" pitchFamily="18" charset="0"/>
                                          </a:rPr>
                                          <m:t>𝑞</m:t>
                                        </m:r>
                                      </m:e>
                                    </m:d>
                                  </m:den>
                                </m:f>
                              </m:e>
                            </m:d>
                          </m:e>
                        </m:mr>
                      </m:m>
                    </m:oMath>
                  </m:oMathPara>
                </a14:m>
                <a:endParaRPr lang="zh-CN" altLang="en-US" sz="2800" dirty="0"/>
              </a:p>
            </p:txBody>
          </p:sp>
        </mc:Choice>
        <mc:Fallback xmlns="">
          <p:sp>
            <p:nvSpPr>
              <p:cNvPr id="5" name="矩形 4">
                <a:extLst>
                  <a:ext uri="{FF2B5EF4-FFF2-40B4-BE49-F238E27FC236}">
                    <a16:creationId xmlns:a16="http://schemas.microsoft.com/office/drawing/2014/main" id="{D0C13584-32F9-4193-A1F8-D55D222159C3}"/>
                  </a:ext>
                </a:extLst>
              </p:cNvPr>
              <p:cNvSpPr>
                <a:spLocks noRot="1" noChangeAspect="1" noMove="1" noResize="1" noEditPoints="1" noAdjustHandles="1" noChangeArrowheads="1" noChangeShapeType="1" noTextEdit="1"/>
              </p:cNvSpPr>
              <p:nvPr/>
            </p:nvSpPr>
            <p:spPr>
              <a:xfrm>
                <a:off x="1016605" y="1533340"/>
                <a:ext cx="5771901" cy="3048976"/>
              </a:xfrm>
              <a:prstGeom prst="rect">
                <a:avLst/>
              </a:prstGeom>
              <a:blipFill>
                <a:blip r:embed="rId2"/>
                <a:stretch>
                  <a:fillRect/>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357847E8-DCDA-495C-ADB7-1C31505AFE30}"/>
              </a:ext>
            </a:extLst>
          </p:cNvPr>
          <p:cNvSpPr/>
          <p:nvPr/>
        </p:nvSpPr>
        <p:spPr>
          <a:xfrm>
            <a:off x="292387" y="4582316"/>
            <a:ext cx="8595954" cy="646331"/>
          </a:xfrm>
          <a:prstGeom prst="rect">
            <a:avLst/>
          </a:prstGeom>
        </p:spPr>
        <p:txBody>
          <a:bodyPr wrap="square">
            <a:spAutoFit/>
          </a:bodyPr>
          <a:lstStyle/>
          <a:p>
            <a:r>
              <a:rPr lang="zh-CN" altLang="en-US" dirty="0"/>
              <a:t>在没有指定底数时，</a:t>
            </a:r>
            <a:r>
              <a:rPr lang="en-US" altLang="zh-CN" dirty="0"/>
              <a:t>log</a:t>
            </a:r>
            <a:r>
              <a:rPr lang="zh-CN" altLang="en-US" dirty="0"/>
              <a:t>默认使用自然对数。 注意到</a:t>
            </a:r>
            <a:r>
              <a:rPr lang="en-US" altLang="zh-CN" dirty="0"/>
              <a:t>1-U</a:t>
            </a:r>
            <a:r>
              <a:rPr lang="zh-CN" altLang="en-US" dirty="0"/>
              <a:t>也是服从</a:t>
            </a:r>
            <a:r>
              <a:rPr lang="en-US" altLang="zh-CN" dirty="0"/>
              <a:t>U(0,1)</a:t>
            </a:r>
            <a:r>
              <a:rPr lang="zh-CN" altLang="en-US" dirty="0"/>
              <a:t>分布的，所以只要取</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CD34D37A-BFFF-47D0-B726-CD5FEA37F27E}"/>
                  </a:ext>
                </a:extLst>
              </p:cNvPr>
              <p:cNvSpPr/>
              <p:nvPr/>
            </p:nvSpPr>
            <p:spPr>
              <a:xfrm>
                <a:off x="2096725" y="5138171"/>
                <a:ext cx="2843471" cy="10604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𝑋</m:t>
                      </m:r>
                      <m:r>
                        <a:rPr lang="zh-CN" altLang="en-US" sz="2800" i="0">
                          <a:latin typeface="Cambria Math" panose="02040503050406030204" pitchFamily="18" charset="0"/>
                        </a:rPr>
                        <m:t>=</m:t>
                      </m:r>
                      <m:r>
                        <m:rPr>
                          <m:nor/>
                        </m:rPr>
                        <a:rPr lang="zh-CN" altLang="en-US" sz="2800" i="1">
                          <a:latin typeface="Cambria Math" panose="02040503050406030204" pitchFamily="18" charset="0"/>
                        </a:rPr>
                        <m:t>ceil</m:t>
                      </m:r>
                      <m:d>
                        <m:dPr>
                          <m:ctrlPr>
                            <a:rPr lang="zh-CN" altLang="en-US" sz="2800" i="1">
                              <a:latin typeface="Cambria Math" panose="02040503050406030204" pitchFamily="18" charset="0"/>
                            </a:rPr>
                          </m:ctrlPr>
                        </m:dPr>
                        <m:e>
                          <m:f>
                            <m:fPr>
                              <m:ctrlPr>
                                <a:rPr lang="zh-CN" altLang="en-US" sz="2800" i="1">
                                  <a:latin typeface="Cambria Math" panose="02040503050406030204" pitchFamily="18" charset="0"/>
                                </a:rPr>
                              </m:ctrlPr>
                            </m:fPr>
                            <m:num>
                              <m:d>
                                <m:dPr>
                                  <m:beg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ln</m:t>
                                  </m:r>
                                  <m:r>
                                    <a:rPr lang="zh-CN" altLang="en-US" sz="2800" i="0">
                                      <a:latin typeface="Cambria Math" panose="02040503050406030204" pitchFamily="18" charset="0"/>
                                    </a:rPr>
                                    <m:t>(</m:t>
                                  </m:r>
                                  <m:r>
                                    <a:rPr lang="zh-CN" altLang="en-US" sz="2800" i="1">
                                      <a:latin typeface="Cambria Math" panose="02040503050406030204" pitchFamily="18" charset="0"/>
                                    </a:rPr>
                                    <m:t>𝑈</m:t>
                                  </m:r>
                                </m:e>
                              </m:d>
                            </m:num>
                            <m:den>
                              <m:d>
                                <m:dPr>
                                  <m:begChr m:val=""/>
                                  <m:ctrlPr>
                                    <a:rPr lang="zh-CN" altLang="en-US" sz="2800" i="1">
                                      <a:latin typeface="Cambria Math" panose="02040503050406030204" pitchFamily="18" charset="0"/>
                                    </a:rPr>
                                  </m:ctrlPr>
                                </m:dPr>
                                <m:e>
                                  <m:r>
                                    <m:rPr>
                                      <m:sty m:val="p"/>
                                    </m:rPr>
                                    <a:rPr lang="zh-CN" altLang="en-US" sz="2800" i="0">
                                      <a:latin typeface="Cambria Math" panose="02040503050406030204" pitchFamily="18" charset="0"/>
                                    </a:rPr>
                                    <m:t>ln</m:t>
                                  </m:r>
                                  <m:r>
                                    <a:rPr lang="zh-CN" altLang="en-US" sz="2800" i="0">
                                      <a:latin typeface="Cambria Math" panose="02040503050406030204" pitchFamily="18" charset="0"/>
                                    </a:rPr>
                                    <m:t>(</m:t>
                                  </m:r>
                                  <m:r>
                                    <a:rPr lang="zh-CN" altLang="en-US" sz="2800" i="1">
                                      <a:latin typeface="Cambria Math" panose="02040503050406030204" pitchFamily="18" charset="0"/>
                                    </a:rPr>
                                    <m:t>𝑞</m:t>
                                  </m:r>
                                </m:e>
                              </m:d>
                            </m:den>
                          </m:f>
                        </m:e>
                      </m:d>
                    </m:oMath>
                  </m:oMathPara>
                </a14:m>
                <a:endParaRPr lang="zh-CN" altLang="en-US" sz="2800" dirty="0"/>
              </a:p>
            </p:txBody>
          </p:sp>
        </mc:Choice>
        <mc:Fallback xmlns="">
          <p:sp>
            <p:nvSpPr>
              <p:cNvPr id="7" name="矩形 6">
                <a:extLst>
                  <a:ext uri="{FF2B5EF4-FFF2-40B4-BE49-F238E27FC236}">
                    <a16:creationId xmlns:a16="http://schemas.microsoft.com/office/drawing/2014/main" id="{CD34D37A-BFFF-47D0-B726-CD5FEA37F27E}"/>
                  </a:ext>
                </a:extLst>
              </p:cNvPr>
              <p:cNvSpPr>
                <a:spLocks noRot="1" noChangeAspect="1" noMove="1" noResize="1" noEditPoints="1" noAdjustHandles="1" noChangeArrowheads="1" noChangeShapeType="1" noTextEdit="1"/>
              </p:cNvSpPr>
              <p:nvPr/>
            </p:nvSpPr>
            <p:spPr>
              <a:xfrm>
                <a:off x="2096725" y="5138171"/>
                <a:ext cx="2843471" cy="106048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945912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6.5 (</a:t>
            </a:r>
            <a:r>
              <a:rPr lang="zh-CN" altLang="en-US" sz="3200" dirty="0">
                <a:solidFill>
                  <a:srgbClr val="006699"/>
                </a:solidFill>
                <a:latin typeface="Verdana" panose="020B0604030504040204" pitchFamily="34" charset="0"/>
              </a:rPr>
              <a:t>生成</a:t>
            </a:r>
            <a:r>
              <a:rPr lang="zh-CN" altLang="en-US" sz="3200" dirty="0">
                <a:solidFill>
                  <a:srgbClr val="FF0000"/>
                </a:solidFill>
                <a:latin typeface="Verdana" panose="020B0604030504040204" pitchFamily="34" charset="0"/>
              </a:rPr>
              <a:t>独立试验序列</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产生</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 </a:t>
            </a:r>
            <a:r>
              <a:rPr lang="en-US" altLang="zh-CN" sz="3200" dirty="0" err="1">
                <a:solidFill>
                  <a:srgbClr val="006699"/>
                </a:solidFill>
                <a:latin typeface="Verdana" panose="020B0604030504040204" pitchFamily="34" charset="0"/>
              </a:rPr>
              <a:t>iid</a:t>
            </a:r>
            <a:r>
              <a:rPr lang="en-US" altLang="zh-CN" sz="3200" dirty="0">
                <a:solidFill>
                  <a:srgbClr val="006699"/>
                </a:solidFill>
                <a:latin typeface="Verdana" panose="020B0604030504040204" pitchFamily="34" charset="0"/>
              </a:rPr>
              <a:t> </a:t>
            </a:r>
            <a:r>
              <a:rPr lang="en-US" altLang="zh-CN" sz="3200" b="1" dirty="0">
                <a:solidFill>
                  <a:srgbClr val="006699"/>
                </a:solidFill>
                <a:latin typeface="Verdana" panose="020B0604030504040204" pitchFamily="34" charset="0"/>
              </a:rPr>
              <a:t>b(1,p)</a:t>
            </a:r>
            <a:r>
              <a:rPr lang="zh-CN" altLang="en-US" sz="3200" dirty="0">
                <a:solidFill>
                  <a:srgbClr val="006699"/>
                </a:solidFill>
                <a:latin typeface="Verdana" panose="020B0604030504040204" pitchFamily="34" charset="0"/>
              </a:rPr>
              <a:t>， 即</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207F163-AA99-4CB0-ACFC-8320FD79598D}"/>
                  </a:ext>
                </a:extLst>
              </p:cNvPr>
              <p:cNvSpPr/>
              <p:nvPr/>
            </p:nvSpPr>
            <p:spPr>
              <a:xfrm>
                <a:off x="791580" y="2439166"/>
                <a:ext cx="72450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800" i="1">
                              <a:latin typeface="Cambria Math" panose="02040503050406030204" pitchFamily="18" charset="0"/>
                            </a:rPr>
                          </m:ctrlPr>
                        </m:mPr>
                        <m:mr>
                          <m:e>
                            <m:m>
                              <m:mPr>
                                <m:plcHide m:val="on"/>
                                <m:mcs>
                                  <m:mc>
                                    <m:mcPr>
                                      <m:count m:val="1"/>
                                      <m:mcJc m:val="center"/>
                                    </m:mcPr>
                                  </m:mc>
                                </m:mcs>
                                <m:ctrlPr>
                                  <a:rPr lang="zh-CN" altLang="en-US" sz="2800" i="1">
                                    <a:latin typeface="Cambria Math" panose="02040503050406030204" pitchFamily="18" charset="0"/>
                                  </a:rPr>
                                </m:ctrlPr>
                              </m:mPr>
                              <m:mr>
                                <m:e>
                                  <m:r>
                                    <a:rPr lang="zh-CN" altLang="en-US" sz="2800" i="1">
                                      <a:latin typeface="Cambria Math" panose="02040503050406030204" pitchFamily="18" charset="0"/>
                                    </a:rPr>
                                    <m:t>𝑃</m:t>
                                  </m:r>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=1)=</m:t>
                                  </m:r>
                                  <m:r>
                                    <a:rPr lang="zh-CN" altLang="en-US" sz="2800" i="1">
                                      <a:latin typeface="Cambria Math" panose="02040503050406030204" pitchFamily="18" charset="0"/>
                                    </a:rPr>
                                    <m:t>𝑝</m:t>
                                  </m:r>
                                  <m:r>
                                    <a:rPr lang="zh-CN" altLang="en-US" sz="2800">
                                      <a:latin typeface="Cambria Math" panose="02040503050406030204" pitchFamily="18" charset="0"/>
                                    </a:rPr>
                                    <m:t>=1−</m:t>
                                  </m:r>
                                  <m:r>
                                    <a:rPr lang="zh-CN" altLang="en-US" sz="2800" i="1">
                                      <a:latin typeface="Cambria Math" panose="02040503050406030204" pitchFamily="18" charset="0"/>
                                    </a:rPr>
                                    <m:t>𝑃</m:t>
                                  </m:r>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=0),</m:t>
                                  </m:r>
                                  <m:r>
                                    <m:rPr>
                                      <m:nor/>
                                    </m:rPr>
                                    <a:rPr lang="zh-CN" altLang="en-US" sz="2800" i="1">
                                      <a:latin typeface="Cambria Math" panose="02040503050406030204" pitchFamily="18" charset="0"/>
                                    </a:rPr>
                                    <m:t> </m:t>
                                  </m:r>
                                  <m:r>
                                    <a:rPr lang="zh-CN" altLang="en-US" sz="2800" i="1">
                                      <a:latin typeface="Cambria Math" panose="02040503050406030204" pitchFamily="18" charset="0"/>
                                    </a:rPr>
                                    <m:t>𝑖</m:t>
                                  </m:r>
                                  <m:r>
                                    <a:rPr lang="zh-CN" altLang="en-US" sz="2800">
                                      <a:latin typeface="Cambria Math" panose="02040503050406030204" pitchFamily="18" charset="0"/>
                                    </a:rPr>
                                    <m:t>=1,2,…,</m:t>
                                  </m:r>
                                  <m:r>
                                    <a:rPr lang="zh-CN" altLang="en-US" sz="2800" i="1">
                                      <a:latin typeface="Cambria Math" panose="02040503050406030204" pitchFamily="18" charset="0"/>
                                    </a:rPr>
                                    <m:t>𝑁</m:t>
                                  </m:r>
                                </m:e>
                              </m:mr>
                            </m:m>
                          </m:e>
                        </m:mr>
                      </m:m>
                    </m:oMath>
                  </m:oMathPara>
                </a14:m>
                <a:endParaRPr lang="zh-CN" altLang="en-US" sz="2800" dirty="0"/>
              </a:p>
            </p:txBody>
          </p:sp>
        </mc:Choice>
        <mc:Fallback xmlns="">
          <p:sp>
            <p:nvSpPr>
              <p:cNvPr id="3" name="矩形 2">
                <a:extLst>
                  <a:ext uri="{FF2B5EF4-FFF2-40B4-BE49-F238E27FC236}">
                    <a16:creationId xmlns:a16="http://schemas.microsoft.com/office/drawing/2014/main" id="{0207F163-AA99-4CB0-ACFC-8320FD79598D}"/>
                  </a:ext>
                </a:extLst>
              </p:cNvPr>
              <p:cNvSpPr>
                <a:spLocks noRot="1" noChangeAspect="1" noMove="1" noResize="1" noEditPoints="1" noAdjustHandles="1" noChangeArrowheads="1" noChangeShapeType="1" noTextEdit="1"/>
              </p:cNvSpPr>
              <p:nvPr/>
            </p:nvSpPr>
            <p:spPr>
              <a:xfrm>
                <a:off x="791580" y="2439166"/>
                <a:ext cx="7245060" cy="523220"/>
              </a:xfrm>
              <a:prstGeom prst="rect">
                <a:avLst/>
              </a:prstGeom>
              <a:blipFill>
                <a:blip r:embed="rId2"/>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05BE7D36-76E3-4777-88C6-D00E1BD914CE}"/>
              </a:ext>
            </a:extLst>
          </p:cNvPr>
          <p:cNvSpPr/>
          <p:nvPr/>
        </p:nvSpPr>
        <p:spPr>
          <a:xfrm>
            <a:off x="274023" y="3251897"/>
            <a:ext cx="8869977" cy="2062103"/>
          </a:xfrm>
          <a:prstGeom prst="rect">
            <a:avLst/>
          </a:prstGeom>
        </p:spPr>
        <p:txBody>
          <a:bodyPr wrap="square">
            <a:spAutoFit/>
          </a:bodyPr>
          <a:lstStyle/>
          <a:p>
            <a:r>
              <a:rPr lang="zh-CN" altLang="en-US" sz="3200" dirty="0">
                <a:solidFill>
                  <a:srgbClr val="FF0000"/>
                </a:solidFill>
                <a:latin typeface="+mn-lt"/>
              </a:rPr>
              <a:t>法</a:t>
            </a:r>
            <a:r>
              <a:rPr lang="en-US" altLang="zh-CN" sz="3200" dirty="0">
                <a:solidFill>
                  <a:srgbClr val="FF0000"/>
                </a:solidFill>
                <a:latin typeface="+mn-lt"/>
              </a:rPr>
              <a:t>1</a:t>
            </a:r>
            <a:r>
              <a:rPr lang="zh-CN" altLang="en-US" sz="3200" dirty="0">
                <a:solidFill>
                  <a:srgbClr val="FF0000"/>
                </a:solidFill>
                <a:latin typeface="+mn-lt"/>
              </a:rPr>
              <a:t>：</a:t>
            </a:r>
            <a:r>
              <a:rPr lang="zh-CN" altLang="en-US" sz="3200" dirty="0">
                <a:solidFill>
                  <a:srgbClr val="006699"/>
                </a:solidFill>
                <a:latin typeface="+mn-lt"/>
              </a:rPr>
              <a:t>设</a:t>
            </a:r>
            <a:r>
              <a:rPr lang="en-US" altLang="zh-CN" sz="3200" dirty="0">
                <a:solidFill>
                  <a:srgbClr val="006699"/>
                </a:solidFill>
                <a:latin typeface="+mn-lt"/>
              </a:rPr>
              <a:t>(U</a:t>
            </a:r>
            <a:r>
              <a:rPr lang="en-US" altLang="zh-CN" sz="3200" baseline="-25000" dirty="0">
                <a:solidFill>
                  <a:srgbClr val="006699"/>
                </a:solidFill>
                <a:latin typeface="+mn-lt"/>
              </a:rPr>
              <a:t>1</a:t>
            </a:r>
            <a:r>
              <a:rPr lang="en-US" altLang="zh-CN" sz="3200" dirty="0">
                <a:solidFill>
                  <a:srgbClr val="006699"/>
                </a:solidFill>
                <a:latin typeface="+mn-lt"/>
              </a:rPr>
              <a:t>,U</a:t>
            </a:r>
            <a:r>
              <a:rPr lang="en-US" altLang="zh-CN" sz="3200" baseline="-25000" dirty="0">
                <a:solidFill>
                  <a:srgbClr val="006699"/>
                </a:solidFill>
                <a:latin typeface="+mn-lt"/>
              </a:rPr>
              <a:t>2</a:t>
            </a:r>
            <a:r>
              <a:rPr lang="en-US" altLang="zh-CN" sz="3200" dirty="0">
                <a:solidFill>
                  <a:srgbClr val="006699"/>
                </a:solidFill>
                <a:latin typeface="+mn-lt"/>
              </a:rPr>
              <a:t>,…,U</a:t>
            </a:r>
            <a:r>
              <a:rPr lang="en-US" altLang="zh-CN" sz="3200" baseline="-25000" dirty="0">
                <a:solidFill>
                  <a:srgbClr val="006699"/>
                </a:solidFill>
                <a:latin typeface="+mn-lt"/>
              </a:rPr>
              <a:t>N</a:t>
            </a:r>
            <a:r>
              <a:rPr lang="en-US" altLang="zh-CN" sz="3200" dirty="0">
                <a:solidFill>
                  <a:srgbClr val="006699"/>
                </a:solidFill>
                <a:latin typeface="+mn-lt"/>
              </a:rPr>
              <a:t>) </a:t>
            </a:r>
            <a:r>
              <a:rPr lang="en-US" altLang="zh-CN" sz="3200" dirty="0" err="1">
                <a:solidFill>
                  <a:srgbClr val="006699"/>
                </a:solidFill>
                <a:latin typeface="+mn-lt"/>
              </a:rPr>
              <a:t>iid</a:t>
            </a:r>
            <a:r>
              <a:rPr lang="en-US" altLang="zh-CN" sz="3200" dirty="0">
                <a:solidFill>
                  <a:srgbClr val="006699"/>
                </a:solidFill>
                <a:latin typeface="+mn-lt"/>
              </a:rPr>
              <a:t> U(0,1), </a:t>
            </a:r>
          </a:p>
          <a:p>
            <a:r>
              <a:rPr lang="zh-CN" altLang="en-US" sz="3200" dirty="0">
                <a:solidFill>
                  <a:srgbClr val="006699"/>
                </a:solidFill>
                <a:latin typeface="+mn-lt"/>
              </a:rPr>
              <a:t>则当</a:t>
            </a:r>
            <a:r>
              <a:rPr lang="en-US" altLang="zh-CN" sz="3200" dirty="0" err="1">
                <a:solidFill>
                  <a:srgbClr val="006699"/>
                </a:solidFill>
                <a:latin typeface="+mn-lt"/>
              </a:rPr>
              <a:t>U</a:t>
            </a:r>
            <a:r>
              <a:rPr lang="en-US" altLang="zh-CN" sz="3200" baseline="-25000" dirty="0" err="1">
                <a:solidFill>
                  <a:srgbClr val="006699"/>
                </a:solidFill>
                <a:latin typeface="+mn-lt"/>
              </a:rPr>
              <a:t>i</a:t>
            </a:r>
            <a:r>
              <a:rPr lang="en-US" altLang="zh-CN" sz="3200" dirty="0" err="1">
                <a:solidFill>
                  <a:srgbClr val="006699"/>
                </a:solidFill>
                <a:latin typeface="+mn-lt"/>
              </a:rPr>
              <a:t>≤p</a:t>
            </a:r>
            <a:r>
              <a:rPr lang="zh-CN" altLang="en-US" sz="3200" dirty="0">
                <a:solidFill>
                  <a:srgbClr val="006699"/>
                </a:solidFill>
                <a:latin typeface="+mn-lt"/>
              </a:rPr>
              <a:t>时取</a:t>
            </a:r>
            <a:r>
              <a:rPr lang="en-US" altLang="zh-CN" sz="3200" dirty="0">
                <a:solidFill>
                  <a:srgbClr val="006699"/>
                </a:solidFill>
                <a:latin typeface="+mn-lt"/>
              </a:rPr>
              <a:t>X</a:t>
            </a:r>
            <a:r>
              <a:rPr lang="en-US" altLang="zh-CN" sz="3200" baseline="-25000" dirty="0">
                <a:solidFill>
                  <a:srgbClr val="006699"/>
                </a:solidFill>
                <a:latin typeface="+mn-lt"/>
              </a:rPr>
              <a:t>i</a:t>
            </a:r>
            <a:r>
              <a:rPr lang="en-US" altLang="zh-CN" sz="3200" dirty="0">
                <a:solidFill>
                  <a:srgbClr val="006699"/>
                </a:solidFill>
                <a:latin typeface="+mn-lt"/>
              </a:rPr>
              <a:t>=1, </a:t>
            </a:r>
          </a:p>
          <a:p>
            <a:r>
              <a:rPr lang="en-US" altLang="zh-CN" sz="3200" dirty="0">
                <a:solidFill>
                  <a:srgbClr val="006699"/>
                </a:solidFill>
                <a:latin typeface="+mn-lt"/>
              </a:rPr>
              <a:t>   </a:t>
            </a:r>
            <a:r>
              <a:rPr lang="zh-CN" altLang="en-US" sz="3200" dirty="0">
                <a:solidFill>
                  <a:srgbClr val="006699"/>
                </a:solidFill>
                <a:latin typeface="+mn-lt"/>
              </a:rPr>
              <a:t>当</a:t>
            </a:r>
            <a:r>
              <a:rPr lang="en-US" altLang="zh-CN" sz="3200" dirty="0">
                <a:solidFill>
                  <a:srgbClr val="006699"/>
                </a:solidFill>
                <a:latin typeface="+mn-lt"/>
              </a:rPr>
              <a:t>U</a:t>
            </a:r>
            <a:r>
              <a:rPr lang="en-US" altLang="zh-CN" sz="3200" baseline="-25000" dirty="0">
                <a:solidFill>
                  <a:srgbClr val="006699"/>
                </a:solidFill>
                <a:latin typeface="+mn-lt"/>
              </a:rPr>
              <a:t>i</a:t>
            </a:r>
            <a:r>
              <a:rPr lang="en-US" altLang="zh-CN" sz="3200" dirty="0">
                <a:solidFill>
                  <a:srgbClr val="006699"/>
                </a:solidFill>
                <a:latin typeface="+mn-lt"/>
              </a:rPr>
              <a:t>&gt;p</a:t>
            </a:r>
            <a:r>
              <a:rPr lang="zh-CN" altLang="en-US" sz="3200" dirty="0">
                <a:solidFill>
                  <a:srgbClr val="006699"/>
                </a:solidFill>
                <a:latin typeface="+mn-lt"/>
              </a:rPr>
              <a:t>时取</a:t>
            </a:r>
            <a:r>
              <a:rPr lang="en-US" altLang="zh-CN" sz="3200" dirty="0">
                <a:solidFill>
                  <a:srgbClr val="006699"/>
                </a:solidFill>
                <a:latin typeface="+mn-lt"/>
              </a:rPr>
              <a:t>X</a:t>
            </a:r>
            <a:r>
              <a:rPr lang="en-US" altLang="zh-CN" sz="3200" baseline="-25000" dirty="0">
                <a:solidFill>
                  <a:srgbClr val="006699"/>
                </a:solidFill>
                <a:latin typeface="+mn-lt"/>
              </a:rPr>
              <a:t>i</a:t>
            </a:r>
            <a:r>
              <a:rPr lang="en-US" altLang="zh-CN" sz="3200" dirty="0">
                <a:solidFill>
                  <a:srgbClr val="006699"/>
                </a:solidFill>
                <a:latin typeface="+mn-lt"/>
              </a:rPr>
              <a:t>=0</a:t>
            </a:r>
          </a:p>
          <a:p>
            <a:r>
              <a:rPr lang="zh-CN" altLang="en-US" sz="3200" dirty="0">
                <a:solidFill>
                  <a:srgbClr val="006699"/>
                </a:solidFill>
                <a:latin typeface="+mn-lt"/>
              </a:rPr>
              <a:t>可以构造独立试验序列</a:t>
            </a:r>
            <a:r>
              <a:rPr lang="en-US" altLang="zh-CN" sz="3200" dirty="0">
                <a:solidFill>
                  <a:srgbClr val="006699"/>
                </a:solidFill>
                <a:latin typeface="+mn-lt"/>
              </a:rPr>
              <a:t>(X</a:t>
            </a:r>
            <a:r>
              <a:rPr lang="en-US" altLang="zh-CN" sz="3200" baseline="-25000" dirty="0">
                <a:solidFill>
                  <a:srgbClr val="006699"/>
                </a:solidFill>
                <a:latin typeface="+mn-lt"/>
              </a:rPr>
              <a:t>1</a:t>
            </a:r>
            <a:r>
              <a:rPr lang="en-US" altLang="zh-CN" sz="3200" dirty="0">
                <a:solidFill>
                  <a:srgbClr val="006699"/>
                </a:solidFill>
                <a:latin typeface="+mn-lt"/>
              </a:rPr>
              <a:t>,X</a:t>
            </a:r>
            <a:r>
              <a:rPr lang="en-US" altLang="zh-CN" sz="3200" baseline="-25000" dirty="0">
                <a:solidFill>
                  <a:srgbClr val="006699"/>
                </a:solidFill>
                <a:latin typeface="+mn-lt"/>
              </a:rPr>
              <a:t>2</a:t>
            </a:r>
            <a:r>
              <a:rPr lang="en-US" altLang="zh-CN" sz="3200" dirty="0">
                <a:solidFill>
                  <a:srgbClr val="006699"/>
                </a:solidFill>
                <a:latin typeface="+mn-lt"/>
              </a:rPr>
              <a:t>,…,X</a:t>
            </a:r>
            <a:r>
              <a:rPr lang="en-US" altLang="zh-CN" sz="3200" baseline="-25000" dirty="0">
                <a:solidFill>
                  <a:srgbClr val="006699"/>
                </a:solidFill>
                <a:latin typeface="+mn-lt"/>
              </a:rPr>
              <a:t>N</a:t>
            </a:r>
            <a:r>
              <a:rPr lang="en-US" altLang="zh-CN" sz="3200" dirty="0">
                <a:solidFill>
                  <a:srgbClr val="006699"/>
                </a:solidFill>
                <a:latin typeface="+mn-lt"/>
              </a:rPr>
              <a:t> )</a:t>
            </a:r>
            <a:endParaRPr lang="zh-CN" altLang="en-US" dirty="0">
              <a:latin typeface="+mn-lt"/>
            </a:endParaRPr>
          </a:p>
        </p:txBody>
      </p:sp>
    </p:spTree>
    <p:extLst>
      <p:ext uri="{BB962C8B-B14F-4D97-AF65-F5344CB8AC3E}">
        <p14:creationId xmlns:p14="http://schemas.microsoft.com/office/powerpoint/2010/main" val="18421552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6.5 (</a:t>
            </a:r>
            <a:r>
              <a:rPr lang="zh-CN" altLang="en-US" sz="3200" dirty="0">
                <a:solidFill>
                  <a:srgbClr val="006699"/>
                </a:solidFill>
                <a:latin typeface="Verdana" panose="020B0604030504040204" pitchFamily="34" charset="0"/>
              </a:rPr>
              <a:t>生成</a:t>
            </a:r>
            <a:r>
              <a:rPr lang="zh-CN" altLang="en-US" sz="3200" dirty="0">
                <a:solidFill>
                  <a:srgbClr val="FF0000"/>
                </a:solidFill>
                <a:latin typeface="Verdana" panose="020B0604030504040204" pitchFamily="34" charset="0"/>
              </a:rPr>
              <a:t>独立试验序列</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产生</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N</a:t>
            </a:r>
            <a:r>
              <a:rPr lang="en-US" altLang="zh-CN" sz="3200" dirty="0">
                <a:solidFill>
                  <a:srgbClr val="006699"/>
                </a:solidFill>
                <a:latin typeface="Verdana" panose="020B0604030504040204" pitchFamily="34" charset="0"/>
              </a:rPr>
              <a:t> </a:t>
            </a:r>
            <a:r>
              <a:rPr lang="en-US" altLang="zh-CN" sz="3200" dirty="0" err="1">
                <a:solidFill>
                  <a:srgbClr val="006699"/>
                </a:solidFill>
                <a:latin typeface="Verdana" panose="020B0604030504040204" pitchFamily="34" charset="0"/>
              </a:rPr>
              <a:t>iid</a:t>
            </a:r>
            <a:r>
              <a:rPr lang="en-US" altLang="zh-CN" sz="3200" dirty="0">
                <a:solidFill>
                  <a:srgbClr val="006699"/>
                </a:solidFill>
                <a:latin typeface="Verdana" panose="020B0604030504040204" pitchFamily="34" charset="0"/>
              </a:rPr>
              <a:t> </a:t>
            </a:r>
            <a:r>
              <a:rPr lang="en-US" altLang="zh-CN" sz="3200" b="1" dirty="0">
                <a:solidFill>
                  <a:srgbClr val="006699"/>
                </a:solidFill>
                <a:latin typeface="Verdana" panose="020B0604030504040204" pitchFamily="34" charset="0"/>
              </a:rPr>
              <a:t>b(1,p)</a:t>
            </a:r>
            <a:r>
              <a:rPr lang="zh-CN" altLang="en-US" sz="3200" dirty="0">
                <a:solidFill>
                  <a:srgbClr val="006699"/>
                </a:solidFill>
                <a:latin typeface="Verdana" panose="020B0604030504040204" pitchFamily="34" charset="0"/>
              </a:rPr>
              <a:t>， 即</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207F163-AA99-4CB0-ACFC-8320FD79598D}"/>
                  </a:ext>
                </a:extLst>
              </p:cNvPr>
              <p:cNvSpPr/>
              <p:nvPr/>
            </p:nvSpPr>
            <p:spPr>
              <a:xfrm>
                <a:off x="791580" y="2439166"/>
                <a:ext cx="724506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800" i="1">
                              <a:latin typeface="Cambria Math" panose="02040503050406030204" pitchFamily="18" charset="0"/>
                            </a:rPr>
                          </m:ctrlPr>
                        </m:mPr>
                        <m:mr>
                          <m:e>
                            <m:m>
                              <m:mPr>
                                <m:plcHide m:val="on"/>
                                <m:mcs>
                                  <m:mc>
                                    <m:mcPr>
                                      <m:count m:val="1"/>
                                      <m:mcJc m:val="center"/>
                                    </m:mcPr>
                                  </m:mc>
                                </m:mcs>
                                <m:ctrlPr>
                                  <a:rPr lang="zh-CN" altLang="en-US" sz="2800" i="1">
                                    <a:latin typeface="Cambria Math" panose="02040503050406030204" pitchFamily="18" charset="0"/>
                                  </a:rPr>
                                </m:ctrlPr>
                              </m:mPr>
                              <m:mr>
                                <m:e>
                                  <m:r>
                                    <a:rPr lang="zh-CN" altLang="en-US" sz="2800" i="1">
                                      <a:latin typeface="Cambria Math" panose="02040503050406030204" pitchFamily="18" charset="0"/>
                                    </a:rPr>
                                    <m:t>𝑃</m:t>
                                  </m:r>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=1)=</m:t>
                                  </m:r>
                                  <m:r>
                                    <a:rPr lang="zh-CN" altLang="en-US" sz="2800" i="1">
                                      <a:latin typeface="Cambria Math" panose="02040503050406030204" pitchFamily="18" charset="0"/>
                                    </a:rPr>
                                    <m:t>𝑝</m:t>
                                  </m:r>
                                  <m:r>
                                    <a:rPr lang="zh-CN" altLang="en-US" sz="2800">
                                      <a:latin typeface="Cambria Math" panose="02040503050406030204" pitchFamily="18" charset="0"/>
                                    </a:rPr>
                                    <m:t>=1−</m:t>
                                  </m:r>
                                  <m:r>
                                    <a:rPr lang="zh-CN" altLang="en-US" sz="2800" i="1">
                                      <a:latin typeface="Cambria Math" panose="02040503050406030204" pitchFamily="18" charset="0"/>
                                    </a:rPr>
                                    <m:t>𝑃</m:t>
                                  </m:r>
                                  <m:r>
                                    <a:rPr lang="zh-CN" altLang="en-US" sz="280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Sub>
                                  <m:r>
                                    <a:rPr lang="zh-CN" altLang="en-US" sz="2800">
                                      <a:latin typeface="Cambria Math" panose="02040503050406030204" pitchFamily="18" charset="0"/>
                                    </a:rPr>
                                    <m:t>=0),</m:t>
                                  </m:r>
                                  <m:r>
                                    <m:rPr>
                                      <m:nor/>
                                    </m:rPr>
                                    <a:rPr lang="zh-CN" altLang="en-US" sz="2800" i="1">
                                      <a:latin typeface="Cambria Math" panose="02040503050406030204" pitchFamily="18" charset="0"/>
                                    </a:rPr>
                                    <m:t> </m:t>
                                  </m:r>
                                  <m:r>
                                    <a:rPr lang="zh-CN" altLang="en-US" sz="2800" i="1">
                                      <a:latin typeface="Cambria Math" panose="02040503050406030204" pitchFamily="18" charset="0"/>
                                    </a:rPr>
                                    <m:t>𝑖</m:t>
                                  </m:r>
                                  <m:r>
                                    <a:rPr lang="zh-CN" altLang="en-US" sz="2800">
                                      <a:latin typeface="Cambria Math" panose="02040503050406030204" pitchFamily="18" charset="0"/>
                                    </a:rPr>
                                    <m:t>=1,2,…,</m:t>
                                  </m:r>
                                  <m:r>
                                    <a:rPr lang="zh-CN" altLang="en-US" sz="2800" i="1">
                                      <a:latin typeface="Cambria Math" panose="02040503050406030204" pitchFamily="18" charset="0"/>
                                    </a:rPr>
                                    <m:t>𝑁</m:t>
                                  </m:r>
                                </m:e>
                              </m:mr>
                            </m:m>
                          </m:e>
                        </m:mr>
                      </m:m>
                    </m:oMath>
                  </m:oMathPara>
                </a14:m>
                <a:endParaRPr lang="zh-CN" altLang="en-US" sz="2800" dirty="0"/>
              </a:p>
            </p:txBody>
          </p:sp>
        </mc:Choice>
        <mc:Fallback xmlns="">
          <p:sp>
            <p:nvSpPr>
              <p:cNvPr id="3" name="矩形 2">
                <a:extLst>
                  <a:ext uri="{FF2B5EF4-FFF2-40B4-BE49-F238E27FC236}">
                    <a16:creationId xmlns:a16="http://schemas.microsoft.com/office/drawing/2014/main" id="{0207F163-AA99-4CB0-ACFC-8320FD79598D}"/>
                  </a:ext>
                </a:extLst>
              </p:cNvPr>
              <p:cNvSpPr>
                <a:spLocks noRot="1" noChangeAspect="1" noMove="1" noResize="1" noEditPoints="1" noAdjustHandles="1" noChangeArrowheads="1" noChangeShapeType="1" noTextEdit="1"/>
              </p:cNvSpPr>
              <p:nvPr/>
            </p:nvSpPr>
            <p:spPr>
              <a:xfrm>
                <a:off x="791580" y="2439166"/>
                <a:ext cx="7245060" cy="523220"/>
              </a:xfrm>
              <a:prstGeom prst="rect">
                <a:avLst/>
              </a:prstGeom>
              <a:blipFill>
                <a:blip r:embed="rId2"/>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05BE7D36-76E3-4777-88C6-D00E1BD914CE}"/>
              </a:ext>
            </a:extLst>
          </p:cNvPr>
          <p:cNvSpPr/>
          <p:nvPr/>
        </p:nvSpPr>
        <p:spPr>
          <a:xfrm>
            <a:off x="1" y="3251897"/>
            <a:ext cx="9144000" cy="3046988"/>
          </a:xfrm>
          <a:prstGeom prst="rect">
            <a:avLst/>
          </a:prstGeom>
        </p:spPr>
        <p:txBody>
          <a:bodyPr wrap="square">
            <a:spAutoFit/>
          </a:bodyPr>
          <a:lstStyle/>
          <a:p>
            <a:r>
              <a:rPr lang="zh-CN" altLang="en-US" sz="3200" dirty="0">
                <a:solidFill>
                  <a:srgbClr val="006699"/>
                </a:solidFill>
                <a:latin typeface="Verdana" panose="020B0604030504040204" pitchFamily="34" charset="0"/>
              </a:rPr>
              <a:t>法</a:t>
            </a:r>
            <a:r>
              <a:rPr lang="en-US" altLang="zh-CN" sz="32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a:t>
            </a:r>
            <a:r>
              <a:rPr lang="zh-CN" altLang="en-US" sz="3200" dirty="0">
                <a:solidFill>
                  <a:srgbClr val="FF0000"/>
                </a:solidFill>
                <a:latin typeface="Verdana" panose="020B0604030504040204" pitchFamily="34" charset="0"/>
              </a:rPr>
              <a:t>用几何分布</a:t>
            </a:r>
            <a:r>
              <a:rPr lang="zh-CN" altLang="en-US" sz="3200" dirty="0">
                <a:solidFill>
                  <a:srgbClr val="006699"/>
                </a:solidFill>
                <a:latin typeface="Verdana" panose="020B0604030504040204" pitchFamily="34" charset="0"/>
              </a:rPr>
              <a:t>当</a:t>
            </a:r>
            <a:r>
              <a:rPr lang="en-US" altLang="zh-CN" sz="3200" dirty="0">
                <a:solidFill>
                  <a:srgbClr val="006699"/>
                </a:solidFill>
                <a:latin typeface="Verdana" panose="020B0604030504040204" pitchFamily="34" charset="0"/>
              </a:rPr>
              <a:t>p</a:t>
            </a:r>
            <a:r>
              <a:rPr lang="zh-CN" altLang="en-US" sz="3200" dirty="0">
                <a:solidFill>
                  <a:srgbClr val="006699"/>
                </a:solidFill>
                <a:latin typeface="Verdana" panose="020B0604030504040204" pitchFamily="34" charset="0"/>
              </a:rPr>
              <a:t>比较小时</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生成首次成功时间， 则在成功之前的试验都是失败， </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然后再生成下次成功时间， 两次成功之间的试验为失败， </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一直到凑够</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次试验为止。</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22835288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2000" dirty="0">
                <a:solidFill>
                  <a:srgbClr val="006699"/>
                </a:solidFill>
                <a:latin typeface="Verdana" panose="020B0604030504040204" pitchFamily="34" charset="0"/>
              </a:rPr>
              <a:t>例</a:t>
            </a:r>
            <a:r>
              <a:rPr lang="en-US" altLang="zh-CN" sz="2000" dirty="0">
                <a:solidFill>
                  <a:srgbClr val="006699"/>
                </a:solidFill>
                <a:latin typeface="Verdana" panose="020B0604030504040204" pitchFamily="34" charset="0"/>
              </a:rPr>
              <a:t>6.5 (</a:t>
            </a:r>
            <a:r>
              <a:rPr lang="zh-CN" altLang="en-US" sz="2000" dirty="0">
                <a:solidFill>
                  <a:srgbClr val="006699"/>
                </a:solidFill>
                <a:latin typeface="Verdana" panose="020B0604030504040204" pitchFamily="34" charset="0"/>
              </a:rPr>
              <a:t>生成</a:t>
            </a:r>
            <a:r>
              <a:rPr lang="zh-CN" altLang="en-US" sz="2000" dirty="0">
                <a:solidFill>
                  <a:srgbClr val="FF0000"/>
                </a:solidFill>
                <a:latin typeface="Verdana" panose="020B0604030504040204" pitchFamily="34" charset="0"/>
              </a:rPr>
              <a:t>独立试验序列</a:t>
            </a:r>
            <a:r>
              <a:rPr lang="en-US" altLang="zh-CN" sz="2000" dirty="0">
                <a:solidFill>
                  <a:srgbClr val="006699"/>
                </a:solidFill>
                <a:latin typeface="Verdana" panose="020B0604030504040204" pitchFamily="34" charset="0"/>
              </a:rPr>
              <a:t>)</a:t>
            </a:r>
          </a:p>
          <a:p>
            <a:pPr marL="0" indent="0" eaLnBrk="1" hangingPunct="1">
              <a:spcBef>
                <a:spcPct val="20000"/>
              </a:spcBef>
            </a:pPr>
            <a:r>
              <a:rPr lang="en-US" altLang="zh-CN" sz="2000" dirty="0">
                <a:solidFill>
                  <a:srgbClr val="006699"/>
                </a:solidFill>
                <a:latin typeface="Verdana" panose="020B0604030504040204" pitchFamily="34" charset="0"/>
              </a:rPr>
              <a:t> </a:t>
            </a:r>
            <a:r>
              <a:rPr lang="en-US" altLang="zh-CN" sz="2000" dirty="0" err="1">
                <a:solidFill>
                  <a:srgbClr val="006699"/>
                </a:solidFill>
                <a:latin typeface="Verdana" panose="020B0604030504040204" pitchFamily="34" charset="0"/>
              </a:rPr>
              <a:t>rbernoulli.geom</a:t>
            </a:r>
            <a:r>
              <a:rPr lang="en-US" altLang="zh-CN" sz="2000" dirty="0">
                <a:solidFill>
                  <a:srgbClr val="006699"/>
                </a:solidFill>
                <a:latin typeface="Verdana" panose="020B0604030504040204" pitchFamily="34" charset="0"/>
              </a:rPr>
              <a:t> &lt;- function(size=1, prob=0.1){</a:t>
            </a:r>
          </a:p>
          <a:p>
            <a:pPr marL="0" indent="0" eaLnBrk="1" hangingPunct="1">
              <a:spcBef>
                <a:spcPct val="20000"/>
              </a:spcBef>
            </a:pPr>
            <a:r>
              <a:rPr lang="en-US" altLang="zh-CN" sz="2000" dirty="0">
                <a:solidFill>
                  <a:srgbClr val="006699"/>
                </a:solidFill>
                <a:latin typeface="Verdana" panose="020B0604030504040204" pitchFamily="34" charset="0"/>
              </a:rPr>
              <a:t>  x &lt;- numeric(size)</a:t>
            </a:r>
          </a:p>
          <a:p>
            <a:pPr marL="0" indent="0" eaLnBrk="1" hangingPunct="1">
              <a:spcBef>
                <a:spcPct val="20000"/>
              </a:spcBef>
            </a:pPr>
            <a:r>
              <a:rPr lang="en-US" altLang="zh-CN" sz="2000" dirty="0">
                <a:solidFill>
                  <a:srgbClr val="006699"/>
                </a:solidFill>
                <a:latin typeface="Verdana" panose="020B0604030504040204" pitchFamily="34" charset="0"/>
              </a:rPr>
              <a:t>  k &lt;- 0</a:t>
            </a:r>
          </a:p>
          <a:p>
            <a:pPr marL="0" indent="0" eaLnBrk="1" hangingPunct="1">
              <a:spcBef>
                <a:spcPct val="20000"/>
              </a:spcBef>
            </a:pPr>
            <a:r>
              <a:rPr lang="en-US" altLang="zh-CN" sz="2000" dirty="0">
                <a:solidFill>
                  <a:srgbClr val="006699"/>
                </a:solidFill>
                <a:latin typeface="Verdana" panose="020B0604030504040204" pitchFamily="34" charset="0"/>
              </a:rPr>
              <a:t>  while(k &lt;= size){</a:t>
            </a:r>
          </a:p>
          <a:p>
            <a:pPr marL="0" indent="0" eaLnBrk="1" hangingPunct="1">
              <a:spcBef>
                <a:spcPct val="20000"/>
              </a:spcBef>
            </a:pPr>
            <a:r>
              <a:rPr lang="en-US" altLang="zh-CN" sz="2000" dirty="0">
                <a:solidFill>
                  <a:srgbClr val="006699"/>
                </a:solidFill>
                <a:latin typeface="Verdana" panose="020B0604030504040204" pitchFamily="34" charset="0"/>
              </a:rPr>
              <a:t>    T &lt;- </a:t>
            </a:r>
            <a:r>
              <a:rPr lang="en-US" altLang="zh-CN" sz="2000" dirty="0" err="1">
                <a:solidFill>
                  <a:srgbClr val="006699"/>
                </a:solidFill>
                <a:latin typeface="Verdana" panose="020B0604030504040204" pitchFamily="34" charset="0"/>
              </a:rPr>
              <a:t>rgeom</a:t>
            </a:r>
            <a:r>
              <a:rPr lang="en-US" altLang="zh-CN" sz="2000" dirty="0">
                <a:solidFill>
                  <a:srgbClr val="006699"/>
                </a:solidFill>
                <a:latin typeface="Verdana" panose="020B0604030504040204" pitchFamily="34" charset="0"/>
              </a:rPr>
              <a:t>(1, prob=prob)</a:t>
            </a:r>
          </a:p>
          <a:p>
            <a:pPr marL="0" indent="0" eaLnBrk="1" hangingPunct="1">
              <a:spcBef>
                <a:spcPct val="20000"/>
              </a:spcBef>
            </a:pPr>
            <a:r>
              <a:rPr lang="en-US" altLang="zh-CN" sz="2000" dirty="0">
                <a:solidFill>
                  <a:srgbClr val="006699"/>
                </a:solidFill>
                <a:latin typeface="Verdana" panose="020B0604030504040204" pitchFamily="34" charset="0"/>
              </a:rPr>
              <a:t>    if(T &gt; 1){</a:t>
            </a:r>
          </a:p>
          <a:p>
            <a:pPr marL="0" indent="0" eaLnBrk="1" hangingPunct="1">
              <a:spcBef>
                <a:spcPct val="20000"/>
              </a:spcBef>
            </a:pPr>
            <a:r>
              <a:rPr lang="en-US" altLang="zh-CN" sz="2000" dirty="0">
                <a:solidFill>
                  <a:srgbClr val="006699"/>
                </a:solidFill>
                <a:latin typeface="Verdana" panose="020B0604030504040204" pitchFamily="34" charset="0"/>
              </a:rPr>
              <a:t>      x[(k+1):(min(c(k+T-1, size)))] &lt;- 0</a:t>
            </a:r>
          </a:p>
          <a:p>
            <a:pPr marL="0" indent="0" eaLnBrk="1" hangingPunct="1">
              <a:spcBef>
                <a:spcPct val="20000"/>
              </a:spcBef>
            </a:pPr>
            <a:r>
              <a:rPr lang="en-US" altLang="zh-CN" sz="2000" dirty="0">
                <a:solidFill>
                  <a:srgbClr val="006699"/>
                </a:solidFill>
                <a:latin typeface="Verdana" panose="020B0604030504040204" pitchFamily="34" charset="0"/>
              </a:rPr>
              <a:t>    }</a:t>
            </a:r>
          </a:p>
          <a:p>
            <a:pPr marL="0" indent="0" eaLnBrk="1" hangingPunct="1">
              <a:spcBef>
                <a:spcPct val="20000"/>
              </a:spcBef>
            </a:pPr>
            <a:r>
              <a:rPr lang="en-US" altLang="zh-CN" sz="2000" dirty="0">
                <a:solidFill>
                  <a:srgbClr val="006699"/>
                </a:solidFill>
                <a:latin typeface="Verdana" panose="020B0604030504040204" pitchFamily="34" charset="0"/>
              </a:rPr>
              <a:t>    if(</a:t>
            </a:r>
            <a:r>
              <a:rPr lang="en-US" altLang="zh-CN" sz="2000" dirty="0" err="1">
                <a:solidFill>
                  <a:srgbClr val="006699"/>
                </a:solidFill>
                <a:latin typeface="Verdana" panose="020B0604030504040204" pitchFamily="34" charset="0"/>
              </a:rPr>
              <a:t>k+T</a:t>
            </a:r>
            <a:r>
              <a:rPr lang="en-US" altLang="zh-CN" sz="2000" dirty="0">
                <a:solidFill>
                  <a:srgbClr val="006699"/>
                </a:solidFill>
                <a:latin typeface="Verdana" panose="020B0604030504040204" pitchFamily="34" charset="0"/>
              </a:rPr>
              <a:t> &lt;= size) x[</a:t>
            </a:r>
            <a:r>
              <a:rPr lang="en-US" altLang="zh-CN" sz="2000" dirty="0" err="1">
                <a:solidFill>
                  <a:srgbClr val="006699"/>
                </a:solidFill>
                <a:latin typeface="Verdana" panose="020B0604030504040204" pitchFamily="34" charset="0"/>
              </a:rPr>
              <a:t>k+T</a:t>
            </a:r>
            <a:r>
              <a:rPr lang="en-US" altLang="zh-CN" sz="2000" dirty="0">
                <a:solidFill>
                  <a:srgbClr val="006699"/>
                </a:solidFill>
                <a:latin typeface="Verdana" panose="020B0604030504040204" pitchFamily="34" charset="0"/>
              </a:rPr>
              <a:t>] &lt;- 1</a:t>
            </a:r>
          </a:p>
          <a:p>
            <a:pPr marL="0" indent="0" eaLnBrk="1" hangingPunct="1">
              <a:spcBef>
                <a:spcPct val="20000"/>
              </a:spcBef>
            </a:pPr>
            <a:r>
              <a:rPr lang="en-US" altLang="zh-CN" sz="2000" dirty="0">
                <a:solidFill>
                  <a:srgbClr val="006699"/>
                </a:solidFill>
                <a:latin typeface="Verdana" panose="020B0604030504040204" pitchFamily="34" charset="0"/>
              </a:rPr>
              <a:t>    k &lt;- </a:t>
            </a:r>
            <a:r>
              <a:rPr lang="en-US" altLang="zh-CN" sz="2000" dirty="0" err="1">
                <a:solidFill>
                  <a:srgbClr val="006699"/>
                </a:solidFill>
                <a:latin typeface="Verdana" panose="020B0604030504040204" pitchFamily="34" charset="0"/>
              </a:rPr>
              <a:t>k+T</a:t>
            </a:r>
            <a:endParaRPr lang="en-US" altLang="zh-CN" sz="2000" dirty="0">
              <a:solidFill>
                <a:srgbClr val="006699"/>
              </a:solidFill>
              <a:latin typeface="Verdana" panose="020B0604030504040204" pitchFamily="34" charset="0"/>
            </a:endParaRPr>
          </a:p>
          <a:p>
            <a:pPr marL="0" indent="0" eaLnBrk="1" hangingPunct="1">
              <a:spcBef>
                <a:spcPct val="20000"/>
              </a:spcBef>
            </a:pPr>
            <a:r>
              <a:rPr lang="en-US" altLang="zh-CN" sz="2000" dirty="0">
                <a:solidFill>
                  <a:srgbClr val="006699"/>
                </a:solidFill>
                <a:latin typeface="Verdana" panose="020B0604030504040204" pitchFamily="34" charset="0"/>
              </a:rPr>
              <a:t>  }</a:t>
            </a:r>
          </a:p>
          <a:p>
            <a:pPr marL="0" indent="0" eaLnBrk="1" hangingPunct="1">
              <a:spcBef>
                <a:spcPct val="20000"/>
              </a:spcBef>
            </a:pPr>
            <a:r>
              <a:rPr lang="en-US" altLang="zh-CN" sz="2000" dirty="0">
                <a:solidFill>
                  <a:srgbClr val="006699"/>
                </a:solidFill>
                <a:latin typeface="Verdana" panose="020B0604030504040204" pitchFamily="34" charset="0"/>
              </a:rPr>
              <a:t>    x</a:t>
            </a:r>
          </a:p>
          <a:p>
            <a:pPr marL="0" indent="0" eaLnBrk="1" hangingPunct="1">
              <a:spcBef>
                <a:spcPct val="20000"/>
              </a:spcBef>
            </a:pPr>
            <a:r>
              <a:rPr lang="en-US" altLang="zh-CN" sz="2000" dirty="0">
                <a:solidFill>
                  <a:srgbClr val="006699"/>
                </a:solidFill>
                <a:latin typeface="Verdana" panose="020B0604030504040204" pitchFamily="34" charset="0"/>
              </a:rPr>
              <a:t>}</a:t>
            </a:r>
          </a:p>
        </p:txBody>
      </p:sp>
    </p:spTree>
    <p:extLst>
      <p:ext uri="{BB962C8B-B14F-4D97-AF65-F5344CB8AC3E}">
        <p14:creationId xmlns:p14="http://schemas.microsoft.com/office/powerpoint/2010/main" val="10770437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0" y="981512"/>
            <a:ext cx="9027495"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mn-lt"/>
              </a:rPr>
              <a:t>例</a:t>
            </a:r>
            <a:r>
              <a:rPr lang="en-US" altLang="zh-CN" sz="3200" dirty="0">
                <a:solidFill>
                  <a:srgbClr val="006699"/>
                </a:solidFill>
                <a:latin typeface="+mn-lt"/>
              </a:rPr>
              <a:t>6.6 (</a:t>
            </a:r>
            <a:r>
              <a:rPr lang="zh-CN" altLang="en-US" sz="3200" dirty="0">
                <a:solidFill>
                  <a:srgbClr val="FF0000"/>
                </a:solidFill>
                <a:latin typeface="+mn-lt"/>
              </a:rPr>
              <a:t>二项分布随机数</a:t>
            </a:r>
            <a:r>
              <a:rPr lang="en-US" altLang="zh-CN" sz="3200" dirty="0">
                <a:solidFill>
                  <a:srgbClr val="006699"/>
                </a:solidFill>
                <a:latin typeface="+mn-lt"/>
              </a:rPr>
              <a:t>) </a:t>
            </a:r>
          </a:p>
          <a:p>
            <a:pPr marL="0" indent="0" eaLnBrk="1" hangingPunct="1">
              <a:spcBef>
                <a:spcPct val="20000"/>
              </a:spcBef>
            </a:pPr>
            <a:r>
              <a:rPr lang="zh-CN" altLang="en-US" sz="3200" dirty="0">
                <a:solidFill>
                  <a:srgbClr val="006699"/>
                </a:solidFill>
                <a:latin typeface="+mn-lt"/>
              </a:rPr>
              <a:t>设</a:t>
            </a:r>
            <a:r>
              <a:rPr lang="en-US" altLang="zh-CN" sz="3200" dirty="0">
                <a:solidFill>
                  <a:srgbClr val="006699"/>
                </a:solidFill>
                <a:latin typeface="+mn-lt"/>
              </a:rPr>
              <a:t>p</a:t>
            </a:r>
            <a:r>
              <a:rPr lang="zh-CN" altLang="en-US" sz="3200" dirty="0">
                <a:solidFill>
                  <a:srgbClr val="006699"/>
                </a:solidFill>
                <a:latin typeface="+mn-lt"/>
              </a:rPr>
              <a:t>为成功的概率</a:t>
            </a:r>
            <a:r>
              <a:rPr lang="en-US" altLang="zh-CN" sz="3200" dirty="0">
                <a:solidFill>
                  <a:srgbClr val="006699"/>
                </a:solidFill>
                <a:latin typeface="+mn-lt"/>
              </a:rPr>
              <a:t>, </a:t>
            </a:r>
            <a:r>
              <a:rPr lang="zh-CN" altLang="en-US" sz="3200" dirty="0">
                <a:solidFill>
                  <a:srgbClr val="006699"/>
                </a:solidFill>
                <a:latin typeface="+mn-lt"/>
              </a:rPr>
              <a:t>做</a:t>
            </a:r>
            <a:r>
              <a:rPr lang="en-US" altLang="zh-CN" sz="3200" dirty="0">
                <a:solidFill>
                  <a:srgbClr val="006699"/>
                </a:solidFill>
                <a:latin typeface="+mn-lt"/>
              </a:rPr>
              <a:t>n</a:t>
            </a:r>
            <a:r>
              <a:rPr lang="zh-CN" altLang="en-US" sz="3200" dirty="0">
                <a:solidFill>
                  <a:srgbClr val="006699"/>
                </a:solidFill>
                <a:latin typeface="+mn-lt"/>
              </a:rPr>
              <a:t>次的独立重复试验，</a:t>
            </a:r>
            <a:r>
              <a:rPr lang="en-US" altLang="zh-CN" sz="3200" dirty="0">
                <a:solidFill>
                  <a:srgbClr val="006699"/>
                </a:solidFill>
                <a:latin typeface="+mn-lt"/>
              </a:rPr>
              <a:t>X</a:t>
            </a:r>
            <a:r>
              <a:rPr lang="zh-CN" altLang="en-US" sz="3200" dirty="0">
                <a:solidFill>
                  <a:srgbClr val="006699"/>
                </a:solidFill>
                <a:latin typeface="+mn-lt"/>
              </a:rPr>
              <a:t>为</a:t>
            </a:r>
            <a:r>
              <a:rPr lang="en-US" altLang="zh-CN" sz="3200" dirty="0">
                <a:solidFill>
                  <a:srgbClr val="006699"/>
                </a:solidFill>
                <a:latin typeface="+mn-lt"/>
              </a:rPr>
              <a:t>n</a:t>
            </a:r>
            <a:r>
              <a:rPr lang="zh-CN" altLang="en-US" sz="3200" dirty="0">
                <a:solidFill>
                  <a:srgbClr val="006699"/>
                </a:solidFill>
                <a:latin typeface="+mn-lt"/>
              </a:rPr>
              <a:t>次试验中成功的次数， 则</a:t>
            </a:r>
            <a:endParaRPr lang="en-US" altLang="zh-CN" sz="3200" dirty="0">
              <a:solidFill>
                <a:srgbClr val="006699"/>
              </a:solidFill>
              <a:latin typeface="+mn-lt"/>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8E71BB4-0F35-4C14-BD15-48E161C52FDC}"/>
                  </a:ext>
                </a:extLst>
              </p:cNvPr>
              <p:cNvSpPr/>
              <p:nvPr/>
            </p:nvSpPr>
            <p:spPr>
              <a:xfrm>
                <a:off x="924865" y="2483895"/>
                <a:ext cx="7287130" cy="134274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zh-CN" altLang="en-US" sz="3200" i="1">
                              <a:latin typeface="Cambria Math" panose="02040503050406030204" pitchFamily="18" charset="0"/>
                            </a:rPr>
                          </m:ctrlPr>
                        </m:eqArrPr>
                        <m:e>
                          <m:sSub>
                            <m:sSubPr>
                              <m:ctrlPr>
                                <a:rPr lang="zh-CN" altLang="en-US" sz="3200" i="1">
                                  <a:latin typeface="Cambria Math" panose="02040503050406030204" pitchFamily="18" charset="0"/>
                                </a:rPr>
                              </m:ctrlPr>
                            </m:sSubPr>
                            <m:e>
                              <m:r>
                                <a:rPr lang="zh-CN" altLang="en-US" sz="3200" i="1">
                                  <a:latin typeface="Cambria Math" panose="02040503050406030204" pitchFamily="18" charset="0"/>
                                </a:rPr>
                                <m:t>𝑝</m:t>
                              </m:r>
                            </m:e>
                            <m:sub>
                              <m:r>
                                <a:rPr lang="zh-CN" altLang="en-US" sz="3200" i="1">
                                  <a:latin typeface="Cambria Math" panose="02040503050406030204" pitchFamily="18" charset="0"/>
                                </a:rPr>
                                <m:t>𝑘</m:t>
                              </m:r>
                            </m:sub>
                          </m:sSub>
                          <m:r>
                            <a:rPr lang="zh-CN" altLang="en-US" sz="3200">
                              <a:latin typeface="Cambria Math" panose="02040503050406030204" pitchFamily="18" charset="0"/>
                            </a:rPr>
                            <m:t>=</m:t>
                          </m:r>
                          <m:r>
                            <a:rPr lang="zh-CN" altLang="en-US" sz="3200" i="1">
                              <a:latin typeface="Cambria Math" panose="02040503050406030204" pitchFamily="18" charset="0"/>
                            </a:rPr>
                            <m:t>𝑃</m:t>
                          </m:r>
                          <m:r>
                            <a:rPr lang="zh-CN" altLang="en-US" sz="3200">
                              <a:latin typeface="Cambria Math" panose="02040503050406030204" pitchFamily="18" charset="0"/>
                            </a:rPr>
                            <m:t>(</m:t>
                          </m:r>
                          <m:r>
                            <a:rPr lang="zh-CN" altLang="en-US" sz="3200" i="1">
                              <a:latin typeface="Cambria Math" panose="02040503050406030204" pitchFamily="18" charset="0"/>
                            </a:rPr>
                            <m:t>𝑋</m:t>
                          </m:r>
                          <m:r>
                            <a:rPr lang="zh-CN" altLang="en-US" sz="3200">
                              <a:latin typeface="Cambria Math" panose="02040503050406030204" pitchFamily="18" charset="0"/>
                            </a:rPr>
                            <m:t>=</m:t>
                          </m:r>
                          <m:r>
                            <a:rPr lang="zh-CN" altLang="en-US" sz="3200" i="1">
                              <a:latin typeface="Cambria Math" panose="02040503050406030204" pitchFamily="18" charset="0"/>
                            </a:rPr>
                            <m:t>𝑘</m:t>
                          </m:r>
                          <m:r>
                            <a:rPr lang="zh-CN" altLang="en-US" sz="3200">
                              <a:latin typeface="Cambria Math" panose="02040503050406030204" pitchFamily="18" charset="0"/>
                            </a:rPr>
                            <m:t>)=</m:t>
                          </m:r>
                          <m:d>
                            <m:dPr>
                              <m:ctrlPr>
                                <a:rPr lang="zh-CN" altLang="en-US" sz="3200" i="1">
                                  <a:latin typeface="Cambria Math" panose="02040503050406030204" pitchFamily="18" charset="0"/>
                                </a:rPr>
                              </m:ctrlPr>
                            </m:dPr>
                            <m:e>
                              <m:m>
                                <m:mPr>
                                  <m:plcHide m:val="on"/>
                                  <m:mcs>
                                    <m:mc>
                                      <m:mcPr>
                                        <m:count m:val="1"/>
                                        <m:mcJc m:val="center"/>
                                      </m:mcPr>
                                    </m:mc>
                                  </m:mcs>
                                  <m:ctrlPr>
                                    <a:rPr lang="zh-CN" altLang="en-US" sz="3200" i="1">
                                      <a:latin typeface="Cambria Math" panose="02040503050406030204" pitchFamily="18" charset="0"/>
                                    </a:rPr>
                                  </m:ctrlPr>
                                </m:mPr>
                                <m:mr>
                                  <m:e>
                                    <m:r>
                                      <a:rPr lang="zh-CN" altLang="en-US" sz="3200" i="1">
                                        <a:latin typeface="Cambria Math" panose="02040503050406030204" pitchFamily="18" charset="0"/>
                                      </a:rPr>
                                      <m:t>𝑛</m:t>
                                    </m:r>
                                  </m:e>
                                </m:mr>
                                <m:mr>
                                  <m:e>
                                    <m:r>
                                      <a:rPr lang="zh-CN" altLang="en-US" sz="3200" i="1">
                                        <a:latin typeface="Cambria Math" panose="02040503050406030204" pitchFamily="18" charset="0"/>
                                      </a:rPr>
                                      <m:t>𝑘</m:t>
                                    </m:r>
                                  </m:e>
                                </m:mr>
                              </m:m>
                            </m:e>
                          </m:d>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𝑝</m:t>
                              </m:r>
                            </m:e>
                            <m:sup>
                              <m:r>
                                <a:rPr lang="zh-CN" altLang="en-US" sz="3200" i="1">
                                  <a:latin typeface="Cambria Math" panose="02040503050406030204" pitchFamily="18" charset="0"/>
                                </a:rPr>
                                <m:t>𝑘</m:t>
                              </m:r>
                            </m:sup>
                          </m:sSup>
                          <m:sSup>
                            <m:sSupPr>
                              <m:ctrlPr>
                                <a:rPr lang="zh-CN" altLang="en-US" sz="3200" i="1">
                                  <a:latin typeface="Cambria Math" panose="02040503050406030204" pitchFamily="18" charset="0"/>
                                </a:rPr>
                              </m:ctrlPr>
                            </m:sSupPr>
                            <m:e>
                              <m:d>
                                <m:dPr>
                                  <m:ctrlPr>
                                    <a:rPr lang="zh-CN" altLang="en-US" sz="3200" i="1">
                                      <a:latin typeface="Cambria Math" panose="02040503050406030204" pitchFamily="18" charset="0"/>
                                    </a:rPr>
                                  </m:ctrlPr>
                                </m:dPr>
                                <m:e>
                                  <m:r>
                                    <a:rPr lang="zh-CN" altLang="en-US" sz="3200">
                                      <a:latin typeface="Cambria Math" panose="02040503050406030204" pitchFamily="18" charset="0"/>
                                    </a:rPr>
                                    <m:t>1−</m:t>
                                  </m:r>
                                  <m:r>
                                    <a:rPr lang="zh-CN" altLang="en-US" sz="3200" i="1">
                                      <a:latin typeface="Cambria Math" panose="02040503050406030204" pitchFamily="18" charset="0"/>
                                    </a:rPr>
                                    <m:t>𝑝</m:t>
                                  </m:r>
                                </m:e>
                              </m:d>
                            </m:e>
                            <m:sup>
                              <m:r>
                                <a:rPr lang="zh-CN" altLang="en-US" sz="3200" i="1">
                                  <a:latin typeface="Cambria Math" panose="02040503050406030204" pitchFamily="18" charset="0"/>
                                </a:rPr>
                                <m:t>𝑛</m:t>
                              </m:r>
                              <m:r>
                                <a:rPr lang="zh-CN" altLang="en-US" sz="3200">
                                  <a:latin typeface="Cambria Math" panose="02040503050406030204" pitchFamily="18" charset="0"/>
                                </a:rPr>
                                <m:t>−</m:t>
                              </m:r>
                              <m:r>
                                <a:rPr lang="zh-CN" altLang="en-US" sz="3200" i="1">
                                  <a:latin typeface="Cambria Math" panose="02040503050406030204" pitchFamily="18" charset="0"/>
                                </a:rPr>
                                <m:t>𝑘</m:t>
                              </m:r>
                            </m:sup>
                          </m:sSup>
                          <m:r>
                            <a:rPr lang="zh-CN" altLang="en-US" sz="3200">
                              <a:latin typeface="Cambria Math" panose="02040503050406030204" pitchFamily="18" charset="0"/>
                            </a:rPr>
                            <m:t>,</m:t>
                          </m:r>
                          <m:r>
                            <m:rPr>
                              <m:nor/>
                            </m:rPr>
                            <a:rPr lang="zh-CN" altLang="en-US" sz="3200" i="1">
                              <a:latin typeface="Cambria Math" panose="02040503050406030204" pitchFamily="18" charset="0"/>
                            </a:rPr>
                            <m:t> </m:t>
                          </m:r>
                        </m:e>
                        <m:e>
                          <m:r>
                            <a:rPr lang="zh-CN" altLang="en-US" sz="3200" i="1">
                              <a:latin typeface="Cambria Math" panose="02040503050406030204" pitchFamily="18" charset="0"/>
                            </a:rPr>
                            <m:t>𝑘</m:t>
                          </m:r>
                          <m:r>
                            <a:rPr lang="zh-CN" altLang="en-US" sz="3200">
                              <a:latin typeface="Cambria Math" panose="02040503050406030204" pitchFamily="18" charset="0"/>
                            </a:rPr>
                            <m:t>=0,1,…,</m:t>
                          </m:r>
                          <m:r>
                            <a:rPr lang="zh-CN" altLang="en-US" sz="3200" i="1">
                              <a:latin typeface="Cambria Math" panose="02040503050406030204" pitchFamily="18" charset="0"/>
                            </a:rPr>
                            <m:t>𝑛</m:t>
                          </m:r>
                          <m:r>
                            <m:rPr>
                              <m:nor/>
                            </m:rPr>
                            <a:rPr lang="zh-CN" altLang="en-US" sz="3200" i="1">
                              <a:latin typeface="Cambria Math" panose="02040503050406030204" pitchFamily="18" charset="0"/>
                            </a:rPr>
                            <m:t> </m:t>
                          </m:r>
                          <m:r>
                            <a:rPr lang="zh-CN" altLang="en-US" sz="3200">
                              <a:latin typeface="Cambria Math" panose="02040503050406030204" pitchFamily="18" charset="0"/>
                            </a:rPr>
                            <m:t>(0&lt;</m:t>
                          </m:r>
                          <m:r>
                            <a:rPr lang="zh-CN" altLang="en-US" sz="3200" i="1">
                              <a:latin typeface="Cambria Math" panose="02040503050406030204" pitchFamily="18" charset="0"/>
                            </a:rPr>
                            <m:t>𝑝</m:t>
                          </m:r>
                          <m:r>
                            <a:rPr lang="zh-CN" altLang="en-US" sz="3200">
                              <a:latin typeface="Cambria Math" panose="02040503050406030204" pitchFamily="18" charset="0"/>
                            </a:rPr>
                            <m:t>&lt;1</m:t>
                          </m:r>
                          <m:r>
                            <a:rPr lang="en-US" altLang="zh-CN" sz="3200">
                              <a:latin typeface="Cambria Math" panose="02040503050406030204" pitchFamily="18" charset="0"/>
                            </a:rPr>
                            <m:t>)</m:t>
                          </m:r>
                        </m:e>
                      </m:eqArr>
                    </m:oMath>
                  </m:oMathPara>
                </a14:m>
                <a:endParaRPr lang="zh-CN" altLang="en-US" sz="3200" dirty="0"/>
              </a:p>
            </p:txBody>
          </p:sp>
        </mc:Choice>
        <mc:Fallback xmlns="">
          <p:sp>
            <p:nvSpPr>
              <p:cNvPr id="2" name="矩形 1">
                <a:extLst>
                  <a:ext uri="{FF2B5EF4-FFF2-40B4-BE49-F238E27FC236}">
                    <a16:creationId xmlns:a16="http://schemas.microsoft.com/office/drawing/2014/main" id="{88E71BB4-0F35-4C14-BD15-48E161C52FDC}"/>
                  </a:ext>
                </a:extLst>
              </p:cNvPr>
              <p:cNvSpPr>
                <a:spLocks noRot="1" noChangeAspect="1" noMove="1" noResize="1" noEditPoints="1" noAdjustHandles="1" noChangeArrowheads="1" noChangeShapeType="1" noTextEdit="1"/>
              </p:cNvSpPr>
              <p:nvPr/>
            </p:nvSpPr>
            <p:spPr>
              <a:xfrm>
                <a:off x="924865" y="2483895"/>
                <a:ext cx="7287130" cy="1342740"/>
              </a:xfrm>
              <a:prstGeom prst="rect">
                <a:avLst/>
              </a:prstGeom>
              <a:blipFill>
                <a:blip r:embed="rId2"/>
                <a:stretch>
                  <a:fillRect/>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7A726813-448B-45DB-A1A7-DE0029606E41}"/>
              </a:ext>
            </a:extLst>
          </p:cNvPr>
          <p:cNvSpPr/>
          <p:nvPr/>
        </p:nvSpPr>
        <p:spPr>
          <a:xfrm>
            <a:off x="274021" y="4374105"/>
            <a:ext cx="6683243" cy="584775"/>
          </a:xfrm>
          <a:prstGeom prst="rect">
            <a:avLst/>
          </a:prstGeom>
        </p:spPr>
        <p:txBody>
          <a:bodyPr wrap="square">
            <a:spAutoFit/>
          </a:bodyPr>
          <a:lstStyle/>
          <a:p>
            <a:r>
              <a:rPr lang="zh-CN" altLang="en-US" sz="3200" dirty="0">
                <a:solidFill>
                  <a:srgbClr val="006699"/>
                </a:solidFill>
                <a:latin typeface="Verdana" panose="020B0604030504040204" pitchFamily="34" charset="0"/>
              </a:rPr>
              <a:t>称</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服从</a:t>
            </a:r>
            <a:r>
              <a:rPr lang="zh-CN" altLang="en-US" sz="3200" b="1" dirty="0">
                <a:solidFill>
                  <a:srgbClr val="006699"/>
                </a:solidFill>
                <a:latin typeface="Verdana" panose="020B0604030504040204" pitchFamily="34" charset="0"/>
              </a:rPr>
              <a:t>二项分布</a:t>
            </a:r>
            <a:r>
              <a:rPr lang="zh-CN" altLang="en-US" sz="3200" dirty="0">
                <a:solidFill>
                  <a:srgbClr val="006699"/>
                </a:solidFill>
                <a:latin typeface="Verdana" panose="020B0604030504040204" pitchFamily="34" charset="0"/>
              </a:rPr>
              <a:t>，记为</a:t>
            </a:r>
            <a:r>
              <a:rPr lang="en-US" altLang="zh-CN" sz="3200" dirty="0">
                <a:solidFill>
                  <a:srgbClr val="006699"/>
                </a:solidFill>
                <a:latin typeface="Verdana" panose="020B0604030504040204" pitchFamily="34" charset="0"/>
              </a:rPr>
              <a:t>X∼B(</a:t>
            </a:r>
            <a:r>
              <a:rPr lang="en-US" altLang="zh-CN" sz="3200" dirty="0" err="1">
                <a:solidFill>
                  <a:srgbClr val="006699"/>
                </a:solidFill>
                <a:latin typeface="Verdana" panose="020B0604030504040204" pitchFamily="34" charset="0"/>
              </a:rPr>
              <a:t>n,p</a:t>
            </a:r>
            <a:r>
              <a:rPr lang="en-US" altLang="zh-CN" sz="3200" dirty="0">
                <a:solidFill>
                  <a:srgbClr val="006699"/>
                </a:solidFill>
                <a:latin typeface="Verdana" panose="020B0604030504040204" pitchFamily="34" charset="0"/>
              </a:rPr>
              <a:t>)</a:t>
            </a:r>
            <a:endParaRPr lang="zh-CN" altLang="en-US" dirty="0"/>
          </a:p>
        </p:txBody>
      </p:sp>
    </p:spTree>
    <p:extLst>
      <p:ext uri="{BB962C8B-B14F-4D97-AF65-F5344CB8AC3E}">
        <p14:creationId xmlns:p14="http://schemas.microsoft.com/office/powerpoint/2010/main" val="34481429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176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6.6 (</a:t>
            </a:r>
            <a:r>
              <a:rPr lang="zh-CN" altLang="en-US" sz="3200" dirty="0">
                <a:solidFill>
                  <a:srgbClr val="006699"/>
                </a:solidFill>
                <a:latin typeface="Verdana" panose="020B0604030504040204" pitchFamily="34" charset="0"/>
              </a:rPr>
              <a:t>二项分布随机数</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设法用定理</a:t>
            </a:r>
            <a:r>
              <a:rPr lang="en-US" altLang="zh-CN" sz="3200" dirty="0">
                <a:solidFill>
                  <a:srgbClr val="006699"/>
                </a:solidFill>
                <a:latin typeface="Verdana" panose="020B0604030504040204" pitchFamily="34" charset="0"/>
              </a:rPr>
              <a:t>6.2</a:t>
            </a:r>
            <a:r>
              <a:rPr lang="zh-CN" altLang="en-US" sz="3200" dirty="0">
                <a:solidFill>
                  <a:srgbClr val="006699"/>
                </a:solidFill>
                <a:latin typeface="Verdana" panose="020B0604030504040204" pitchFamily="34" charset="0"/>
              </a:rPr>
              <a:t>构造二项分布随机数。 </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二项分布取值概率有如下递推式</a:t>
            </a:r>
            <a:r>
              <a:rPr lang="en-US" altLang="zh-CN" sz="3200" dirty="0">
                <a:solidFill>
                  <a:srgbClr val="006699"/>
                </a:solidFill>
                <a:latin typeface="Verdana" panose="020B0604030504040204" pitchFamily="34" charset="0"/>
              </a:rPr>
              <a:t>:</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013E3C7-D488-40AE-895E-95B6B8B305E9}"/>
                  </a:ext>
                </a:extLst>
              </p:cNvPr>
              <p:cNvSpPr/>
              <p:nvPr/>
            </p:nvSpPr>
            <p:spPr>
              <a:xfrm>
                <a:off x="1196625" y="2752176"/>
                <a:ext cx="6429773" cy="9828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𝑝</m:t>
                          </m:r>
                        </m:e>
                        <m:sub>
                          <m:r>
                            <a:rPr lang="zh-CN" altLang="en-US" sz="2800" i="1">
                              <a:latin typeface="Cambria Math" panose="02040503050406030204" pitchFamily="18" charset="0"/>
                            </a:rPr>
                            <m:t>𝑘</m:t>
                          </m:r>
                          <m:r>
                            <a:rPr lang="zh-CN" altLang="en-US" sz="2800" i="0">
                              <a:latin typeface="Cambria Math" panose="02040503050406030204" pitchFamily="18" charset="0"/>
                            </a:rPr>
                            <m:t>+1</m:t>
                          </m:r>
                        </m:sub>
                      </m:sSub>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𝑛</m:t>
                          </m:r>
                          <m:r>
                            <a:rPr lang="zh-CN" altLang="en-US" sz="2800" i="0">
                              <a:latin typeface="Cambria Math" panose="02040503050406030204" pitchFamily="18" charset="0"/>
                            </a:rPr>
                            <m:t>−</m:t>
                          </m:r>
                          <m:r>
                            <a:rPr lang="zh-CN" altLang="en-US" sz="2800" i="1">
                              <a:latin typeface="Cambria Math" panose="02040503050406030204" pitchFamily="18" charset="0"/>
                            </a:rPr>
                            <m:t>𝑘</m:t>
                          </m:r>
                        </m:num>
                        <m:den>
                          <m:r>
                            <a:rPr lang="zh-CN" altLang="en-US" sz="2800" i="1">
                              <a:latin typeface="Cambria Math" panose="02040503050406030204" pitchFamily="18" charset="0"/>
                            </a:rPr>
                            <m:t>𝑘</m:t>
                          </m:r>
                          <m:r>
                            <a:rPr lang="zh-CN" altLang="en-US" sz="2800" i="0">
                              <a:latin typeface="Cambria Math" panose="02040503050406030204" pitchFamily="18" charset="0"/>
                            </a:rPr>
                            <m:t>+1</m:t>
                          </m:r>
                        </m:den>
                      </m:f>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𝑝</m:t>
                          </m:r>
                        </m:num>
                        <m:den>
                          <m:r>
                            <a:rPr lang="zh-CN" altLang="en-US" sz="2800" i="0">
                              <a:latin typeface="Cambria Math" panose="02040503050406030204" pitchFamily="18" charset="0"/>
                            </a:rPr>
                            <m:t>1−</m:t>
                          </m:r>
                          <m:r>
                            <a:rPr lang="zh-CN" altLang="en-US" sz="2800" i="1">
                              <a:latin typeface="Cambria Math" panose="02040503050406030204" pitchFamily="18" charset="0"/>
                            </a:rPr>
                            <m:t>𝑝</m:t>
                          </m:r>
                        </m:den>
                      </m:f>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𝑝</m:t>
                          </m:r>
                        </m:e>
                        <m:sub>
                          <m:r>
                            <a:rPr lang="zh-CN" altLang="en-US" sz="2800" i="1">
                              <a:latin typeface="Cambria Math" panose="02040503050406030204" pitchFamily="18" charset="0"/>
                            </a:rPr>
                            <m:t>𝑘</m:t>
                          </m:r>
                        </m:sub>
                      </m:sSub>
                      <m:r>
                        <a:rPr lang="zh-CN" altLang="en-US" sz="2800" i="0">
                          <a:latin typeface="Cambria Math" panose="02040503050406030204" pitchFamily="18" charset="0"/>
                        </a:rPr>
                        <m:t>,</m:t>
                      </m:r>
                      <m:r>
                        <m:rPr>
                          <m:nor/>
                        </m:rPr>
                        <a:rPr lang="zh-CN" altLang="en-US" sz="2800" i="1">
                          <a:latin typeface="Cambria Math" panose="02040503050406030204" pitchFamily="18" charset="0"/>
                        </a:rPr>
                        <m:t> </m:t>
                      </m:r>
                      <m:r>
                        <a:rPr lang="zh-CN" altLang="en-US" sz="2800" i="1">
                          <a:latin typeface="Cambria Math" panose="02040503050406030204" pitchFamily="18" charset="0"/>
                        </a:rPr>
                        <m:t>𝑘</m:t>
                      </m:r>
                      <m:r>
                        <a:rPr lang="zh-CN" altLang="en-US" sz="2800" i="0">
                          <a:latin typeface="Cambria Math" panose="02040503050406030204" pitchFamily="18" charset="0"/>
                        </a:rPr>
                        <m:t>=0,1,…,</m:t>
                      </m:r>
                      <m:r>
                        <a:rPr lang="zh-CN" altLang="en-US" sz="2800" i="1">
                          <a:latin typeface="Cambria Math" panose="02040503050406030204" pitchFamily="18" charset="0"/>
                        </a:rPr>
                        <m:t>𝑛</m:t>
                      </m:r>
                      <m:r>
                        <a:rPr lang="zh-CN" altLang="en-US" sz="2800" i="0">
                          <a:latin typeface="Cambria Math" panose="02040503050406030204" pitchFamily="18" charset="0"/>
                        </a:rPr>
                        <m:t>−1</m:t>
                      </m:r>
                    </m:oMath>
                  </m:oMathPara>
                </a14:m>
                <a:endParaRPr lang="zh-CN" altLang="en-US" sz="2800" dirty="0"/>
              </a:p>
            </p:txBody>
          </p:sp>
        </mc:Choice>
        <mc:Fallback xmlns="">
          <p:sp>
            <p:nvSpPr>
              <p:cNvPr id="3" name="矩形 2">
                <a:extLst>
                  <a:ext uri="{FF2B5EF4-FFF2-40B4-BE49-F238E27FC236}">
                    <a16:creationId xmlns:a16="http://schemas.microsoft.com/office/drawing/2014/main" id="{1013E3C7-D488-40AE-895E-95B6B8B305E9}"/>
                  </a:ext>
                </a:extLst>
              </p:cNvPr>
              <p:cNvSpPr>
                <a:spLocks noRot="1" noChangeAspect="1" noMove="1" noResize="1" noEditPoints="1" noAdjustHandles="1" noChangeArrowheads="1" noChangeShapeType="1" noTextEdit="1"/>
              </p:cNvSpPr>
              <p:nvPr/>
            </p:nvSpPr>
            <p:spPr>
              <a:xfrm>
                <a:off x="1196625" y="2752176"/>
                <a:ext cx="6429773" cy="982898"/>
              </a:xfrm>
              <a:prstGeom prst="rect">
                <a:avLst/>
              </a:prstGeom>
              <a:blipFill>
                <a:blip r:embed="rId2"/>
                <a:stretch>
                  <a:fillRect/>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6E52D9F1-F9AE-4413-8240-5BD063BFF6BA}"/>
              </a:ext>
            </a:extLst>
          </p:cNvPr>
          <p:cNvSpPr/>
          <p:nvPr/>
        </p:nvSpPr>
        <p:spPr>
          <a:xfrm>
            <a:off x="274022" y="3744815"/>
            <a:ext cx="8708468" cy="1077218"/>
          </a:xfrm>
          <a:prstGeom prst="rect">
            <a:avLst/>
          </a:prstGeom>
        </p:spPr>
        <p:txBody>
          <a:bodyPr wrap="square">
            <a:spAutoFit/>
          </a:bodyPr>
          <a:lstStyle/>
          <a:p>
            <a:r>
              <a:rPr lang="zh-CN" altLang="en-US" sz="3200" dirty="0">
                <a:solidFill>
                  <a:srgbClr val="006699"/>
                </a:solidFill>
                <a:latin typeface="Verdana" panose="020B0604030504040204" pitchFamily="34" charset="0"/>
              </a:rPr>
              <a:t>故利用定理</a:t>
            </a:r>
            <a:r>
              <a:rPr lang="en-US" altLang="zh-CN" sz="3200" dirty="0">
                <a:solidFill>
                  <a:srgbClr val="006699"/>
                </a:solidFill>
                <a:latin typeface="Verdana" panose="020B0604030504040204" pitchFamily="34" charset="0"/>
              </a:rPr>
              <a:t>6.2</a:t>
            </a:r>
            <a:r>
              <a:rPr lang="zh-CN" altLang="en-US" sz="3200" dirty="0">
                <a:solidFill>
                  <a:srgbClr val="006699"/>
                </a:solidFill>
                <a:latin typeface="Verdana" panose="020B0604030504040204" pitchFamily="34" charset="0"/>
              </a:rPr>
              <a:t>构造二项分布随机数时， 可以递推计算</a:t>
            </a:r>
            <a:endParaRPr lang="zh-CN" altLang="en-US" dirty="0"/>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D3F2B8E-A701-482D-A347-4A01975D7456}"/>
                  </a:ext>
                </a:extLst>
              </p:cNvPr>
              <p:cNvSpPr/>
              <p:nvPr/>
            </p:nvSpPr>
            <p:spPr>
              <a:xfrm>
                <a:off x="-32280" y="4847766"/>
                <a:ext cx="9014770" cy="85581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𝑘</m:t>
                      </m:r>
                      <m:r>
                        <a:rPr lang="zh-CN" altLang="en-US" sz="2400" i="0">
                          <a:latin typeface="Cambria Math" panose="02040503050406030204" pitchFamily="18" charset="0"/>
                        </a:rPr>
                        <m:t>+1)=</m:t>
                      </m:r>
                      <m:r>
                        <a:rPr lang="zh-CN" altLang="en-US" sz="2400" i="1">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𝑘</m:t>
                      </m:r>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𝑘</m:t>
                          </m:r>
                          <m:r>
                            <a:rPr lang="zh-CN" altLang="en-US" sz="2400" i="0">
                              <a:latin typeface="Cambria Math" panose="02040503050406030204" pitchFamily="18" charset="0"/>
                            </a:rPr>
                            <m:t>+1</m:t>
                          </m:r>
                        </m:sub>
                      </m:sSub>
                      <m:r>
                        <a:rPr lang="zh-CN" altLang="en-US" sz="2400" i="0">
                          <a:latin typeface="Cambria Math" panose="02040503050406030204" pitchFamily="18" charset="0"/>
                        </a:rPr>
                        <m:t>=</m:t>
                      </m:r>
                      <m:r>
                        <a:rPr lang="zh-CN" altLang="en-US" sz="2400" i="1">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𝑘</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𝑛</m:t>
                          </m:r>
                          <m:r>
                            <a:rPr lang="zh-CN" altLang="en-US" sz="2400" i="0">
                              <a:latin typeface="Cambria Math" panose="02040503050406030204" pitchFamily="18" charset="0"/>
                            </a:rPr>
                            <m:t>−</m:t>
                          </m:r>
                          <m:r>
                            <a:rPr lang="zh-CN" altLang="en-US" sz="2400" i="1">
                              <a:latin typeface="Cambria Math" panose="02040503050406030204" pitchFamily="18" charset="0"/>
                            </a:rPr>
                            <m:t>𝑘</m:t>
                          </m:r>
                        </m:num>
                        <m:den>
                          <m:r>
                            <a:rPr lang="zh-CN" altLang="en-US" sz="2400" i="1">
                              <a:latin typeface="Cambria Math" panose="02040503050406030204" pitchFamily="18" charset="0"/>
                            </a:rPr>
                            <m:t>𝑘</m:t>
                          </m:r>
                          <m:r>
                            <a:rPr lang="zh-CN" altLang="en-US" sz="2400" i="0">
                              <a:latin typeface="Cambria Math" panose="02040503050406030204" pitchFamily="18" charset="0"/>
                            </a:rPr>
                            <m:t>+1</m:t>
                          </m:r>
                        </m:den>
                      </m:f>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𝑝</m:t>
                          </m:r>
                        </m:num>
                        <m:den>
                          <m:r>
                            <a:rPr lang="zh-CN" altLang="en-US" sz="2400" i="0">
                              <a:latin typeface="Cambria Math" panose="02040503050406030204" pitchFamily="18" charset="0"/>
                            </a:rPr>
                            <m:t>1−</m:t>
                          </m:r>
                          <m:r>
                            <a:rPr lang="zh-CN" altLang="en-US" sz="2400" i="1">
                              <a:latin typeface="Cambria Math" panose="02040503050406030204" pitchFamily="18" charset="0"/>
                            </a:rPr>
                            <m:t>𝑝</m:t>
                          </m:r>
                        </m:den>
                      </m:f>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𝑘</m:t>
                          </m:r>
                        </m:sub>
                      </m:sSub>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1">
                          <a:latin typeface="Cambria Math" panose="02040503050406030204" pitchFamily="18" charset="0"/>
                        </a:rPr>
                        <m:t>𝑘</m:t>
                      </m:r>
                      <m:r>
                        <a:rPr lang="zh-CN" altLang="en-US" sz="2400" i="0">
                          <a:latin typeface="Cambria Math" panose="02040503050406030204" pitchFamily="18" charset="0"/>
                        </a:rPr>
                        <m:t>=0,1,…,</m:t>
                      </m:r>
                      <m:r>
                        <a:rPr lang="zh-CN" altLang="en-US" sz="2400" i="1">
                          <a:latin typeface="Cambria Math" panose="02040503050406030204" pitchFamily="18" charset="0"/>
                        </a:rPr>
                        <m:t>𝑛</m:t>
                      </m:r>
                      <m:r>
                        <a:rPr lang="zh-CN" altLang="en-US" sz="2400" i="0">
                          <a:latin typeface="Cambria Math" panose="02040503050406030204" pitchFamily="18" charset="0"/>
                        </a:rPr>
                        <m:t>−1</m:t>
                      </m:r>
                    </m:oMath>
                  </m:oMathPara>
                </a14:m>
                <a:endParaRPr lang="zh-CN" altLang="en-US" sz="2400" dirty="0"/>
              </a:p>
            </p:txBody>
          </p:sp>
        </mc:Choice>
        <mc:Fallback xmlns="">
          <p:sp>
            <p:nvSpPr>
              <p:cNvPr id="8" name="矩形 7">
                <a:extLst>
                  <a:ext uri="{FF2B5EF4-FFF2-40B4-BE49-F238E27FC236}">
                    <a16:creationId xmlns:a16="http://schemas.microsoft.com/office/drawing/2014/main" id="{2D3F2B8E-A701-482D-A347-4A01975D7456}"/>
                  </a:ext>
                </a:extLst>
              </p:cNvPr>
              <p:cNvSpPr>
                <a:spLocks noRot="1" noChangeAspect="1" noMove="1" noResize="1" noEditPoints="1" noAdjustHandles="1" noChangeArrowheads="1" noChangeShapeType="1" noTextEdit="1"/>
              </p:cNvSpPr>
              <p:nvPr/>
            </p:nvSpPr>
            <p:spPr>
              <a:xfrm>
                <a:off x="-32280" y="4847766"/>
                <a:ext cx="9014770" cy="855812"/>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8482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6.6 (</a:t>
            </a:r>
            <a:r>
              <a:rPr lang="zh-CN" altLang="en-US" sz="3200" dirty="0">
                <a:solidFill>
                  <a:srgbClr val="FF0000"/>
                </a:solidFill>
                <a:latin typeface="Verdana" panose="020B0604030504040204" pitchFamily="34" charset="0"/>
              </a:rPr>
              <a:t>二项分布随机数</a:t>
            </a:r>
            <a:r>
              <a:rPr lang="en-US" altLang="zh-CN" sz="3200" dirty="0">
                <a:solidFill>
                  <a:srgbClr val="006699"/>
                </a:solidFill>
                <a:latin typeface="Verdana" panose="020B0604030504040204" pitchFamily="34" charset="0"/>
              </a:rPr>
              <a:t>) </a:t>
            </a:r>
          </a:p>
        </p:txBody>
      </p:sp>
      <p:sp>
        <p:nvSpPr>
          <p:cNvPr id="5" name="矩形 4">
            <a:extLst>
              <a:ext uri="{FF2B5EF4-FFF2-40B4-BE49-F238E27FC236}">
                <a16:creationId xmlns:a16="http://schemas.microsoft.com/office/drawing/2014/main" id="{7A726813-448B-45DB-A1A7-DE0029606E41}"/>
              </a:ext>
            </a:extLst>
          </p:cNvPr>
          <p:cNvSpPr/>
          <p:nvPr/>
        </p:nvSpPr>
        <p:spPr>
          <a:xfrm>
            <a:off x="251821" y="1573475"/>
            <a:ext cx="8869979" cy="4524315"/>
          </a:xfrm>
          <a:prstGeom prst="rect">
            <a:avLst/>
          </a:prstGeom>
        </p:spPr>
        <p:txBody>
          <a:bodyPr wrap="square">
            <a:spAutoFit/>
          </a:bodyPr>
          <a:lstStyle/>
          <a:p>
            <a:r>
              <a:rPr lang="zh-CN" altLang="en-US" sz="3200" dirty="0">
                <a:solidFill>
                  <a:srgbClr val="006699"/>
                </a:solidFill>
                <a:latin typeface="+mn-lt"/>
              </a:rPr>
              <a:t>步骤</a:t>
            </a:r>
            <a:r>
              <a:rPr lang="en-US" altLang="zh-CN" sz="3200" dirty="0">
                <a:solidFill>
                  <a:srgbClr val="006699"/>
                </a:solidFill>
                <a:latin typeface="+mn-lt"/>
              </a:rPr>
              <a:t>1:</a:t>
            </a:r>
            <a:r>
              <a:rPr lang="zh-CN" altLang="en-US" sz="3200" dirty="0">
                <a:solidFill>
                  <a:srgbClr val="006699"/>
                </a:solidFill>
                <a:latin typeface="+mn-lt"/>
              </a:rPr>
              <a:t>生成一个随机数</a:t>
            </a:r>
            <a:r>
              <a:rPr lang="en-US" altLang="zh-CN" sz="3200" dirty="0">
                <a:solidFill>
                  <a:srgbClr val="006699"/>
                </a:solidFill>
                <a:latin typeface="+mn-lt"/>
              </a:rPr>
              <a:t>U.</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2:c=p/(1-p),</a:t>
            </a:r>
            <a:r>
              <a:rPr lang="en-US" altLang="zh-CN" sz="3200" dirty="0" err="1">
                <a:solidFill>
                  <a:srgbClr val="006699"/>
                </a:solidFill>
                <a:latin typeface="+mn-lt"/>
              </a:rPr>
              <a:t>i</a:t>
            </a:r>
            <a:r>
              <a:rPr lang="en-US" altLang="zh-CN" sz="3200" dirty="0">
                <a:solidFill>
                  <a:srgbClr val="006699"/>
                </a:solidFill>
                <a:latin typeface="+mn-lt"/>
              </a:rPr>
              <a:t>=0,a=(1-p)</a:t>
            </a:r>
            <a:r>
              <a:rPr lang="en-US" altLang="zh-CN" sz="3200" baseline="30000">
                <a:solidFill>
                  <a:srgbClr val="006699"/>
                </a:solidFill>
                <a:latin typeface="+mn-lt"/>
              </a:rPr>
              <a:t>n</a:t>
            </a:r>
            <a:r>
              <a:rPr lang="en-US" altLang="zh-CN" sz="3200">
                <a:solidFill>
                  <a:srgbClr val="006699"/>
                </a:solidFill>
                <a:latin typeface="+mn-lt"/>
              </a:rPr>
              <a:t>,</a:t>
            </a:r>
            <a:r>
              <a:rPr lang="en-US" altLang="zh-CN" sz="3200" dirty="0" err="1">
                <a:solidFill>
                  <a:srgbClr val="006699"/>
                </a:solidFill>
                <a:latin typeface="+mn-lt"/>
              </a:rPr>
              <a:t>F</a:t>
            </a:r>
            <a:r>
              <a:rPr lang="en-US" altLang="zh-CN" sz="3200" dirty="0">
                <a:solidFill>
                  <a:srgbClr val="006699"/>
                </a:solidFill>
                <a:latin typeface="+mn-lt"/>
              </a:rPr>
              <a:t>=a.</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3:</a:t>
            </a:r>
            <a:r>
              <a:rPr lang="zh-CN" altLang="en-US" sz="3200" dirty="0">
                <a:solidFill>
                  <a:srgbClr val="006699"/>
                </a:solidFill>
                <a:latin typeface="+mn-lt"/>
              </a:rPr>
              <a:t>如果</a:t>
            </a:r>
            <a:r>
              <a:rPr lang="en-US" altLang="zh-CN" sz="3200" dirty="0">
                <a:solidFill>
                  <a:srgbClr val="006699"/>
                </a:solidFill>
                <a:latin typeface="+mn-lt"/>
              </a:rPr>
              <a:t>U&lt;F,</a:t>
            </a:r>
            <a:r>
              <a:rPr lang="zh-CN" altLang="en-US" sz="3200" dirty="0">
                <a:solidFill>
                  <a:srgbClr val="006699"/>
                </a:solidFill>
                <a:latin typeface="+mn-lt"/>
              </a:rPr>
              <a:t>令</a:t>
            </a:r>
            <a:r>
              <a:rPr lang="en-US" altLang="zh-CN" sz="3200" dirty="0">
                <a:solidFill>
                  <a:srgbClr val="006699"/>
                </a:solidFill>
                <a:latin typeface="+mn-lt"/>
              </a:rPr>
              <a:t>X=</a:t>
            </a:r>
            <a:r>
              <a:rPr lang="en-US" altLang="zh-CN" sz="3200" dirty="0" err="1">
                <a:solidFill>
                  <a:srgbClr val="006699"/>
                </a:solidFill>
                <a:latin typeface="+mn-lt"/>
              </a:rPr>
              <a:t>i</a:t>
            </a:r>
            <a:r>
              <a:rPr lang="zh-CN" altLang="en-US" sz="3200" dirty="0">
                <a:solidFill>
                  <a:srgbClr val="006699"/>
                </a:solidFill>
                <a:latin typeface="+mn-lt"/>
              </a:rPr>
              <a:t>并停止</a:t>
            </a:r>
            <a:r>
              <a:rPr lang="en-US" altLang="zh-CN" sz="3200" dirty="0">
                <a:solidFill>
                  <a:srgbClr val="006699"/>
                </a:solidFill>
                <a:latin typeface="+mn-lt"/>
              </a:rPr>
              <a:t>.</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4:a=(c(n-</a:t>
            </a:r>
            <a:r>
              <a:rPr lang="en-US" altLang="zh-CN" sz="3200" dirty="0" err="1">
                <a:solidFill>
                  <a:srgbClr val="006699"/>
                </a:solidFill>
                <a:latin typeface="+mn-lt"/>
              </a:rPr>
              <a:t>i</a:t>
            </a:r>
            <a:r>
              <a:rPr lang="en-US" altLang="zh-CN" sz="3200" dirty="0">
                <a:solidFill>
                  <a:srgbClr val="006699"/>
                </a:solidFill>
                <a:latin typeface="+mn-lt"/>
              </a:rPr>
              <a:t>)/(i+1)</a:t>
            </a:r>
            <a:r>
              <a:rPr lang="en-US" altLang="zh-CN" sz="3200" dirty="0" err="1">
                <a:solidFill>
                  <a:srgbClr val="006699"/>
                </a:solidFill>
                <a:latin typeface="+mn-lt"/>
              </a:rPr>
              <a:t>a,F</a:t>
            </a:r>
            <a:r>
              <a:rPr lang="en-US" altLang="zh-CN" sz="3200" dirty="0">
                <a:solidFill>
                  <a:srgbClr val="006699"/>
                </a:solidFill>
                <a:latin typeface="+mn-lt"/>
              </a:rPr>
              <a:t>=</a:t>
            </a:r>
            <a:r>
              <a:rPr lang="en-US" altLang="zh-CN" sz="3200" dirty="0" err="1">
                <a:solidFill>
                  <a:srgbClr val="006699"/>
                </a:solidFill>
                <a:latin typeface="+mn-lt"/>
              </a:rPr>
              <a:t>F+a,i</a:t>
            </a:r>
            <a:r>
              <a:rPr lang="en-US" altLang="zh-CN" sz="3200" dirty="0">
                <a:solidFill>
                  <a:srgbClr val="006699"/>
                </a:solidFill>
                <a:latin typeface="+mn-lt"/>
              </a:rPr>
              <a:t>=i+1.</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5:</a:t>
            </a:r>
            <a:r>
              <a:rPr lang="zh-CN" altLang="en-US" sz="3200" dirty="0">
                <a:solidFill>
                  <a:srgbClr val="006699"/>
                </a:solidFill>
                <a:latin typeface="+mn-lt"/>
              </a:rPr>
              <a:t>转至步骤</a:t>
            </a:r>
            <a:r>
              <a:rPr lang="en-US" altLang="zh-CN" sz="3200" dirty="0">
                <a:solidFill>
                  <a:srgbClr val="006699"/>
                </a:solidFill>
                <a:latin typeface="+mn-lt"/>
              </a:rPr>
              <a:t>3.</a:t>
            </a:r>
            <a:endParaRPr lang="zh-CN" altLang="en-US" dirty="0">
              <a:latin typeface="+mn-lt"/>
            </a:endParaRPr>
          </a:p>
        </p:txBody>
      </p:sp>
    </p:spTree>
    <p:extLst>
      <p:ext uri="{BB962C8B-B14F-4D97-AF65-F5344CB8AC3E}">
        <p14:creationId xmlns:p14="http://schemas.microsoft.com/office/powerpoint/2010/main" val="7090630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C59DA84-7C5C-2903-77F3-AD57CBC4AC9E}"/>
                  </a:ext>
                </a:extLst>
              </p:cNvPr>
              <p:cNvSpPr txBox="1"/>
              <p:nvPr/>
            </p:nvSpPr>
            <p:spPr>
              <a:xfrm>
                <a:off x="116505" y="1045014"/>
                <a:ext cx="9027495" cy="4767972"/>
              </a:xfrm>
              <a:prstGeom prst="rect">
                <a:avLst/>
              </a:prstGeom>
              <a:noFill/>
              <a:ln w="25400">
                <a:noFill/>
              </a:ln>
            </p:spPr>
            <p:txBody>
              <a:bodyPr wrap="square">
                <a:spAutoFit/>
              </a:bodyPr>
              <a:lstStyle/>
              <a:p>
                <a:pPr>
                  <a:spcBef>
                    <a:spcPts val="900"/>
                  </a:spcBef>
                  <a:spcAft>
                    <a:spcPts val="900"/>
                  </a:spcAft>
                </a:pPr>
                <a:r>
                  <a:rPr lang="en-US" altLang="zh-CN" sz="3200" dirty="0">
                    <a:solidFill>
                      <a:srgbClr val="006699"/>
                    </a:solidFill>
                    <a:latin typeface="+mn-lt"/>
                  </a:rPr>
                  <a:t>当</a:t>
                </a:r>
                <a14:m>
                  <m:oMath xmlns:m="http://schemas.openxmlformats.org/officeDocument/2006/math">
                    <m:r>
                      <a:rPr lang="en-US" altLang="zh-CN" sz="3200">
                        <a:solidFill>
                          <a:srgbClr val="006699"/>
                        </a:solidFill>
                        <a:latin typeface="Cambria Math" panose="02040503050406030204" pitchFamily="18" charset="0"/>
                      </a:rPr>
                      <m:t>𝑛𝑝</m:t>
                    </m:r>
                  </m:oMath>
                </a14:m>
                <a:r>
                  <a:rPr lang="en-US" altLang="zh-CN" sz="3200" dirty="0" err="1">
                    <a:solidFill>
                      <a:srgbClr val="006699"/>
                    </a:solidFill>
                    <a:latin typeface="+mn-lt"/>
                  </a:rPr>
                  <a:t>较大时</a:t>
                </a:r>
                <a:r>
                  <a:rPr lang="en-US" altLang="zh-CN" sz="3200" dirty="0">
                    <a:solidFill>
                      <a:srgbClr val="006699"/>
                    </a:solidFill>
                    <a:latin typeface="+mn-lt"/>
                  </a:rPr>
                  <a:t>， 令</a:t>
                </a:r>
                <a14:m>
                  <m:oMath xmlns:m="http://schemas.openxmlformats.org/officeDocument/2006/math">
                    <m:r>
                      <a:rPr lang="en-US" altLang="zh-CN" sz="3200">
                        <a:solidFill>
                          <a:srgbClr val="006699"/>
                        </a:solidFill>
                        <a:latin typeface="Cambria Math" panose="02040503050406030204" pitchFamily="18" charset="0"/>
                      </a:rPr>
                      <m:t>𝐾</m:t>
                    </m:r>
                    <m:r>
                      <a:rPr lang="en-US" altLang="zh-CN" sz="3200">
                        <a:solidFill>
                          <a:srgbClr val="006699"/>
                        </a:solidFill>
                        <a:latin typeface="Cambria Math" panose="02040503050406030204" pitchFamily="18" charset="0"/>
                      </a:rPr>
                      <m:t>=</m:t>
                    </m:r>
                    <m:r>
                      <m:rPr>
                        <m:nor/>
                      </m:rPr>
                      <a:rPr lang="en-US" altLang="zh-CN" sz="3200">
                        <a:solidFill>
                          <a:srgbClr val="006699"/>
                        </a:solidFill>
                        <a:latin typeface="+mn-lt"/>
                      </a:rPr>
                      <m:t>floor</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𝑛𝑝</m:t>
                        </m:r>
                      </m:e>
                    </m:d>
                  </m:oMath>
                </a14:m>
                <a:r>
                  <a:rPr lang="en-US" altLang="zh-CN" sz="3200" dirty="0">
                    <a:solidFill>
                      <a:srgbClr val="006699"/>
                    </a:solidFill>
                    <a:latin typeface="+mn-lt"/>
                  </a:rPr>
                  <a:t>， </a:t>
                </a:r>
                <a:r>
                  <a:rPr lang="en-US" altLang="zh-CN" sz="3200" dirty="0" err="1">
                    <a:solidFill>
                      <a:srgbClr val="006699"/>
                    </a:solidFill>
                    <a:latin typeface="+mn-lt"/>
                  </a:rPr>
                  <a:t>应先判断要生成的随机变量</a:t>
                </a:r>
                <a14:m>
                  <m:oMath xmlns:m="http://schemas.openxmlformats.org/officeDocument/2006/math">
                    <m:r>
                      <a:rPr lang="en-US" altLang="zh-CN" sz="3200">
                        <a:solidFill>
                          <a:srgbClr val="006699"/>
                        </a:solidFill>
                        <a:latin typeface="Cambria Math" panose="02040503050406030204" pitchFamily="18" charset="0"/>
                      </a:rPr>
                      <m:t>𝑋</m:t>
                    </m:r>
                  </m:oMath>
                </a14:m>
                <a:r>
                  <a:rPr lang="en-US" altLang="zh-CN" sz="3200" dirty="0" err="1">
                    <a:solidFill>
                      <a:srgbClr val="006699"/>
                    </a:solidFill>
                    <a:latin typeface="+mn-lt"/>
                  </a:rPr>
                  <a:t>是小于等于</a:t>
                </a:r>
                <a14:m>
                  <m:oMath xmlns:m="http://schemas.openxmlformats.org/officeDocument/2006/math">
                    <m:r>
                      <a:rPr lang="en-US" altLang="zh-CN" sz="3200">
                        <a:solidFill>
                          <a:srgbClr val="006699"/>
                        </a:solidFill>
                        <a:latin typeface="Cambria Math" panose="02040503050406030204" pitchFamily="18" charset="0"/>
                      </a:rPr>
                      <m:t>𝐾</m:t>
                    </m:r>
                  </m:oMath>
                </a14:m>
                <a:r>
                  <a:rPr lang="en-US" altLang="zh-CN" sz="3200" dirty="0" err="1">
                    <a:solidFill>
                      <a:srgbClr val="006699"/>
                    </a:solidFill>
                    <a:latin typeface="+mn-lt"/>
                  </a:rPr>
                  <a:t>还是大于</a:t>
                </a:r>
                <a14:m>
                  <m:oMath xmlns:m="http://schemas.openxmlformats.org/officeDocument/2006/math">
                    <m:r>
                      <a:rPr lang="en-US" altLang="zh-CN" sz="3200">
                        <a:solidFill>
                          <a:srgbClr val="006699"/>
                        </a:solidFill>
                        <a:latin typeface="Cambria Math" panose="02040503050406030204" pitchFamily="18" charset="0"/>
                      </a:rPr>
                      <m:t>𝐾</m:t>
                    </m:r>
                  </m:oMath>
                </a14:m>
                <a:r>
                  <a:rPr lang="en-US" altLang="zh-CN" sz="3200" dirty="0">
                    <a:solidFill>
                      <a:srgbClr val="006699"/>
                    </a:solidFill>
                    <a:latin typeface="+mn-lt"/>
                  </a:rPr>
                  <a:t>。 </a:t>
                </a:r>
                <a:r>
                  <a:rPr lang="en-US" altLang="zh-CN" sz="3200" dirty="0" err="1">
                    <a:solidFill>
                      <a:srgbClr val="006699"/>
                    </a:solidFill>
                    <a:latin typeface="+mn-lt"/>
                  </a:rPr>
                  <a:t>先计算出</a:t>
                </a:r>
                <a14:m>
                  <m:oMath xmlns:m="http://schemas.openxmlformats.org/officeDocument/2006/math">
                    <m:r>
                      <a:rPr lang="en-US" altLang="zh-CN" sz="3200">
                        <a:solidFill>
                          <a:srgbClr val="006699"/>
                        </a:solidFill>
                        <a:latin typeface="Cambria Math" panose="02040503050406030204" pitchFamily="18" charset="0"/>
                      </a:rPr>
                      <m:t>𝐹</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𝐾</m:t>
                        </m:r>
                      </m:e>
                    </m:d>
                  </m:oMath>
                </a14:m>
                <a:r>
                  <a:rPr lang="en-US" altLang="zh-CN" sz="3200" dirty="0">
                    <a:solidFill>
                      <a:srgbClr val="006699"/>
                    </a:solidFill>
                    <a:latin typeface="+mn-lt"/>
                  </a:rPr>
                  <a:t>。 </a:t>
                </a:r>
                <a:endParaRPr lang="zh-CN" altLang="zh-CN" sz="3200" dirty="0">
                  <a:solidFill>
                    <a:srgbClr val="006699"/>
                  </a:solidFill>
                  <a:latin typeface="+mn-lt"/>
                </a:endParaRPr>
              </a:p>
              <a:p>
                <a:pPr marL="342900" lvl="0" indent="-342900">
                  <a:spcAft>
                    <a:spcPts val="1000"/>
                  </a:spcAft>
                  <a:buFont typeface="+mj-lt"/>
                  <a:buAutoNum type="arabicPeriod"/>
                </a:pPr>
                <a:r>
                  <a:rPr lang="en-US" altLang="zh-CN" sz="3200" dirty="0">
                    <a:solidFill>
                      <a:srgbClr val="006699"/>
                    </a:solidFill>
                    <a:latin typeface="+mn-lt"/>
                  </a:rPr>
                  <a:t>当</a:t>
                </a:r>
                <a14:m>
                  <m:oMath xmlns:m="http://schemas.openxmlformats.org/officeDocument/2006/math">
                    <m:r>
                      <a:rPr lang="en-US" altLang="zh-CN" sz="3200">
                        <a:solidFill>
                          <a:srgbClr val="006699"/>
                        </a:solidFill>
                        <a:latin typeface="Cambria Math" panose="02040503050406030204" pitchFamily="18" charset="0"/>
                      </a:rPr>
                      <m:t>𝑈</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𝐹</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𝐾</m:t>
                        </m:r>
                      </m:e>
                    </m:d>
                  </m:oMath>
                </a14:m>
                <a:r>
                  <a:rPr lang="en-US" altLang="zh-CN" sz="3200" dirty="0">
                    <a:solidFill>
                      <a:srgbClr val="006699"/>
                    </a:solidFill>
                    <a:latin typeface="+mn-lt"/>
                  </a:rPr>
                  <a:t>时，</a:t>
                </a:r>
                <a14:m>
                  <m:oMath xmlns:m="http://schemas.openxmlformats.org/officeDocument/2006/math">
                    <m:r>
                      <a:rPr lang="en-US" altLang="zh-CN" sz="3200">
                        <a:solidFill>
                          <a:srgbClr val="006699"/>
                        </a:solidFill>
                        <a:latin typeface="Cambria Math" panose="02040503050406030204" pitchFamily="18" charset="0"/>
                      </a:rPr>
                      <m:t>𝑋</m:t>
                    </m:r>
                  </m:oMath>
                </a14:m>
                <a:r>
                  <a:rPr lang="en-US" altLang="zh-CN" sz="3200" dirty="0" err="1">
                    <a:solidFill>
                      <a:srgbClr val="006699"/>
                    </a:solidFill>
                    <a:latin typeface="+mn-lt"/>
                  </a:rPr>
                  <a:t>取值小于等于</a:t>
                </a:r>
                <a14:m>
                  <m:oMath xmlns:m="http://schemas.openxmlformats.org/officeDocument/2006/math">
                    <m:r>
                      <a:rPr lang="en-US" altLang="zh-CN" sz="3200">
                        <a:solidFill>
                          <a:srgbClr val="006699"/>
                        </a:solidFill>
                        <a:latin typeface="Cambria Math" panose="02040503050406030204" pitchFamily="18" charset="0"/>
                      </a:rPr>
                      <m:t>𝐾</m:t>
                    </m:r>
                  </m:oMath>
                </a14:m>
                <a:r>
                  <a:rPr lang="en-US" altLang="zh-CN" sz="3200" dirty="0">
                    <a:solidFill>
                      <a:srgbClr val="006699"/>
                    </a:solidFill>
                    <a:latin typeface="+mn-lt"/>
                  </a:rPr>
                  <a:t>， </a:t>
                </a:r>
                <a:r>
                  <a:rPr lang="en-US" altLang="zh-CN" sz="3200" dirty="0" err="1">
                    <a:solidFill>
                      <a:srgbClr val="006699"/>
                    </a:solidFill>
                    <a:latin typeface="+mn-lt"/>
                  </a:rPr>
                  <a:t>这时可依次判断</a:t>
                </a:r>
                <a14:m>
                  <m:oMath xmlns:m="http://schemas.openxmlformats.org/officeDocument/2006/math">
                    <m:r>
                      <a:rPr lang="en-US" altLang="zh-CN" sz="3200">
                        <a:solidFill>
                          <a:srgbClr val="006699"/>
                        </a:solidFill>
                        <a:latin typeface="Cambria Math" panose="02040503050406030204" pitchFamily="18" charset="0"/>
                      </a:rPr>
                      <m:t>𝑋</m:t>
                    </m:r>
                  </m:oMath>
                </a14:m>
                <a:r>
                  <a:rPr lang="en-US" altLang="zh-CN" sz="3200" dirty="0" err="1">
                    <a:solidFill>
                      <a:srgbClr val="006699"/>
                    </a:solidFill>
                    <a:latin typeface="+mn-lt"/>
                  </a:rPr>
                  <a:t>是否应取</a:t>
                </a:r>
                <a14:m>
                  <m:oMath xmlns:m="http://schemas.openxmlformats.org/officeDocument/2006/math">
                    <m:r>
                      <a:rPr lang="en-US" altLang="zh-CN" sz="3200">
                        <a:solidFill>
                          <a:srgbClr val="006699"/>
                        </a:solidFill>
                        <a:latin typeface="Cambria Math" panose="02040503050406030204" pitchFamily="18" charset="0"/>
                      </a:rPr>
                      <m:t>𝐾</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𝐾</m:t>
                    </m:r>
                    <m:r>
                      <a:rPr lang="en-US" altLang="zh-CN" sz="3200">
                        <a:solidFill>
                          <a:srgbClr val="006699"/>
                        </a:solidFill>
                        <a:latin typeface="Cambria Math" panose="02040503050406030204" pitchFamily="18" charset="0"/>
                      </a:rPr>
                      <m:t>−1,…,0</m:t>
                    </m:r>
                  </m:oMath>
                </a14:m>
                <a:r>
                  <a:rPr lang="en-US" altLang="zh-CN" sz="3200" dirty="0">
                    <a:solidFill>
                      <a:srgbClr val="006699"/>
                    </a:solidFill>
                    <a:latin typeface="+mn-lt"/>
                  </a:rPr>
                  <a:t>， </a:t>
                </a:r>
                <a:r>
                  <a:rPr lang="en-US" altLang="zh-CN" sz="3200" dirty="0" err="1">
                    <a:solidFill>
                      <a:srgbClr val="006699"/>
                    </a:solidFill>
                    <a:latin typeface="+mn-lt"/>
                  </a:rPr>
                  <a:t>在这个过程中可以反向递推计算各个</a:t>
                </a:r>
                <a14:m>
                  <m:oMath xmlns:m="http://schemas.openxmlformats.org/officeDocument/2006/math">
                    <m:r>
                      <a:rPr lang="en-US" altLang="zh-CN" sz="3200">
                        <a:solidFill>
                          <a:srgbClr val="006699"/>
                        </a:solidFill>
                        <a:latin typeface="Cambria Math" panose="02040503050406030204" pitchFamily="18" charset="0"/>
                      </a:rPr>
                      <m:t>𝐹</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𝑘</m:t>
                        </m:r>
                      </m:e>
                    </m:d>
                  </m:oMath>
                </a14:m>
                <a:r>
                  <a:rPr lang="en-US" altLang="zh-CN" sz="3200" dirty="0" err="1">
                    <a:solidFill>
                      <a:srgbClr val="006699"/>
                    </a:solidFill>
                    <a:latin typeface="+mn-lt"/>
                  </a:rPr>
                  <a:t>的值</a:t>
                </a:r>
                <a:r>
                  <a:rPr lang="en-US" altLang="zh-CN" sz="3200" dirty="0">
                    <a:solidFill>
                      <a:srgbClr val="006699"/>
                    </a:solidFill>
                    <a:latin typeface="+mn-lt"/>
                  </a:rPr>
                  <a:t>。 </a:t>
                </a:r>
                <a:endParaRPr lang="zh-CN" altLang="zh-CN" sz="3200" dirty="0">
                  <a:solidFill>
                    <a:srgbClr val="006699"/>
                  </a:solidFill>
                  <a:latin typeface="+mn-lt"/>
                </a:endParaRPr>
              </a:p>
              <a:p>
                <a:pPr marL="342900" lvl="0" indent="-342900">
                  <a:spcAft>
                    <a:spcPts val="1000"/>
                  </a:spcAft>
                  <a:buFont typeface="+mj-lt"/>
                  <a:buAutoNum type="arabicPeriod"/>
                </a:pPr>
                <a:r>
                  <a:rPr lang="en-US" altLang="zh-CN" sz="3200" dirty="0">
                    <a:solidFill>
                      <a:srgbClr val="006699"/>
                    </a:solidFill>
                    <a:latin typeface="+mn-lt"/>
                  </a:rPr>
                  <a:t>当</a:t>
                </a:r>
                <a14:m>
                  <m:oMath xmlns:m="http://schemas.openxmlformats.org/officeDocument/2006/math">
                    <m:r>
                      <a:rPr lang="en-US" altLang="zh-CN" sz="3200">
                        <a:solidFill>
                          <a:srgbClr val="006699"/>
                        </a:solidFill>
                        <a:latin typeface="Cambria Math" panose="02040503050406030204" pitchFamily="18" charset="0"/>
                      </a:rPr>
                      <m:t>𝑈</m:t>
                    </m:r>
                    <m:r>
                      <a:rPr lang="en-US" altLang="zh-CN" sz="3200">
                        <a:solidFill>
                          <a:srgbClr val="006699"/>
                        </a:solidFill>
                        <a:latin typeface="Cambria Math" panose="02040503050406030204" pitchFamily="18" charset="0"/>
                      </a:rPr>
                      <m:t>&gt;</m:t>
                    </m:r>
                    <m:r>
                      <a:rPr lang="en-US" altLang="zh-CN" sz="3200">
                        <a:solidFill>
                          <a:srgbClr val="006699"/>
                        </a:solidFill>
                        <a:latin typeface="Cambria Math" panose="02040503050406030204" pitchFamily="18" charset="0"/>
                      </a:rPr>
                      <m:t>𝐹</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𝐾</m:t>
                        </m:r>
                      </m:e>
                    </m:d>
                  </m:oMath>
                </a14:m>
                <a:r>
                  <a:rPr lang="en-US" altLang="zh-CN" sz="3200" dirty="0">
                    <a:solidFill>
                      <a:srgbClr val="006699"/>
                    </a:solidFill>
                    <a:latin typeface="+mn-lt"/>
                  </a:rPr>
                  <a:t>时，</a:t>
                </a:r>
                <a14:m>
                  <m:oMath xmlns:m="http://schemas.openxmlformats.org/officeDocument/2006/math">
                    <m:r>
                      <a:rPr lang="en-US" altLang="zh-CN" sz="3200">
                        <a:solidFill>
                          <a:srgbClr val="006699"/>
                        </a:solidFill>
                        <a:latin typeface="Cambria Math" panose="02040503050406030204" pitchFamily="18" charset="0"/>
                      </a:rPr>
                      <m:t>𝑋</m:t>
                    </m:r>
                  </m:oMath>
                </a14:m>
                <a:r>
                  <a:rPr lang="en-US" altLang="zh-CN" sz="3200" dirty="0" err="1">
                    <a:solidFill>
                      <a:srgbClr val="006699"/>
                    </a:solidFill>
                    <a:latin typeface="+mn-lt"/>
                  </a:rPr>
                  <a:t>取值大于</a:t>
                </a:r>
                <a14:m>
                  <m:oMath xmlns:m="http://schemas.openxmlformats.org/officeDocument/2006/math">
                    <m:r>
                      <a:rPr lang="en-US" altLang="zh-CN" sz="3200">
                        <a:solidFill>
                          <a:srgbClr val="006699"/>
                        </a:solidFill>
                        <a:latin typeface="Cambria Math" panose="02040503050406030204" pitchFamily="18" charset="0"/>
                      </a:rPr>
                      <m:t>𝐾</m:t>
                    </m:r>
                  </m:oMath>
                </a14:m>
                <a:r>
                  <a:rPr lang="en-US" altLang="zh-CN" sz="3200" dirty="0">
                    <a:solidFill>
                      <a:srgbClr val="006699"/>
                    </a:solidFill>
                    <a:latin typeface="+mn-lt"/>
                  </a:rPr>
                  <a:t>， </a:t>
                </a:r>
                <a:r>
                  <a:rPr lang="en-US" altLang="zh-CN" sz="3200" dirty="0" err="1">
                    <a:solidFill>
                      <a:srgbClr val="006699"/>
                    </a:solidFill>
                    <a:latin typeface="+mn-lt"/>
                  </a:rPr>
                  <a:t>这时可依次判断</a:t>
                </a:r>
                <a14:m>
                  <m:oMath xmlns:m="http://schemas.openxmlformats.org/officeDocument/2006/math">
                    <m:r>
                      <a:rPr lang="en-US" altLang="zh-CN" sz="3200">
                        <a:solidFill>
                          <a:srgbClr val="006699"/>
                        </a:solidFill>
                        <a:latin typeface="Cambria Math" panose="02040503050406030204" pitchFamily="18" charset="0"/>
                      </a:rPr>
                      <m:t>𝑋</m:t>
                    </m:r>
                  </m:oMath>
                </a14:m>
                <a:r>
                  <a:rPr lang="en-US" altLang="zh-CN" sz="3200" dirty="0" err="1">
                    <a:solidFill>
                      <a:srgbClr val="006699"/>
                    </a:solidFill>
                    <a:latin typeface="+mn-lt"/>
                  </a:rPr>
                  <a:t>是否应取</a:t>
                </a:r>
                <a14:m>
                  <m:oMath xmlns:m="http://schemas.openxmlformats.org/officeDocument/2006/math">
                    <m:r>
                      <a:rPr lang="en-US" altLang="zh-CN" sz="3200">
                        <a:solidFill>
                          <a:srgbClr val="006699"/>
                        </a:solidFill>
                        <a:latin typeface="Cambria Math" panose="02040503050406030204" pitchFamily="18" charset="0"/>
                      </a:rPr>
                      <m:t>𝐾</m:t>
                    </m:r>
                    <m:r>
                      <a:rPr lang="en-US" altLang="zh-CN" sz="3200">
                        <a:solidFill>
                          <a:srgbClr val="006699"/>
                        </a:solidFill>
                        <a:latin typeface="Cambria Math" panose="02040503050406030204" pitchFamily="18" charset="0"/>
                      </a:rPr>
                      <m:t>+1,</m:t>
                    </m:r>
                    <m:r>
                      <a:rPr lang="en-US" altLang="zh-CN" sz="3200">
                        <a:solidFill>
                          <a:srgbClr val="006699"/>
                        </a:solidFill>
                        <a:latin typeface="Cambria Math" panose="02040503050406030204" pitchFamily="18" charset="0"/>
                      </a:rPr>
                      <m:t>𝐾</m:t>
                    </m:r>
                    <m:r>
                      <a:rPr lang="en-US" altLang="zh-CN" sz="3200">
                        <a:solidFill>
                          <a:srgbClr val="006699"/>
                        </a:solidFill>
                        <a:latin typeface="Cambria Math" panose="02040503050406030204" pitchFamily="18" charset="0"/>
                      </a:rPr>
                      <m:t>+2,…,</m:t>
                    </m:r>
                    <m:r>
                      <a:rPr lang="en-US" altLang="zh-CN" sz="3200">
                        <a:solidFill>
                          <a:srgbClr val="006699"/>
                        </a:solidFill>
                        <a:latin typeface="Cambria Math" panose="02040503050406030204" pitchFamily="18" charset="0"/>
                      </a:rPr>
                      <m:t>𝑛</m:t>
                    </m:r>
                  </m:oMath>
                </a14:m>
                <a:r>
                  <a:rPr lang="en-US" altLang="zh-CN" sz="3200" dirty="0">
                    <a:solidFill>
                      <a:srgbClr val="006699"/>
                    </a:solidFill>
                    <a:latin typeface="+mn-lt"/>
                  </a:rPr>
                  <a:t>， </a:t>
                </a:r>
                <a:r>
                  <a:rPr lang="en-US" altLang="zh-CN" sz="3200" dirty="0" err="1">
                    <a:solidFill>
                      <a:srgbClr val="006699"/>
                    </a:solidFill>
                    <a:latin typeface="+mn-lt"/>
                  </a:rPr>
                  <a:t>在这个过程中可以递推计算各个F</a:t>
                </a:r>
                <a:r>
                  <a:rPr lang="en-US" altLang="zh-CN" sz="3200" dirty="0">
                    <a:solidFill>
                      <a:srgbClr val="006699"/>
                    </a:solidFill>
                    <a:latin typeface="+mn-lt"/>
                  </a:rPr>
                  <a:t>(k)</a:t>
                </a:r>
                <a:r>
                  <a:rPr lang="en-US" altLang="zh-CN" sz="3200" dirty="0" err="1">
                    <a:solidFill>
                      <a:srgbClr val="006699"/>
                    </a:solidFill>
                    <a:latin typeface="+mn-lt"/>
                  </a:rPr>
                  <a:t>的值</a:t>
                </a:r>
                <a:r>
                  <a:rPr lang="en-US" altLang="zh-CN" sz="3200" dirty="0">
                    <a:solidFill>
                      <a:srgbClr val="006699"/>
                    </a:solidFill>
                    <a:latin typeface="+mn-lt"/>
                  </a:rPr>
                  <a:t>。</a:t>
                </a:r>
                <a:endParaRPr lang="zh-CN" altLang="zh-CN" sz="3200" dirty="0">
                  <a:solidFill>
                    <a:srgbClr val="006699"/>
                  </a:solidFill>
                  <a:latin typeface="+mn-lt"/>
                </a:endParaRPr>
              </a:p>
            </p:txBody>
          </p:sp>
        </mc:Choice>
        <mc:Fallback xmlns="">
          <p:sp>
            <p:nvSpPr>
              <p:cNvPr id="3" name="文本框 2">
                <a:extLst>
                  <a:ext uri="{FF2B5EF4-FFF2-40B4-BE49-F238E27FC236}">
                    <a16:creationId xmlns:a16="http://schemas.microsoft.com/office/drawing/2014/main" id="{EC59DA84-7C5C-2903-77F3-AD57CBC4AC9E}"/>
                  </a:ext>
                </a:extLst>
              </p:cNvPr>
              <p:cNvSpPr txBox="1">
                <a:spLocks noRot="1" noChangeAspect="1" noMove="1" noResize="1" noEditPoints="1" noAdjustHandles="1" noChangeArrowheads="1" noChangeShapeType="1" noTextEdit="1"/>
              </p:cNvSpPr>
              <p:nvPr/>
            </p:nvSpPr>
            <p:spPr>
              <a:xfrm>
                <a:off x="116505" y="1045014"/>
                <a:ext cx="9027495" cy="4767972"/>
              </a:xfrm>
              <a:prstGeom prst="rect">
                <a:avLst/>
              </a:prstGeom>
              <a:blipFill>
                <a:blip r:embed="rId2"/>
                <a:stretch>
                  <a:fillRect l="-1688" t="-2171" r="-1688" b="-3193"/>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6322878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6.7 (</a:t>
            </a:r>
            <a:r>
              <a:rPr lang="zh-CN" altLang="en-US" sz="3200" dirty="0">
                <a:solidFill>
                  <a:srgbClr val="FF0000"/>
                </a:solidFill>
                <a:latin typeface="Verdana" panose="020B0604030504040204" pitchFamily="34" charset="0"/>
              </a:rPr>
              <a:t>泊松分布随机数</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设离散型随机变量</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分布为</a:t>
            </a:r>
            <a:endParaRPr lang="en-US" altLang="zh-CN" sz="3200" dirty="0">
              <a:solidFill>
                <a:srgbClr val="006699"/>
              </a:solidFill>
              <a:latin typeface="Verdana" panose="020B0604030504040204" pitchFamily="34" charset="0"/>
            </a:endParaRPr>
          </a:p>
        </p:txBody>
      </p:sp>
      <p:sp>
        <p:nvSpPr>
          <p:cNvPr id="5" name="矩形 4">
            <a:extLst>
              <a:ext uri="{FF2B5EF4-FFF2-40B4-BE49-F238E27FC236}">
                <a16:creationId xmlns:a16="http://schemas.microsoft.com/office/drawing/2014/main" id="{7A726813-448B-45DB-A1A7-DE0029606E41}"/>
              </a:ext>
            </a:extLst>
          </p:cNvPr>
          <p:cNvSpPr/>
          <p:nvPr/>
        </p:nvSpPr>
        <p:spPr>
          <a:xfrm>
            <a:off x="261153" y="3136612"/>
            <a:ext cx="7939704" cy="584775"/>
          </a:xfrm>
          <a:prstGeom prst="rect">
            <a:avLst/>
          </a:prstGeom>
        </p:spPr>
        <p:txBody>
          <a:bodyPr wrap="square">
            <a:spAutoFit/>
          </a:bodyPr>
          <a:lstStyle/>
          <a:p>
            <a:r>
              <a:rPr lang="zh-CN" altLang="en-US" sz="3200" dirty="0">
                <a:solidFill>
                  <a:srgbClr val="006699"/>
                </a:solidFill>
                <a:latin typeface="Verdana" panose="020B0604030504040204" pitchFamily="34" charset="0"/>
              </a:rPr>
              <a:t>称</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服从泊松分布，记为</a:t>
            </a:r>
            <a:r>
              <a:rPr lang="en-US" altLang="zh-CN" sz="3200" dirty="0">
                <a:solidFill>
                  <a:srgbClr val="006699"/>
                </a:solidFill>
                <a:latin typeface="Verdana" panose="020B0604030504040204" pitchFamily="34" charset="0"/>
              </a:rPr>
              <a:t>X∼ Poisson(</a:t>
            </a:r>
            <a:r>
              <a:rPr lang="el-GR" altLang="zh-CN" sz="3200" dirty="0">
                <a:solidFill>
                  <a:srgbClr val="006699"/>
                </a:solidFill>
                <a:latin typeface="Verdana" panose="020B0604030504040204" pitchFamily="34" charset="0"/>
              </a:rPr>
              <a:t>λ)</a:t>
            </a:r>
            <a:endParaRPr lang="zh-CN" altLang="en-US"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994081C-AA28-488D-834D-B129D46FFC14}"/>
                  </a:ext>
                </a:extLst>
              </p:cNvPr>
              <p:cNvSpPr/>
              <p:nvPr/>
            </p:nvSpPr>
            <p:spPr>
              <a:xfrm>
                <a:off x="656565" y="2169780"/>
                <a:ext cx="7326560" cy="785664"/>
              </a:xfrm>
              <a:prstGeom prst="rect">
                <a:avLst/>
              </a:prstGeom>
            </p:spPr>
            <p:txBody>
              <a:bodyPr wrap="square">
                <a:spAutoFit/>
              </a:bodyPr>
              <a:lstStyle/>
              <a:p>
                <a14:m>
                  <m:oMath xmlns:m="http://schemas.openxmlformats.org/officeDocument/2006/math">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𝑝</m:t>
                        </m:r>
                      </m:e>
                      <m:sub>
                        <m:r>
                          <a:rPr lang="zh-CN" altLang="en-US" sz="2800" i="1">
                            <a:latin typeface="Cambria Math" panose="02040503050406030204" pitchFamily="18" charset="0"/>
                          </a:rPr>
                          <m:t>𝑘</m:t>
                        </m:r>
                      </m:sub>
                    </m:sSub>
                    <m:r>
                      <a:rPr lang="zh-CN" altLang="en-US" sz="2800">
                        <a:latin typeface="Cambria Math" panose="02040503050406030204" pitchFamily="18" charset="0"/>
                      </a:rPr>
                      <m:t>=</m:t>
                    </m:r>
                    <m:r>
                      <a:rPr lang="zh-CN" altLang="en-US" sz="2800" i="1">
                        <a:latin typeface="Cambria Math" panose="02040503050406030204" pitchFamily="18" charset="0"/>
                      </a:rPr>
                      <m:t>𝑃</m:t>
                    </m:r>
                    <m:r>
                      <a:rPr lang="zh-CN" altLang="en-US" sz="2800">
                        <a:latin typeface="Cambria Math" panose="02040503050406030204" pitchFamily="18" charset="0"/>
                      </a:rPr>
                      <m:t>(</m:t>
                    </m:r>
                    <m:r>
                      <a:rPr lang="zh-CN" altLang="en-US" sz="2800" i="1">
                        <a:latin typeface="Cambria Math" panose="02040503050406030204" pitchFamily="18" charset="0"/>
                      </a:rPr>
                      <m:t>𝑋</m:t>
                    </m:r>
                    <m:r>
                      <a:rPr lang="zh-CN" altLang="en-US" sz="2800">
                        <a:latin typeface="Cambria Math" panose="02040503050406030204" pitchFamily="18" charset="0"/>
                      </a:rPr>
                      <m:t>=</m:t>
                    </m:r>
                    <m:r>
                      <a:rPr lang="zh-CN" altLang="en-US" sz="2800" i="1">
                        <a:latin typeface="Cambria Math" panose="02040503050406030204" pitchFamily="18" charset="0"/>
                      </a:rPr>
                      <m:t>𝑘</m:t>
                    </m:r>
                    <m:r>
                      <a:rPr lang="zh-CN" altLang="en-US" sz="2800">
                        <a:latin typeface="Cambria Math" panose="02040503050406030204" pitchFamily="18" charset="0"/>
                      </a:rPr>
                      <m:t>)=</m:t>
                    </m:r>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𝑒</m:t>
                        </m:r>
                      </m:e>
                      <m:sup>
                        <m:r>
                          <a:rPr lang="zh-CN" altLang="en-US" sz="2800">
                            <a:latin typeface="Cambria Math" panose="02040503050406030204" pitchFamily="18" charset="0"/>
                          </a:rPr>
                          <m:t>−</m:t>
                        </m:r>
                        <m:r>
                          <a:rPr lang="zh-CN" altLang="en-US" sz="2800" i="1">
                            <a:latin typeface="Cambria Math" panose="02040503050406030204" pitchFamily="18" charset="0"/>
                          </a:rPr>
                          <m:t>𝜆</m:t>
                        </m:r>
                      </m:sup>
                    </m:sSup>
                    <m:f>
                      <m:fPr>
                        <m:ctrlPr>
                          <a:rPr lang="zh-CN" altLang="en-US" sz="2800" i="1">
                            <a:latin typeface="Cambria Math" panose="02040503050406030204" pitchFamily="18" charset="0"/>
                          </a:rPr>
                        </m:ctrlPr>
                      </m:fPr>
                      <m:num>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𝜆</m:t>
                            </m:r>
                          </m:e>
                          <m:sup>
                            <m:r>
                              <a:rPr lang="zh-CN" altLang="en-US" sz="2800" i="1">
                                <a:latin typeface="Cambria Math" panose="02040503050406030204" pitchFamily="18" charset="0"/>
                              </a:rPr>
                              <m:t>𝑘</m:t>
                            </m:r>
                          </m:sup>
                        </m:sSup>
                      </m:num>
                      <m:den>
                        <m:r>
                          <a:rPr lang="zh-CN" altLang="en-US" sz="2800" i="1">
                            <a:latin typeface="Cambria Math" panose="02040503050406030204" pitchFamily="18" charset="0"/>
                          </a:rPr>
                          <m:t>𝑘</m:t>
                        </m:r>
                        <m:r>
                          <a:rPr lang="zh-CN" altLang="en-US" sz="2800">
                            <a:latin typeface="Cambria Math" panose="02040503050406030204" pitchFamily="18" charset="0"/>
                          </a:rPr>
                          <m:t>!</m:t>
                        </m:r>
                      </m:den>
                    </m:f>
                    <m:r>
                      <a:rPr lang="zh-CN" altLang="en-US" sz="2800">
                        <a:latin typeface="Cambria Math" panose="02040503050406030204" pitchFamily="18" charset="0"/>
                      </a:rPr>
                      <m:t>,</m:t>
                    </m:r>
                    <m:r>
                      <m:rPr>
                        <m:nor/>
                      </m:rPr>
                      <a:rPr lang="zh-CN" altLang="en-US" sz="2800" i="1">
                        <a:latin typeface="Cambria Math" panose="02040503050406030204" pitchFamily="18" charset="0"/>
                      </a:rPr>
                      <m:t> </m:t>
                    </m:r>
                    <m:r>
                      <a:rPr lang="zh-CN" altLang="en-US" sz="2800" i="1">
                        <a:latin typeface="Cambria Math" panose="02040503050406030204" pitchFamily="18" charset="0"/>
                      </a:rPr>
                      <m:t>𝑘</m:t>
                    </m:r>
                    <m:r>
                      <a:rPr lang="zh-CN" altLang="en-US" sz="2800">
                        <a:latin typeface="Cambria Math" panose="02040503050406030204" pitchFamily="18" charset="0"/>
                      </a:rPr>
                      <m:t>=0,1,2,…(</m:t>
                    </m:r>
                    <m:r>
                      <a:rPr lang="zh-CN" altLang="en-US" sz="2800" i="1">
                        <a:latin typeface="Cambria Math" panose="02040503050406030204" pitchFamily="18" charset="0"/>
                      </a:rPr>
                      <m:t>𝜆</m:t>
                    </m:r>
                    <m:r>
                      <a:rPr lang="zh-CN" altLang="en-US" sz="2800">
                        <a:latin typeface="Cambria Math" panose="02040503050406030204" pitchFamily="18" charset="0"/>
                      </a:rPr>
                      <m:t>&gt;0</m:t>
                    </m:r>
                  </m:oMath>
                </a14:m>
                <a:r>
                  <a:rPr lang="en-US" altLang="zh-CN" sz="2800" dirty="0"/>
                  <a:t>)</a:t>
                </a:r>
                <a:endParaRPr lang="zh-CN" altLang="en-US" sz="2800" dirty="0"/>
              </a:p>
            </p:txBody>
          </p:sp>
        </mc:Choice>
        <mc:Fallback xmlns="">
          <p:sp>
            <p:nvSpPr>
              <p:cNvPr id="3" name="矩形 2">
                <a:extLst>
                  <a:ext uri="{FF2B5EF4-FFF2-40B4-BE49-F238E27FC236}">
                    <a16:creationId xmlns:a16="http://schemas.microsoft.com/office/drawing/2014/main" id="{A994081C-AA28-488D-834D-B129D46FFC14}"/>
                  </a:ext>
                </a:extLst>
              </p:cNvPr>
              <p:cNvSpPr>
                <a:spLocks noRot="1" noChangeAspect="1" noMove="1" noResize="1" noEditPoints="1" noAdjustHandles="1" noChangeArrowheads="1" noChangeShapeType="1" noTextEdit="1"/>
              </p:cNvSpPr>
              <p:nvPr/>
            </p:nvSpPr>
            <p:spPr>
              <a:xfrm>
                <a:off x="656565" y="2169780"/>
                <a:ext cx="7326560" cy="785664"/>
              </a:xfrm>
              <a:prstGeom prst="rect">
                <a:avLst/>
              </a:prstGeom>
              <a:blipFill>
                <a:blip r:embed="rId2"/>
                <a:stretch>
                  <a:fillRect b="-77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188841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6.7 </a:t>
            </a:r>
            <a:r>
              <a:rPr lang="en-US" altLang="zh-CN" sz="3200" dirty="0">
                <a:solidFill>
                  <a:srgbClr val="FF0000"/>
                </a:solidFill>
                <a:latin typeface="Verdana" panose="020B0604030504040204" pitchFamily="34" charset="0"/>
              </a:rPr>
              <a:t>(</a:t>
            </a:r>
            <a:r>
              <a:rPr lang="zh-CN" altLang="en-US" sz="3200" dirty="0">
                <a:solidFill>
                  <a:srgbClr val="FF0000"/>
                </a:solidFill>
                <a:latin typeface="Verdana" panose="020B0604030504040204" pitchFamily="34" charset="0"/>
              </a:rPr>
              <a:t>泊松分布随机数</a:t>
            </a:r>
            <a:r>
              <a:rPr lang="en-US" altLang="zh-CN" sz="3200" dirty="0">
                <a:solidFill>
                  <a:srgbClr val="FF0000"/>
                </a:solidFill>
                <a:latin typeface="Verdana" panose="020B0604030504040204" pitchFamily="34" charset="0"/>
              </a:rPr>
              <a:t>)</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06EC55F-DEE1-4141-B00F-7F8A2E49EAB0}"/>
                  </a:ext>
                </a:extLst>
              </p:cNvPr>
              <p:cNvSpPr/>
              <p:nvPr/>
            </p:nvSpPr>
            <p:spPr>
              <a:xfrm>
                <a:off x="1196625" y="1988840"/>
                <a:ext cx="5024517" cy="9177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𝑝</m:t>
                                </m:r>
                              </m:e>
                              <m:sub>
                                <m:r>
                                  <a:rPr lang="zh-CN" altLang="en-US" sz="2800" i="1">
                                    <a:latin typeface="Cambria Math" panose="02040503050406030204" pitchFamily="18" charset="0"/>
                                  </a:rPr>
                                  <m:t>𝑘</m:t>
                                </m:r>
                                <m:r>
                                  <a:rPr lang="zh-CN" altLang="en-US" sz="2800" i="0">
                                    <a:latin typeface="Cambria Math" panose="02040503050406030204" pitchFamily="18" charset="0"/>
                                  </a:rPr>
                                  <m:t>+1</m:t>
                                </m:r>
                              </m:sub>
                            </m:sSub>
                            <m:r>
                              <a:rPr lang="zh-CN" altLang="en-US" sz="2800" i="0">
                                <a:latin typeface="Cambria Math" panose="02040503050406030204" pitchFamily="18" charset="0"/>
                              </a:rPr>
                              <m:t>=</m:t>
                            </m:r>
                          </m:e>
                          <m:e>
                            <m:f>
                              <m:fPr>
                                <m:ctrlPr>
                                  <a:rPr lang="zh-CN" altLang="en-US" sz="2800" i="1">
                                    <a:latin typeface="Cambria Math" panose="02040503050406030204" pitchFamily="18" charset="0"/>
                                  </a:rPr>
                                </m:ctrlPr>
                              </m:fPr>
                              <m:num>
                                <m:r>
                                  <a:rPr lang="zh-CN" altLang="en-US" sz="2800" i="1">
                                    <a:latin typeface="Cambria Math" panose="02040503050406030204" pitchFamily="18" charset="0"/>
                                  </a:rPr>
                                  <m:t>𝜆</m:t>
                                </m:r>
                              </m:num>
                              <m:den>
                                <m:r>
                                  <a:rPr lang="zh-CN" altLang="en-US" sz="2800" i="1">
                                    <a:latin typeface="Cambria Math" panose="02040503050406030204" pitchFamily="18" charset="0"/>
                                  </a:rPr>
                                  <m:t>𝑘</m:t>
                                </m:r>
                                <m:r>
                                  <a:rPr lang="zh-CN" altLang="en-US" sz="2800" i="0">
                                    <a:latin typeface="Cambria Math" panose="02040503050406030204" pitchFamily="18" charset="0"/>
                                  </a:rPr>
                                  <m:t>+1</m:t>
                                </m:r>
                              </m:den>
                            </m:f>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𝑝</m:t>
                                </m:r>
                              </m:e>
                              <m:sub>
                                <m:r>
                                  <a:rPr lang="zh-CN" altLang="en-US" sz="2800" i="1">
                                    <a:latin typeface="Cambria Math" panose="02040503050406030204" pitchFamily="18" charset="0"/>
                                  </a:rPr>
                                  <m:t>𝑘</m:t>
                                </m:r>
                              </m:sub>
                            </m:sSub>
                            <m:r>
                              <a:rPr lang="zh-CN" altLang="en-US" sz="2800" i="0">
                                <a:latin typeface="Cambria Math" panose="02040503050406030204" pitchFamily="18" charset="0"/>
                              </a:rPr>
                              <m:t>,</m:t>
                            </m:r>
                            <m:r>
                              <m:rPr>
                                <m:nor/>
                              </m:rPr>
                              <a:rPr lang="zh-CN" altLang="en-US" sz="2800" i="1">
                                <a:latin typeface="Cambria Math" panose="02040503050406030204" pitchFamily="18" charset="0"/>
                              </a:rPr>
                              <m:t> </m:t>
                            </m:r>
                            <m:r>
                              <a:rPr lang="zh-CN" altLang="en-US" sz="2800" i="1">
                                <a:latin typeface="Cambria Math" panose="02040503050406030204" pitchFamily="18" charset="0"/>
                              </a:rPr>
                              <m:t>𝑘</m:t>
                            </m:r>
                            <m:r>
                              <a:rPr lang="zh-CN" altLang="en-US" sz="2800" i="0">
                                <a:latin typeface="Cambria Math" panose="02040503050406030204" pitchFamily="18" charset="0"/>
                              </a:rPr>
                              <m:t>=0,1,2,…</m:t>
                            </m:r>
                          </m:e>
                        </m:mr>
                      </m:m>
                    </m:oMath>
                  </m:oMathPara>
                </a14:m>
                <a:endParaRPr lang="zh-CN" altLang="en-US" sz="2800" dirty="0"/>
              </a:p>
            </p:txBody>
          </p:sp>
        </mc:Choice>
        <mc:Fallback xmlns="">
          <p:sp>
            <p:nvSpPr>
              <p:cNvPr id="2" name="矩形 1">
                <a:extLst>
                  <a:ext uri="{FF2B5EF4-FFF2-40B4-BE49-F238E27FC236}">
                    <a16:creationId xmlns:a16="http://schemas.microsoft.com/office/drawing/2014/main" id="{506EC55F-DEE1-4141-B00F-7F8A2E49EAB0}"/>
                  </a:ext>
                </a:extLst>
              </p:cNvPr>
              <p:cNvSpPr>
                <a:spLocks noRot="1" noChangeAspect="1" noMove="1" noResize="1" noEditPoints="1" noAdjustHandles="1" noChangeArrowheads="1" noChangeShapeType="1" noTextEdit="1"/>
              </p:cNvSpPr>
              <p:nvPr/>
            </p:nvSpPr>
            <p:spPr>
              <a:xfrm>
                <a:off x="1196625" y="1988840"/>
                <a:ext cx="5024517" cy="917752"/>
              </a:xfrm>
              <a:prstGeom prst="rect">
                <a:avLst/>
              </a:prstGeom>
              <a:blipFill>
                <a:blip r:embed="rId2"/>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A7E71561-1523-4A65-AFD9-64B234CEEF68}"/>
              </a:ext>
            </a:extLst>
          </p:cNvPr>
          <p:cNvSpPr/>
          <p:nvPr/>
        </p:nvSpPr>
        <p:spPr>
          <a:xfrm>
            <a:off x="274021" y="3076277"/>
            <a:ext cx="8393433" cy="584775"/>
          </a:xfrm>
          <a:prstGeom prst="rect">
            <a:avLst/>
          </a:prstGeom>
        </p:spPr>
        <p:txBody>
          <a:bodyPr wrap="square">
            <a:spAutoFit/>
          </a:bodyPr>
          <a:lstStyle/>
          <a:p>
            <a:r>
              <a:rPr lang="zh-CN" altLang="en-US" sz="3200" dirty="0">
                <a:solidFill>
                  <a:srgbClr val="006699"/>
                </a:solidFill>
                <a:latin typeface="Verdana" panose="020B0604030504040204" pitchFamily="34" charset="0"/>
              </a:rPr>
              <a:t>用定理</a:t>
            </a:r>
            <a:r>
              <a:rPr lang="en-US" altLang="zh-CN" sz="3200" dirty="0">
                <a:solidFill>
                  <a:srgbClr val="006699"/>
                </a:solidFill>
                <a:latin typeface="Verdana" panose="020B0604030504040204" pitchFamily="34" charset="0"/>
              </a:rPr>
              <a:t>6.2</a:t>
            </a:r>
            <a:r>
              <a:rPr lang="zh-CN" altLang="en-US" sz="3200" dirty="0">
                <a:solidFill>
                  <a:srgbClr val="006699"/>
                </a:solidFill>
                <a:latin typeface="Verdana" panose="020B0604030504040204" pitchFamily="34" charset="0"/>
              </a:rPr>
              <a:t>构造泊松随机数时， 可以递推计算</a:t>
            </a:r>
            <a:endParaRPr lang="zh-CN" altLang="en-US"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F825AB8-34AE-4533-9FA7-DEB42A88CC6E}"/>
                  </a:ext>
                </a:extLst>
              </p:cNvPr>
              <p:cNvSpPr/>
              <p:nvPr/>
            </p:nvSpPr>
            <p:spPr>
              <a:xfrm>
                <a:off x="520938" y="3869206"/>
                <a:ext cx="7899598" cy="7998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2400" i="1">
                              <a:latin typeface="Cambria Math" panose="02040503050406030204" pitchFamily="18" charset="0"/>
                            </a:rPr>
                          </m:ctrlPr>
                        </m:mPr>
                        <m:mr>
                          <m:e>
                            <m:r>
                              <a:rPr lang="zh-CN" altLang="en-US" sz="2400" i="1">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𝑘</m:t>
                            </m:r>
                            <m:r>
                              <a:rPr lang="zh-CN" altLang="en-US" sz="2400" i="0">
                                <a:latin typeface="Cambria Math" panose="02040503050406030204" pitchFamily="18" charset="0"/>
                              </a:rPr>
                              <m:t>+1)=</m:t>
                            </m:r>
                          </m:e>
                          <m:e>
                            <m:r>
                              <a:rPr lang="zh-CN" altLang="en-US" sz="2400" i="1">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𝑘</m:t>
                            </m:r>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𝑘</m:t>
                                </m:r>
                                <m:r>
                                  <a:rPr lang="zh-CN" altLang="en-US" sz="2400" i="0">
                                    <a:latin typeface="Cambria Math" panose="02040503050406030204" pitchFamily="18" charset="0"/>
                                  </a:rPr>
                                  <m:t>+1</m:t>
                                </m:r>
                              </m:sub>
                            </m:sSub>
                            <m:r>
                              <a:rPr lang="zh-CN" altLang="en-US" sz="2400" i="0">
                                <a:latin typeface="Cambria Math" panose="02040503050406030204" pitchFamily="18" charset="0"/>
                              </a:rPr>
                              <m:t>=</m:t>
                            </m:r>
                            <m:r>
                              <a:rPr lang="zh-CN" altLang="en-US" sz="2400" i="1">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𝑘</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𝜆</m:t>
                                </m:r>
                              </m:num>
                              <m:den>
                                <m:r>
                                  <a:rPr lang="zh-CN" altLang="en-US" sz="2400" i="1">
                                    <a:latin typeface="Cambria Math" panose="02040503050406030204" pitchFamily="18" charset="0"/>
                                  </a:rPr>
                                  <m:t>𝑘</m:t>
                                </m:r>
                                <m:r>
                                  <a:rPr lang="zh-CN" altLang="en-US" sz="2400" i="0">
                                    <a:latin typeface="Cambria Math" panose="02040503050406030204" pitchFamily="18" charset="0"/>
                                  </a:rPr>
                                  <m:t>+1</m:t>
                                </m:r>
                              </m:den>
                            </m:f>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𝑘</m:t>
                                </m:r>
                              </m:sub>
                            </m:sSub>
                            <m:r>
                              <a:rPr lang="zh-CN" altLang="en-US" sz="2400" i="0">
                                <a:latin typeface="Cambria Math" panose="02040503050406030204" pitchFamily="18" charset="0"/>
                              </a:rPr>
                              <m:t>,</m:t>
                            </m:r>
                            <m:r>
                              <m:rPr>
                                <m:nor/>
                              </m:rPr>
                              <a:rPr lang="zh-CN" altLang="en-US" sz="2400" i="1">
                                <a:latin typeface="Cambria Math" panose="02040503050406030204" pitchFamily="18" charset="0"/>
                              </a:rPr>
                              <m:t> </m:t>
                            </m:r>
                            <m:r>
                              <a:rPr lang="zh-CN" altLang="en-US" sz="2400" i="1">
                                <a:latin typeface="Cambria Math" panose="02040503050406030204" pitchFamily="18" charset="0"/>
                              </a:rPr>
                              <m:t>𝑘</m:t>
                            </m:r>
                            <m:r>
                              <a:rPr lang="zh-CN" altLang="en-US" sz="2400" i="0">
                                <a:latin typeface="Cambria Math" panose="02040503050406030204" pitchFamily="18" charset="0"/>
                              </a:rPr>
                              <m:t>=0,1,2,…</m:t>
                            </m:r>
                          </m:e>
                        </m:mr>
                      </m:m>
                    </m:oMath>
                  </m:oMathPara>
                </a14:m>
                <a:endParaRPr lang="zh-CN" altLang="en-US" sz="2400" dirty="0"/>
              </a:p>
            </p:txBody>
          </p:sp>
        </mc:Choice>
        <mc:Fallback xmlns="">
          <p:sp>
            <p:nvSpPr>
              <p:cNvPr id="6" name="矩形 5">
                <a:extLst>
                  <a:ext uri="{FF2B5EF4-FFF2-40B4-BE49-F238E27FC236}">
                    <a16:creationId xmlns:a16="http://schemas.microsoft.com/office/drawing/2014/main" id="{5F825AB8-34AE-4533-9FA7-DEB42A88CC6E}"/>
                  </a:ext>
                </a:extLst>
              </p:cNvPr>
              <p:cNvSpPr>
                <a:spLocks noRot="1" noChangeAspect="1" noMove="1" noResize="1" noEditPoints="1" noAdjustHandles="1" noChangeArrowheads="1" noChangeShapeType="1" noTextEdit="1"/>
              </p:cNvSpPr>
              <p:nvPr/>
            </p:nvSpPr>
            <p:spPr>
              <a:xfrm>
                <a:off x="520938" y="3869206"/>
                <a:ext cx="7899598" cy="799899"/>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59211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2.3.2 </a:t>
            </a:r>
            <a:r>
              <a:rPr lang="zh-CN" altLang="en-US" dirty="0"/>
              <a:t>用逆变换法生成离散型随机数</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74022" y="981512"/>
            <a:ext cx="85959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6.7 </a:t>
            </a:r>
            <a:r>
              <a:rPr lang="en-US" altLang="zh-CN" sz="3200" dirty="0">
                <a:solidFill>
                  <a:srgbClr val="FF0000"/>
                </a:solidFill>
                <a:latin typeface="Verdana" panose="020B0604030504040204" pitchFamily="34" charset="0"/>
              </a:rPr>
              <a:t>(</a:t>
            </a:r>
            <a:r>
              <a:rPr lang="zh-CN" altLang="en-US" sz="3200" dirty="0">
                <a:solidFill>
                  <a:srgbClr val="FF0000"/>
                </a:solidFill>
                <a:latin typeface="Verdana" panose="020B0604030504040204" pitchFamily="34" charset="0"/>
              </a:rPr>
              <a:t>泊松分布随机数</a:t>
            </a:r>
            <a:r>
              <a:rPr lang="en-US" altLang="zh-CN" sz="3200" dirty="0">
                <a:solidFill>
                  <a:srgbClr val="FF0000"/>
                </a:solidFill>
                <a:latin typeface="Verdana" panose="020B0604030504040204" pitchFamily="34" charset="0"/>
              </a:rPr>
              <a:t>)</a:t>
            </a:r>
            <a:endParaRPr lang="en-US" altLang="zh-CN" sz="3200" dirty="0">
              <a:solidFill>
                <a:srgbClr val="006699"/>
              </a:solidFill>
              <a:latin typeface="Verdana" panose="020B0604030504040204" pitchFamily="34" charset="0"/>
            </a:endParaRPr>
          </a:p>
        </p:txBody>
      </p:sp>
      <p:sp>
        <p:nvSpPr>
          <p:cNvPr id="4" name="矩形 3">
            <a:extLst>
              <a:ext uri="{FF2B5EF4-FFF2-40B4-BE49-F238E27FC236}">
                <a16:creationId xmlns:a16="http://schemas.microsoft.com/office/drawing/2014/main" id="{A7E71561-1523-4A65-AFD9-64B234CEEF68}"/>
              </a:ext>
            </a:extLst>
          </p:cNvPr>
          <p:cNvSpPr/>
          <p:nvPr/>
        </p:nvSpPr>
        <p:spPr>
          <a:xfrm>
            <a:off x="375282" y="1566287"/>
            <a:ext cx="8393433" cy="4524315"/>
          </a:xfrm>
          <a:prstGeom prst="rect">
            <a:avLst/>
          </a:prstGeom>
        </p:spPr>
        <p:txBody>
          <a:bodyPr wrap="square">
            <a:spAutoFit/>
          </a:bodyPr>
          <a:lstStyle/>
          <a:p>
            <a:r>
              <a:rPr lang="zh-CN" altLang="en-US" sz="3200" dirty="0">
                <a:solidFill>
                  <a:srgbClr val="006699"/>
                </a:solidFill>
                <a:latin typeface="+mn-lt"/>
              </a:rPr>
              <a:t>步骤</a:t>
            </a:r>
            <a:r>
              <a:rPr lang="en-US" altLang="zh-CN" sz="3200" dirty="0">
                <a:solidFill>
                  <a:srgbClr val="006699"/>
                </a:solidFill>
                <a:latin typeface="+mn-lt"/>
              </a:rPr>
              <a:t>1:</a:t>
            </a:r>
            <a:r>
              <a:rPr lang="zh-CN" altLang="en-US" sz="3200" dirty="0">
                <a:solidFill>
                  <a:srgbClr val="006699"/>
                </a:solidFill>
                <a:latin typeface="+mn-lt"/>
              </a:rPr>
              <a:t>生成一个随机数</a:t>
            </a:r>
            <a:r>
              <a:rPr lang="en-US" altLang="zh-CN" sz="3200" dirty="0">
                <a:solidFill>
                  <a:srgbClr val="006699"/>
                </a:solidFill>
                <a:latin typeface="+mn-lt"/>
              </a:rPr>
              <a:t>U.</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2:i=0,p=e</a:t>
            </a:r>
            <a:r>
              <a:rPr lang="en-US" altLang="zh-CN" sz="3200" baseline="30000" dirty="0">
                <a:solidFill>
                  <a:srgbClr val="006699"/>
                </a:solidFill>
                <a:latin typeface="+mn-lt"/>
              </a:rPr>
              <a:t>-</a:t>
            </a:r>
            <a:r>
              <a:rPr lang="el-GR" altLang="zh-CN" sz="3200" baseline="30000" dirty="0">
                <a:solidFill>
                  <a:srgbClr val="006699"/>
                </a:solidFill>
                <a:latin typeface="+mn-lt"/>
              </a:rPr>
              <a:t>λ</a:t>
            </a:r>
            <a:r>
              <a:rPr lang="el-GR" altLang="zh-CN" sz="3200" dirty="0">
                <a:solidFill>
                  <a:srgbClr val="006699"/>
                </a:solidFill>
                <a:latin typeface="+mn-lt"/>
              </a:rPr>
              <a:t>,</a:t>
            </a:r>
            <a:r>
              <a:rPr lang="en-US" altLang="zh-CN" sz="3200" dirty="0">
                <a:solidFill>
                  <a:srgbClr val="006699"/>
                </a:solidFill>
                <a:latin typeface="+mn-lt"/>
              </a:rPr>
              <a:t>F=p.</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3:</a:t>
            </a:r>
            <a:r>
              <a:rPr lang="zh-CN" altLang="en-US" sz="3200" dirty="0">
                <a:solidFill>
                  <a:srgbClr val="006699"/>
                </a:solidFill>
                <a:latin typeface="+mn-lt"/>
              </a:rPr>
              <a:t>如果</a:t>
            </a:r>
            <a:r>
              <a:rPr lang="en-US" altLang="zh-CN" sz="3200" dirty="0">
                <a:solidFill>
                  <a:srgbClr val="006699"/>
                </a:solidFill>
                <a:latin typeface="+mn-lt"/>
              </a:rPr>
              <a:t>U&lt;F,</a:t>
            </a:r>
            <a:r>
              <a:rPr lang="zh-CN" altLang="en-US" sz="3200" dirty="0">
                <a:solidFill>
                  <a:srgbClr val="006699"/>
                </a:solidFill>
                <a:latin typeface="+mn-lt"/>
              </a:rPr>
              <a:t>取</a:t>
            </a:r>
            <a:r>
              <a:rPr lang="en-US" altLang="zh-CN" sz="3200" dirty="0">
                <a:solidFill>
                  <a:srgbClr val="006699"/>
                </a:solidFill>
                <a:latin typeface="+mn-lt"/>
              </a:rPr>
              <a:t>X=</a:t>
            </a:r>
            <a:r>
              <a:rPr lang="en-US" altLang="zh-CN" sz="3200" dirty="0" err="1">
                <a:solidFill>
                  <a:srgbClr val="006699"/>
                </a:solidFill>
                <a:latin typeface="+mn-lt"/>
              </a:rPr>
              <a:t>i</a:t>
            </a:r>
            <a:r>
              <a:rPr lang="zh-CN" altLang="en-US" sz="3200" dirty="0">
                <a:solidFill>
                  <a:srgbClr val="006699"/>
                </a:solidFill>
                <a:latin typeface="+mn-lt"/>
              </a:rPr>
              <a:t>且停止</a:t>
            </a:r>
            <a:r>
              <a:rPr lang="en-US" altLang="zh-CN" sz="3200" dirty="0">
                <a:solidFill>
                  <a:srgbClr val="006699"/>
                </a:solidFill>
                <a:latin typeface="+mn-lt"/>
              </a:rPr>
              <a:t>.</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4:p=</a:t>
            </a:r>
            <a:r>
              <a:rPr lang="el-GR" altLang="zh-CN" sz="3200" dirty="0">
                <a:solidFill>
                  <a:srgbClr val="006699"/>
                </a:solidFill>
                <a:latin typeface="+mn-lt"/>
              </a:rPr>
              <a:t>λ</a:t>
            </a:r>
            <a:r>
              <a:rPr lang="en-US" altLang="zh-CN" sz="3200" dirty="0">
                <a:solidFill>
                  <a:srgbClr val="006699"/>
                </a:solidFill>
                <a:latin typeface="+mn-lt"/>
              </a:rPr>
              <a:t>p/(i+1),F=</a:t>
            </a:r>
            <a:r>
              <a:rPr lang="en-US" altLang="zh-CN" sz="3200" dirty="0" err="1">
                <a:solidFill>
                  <a:srgbClr val="006699"/>
                </a:solidFill>
                <a:latin typeface="+mn-lt"/>
              </a:rPr>
              <a:t>F+p,i</a:t>
            </a:r>
            <a:r>
              <a:rPr lang="en-US" altLang="zh-CN" sz="3200" dirty="0">
                <a:solidFill>
                  <a:srgbClr val="006699"/>
                </a:solidFill>
                <a:latin typeface="+mn-lt"/>
              </a:rPr>
              <a:t>=i+1.</a:t>
            </a:r>
          </a:p>
          <a:p>
            <a:endParaRPr lang="en-US" altLang="zh-CN" sz="3200" dirty="0">
              <a:solidFill>
                <a:srgbClr val="006699"/>
              </a:solidFill>
              <a:latin typeface="+mn-lt"/>
            </a:endParaRPr>
          </a:p>
          <a:p>
            <a:r>
              <a:rPr lang="zh-CN" altLang="en-US" sz="3200" dirty="0">
                <a:solidFill>
                  <a:srgbClr val="006699"/>
                </a:solidFill>
                <a:latin typeface="+mn-lt"/>
              </a:rPr>
              <a:t>步骤</a:t>
            </a:r>
            <a:r>
              <a:rPr lang="en-US" altLang="zh-CN" sz="3200" dirty="0">
                <a:solidFill>
                  <a:srgbClr val="006699"/>
                </a:solidFill>
                <a:latin typeface="+mn-lt"/>
              </a:rPr>
              <a:t>5:</a:t>
            </a:r>
            <a:r>
              <a:rPr lang="zh-CN" altLang="en-US" sz="3200" dirty="0">
                <a:solidFill>
                  <a:srgbClr val="006699"/>
                </a:solidFill>
                <a:latin typeface="+mn-lt"/>
              </a:rPr>
              <a:t>转向步骤</a:t>
            </a:r>
            <a:r>
              <a:rPr lang="en-US" altLang="zh-CN" sz="3200" dirty="0">
                <a:solidFill>
                  <a:srgbClr val="006699"/>
                </a:solidFill>
                <a:latin typeface="+mn-lt"/>
              </a:rPr>
              <a:t>3.</a:t>
            </a:r>
            <a:endParaRPr lang="zh-CN" altLang="en-US" dirty="0">
              <a:latin typeface="+mn-lt"/>
            </a:endParaRPr>
          </a:p>
        </p:txBody>
      </p:sp>
    </p:spTree>
    <p:extLst>
      <p:ext uri="{BB962C8B-B14F-4D97-AF65-F5344CB8AC3E}">
        <p14:creationId xmlns:p14="http://schemas.microsoft.com/office/powerpoint/2010/main" val="720302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9479EB5-BA13-880B-A701-487421C9828A}"/>
                  </a:ext>
                </a:extLst>
              </p:cNvPr>
              <p:cNvSpPr txBox="1"/>
              <p:nvPr/>
            </p:nvSpPr>
            <p:spPr>
              <a:xfrm>
                <a:off x="71501" y="1196658"/>
                <a:ext cx="9000999" cy="4142160"/>
              </a:xfrm>
              <a:prstGeom prst="rect">
                <a:avLst/>
              </a:prstGeom>
              <a:noFill/>
              <a:ln w="25400">
                <a:noFill/>
              </a:ln>
            </p:spPr>
            <p:txBody>
              <a:bodyPr wrap="square">
                <a:spAutoFit/>
              </a:bodyPr>
              <a:lstStyle/>
              <a:p>
                <a:pPr>
                  <a:spcBef>
                    <a:spcPts val="900"/>
                  </a:spcBef>
                  <a:spcAft>
                    <a:spcPts val="900"/>
                  </a:spcAft>
                </a:pP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如果</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𝜆</m:t>
                    </m:r>
                  </m:oMath>
                </a14:m>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比较大</a:t>
                </a:r>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，令</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m:rPr>
                        <m:nor/>
                      </m:rPr>
                      <a:rPr lang="en-US" altLang="zh-CN" sz="2800">
                        <a:effectLst/>
                        <a:latin typeface="Aptos" panose="020B0004020202020204" pitchFamily="34" charset="0"/>
                        <a:ea typeface="等线" panose="02010600030101010101" pitchFamily="2" charset="-122"/>
                        <a:cs typeface="Times New Roman" panose="02020603050405020304" pitchFamily="18" charset="0"/>
                      </a:rPr>
                      <m:t>floor</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𝜆</m:t>
                        </m:r>
                      </m:e>
                    </m:d>
                  </m:oMath>
                </a14:m>
                <a:r>
                  <a:rPr lang="en-US" altLang="zh-CN" sz="2800" dirty="0">
                    <a:effectLst/>
                    <a:latin typeface="Aptos" panose="020B0004020202020204" pitchFamily="34" charset="0"/>
                    <a:ea typeface="等线" panose="02010600030101010101" pitchFamily="2" charset="-122"/>
                    <a:cs typeface="Times New Roman" panose="02020603050405020304" pitchFamily="18" charset="0"/>
                  </a:rPr>
                  <a:t>, </a:t>
                </a:r>
              </a:p>
              <a:p>
                <a:pPr>
                  <a:spcBef>
                    <a:spcPts val="900"/>
                  </a:spcBef>
                  <a:spcAft>
                    <a:spcPts val="900"/>
                  </a:spcAft>
                </a:pP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先递推计算出</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e>
                    </m:d>
                  </m:oMath>
                </a14:m>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和</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1</m:t>
                        </m:r>
                      </m:e>
                    </m:d>
                  </m:oMath>
                </a14:m>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800" dirty="0">
                    <a:effectLst/>
                    <a:latin typeface="Aptos" panose="020B0004020202020204" pitchFamily="34" charset="0"/>
                    <a:ea typeface="等线" panose="02010600030101010101" pitchFamily="2" charset="-122"/>
                    <a:cs typeface="Times New Roman" panose="02020603050405020304" pitchFamily="18" charset="0"/>
                  </a:rPr>
                  <a:t> </a:t>
                </a: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然后判断</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e>
                    </m:d>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&lt;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𝑈</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1</m:t>
                        </m:r>
                      </m:e>
                    </m:d>
                  </m:oMath>
                </a14:m>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是否成立</a:t>
                </a:r>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800" dirty="0">
                    <a:effectLst/>
                    <a:latin typeface="Aptos" panose="020B0004020202020204" pitchFamily="34" charset="0"/>
                    <a:ea typeface="等线" panose="02010600030101010101" pitchFamily="2" charset="-122"/>
                    <a:cs typeface="Times New Roman" panose="02020603050405020304" pitchFamily="18" charset="0"/>
                  </a:rPr>
                  <a:t> </a:t>
                </a:r>
                <a:endParaRPr lang="zh-CN" altLang="zh-CN" sz="2800" dirty="0">
                  <a:effectLst/>
                  <a:latin typeface="Aptos" panose="020B0004020202020204" pitchFamily="34" charset="0"/>
                  <a:ea typeface="等线" panose="02010600030101010101" pitchFamily="2" charset="-122"/>
                  <a:cs typeface="Times New Roman" panose="02020603050405020304" pitchFamily="18" charset="0"/>
                </a:endParaRPr>
              </a:p>
              <a:p>
                <a:pPr marL="342900" lvl="0" indent="-342900">
                  <a:spcAft>
                    <a:spcPts val="1000"/>
                  </a:spcAft>
                  <a:buFont typeface="+mj-lt"/>
                  <a:buAutoNum type="arabicPeriod"/>
                </a:pP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如果成立就令</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𝑋</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1</m:t>
                    </m:r>
                  </m:oMath>
                </a14:m>
                <a:r>
                  <a:rPr lang="en-US" altLang="zh-CN" sz="2800" dirty="0">
                    <a:effectLst/>
                    <a:latin typeface="Aptos" panose="020B0004020202020204" pitchFamily="34" charset="0"/>
                    <a:ea typeface="等线" panose="02010600030101010101" pitchFamily="2" charset="-122"/>
                    <a:cs typeface="Times New Roman" panose="02020603050405020304" pitchFamily="18" charset="0"/>
                  </a:rPr>
                  <a:t>; </a:t>
                </a:r>
                <a:endParaRPr lang="zh-CN" altLang="zh-CN" sz="2800" dirty="0">
                  <a:effectLst/>
                  <a:latin typeface="Aptos" panose="020B0004020202020204" pitchFamily="34" charset="0"/>
                  <a:ea typeface="等线" panose="02010600030101010101" pitchFamily="2" charset="-122"/>
                  <a:cs typeface="Times New Roman" panose="02020603050405020304" pitchFamily="18" charset="0"/>
                </a:endParaRPr>
              </a:p>
              <a:p>
                <a:pPr marL="342900" lvl="0" indent="-342900">
                  <a:spcAft>
                    <a:spcPts val="1000"/>
                  </a:spcAft>
                  <a:buFont typeface="+mj-lt"/>
                  <a:buAutoNum type="arabicPeriod"/>
                </a:pP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如果</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𝑈</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e>
                    </m:d>
                  </m:oMath>
                </a14:m>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则依次判断是否应取</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𝑋</m:t>
                    </m:r>
                  </m:oMath>
                </a14:m>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为</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−1</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0</m:t>
                    </m:r>
                  </m:oMath>
                </a14:m>
                <a:r>
                  <a:rPr lang="en-US" altLang="zh-CN" sz="2800" dirty="0">
                    <a:effectLst/>
                    <a:latin typeface="Aptos" panose="020B0004020202020204" pitchFamily="34" charset="0"/>
                    <a:ea typeface="等线" panose="02010600030101010101" pitchFamily="2" charset="-122"/>
                    <a:cs typeface="Times New Roman" panose="02020603050405020304" pitchFamily="18" charset="0"/>
                  </a:rPr>
                  <a:t>, </a:t>
                </a: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在这个过程中可以反向递推计算各</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𝑘</m:t>
                        </m:r>
                      </m:e>
                    </m:d>
                  </m:oMath>
                </a14:m>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800" dirty="0">
                    <a:effectLst/>
                    <a:latin typeface="Aptos" panose="020B0004020202020204" pitchFamily="34" charset="0"/>
                    <a:ea typeface="等线" panose="02010600030101010101" pitchFamily="2" charset="-122"/>
                    <a:cs typeface="Times New Roman" panose="02020603050405020304" pitchFamily="18" charset="0"/>
                  </a:rPr>
                  <a:t> </a:t>
                </a:r>
                <a:endParaRPr lang="zh-CN" altLang="zh-CN" sz="2800" dirty="0">
                  <a:effectLst/>
                  <a:latin typeface="Aptos" panose="020B0004020202020204" pitchFamily="34" charset="0"/>
                  <a:ea typeface="等线" panose="02010600030101010101" pitchFamily="2" charset="-122"/>
                  <a:cs typeface="Times New Roman" panose="02020603050405020304" pitchFamily="18" charset="0"/>
                </a:endParaRPr>
              </a:p>
              <a:p>
                <a:pPr marL="342900" lvl="0" indent="-342900">
                  <a:spcAft>
                    <a:spcPts val="1000"/>
                  </a:spcAft>
                  <a:buFont typeface="+mj-lt"/>
                  <a:buAutoNum type="arabicPeriod"/>
                </a:pP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如果</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𝑈</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&gt;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1</m:t>
                        </m:r>
                      </m:e>
                    </m:d>
                  </m:oMath>
                </a14:m>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则依次判断是否应取</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𝑋</m:t>
                    </m:r>
                  </m:oMath>
                </a14:m>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为</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2</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𝐾</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3</m:t>
                    </m:r>
                    <m:r>
                      <a:rPr lang="en-US" altLang="zh-CN" sz="2800">
                        <a:effectLst/>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800" dirty="0">
                    <a:effectLst/>
                    <a:latin typeface="Aptos" panose="020B0004020202020204" pitchFamily="34" charset="0"/>
                    <a:ea typeface="等线" panose="02010600030101010101" pitchFamily="2" charset="-122"/>
                    <a:cs typeface="Times New Roman" panose="02020603050405020304" pitchFamily="18" charset="0"/>
                  </a:rPr>
                  <a:t> </a:t>
                </a:r>
                <a:r>
                  <a:rPr lang="en-US" altLang="zh-CN" sz="2800" dirty="0" err="1">
                    <a:effectLst/>
                    <a:latin typeface="等线" panose="02010600030101010101" pitchFamily="2" charset="-122"/>
                    <a:ea typeface="等线" panose="02010600030101010101" pitchFamily="2" charset="-122"/>
                    <a:cs typeface="Times New Roman" panose="02020603050405020304" pitchFamily="18" charset="0"/>
                  </a:rPr>
                  <a:t>这个过程中仍然用递推计算各</a:t>
                </a:r>
                <a14:m>
                  <m:oMath xmlns:m="http://schemas.openxmlformats.org/officeDocument/2006/math">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𝐹</m:t>
                    </m:r>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ea typeface="等线" panose="02010600030101010101" pitchFamily="2" charset="-122"/>
                            <a:cs typeface="Times New Roman" panose="02020603050405020304" pitchFamily="18" charset="0"/>
                          </a:rPr>
                          <m:t>𝑘</m:t>
                        </m:r>
                      </m:e>
                    </m:d>
                  </m:oMath>
                </a14:m>
                <a:r>
                  <a:rPr lang="en-US" altLang="zh-CN" sz="28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800" dirty="0">
                  <a:effectLst/>
                  <a:latin typeface="Aptos" panose="020B0004020202020204" pitchFamily="34" charset="0"/>
                  <a:ea typeface="等线" panose="0201060003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E9479EB5-BA13-880B-A701-487421C9828A}"/>
                  </a:ext>
                </a:extLst>
              </p:cNvPr>
              <p:cNvSpPr txBox="1">
                <a:spLocks noRot="1" noChangeAspect="1" noMove="1" noResize="1" noEditPoints="1" noAdjustHandles="1" noChangeArrowheads="1" noChangeShapeType="1" noTextEdit="1"/>
              </p:cNvSpPr>
              <p:nvPr/>
            </p:nvSpPr>
            <p:spPr>
              <a:xfrm>
                <a:off x="71501" y="1196658"/>
                <a:ext cx="9000999" cy="4142160"/>
              </a:xfrm>
              <a:prstGeom prst="rect">
                <a:avLst/>
              </a:prstGeom>
              <a:blipFill>
                <a:blip r:embed="rId2"/>
                <a:stretch>
                  <a:fillRect l="-1423" t="-1618" b="-2941"/>
                </a:stretch>
              </a:blipFill>
              <a:ln w="25400">
                <a:noFill/>
              </a:ln>
            </p:spPr>
            <p:txBody>
              <a:bodyPr/>
              <a:lstStyle/>
              <a:p>
                <a:r>
                  <a:rPr lang="zh-CN" altLang="en-US">
                    <a:noFill/>
                  </a:rPr>
                  <a:t> </a:t>
                </a:r>
              </a:p>
            </p:txBody>
          </p:sp>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2.3.3 </a:t>
            </a:r>
            <a:r>
              <a:rPr lang="zh-CN" altLang="en-US" b="1" i="0" dirty="0">
                <a:solidFill>
                  <a:srgbClr val="333333"/>
                </a:solidFill>
                <a:effectLst/>
                <a:latin typeface="Helvetica Neue"/>
              </a:rPr>
              <a:t>用逆变换法生成连续型随机数</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640960" cy="2850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 对于反函数</a:t>
            </a:r>
            <a:r>
              <a:rPr lang="en-US" altLang="zh-CN" sz="3200" dirty="0">
                <a:solidFill>
                  <a:srgbClr val="006699"/>
                </a:solidFill>
                <a:latin typeface="Verdana" panose="020B0604030504040204" pitchFamily="34" charset="0"/>
              </a:rPr>
              <a:t>F</a:t>
            </a:r>
            <a:r>
              <a:rPr lang="en-US" altLang="zh-CN" sz="3200" baseline="300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容易计算的情形， 逆变换法是最方便的。</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b="1" dirty="0">
                <a:solidFill>
                  <a:srgbClr val="006699"/>
                </a:solidFill>
                <a:latin typeface="Verdana" panose="020B0604030504040204" pitchFamily="34" charset="0"/>
              </a:rPr>
              <a:t>例</a:t>
            </a:r>
            <a:r>
              <a:rPr lang="zh-CN" altLang="en-US" sz="3200" dirty="0">
                <a:solidFill>
                  <a:srgbClr val="006699"/>
                </a:solidFill>
                <a:latin typeface="Verdana" panose="020B0604030504040204" pitchFamily="34" charset="0"/>
              </a:rPr>
              <a:t> 产生</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a,b</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上</a:t>
            </a:r>
            <a:r>
              <a:rPr lang="zh-CN" altLang="en-US" sz="3200" dirty="0">
                <a:solidFill>
                  <a:srgbClr val="FF0000"/>
                </a:solidFill>
                <a:latin typeface="Verdana" panose="020B0604030504040204" pitchFamily="34" charset="0"/>
              </a:rPr>
              <a:t>均匀分布</a:t>
            </a:r>
            <a:r>
              <a:rPr lang="zh-CN" altLang="en-US" sz="3200" dirty="0">
                <a:solidFill>
                  <a:srgbClr val="006699"/>
                </a:solidFill>
                <a:latin typeface="Verdana" panose="020B0604030504040204" pitchFamily="34" charset="0"/>
              </a:rPr>
              <a:t>的随机数。</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如果</a:t>
            </a:r>
            <a:r>
              <a:rPr lang="en-US" altLang="zh-CN" sz="3200" dirty="0">
                <a:solidFill>
                  <a:srgbClr val="006699"/>
                </a:solidFill>
                <a:latin typeface="Verdana" panose="020B0604030504040204" pitchFamily="34" charset="0"/>
              </a:rPr>
              <a:t>U</a:t>
            </a:r>
            <a:r>
              <a:rPr lang="zh-CN" altLang="en-US" sz="3200" dirty="0">
                <a:solidFill>
                  <a:srgbClr val="006699"/>
                </a:solidFill>
                <a:latin typeface="Verdana" panose="020B0604030504040204" pitchFamily="34" charset="0"/>
              </a:rPr>
              <a:t>服从标准均匀分布</a:t>
            </a:r>
            <a:r>
              <a:rPr lang="en-US" altLang="zh-CN" sz="3200" dirty="0">
                <a:solidFill>
                  <a:srgbClr val="006699"/>
                </a:solidFill>
                <a:latin typeface="Verdana" panose="020B0604030504040204" pitchFamily="34" charset="0"/>
              </a:rPr>
              <a:t>U(0,1), </a:t>
            </a: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则</a:t>
            </a:r>
            <a:r>
              <a:rPr lang="en-US" altLang="zh-CN" sz="3200" dirty="0">
                <a:solidFill>
                  <a:srgbClr val="006699"/>
                </a:solidFill>
                <a:latin typeface="Verdana" panose="020B0604030504040204" pitchFamily="34" charset="0"/>
              </a:rPr>
              <a:t>X=a+(b−a)U</a:t>
            </a:r>
            <a:r>
              <a:rPr lang="zh-CN" altLang="en-US" sz="3200" dirty="0">
                <a:solidFill>
                  <a:srgbClr val="006699"/>
                </a:solidFill>
                <a:latin typeface="Verdana" panose="020B0604030504040204" pitchFamily="34" charset="0"/>
              </a:rPr>
              <a:t>服从</a:t>
            </a:r>
            <a:r>
              <a:rPr lang="en-US" altLang="zh-CN" sz="3200" dirty="0">
                <a:solidFill>
                  <a:srgbClr val="006699"/>
                </a:solidFill>
                <a:latin typeface="Verdana" panose="020B0604030504040204" pitchFamily="34" charset="0"/>
              </a:rPr>
              <a:t>U(</a:t>
            </a:r>
            <a:r>
              <a:rPr lang="en-US" altLang="zh-CN" sz="3200" dirty="0" err="1">
                <a:solidFill>
                  <a:srgbClr val="006699"/>
                </a:solidFill>
                <a:latin typeface="Verdana" panose="020B0604030504040204" pitchFamily="34" charset="0"/>
              </a:rPr>
              <a:t>a,b</a:t>
            </a:r>
            <a:r>
              <a:rPr lang="en-US" altLang="zh-CN" sz="3200" dirty="0">
                <a:solidFill>
                  <a:srgbClr val="006699"/>
                </a:solidFill>
                <a:latin typeface="Verdana" panose="020B0604030504040204" pitchFamily="34" charset="0"/>
              </a:rPr>
              <a:t>)</a:t>
            </a:r>
          </a:p>
        </p:txBody>
      </p:sp>
    </p:spTree>
    <p:extLst>
      <p:ext uri="{BB962C8B-B14F-4D97-AF65-F5344CB8AC3E}">
        <p14:creationId xmlns:p14="http://schemas.microsoft.com/office/powerpoint/2010/main" val="32945305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2.3.3 </a:t>
            </a:r>
            <a:r>
              <a:rPr lang="zh-CN" altLang="en-US" b="1" i="0" dirty="0">
                <a:solidFill>
                  <a:srgbClr val="333333"/>
                </a:solidFill>
                <a:effectLst/>
                <a:latin typeface="Helvetica Neue"/>
              </a:rPr>
              <a:t>用逆变换法生成连续型随机数</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19" y="1178750"/>
            <a:ext cx="8775975"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6.8 (</a:t>
            </a:r>
            <a:r>
              <a:rPr lang="zh-CN" altLang="en-US" sz="3200" dirty="0">
                <a:solidFill>
                  <a:srgbClr val="FF0000"/>
                </a:solidFill>
                <a:latin typeface="Verdana" panose="020B0604030504040204" pitchFamily="34" charset="0"/>
              </a:rPr>
              <a:t>右三角形分布</a:t>
            </a:r>
            <a:r>
              <a:rPr lang="en-US" altLang="zh-CN" sz="3200" dirty="0">
                <a:solidFill>
                  <a:srgbClr val="006699"/>
                </a:solidFill>
                <a:latin typeface="Verdana" panose="020B0604030504040204" pitchFamily="34" charset="0"/>
              </a:rPr>
              <a:t>)</a:t>
            </a:r>
          </a:p>
          <a:p>
            <a:pPr marL="0" indent="0" eaLnBrk="1" hangingPunct="1">
              <a:spcBef>
                <a:spcPct val="20000"/>
              </a:spcBef>
            </a:pPr>
            <a:r>
              <a:rPr lang="en-US" altLang="zh-CN" sz="3200" dirty="0">
                <a:solidFill>
                  <a:srgbClr val="006699"/>
                </a:solidFill>
                <a:latin typeface="Verdana" panose="020B0604030504040204" pitchFamily="34" charset="0"/>
              </a:rPr>
              <a:t> Beta(2,1)</a:t>
            </a:r>
            <a:r>
              <a:rPr lang="zh-CN" altLang="en-US" sz="3200" dirty="0">
                <a:solidFill>
                  <a:srgbClr val="006699"/>
                </a:solidFill>
                <a:latin typeface="Verdana" panose="020B0604030504040204" pitchFamily="34" charset="0"/>
              </a:rPr>
              <a:t>分布的分布密度和分布函数分别为</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276BFF2-CD15-45DE-8771-75431B1E7132}"/>
                  </a:ext>
                </a:extLst>
              </p:cNvPr>
              <p:cNvSpPr/>
              <p:nvPr/>
            </p:nvSpPr>
            <p:spPr>
              <a:xfrm>
                <a:off x="701570" y="2485783"/>
                <a:ext cx="727474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zh-CN" altLang="en-US" sz="2800" i="1">
                              <a:latin typeface="Cambria Math" panose="02040503050406030204" pitchFamily="18" charset="0"/>
                            </a:rPr>
                          </m:ctrlPr>
                        </m:mPr>
                        <m:mr>
                          <m:e>
                            <m:r>
                              <a:rPr lang="zh-CN" altLang="en-US" sz="2800" i="1">
                                <a:latin typeface="Cambria Math" panose="02040503050406030204" pitchFamily="18" charset="0"/>
                              </a:rPr>
                              <m:t>𝑝</m:t>
                            </m:r>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m:t>
                            </m:r>
                          </m:e>
                          <m:e>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2</m:t>
                                </m:r>
                                <m:r>
                                  <a:rPr lang="zh-CN" altLang="en-US" sz="2800" i="1">
                                    <a:latin typeface="Cambria Math" panose="02040503050406030204" pitchFamily="18" charset="0"/>
                                  </a:rPr>
                                  <m:t>𝑥</m:t>
                                </m:r>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∈[0,1</m:t>
                                </m:r>
                              </m:e>
                            </m:d>
                          </m:e>
                          <m:e>
                            <m:r>
                              <a:rPr lang="zh-CN" altLang="en-US" sz="2800" i="1">
                                <a:latin typeface="Cambria Math" panose="02040503050406030204" pitchFamily="18" charset="0"/>
                              </a:rPr>
                              <m:t>𝐹</m:t>
                            </m:r>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m:t>
                            </m:r>
                          </m:e>
                          <m:e>
                            <m:d>
                              <m:dPr>
                                <m:begChr m:val=""/>
                                <m:endChr m:val="]"/>
                                <m:ctrlPr>
                                  <a:rPr lang="zh-CN" altLang="en-US" sz="2800" i="1">
                                    <a:latin typeface="Cambria Math" panose="02040503050406030204" pitchFamily="18" charset="0"/>
                                  </a:rPr>
                                </m:ctrlPr>
                              </m:dPr>
                              <m:e>
                                <m:sSup>
                                  <m:sSupPr>
                                    <m:ctrlPr>
                                      <a:rPr lang="zh-CN" altLang="en-US" sz="2800" i="1">
                                        <a:latin typeface="Cambria Math" panose="02040503050406030204" pitchFamily="18" charset="0"/>
                                      </a:rPr>
                                    </m:ctrlPr>
                                  </m:sSupPr>
                                  <m:e>
                                    <m:r>
                                      <a:rPr lang="zh-CN" altLang="en-US" sz="2800" i="1">
                                        <a:latin typeface="Cambria Math" panose="02040503050406030204" pitchFamily="18" charset="0"/>
                                      </a:rPr>
                                      <m:t>𝑥</m:t>
                                    </m:r>
                                  </m:e>
                                  <m:sup>
                                    <m:r>
                                      <a:rPr lang="zh-CN" altLang="en-US" sz="2800" i="0">
                                        <a:latin typeface="Cambria Math" panose="02040503050406030204" pitchFamily="18" charset="0"/>
                                      </a:rPr>
                                      <m:t>2</m:t>
                                    </m:r>
                                  </m:sup>
                                </m:sSup>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∈[0,1</m:t>
                                </m:r>
                              </m:e>
                            </m:d>
                          </m:e>
                        </m:mr>
                      </m:m>
                    </m:oMath>
                  </m:oMathPara>
                </a14:m>
                <a:endParaRPr lang="zh-CN" altLang="en-US" sz="2800" dirty="0"/>
              </a:p>
            </p:txBody>
          </p:sp>
        </mc:Choice>
        <mc:Fallback xmlns="">
          <p:sp>
            <p:nvSpPr>
              <p:cNvPr id="2" name="矩形 1">
                <a:extLst>
                  <a:ext uri="{FF2B5EF4-FFF2-40B4-BE49-F238E27FC236}">
                    <a16:creationId xmlns:a16="http://schemas.microsoft.com/office/drawing/2014/main" id="{9276BFF2-CD15-45DE-8771-75431B1E7132}"/>
                  </a:ext>
                </a:extLst>
              </p:cNvPr>
              <p:cNvSpPr>
                <a:spLocks noRot="1" noChangeAspect="1" noMove="1" noResize="1" noEditPoints="1" noAdjustHandles="1" noChangeArrowheads="1" noChangeShapeType="1" noTextEdit="1"/>
              </p:cNvSpPr>
              <p:nvPr/>
            </p:nvSpPr>
            <p:spPr>
              <a:xfrm>
                <a:off x="701570" y="2485783"/>
                <a:ext cx="7274748" cy="523220"/>
              </a:xfrm>
              <a:prstGeom prst="rect">
                <a:avLst/>
              </a:prstGeom>
              <a:blipFill>
                <a:blip r:embed="rId2"/>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AD416B80-DDF2-468C-85B4-FAF462AB6C93}"/>
              </a:ext>
            </a:extLst>
          </p:cNvPr>
          <p:cNvSpPr/>
          <p:nvPr/>
        </p:nvSpPr>
        <p:spPr>
          <a:xfrm>
            <a:off x="431540" y="3264223"/>
            <a:ext cx="6885765" cy="1569660"/>
          </a:xfrm>
          <a:prstGeom prst="rect">
            <a:avLst/>
          </a:prstGeom>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密度函数为三角形</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若</a:t>
            </a:r>
            <a:r>
              <a:rPr lang="en-US" altLang="zh-CN" sz="3200" dirty="0">
                <a:solidFill>
                  <a:srgbClr val="006699"/>
                </a:solidFill>
                <a:latin typeface="Verdana" panose="020B0604030504040204" pitchFamily="34" charset="0"/>
              </a:rPr>
              <a:t>U∼U(0,1)</a:t>
            </a:r>
            <a:r>
              <a:rPr lang="zh-CN" altLang="en-US" sz="3200" dirty="0">
                <a:solidFill>
                  <a:srgbClr val="006699"/>
                </a:solidFill>
                <a:latin typeface="Verdana" panose="020B0604030504040204" pitchFamily="34" charset="0"/>
              </a:rPr>
              <a:t>， 则</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为</a:t>
            </a:r>
            <a:r>
              <a:rPr lang="en-US" altLang="zh-CN" sz="3200" b="1" dirty="0">
                <a:solidFill>
                  <a:srgbClr val="FF0000"/>
                </a:solidFill>
                <a:latin typeface="Verdana" panose="020B0604030504040204" pitchFamily="34" charset="0"/>
              </a:rPr>
              <a:t>Beta(2,1)</a:t>
            </a:r>
            <a:r>
              <a:rPr lang="zh-CN" altLang="en-US" sz="3200" b="1" dirty="0">
                <a:solidFill>
                  <a:srgbClr val="FF0000"/>
                </a:solidFill>
                <a:latin typeface="Verdana" panose="020B0604030504040204" pitchFamily="34" charset="0"/>
              </a:rPr>
              <a:t>随机数</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F04C0A7-F93C-4FA6-A184-5CF7F3C40555}"/>
                  </a:ext>
                </a:extLst>
              </p:cNvPr>
              <p:cNvSpPr/>
              <p:nvPr/>
            </p:nvSpPr>
            <p:spPr>
              <a:xfrm>
                <a:off x="4098925" y="3763494"/>
                <a:ext cx="1480598" cy="5711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𝑋</m:t>
                      </m:r>
                      <m:r>
                        <a:rPr lang="zh-CN" altLang="en-US" sz="2800" i="0">
                          <a:latin typeface="Cambria Math" panose="02040503050406030204" pitchFamily="18" charset="0"/>
                        </a:rPr>
                        <m:t>=</m:t>
                      </m:r>
                      <m:rad>
                        <m:radPr>
                          <m:degHide m:val="on"/>
                          <m:ctrlPr>
                            <a:rPr lang="zh-CN" altLang="en-US" sz="2800" i="1">
                              <a:latin typeface="Cambria Math" panose="02040503050406030204" pitchFamily="18" charset="0"/>
                            </a:rPr>
                          </m:ctrlPr>
                        </m:radPr>
                        <m:deg/>
                        <m:e>
                          <m:r>
                            <a:rPr lang="zh-CN" altLang="en-US" sz="2800" i="1">
                              <a:latin typeface="Cambria Math" panose="02040503050406030204" pitchFamily="18" charset="0"/>
                            </a:rPr>
                            <m:t>𝑈</m:t>
                          </m:r>
                        </m:e>
                      </m:rad>
                    </m:oMath>
                  </m:oMathPara>
                </a14:m>
                <a:endParaRPr lang="zh-CN" altLang="en-US" sz="2800" dirty="0"/>
              </a:p>
            </p:txBody>
          </p:sp>
        </mc:Choice>
        <mc:Fallback xmlns="">
          <p:sp>
            <p:nvSpPr>
              <p:cNvPr id="5" name="矩形 4">
                <a:extLst>
                  <a:ext uri="{FF2B5EF4-FFF2-40B4-BE49-F238E27FC236}">
                    <a16:creationId xmlns:a16="http://schemas.microsoft.com/office/drawing/2014/main" id="{3F04C0A7-F93C-4FA6-A184-5CF7F3C40555}"/>
                  </a:ext>
                </a:extLst>
              </p:cNvPr>
              <p:cNvSpPr>
                <a:spLocks noRot="1" noChangeAspect="1" noMove="1" noResize="1" noEditPoints="1" noAdjustHandles="1" noChangeArrowheads="1" noChangeShapeType="1" noTextEdit="1"/>
              </p:cNvSpPr>
              <p:nvPr/>
            </p:nvSpPr>
            <p:spPr>
              <a:xfrm>
                <a:off x="4098925" y="3763494"/>
                <a:ext cx="1480598" cy="57111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779746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B9C20-A029-416D-BEEC-AF05C657A54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1BD7378-9255-4DFB-BA88-5202048B721D}"/>
              </a:ext>
            </a:extLst>
          </p:cNvPr>
          <p:cNvSpPr>
            <a:spLocks noGrp="1"/>
          </p:cNvSpPr>
          <p:nvPr>
            <p:ph idx="1"/>
          </p:nvPr>
        </p:nvSpPr>
        <p:spPr/>
        <p:txBody>
          <a:bodyPr/>
          <a:lstStyle/>
          <a:p>
            <a:endParaRPr lang="zh-CN" altLang="en-US"/>
          </a:p>
        </p:txBody>
      </p:sp>
      <p:pic>
        <p:nvPicPr>
          <p:cNvPr id="7170" name="Picture 2" descr="https://www.math.pku.edu.cn/teachers/lidf/docs/statcomp/html/_statcompbook/0215-rng-nonuni_files/figure-html/unnamed-chunk-26-1.png">
            <a:extLst>
              <a:ext uri="{FF2B5EF4-FFF2-40B4-BE49-F238E27FC236}">
                <a16:creationId xmlns:a16="http://schemas.microsoft.com/office/drawing/2014/main" id="{0CCBE8B5-6205-40C9-A809-08F8F7AD5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68924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2.3.3 </a:t>
            </a:r>
            <a:r>
              <a:rPr lang="zh-CN" altLang="en-US" b="1" i="0" dirty="0">
                <a:solidFill>
                  <a:srgbClr val="333333"/>
                </a:solidFill>
                <a:effectLst/>
                <a:latin typeface="Helvetica Neue"/>
              </a:rPr>
              <a:t>用逆变换法生成连续型随机数</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19" y="1178750"/>
            <a:ext cx="8775975"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6.8 (</a:t>
            </a:r>
            <a:r>
              <a:rPr lang="zh-CN" altLang="en-US" sz="3200" dirty="0">
                <a:solidFill>
                  <a:srgbClr val="FF0000"/>
                </a:solidFill>
                <a:latin typeface="Verdana" panose="020B0604030504040204" pitchFamily="34" charset="0"/>
              </a:rPr>
              <a:t>左三角形分布</a:t>
            </a:r>
            <a:r>
              <a:rPr lang="en-US" altLang="zh-CN" sz="3200" dirty="0">
                <a:solidFill>
                  <a:srgbClr val="006699"/>
                </a:solidFill>
                <a:latin typeface="Verdana" panose="020B0604030504040204" pitchFamily="34" charset="0"/>
              </a:rPr>
              <a:t>)</a:t>
            </a:r>
          </a:p>
          <a:p>
            <a:pPr marL="0" indent="0" eaLnBrk="1" hangingPunct="1">
              <a:spcBef>
                <a:spcPct val="20000"/>
              </a:spcBef>
            </a:pPr>
            <a:r>
              <a:rPr lang="en-US" altLang="zh-CN" sz="3200" dirty="0">
                <a:solidFill>
                  <a:srgbClr val="006699"/>
                </a:solidFill>
                <a:latin typeface="Verdana" panose="020B0604030504040204" pitchFamily="34" charset="0"/>
              </a:rPr>
              <a:t> Beta(1,2)</a:t>
            </a:r>
            <a:r>
              <a:rPr lang="zh-CN" altLang="en-US" sz="3200" dirty="0">
                <a:solidFill>
                  <a:srgbClr val="006699"/>
                </a:solidFill>
                <a:latin typeface="Verdana" panose="020B0604030504040204" pitchFamily="34" charset="0"/>
              </a:rPr>
              <a:t>分布的分布密度和分布函数分别为</a:t>
            </a:r>
            <a:endParaRPr lang="en-US" altLang="zh-CN" sz="3200" dirty="0">
              <a:solidFill>
                <a:srgbClr val="006699"/>
              </a:solidFill>
              <a:latin typeface="Verdana" panose="020B0604030504040204" pitchFamily="34" charset="0"/>
            </a:endParaRPr>
          </a:p>
        </p:txBody>
      </p:sp>
      <p:sp>
        <p:nvSpPr>
          <p:cNvPr id="4" name="矩形 3">
            <a:extLst>
              <a:ext uri="{FF2B5EF4-FFF2-40B4-BE49-F238E27FC236}">
                <a16:creationId xmlns:a16="http://schemas.microsoft.com/office/drawing/2014/main" id="{AD416B80-DDF2-468C-85B4-FAF462AB6C93}"/>
              </a:ext>
            </a:extLst>
          </p:cNvPr>
          <p:cNvSpPr/>
          <p:nvPr/>
        </p:nvSpPr>
        <p:spPr>
          <a:xfrm>
            <a:off x="431540" y="3264223"/>
            <a:ext cx="8368637" cy="2554545"/>
          </a:xfrm>
          <a:prstGeom prst="rect">
            <a:avLst/>
          </a:prstGeom>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密度函数为三角形</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若</a:t>
            </a:r>
            <a:r>
              <a:rPr lang="en-US" altLang="zh-CN" sz="3200" dirty="0">
                <a:solidFill>
                  <a:srgbClr val="006699"/>
                </a:solidFill>
                <a:latin typeface="Verdana" panose="020B0604030504040204" pitchFamily="34" charset="0"/>
              </a:rPr>
              <a:t>U∼U(0,1)</a:t>
            </a:r>
            <a:r>
              <a:rPr lang="zh-CN" altLang="en-US" sz="3200" dirty="0">
                <a:solidFill>
                  <a:srgbClr val="006699"/>
                </a:solidFill>
                <a:latin typeface="Verdana" panose="020B0604030504040204" pitchFamily="34" charset="0"/>
              </a:rPr>
              <a:t>， 则</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为</a:t>
            </a:r>
            <a:r>
              <a:rPr lang="en-US" altLang="zh-CN" sz="3200" dirty="0">
                <a:solidFill>
                  <a:srgbClr val="006699"/>
                </a:solidFill>
                <a:latin typeface="Verdana" panose="020B0604030504040204" pitchFamily="34" charset="0"/>
              </a:rPr>
              <a:t>Beta(1,2)</a:t>
            </a:r>
            <a:r>
              <a:rPr lang="zh-CN" altLang="en-US" sz="3200" dirty="0">
                <a:solidFill>
                  <a:srgbClr val="006699"/>
                </a:solidFill>
                <a:latin typeface="Verdana" panose="020B0604030504040204" pitchFamily="34" charset="0"/>
              </a:rPr>
              <a:t>随机数</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因为</a:t>
            </a:r>
            <a:r>
              <a:rPr lang="en-US" altLang="zh-CN" sz="3200" dirty="0">
                <a:solidFill>
                  <a:srgbClr val="006699"/>
                </a:solidFill>
                <a:latin typeface="Verdana" panose="020B0604030504040204" pitchFamily="34" charset="0"/>
              </a:rPr>
              <a:t>U</a:t>
            </a:r>
            <a:r>
              <a:rPr lang="zh-CN" altLang="en-US" sz="3200" dirty="0">
                <a:solidFill>
                  <a:srgbClr val="006699"/>
                </a:solidFill>
                <a:latin typeface="Verdana" panose="020B0604030504040204" pitchFamily="34" charset="0"/>
              </a:rPr>
              <a:t>与</a:t>
            </a:r>
            <a:r>
              <a:rPr lang="en-US" altLang="zh-CN" sz="3200" dirty="0">
                <a:solidFill>
                  <a:srgbClr val="006699"/>
                </a:solidFill>
                <a:latin typeface="Verdana" panose="020B0604030504040204" pitchFamily="34" charset="0"/>
              </a:rPr>
              <a:t>1−U</a:t>
            </a:r>
            <a:r>
              <a:rPr lang="zh-CN" altLang="en-US" sz="3200" dirty="0">
                <a:solidFill>
                  <a:srgbClr val="006699"/>
                </a:solidFill>
                <a:latin typeface="Verdana" panose="020B0604030504040204" pitchFamily="34" charset="0"/>
              </a:rPr>
              <a:t>同分布所以</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也是</a:t>
            </a:r>
            <a:r>
              <a:rPr lang="en-US" altLang="zh-CN" sz="3200" dirty="0">
                <a:solidFill>
                  <a:srgbClr val="006699"/>
                </a:solidFill>
                <a:latin typeface="Verdana" panose="020B0604030504040204" pitchFamily="34" charset="0"/>
              </a:rPr>
              <a:t>Beta(1,2)</a:t>
            </a:r>
            <a:r>
              <a:rPr lang="zh-CN" altLang="en-US" sz="3200" dirty="0">
                <a:solidFill>
                  <a:srgbClr val="006699"/>
                </a:solidFill>
                <a:latin typeface="Verdana" panose="020B0604030504040204" pitchFamily="34" charset="0"/>
              </a:rPr>
              <a:t>随机数。</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E4D0EAF-D391-4C7F-A2A9-7F72F1454CE1}"/>
                  </a:ext>
                </a:extLst>
              </p:cNvPr>
              <p:cNvSpPr/>
              <p:nvPr/>
            </p:nvSpPr>
            <p:spPr>
              <a:xfrm>
                <a:off x="251519" y="2622894"/>
                <a:ext cx="836863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4"/>
                                <m:mcJc m:val="center"/>
                              </m:mcPr>
                            </m:mc>
                          </m:mcs>
                          <m:ctrlPr>
                            <a:rPr lang="zh-CN" altLang="en-US" sz="2400" i="1">
                              <a:latin typeface="Cambria Math" panose="02040503050406030204" pitchFamily="18" charset="0"/>
                            </a:rPr>
                          </m:ctrlPr>
                        </m:mPr>
                        <m:mr>
                          <m:e>
                            <m:r>
                              <a:rPr lang="zh-CN" altLang="en-US" sz="2400" i="1">
                                <a:latin typeface="Cambria Math" panose="02040503050406030204" pitchFamily="18" charset="0"/>
                              </a:rPr>
                              <m:t>𝑝</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e>
                          <m:e>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2(1−</m:t>
                                </m:r>
                                <m:r>
                                  <a:rPr lang="zh-CN" altLang="en-US" sz="2400" i="1">
                                    <a:latin typeface="Cambria Math" panose="02040503050406030204" pitchFamily="18" charset="0"/>
                                  </a:rPr>
                                  <m:t>𝑥</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∈[0,1</m:t>
                                </m:r>
                              </m:e>
                            </m:d>
                          </m:e>
                          <m:e>
                            <m:r>
                              <a:rPr lang="zh-CN" altLang="en-US" sz="2400" i="1">
                                <a:latin typeface="Cambria Math" panose="02040503050406030204" pitchFamily="18" charset="0"/>
                              </a:rPr>
                              <m:t>𝐹</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m:t>
                            </m:r>
                          </m:e>
                          <m:e>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1−</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r>
                                          <a:rPr lang="zh-CN" altLang="en-US" sz="2400" i="1">
                                            <a:latin typeface="Cambria Math" panose="02040503050406030204" pitchFamily="18" charset="0"/>
                                          </a:rPr>
                                          <m:t>𝑥</m:t>
                                        </m:r>
                                      </m:e>
                                    </m:d>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∈[0,1</m:t>
                                </m:r>
                              </m:e>
                            </m:d>
                          </m:e>
                        </m:mr>
                      </m:m>
                    </m:oMath>
                  </m:oMathPara>
                </a14:m>
                <a:endParaRPr lang="zh-CN" altLang="en-US" sz="2400" dirty="0"/>
              </a:p>
            </p:txBody>
          </p:sp>
        </mc:Choice>
        <mc:Fallback xmlns="">
          <p:sp>
            <p:nvSpPr>
              <p:cNvPr id="3" name="矩形 2">
                <a:extLst>
                  <a:ext uri="{FF2B5EF4-FFF2-40B4-BE49-F238E27FC236}">
                    <a16:creationId xmlns:a16="http://schemas.microsoft.com/office/drawing/2014/main" id="{AE4D0EAF-D391-4C7F-A2A9-7F72F1454CE1}"/>
                  </a:ext>
                </a:extLst>
              </p:cNvPr>
              <p:cNvSpPr>
                <a:spLocks noRot="1" noChangeAspect="1" noMove="1" noResize="1" noEditPoints="1" noAdjustHandles="1" noChangeArrowheads="1" noChangeShapeType="1" noTextEdit="1"/>
              </p:cNvSpPr>
              <p:nvPr/>
            </p:nvSpPr>
            <p:spPr>
              <a:xfrm>
                <a:off x="251519" y="2622894"/>
                <a:ext cx="8368637" cy="461665"/>
              </a:xfrm>
              <a:prstGeom prst="rect">
                <a:avLst/>
              </a:prstGeom>
              <a:blipFill>
                <a:blip r:embed="rId2"/>
                <a:stretch>
                  <a:fillRect t="-127632" r="-6701" b="-1973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CDDFD47-C6E8-4D85-A9D4-58023A95E2F5}"/>
                  </a:ext>
                </a:extLst>
              </p:cNvPr>
              <p:cNvSpPr/>
              <p:nvPr/>
            </p:nvSpPr>
            <p:spPr>
              <a:xfrm>
                <a:off x="4301970" y="3690099"/>
                <a:ext cx="2732608" cy="5739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𝑋</m:t>
                      </m:r>
                      <m:r>
                        <a:rPr lang="zh-CN" altLang="en-US" sz="2800" i="0">
                          <a:latin typeface="Cambria Math" panose="02040503050406030204" pitchFamily="18" charset="0"/>
                        </a:rPr>
                        <m:t>=1−</m:t>
                      </m:r>
                      <m:rad>
                        <m:radPr>
                          <m:degHide m:val="on"/>
                          <m:ctrlPr>
                            <a:rPr lang="zh-CN" altLang="en-US" sz="2800" i="1">
                              <a:latin typeface="Cambria Math" panose="02040503050406030204" pitchFamily="18" charset="0"/>
                            </a:rPr>
                          </m:ctrlPr>
                        </m:radPr>
                        <m:deg/>
                        <m:e>
                          <m:r>
                            <a:rPr lang="zh-CN" altLang="en-US" sz="2800" i="0">
                              <a:latin typeface="Cambria Math" panose="02040503050406030204" pitchFamily="18" charset="0"/>
                            </a:rPr>
                            <m:t>1−</m:t>
                          </m:r>
                          <m:r>
                            <a:rPr lang="zh-CN" altLang="en-US" sz="2800" i="1">
                              <a:latin typeface="Cambria Math" panose="02040503050406030204" pitchFamily="18" charset="0"/>
                            </a:rPr>
                            <m:t>𝑈</m:t>
                          </m:r>
                        </m:e>
                      </m:rad>
                    </m:oMath>
                  </m:oMathPara>
                </a14:m>
                <a:endParaRPr lang="zh-CN" altLang="en-US" sz="2800" dirty="0"/>
              </a:p>
            </p:txBody>
          </p:sp>
        </mc:Choice>
        <mc:Fallback xmlns="">
          <p:sp>
            <p:nvSpPr>
              <p:cNvPr id="6" name="矩形 5">
                <a:extLst>
                  <a:ext uri="{FF2B5EF4-FFF2-40B4-BE49-F238E27FC236}">
                    <a16:creationId xmlns:a16="http://schemas.microsoft.com/office/drawing/2014/main" id="{BCDDFD47-C6E8-4D85-A9D4-58023A95E2F5}"/>
                  </a:ext>
                </a:extLst>
              </p:cNvPr>
              <p:cNvSpPr>
                <a:spLocks noRot="1" noChangeAspect="1" noMove="1" noResize="1" noEditPoints="1" noAdjustHandles="1" noChangeArrowheads="1" noChangeShapeType="1" noTextEdit="1"/>
              </p:cNvSpPr>
              <p:nvPr/>
            </p:nvSpPr>
            <p:spPr>
              <a:xfrm>
                <a:off x="4301970" y="3690099"/>
                <a:ext cx="2732608" cy="57394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214497C-A41D-4500-B7E3-3C0A795B3544}"/>
                  </a:ext>
                </a:extLst>
              </p:cNvPr>
              <p:cNvSpPr/>
              <p:nvPr/>
            </p:nvSpPr>
            <p:spPr>
              <a:xfrm>
                <a:off x="5474870" y="4656006"/>
                <a:ext cx="2106602" cy="57111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𝑋</m:t>
                      </m:r>
                      <m:r>
                        <a:rPr lang="zh-CN" altLang="en-US" sz="2800" i="0">
                          <a:latin typeface="Cambria Math" panose="02040503050406030204" pitchFamily="18" charset="0"/>
                        </a:rPr>
                        <m:t>=1−</m:t>
                      </m:r>
                      <m:rad>
                        <m:radPr>
                          <m:degHide m:val="on"/>
                          <m:ctrlPr>
                            <a:rPr lang="zh-CN" altLang="en-US" sz="2800" i="1">
                              <a:latin typeface="Cambria Math" panose="02040503050406030204" pitchFamily="18" charset="0"/>
                            </a:rPr>
                          </m:ctrlPr>
                        </m:radPr>
                        <m:deg/>
                        <m:e>
                          <m:r>
                            <a:rPr lang="zh-CN" altLang="en-US" sz="2800" i="1">
                              <a:latin typeface="Cambria Math" panose="02040503050406030204" pitchFamily="18" charset="0"/>
                            </a:rPr>
                            <m:t>𝑈</m:t>
                          </m:r>
                        </m:e>
                      </m:rad>
                    </m:oMath>
                  </m:oMathPara>
                </a14:m>
                <a:endParaRPr lang="zh-CN" altLang="en-US" sz="2800" dirty="0"/>
              </a:p>
            </p:txBody>
          </p:sp>
        </mc:Choice>
        <mc:Fallback xmlns="">
          <p:sp>
            <p:nvSpPr>
              <p:cNvPr id="9" name="矩形 8">
                <a:extLst>
                  <a:ext uri="{FF2B5EF4-FFF2-40B4-BE49-F238E27FC236}">
                    <a16:creationId xmlns:a16="http://schemas.microsoft.com/office/drawing/2014/main" id="{7214497C-A41D-4500-B7E3-3C0A795B3544}"/>
                  </a:ext>
                </a:extLst>
              </p:cNvPr>
              <p:cNvSpPr>
                <a:spLocks noRot="1" noChangeAspect="1" noMove="1" noResize="1" noEditPoints="1" noAdjustHandles="1" noChangeArrowheads="1" noChangeShapeType="1" noTextEdit="1"/>
              </p:cNvSpPr>
              <p:nvPr/>
            </p:nvSpPr>
            <p:spPr>
              <a:xfrm>
                <a:off x="5474870" y="4656006"/>
                <a:ext cx="2106602" cy="57111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578064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AA970E-5C28-43E6-B9D2-EB70D860240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596CA10-B2D4-4654-8AD3-444DC04B4CC1}"/>
              </a:ext>
            </a:extLst>
          </p:cNvPr>
          <p:cNvSpPr>
            <a:spLocks noGrp="1"/>
          </p:cNvSpPr>
          <p:nvPr>
            <p:ph idx="1"/>
          </p:nvPr>
        </p:nvSpPr>
        <p:spPr/>
        <p:txBody>
          <a:bodyPr/>
          <a:lstStyle/>
          <a:p>
            <a:endParaRPr lang="zh-CN" altLang="en-US"/>
          </a:p>
        </p:txBody>
      </p:sp>
      <p:pic>
        <p:nvPicPr>
          <p:cNvPr id="10242" name="Picture 2" descr="https://www.math.pku.edu.cn/teachers/lidf/docs/statcomp/html/_statcompbook/0215-rng-nonuni_files/figure-html/unnamed-chunk-28-1.png">
            <a:extLst>
              <a:ext uri="{FF2B5EF4-FFF2-40B4-BE49-F238E27FC236}">
                <a16:creationId xmlns:a16="http://schemas.microsoft.com/office/drawing/2014/main" id="{183A5D7B-F77C-4C13-8767-C6BA1CCBE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84477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2.3.3 </a:t>
            </a:r>
            <a:r>
              <a:rPr lang="zh-CN" altLang="en-US" b="1" i="0" dirty="0">
                <a:solidFill>
                  <a:srgbClr val="333333"/>
                </a:solidFill>
                <a:effectLst/>
                <a:latin typeface="Helvetica Neue"/>
              </a:rPr>
              <a:t>用逆变换法生成连续型随机数</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0871" y="968866"/>
            <a:ext cx="8370930" cy="166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6.9 (</a:t>
            </a:r>
            <a:r>
              <a:rPr lang="zh-CN" altLang="en-US" sz="3200" dirty="0">
                <a:solidFill>
                  <a:srgbClr val="FF0000"/>
                </a:solidFill>
                <a:latin typeface="Verdana" panose="020B0604030504040204" pitchFamily="34" charset="0"/>
              </a:rPr>
              <a:t>指数分布随机数</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服从指数分布</a:t>
            </a:r>
            <a:r>
              <a:rPr lang="en-US" altLang="zh-CN" sz="3200" dirty="0">
                <a:solidFill>
                  <a:srgbClr val="006699"/>
                </a:solidFill>
                <a:latin typeface="Verdana" panose="020B0604030504040204" pitchFamily="34" charset="0"/>
              </a:rPr>
              <a:t>Exp(λ) (λ&gt;0)</a:t>
            </a:r>
            <a:r>
              <a:rPr lang="zh-CN" altLang="en-US" sz="3200" dirty="0">
                <a:solidFill>
                  <a:srgbClr val="006699"/>
                </a:solidFill>
                <a:latin typeface="Verdana" panose="020B0604030504040204" pitchFamily="34" charset="0"/>
              </a:rPr>
              <a:t>的随机变量</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的分布密度和分布函数分别为</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44BB65B-B6D8-4947-89AD-262A9A2FBF61}"/>
                  </a:ext>
                </a:extLst>
              </p:cNvPr>
              <p:cNvSpPr/>
              <p:nvPr/>
            </p:nvSpPr>
            <p:spPr>
              <a:xfrm>
                <a:off x="1687271" y="2767412"/>
                <a:ext cx="4823308" cy="11929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3200" i="1">
                              <a:latin typeface="Cambria Math" panose="02040503050406030204" pitchFamily="18" charset="0"/>
                            </a:rPr>
                          </m:ctrlPr>
                        </m:mPr>
                        <m:mr>
                          <m:e>
                            <m:r>
                              <a:rPr lang="zh-CN" altLang="en-US" sz="3200" i="1">
                                <a:latin typeface="Cambria Math" panose="02040503050406030204" pitchFamily="18" charset="0"/>
                              </a:rPr>
                              <m:t>𝑝</m:t>
                            </m:r>
                            <m:r>
                              <a:rPr lang="zh-CN" altLang="en-US" sz="3200" i="0">
                                <a:latin typeface="Cambria Math" panose="02040503050406030204" pitchFamily="18" charset="0"/>
                              </a:rPr>
                              <m:t>(</m:t>
                            </m:r>
                            <m:r>
                              <a:rPr lang="zh-CN" altLang="en-US" sz="3200" i="1">
                                <a:latin typeface="Cambria Math" panose="02040503050406030204" pitchFamily="18" charset="0"/>
                              </a:rPr>
                              <m:t>𝑥</m:t>
                            </m:r>
                            <m:r>
                              <a:rPr lang="zh-CN" altLang="en-US" sz="3200" i="0">
                                <a:latin typeface="Cambria Math" panose="02040503050406030204" pitchFamily="18" charset="0"/>
                              </a:rPr>
                              <m:t>)=</m:t>
                            </m:r>
                          </m:e>
                          <m:e>
                            <m:r>
                              <a:rPr lang="zh-CN" altLang="en-US" sz="3200" i="1">
                                <a:latin typeface="Cambria Math" panose="02040503050406030204" pitchFamily="18" charset="0"/>
                              </a:rPr>
                              <m:t>𝜆</m:t>
                            </m:r>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𝑒</m:t>
                                </m:r>
                              </m:e>
                              <m:sup>
                                <m:r>
                                  <a:rPr lang="zh-CN" altLang="en-US" sz="3200" i="0">
                                    <a:latin typeface="Cambria Math" panose="02040503050406030204" pitchFamily="18" charset="0"/>
                                  </a:rPr>
                                  <m:t>−</m:t>
                                </m:r>
                                <m:r>
                                  <a:rPr lang="zh-CN" altLang="en-US" sz="3200" i="1">
                                    <a:latin typeface="Cambria Math" panose="02040503050406030204" pitchFamily="18" charset="0"/>
                                  </a:rPr>
                                  <m:t>𝜆</m:t>
                                </m:r>
                                <m:r>
                                  <a:rPr lang="zh-CN" altLang="en-US" sz="3200" i="1">
                                    <a:latin typeface="Cambria Math" panose="02040503050406030204" pitchFamily="18" charset="0"/>
                                  </a:rPr>
                                  <m:t>𝑥</m:t>
                                </m:r>
                              </m:sup>
                            </m:sSup>
                            <m:r>
                              <a:rPr lang="zh-CN" altLang="en-US" sz="3200" i="0">
                                <a:latin typeface="Cambria Math" panose="02040503050406030204" pitchFamily="18" charset="0"/>
                              </a:rPr>
                              <m:t>,</m:t>
                            </m:r>
                            <m:r>
                              <m:rPr>
                                <m:nor/>
                              </m:rPr>
                              <a:rPr lang="zh-CN" altLang="en-US" sz="3200" i="1">
                                <a:latin typeface="Cambria Math" panose="02040503050406030204" pitchFamily="18" charset="0"/>
                              </a:rPr>
                              <m:t> </m:t>
                            </m:r>
                            <m:r>
                              <a:rPr lang="zh-CN" altLang="en-US" sz="3200" i="1">
                                <a:latin typeface="Cambria Math" panose="02040503050406030204" pitchFamily="18" charset="0"/>
                              </a:rPr>
                              <m:t>𝑥</m:t>
                            </m:r>
                            <m:r>
                              <a:rPr lang="zh-CN" altLang="en-US" sz="3200" i="0">
                                <a:latin typeface="Cambria Math" panose="02040503050406030204" pitchFamily="18" charset="0"/>
                              </a:rPr>
                              <m:t>&gt;0</m:t>
                            </m:r>
                          </m:e>
                        </m:mr>
                        <m:mr>
                          <m:e>
                            <m:r>
                              <a:rPr lang="zh-CN" altLang="en-US" sz="3200" i="1">
                                <a:latin typeface="Cambria Math" panose="02040503050406030204" pitchFamily="18" charset="0"/>
                              </a:rPr>
                              <m:t>𝐹</m:t>
                            </m:r>
                            <m:r>
                              <a:rPr lang="zh-CN" altLang="en-US" sz="3200" i="0">
                                <a:latin typeface="Cambria Math" panose="02040503050406030204" pitchFamily="18" charset="0"/>
                              </a:rPr>
                              <m:t>(</m:t>
                            </m:r>
                            <m:r>
                              <a:rPr lang="zh-CN" altLang="en-US" sz="3200" i="1">
                                <a:latin typeface="Cambria Math" panose="02040503050406030204" pitchFamily="18" charset="0"/>
                              </a:rPr>
                              <m:t>𝑥</m:t>
                            </m:r>
                            <m:r>
                              <a:rPr lang="zh-CN" altLang="en-US" sz="3200" i="0">
                                <a:latin typeface="Cambria Math" panose="02040503050406030204" pitchFamily="18" charset="0"/>
                              </a:rPr>
                              <m:t>)=</m:t>
                            </m:r>
                          </m:e>
                          <m:e>
                            <m:r>
                              <a:rPr lang="zh-CN" altLang="en-US" sz="3200" i="0">
                                <a:latin typeface="Cambria Math" panose="02040503050406030204" pitchFamily="18" charset="0"/>
                              </a:rPr>
                              <m:t>1−</m:t>
                            </m:r>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𝑒</m:t>
                                </m:r>
                              </m:e>
                              <m:sup>
                                <m:r>
                                  <a:rPr lang="zh-CN" altLang="en-US" sz="3200" i="0">
                                    <a:latin typeface="Cambria Math" panose="02040503050406030204" pitchFamily="18" charset="0"/>
                                  </a:rPr>
                                  <m:t>−</m:t>
                                </m:r>
                                <m:r>
                                  <a:rPr lang="zh-CN" altLang="en-US" sz="3200" i="1">
                                    <a:latin typeface="Cambria Math" panose="02040503050406030204" pitchFamily="18" charset="0"/>
                                  </a:rPr>
                                  <m:t>𝜆</m:t>
                                </m:r>
                                <m:r>
                                  <a:rPr lang="zh-CN" altLang="en-US" sz="3200" i="1">
                                    <a:latin typeface="Cambria Math" panose="02040503050406030204" pitchFamily="18" charset="0"/>
                                  </a:rPr>
                                  <m:t>𝑥</m:t>
                                </m:r>
                              </m:sup>
                            </m:sSup>
                            <m:r>
                              <a:rPr lang="zh-CN" altLang="en-US" sz="3200" i="0">
                                <a:latin typeface="Cambria Math" panose="02040503050406030204" pitchFamily="18" charset="0"/>
                              </a:rPr>
                              <m:t>,</m:t>
                            </m:r>
                            <m:r>
                              <m:rPr>
                                <m:nor/>
                              </m:rPr>
                              <a:rPr lang="zh-CN" altLang="en-US" sz="3200" i="1">
                                <a:latin typeface="Cambria Math" panose="02040503050406030204" pitchFamily="18" charset="0"/>
                              </a:rPr>
                              <m:t> </m:t>
                            </m:r>
                            <m:r>
                              <a:rPr lang="zh-CN" altLang="en-US" sz="3200" i="1">
                                <a:latin typeface="Cambria Math" panose="02040503050406030204" pitchFamily="18" charset="0"/>
                              </a:rPr>
                              <m:t>𝑥</m:t>
                            </m:r>
                            <m:r>
                              <a:rPr lang="zh-CN" altLang="en-US" sz="3200" i="0">
                                <a:latin typeface="Cambria Math" panose="02040503050406030204" pitchFamily="18" charset="0"/>
                              </a:rPr>
                              <m:t>&gt;0.</m:t>
                            </m:r>
                          </m:e>
                        </m:mr>
                      </m:m>
                    </m:oMath>
                  </m:oMathPara>
                </a14:m>
                <a:endParaRPr lang="zh-CN" altLang="en-US" sz="3200" dirty="0"/>
              </a:p>
            </p:txBody>
          </p:sp>
        </mc:Choice>
        <mc:Fallback xmlns="">
          <p:sp>
            <p:nvSpPr>
              <p:cNvPr id="2" name="矩形 1">
                <a:extLst>
                  <a:ext uri="{FF2B5EF4-FFF2-40B4-BE49-F238E27FC236}">
                    <a16:creationId xmlns:a16="http://schemas.microsoft.com/office/drawing/2014/main" id="{F44BB65B-B6D8-4947-89AD-262A9A2FBF61}"/>
                  </a:ext>
                </a:extLst>
              </p:cNvPr>
              <p:cNvSpPr>
                <a:spLocks noRot="1" noChangeAspect="1" noMove="1" noResize="1" noEditPoints="1" noAdjustHandles="1" noChangeArrowheads="1" noChangeShapeType="1" noTextEdit="1"/>
              </p:cNvSpPr>
              <p:nvPr/>
            </p:nvSpPr>
            <p:spPr>
              <a:xfrm>
                <a:off x="1687271" y="2767412"/>
                <a:ext cx="4823308" cy="1192955"/>
              </a:xfrm>
              <a:prstGeom prst="rect">
                <a:avLst/>
              </a:prstGeom>
              <a:blipFill>
                <a:blip r:embed="rId2"/>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C8CD9E7-4815-4E86-A04F-BD8AFD2F28CD}"/>
              </a:ext>
            </a:extLst>
          </p:cNvPr>
          <p:cNvSpPr/>
          <p:nvPr/>
        </p:nvSpPr>
        <p:spPr>
          <a:xfrm>
            <a:off x="-15875" y="3936331"/>
            <a:ext cx="9280105" cy="2062103"/>
          </a:xfrm>
          <a:prstGeom prst="rect">
            <a:avLst/>
          </a:prstGeom>
        </p:spPr>
        <p:txBody>
          <a:bodyPr wrap="none">
            <a:spAutoFit/>
          </a:bodyPr>
          <a:lstStyle/>
          <a:p>
            <a:r>
              <a:rPr lang="zh-CN" altLang="en-US" sz="3200" dirty="0">
                <a:solidFill>
                  <a:srgbClr val="006699"/>
                </a:solidFill>
                <a:latin typeface="Verdana" panose="020B0604030504040204" pitchFamily="34" charset="0"/>
              </a:rPr>
              <a:t>反函数为</a:t>
            </a:r>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以</a:t>
            </a:r>
            <a:r>
              <a:rPr lang="en-US" altLang="zh-CN" sz="3200" dirty="0">
                <a:solidFill>
                  <a:srgbClr val="006699"/>
                </a:solidFill>
                <a:latin typeface="Verdana" panose="020B0604030504040204" pitchFamily="34" charset="0"/>
              </a:rPr>
              <a:t>U∼U(0,1)</a:t>
            </a:r>
            <a:r>
              <a:rPr lang="zh-CN" altLang="en-US" sz="3200" dirty="0">
                <a:solidFill>
                  <a:srgbClr val="006699"/>
                </a:solidFill>
                <a:latin typeface="Verdana" panose="020B0604030504040204" pitchFamily="34" charset="0"/>
              </a:rPr>
              <a:t>时</a:t>
            </a:r>
            <a:r>
              <a:rPr lang="en-US" altLang="zh-CN" sz="3200" dirty="0">
                <a:solidFill>
                  <a:srgbClr val="006699"/>
                </a:solidFill>
                <a:latin typeface="Verdana" panose="020B0604030504040204" pitchFamily="34" charset="0"/>
              </a:rPr>
              <a:t>X=−</a:t>
            </a:r>
            <a:r>
              <a:rPr lang="el-GR" altLang="zh-CN" sz="3200" dirty="0">
                <a:solidFill>
                  <a:srgbClr val="006699"/>
                </a:solidFill>
                <a:latin typeface="Verdana" panose="020B0604030504040204" pitchFamily="34" charset="0"/>
              </a:rPr>
              <a:t>λ</a:t>
            </a:r>
            <a:r>
              <a:rPr lang="el-GR" altLang="zh-CN" sz="3200" baseline="30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log(1−U)</a:t>
            </a:r>
            <a:r>
              <a:rPr lang="zh-CN" altLang="en-US" sz="3200" dirty="0">
                <a:solidFill>
                  <a:srgbClr val="006699"/>
                </a:solidFill>
                <a:latin typeface="Verdana" panose="020B0604030504040204" pitchFamily="34" charset="0"/>
              </a:rPr>
              <a:t>服从</a:t>
            </a:r>
            <a:r>
              <a:rPr lang="en-US" altLang="zh-CN" sz="3200" dirty="0">
                <a:solidFill>
                  <a:srgbClr val="006699"/>
                </a:solidFill>
                <a:latin typeface="Verdana" panose="020B0604030504040204" pitchFamily="34" charset="0"/>
              </a:rPr>
              <a:t>Exp(</a:t>
            </a:r>
            <a:r>
              <a:rPr lang="el-GR" altLang="zh-CN" sz="3200" dirty="0">
                <a:solidFill>
                  <a:srgbClr val="006699"/>
                </a:solidFill>
                <a:latin typeface="Verdana" panose="020B0604030504040204" pitchFamily="34" charset="0"/>
              </a:rPr>
              <a:t>λ)</a:t>
            </a:r>
            <a:endParaRPr lang="zh-CN" altLang="en-US"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1DD1E203-14F8-41BA-8F5E-A02DC311C6E8}"/>
                  </a:ext>
                </a:extLst>
              </p:cNvPr>
              <p:cNvSpPr/>
              <p:nvPr/>
            </p:nvSpPr>
            <p:spPr>
              <a:xfrm>
                <a:off x="1687271" y="4642591"/>
                <a:ext cx="485068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200" i="1">
                              <a:latin typeface="Cambria Math" panose="02040503050406030204" pitchFamily="18" charset="0"/>
                            </a:rPr>
                          </m:ctrlPr>
                        </m:mPr>
                        <m:mr>
                          <m:e>
                            <m:d>
                              <m:dPr>
                                <m:begChr m:val=""/>
                                <m:ctrlPr>
                                  <a:rPr lang="zh-CN" altLang="en-US" sz="3200" i="1">
                                    <a:latin typeface="Cambria Math" panose="02040503050406030204" pitchFamily="18" charset="0"/>
                                  </a:rPr>
                                </m:ctrlPr>
                              </m:dPr>
                              <m:e>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𝐹</m:t>
                                    </m:r>
                                  </m:e>
                                  <m:sup>
                                    <m:r>
                                      <a:rPr lang="zh-CN" altLang="en-US" sz="3200" i="0">
                                        <a:latin typeface="Cambria Math" panose="02040503050406030204" pitchFamily="18" charset="0"/>
                                      </a:rPr>
                                      <m:t>−1</m:t>
                                    </m:r>
                                  </m:sup>
                                </m:sSup>
                                <m:r>
                                  <a:rPr lang="zh-CN" altLang="en-US" sz="3200" i="0">
                                    <a:latin typeface="Cambria Math" panose="02040503050406030204" pitchFamily="18" charset="0"/>
                                  </a:rPr>
                                  <m:t>(</m:t>
                                </m:r>
                                <m:r>
                                  <a:rPr lang="zh-CN" altLang="en-US" sz="3200" i="1">
                                    <a:latin typeface="Cambria Math" panose="02040503050406030204" pitchFamily="18" charset="0"/>
                                  </a:rPr>
                                  <m:t>𝑢</m:t>
                                </m:r>
                                <m:r>
                                  <a:rPr lang="zh-CN" altLang="en-US" sz="3200" i="0">
                                    <a:latin typeface="Cambria Math" panose="02040503050406030204" pitchFamily="18" charset="0"/>
                                  </a:rPr>
                                  <m:t>)=−</m:t>
                                </m:r>
                                <m:sSup>
                                  <m:sSupPr>
                                    <m:ctrlPr>
                                      <a:rPr lang="zh-CN" altLang="en-US" sz="3200" i="1">
                                        <a:latin typeface="Cambria Math" panose="02040503050406030204" pitchFamily="18" charset="0"/>
                                      </a:rPr>
                                    </m:ctrlPr>
                                  </m:sSupPr>
                                  <m:e>
                                    <m:r>
                                      <a:rPr lang="zh-CN" altLang="en-US" sz="3200" i="1">
                                        <a:latin typeface="Cambria Math" panose="02040503050406030204" pitchFamily="18" charset="0"/>
                                      </a:rPr>
                                      <m:t>𝜆</m:t>
                                    </m:r>
                                  </m:e>
                                  <m:sup>
                                    <m:r>
                                      <a:rPr lang="zh-CN" altLang="en-US" sz="3200" i="0">
                                        <a:latin typeface="Cambria Math" panose="02040503050406030204" pitchFamily="18" charset="0"/>
                                      </a:rPr>
                                      <m:t>−1</m:t>
                                    </m:r>
                                  </m:sup>
                                </m:sSup>
                                <m:r>
                                  <m:rPr>
                                    <m:sty m:val="p"/>
                                  </m:rPr>
                                  <a:rPr lang="zh-CN" altLang="en-US" sz="3200" i="0">
                                    <a:latin typeface="Cambria Math" panose="02040503050406030204" pitchFamily="18" charset="0"/>
                                  </a:rPr>
                                  <m:t>log</m:t>
                                </m:r>
                                <m:r>
                                  <a:rPr lang="zh-CN" altLang="en-US" sz="3200" i="0">
                                    <a:latin typeface="Cambria Math" panose="02040503050406030204" pitchFamily="18" charset="0"/>
                                  </a:rPr>
                                  <m:t>(1−</m:t>
                                </m:r>
                                <m:r>
                                  <a:rPr lang="zh-CN" altLang="en-US" sz="3200" i="1">
                                    <a:latin typeface="Cambria Math" panose="02040503050406030204" pitchFamily="18" charset="0"/>
                                  </a:rPr>
                                  <m:t>𝑢</m:t>
                                </m:r>
                              </m:e>
                            </m:d>
                          </m:e>
                        </m:mr>
                      </m:m>
                    </m:oMath>
                  </m:oMathPara>
                </a14:m>
                <a:endParaRPr lang="zh-CN" altLang="en-US" sz="3200" dirty="0"/>
              </a:p>
            </p:txBody>
          </p:sp>
        </mc:Choice>
        <mc:Fallback xmlns="">
          <p:sp>
            <p:nvSpPr>
              <p:cNvPr id="4" name="矩形 3">
                <a:extLst>
                  <a:ext uri="{FF2B5EF4-FFF2-40B4-BE49-F238E27FC236}">
                    <a16:creationId xmlns:a16="http://schemas.microsoft.com/office/drawing/2014/main" id="{1DD1E203-14F8-41BA-8F5E-A02DC311C6E8}"/>
                  </a:ext>
                </a:extLst>
              </p:cNvPr>
              <p:cNvSpPr>
                <a:spLocks noRot="1" noChangeAspect="1" noMove="1" noResize="1" noEditPoints="1" noAdjustHandles="1" noChangeArrowheads="1" noChangeShapeType="1" noTextEdit="1"/>
              </p:cNvSpPr>
              <p:nvPr/>
            </p:nvSpPr>
            <p:spPr>
              <a:xfrm>
                <a:off x="1687271" y="4642591"/>
                <a:ext cx="4850687" cy="584775"/>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98353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F1B42-32C5-47D1-A8D6-DD8D942E49A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AAD65B1-124D-40AE-A899-09D83DF5BA00}"/>
              </a:ext>
            </a:extLst>
          </p:cNvPr>
          <p:cNvSpPr>
            <a:spLocks noGrp="1"/>
          </p:cNvSpPr>
          <p:nvPr>
            <p:ph idx="1"/>
          </p:nvPr>
        </p:nvSpPr>
        <p:spPr/>
        <p:txBody>
          <a:bodyPr/>
          <a:lstStyle/>
          <a:p>
            <a:endParaRPr lang="zh-CN" altLang="en-US"/>
          </a:p>
        </p:txBody>
      </p:sp>
      <p:pic>
        <p:nvPicPr>
          <p:cNvPr id="11266" name="Picture 2" descr="https://www.math.pku.edu.cn/teachers/lidf/docs/statcomp/html/_statcompbook/0215-rng-nonuni_files/figure-html/unnamed-chunk-32-1.png">
            <a:extLst>
              <a:ext uri="{FF2B5EF4-FFF2-40B4-BE49-F238E27FC236}">
                <a16:creationId xmlns:a16="http://schemas.microsoft.com/office/drawing/2014/main" id="{20599D09-9FBB-41BD-8935-9757F2408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86666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2.3.3 </a:t>
            </a:r>
            <a:r>
              <a:rPr lang="zh-CN" altLang="en-US" b="1" i="0" dirty="0">
                <a:solidFill>
                  <a:srgbClr val="333333"/>
                </a:solidFill>
                <a:effectLst/>
                <a:latin typeface="Helvetica Neue"/>
              </a:rPr>
              <a:t>用逆变换法生成连续型随机数</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19" y="1178750"/>
            <a:ext cx="8505945"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6.10 (</a:t>
            </a:r>
            <a:r>
              <a:rPr lang="zh-CN" altLang="en-US" sz="3200" dirty="0">
                <a:solidFill>
                  <a:srgbClr val="FF0000"/>
                </a:solidFill>
                <a:latin typeface="Verdana" panose="020B0604030504040204" pitchFamily="34" charset="0"/>
              </a:rPr>
              <a:t>利用指数分布随机数产生泊松随机数</a:t>
            </a:r>
            <a:r>
              <a:rPr lang="en-US" altLang="zh-CN" sz="3200" dirty="0">
                <a:solidFill>
                  <a:srgbClr val="006699"/>
                </a:solidFill>
                <a:latin typeface="Verdana" panose="020B0604030504040204" pitchFamily="34" charset="0"/>
              </a:rPr>
              <a:t>) </a:t>
            </a:r>
          </a:p>
          <a:p>
            <a:pPr marL="0" indent="0" eaLnBrk="1" hangingPunct="1">
              <a:spcBef>
                <a:spcPct val="20000"/>
              </a:spcBef>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dirty="0">
                <a:solidFill>
                  <a:srgbClr val="006699"/>
                </a:solidFill>
                <a:latin typeface="Verdana" panose="020B0604030504040204" pitchFamily="34" charset="0"/>
              </a:rPr>
              <a:t>N(t)</a:t>
            </a:r>
            <a:r>
              <a:rPr lang="zh-CN" altLang="en-US" sz="3200" dirty="0">
                <a:solidFill>
                  <a:srgbClr val="006699"/>
                </a:solidFill>
                <a:latin typeface="Verdana" panose="020B0604030504040204" pitchFamily="34" charset="0"/>
              </a:rPr>
              <a:t>为到时刻</a:t>
            </a:r>
            <a:r>
              <a:rPr lang="en-US" altLang="zh-CN" sz="32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为止到来的事件个数</a:t>
            </a:r>
            <a:r>
              <a:rPr lang="en-US" altLang="zh-CN" sz="3200" dirty="0">
                <a:solidFill>
                  <a:srgbClr val="006699"/>
                </a:solidFill>
                <a:latin typeface="Verdana" panose="020B0604030504040204" pitchFamily="34" charset="0"/>
              </a:rPr>
              <a:t>(t&gt;=0)</a:t>
            </a:r>
            <a:r>
              <a:rPr lang="zh-CN" altLang="en-US" sz="3200" dirty="0">
                <a:solidFill>
                  <a:srgbClr val="006699"/>
                </a:solidFill>
                <a:latin typeface="Verdana" panose="020B0604030504040204" pitchFamily="34" charset="0"/>
              </a:rPr>
              <a:t>， </a:t>
            </a:r>
            <a:endParaRPr lang="en-US" altLang="zh-CN" sz="320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a:solidFill>
                  <a:srgbClr val="006699"/>
                </a:solidFill>
                <a:latin typeface="Verdana" panose="020B0604030504040204" pitchFamily="34" charset="0"/>
              </a:rPr>
              <a:t>如果</a:t>
            </a:r>
            <a:r>
              <a:rPr lang="zh-CN" altLang="en-US" sz="3200" dirty="0">
                <a:solidFill>
                  <a:srgbClr val="006699"/>
                </a:solidFill>
                <a:latin typeface="Verdana" panose="020B0604030504040204" pitchFamily="34" charset="0"/>
              </a:rPr>
              <a:t>两个事件到来之间的间隔都服从独立的</a:t>
            </a:r>
            <a:r>
              <a:rPr lang="en-US" altLang="zh-CN" sz="3200" dirty="0">
                <a:solidFill>
                  <a:srgbClr val="006699"/>
                </a:solidFill>
                <a:latin typeface="Verdana" panose="020B0604030504040204" pitchFamily="34" charset="0"/>
              </a:rPr>
              <a:t>Exp(</a:t>
            </a:r>
            <a:r>
              <a:rPr lang="el-GR" altLang="zh-CN" sz="3200" dirty="0">
                <a:solidFill>
                  <a:srgbClr val="006699"/>
                </a:solidFill>
                <a:latin typeface="Verdana" panose="020B0604030504040204" pitchFamily="34" charset="0"/>
              </a:rPr>
              <a:t>λ</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分布</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则称</a:t>
            </a:r>
            <a:r>
              <a:rPr lang="en-US" altLang="zh-CN" sz="3200" dirty="0">
                <a:solidFill>
                  <a:srgbClr val="006699"/>
                </a:solidFill>
                <a:latin typeface="Verdana" panose="020B0604030504040204" pitchFamily="34" charset="0"/>
              </a:rPr>
              <a:t>N(t)</a:t>
            </a:r>
            <a:r>
              <a:rPr lang="zh-CN" altLang="en-US" sz="3200" dirty="0">
                <a:solidFill>
                  <a:srgbClr val="006699"/>
                </a:solidFill>
                <a:latin typeface="Verdana" panose="020B0604030504040204" pitchFamily="34" charset="0"/>
              </a:rPr>
              <a:t>为</a:t>
            </a:r>
            <a:r>
              <a:rPr lang="zh-CN" altLang="en-US" sz="3200" b="1" dirty="0">
                <a:solidFill>
                  <a:srgbClr val="FF0000"/>
                </a:solidFill>
                <a:latin typeface="Verdana" panose="020B0604030504040204" pitchFamily="34" charset="0"/>
              </a:rPr>
              <a:t>泊松过程</a:t>
            </a:r>
            <a:endParaRPr lang="en-US" altLang="zh-CN" sz="3200" b="1" dirty="0">
              <a:solidFill>
                <a:srgbClr val="FF0000"/>
              </a:solidFill>
              <a:latin typeface="Verdana" panose="020B0604030504040204" pitchFamily="34" charset="0"/>
            </a:endParaRPr>
          </a:p>
          <a:p>
            <a:pPr marL="457200" indent="-457200" eaLnBrk="1" hangingPunct="1">
              <a:spcBef>
                <a:spcPct val="20000"/>
              </a:spcBef>
              <a:buFont typeface="Arial" panose="020B0604020202020204" pitchFamily="34" charset="0"/>
              <a:buChar char="•"/>
            </a:pPr>
            <a:endParaRPr lang="en-US" altLang="zh-CN" sz="3200" b="1" dirty="0">
              <a:solidFill>
                <a:srgbClr val="FF0000"/>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en-US" altLang="zh-CN" sz="3200" dirty="0">
                <a:solidFill>
                  <a:srgbClr val="006699"/>
                </a:solidFill>
                <a:latin typeface="Verdana" panose="020B0604030504040204" pitchFamily="34" charset="0"/>
              </a:rPr>
              <a:t>N=N(1)</a:t>
            </a:r>
            <a:r>
              <a:rPr lang="zh-CN" altLang="en-US" sz="3200" dirty="0">
                <a:solidFill>
                  <a:srgbClr val="006699"/>
                </a:solidFill>
                <a:latin typeface="Verdana" panose="020B0604030504040204" pitchFamily="34" charset="0"/>
              </a:rPr>
              <a:t>称为服从参数为</a:t>
            </a:r>
            <a:r>
              <a:rPr lang="el-GR" altLang="zh-CN" sz="3200" dirty="0">
                <a:solidFill>
                  <a:srgbClr val="006699"/>
                </a:solidFill>
                <a:latin typeface="Verdana" panose="020B0604030504040204" pitchFamily="34" charset="0"/>
              </a:rPr>
              <a:t>λ</a:t>
            </a:r>
            <a:r>
              <a:rPr lang="zh-CN" altLang="en-US" sz="3200" dirty="0">
                <a:solidFill>
                  <a:srgbClr val="006699"/>
                </a:solidFill>
                <a:latin typeface="Verdana" panose="020B0604030504040204" pitchFamily="34" charset="0"/>
              </a:rPr>
              <a:t>的</a:t>
            </a:r>
            <a:r>
              <a:rPr lang="zh-CN" altLang="en-US" sz="3200" b="1" dirty="0">
                <a:solidFill>
                  <a:srgbClr val="FF0000"/>
                </a:solidFill>
                <a:latin typeface="Verdana" panose="020B0604030504040204" pitchFamily="34" charset="0"/>
              </a:rPr>
              <a:t>泊松分布。</a:t>
            </a:r>
            <a:endParaRPr lang="en-US" altLang="zh-CN" sz="3200" b="1" dirty="0">
              <a:solidFill>
                <a:srgbClr val="FF0000"/>
              </a:solidFill>
              <a:latin typeface="Verdana" panose="020B0604030504040204" pitchFamily="34" charset="0"/>
            </a:endParaRPr>
          </a:p>
        </p:txBody>
      </p:sp>
    </p:spTree>
    <p:extLst>
      <p:ext uri="{BB962C8B-B14F-4D97-AF65-F5344CB8AC3E}">
        <p14:creationId xmlns:p14="http://schemas.microsoft.com/office/powerpoint/2010/main" val="40719905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2.3.3</a:t>
            </a:r>
            <a:r>
              <a:rPr lang="zh-CN" altLang="en-US" b="1" i="0" dirty="0">
                <a:solidFill>
                  <a:srgbClr val="333333"/>
                </a:solidFill>
                <a:effectLst/>
                <a:latin typeface="Helvetica Neue"/>
              </a:rPr>
              <a:t>用逆变换法生成连续型随机数</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6.10 (</a:t>
            </a:r>
            <a:r>
              <a:rPr lang="zh-CN" altLang="en-US" sz="3200" dirty="0">
                <a:solidFill>
                  <a:srgbClr val="FF0000"/>
                </a:solidFill>
                <a:latin typeface="Verdana" panose="020B0604030504040204" pitchFamily="34" charset="0"/>
              </a:rPr>
              <a:t>利用指数分布随机数产生泊松随机数</a:t>
            </a:r>
            <a:r>
              <a:rPr lang="en-US" altLang="zh-CN" sz="3200" dirty="0">
                <a:solidFill>
                  <a:srgbClr val="006699"/>
                </a:solidFill>
                <a:latin typeface="Verdana" panose="020B0604030504040204" pitchFamily="34" charset="0"/>
              </a:rPr>
              <a:t>) </a:t>
            </a:r>
          </a:p>
        </p:txBody>
      </p:sp>
      <p:sp>
        <p:nvSpPr>
          <p:cNvPr id="3" name="矩形 2">
            <a:extLst>
              <a:ext uri="{FF2B5EF4-FFF2-40B4-BE49-F238E27FC236}">
                <a16:creationId xmlns:a16="http://schemas.microsoft.com/office/drawing/2014/main" id="{DC8CD9E7-4815-4E86-A04F-BD8AFD2F28CD}"/>
              </a:ext>
            </a:extLst>
          </p:cNvPr>
          <p:cNvSpPr/>
          <p:nvPr/>
        </p:nvSpPr>
        <p:spPr>
          <a:xfrm>
            <a:off x="31334" y="1884250"/>
            <a:ext cx="9112666" cy="1569660"/>
          </a:xfrm>
          <a:prstGeom prst="rect">
            <a:avLst/>
          </a:prstGeom>
        </p:spPr>
        <p:txBody>
          <a:bodyPr wrap="square">
            <a:spAutoFit/>
          </a:bodyPr>
          <a:lstStyle/>
          <a:p>
            <a:r>
              <a:rPr lang="zh-CN" altLang="en-US" sz="3200" dirty="0">
                <a:solidFill>
                  <a:srgbClr val="006699"/>
                </a:solidFill>
                <a:latin typeface="Verdana" panose="020B0604030504040204" pitchFamily="34" charset="0"/>
              </a:rPr>
              <a:t>若</a:t>
            </a:r>
            <a:r>
              <a:rPr lang="en-US" altLang="zh-CN" sz="3200" dirty="0">
                <a:solidFill>
                  <a:srgbClr val="006699"/>
                </a:solidFill>
                <a:latin typeface="Verdana" panose="020B0604030504040204" pitchFamily="34" charset="0"/>
              </a:rPr>
              <a:t>U</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U</a:t>
            </a:r>
            <a:r>
              <a:rPr lang="en-US" altLang="zh-CN" sz="3200" baseline="-25000" dirty="0">
                <a:solidFill>
                  <a:srgbClr val="006699"/>
                </a:solidFill>
                <a:latin typeface="Verdana" panose="020B0604030504040204" pitchFamily="34" charset="0"/>
              </a:rPr>
              <a:t>2 </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是独立的</a:t>
            </a:r>
            <a:r>
              <a:rPr lang="en-US" altLang="zh-CN" sz="3200" dirty="0">
                <a:solidFill>
                  <a:srgbClr val="006699"/>
                </a:solidFill>
                <a:latin typeface="Verdana" panose="020B0604030504040204" pitchFamily="34" charset="0"/>
              </a:rPr>
              <a:t>U(0,1)</a:t>
            </a:r>
            <a:r>
              <a:rPr lang="zh-CN" altLang="en-US" sz="3200" dirty="0">
                <a:solidFill>
                  <a:srgbClr val="006699"/>
                </a:solidFill>
                <a:latin typeface="Verdana" panose="020B0604030504040204" pitchFamily="34" charset="0"/>
              </a:rPr>
              <a:t>随机变量列，</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 </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是独立的</a:t>
            </a:r>
            <a:r>
              <a:rPr lang="en-US" altLang="zh-CN" sz="3200" dirty="0">
                <a:solidFill>
                  <a:srgbClr val="006699"/>
                </a:solidFill>
                <a:latin typeface="Verdana" panose="020B0604030504040204" pitchFamily="34" charset="0"/>
              </a:rPr>
              <a:t>Exp(</a:t>
            </a:r>
            <a:r>
              <a:rPr lang="el-GR" altLang="zh-CN" sz="3200" dirty="0">
                <a:solidFill>
                  <a:srgbClr val="006699"/>
                </a:solidFill>
                <a:latin typeface="Verdana" panose="020B0604030504040204" pitchFamily="34" charset="0"/>
              </a:rPr>
              <a:t>λ</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随机变量列， </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则</a:t>
            </a:r>
          </a:p>
        </p:txBody>
      </p:sp>
      <p:pic>
        <p:nvPicPr>
          <p:cNvPr id="10" name="图片 9">
            <a:extLst>
              <a:ext uri="{FF2B5EF4-FFF2-40B4-BE49-F238E27FC236}">
                <a16:creationId xmlns:a16="http://schemas.microsoft.com/office/drawing/2014/main" id="{81EBF5F7-FB38-48BF-959C-3CCA370D3005}"/>
              </a:ext>
            </a:extLst>
          </p:cNvPr>
          <p:cNvPicPr>
            <a:picLocks noChangeAspect="1"/>
          </p:cNvPicPr>
          <p:nvPr/>
        </p:nvPicPr>
        <p:blipFill>
          <a:blip r:embed="rId2"/>
          <a:stretch>
            <a:fillRect/>
          </a:stretch>
        </p:blipFill>
        <p:spPr>
          <a:xfrm>
            <a:off x="1826695" y="3446722"/>
            <a:ext cx="3681027" cy="980535"/>
          </a:xfrm>
          <a:prstGeom prst="rect">
            <a:avLst/>
          </a:prstGeom>
        </p:spPr>
      </p:pic>
      <p:pic>
        <p:nvPicPr>
          <p:cNvPr id="12" name="图片 11">
            <a:extLst>
              <a:ext uri="{FF2B5EF4-FFF2-40B4-BE49-F238E27FC236}">
                <a16:creationId xmlns:a16="http://schemas.microsoft.com/office/drawing/2014/main" id="{F4225F45-D275-422D-86E7-0C035AE047D5}"/>
              </a:ext>
            </a:extLst>
          </p:cNvPr>
          <p:cNvPicPr>
            <a:picLocks noChangeAspect="1"/>
          </p:cNvPicPr>
          <p:nvPr/>
        </p:nvPicPr>
        <p:blipFill>
          <a:blip r:embed="rId3"/>
          <a:stretch>
            <a:fillRect/>
          </a:stretch>
        </p:blipFill>
        <p:spPr>
          <a:xfrm>
            <a:off x="1511660" y="4734145"/>
            <a:ext cx="4726236" cy="1441114"/>
          </a:xfrm>
          <a:prstGeom prst="rect">
            <a:avLst/>
          </a:prstGeom>
        </p:spPr>
      </p:pic>
    </p:spTree>
    <p:extLst>
      <p:ext uri="{BB962C8B-B14F-4D97-AF65-F5344CB8AC3E}">
        <p14:creationId xmlns:p14="http://schemas.microsoft.com/office/powerpoint/2010/main" val="36552143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2.3.3 </a:t>
            </a:r>
            <a:r>
              <a:rPr lang="zh-CN" altLang="en-US" b="1" i="0" dirty="0">
                <a:solidFill>
                  <a:srgbClr val="333333"/>
                </a:solidFill>
                <a:effectLst/>
                <a:latin typeface="Helvetica Neue"/>
              </a:rPr>
              <a:t>用逆变换法生成连续型随机数</a:t>
            </a:r>
            <a:endParaRPr lang="zh-CN" altLang="en-US" dirty="0"/>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6.10 (</a:t>
            </a:r>
            <a:r>
              <a:rPr lang="zh-CN" altLang="en-US" sz="3200" dirty="0">
                <a:solidFill>
                  <a:srgbClr val="FF0000"/>
                </a:solidFill>
                <a:latin typeface="Verdana" panose="020B0604030504040204" pitchFamily="34" charset="0"/>
              </a:rPr>
              <a:t>利用指数分布随机数产生泊松随机数</a:t>
            </a:r>
            <a:r>
              <a:rPr lang="en-US" altLang="zh-CN" sz="3200" dirty="0">
                <a:solidFill>
                  <a:srgbClr val="006699"/>
                </a:solidFill>
                <a:latin typeface="Verdana" panose="020B0604030504040204" pitchFamily="34" charset="0"/>
              </a:rPr>
              <a:t>) </a:t>
            </a:r>
          </a:p>
        </p:txBody>
      </p:sp>
      <p:sp>
        <p:nvSpPr>
          <p:cNvPr id="8" name="文本框 7">
            <a:extLst>
              <a:ext uri="{FF2B5EF4-FFF2-40B4-BE49-F238E27FC236}">
                <a16:creationId xmlns:a16="http://schemas.microsoft.com/office/drawing/2014/main" id="{F81A3656-2180-478B-A018-055319C0A636}"/>
              </a:ext>
            </a:extLst>
          </p:cNvPr>
          <p:cNvSpPr txBox="1"/>
          <p:nvPr/>
        </p:nvSpPr>
        <p:spPr>
          <a:xfrm>
            <a:off x="251519" y="1898830"/>
            <a:ext cx="8595956" cy="2062103"/>
          </a:xfrm>
          <a:prstGeom prst="rect">
            <a:avLst/>
          </a:prstGeom>
          <a:noFill/>
          <a:ln w="25400">
            <a:solidFill>
              <a:srgbClr val="0070C0"/>
            </a:solidFill>
          </a:ln>
        </p:spPr>
        <p:txBody>
          <a:bodyPr wrap="square">
            <a:spAutoFit/>
          </a:bodyPr>
          <a:lstStyle/>
          <a:p>
            <a:pPr marL="457200" indent="-457200">
              <a:buFont typeface="Arial" panose="020B0604020202020204" pitchFamily="34" charset="0"/>
              <a:buChar char="•"/>
            </a:pPr>
            <a:r>
              <a:rPr lang="zh-CN" altLang="en-US" sz="3200" dirty="0">
                <a:solidFill>
                  <a:srgbClr val="FF0000"/>
                </a:solidFill>
              </a:rPr>
              <a:t>生成泊松随机数</a:t>
            </a:r>
            <a:r>
              <a:rPr lang="zh-CN" altLang="en-US" sz="3200" dirty="0"/>
              <a:t>：</a:t>
            </a:r>
            <a:endParaRPr lang="en-US" altLang="zh-CN" sz="3200" dirty="0"/>
          </a:p>
          <a:p>
            <a:pPr marL="457200" indent="-457200">
              <a:buFont typeface="Arial" panose="020B0604020202020204" pitchFamily="34" charset="0"/>
              <a:buChar char="•"/>
            </a:pPr>
            <a:r>
              <a:rPr lang="zh-CN" altLang="en-US" sz="3200" dirty="0"/>
              <a:t>相继生成均匀随机数， </a:t>
            </a:r>
            <a:endParaRPr lang="en-US" altLang="zh-CN" sz="3200" dirty="0"/>
          </a:p>
          <a:p>
            <a:pPr marL="457200" indent="-457200">
              <a:buFont typeface="Arial" panose="020B0604020202020204" pitchFamily="34" charset="0"/>
              <a:buChar char="•"/>
            </a:pPr>
            <a:r>
              <a:rPr lang="zh-CN" altLang="en-US" sz="3200" dirty="0"/>
              <a:t>直至其连乘积小于</a:t>
            </a:r>
            <a:r>
              <a:rPr lang="en-US" altLang="zh-CN" sz="3200" dirty="0"/>
              <a:t>e</a:t>
            </a:r>
            <a:r>
              <a:rPr lang="en-US" altLang="zh-CN" sz="3200" baseline="30000" dirty="0"/>
              <a:t>-</a:t>
            </a:r>
            <a:r>
              <a:rPr lang="el-GR" altLang="zh-CN" sz="3200" baseline="30000" dirty="0"/>
              <a:t>λ</a:t>
            </a:r>
            <a:r>
              <a:rPr lang="en-US" altLang="zh-CN" sz="3200" dirty="0"/>
              <a:t>, </a:t>
            </a:r>
          </a:p>
          <a:p>
            <a:pPr marL="457200" indent="-457200">
              <a:buFont typeface="Arial" panose="020B0604020202020204" pitchFamily="34" charset="0"/>
              <a:buChar char="•"/>
            </a:pPr>
            <a:r>
              <a:rPr lang="zh-CN" altLang="en-US" sz="3200" dirty="0"/>
              <a:t>则取</a:t>
            </a:r>
            <a:r>
              <a:rPr lang="en-US" altLang="zh-CN" sz="3200" dirty="0"/>
              <a:t>n</a:t>
            </a:r>
            <a:r>
              <a:rPr lang="zh-CN" altLang="en-US" sz="3200" dirty="0"/>
              <a:t>为使用的均匀随机数个数减</a:t>
            </a:r>
            <a:r>
              <a:rPr lang="en-US" altLang="zh-CN" sz="3200" dirty="0"/>
              <a:t>1</a:t>
            </a:r>
            <a:r>
              <a:rPr lang="zh-CN" altLang="en-US" sz="3200" dirty="0"/>
              <a:t>，即</a:t>
            </a:r>
          </a:p>
        </p:txBody>
      </p:sp>
      <p:pic>
        <p:nvPicPr>
          <p:cNvPr id="5" name="图片 4">
            <a:extLst>
              <a:ext uri="{FF2B5EF4-FFF2-40B4-BE49-F238E27FC236}">
                <a16:creationId xmlns:a16="http://schemas.microsoft.com/office/drawing/2014/main" id="{2F849C81-ADC5-46F8-9588-EF09C3B2AD92}"/>
              </a:ext>
            </a:extLst>
          </p:cNvPr>
          <p:cNvPicPr>
            <a:picLocks noChangeAspect="1"/>
          </p:cNvPicPr>
          <p:nvPr/>
        </p:nvPicPr>
        <p:blipFill>
          <a:blip r:embed="rId2"/>
          <a:stretch>
            <a:fillRect/>
          </a:stretch>
        </p:blipFill>
        <p:spPr>
          <a:xfrm>
            <a:off x="1916705" y="4455917"/>
            <a:ext cx="5620235" cy="616640"/>
          </a:xfrm>
          <a:prstGeom prst="rect">
            <a:avLst/>
          </a:prstGeom>
        </p:spPr>
      </p:pic>
    </p:spTree>
    <p:extLst>
      <p:ext uri="{BB962C8B-B14F-4D97-AF65-F5344CB8AC3E}">
        <p14:creationId xmlns:p14="http://schemas.microsoft.com/office/powerpoint/2010/main" val="723917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2.3.4 </a:t>
            </a:r>
            <a:r>
              <a:rPr lang="zh-CN" altLang="en-US" dirty="0"/>
              <a:t>利用变换生成随机数</a:t>
            </a:r>
          </a:p>
        </p:txBody>
      </p:sp>
      <p:sp>
        <p:nvSpPr>
          <p:cNvPr id="5" name="文本框 4">
            <a:extLst>
              <a:ext uri="{FF2B5EF4-FFF2-40B4-BE49-F238E27FC236}">
                <a16:creationId xmlns:a16="http://schemas.microsoft.com/office/drawing/2014/main" id="{3CC045CB-2EBB-4CE5-8823-8E95383AF954}"/>
              </a:ext>
            </a:extLst>
          </p:cNvPr>
          <p:cNvSpPr txBox="1"/>
          <p:nvPr/>
        </p:nvSpPr>
        <p:spPr>
          <a:xfrm>
            <a:off x="229017" y="1223755"/>
            <a:ext cx="8685965" cy="1569660"/>
          </a:xfrm>
          <a:prstGeom prst="rect">
            <a:avLst/>
          </a:prstGeom>
          <a:noFill/>
          <a:ln w="25400">
            <a:noFill/>
          </a:ln>
        </p:spPr>
        <p:txBody>
          <a:bodyPr wrap="square">
            <a:spAutoFit/>
          </a:bodyPr>
          <a:lstStyle/>
          <a:p>
            <a:r>
              <a:rPr lang="zh-CN" altLang="en-US" sz="3200" b="1" dirty="0">
                <a:solidFill>
                  <a:srgbClr val="FF0000"/>
                </a:solidFill>
                <a:latin typeface="+mn-lt"/>
              </a:rPr>
              <a:t>定理</a:t>
            </a:r>
            <a:r>
              <a:rPr lang="en-US" altLang="zh-CN" sz="3200" b="1" dirty="0">
                <a:solidFill>
                  <a:srgbClr val="FF0000"/>
                </a:solidFill>
                <a:latin typeface="+mn-lt"/>
              </a:rPr>
              <a:t>6.3 </a:t>
            </a:r>
            <a:r>
              <a:rPr lang="zh-CN" altLang="en-US" sz="3200" dirty="0">
                <a:latin typeface="+mn-lt"/>
              </a:rPr>
              <a:t>设随机变量</a:t>
            </a:r>
            <a:r>
              <a:rPr lang="en-US" altLang="zh-CN" sz="3200" dirty="0">
                <a:latin typeface="+mn-lt"/>
              </a:rPr>
              <a:t>X</a:t>
            </a:r>
            <a:r>
              <a:rPr lang="zh-CN" altLang="en-US" sz="3200" dirty="0">
                <a:latin typeface="+mn-lt"/>
              </a:rPr>
              <a:t>有密度</a:t>
            </a:r>
            <a:r>
              <a:rPr lang="en-US" altLang="zh-CN" sz="3200" dirty="0">
                <a:latin typeface="+mn-lt"/>
              </a:rPr>
              <a:t>p(x)</a:t>
            </a:r>
            <a:r>
              <a:rPr lang="zh-CN" altLang="en-US" sz="3200" dirty="0">
                <a:latin typeface="+mn-lt"/>
              </a:rPr>
              <a:t>，</a:t>
            </a:r>
            <a:r>
              <a:rPr lang="en-US" altLang="zh-CN" sz="3200" dirty="0">
                <a:latin typeface="+mn-lt"/>
              </a:rPr>
              <a:t>Y=g(X)</a:t>
            </a:r>
            <a:r>
              <a:rPr lang="zh-CN" altLang="en-US" sz="3200" dirty="0">
                <a:latin typeface="+mn-lt"/>
              </a:rPr>
              <a:t>是</a:t>
            </a:r>
            <a:r>
              <a:rPr lang="en-US" altLang="zh-CN" sz="3200" dirty="0">
                <a:latin typeface="+mn-lt"/>
              </a:rPr>
              <a:t>X</a:t>
            </a:r>
            <a:r>
              <a:rPr lang="zh-CN" altLang="en-US" sz="3200" dirty="0">
                <a:latin typeface="+mn-lt"/>
              </a:rPr>
              <a:t>的函数， 函数</a:t>
            </a:r>
            <a:r>
              <a:rPr lang="en-US" altLang="zh-CN" sz="3200" dirty="0">
                <a:latin typeface="+mn-lt"/>
              </a:rPr>
              <a:t>g(.)</a:t>
            </a:r>
            <a:r>
              <a:rPr lang="zh-CN" altLang="en-US" sz="3200" dirty="0">
                <a:latin typeface="+mn-lt"/>
              </a:rPr>
              <a:t>有反函数</a:t>
            </a:r>
            <a:r>
              <a:rPr lang="en-US" altLang="zh-CN" sz="3200" dirty="0">
                <a:latin typeface="+mn-lt"/>
              </a:rPr>
              <a:t>x = g</a:t>
            </a:r>
            <a:r>
              <a:rPr lang="en-US" altLang="zh-CN" sz="3200" baseline="30000" dirty="0">
                <a:latin typeface="+mn-lt"/>
              </a:rPr>
              <a:t>-1</a:t>
            </a:r>
            <a:r>
              <a:rPr lang="en-US" altLang="zh-CN" sz="3200" dirty="0">
                <a:latin typeface="+mn-lt"/>
              </a:rPr>
              <a:t>(y) = h(y), h(y)</a:t>
            </a:r>
            <a:r>
              <a:rPr lang="zh-CN" altLang="en-US" sz="3200" dirty="0">
                <a:latin typeface="+mn-lt"/>
              </a:rPr>
              <a:t>有一阶连续导数，则</a:t>
            </a:r>
            <a:r>
              <a:rPr lang="en-US" altLang="zh-CN" sz="3200" dirty="0">
                <a:latin typeface="+mn-lt"/>
              </a:rPr>
              <a:t>Y</a:t>
            </a:r>
            <a:r>
              <a:rPr lang="zh-CN" altLang="en-US" sz="3200" dirty="0">
                <a:latin typeface="+mn-lt"/>
              </a:rPr>
              <a:t>有密度</a:t>
            </a:r>
          </a:p>
        </p:txBody>
      </p:sp>
      <p:pic>
        <p:nvPicPr>
          <p:cNvPr id="6" name="图片 5">
            <a:extLst>
              <a:ext uri="{FF2B5EF4-FFF2-40B4-BE49-F238E27FC236}">
                <a16:creationId xmlns:a16="http://schemas.microsoft.com/office/drawing/2014/main" id="{8240E3D9-DFE2-45D1-B642-C92BEBD2184E}"/>
              </a:ext>
            </a:extLst>
          </p:cNvPr>
          <p:cNvPicPr>
            <a:picLocks noChangeAspect="1"/>
          </p:cNvPicPr>
          <p:nvPr/>
        </p:nvPicPr>
        <p:blipFill>
          <a:blip r:embed="rId2"/>
          <a:stretch>
            <a:fillRect/>
          </a:stretch>
        </p:blipFill>
        <p:spPr>
          <a:xfrm>
            <a:off x="2186735" y="2900496"/>
            <a:ext cx="3705648" cy="661722"/>
          </a:xfrm>
          <a:prstGeom prst="rect">
            <a:avLst/>
          </a:prstGeom>
        </p:spPr>
      </p:pic>
    </p:spTree>
    <p:extLst>
      <p:ext uri="{BB962C8B-B14F-4D97-AF65-F5344CB8AC3E}">
        <p14:creationId xmlns:p14="http://schemas.microsoft.com/office/powerpoint/2010/main" val="3952048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2.3.4 </a:t>
            </a:r>
            <a:r>
              <a:rPr lang="zh-CN" altLang="en-US" dirty="0"/>
              <a:t>利用变换生成随机数</a:t>
            </a:r>
          </a:p>
        </p:txBody>
      </p:sp>
      <p:sp>
        <p:nvSpPr>
          <p:cNvPr id="5" name="文本框 4">
            <a:extLst>
              <a:ext uri="{FF2B5EF4-FFF2-40B4-BE49-F238E27FC236}">
                <a16:creationId xmlns:a16="http://schemas.microsoft.com/office/drawing/2014/main" id="{5159F550-F131-42FB-9EE9-078C4E6A4ED8}"/>
              </a:ext>
            </a:extLst>
          </p:cNvPr>
          <p:cNvSpPr txBox="1"/>
          <p:nvPr/>
        </p:nvSpPr>
        <p:spPr>
          <a:xfrm>
            <a:off x="161510" y="1043735"/>
            <a:ext cx="8229600" cy="461665"/>
          </a:xfrm>
          <a:prstGeom prst="rect">
            <a:avLst/>
          </a:prstGeom>
          <a:noFill/>
          <a:ln w="25400">
            <a:noFill/>
          </a:ln>
        </p:spPr>
        <p:txBody>
          <a:bodyPr wrap="square">
            <a:spAutoFit/>
          </a:bodyPr>
          <a:lstStyle/>
          <a:p>
            <a:r>
              <a:rPr lang="zh-CN" altLang="en-US" sz="2400" b="1" dirty="0">
                <a:solidFill>
                  <a:srgbClr val="FF0000"/>
                </a:solidFill>
              </a:rPr>
              <a:t>定理</a:t>
            </a:r>
            <a:r>
              <a:rPr lang="en-US" altLang="zh-CN" sz="2400" b="1" dirty="0">
                <a:solidFill>
                  <a:srgbClr val="FF0000"/>
                </a:solidFill>
              </a:rPr>
              <a:t>6.4  </a:t>
            </a:r>
            <a:r>
              <a:rPr lang="zh-CN" altLang="en-US" sz="2400" dirty="0"/>
              <a:t>设随机向量</a:t>
            </a:r>
            <a:r>
              <a:rPr lang="en-US" altLang="zh-CN" sz="2400" dirty="0"/>
              <a:t>(X,Y)</a:t>
            </a:r>
            <a:r>
              <a:rPr lang="zh-CN" altLang="en-US" sz="2400" dirty="0"/>
              <a:t>具有联合密度函数</a:t>
            </a:r>
            <a:r>
              <a:rPr lang="en-US" altLang="zh-CN" sz="2400" dirty="0"/>
              <a:t>p(x,y)</a:t>
            </a:r>
            <a:r>
              <a:rPr lang="zh-CN" altLang="en-US" sz="2400" dirty="0"/>
              <a:t>，令</a:t>
            </a:r>
          </a:p>
        </p:txBody>
      </p:sp>
      <p:sp>
        <p:nvSpPr>
          <p:cNvPr id="7" name="文本框 6">
            <a:extLst>
              <a:ext uri="{FF2B5EF4-FFF2-40B4-BE49-F238E27FC236}">
                <a16:creationId xmlns:a16="http://schemas.microsoft.com/office/drawing/2014/main" id="{281EAEDA-E99A-47A1-88B9-B38E9961451F}"/>
              </a:ext>
            </a:extLst>
          </p:cNvPr>
          <p:cNvSpPr txBox="1"/>
          <p:nvPr/>
        </p:nvSpPr>
        <p:spPr>
          <a:xfrm>
            <a:off x="161510" y="2161986"/>
            <a:ext cx="8869369" cy="461665"/>
          </a:xfrm>
          <a:prstGeom prst="rect">
            <a:avLst/>
          </a:prstGeom>
          <a:noFill/>
          <a:ln w="25400">
            <a:noFill/>
          </a:ln>
        </p:spPr>
        <p:txBody>
          <a:bodyPr wrap="square">
            <a:spAutoFit/>
          </a:bodyPr>
          <a:lstStyle/>
          <a:p>
            <a:r>
              <a:rPr lang="zh-CN" altLang="en-US" sz="2400" dirty="0"/>
              <a:t>设</a:t>
            </a:r>
            <a:r>
              <a:rPr lang="en-US" altLang="zh-CN" sz="2400" dirty="0"/>
              <a:t>(u,v) = (g</a:t>
            </a:r>
            <a:r>
              <a:rPr lang="en-US" altLang="zh-CN" sz="2400" baseline="-25000" dirty="0"/>
              <a:t>1</a:t>
            </a:r>
            <a:r>
              <a:rPr lang="en-US" altLang="zh-CN" sz="2400" dirty="0"/>
              <a:t>(x,y), g</a:t>
            </a:r>
            <a:r>
              <a:rPr lang="en-US" altLang="zh-CN" sz="2400" baseline="-25000" dirty="0"/>
              <a:t>2</a:t>
            </a:r>
            <a:r>
              <a:rPr lang="en-US" altLang="zh-CN" sz="2400" dirty="0"/>
              <a:t>(x,y))</a:t>
            </a:r>
            <a:r>
              <a:rPr lang="zh-CN" altLang="en-US" sz="2400" dirty="0"/>
              <a:t>的反变换存在唯一， 记为</a:t>
            </a:r>
          </a:p>
        </p:txBody>
      </p:sp>
      <p:sp>
        <p:nvSpPr>
          <p:cNvPr id="9" name="文本框 8">
            <a:extLst>
              <a:ext uri="{FF2B5EF4-FFF2-40B4-BE49-F238E27FC236}">
                <a16:creationId xmlns:a16="http://schemas.microsoft.com/office/drawing/2014/main" id="{F6976254-65A5-4A7D-8843-290A20CEC780}"/>
              </a:ext>
            </a:extLst>
          </p:cNvPr>
          <p:cNvSpPr txBox="1"/>
          <p:nvPr/>
        </p:nvSpPr>
        <p:spPr>
          <a:xfrm>
            <a:off x="256045" y="3517149"/>
            <a:ext cx="8869368" cy="461665"/>
          </a:xfrm>
          <a:prstGeom prst="rect">
            <a:avLst/>
          </a:prstGeom>
          <a:noFill/>
          <a:ln w="25400">
            <a:noFill/>
          </a:ln>
        </p:spPr>
        <p:txBody>
          <a:bodyPr wrap="square">
            <a:spAutoFit/>
          </a:bodyPr>
          <a:lstStyle/>
          <a:p>
            <a:r>
              <a:rPr lang="zh-CN" altLang="en-US" sz="2400" dirty="0"/>
              <a:t>设</a:t>
            </a:r>
            <a:r>
              <a:rPr lang="en-US" altLang="zh-CN" sz="2400" dirty="0"/>
              <a:t>h</a:t>
            </a:r>
            <a:r>
              <a:rPr lang="en-US" altLang="zh-CN" sz="2400" baseline="-25000" dirty="0"/>
              <a:t>1</a:t>
            </a:r>
            <a:r>
              <a:rPr lang="en-US" altLang="zh-CN" sz="2400" dirty="0"/>
              <a:t>, h</a:t>
            </a:r>
            <a:r>
              <a:rPr lang="en-US" altLang="zh-CN" sz="2400" baseline="-25000" dirty="0"/>
              <a:t>2</a:t>
            </a:r>
            <a:r>
              <a:rPr lang="zh-CN" altLang="en-US" sz="2400" dirty="0"/>
              <a:t>的一阶偏导数存在，反变换的</a:t>
            </a:r>
            <a:r>
              <a:rPr lang="en-US" altLang="zh-CN" sz="2400" dirty="0"/>
              <a:t>Jacobi</a:t>
            </a:r>
            <a:r>
              <a:rPr lang="zh-CN" altLang="en-US" sz="2400" dirty="0"/>
              <a:t>行列式</a:t>
            </a:r>
          </a:p>
        </p:txBody>
      </p:sp>
      <p:pic>
        <p:nvPicPr>
          <p:cNvPr id="12" name="图片 11">
            <a:extLst>
              <a:ext uri="{FF2B5EF4-FFF2-40B4-BE49-F238E27FC236}">
                <a16:creationId xmlns:a16="http://schemas.microsoft.com/office/drawing/2014/main" id="{6D0E9807-8D52-4020-BF68-A4243EE5D9DA}"/>
              </a:ext>
            </a:extLst>
          </p:cNvPr>
          <p:cNvPicPr>
            <a:picLocks noChangeAspect="1"/>
          </p:cNvPicPr>
          <p:nvPr/>
        </p:nvPicPr>
        <p:blipFill>
          <a:blip r:embed="rId2"/>
          <a:stretch>
            <a:fillRect/>
          </a:stretch>
        </p:blipFill>
        <p:spPr>
          <a:xfrm>
            <a:off x="3092331" y="1453279"/>
            <a:ext cx="1467703" cy="764685"/>
          </a:xfrm>
          <a:prstGeom prst="rect">
            <a:avLst/>
          </a:prstGeom>
        </p:spPr>
      </p:pic>
      <p:pic>
        <p:nvPicPr>
          <p:cNvPr id="14" name="图片 13">
            <a:extLst>
              <a:ext uri="{FF2B5EF4-FFF2-40B4-BE49-F238E27FC236}">
                <a16:creationId xmlns:a16="http://schemas.microsoft.com/office/drawing/2014/main" id="{B23BF0BE-6684-4FCB-8E78-A1F43BD62514}"/>
              </a:ext>
            </a:extLst>
          </p:cNvPr>
          <p:cNvPicPr>
            <a:picLocks noChangeAspect="1"/>
          </p:cNvPicPr>
          <p:nvPr/>
        </p:nvPicPr>
        <p:blipFill>
          <a:blip r:embed="rId3"/>
          <a:stretch>
            <a:fillRect/>
          </a:stretch>
        </p:blipFill>
        <p:spPr>
          <a:xfrm>
            <a:off x="3092331" y="2700595"/>
            <a:ext cx="1499503" cy="712878"/>
          </a:xfrm>
          <a:prstGeom prst="rect">
            <a:avLst/>
          </a:prstGeom>
        </p:spPr>
      </p:pic>
      <p:pic>
        <p:nvPicPr>
          <p:cNvPr id="16" name="图片 15">
            <a:extLst>
              <a:ext uri="{FF2B5EF4-FFF2-40B4-BE49-F238E27FC236}">
                <a16:creationId xmlns:a16="http://schemas.microsoft.com/office/drawing/2014/main" id="{0A56A5F1-FCE7-409C-8F3F-B88A9617E8C2}"/>
              </a:ext>
            </a:extLst>
          </p:cNvPr>
          <p:cNvPicPr>
            <a:picLocks noChangeAspect="1"/>
          </p:cNvPicPr>
          <p:nvPr/>
        </p:nvPicPr>
        <p:blipFill>
          <a:blip r:embed="rId4"/>
          <a:stretch>
            <a:fillRect/>
          </a:stretch>
        </p:blipFill>
        <p:spPr>
          <a:xfrm>
            <a:off x="2775912" y="3991452"/>
            <a:ext cx="2132339" cy="946225"/>
          </a:xfrm>
          <a:prstGeom prst="rect">
            <a:avLst/>
          </a:prstGeom>
        </p:spPr>
      </p:pic>
      <p:pic>
        <p:nvPicPr>
          <p:cNvPr id="17" name="图片 16">
            <a:extLst>
              <a:ext uri="{FF2B5EF4-FFF2-40B4-BE49-F238E27FC236}">
                <a16:creationId xmlns:a16="http://schemas.microsoft.com/office/drawing/2014/main" id="{4A1104DA-7462-494B-BE46-C22251B6143B}"/>
              </a:ext>
            </a:extLst>
          </p:cNvPr>
          <p:cNvPicPr>
            <a:picLocks noChangeAspect="1"/>
          </p:cNvPicPr>
          <p:nvPr/>
        </p:nvPicPr>
        <p:blipFill>
          <a:blip r:embed="rId5"/>
          <a:stretch>
            <a:fillRect/>
          </a:stretch>
        </p:blipFill>
        <p:spPr>
          <a:xfrm>
            <a:off x="2113025" y="5679250"/>
            <a:ext cx="3458111" cy="501479"/>
          </a:xfrm>
          <a:prstGeom prst="rect">
            <a:avLst/>
          </a:prstGeom>
        </p:spPr>
      </p:pic>
      <p:sp>
        <p:nvSpPr>
          <p:cNvPr id="19" name="文本框 18">
            <a:extLst>
              <a:ext uri="{FF2B5EF4-FFF2-40B4-BE49-F238E27FC236}">
                <a16:creationId xmlns:a16="http://schemas.microsoft.com/office/drawing/2014/main" id="{5BD20728-FC15-4975-8750-5D42744FD748}"/>
              </a:ext>
            </a:extLst>
          </p:cNvPr>
          <p:cNvSpPr txBox="1"/>
          <p:nvPr/>
        </p:nvSpPr>
        <p:spPr>
          <a:xfrm>
            <a:off x="276402" y="4937677"/>
            <a:ext cx="6660740" cy="461665"/>
          </a:xfrm>
          <a:prstGeom prst="rect">
            <a:avLst/>
          </a:prstGeom>
          <a:noFill/>
          <a:ln w="25400">
            <a:noFill/>
          </a:ln>
        </p:spPr>
        <p:txBody>
          <a:bodyPr wrap="square">
            <a:spAutoFit/>
          </a:bodyPr>
          <a:lstStyle/>
          <a:p>
            <a:pPr marL="342900" indent="-342900">
              <a:buFont typeface="Arial" panose="020B0604020202020204" pitchFamily="34" charset="0"/>
              <a:buChar char="•"/>
            </a:pPr>
            <a:r>
              <a:rPr lang="zh-CN" altLang="en-US" sz="2400" dirty="0"/>
              <a:t>则随机向量</a:t>
            </a:r>
            <a:r>
              <a:rPr lang="en-US" altLang="zh-CN" sz="2400" dirty="0"/>
              <a:t>(U,V)</a:t>
            </a:r>
            <a:r>
              <a:rPr lang="zh-CN" altLang="en-US" sz="2400" dirty="0"/>
              <a:t>的联合密度为</a:t>
            </a:r>
          </a:p>
        </p:txBody>
      </p:sp>
    </p:spTree>
    <p:extLst>
      <p:ext uri="{BB962C8B-B14F-4D97-AF65-F5344CB8AC3E}">
        <p14:creationId xmlns:p14="http://schemas.microsoft.com/office/powerpoint/2010/main" val="1157561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2.3.4 </a:t>
            </a:r>
            <a:r>
              <a:rPr lang="zh-CN" altLang="en-US" dirty="0"/>
              <a:t>利用变换生成随机数</a:t>
            </a:r>
          </a:p>
        </p:txBody>
      </p:sp>
      <p:pic>
        <p:nvPicPr>
          <p:cNvPr id="2" name="图片 1">
            <a:extLst>
              <a:ext uri="{FF2B5EF4-FFF2-40B4-BE49-F238E27FC236}">
                <a16:creationId xmlns:a16="http://schemas.microsoft.com/office/drawing/2014/main" id="{C9D4C21B-2A68-44CF-AFDA-1BDD48313A71}"/>
              </a:ext>
            </a:extLst>
          </p:cNvPr>
          <p:cNvPicPr>
            <a:picLocks noChangeAspect="1"/>
          </p:cNvPicPr>
          <p:nvPr/>
        </p:nvPicPr>
        <p:blipFill>
          <a:blip r:embed="rId2"/>
          <a:stretch>
            <a:fillRect/>
          </a:stretch>
        </p:blipFill>
        <p:spPr>
          <a:xfrm>
            <a:off x="76022" y="1313765"/>
            <a:ext cx="9070236" cy="3150350"/>
          </a:xfrm>
          <a:prstGeom prst="rect">
            <a:avLst/>
          </a:prstGeom>
        </p:spPr>
      </p:pic>
    </p:spTree>
    <p:extLst>
      <p:ext uri="{BB962C8B-B14F-4D97-AF65-F5344CB8AC3E}">
        <p14:creationId xmlns:p14="http://schemas.microsoft.com/office/powerpoint/2010/main" val="883231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2.3.4 </a:t>
            </a:r>
            <a:r>
              <a:rPr lang="zh-CN" altLang="en-US" dirty="0"/>
              <a:t>利用变换生成随机数</a:t>
            </a:r>
          </a:p>
        </p:txBody>
      </p:sp>
      <p:sp>
        <p:nvSpPr>
          <p:cNvPr id="5" name="文本框 4">
            <a:extLst>
              <a:ext uri="{FF2B5EF4-FFF2-40B4-BE49-F238E27FC236}">
                <a16:creationId xmlns:a16="http://schemas.microsoft.com/office/drawing/2014/main" id="{6B04F837-34BF-4A2D-B8E3-067D57C84E2E}"/>
              </a:ext>
            </a:extLst>
          </p:cNvPr>
          <p:cNvSpPr txBox="1"/>
          <p:nvPr/>
        </p:nvSpPr>
        <p:spPr>
          <a:xfrm>
            <a:off x="296525" y="1031639"/>
            <a:ext cx="7917200" cy="584775"/>
          </a:xfrm>
          <a:prstGeom prst="rect">
            <a:avLst/>
          </a:prstGeom>
          <a:noFill/>
          <a:ln w="25400">
            <a:noFill/>
          </a:ln>
        </p:spPr>
        <p:txBody>
          <a:bodyPr wrap="square">
            <a:spAutoFit/>
          </a:bodyPr>
          <a:lstStyle/>
          <a:p>
            <a:r>
              <a:rPr lang="zh-CN" altLang="en-US" sz="3200" b="1" dirty="0">
                <a:solidFill>
                  <a:srgbClr val="FF0000"/>
                </a:solidFill>
              </a:rPr>
              <a:t>定理</a:t>
            </a:r>
            <a:r>
              <a:rPr lang="en-US" altLang="zh-CN" sz="3200" b="1" dirty="0">
                <a:solidFill>
                  <a:srgbClr val="FF0000"/>
                </a:solidFill>
              </a:rPr>
              <a:t>6.5 </a:t>
            </a:r>
            <a:r>
              <a:rPr lang="zh-CN" altLang="en-US" sz="3200" dirty="0"/>
              <a:t>设</a:t>
            </a:r>
            <a:r>
              <a:rPr lang="en-US" altLang="zh-CN" sz="3200" dirty="0"/>
              <a:t>U</a:t>
            </a:r>
            <a:r>
              <a:rPr lang="en-US" altLang="zh-CN" sz="3200" baseline="-25000" dirty="0"/>
              <a:t>1</a:t>
            </a:r>
            <a:r>
              <a:rPr lang="en-US" altLang="zh-CN" sz="3200" dirty="0"/>
              <a:t>, U</a:t>
            </a:r>
            <a:r>
              <a:rPr lang="en-US" altLang="zh-CN" sz="3200" baseline="-25000" dirty="0"/>
              <a:t>2</a:t>
            </a:r>
            <a:r>
              <a:rPr lang="zh-CN" altLang="en-US" sz="3200" dirty="0"/>
              <a:t>独立且都服从</a:t>
            </a:r>
            <a:r>
              <a:rPr lang="en-US" altLang="zh-CN" sz="3200" dirty="0"/>
              <a:t>U(0,1)</a:t>
            </a:r>
            <a:r>
              <a:rPr lang="zh-CN" altLang="en-US" sz="3200" dirty="0"/>
              <a:t>，</a:t>
            </a:r>
          </a:p>
        </p:txBody>
      </p:sp>
      <p:sp>
        <p:nvSpPr>
          <p:cNvPr id="7" name="文本框 6">
            <a:extLst>
              <a:ext uri="{FF2B5EF4-FFF2-40B4-BE49-F238E27FC236}">
                <a16:creationId xmlns:a16="http://schemas.microsoft.com/office/drawing/2014/main" id="{0BFFF367-4C33-4413-BB4B-CE63603FC906}"/>
              </a:ext>
            </a:extLst>
          </p:cNvPr>
          <p:cNvSpPr txBox="1"/>
          <p:nvPr/>
        </p:nvSpPr>
        <p:spPr>
          <a:xfrm>
            <a:off x="476545" y="3023955"/>
            <a:ext cx="7737180" cy="1077218"/>
          </a:xfrm>
          <a:prstGeom prst="rect">
            <a:avLst/>
          </a:prstGeom>
          <a:noFill/>
          <a:ln w="25400">
            <a:noFill/>
          </a:ln>
        </p:spPr>
        <p:txBody>
          <a:bodyPr wrap="square">
            <a:spAutoFit/>
          </a:bodyPr>
          <a:lstStyle/>
          <a:p>
            <a:r>
              <a:rPr lang="zh-CN" altLang="en-US" sz="3200" dirty="0"/>
              <a:t>则</a:t>
            </a:r>
            <a:r>
              <a:rPr lang="en-US" altLang="zh-CN" sz="3200" dirty="0"/>
              <a:t>X, Y</a:t>
            </a:r>
            <a:r>
              <a:rPr lang="zh-CN" altLang="en-US" sz="3200" dirty="0"/>
              <a:t>独立且都服从标准正态分布。</a:t>
            </a:r>
            <a:endParaRPr lang="en-US" altLang="zh-CN" sz="3200" dirty="0"/>
          </a:p>
          <a:p>
            <a:pPr marL="457200" indent="-457200">
              <a:buFont typeface="Arial" panose="020B0604020202020204" pitchFamily="34" charset="0"/>
              <a:buChar char="•"/>
            </a:pPr>
            <a:r>
              <a:rPr lang="zh-CN" altLang="en-US" sz="3200" dirty="0"/>
              <a:t>叫做</a:t>
            </a:r>
            <a:r>
              <a:rPr lang="en-US" altLang="zh-CN" sz="3200" b="1" dirty="0">
                <a:solidFill>
                  <a:srgbClr val="FF0000"/>
                </a:solidFill>
              </a:rPr>
              <a:t>Box-Muller</a:t>
            </a:r>
            <a:r>
              <a:rPr lang="zh-CN" altLang="en-US" sz="3200" b="1" dirty="0">
                <a:solidFill>
                  <a:srgbClr val="FF0000"/>
                </a:solidFill>
              </a:rPr>
              <a:t>变换</a:t>
            </a:r>
            <a:r>
              <a:rPr lang="zh-CN" altLang="en-US" sz="3200" dirty="0"/>
              <a:t>。</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E99A358-A492-251C-EE61-1ECC6DCF5AD5}"/>
                  </a:ext>
                </a:extLst>
              </p:cNvPr>
              <p:cNvSpPr txBox="1"/>
              <p:nvPr/>
            </p:nvSpPr>
            <p:spPr>
              <a:xfrm>
                <a:off x="2051720" y="1658646"/>
                <a:ext cx="4690696" cy="1197828"/>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2800" b="1" i="1" smtClean="0">
                              <a:solidFill>
                                <a:srgbClr val="836967"/>
                              </a:solidFill>
                              <a:latin typeface="Cambria Math" panose="02040503050406030204" pitchFamily="18" charset="0"/>
                            </a:rPr>
                          </m:ctrlPr>
                        </m:mPr>
                        <m:mr>
                          <m:e>
                            <m:r>
                              <a:rPr lang="zh-CN" altLang="en-US" sz="2800" b="1" i="1">
                                <a:latin typeface="Cambria Math" panose="02040503050406030204" pitchFamily="18" charset="0"/>
                              </a:rPr>
                              <m:t>𝑿</m:t>
                            </m:r>
                            <m:r>
                              <a:rPr lang="zh-CN" altLang="en-US" sz="2800" b="1" i="0">
                                <a:latin typeface="Cambria Math" panose="02040503050406030204" pitchFamily="18" charset="0"/>
                              </a:rPr>
                              <m:t>=</m:t>
                            </m:r>
                          </m:e>
                          <m:e>
                            <m:rad>
                              <m:radPr>
                                <m:degHide m:val="on"/>
                                <m:ctrlPr>
                                  <a:rPr lang="zh-CN" altLang="en-US" sz="2800" b="1" i="1">
                                    <a:solidFill>
                                      <a:srgbClr val="836967"/>
                                    </a:solidFill>
                                    <a:latin typeface="Cambria Math" panose="02040503050406030204" pitchFamily="18" charset="0"/>
                                  </a:rPr>
                                </m:ctrlPr>
                              </m:radPr>
                              <m:deg/>
                              <m:e>
                                <m:r>
                                  <a:rPr lang="zh-CN" altLang="en-US" sz="2800" b="1" i="0">
                                    <a:latin typeface="Cambria Math" panose="02040503050406030204" pitchFamily="18" charset="0"/>
                                  </a:rPr>
                                  <m:t>−</m:t>
                                </m:r>
                                <m:r>
                                  <a:rPr lang="zh-CN" altLang="en-US" sz="2800" b="1" i="0">
                                    <a:latin typeface="Cambria Math" panose="02040503050406030204" pitchFamily="18" charset="0"/>
                                  </a:rPr>
                                  <m:t>𝟐𝐥𝐧</m:t>
                                </m:r>
                                <m:sSub>
                                  <m:sSubPr>
                                    <m:ctrlPr>
                                      <a:rPr lang="zh-CN" altLang="en-US" sz="2800" b="1" i="1">
                                        <a:solidFill>
                                          <a:srgbClr val="836967"/>
                                        </a:solidFill>
                                        <a:latin typeface="Cambria Math" panose="02040503050406030204" pitchFamily="18" charset="0"/>
                                      </a:rPr>
                                    </m:ctrlPr>
                                  </m:sSubPr>
                                  <m:e>
                                    <m:r>
                                      <a:rPr lang="zh-CN" altLang="en-US" sz="2800" b="1" i="1">
                                        <a:latin typeface="Cambria Math" panose="02040503050406030204" pitchFamily="18" charset="0"/>
                                      </a:rPr>
                                      <m:t>𝑼</m:t>
                                    </m:r>
                                  </m:e>
                                  <m:sub>
                                    <m:r>
                                      <a:rPr lang="zh-CN" altLang="en-US" sz="2800" b="1" i="0">
                                        <a:latin typeface="Cambria Math" panose="02040503050406030204" pitchFamily="18" charset="0"/>
                                      </a:rPr>
                                      <m:t>𝟏</m:t>
                                    </m:r>
                                  </m:sub>
                                </m:sSub>
                              </m:e>
                            </m:rad>
                            <m:r>
                              <a:rPr lang="zh-CN" altLang="en-US" sz="2800" b="1" i="0">
                                <a:latin typeface="Cambria Math" panose="02040503050406030204" pitchFamily="18" charset="0"/>
                              </a:rPr>
                              <m:t>𝐜𝐨𝐬</m:t>
                            </m:r>
                            <m:d>
                              <m:dPr>
                                <m:ctrlPr>
                                  <a:rPr lang="zh-CN" altLang="en-US" sz="2800" b="1" i="1">
                                    <a:solidFill>
                                      <a:srgbClr val="836967"/>
                                    </a:solidFill>
                                    <a:latin typeface="Cambria Math" panose="02040503050406030204" pitchFamily="18" charset="0"/>
                                  </a:rPr>
                                </m:ctrlPr>
                              </m:dPr>
                              <m:e>
                                <m:r>
                                  <a:rPr lang="zh-CN" altLang="en-US" sz="2800" b="1" i="0">
                                    <a:latin typeface="Cambria Math" panose="02040503050406030204" pitchFamily="18" charset="0"/>
                                  </a:rPr>
                                  <m:t>𝟐</m:t>
                                </m:r>
                                <m:r>
                                  <a:rPr lang="zh-CN" altLang="en-US" sz="2800" b="1" i="1">
                                    <a:latin typeface="Cambria Math" panose="02040503050406030204" pitchFamily="18" charset="0"/>
                                  </a:rPr>
                                  <m:t>𝝅</m:t>
                                </m:r>
                                <m:sSub>
                                  <m:sSubPr>
                                    <m:ctrlPr>
                                      <a:rPr lang="zh-CN" altLang="en-US" sz="2800" b="1" i="1">
                                        <a:solidFill>
                                          <a:srgbClr val="836967"/>
                                        </a:solidFill>
                                        <a:latin typeface="Cambria Math" panose="02040503050406030204" pitchFamily="18" charset="0"/>
                                      </a:rPr>
                                    </m:ctrlPr>
                                  </m:sSubPr>
                                  <m:e>
                                    <m:r>
                                      <a:rPr lang="zh-CN" altLang="en-US" sz="2800" b="1" i="1">
                                        <a:latin typeface="Cambria Math" panose="02040503050406030204" pitchFamily="18" charset="0"/>
                                      </a:rPr>
                                      <m:t>𝑼</m:t>
                                    </m:r>
                                  </m:e>
                                  <m:sub>
                                    <m:r>
                                      <a:rPr lang="zh-CN" altLang="en-US" sz="2800" b="1" i="0">
                                        <a:latin typeface="Cambria Math" panose="02040503050406030204" pitchFamily="18" charset="0"/>
                                      </a:rPr>
                                      <m:t>𝟐</m:t>
                                    </m:r>
                                  </m:sub>
                                </m:sSub>
                              </m:e>
                            </m:d>
                            <m:r>
                              <a:rPr lang="zh-CN" altLang="en-US" sz="2800" b="1" i="0">
                                <a:latin typeface="Cambria Math" panose="02040503050406030204" pitchFamily="18" charset="0"/>
                              </a:rPr>
                              <m:t>,</m:t>
                            </m:r>
                          </m:e>
                        </m:mr>
                        <m:mr>
                          <m:e>
                            <m:r>
                              <a:rPr lang="zh-CN" altLang="en-US" sz="2800" b="1" i="1">
                                <a:latin typeface="Cambria Math" panose="02040503050406030204" pitchFamily="18" charset="0"/>
                              </a:rPr>
                              <m:t>𝒀</m:t>
                            </m:r>
                            <m:r>
                              <a:rPr lang="zh-CN" altLang="en-US" sz="2800" b="1" i="0">
                                <a:latin typeface="Cambria Math" panose="02040503050406030204" pitchFamily="18" charset="0"/>
                              </a:rPr>
                              <m:t>=</m:t>
                            </m:r>
                          </m:e>
                          <m:e>
                            <m:rad>
                              <m:radPr>
                                <m:degHide m:val="on"/>
                                <m:ctrlPr>
                                  <a:rPr lang="zh-CN" altLang="en-US" sz="2800" b="1" i="1">
                                    <a:solidFill>
                                      <a:srgbClr val="836967"/>
                                    </a:solidFill>
                                    <a:latin typeface="Cambria Math" panose="02040503050406030204" pitchFamily="18" charset="0"/>
                                  </a:rPr>
                                </m:ctrlPr>
                              </m:radPr>
                              <m:deg/>
                              <m:e>
                                <m:r>
                                  <a:rPr lang="zh-CN" altLang="en-US" sz="2800" b="1" i="0">
                                    <a:latin typeface="Cambria Math" panose="02040503050406030204" pitchFamily="18" charset="0"/>
                                  </a:rPr>
                                  <m:t>−</m:t>
                                </m:r>
                                <m:r>
                                  <a:rPr lang="zh-CN" altLang="en-US" sz="2800" b="1" i="0">
                                    <a:latin typeface="Cambria Math" panose="02040503050406030204" pitchFamily="18" charset="0"/>
                                  </a:rPr>
                                  <m:t>𝟐𝐥𝐧</m:t>
                                </m:r>
                                <m:sSub>
                                  <m:sSubPr>
                                    <m:ctrlPr>
                                      <a:rPr lang="zh-CN" altLang="en-US" sz="2800" b="1" i="1">
                                        <a:solidFill>
                                          <a:srgbClr val="836967"/>
                                        </a:solidFill>
                                        <a:latin typeface="Cambria Math" panose="02040503050406030204" pitchFamily="18" charset="0"/>
                                      </a:rPr>
                                    </m:ctrlPr>
                                  </m:sSubPr>
                                  <m:e>
                                    <m:r>
                                      <a:rPr lang="zh-CN" altLang="en-US" sz="2800" b="1" i="1">
                                        <a:latin typeface="Cambria Math" panose="02040503050406030204" pitchFamily="18" charset="0"/>
                                      </a:rPr>
                                      <m:t>𝑼</m:t>
                                    </m:r>
                                  </m:e>
                                  <m:sub>
                                    <m:r>
                                      <a:rPr lang="zh-CN" altLang="en-US" sz="2800" b="1" i="0">
                                        <a:latin typeface="Cambria Math" panose="02040503050406030204" pitchFamily="18" charset="0"/>
                                      </a:rPr>
                                      <m:t>𝟏</m:t>
                                    </m:r>
                                  </m:sub>
                                </m:sSub>
                              </m:e>
                            </m:rad>
                            <m:r>
                              <a:rPr lang="zh-CN" altLang="en-US" sz="2800" b="1" i="0">
                                <a:latin typeface="Cambria Math" panose="02040503050406030204" pitchFamily="18" charset="0"/>
                              </a:rPr>
                              <m:t>𝐬𝐢𝐧</m:t>
                            </m:r>
                            <m:d>
                              <m:dPr>
                                <m:ctrlPr>
                                  <a:rPr lang="zh-CN" altLang="en-US" sz="2800" b="1" i="1">
                                    <a:solidFill>
                                      <a:srgbClr val="836967"/>
                                    </a:solidFill>
                                    <a:latin typeface="Cambria Math" panose="02040503050406030204" pitchFamily="18" charset="0"/>
                                  </a:rPr>
                                </m:ctrlPr>
                              </m:dPr>
                              <m:e>
                                <m:r>
                                  <a:rPr lang="zh-CN" altLang="en-US" sz="2800" b="1" i="0">
                                    <a:latin typeface="Cambria Math" panose="02040503050406030204" pitchFamily="18" charset="0"/>
                                  </a:rPr>
                                  <m:t>𝟐</m:t>
                                </m:r>
                                <m:r>
                                  <a:rPr lang="zh-CN" altLang="en-US" sz="2800" b="1" i="1">
                                    <a:latin typeface="Cambria Math" panose="02040503050406030204" pitchFamily="18" charset="0"/>
                                  </a:rPr>
                                  <m:t>𝝅</m:t>
                                </m:r>
                                <m:sSub>
                                  <m:sSubPr>
                                    <m:ctrlPr>
                                      <a:rPr lang="zh-CN" altLang="en-US" sz="2800" b="1" i="1">
                                        <a:solidFill>
                                          <a:srgbClr val="836967"/>
                                        </a:solidFill>
                                        <a:latin typeface="Cambria Math" panose="02040503050406030204" pitchFamily="18" charset="0"/>
                                      </a:rPr>
                                    </m:ctrlPr>
                                  </m:sSubPr>
                                  <m:e>
                                    <m:r>
                                      <a:rPr lang="zh-CN" altLang="en-US" sz="2800" b="1" i="1">
                                        <a:latin typeface="Cambria Math" panose="02040503050406030204" pitchFamily="18" charset="0"/>
                                      </a:rPr>
                                      <m:t>𝑼</m:t>
                                    </m:r>
                                  </m:e>
                                  <m:sub>
                                    <m:r>
                                      <a:rPr lang="zh-CN" altLang="en-US" sz="2800" b="1" i="0">
                                        <a:latin typeface="Cambria Math" panose="02040503050406030204" pitchFamily="18" charset="0"/>
                                      </a:rPr>
                                      <m:t>𝟐</m:t>
                                    </m:r>
                                  </m:sub>
                                </m:sSub>
                              </m:e>
                            </m:d>
                            <m:r>
                              <a:rPr lang="zh-CN" altLang="en-US" sz="2800" b="1" i="0">
                                <a:latin typeface="Cambria Math" panose="02040503050406030204" pitchFamily="18" charset="0"/>
                              </a:rPr>
                              <m:t>.</m:t>
                            </m:r>
                          </m:e>
                        </m:mr>
                      </m:m>
                    </m:oMath>
                  </m:oMathPara>
                </a14:m>
                <a:endParaRPr lang="zh-CN" altLang="en-US" sz="2800" b="1" dirty="0"/>
              </a:p>
            </p:txBody>
          </p:sp>
        </mc:Choice>
        <mc:Fallback xmlns="">
          <p:sp>
            <p:nvSpPr>
              <p:cNvPr id="2" name="文本框 1">
                <a:extLst>
                  <a:ext uri="{FF2B5EF4-FFF2-40B4-BE49-F238E27FC236}">
                    <a16:creationId xmlns:a16="http://schemas.microsoft.com/office/drawing/2014/main" id="{BE99A358-A492-251C-EE61-1ECC6DCF5AD5}"/>
                  </a:ext>
                </a:extLst>
              </p:cNvPr>
              <p:cNvSpPr txBox="1">
                <a:spLocks noRot="1" noChangeAspect="1" noMove="1" noResize="1" noEditPoints="1" noAdjustHandles="1" noChangeArrowheads="1" noChangeShapeType="1" noTextEdit="1"/>
              </p:cNvSpPr>
              <p:nvPr/>
            </p:nvSpPr>
            <p:spPr>
              <a:xfrm>
                <a:off x="2051720" y="1658646"/>
                <a:ext cx="4690696" cy="1197828"/>
              </a:xfrm>
              <a:prstGeom prst="rect">
                <a:avLst/>
              </a:prstGeom>
              <a:blipFill>
                <a:blip r:embed="rId2"/>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7789437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2.3.4 </a:t>
            </a:r>
            <a:r>
              <a:rPr lang="zh-CN" altLang="en-US" dirty="0"/>
              <a:t>利用变换生成随机数</a:t>
            </a:r>
          </a:p>
        </p:txBody>
      </p:sp>
      <p:sp>
        <p:nvSpPr>
          <p:cNvPr id="7" name="文本框 6">
            <a:extLst>
              <a:ext uri="{FF2B5EF4-FFF2-40B4-BE49-F238E27FC236}">
                <a16:creationId xmlns:a16="http://schemas.microsoft.com/office/drawing/2014/main" id="{0BFFF367-4C33-4413-BB4B-CE63603FC906}"/>
              </a:ext>
            </a:extLst>
          </p:cNvPr>
          <p:cNvSpPr txBox="1"/>
          <p:nvPr/>
        </p:nvSpPr>
        <p:spPr>
          <a:xfrm>
            <a:off x="0" y="998730"/>
            <a:ext cx="7737180" cy="584775"/>
          </a:xfrm>
          <a:prstGeom prst="rect">
            <a:avLst/>
          </a:prstGeom>
          <a:noFill/>
          <a:ln w="25400">
            <a:noFill/>
          </a:ln>
        </p:spPr>
        <p:txBody>
          <a:bodyPr wrap="square">
            <a:spAutoFit/>
          </a:bodyPr>
          <a:lstStyle/>
          <a:p>
            <a:r>
              <a:rPr lang="en-US" altLang="zh-CN" sz="3200" b="1" dirty="0">
                <a:solidFill>
                  <a:srgbClr val="FF0000"/>
                </a:solidFill>
              </a:rPr>
              <a:t>Box-Muller</a:t>
            </a:r>
            <a:r>
              <a:rPr lang="zh-CN" altLang="en-US" sz="3200" b="1" dirty="0">
                <a:solidFill>
                  <a:srgbClr val="FF0000"/>
                </a:solidFill>
              </a:rPr>
              <a:t>变换</a:t>
            </a:r>
            <a:r>
              <a:rPr lang="zh-CN" altLang="en-US" sz="3200" dirty="0"/>
              <a:t>。</a:t>
            </a:r>
          </a:p>
        </p:txBody>
      </p:sp>
      <p:pic>
        <p:nvPicPr>
          <p:cNvPr id="2" name="图片 1">
            <a:extLst>
              <a:ext uri="{FF2B5EF4-FFF2-40B4-BE49-F238E27FC236}">
                <a16:creationId xmlns:a16="http://schemas.microsoft.com/office/drawing/2014/main" id="{53B66A9E-40C1-419B-9EAF-E207BFFDF015}"/>
              </a:ext>
            </a:extLst>
          </p:cNvPr>
          <p:cNvPicPr>
            <a:picLocks noChangeAspect="1"/>
          </p:cNvPicPr>
          <p:nvPr/>
        </p:nvPicPr>
        <p:blipFill>
          <a:blip r:embed="rId2"/>
          <a:stretch>
            <a:fillRect/>
          </a:stretch>
        </p:blipFill>
        <p:spPr>
          <a:xfrm>
            <a:off x="2636785" y="1650716"/>
            <a:ext cx="5891975" cy="4208554"/>
          </a:xfrm>
          <a:prstGeom prst="rect">
            <a:avLst/>
          </a:prstGeom>
        </p:spPr>
      </p:pic>
    </p:spTree>
    <p:extLst>
      <p:ext uri="{BB962C8B-B14F-4D97-AF65-F5344CB8AC3E}">
        <p14:creationId xmlns:p14="http://schemas.microsoft.com/office/powerpoint/2010/main" val="35218655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2A8B107-1EC8-4F65-BBFE-313F4EC66DF8}"/>
              </a:ext>
            </a:extLst>
          </p:cNvPr>
          <p:cNvPicPr>
            <a:picLocks noChangeAspect="1"/>
          </p:cNvPicPr>
          <p:nvPr/>
        </p:nvPicPr>
        <p:blipFill>
          <a:blip r:embed="rId2"/>
          <a:stretch>
            <a:fillRect/>
          </a:stretch>
        </p:blipFill>
        <p:spPr>
          <a:xfrm>
            <a:off x="303658" y="2917643"/>
            <a:ext cx="3612245" cy="3261967"/>
          </a:xfrm>
          <a:prstGeom prst="rect">
            <a:avLst/>
          </a:prstGeom>
        </p:spPr>
      </p:pic>
      <p:sp>
        <p:nvSpPr>
          <p:cNvPr id="6" name="文本框 5">
            <a:extLst>
              <a:ext uri="{FF2B5EF4-FFF2-40B4-BE49-F238E27FC236}">
                <a16:creationId xmlns:a16="http://schemas.microsoft.com/office/drawing/2014/main" id="{A225980D-51FD-48E1-8822-E0AB150B5705}"/>
              </a:ext>
            </a:extLst>
          </p:cNvPr>
          <p:cNvSpPr txBox="1"/>
          <p:nvPr/>
        </p:nvSpPr>
        <p:spPr>
          <a:xfrm>
            <a:off x="0" y="998730"/>
            <a:ext cx="8982490" cy="1077218"/>
          </a:xfrm>
          <a:prstGeom prst="rect">
            <a:avLst/>
          </a:prstGeom>
          <a:noFill/>
          <a:ln w="25400">
            <a:noFill/>
          </a:ln>
        </p:spPr>
        <p:txBody>
          <a:bodyPr wrap="square">
            <a:spAutoFit/>
          </a:bodyPr>
          <a:lstStyle/>
          <a:p>
            <a:r>
              <a:rPr lang="zh-CN" altLang="en-US" sz="3200" dirty="0">
                <a:solidFill>
                  <a:srgbClr val="006699"/>
                </a:solidFill>
                <a:latin typeface="+mn-lt"/>
              </a:rPr>
              <a:t>设随机变量</a:t>
            </a:r>
            <a:r>
              <a:rPr lang="en-US" altLang="zh-CN" sz="3200" dirty="0">
                <a:solidFill>
                  <a:srgbClr val="006699"/>
                </a:solidFill>
                <a:latin typeface="+mn-lt"/>
              </a:rPr>
              <a:t>Z</a:t>
            </a:r>
            <a:r>
              <a:rPr lang="zh-CN" altLang="en-US" sz="3200" dirty="0">
                <a:solidFill>
                  <a:srgbClr val="006699"/>
                </a:solidFill>
                <a:latin typeface="+mn-lt"/>
              </a:rPr>
              <a:t>的分布函数很难求反函数</a:t>
            </a:r>
            <a:r>
              <a:rPr lang="en-US" altLang="zh-CN" sz="3200" dirty="0">
                <a:solidFill>
                  <a:srgbClr val="006699"/>
                </a:solidFill>
                <a:latin typeface="+mn-lt"/>
              </a:rPr>
              <a:t>F</a:t>
            </a:r>
            <a:r>
              <a:rPr lang="en-US" altLang="zh-CN" sz="3200" baseline="30000" dirty="0">
                <a:solidFill>
                  <a:srgbClr val="006699"/>
                </a:solidFill>
                <a:latin typeface="+mn-lt"/>
              </a:rPr>
              <a:t>-1</a:t>
            </a:r>
            <a:r>
              <a:rPr lang="en-US" altLang="zh-CN" sz="3200" dirty="0">
                <a:solidFill>
                  <a:srgbClr val="006699"/>
                </a:solidFill>
                <a:latin typeface="+mn-lt"/>
              </a:rPr>
              <a:t>(u)</a:t>
            </a:r>
            <a:r>
              <a:rPr lang="zh-CN" altLang="en-US" sz="3200" dirty="0">
                <a:solidFill>
                  <a:srgbClr val="006699"/>
                </a:solidFill>
                <a:latin typeface="+mn-lt"/>
              </a:rPr>
              <a:t>。 </a:t>
            </a:r>
            <a:endParaRPr lang="en-US" altLang="zh-CN" sz="3200" dirty="0">
              <a:solidFill>
                <a:srgbClr val="006699"/>
              </a:solidFill>
              <a:latin typeface="+mn-lt"/>
            </a:endParaRPr>
          </a:p>
          <a:p>
            <a:r>
              <a:rPr lang="zh-CN" altLang="en-US" sz="3200" dirty="0">
                <a:solidFill>
                  <a:srgbClr val="006699"/>
                </a:solidFill>
                <a:latin typeface="+mn-lt"/>
              </a:rPr>
              <a:t>若</a:t>
            </a:r>
            <a:r>
              <a:rPr lang="en-US" altLang="zh-CN" sz="3200" dirty="0">
                <a:solidFill>
                  <a:srgbClr val="006699"/>
                </a:solidFill>
                <a:latin typeface="+mn-lt"/>
              </a:rPr>
              <a:t>Z</a:t>
            </a:r>
            <a:r>
              <a:rPr lang="zh-CN" altLang="en-US" sz="3200" dirty="0">
                <a:solidFill>
                  <a:srgbClr val="006699"/>
                </a:solidFill>
                <a:latin typeface="+mn-lt"/>
              </a:rPr>
              <a:t>取值于有限区间</a:t>
            </a:r>
            <a:r>
              <a:rPr lang="en-US" altLang="zh-CN" sz="3200" dirty="0">
                <a:solidFill>
                  <a:srgbClr val="006699"/>
                </a:solidFill>
                <a:latin typeface="+mn-lt"/>
              </a:rPr>
              <a:t>[</a:t>
            </a:r>
            <a:r>
              <a:rPr lang="en-US" altLang="zh-CN" sz="3200" dirty="0" err="1">
                <a:solidFill>
                  <a:srgbClr val="006699"/>
                </a:solidFill>
                <a:latin typeface="+mn-lt"/>
              </a:rPr>
              <a:t>a,b</a:t>
            </a:r>
            <a:r>
              <a:rPr lang="en-US" altLang="zh-CN" sz="3200" dirty="0">
                <a:solidFill>
                  <a:srgbClr val="006699"/>
                </a:solidFill>
                <a:latin typeface="+mn-lt"/>
              </a:rPr>
              <a:t>]</a:t>
            </a:r>
            <a:r>
              <a:rPr lang="zh-CN" altLang="en-US" sz="3200" dirty="0">
                <a:solidFill>
                  <a:srgbClr val="006699"/>
                </a:solidFill>
                <a:latin typeface="+mn-lt"/>
              </a:rPr>
              <a:t>且密度函数</a:t>
            </a:r>
            <a:r>
              <a:rPr lang="en-US" altLang="zh-CN" sz="3200" i="1" dirty="0">
                <a:solidFill>
                  <a:srgbClr val="006699"/>
                </a:solidFill>
                <a:latin typeface="+mn-lt"/>
              </a:rPr>
              <a:t>p</a:t>
            </a:r>
            <a:r>
              <a:rPr lang="en-US" altLang="zh-CN" sz="3200" dirty="0">
                <a:solidFill>
                  <a:srgbClr val="006699"/>
                </a:solidFill>
                <a:latin typeface="+mn-lt"/>
              </a:rPr>
              <a:t>(x)</a:t>
            </a:r>
            <a:r>
              <a:rPr lang="zh-CN" altLang="en-US" sz="3200" dirty="0">
                <a:solidFill>
                  <a:srgbClr val="006699"/>
                </a:solidFill>
                <a:latin typeface="+mn-lt"/>
              </a:rPr>
              <a:t>有上界</a:t>
            </a:r>
            <a:r>
              <a:rPr lang="en-US" altLang="zh-CN" sz="3200" dirty="0">
                <a:solidFill>
                  <a:srgbClr val="006699"/>
                </a:solidFill>
                <a:latin typeface="+mn-lt"/>
              </a:rPr>
              <a:t>M</a:t>
            </a:r>
            <a:endParaRPr lang="zh-CN" altLang="en-US" sz="3200" dirty="0">
              <a:solidFill>
                <a:srgbClr val="006699"/>
              </a:solidFill>
              <a:latin typeface="+mn-lt"/>
            </a:endParaRPr>
          </a:p>
        </p:txBody>
      </p:sp>
      <p:pic>
        <p:nvPicPr>
          <p:cNvPr id="9" name="图片 8">
            <a:extLst>
              <a:ext uri="{FF2B5EF4-FFF2-40B4-BE49-F238E27FC236}">
                <a16:creationId xmlns:a16="http://schemas.microsoft.com/office/drawing/2014/main" id="{EC89E1B6-22B1-4BC9-8CA2-CFB241FA6620}"/>
              </a:ext>
            </a:extLst>
          </p:cNvPr>
          <p:cNvPicPr>
            <a:picLocks noChangeAspect="1"/>
          </p:cNvPicPr>
          <p:nvPr/>
        </p:nvPicPr>
        <p:blipFill>
          <a:blip r:embed="rId3"/>
          <a:stretch>
            <a:fillRect/>
          </a:stretch>
        </p:blipFill>
        <p:spPr>
          <a:xfrm>
            <a:off x="2292802" y="2075948"/>
            <a:ext cx="3612245" cy="576186"/>
          </a:xfrm>
          <a:prstGeom prst="rect">
            <a:avLst/>
          </a:prstGeom>
        </p:spPr>
      </p:pic>
      <p:sp>
        <p:nvSpPr>
          <p:cNvPr id="7" name="标题 1">
            <a:extLst>
              <a:ext uri="{FF2B5EF4-FFF2-40B4-BE49-F238E27FC236}">
                <a16:creationId xmlns:a16="http://schemas.microsoft.com/office/drawing/2014/main" id="{E78D7954-D9D5-4658-9EFE-D48AFAEF5D1B}"/>
              </a:ext>
            </a:extLst>
          </p:cNvPr>
          <p:cNvSpPr>
            <a:spLocks noGrp="1" noChangeArrowheads="1"/>
          </p:cNvSpPr>
          <p:nvPr>
            <p:ph type="title"/>
          </p:nvPr>
        </p:nvSpPr>
        <p:spPr>
          <a:xfrm>
            <a:off x="80755" y="138652"/>
            <a:ext cx="8982490" cy="642938"/>
          </a:xfrm>
        </p:spPr>
        <p:txBody>
          <a:bodyPr/>
          <a:lstStyle/>
          <a:p>
            <a:pPr algn="l" defTabSz="513080" fontAlgn="base">
              <a:spcAft>
                <a:spcPct val="0"/>
              </a:spcAft>
            </a:pPr>
            <a:r>
              <a:rPr lang="en-US" altLang="zh-CN" sz="3200" dirty="0"/>
              <a:t>2.3.5 </a:t>
            </a:r>
            <a:r>
              <a:rPr lang="zh-CN" altLang="en-US" sz="3200" dirty="0"/>
              <a:t>舍选法</a:t>
            </a:r>
            <a:r>
              <a:rPr lang="en-US" altLang="zh-CN" sz="3200" dirty="0"/>
              <a:t>(The Acceptance-Rejection Method)</a:t>
            </a:r>
            <a:endParaRPr lang="zh-CN" altLang="en-US" sz="3200" dirty="0"/>
          </a:p>
        </p:txBody>
      </p:sp>
      <p:pic>
        <p:nvPicPr>
          <p:cNvPr id="5" name="图片 4">
            <a:extLst>
              <a:ext uri="{FF2B5EF4-FFF2-40B4-BE49-F238E27FC236}">
                <a16:creationId xmlns:a16="http://schemas.microsoft.com/office/drawing/2014/main" id="{17AFCEE1-6AD6-4E46-B606-E5ED989CD0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110" y="3422601"/>
            <a:ext cx="2933333" cy="2685714"/>
          </a:xfrm>
          <a:prstGeom prst="rect">
            <a:avLst/>
          </a:prstGeom>
        </p:spPr>
      </p:pic>
    </p:spTree>
    <p:extLst>
      <p:ext uri="{BB962C8B-B14F-4D97-AF65-F5344CB8AC3E}">
        <p14:creationId xmlns:p14="http://schemas.microsoft.com/office/powerpoint/2010/main" val="8720853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r>
              <a:rPr lang="en-US" altLang="zh-CN" dirty="0"/>
              <a:t>I</a:t>
            </a:r>
            <a:endParaRPr lang="zh-CN" altLang="en-US" dirty="0"/>
          </a:p>
        </p:txBody>
      </p:sp>
      <p:sp>
        <p:nvSpPr>
          <p:cNvPr id="4" name="矩形 3">
            <a:extLst>
              <a:ext uri="{FF2B5EF4-FFF2-40B4-BE49-F238E27FC236}">
                <a16:creationId xmlns:a16="http://schemas.microsoft.com/office/drawing/2014/main" id="{4D55BD05-673A-4717-80AE-86301A580BFF}"/>
              </a:ext>
            </a:extLst>
          </p:cNvPr>
          <p:cNvSpPr/>
          <p:nvPr/>
        </p:nvSpPr>
        <p:spPr>
          <a:xfrm>
            <a:off x="296525" y="1088740"/>
            <a:ext cx="8847475" cy="1569660"/>
          </a:xfrm>
          <a:prstGeom prst="rect">
            <a:avLst/>
          </a:prstGeom>
        </p:spPr>
        <p:txBody>
          <a:bodyPr wrap="square">
            <a:spAutoFit/>
          </a:bodyPr>
          <a:lstStyle/>
          <a:p>
            <a:r>
              <a:rPr lang="zh-CN" altLang="en-US" sz="3200" b="1" dirty="0">
                <a:solidFill>
                  <a:srgbClr val="FF0000"/>
                </a:solidFill>
                <a:latin typeface="Verdana" panose="020B0604030504040204" pitchFamily="34" charset="0"/>
              </a:rPr>
              <a:t>定理</a:t>
            </a:r>
            <a:r>
              <a:rPr lang="en-US" altLang="zh-CN" sz="3200" b="1" dirty="0">
                <a:solidFill>
                  <a:srgbClr val="FF0000"/>
                </a:solidFill>
                <a:latin typeface="Verdana" panose="020B0604030504040204" pitchFamily="34" charset="0"/>
              </a:rPr>
              <a:t>6.6 </a:t>
            </a:r>
            <a:r>
              <a:rPr lang="zh-CN" altLang="en-US" sz="3200" dirty="0">
                <a:solidFill>
                  <a:srgbClr val="006699"/>
                </a:solidFill>
                <a:latin typeface="Verdana" panose="020B0604030504040204" pitchFamily="34" charset="0"/>
              </a:rPr>
              <a:t>舍选法</a:t>
            </a:r>
            <a:r>
              <a:rPr lang="en-US" altLang="zh-CN" sz="32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产生的</a:t>
            </a:r>
            <a:r>
              <a:rPr lang="en-US" altLang="zh-CN" sz="3200" dirty="0">
                <a:solidFill>
                  <a:srgbClr val="006699"/>
                </a:solidFill>
                <a:latin typeface="Verdana" panose="020B0604030504040204" pitchFamily="34" charset="0"/>
              </a:rPr>
              <a:t>Z</a:t>
            </a:r>
            <a:r>
              <a:rPr lang="zh-CN" altLang="en-US" sz="3200" dirty="0">
                <a:solidFill>
                  <a:srgbClr val="006699"/>
                </a:solidFill>
                <a:latin typeface="Verdana" panose="020B0604030504040204" pitchFamily="34" charset="0"/>
              </a:rPr>
              <a:t>密度为</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算法所需的</a:t>
            </a:r>
            <a:r>
              <a:rPr lang="zh-CN" altLang="en-US" sz="3200" b="1" dirty="0">
                <a:solidFill>
                  <a:srgbClr val="006699"/>
                </a:solidFill>
                <a:latin typeface="Verdana" panose="020B0604030504040204" pitchFamily="34" charset="0"/>
              </a:rPr>
              <a:t>迭代次数</a:t>
            </a:r>
            <a:r>
              <a:rPr lang="zh-CN" altLang="en-US" sz="3200" dirty="0">
                <a:solidFill>
                  <a:srgbClr val="006699"/>
                </a:solidFill>
                <a:latin typeface="Verdana" panose="020B0604030504040204" pitchFamily="34" charset="0"/>
              </a:rPr>
              <a:t>是均值为</a:t>
            </a:r>
            <a:r>
              <a:rPr lang="en-US" altLang="zh-CN" sz="3200" dirty="0">
                <a:solidFill>
                  <a:srgbClr val="006699"/>
                </a:solidFill>
                <a:latin typeface="Verdana" panose="020B0604030504040204" pitchFamily="34" charset="0"/>
              </a:rPr>
              <a:t>M(b−a)</a:t>
            </a:r>
            <a:r>
              <a:rPr lang="zh-CN" altLang="en-US" sz="3200" dirty="0">
                <a:solidFill>
                  <a:srgbClr val="006699"/>
                </a:solidFill>
                <a:latin typeface="Verdana" panose="020B0604030504040204" pitchFamily="34" charset="0"/>
              </a:rPr>
              <a:t>的几何分布随机变量。</a:t>
            </a:r>
          </a:p>
        </p:txBody>
      </p:sp>
    </p:spTree>
    <p:extLst>
      <p:ext uri="{BB962C8B-B14F-4D97-AF65-F5344CB8AC3E}">
        <p14:creationId xmlns:p14="http://schemas.microsoft.com/office/powerpoint/2010/main" val="34191909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p>
        </p:txBody>
      </p:sp>
      <p:pic>
        <p:nvPicPr>
          <p:cNvPr id="2" name="图片 1">
            <a:extLst>
              <a:ext uri="{FF2B5EF4-FFF2-40B4-BE49-F238E27FC236}">
                <a16:creationId xmlns:a16="http://schemas.microsoft.com/office/drawing/2014/main" id="{4FA5256F-C5D8-44A9-A1E3-A09897691CF5}"/>
              </a:ext>
            </a:extLst>
          </p:cNvPr>
          <p:cNvPicPr>
            <a:picLocks noChangeAspect="1"/>
          </p:cNvPicPr>
          <p:nvPr/>
        </p:nvPicPr>
        <p:blipFill>
          <a:blip r:embed="rId2"/>
          <a:stretch>
            <a:fillRect/>
          </a:stretch>
        </p:blipFill>
        <p:spPr>
          <a:xfrm>
            <a:off x="454092" y="1047556"/>
            <a:ext cx="7766860" cy="3073310"/>
          </a:xfrm>
          <a:prstGeom prst="rect">
            <a:avLst/>
          </a:prstGeom>
        </p:spPr>
      </p:pic>
      <p:pic>
        <p:nvPicPr>
          <p:cNvPr id="4" name="图片 3">
            <a:extLst>
              <a:ext uri="{FF2B5EF4-FFF2-40B4-BE49-F238E27FC236}">
                <a16:creationId xmlns:a16="http://schemas.microsoft.com/office/drawing/2014/main" id="{C7C962B2-8812-4B4C-8E79-41CCF80B89F7}"/>
              </a:ext>
            </a:extLst>
          </p:cNvPr>
          <p:cNvPicPr>
            <a:picLocks noChangeAspect="1"/>
          </p:cNvPicPr>
          <p:nvPr/>
        </p:nvPicPr>
        <p:blipFill>
          <a:blip r:embed="rId3"/>
          <a:stretch>
            <a:fillRect/>
          </a:stretch>
        </p:blipFill>
        <p:spPr>
          <a:xfrm>
            <a:off x="5877145" y="4419110"/>
            <a:ext cx="2742857" cy="1571429"/>
          </a:xfrm>
          <a:prstGeom prst="rect">
            <a:avLst/>
          </a:prstGeom>
        </p:spPr>
      </p:pic>
    </p:spTree>
    <p:extLst>
      <p:ext uri="{BB962C8B-B14F-4D97-AF65-F5344CB8AC3E}">
        <p14:creationId xmlns:p14="http://schemas.microsoft.com/office/powerpoint/2010/main" val="17621411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42172C-A61F-4C39-91C5-7F5ABA23F56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2C59B38-3777-417B-A245-7928DA5246D9}"/>
              </a:ext>
            </a:extLst>
          </p:cNvPr>
          <p:cNvSpPr>
            <a:spLocks noGrp="1"/>
          </p:cNvSpPr>
          <p:nvPr>
            <p:ph idx="1"/>
          </p:nvPr>
        </p:nvSpPr>
        <p:spPr/>
        <p:txBody>
          <a:bodyPr/>
          <a:lstStyle/>
          <a:p>
            <a:endParaRPr lang="zh-CN" altLang="en-US"/>
          </a:p>
        </p:txBody>
      </p:sp>
      <p:pic>
        <p:nvPicPr>
          <p:cNvPr id="12290" name="Picture 2" descr="https://www.math.pku.edu.cn/teachers/lidf/docs/statcomp/html/_statcompbook/0215-rng-nonuni_files/figure-html/unnamed-chunk-38-1.png">
            <a:extLst>
              <a:ext uri="{FF2B5EF4-FFF2-40B4-BE49-F238E27FC236}">
                <a16:creationId xmlns:a16="http://schemas.microsoft.com/office/drawing/2014/main" id="{6C61C671-E477-463E-B428-373D4EC8C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87522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r>
              <a:rPr lang="en-US" altLang="zh-CN" dirty="0"/>
              <a:t>I</a:t>
            </a:r>
            <a:endParaRPr lang="zh-CN" altLang="en-US" dirty="0"/>
          </a:p>
        </p:txBody>
      </p:sp>
      <p:sp>
        <p:nvSpPr>
          <p:cNvPr id="4" name="矩形 3">
            <a:extLst>
              <a:ext uri="{FF2B5EF4-FFF2-40B4-BE49-F238E27FC236}">
                <a16:creationId xmlns:a16="http://schemas.microsoft.com/office/drawing/2014/main" id="{4D55BD05-673A-4717-80AE-86301A580BFF}"/>
              </a:ext>
            </a:extLst>
          </p:cNvPr>
          <p:cNvSpPr/>
          <p:nvPr/>
        </p:nvSpPr>
        <p:spPr>
          <a:xfrm>
            <a:off x="296525" y="1088740"/>
            <a:ext cx="8847475" cy="5016758"/>
          </a:xfrm>
          <a:prstGeom prst="rect">
            <a:avLst/>
          </a:prstGeom>
        </p:spPr>
        <p:txBody>
          <a:bodyPr wrap="square">
            <a:spAutoFit/>
          </a:bodyPr>
          <a:lstStyle/>
          <a:p>
            <a:pPr marL="457200" indent="-457200">
              <a:buFont typeface="Arial" panose="020B0604020202020204" pitchFamily="34" charset="0"/>
              <a:buChar char="•"/>
            </a:pPr>
            <a:r>
              <a:rPr lang="zh-CN" altLang="en-US" sz="3200" b="1" dirty="0">
                <a:solidFill>
                  <a:srgbClr val="FF0000"/>
                </a:solidFill>
                <a:latin typeface="Verdana" panose="020B0604030504040204" pitchFamily="34" charset="0"/>
              </a:rPr>
              <a:t>舍选法</a:t>
            </a:r>
            <a:r>
              <a:rPr lang="en-US" altLang="zh-CN" sz="3200" b="1" dirty="0">
                <a:solidFill>
                  <a:srgbClr val="FF0000"/>
                </a:solidFill>
                <a:latin typeface="Verdana" panose="020B0604030504040204" pitchFamily="34" charset="0"/>
              </a:rPr>
              <a:t>I</a:t>
            </a:r>
            <a:r>
              <a:rPr lang="zh-CN" altLang="en-US" sz="3200" b="1" dirty="0">
                <a:solidFill>
                  <a:srgbClr val="FF0000"/>
                </a:solidFill>
                <a:latin typeface="Verdana" panose="020B0604030504040204" pitchFamily="34" charset="0"/>
              </a:rPr>
              <a:t>的优点：</a:t>
            </a:r>
            <a:r>
              <a:rPr lang="zh-CN" altLang="en-US" sz="3200" dirty="0">
                <a:solidFill>
                  <a:srgbClr val="006699"/>
                </a:solidFill>
                <a:latin typeface="Verdana" panose="020B0604030504040204" pitchFamily="34" charset="0"/>
              </a:rPr>
              <a:t>只要随机变量在有限区间取值且密度函数有界就可以使用这种方法</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b="1" dirty="0">
                <a:solidFill>
                  <a:srgbClr val="FF0000"/>
                </a:solidFill>
                <a:latin typeface="Verdana" panose="020B0604030504040204" pitchFamily="34" charset="0"/>
              </a:rPr>
              <a:t>舍选法</a:t>
            </a:r>
            <a:r>
              <a:rPr lang="en-US" altLang="zh-CN" sz="3200" b="1" dirty="0">
                <a:solidFill>
                  <a:srgbClr val="FF0000"/>
                </a:solidFill>
                <a:latin typeface="Verdana" panose="020B0604030504040204" pitchFamily="34" charset="0"/>
              </a:rPr>
              <a:t>I</a:t>
            </a:r>
            <a:r>
              <a:rPr lang="zh-CN" altLang="en-US" sz="3200" b="1" dirty="0">
                <a:solidFill>
                  <a:srgbClr val="FF0000"/>
                </a:solidFill>
                <a:latin typeface="Verdana" panose="020B0604030504040204" pitchFamily="34" charset="0"/>
              </a:rPr>
              <a:t>缺点</a:t>
            </a:r>
            <a:r>
              <a:rPr lang="zh-CN" altLang="en-US" sz="3200" b="1" dirty="0">
                <a:solidFill>
                  <a:srgbClr val="006699"/>
                </a:solidFill>
                <a:latin typeface="Verdana" panose="020B0604030504040204" pitchFamily="34" charset="0"/>
              </a:rPr>
              <a:t>： </a:t>
            </a:r>
            <a:endParaRPr lang="en-US" altLang="zh-CN" sz="3200" b="1"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首先，</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的取值范围必须有界； </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其次，</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的密度</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必须有界； </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第三， 当算法中</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取到</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值很小的位置时， 被拒绝的概率很大</a:t>
            </a:r>
            <a:r>
              <a:rPr lang="en-US" altLang="zh-CN" sz="3200" dirty="0">
                <a:solidFill>
                  <a:srgbClr val="006699"/>
                </a:solidFill>
                <a:latin typeface="Verdana" panose="020B0604030504040204" pitchFamily="34" charset="0"/>
              </a:rPr>
              <a:t>, X</a:t>
            </a:r>
            <a:r>
              <a:rPr lang="zh-CN" altLang="en-US" sz="3200" dirty="0">
                <a:solidFill>
                  <a:srgbClr val="006699"/>
                </a:solidFill>
                <a:latin typeface="Verdana" panose="020B0604030504040204" pitchFamily="34" charset="0"/>
              </a:rPr>
              <a:t>被接受的概率实际是曲线</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下的面积和整个矩形面积之比， 当</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高低变化很大时这个比例很低， 算法效率很差。</a:t>
            </a:r>
          </a:p>
        </p:txBody>
      </p:sp>
    </p:spTree>
    <p:extLst>
      <p:ext uri="{BB962C8B-B14F-4D97-AF65-F5344CB8AC3E}">
        <p14:creationId xmlns:p14="http://schemas.microsoft.com/office/powerpoint/2010/main" val="32310875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r>
              <a:rPr lang="en-US" altLang="zh-CN" dirty="0"/>
              <a:t>II</a:t>
            </a:r>
            <a:endParaRPr lang="zh-CN" altLang="en-US" dirty="0"/>
          </a:p>
        </p:txBody>
      </p:sp>
      <p:sp>
        <p:nvSpPr>
          <p:cNvPr id="5" name="文本框 4">
            <a:extLst>
              <a:ext uri="{FF2B5EF4-FFF2-40B4-BE49-F238E27FC236}">
                <a16:creationId xmlns:a16="http://schemas.microsoft.com/office/drawing/2014/main" id="{5A3D8569-0009-48BA-8B31-83E32FBF089B}"/>
              </a:ext>
            </a:extLst>
          </p:cNvPr>
          <p:cNvSpPr txBox="1"/>
          <p:nvPr/>
        </p:nvSpPr>
        <p:spPr>
          <a:xfrm>
            <a:off x="0" y="998730"/>
            <a:ext cx="9027495" cy="3539430"/>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为解决第一个和第二个问题， 抽取</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时从一个一般密度</a:t>
            </a:r>
            <a:r>
              <a:rPr lang="en-US" altLang="zh-CN" sz="3200" dirty="0">
                <a:solidFill>
                  <a:srgbClr val="006699"/>
                </a:solidFill>
                <a:latin typeface="Verdana" panose="020B0604030504040204" pitchFamily="34" charset="0"/>
              </a:rPr>
              <a:t>g(x)</a:t>
            </a:r>
            <a:r>
              <a:rPr lang="zh-CN" altLang="en-US" sz="3200" dirty="0">
                <a:solidFill>
                  <a:srgbClr val="006699"/>
                </a:solidFill>
                <a:latin typeface="Verdana" panose="020B0604030504040204" pitchFamily="34" charset="0"/>
              </a:rPr>
              <a:t>抽取， 称这密度为“</a:t>
            </a:r>
            <a:r>
              <a:rPr lang="zh-CN" altLang="en-US" sz="3200" dirty="0">
                <a:solidFill>
                  <a:srgbClr val="FF0000"/>
                </a:solidFill>
                <a:latin typeface="Verdana" panose="020B0604030504040204" pitchFamily="34" charset="0"/>
              </a:rPr>
              <a:t>试投密度</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要求</a:t>
            </a:r>
            <a:r>
              <a:rPr lang="en-US" altLang="zh-CN" sz="3200" dirty="0">
                <a:solidFill>
                  <a:srgbClr val="006699"/>
                </a:solidFill>
                <a:latin typeface="Verdana" panose="020B0604030504040204" pitchFamily="34" charset="0"/>
              </a:rPr>
              <a:t>g(x)</a:t>
            </a:r>
            <a:r>
              <a:rPr lang="zh-CN" altLang="en-US" sz="3200" dirty="0">
                <a:solidFill>
                  <a:srgbClr val="006699"/>
                </a:solidFill>
                <a:latin typeface="Verdana" panose="020B0604030504040204" pitchFamily="34" charset="0"/>
              </a:rPr>
              <a:t>的随机数容易生成。 </a:t>
            </a:r>
            <a:endParaRPr lang="en-US" altLang="zh-CN" sz="3200" dirty="0">
              <a:solidFill>
                <a:srgbClr val="006699"/>
              </a:solidFill>
              <a:latin typeface="Verdana" panose="020B0604030504040204" pitchFamily="34" charset="0"/>
            </a:endParaRPr>
          </a:p>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为解决第三个问题， 使得</a:t>
            </a:r>
            <a:r>
              <a:rPr lang="en-US" altLang="zh-CN" sz="3200" dirty="0">
                <a:solidFill>
                  <a:srgbClr val="006699"/>
                </a:solidFill>
                <a:latin typeface="Verdana" panose="020B0604030504040204" pitchFamily="34" charset="0"/>
              </a:rPr>
              <a:t>g(x)</a:t>
            </a:r>
            <a:r>
              <a:rPr lang="zh-CN" altLang="en-US" sz="3200" dirty="0">
                <a:solidFill>
                  <a:srgbClr val="006699"/>
                </a:solidFill>
                <a:latin typeface="Verdana" panose="020B0604030504040204" pitchFamily="34" charset="0"/>
              </a:rPr>
              <a:t>形状与</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相像</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即</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大时相应</a:t>
            </a:r>
            <a:r>
              <a:rPr lang="en-US" altLang="zh-CN" sz="3200" dirty="0">
                <a:solidFill>
                  <a:srgbClr val="006699"/>
                </a:solidFill>
                <a:latin typeface="Verdana" panose="020B0604030504040204" pitchFamily="34" charset="0"/>
              </a:rPr>
              <a:t>g(x)</a:t>
            </a:r>
            <a:r>
              <a:rPr lang="zh-CN" altLang="en-US" sz="3200" dirty="0">
                <a:solidFill>
                  <a:srgbClr val="006699"/>
                </a:solidFill>
                <a:latin typeface="Verdana" panose="020B0604030504040204" pitchFamily="34" charset="0"/>
              </a:rPr>
              <a:t>也大， </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p(x)</a:t>
            </a:r>
            <a:r>
              <a:rPr lang="zh-CN" altLang="en-US" sz="3200" dirty="0">
                <a:solidFill>
                  <a:srgbClr val="006699"/>
                </a:solidFill>
                <a:latin typeface="Verdana" panose="020B0604030504040204" pitchFamily="34" charset="0"/>
              </a:rPr>
              <a:t>小时相应</a:t>
            </a:r>
            <a:r>
              <a:rPr lang="en-US" altLang="zh-CN" sz="3200" dirty="0">
                <a:solidFill>
                  <a:srgbClr val="006699"/>
                </a:solidFill>
                <a:latin typeface="Verdana" panose="020B0604030504040204" pitchFamily="34" charset="0"/>
              </a:rPr>
              <a:t>g(x)</a:t>
            </a:r>
            <a:r>
              <a:rPr lang="zh-CN" altLang="en-US" sz="3200" dirty="0">
                <a:solidFill>
                  <a:srgbClr val="006699"/>
                </a:solidFill>
                <a:latin typeface="Verdana" panose="020B0604030504040204" pitchFamily="34" charset="0"/>
              </a:rPr>
              <a:t>也小</a:t>
            </a:r>
            <a:endParaRPr lang="en-US" altLang="zh-CN" sz="3200" dirty="0">
              <a:solidFill>
                <a:srgbClr val="006699"/>
              </a:solidFill>
              <a:latin typeface="Verdana" panose="020B0604030504040204" pitchFamily="34" charset="0"/>
            </a:endParaRPr>
          </a:p>
          <a:p>
            <a:r>
              <a:rPr lang="en-US" altLang="zh-CN" sz="3200" dirty="0">
                <a:solidFill>
                  <a:srgbClr val="006699"/>
                </a:solidFill>
                <a:latin typeface="Verdana" panose="020B0604030504040204" pitchFamily="34" charset="0"/>
              </a:rPr>
              <a:t>      </a:t>
            </a:r>
            <a:r>
              <a:rPr lang="zh-CN" altLang="en-US" sz="3200" dirty="0">
                <a:solidFill>
                  <a:srgbClr val="006699"/>
                </a:solidFill>
                <a:latin typeface="Verdana" panose="020B0604030504040204" pitchFamily="34" charset="0"/>
              </a:rPr>
              <a:t>目标密度小的地方尝试抽取</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也少</a:t>
            </a:r>
          </a:p>
        </p:txBody>
      </p:sp>
    </p:spTree>
    <p:extLst>
      <p:ext uri="{BB962C8B-B14F-4D97-AF65-F5344CB8AC3E}">
        <p14:creationId xmlns:p14="http://schemas.microsoft.com/office/powerpoint/2010/main" val="40620592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r>
              <a:rPr lang="en-US" altLang="zh-CN" dirty="0"/>
              <a:t>II</a:t>
            </a:r>
            <a:endParaRPr lang="zh-CN" altLang="en-US" dirty="0"/>
          </a:p>
        </p:txBody>
      </p:sp>
      <p:sp>
        <p:nvSpPr>
          <p:cNvPr id="5" name="文本框 4">
            <a:extLst>
              <a:ext uri="{FF2B5EF4-FFF2-40B4-BE49-F238E27FC236}">
                <a16:creationId xmlns:a16="http://schemas.microsoft.com/office/drawing/2014/main" id="{5A3D8569-0009-48BA-8B31-83E32FBF089B}"/>
              </a:ext>
            </a:extLst>
          </p:cNvPr>
          <p:cNvSpPr txBox="1"/>
          <p:nvPr/>
        </p:nvSpPr>
        <p:spPr>
          <a:xfrm>
            <a:off x="33932" y="1076355"/>
            <a:ext cx="8595955" cy="2062103"/>
          </a:xfrm>
          <a:prstGeom prst="rect">
            <a:avLst/>
          </a:prstGeom>
          <a:noFill/>
          <a:ln w="25400">
            <a:noFill/>
          </a:ln>
        </p:spPr>
        <p:txBody>
          <a:bodyPr wrap="square">
            <a:spAutoFit/>
          </a:bodyPr>
          <a:lstStyle/>
          <a:p>
            <a:r>
              <a:rPr lang="zh-CN" altLang="en-US" sz="3200" dirty="0">
                <a:solidFill>
                  <a:srgbClr val="006699"/>
                </a:solidFill>
                <a:latin typeface="Verdana" panose="020B0604030504040204" pitchFamily="34" charset="0"/>
              </a:rPr>
              <a:t>目标密度</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要生成随机数的密度</a:t>
            </a:r>
            <a:r>
              <a:rPr lang="en-US" altLang="zh-CN" sz="3200" dirty="0">
                <a:solidFill>
                  <a:srgbClr val="006699"/>
                </a:solidFill>
                <a:latin typeface="Verdana" panose="020B0604030504040204" pitchFamily="34" charset="0"/>
              </a:rPr>
              <a:t>)</a:t>
            </a:r>
            <a:r>
              <a:rPr lang="en-US" altLang="zh-CN" sz="3200" i="1" dirty="0">
                <a:solidFill>
                  <a:srgbClr val="006699"/>
                </a:solidFill>
                <a:latin typeface="Verdana" panose="020B0604030504040204" pitchFamily="34" charset="0"/>
              </a:rPr>
              <a:t>p</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可能本身是未知的， 只知道</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其中</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为未知常数。 </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要求存在</a:t>
            </a:r>
            <a:r>
              <a:rPr lang="zh-CN" altLang="en-US" sz="3200" dirty="0">
                <a:solidFill>
                  <a:srgbClr val="FF0000"/>
                </a:solidFill>
                <a:latin typeface="Verdana" panose="020B0604030504040204" pitchFamily="34" charset="0"/>
              </a:rPr>
              <a:t>常数</a:t>
            </a:r>
            <a:r>
              <a:rPr lang="en-US" altLang="zh-CN" sz="3200" dirty="0">
                <a:solidFill>
                  <a:srgbClr val="FF0000"/>
                </a:solidFill>
                <a:latin typeface="Verdana" panose="020B0604030504040204" pitchFamily="34" charset="0"/>
              </a:rPr>
              <a:t>c</a:t>
            </a:r>
            <a:r>
              <a:rPr lang="zh-CN" altLang="en-US" sz="3200" dirty="0">
                <a:solidFill>
                  <a:srgbClr val="006699"/>
                </a:solidFill>
                <a:latin typeface="Verdana" panose="020B0604030504040204" pitchFamily="34" charset="0"/>
              </a:rPr>
              <a:t>使得</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355F1D2-AC6A-4FF9-B904-C0E4D2D7F162}"/>
                  </a:ext>
                </a:extLst>
              </p:cNvPr>
              <p:cNvSpPr txBox="1"/>
              <p:nvPr/>
            </p:nvSpPr>
            <p:spPr>
              <a:xfrm>
                <a:off x="3615326" y="1584186"/>
                <a:ext cx="2395614"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800" i="1" smtClean="0">
                              <a:solidFill>
                                <a:srgbClr val="836967"/>
                              </a:solidFill>
                              <a:latin typeface="Cambria Math" panose="02040503050406030204" pitchFamily="18" charset="0"/>
                            </a:rPr>
                          </m:ctrlPr>
                        </m:dPr>
                        <m:e>
                          <m:d>
                            <m:dPr>
                              <m:begChr m:val=""/>
                              <m:endChr m:val=""/>
                              <m:ctrlPr>
                                <a:rPr lang="zh-CN" altLang="en-US" sz="2800" i="1">
                                  <a:solidFill>
                                    <a:srgbClr val="836967"/>
                                  </a:solidFill>
                                  <a:latin typeface="Cambria Math" panose="02040503050406030204" pitchFamily="18" charset="0"/>
                                </a:rPr>
                              </m:ctrlPr>
                            </m:dPr>
                            <m:e>
                              <m:acc>
                                <m:accPr>
                                  <m:chr m:val="̃"/>
                                  <m:ctrlPr>
                                    <a:rPr lang="zh-CN" altLang="en-US" sz="2800" i="1">
                                      <a:solidFill>
                                        <a:srgbClr val="836967"/>
                                      </a:solidFill>
                                      <a:latin typeface="Cambria Math" panose="02040503050406030204" pitchFamily="18" charset="0"/>
                                    </a:rPr>
                                  </m:ctrlPr>
                                </m:accPr>
                                <m:e>
                                  <m:r>
                                    <a:rPr lang="zh-CN" altLang="en-US" sz="2800" i="1">
                                      <a:latin typeface="Cambria Math" panose="02040503050406030204" pitchFamily="18" charset="0"/>
                                    </a:rPr>
                                    <m:t>𝑝</m:t>
                                  </m:r>
                                </m:e>
                              </m:acc>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r>
                                <a:rPr lang="zh-CN" altLang="en-US" sz="2800" i="1">
                                  <a:latin typeface="Cambria Math" panose="02040503050406030204" pitchFamily="18" charset="0"/>
                                </a:rPr>
                                <m:t>𝑥</m:t>
                              </m:r>
                              <m:r>
                                <a:rPr lang="zh-CN" altLang="en-US" sz="2800" i="0">
                                  <a:latin typeface="Cambria Math" panose="02040503050406030204" pitchFamily="18" charset="0"/>
                                </a:rPr>
                                <m:t>)</m:t>
                              </m:r>
                            </m:e>
                          </m:d>
                          <m:r>
                            <a:rPr lang="zh-CN" altLang="en-US" sz="2800" i="0">
                              <a:latin typeface="Cambria Math" panose="02040503050406030204" pitchFamily="18" charset="0"/>
                            </a:rPr>
                            <m:t>=</m:t>
                          </m:r>
                          <m:r>
                            <a:rPr lang="zh-CN" altLang="en-US" sz="2800" i="1">
                              <a:latin typeface="Cambria Math" panose="02040503050406030204" pitchFamily="18" charset="0"/>
                            </a:rPr>
                            <m:t>𝑎𝑝</m:t>
                          </m:r>
                          <m:d>
                            <m:dPr>
                              <m:begChr m:val=""/>
                              <m:endChr m:val=""/>
                              <m:ctrlPr>
                                <a:rPr lang="zh-CN" altLang="en-US" sz="2800" i="1">
                                  <a:latin typeface="Cambria Math" panose="02040503050406030204" pitchFamily="18" charset="0"/>
                                </a:rPr>
                              </m:ctrlPr>
                            </m:dPr>
                            <m:e>
                              <m:r>
                                <a:rPr lang="zh-CN" altLang="en-US" sz="2800" i="0">
                                  <a:latin typeface="Cambria Math" panose="02040503050406030204" pitchFamily="18" charset="0"/>
                                </a:rPr>
                                <m:t>(</m:t>
                              </m:r>
                            </m:e>
                          </m:d>
                          <m:r>
                            <a:rPr lang="zh-CN" altLang="en-US" sz="2800" i="1">
                              <a:latin typeface="Cambria Math" panose="02040503050406030204" pitchFamily="18" charset="0"/>
                            </a:rPr>
                            <m:t>𝑥</m:t>
                          </m:r>
                          <m:r>
                            <a:rPr lang="zh-CN" altLang="en-US" sz="2800" i="0">
                              <a:latin typeface="Cambria Math" panose="02040503050406030204" pitchFamily="18" charset="0"/>
                            </a:rPr>
                            <m:t>)</m:t>
                          </m:r>
                        </m:e>
                      </m:d>
                    </m:oMath>
                  </m:oMathPara>
                </a14:m>
                <a:endParaRPr lang="zh-CN" altLang="en-US" sz="2800" dirty="0"/>
              </a:p>
            </p:txBody>
          </p:sp>
        </mc:Choice>
        <mc:Fallback xmlns="">
          <p:sp>
            <p:nvSpPr>
              <p:cNvPr id="7" name="文本框 6">
                <a:extLst>
                  <a:ext uri="{FF2B5EF4-FFF2-40B4-BE49-F238E27FC236}">
                    <a16:creationId xmlns:a16="http://schemas.microsoft.com/office/drawing/2014/main" id="{0355F1D2-AC6A-4FF9-B904-C0E4D2D7F162}"/>
                  </a:ext>
                </a:extLst>
              </p:cNvPr>
              <p:cNvSpPr txBox="1">
                <a:spLocks noRot="1" noChangeAspect="1" noMove="1" noResize="1" noEditPoints="1" noAdjustHandles="1" noChangeArrowheads="1" noChangeShapeType="1" noTextEdit="1"/>
              </p:cNvSpPr>
              <p:nvPr/>
            </p:nvSpPr>
            <p:spPr>
              <a:xfrm>
                <a:off x="3615326" y="1584186"/>
                <a:ext cx="2395614" cy="523220"/>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62CA10DE-0E42-4313-8683-4574FACFDF0E}"/>
              </a:ext>
            </a:extLst>
          </p:cNvPr>
          <p:cNvPicPr>
            <a:picLocks noChangeAspect="1"/>
          </p:cNvPicPr>
          <p:nvPr/>
        </p:nvPicPr>
        <p:blipFill>
          <a:blip r:embed="rId3"/>
          <a:stretch>
            <a:fillRect/>
          </a:stretch>
        </p:blipFill>
        <p:spPr>
          <a:xfrm>
            <a:off x="2841501" y="3429000"/>
            <a:ext cx="2144106" cy="1125125"/>
          </a:xfrm>
          <a:prstGeom prst="rect">
            <a:avLst/>
          </a:prstGeom>
        </p:spPr>
      </p:pic>
      <p:sp>
        <p:nvSpPr>
          <p:cNvPr id="13" name="文本框 12">
            <a:extLst>
              <a:ext uri="{FF2B5EF4-FFF2-40B4-BE49-F238E27FC236}">
                <a16:creationId xmlns:a16="http://schemas.microsoft.com/office/drawing/2014/main" id="{3EF47810-329C-4FF8-9F5C-5A1816EAFE9C}"/>
              </a:ext>
            </a:extLst>
          </p:cNvPr>
          <p:cNvSpPr txBox="1"/>
          <p:nvPr/>
        </p:nvSpPr>
        <p:spPr>
          <a:xfrm>
            <a:off x="258867" y="4630322"/>
            <a:ext cx="8869978" cy="1569660"/>
          </a:xfrm>
          <a:prstGeom prst="rect">
            <a:avLst/>
          </a:prstGeom>
          <a:noFill/>
          <a:ln w="25400">
            <a:noFill/>
          </a:ln>
        </p:spPr>
        <p:txBody>
          <a:bodyPr wrap="square">
            <a:spAutoFit/>
          </a:bodyPr>
          <a:lstStyle/>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如果 </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    </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在接近       处有定义， 需要满足</a:t>
            </a:r>
            <a:endPar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endParaRPr>
          </a:p>
          <a:p>
            <a:endParaRPr lang="en-US" altLang="zh-CN" sz="3200" dirty="0">
              <a:solidFill>
                <a:srgbClr val="006699"/>
              </a:solidFill>
              <a:latin typeface="Verdana" panose="020B0604030504040204" pitchFamily="34" charset="0"/>
            </a:endParaRPr>
          </a:p>
          <a:p>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选取试投密度</a:t>
            </a:r>
            <a:r>
              <a:rPr kumimoji="0" lang="en-US" altLang="zh-CN" sz="3200" b="0" i="1"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g</a:t>
            </a:r>
            <a:r>
              <a:rPr lang="en-US" altLang="zh-CN" sz="3200" dirty="0">
                <a:solidFill>
                  <a:srgbClr val="006699"/>
                </a:solidFill>
                <a:latin typeface="Verdana" panose="020B0604030504040204" pitchFamily="34" charset="0"/>
              </a:rPr>
              <a:t>(.</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时上述常数</a:t>
            </a:r>
            <a:r>
              <a:rPr kumimoji="0" lang="en-US" altLang="zh-CN"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c</a:t>
            </a:r>
            <a:r>
              <a:rPr kumimoji="0" lang="zh-CN" altLang="en-US" sz="3200" b="0" i="0" u="none" strike="noStrike" kern="1200" cap="none" spc="0" normalizeH="0" baseline="0" noProof="0" dirty="0">
                <a:ln>
                  <a:noFill/>
                </a:ln>
                <a:solidFill>
                  <a:srgbClr val="006699"/>
                </a:solidFill>
                <a:effectLst/>
                <a:uLnTx/>
                <a:uFillTx/>
                <a:latin typeface="Verdana" panose="020B0604030504040204" pitchFamily="34" charset="0"/>
                <a:ea typeface="宋体" panose="02010600030101010101" pitchFamily="2" charset="-122"/>
                <a:cs typeface="+mn-cs"/>
              </a:rPr>
              <a:t>越小越好</a:t>
            </a:r>
            <a:endParaRPr lang="zh-CN" altLang="en-US"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638EE61-E0CA-4CF6-A1BD-7DD9EC859A44}"/>
                  </a:ext>
                </a:extLst>
              </p:cNvPr>
              <p:cNvSpPr txBox="1"/>
              <p:nvPr/>
            </p:nvSpPr>
            <p:spPr>
              <a:xfrm>
                <a:off x="1106615" y="4630322"/>
                <a:ext cx="699434" cy="46166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smtClean="0">
                              <a:solidFill>
                                <a:srgbClr val="836967"/>
                              </a:solidFill>
                              <a:latin typeface="Cambria Math" panose="02040503050406030204" pitchFamily="18" charset="0"/>
                            </a:rPr>
                          </m:ctrlPr>
                        </m:d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𝑝</m:t>
                              </m:r>
                            </m:e>
                          </m:acc>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𝑥</m:t>
                          </m:r>
                          <m:r>
                            <a:rPr lang="zh-CN" altLang="en-US" sz="2400" i="0">
                              <a:latin typeface="Cambria Math" panose="02040503050406030204" pitchFamily="18" charset="0"/>
                            </a:rPr>
                            <m:t>)</m:t>
                          </m:r>
                        </m:e>
                      </m:d>
                    </m:oMath>
                  </m:oMathPara>
                </a14:m>
                <a:endParaRPr lang="zh-CN" altLang="en-US" dirty="0"/>
              </a:p>
            </p:txBody>
          </p:sp>
        </mc:Choice>
        <mc:Fallback xmlns="">
          <p:sp>
            <p:nvSpPr>
              <p:cNvPr id="15" name="文本框 14">
                <a:extLst>
                  <a:ext uri="{FF2B5EF4-FFF2-40B4-BE49-F238E27FC236}">
                    <a16:creationId xmlns:a16="http://schemas.microsoft.com/office/drawing/2014/main" id="{4638EE61-E0CA-4CF6-A1BD-7DD9EC859A44}"/>
                  </a:ext>
                </a:extLst>
              </p:cNvPr>
              <p:cNvSpPr txBox="1">
                <a:spLocks noRot="1" noChangeAspect="1" noMove="1" noResize="1" noEditPoints="1" noAdjustHandles="1" noChangeArrowheads="1" noChangeShapeType="1" noTextEdit="1"/>
              </p:cNvSpPr>
              <p:nvPr/>
            </p:nvSpPr>
            <p:spPr>
              <a:xfrm>
                <a:off x="1106615" y="4630322"/>
                <a:ext cx="699434" cy="461665"/>
              </a:xfrm>
              <a:prstGeom prst="rect">
                <a:avLst/>
              </a:prstGeom>
              <a:blipFill>
                <a:blip r:embed="rId4"/>
                <a:stretch>
                  <a:fillRect l="-2632" r="-19298" b="-21333"/>
                </a:stretch>
              </a:blipFill>
              <a:ln w="25400">
                <a:noFill/>
              </a:ln>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38541C2C-D956-49C5-919C-094580F9ABF2}"/>
              </a:ext>
            </a:extLst>
          </p:cNvPr>
          <p:cNvPicPr>
            <a:picLocks noChangeAspect="1"/>
          </p:cNvPicPr>
          <p:nvPr/>
        </p:nvPicPr>
        <p:blipFill>
          <a:blip r:embed="rId5"/>
          <a:stretch>
            <a:fillRect/>
          </a:stretch>
        </p:blipFill>
        <p:spPr>
          <a:xfrm>
            <a:off x="3317098" y="4707177"/>
            <a:ext cx="596456" cy="384810"/>
          </a:xfrm>
          <a:prstGeom prst="rect">
            <a:avLst/>
          </a:prstGeom>
        </p:spPr>
      </p:pic>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6C4F452-3F43-436D-99D1-149EA40AD803}"/>
                  </a:ext>
                </a:extLst>
              </p:cNvPr>
              <p:cNvSpPr txBox="1"/>
              <p:nvPr/>
            </p:nvSpPr>
            <p:spPr>
              <a:xfrm>
                <a:off x="2541600" y="5127575"/>
                <a:ext cx="3835774" cy="46166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smtClean="0">
                              <a:solidFill>
                                <a:srgbClr val="836967"/>
                              </a:solidFill>
                              <a:latin typeface="Cambria Math" panose="02040503050406030204" pitchFamily="18" charset="0"/>
                            </a:rPr>
                          </m:ctrlPr>
                        </m:dPr>
                        <m:e>
                          <m:d>
                            <m:dPr>
                              <m:begChr m:val=""/>
                              <m:endChr m:val=""/>
                              <m:ctrlPr>
                                <a:rPr lang="zh-CN" altLang="en-US" sz="2400" i="1">
                                  <a:solidFill>
                                    <a:srgbClr val="836967"/>
                                  </a:solidFill>
                                  <a:latin typeface="Cambria Math" panose="02040503050406030204" pitchFamily="18" charset="0"/>
                                </a:rPr>
                              </m:ctrlPr>
                            </m:dPr>
                            <m:e>
                              <m:d>
                                <m:dPr>
                                  <m:begChr m:val=""/>
                                  <m:endChr m:val=""/>
                                  <m:ctrlPr>
                                    <a:rPr lang="zh-CN" altLang="en-US" sz="2400" i="1">
                                      <a:solidFill>
                                        <a:srgbClr val="836967"/>
                                      </a:solidFill>
                                      <a:latin typeface="Cambria Math" panose="02040503050406030204" pitchFamily="18" charset="0"/>
                                    </a:rPr>
                                  </m:ctrlPr>
                                </m:dPr>
                                <m:e>
                                  <m:d>
                                    <m:dPr>
                                      <m:begChr m:val=""/>
                                      <m:endChr m:val=""/>
                                      <m:ctrlPr>
                                        <a:rPr lang="zh-CN" altLang="en-US" sz="2400" i="1">
                                          <a:solidFill>
                                            <a:srgbClr val="836967"/>
                                          </a:solidFill>
                                          <a:latin typeface="Cambria Math" panose="02040503050406030204" pitchFamily="18" charset="0"/>
                                        </a:rPr>
                                      </m:ctrlPr>
                                    </m:d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𝑝</m:t>
                                          </m:r>
                                        </m:e>
                                      </m:acc>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𝑥</m:t>
                                      </m:r>
                                      <m:r>
                                        <a:rPr lang="zh-CN" altLang="en-US" sz="2400" i="0">
                                          <a:latin typeface="Cambria Math" panose="02040503050406030204" pitchFamily="18" charset="0"/>
                                        </a:rPr>
                                        <m:t>)</m:t>
                                      </m:r>
                                    </m:e>
                                  </m:d>
                                  <m:r>
                                    <a:rPr lang="zh-CN" altLang="en-US" sz="2400" i="0">
                                      <a:latin typeface="Cambria Math" panose="02040503050406030204" pitchFamily="18" charset="0"/>
                                    </a:rPr>
                                    <m:t>=</m:t>
                                  </m:r>
                                  <m:r>
                                    <a:rPr lang="zh-CN" altLang="en-US" sz="2400" i="1">
                                      <a:latin typeface="Cambria Math" panose="02040503050406030204" pitchFamily="18" charset="0"/>
                                    </a:rPr>
                                    <m:t>𝑂</m:t>
                                  </m:r>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𝑔</m:t>
                                  </m:r>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𝑥</m:t>
                                  </m:r>
                                  <m:r>
                                    <a:rPr lang="zh-CN" altLang="en-US" sz="2400" i="0">
                                      <a:latin typeface="Cambria Math" panose="02040503050406030204" pitchFamily="18" charset="0"/>
                                    </a:rPr>
                                    <m:t>)</m:t>
                                  </m:r>
                                </m:e>
                              </m:d>
                              <m:r>
                                <a:rPr lang="zh-CN" altLang="en-US" sz="2400" i="0">
                                  <a:latin typeface="Cambria Math" panose="02040503050406030204" pitchFamily="18" charset="0"/>
                                </a:rPr>
                                <m:t>)</m:t>
                              </m:r>
                            </m:e>
                          </m:d>
                          <m:d>
                            <m:dPr>
                              <m:begChr m:val=""/>
                              <m:endChr m:val=""/>
                              <m:ctrlPr>
                                <a:rPr lang="zh-CN" altLang="en-US" sz="2400" i="1">
                                  <a:latin typeface="Cambria Math" panose="02040503050406030204" pitchFamily="18" charset="0"/>
                                </a:rPr>
                              </m:ctrlPr>
                            </m:dPr>
                            <m:e>
                              <m:r>
                                <a:rPr lang="zh-CN" altLang="en-US" sz="2400" i="0">
                                  <a:latin typeface="Cambria Math" panose="02040503050406030204" pitchFamily="18" charset="0"/>
                                </a:rPr>
                                <m:t>(</m:t>
                              </m:r>
                            </m:e>
                          </m:d>
                          <m:r>
                            <a:rPr lang="zh-CN" altLang="en-US" sz="2400" i="1">
                              <a:latin typeface="Cambria Math" panose="02040503050406030204" pitchFamily="18" charset="0"/>
                            </a:rPr>
                            <m:t>𝑥</m:t>
                          </m:r>
                          <m:r>
                            <a:rPr lang="zh-CN" altLang="en-US" sz="2400" i="0">
                              <a:latin typeface="Cambria Math" panose="02040503050406030204" pitchFamily="18" charset="0"/>
                            </a:rPr>
                            <m:t>→±∞)</m:t>
                          </m:r>
                        </m:e>
                      </m:d>
                    </m:oMath>
                  </m:oMathPara>
                </a14:m>
                <a:endParaRPr lang="zh-CN" altLang="en-US" dirty="0"/>
              </a:p>
            </p:txBody>
          </p:sp>
        </mc:Choice>
        <mc:Fallback xmlns="">
          <p:sp>
            <p:nvSpPr>
              <p:cNvPr id="21" name="文本框 20">
                <a:extLst>
                  <a:ext uri="{FF2B5EF4-FFF2-40B4-BE49-F238E27FC236}">
                    <a16:creationId xmlns:a16="http://schemas.microsoft.com/office/drawing/2014/main" id="{46C4F452-3F43-436D-99D1-149EA40AD803}"/>
                  </a:ext>
                </a:extLst>
              </p:cNvPr>
              <p:cNvSpPr txBox="1">
                <a:spLocks noRot="1" noChangeAspect="1" noMove="1" noResize="1" noEditPoints="1" noAdjustHandles="1" noChangeArrowheads="1" noChangeShapeType="1" noTextEdit="1"/>
              </p:cNvSpPr>
              <p:nvPr/>
            </p:nvSpPr>
            <p:spPr>
              <a:xfrm>
                <a:off x="2541600" y="5127575"/>
                <a:ext cx="3835774" cy="461665"/>
              </a:xfrm>
              <a:prstGeom prst="rect">
                <a:avLst/>
              </a:prstGeom>
              <a:blipFill>
                <a:blip r:embed="rId6"/>
                <a:stretch>
                  <a:fillRect b="-19737"/>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080584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r>
              <a:rPr lang="en-US" altLang="zh-CN" dirty="0"/>
              <a:t>II</a:t>
            </a:r>
            <a:endParaRPr lang="zh-CN" altLang="en-US" dirty="0"/>
          </a:p>
        </p:txBody>
      </p:sp>
      <p:pic>
        <p:nvPicPr>
          <p:cNvPr id="2" name="图片 1">
            <a:extLst>
              <a:ext uri="{FF2B5EF4-FFF2-40B4-BE49-F238E27FC236}">
                <a16:creationId xmlns:a16="http://schemas.microsoft.com/office/drawing/2014/main" id="{A287861C-57DE-4984-A115-7C63CC34DC3A}"/>
              </a:ext>
            </a:extLst>
          </p:cNvPr>
          <p:cNvPicPr>
            <a:picLocks noChangeAspect="1"/>
          </p:cNvPicPr>
          <p:nvPr/>
        </p:nvPicPr>
        <p:blipFill>
          <a:blip r:embed="rId2"/>
          <a:stretch>
            <a:fillRect/>
          </a:stretch>
        </p:blipFill>
        <p:spPr>
          <a:xfrm>
            <a:off x="1421650" y="1133745"/>
            <a:ext cx="3150350" cy="4333731"/>
          </a:xfrm>
          <a:prstGeom prst="rect">
            <a:avLst/>
          </a:prstGeom>
        </p:spPr>
      </p:pic>
    </p:spTree>
    <p:extLst>
      <p:ext uri="{BB962C8B-B14F-4D97-AF65-F5344CB8AC3E}">
        <p14:creationId xmlns:p14="http://schemas.microsoft.com/office/powerpoint/2010/main" val="2380377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r>
              <a:rPr lang="en-US" altLang="zh-CN" dirty="0"/>
              <a:t>II</a:t>
            </a:r>
            <a:endParaRPr lang="zh-CN" altLang="en-US" dirty="0"/>
          </a:p>
        </p:txBody>
      </p:sp>
      <p:sp>
        <p:nvSpPr>
          <p:cNvPr id="3" name="矩形 2">
            <a:extLst>
              <a:ext uri="{FF2B5EF4-FFF2-40B4-BE49-F238E27FC236}">
                <a16:creationId xmlns:a16="http://schemas.microsoft.com/office/drawing/2014/main" id="{ACA853B8-AEC5-4677-AC8E-BBAB39D8AB22}"/>
              </a:ext>
            </a:extLst>
          </p:cNvPr>
          <p:cNvSpPr/>
          <p:nvPr/>
        </p:nvSpPr>
        <p:spPr>
          <a:xfrm>
            <a:off x="476544" y="1178750"/>
            <a:ext cx="8415935" cy="1569660"/>
          </a:xfrm>
          <a:prstGeom prst="rect">
            <a:avLst/>
          </a:prstGeom>
        </p:spPr>
        <p:txBody>
          <a:bodyPr wrap="square">
            <a:spAutoFit/>
          </a:bodyPr>
          <a:lstStyle/>
          <a:p>
            <a:r>
              <a:rPr lang="zh-CN" altLang="en-US" sz="3200" b="1" dirty="0">
                <a:solidFill>
                  <a:srgbClr val="FF0000"/>
                </a:solidFill>
                <a:latin typeface="Verdana" panose="020B0604030504040204" pitchFamily="34" charset="0"/>
              </a:rPr>
              <a:t>定理</a:t>
            </a:r>
            <a:r>
              <a:rPr lang="en-US" altLang="zh-CN" sz="3200" b="1" dirty="0">
                <a:solidFill>
                  <a:srgbClr val="FF0000"/>
                </a:solidFill>
                <a:latin typeface="Verdana" panose="020B0604030504040204" pitchFamily="34" charset="0"/>
              </a:rPr>
              <a:t>6.7 </a:t>
            </a:r>
            <a:r>
              <a:rPr lang="zh-CN" altLang="en-US" sz="3200" dirty="0">
                <a:solidFill>
                  <a:srgbClr val="006699"/>
                </a:solidFill>
                <a:latin typeface="Verdana" panose="020B0604030504040204" pitchFamily="34" charset="0"/>
              </a:rPr>
              <a:t>舍选法</a:t>
            </a:r>
            <a:r>
              <a:rPr lang="en-US" altLang="zh-CN" sz="3200" dirty="0">
                <a:solidFill>
                  <a:srgbClr val="006699"/>
                </a:solidFill>
                <a:latin typeface="Verdana" panose="020B0604030504040204" pitchFamily="34" charset="0"/>
              </a:rPr>
              <a:t>II</a:t>
            </a:r>
            <a:r>
              <a:rPr lang="zh-CN" altLang="en-US" sz="3200" dirty="0">
                <a:solidFill>
                  <a:srgbClr val="006699"/>
                </a:solidFill>
                <a:latin typeface="Verdana" panose="020B0604030504040204" pitchFamily="34" charset="0"/>
              </a:rPr>
              <a:t>产生的</a:t>
            </a:r>
            <a:r>
              <a:rPr lang="en-US" altLang="zh-CN" sz="3200" dirty="0">
                <a:solidFill>
                  <a:srgbClr val="006699"/>
                </a:solidFill>
                <a:latin typeface="Verdana" panose="020B0604030504040204" pitchFamily="34" charset="0"/>
              </a:rPr>
              <a:t>Z</a:t>
            </a:r>
            <a:r>
              <a:rPr lang="zh-CN" altLang="en-US" sz="3200" dirty="0">
                <a:solidFill>
                  <a:srgbClr val="006699"/>
                </a:solidFill>
                <a:latin typeface="Verdana" panose="020B0604030504040204" pitchFamily="34" charset="0"/>
              </a:rPr>
              <a:t>密度为</a:t>
            </a:r>
            <a:r>
              <a:rPr lang="en-US" altLang="zh-CN" sz="3200" dirty="0">
                <a:solidFill>
                  <a:srgbClr val="006699"/>
                </a:solidFill>
                <a:latin typeface="Verdana" panose="020B0604030504040204" pitchFamily="34" charset="0"/>
              </a:rPr>
              <a:t>p(x)</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r>
              <a:rPr lang="zh-CN" altLang="en-US" sz="3200" dirty="0">
                <a:solidFill>
                  <a:srgbClr val="006699"/>
                </a:solidFill>
                <a:latin typeface="Verdana" panose="020B0604030504040204" pitchFamily="34" charset="0"/>
              </a:rPr>
              <a:t>算法所需的迭代次数是均值为</a:t>
            </a:r>
            <a:r>
              <a:rPr lang="en-US" altLang="zh-CN" sz="3200" dirty="0">
                <a:solidFill>
                  <a:srgbClr val="006699"/>
                </a:solidFill>
                <a:latin typeface="Verdana" panose="020B0604030504040204" pitchFamily="34" charset="0"/>
              </a:rPr>
              <a:t>c/a</a:t>
            </a:r>
            <a:r>
              <a:rPr lang="zh-CN" altLang="en-US" sz="3200" dirty="0">
                <a:solidFill>
                  <a:srgbClr val="006699"/>
                </a:solidFill>
                <a:latin typeface="Verdana" panose="020B0604030504040204" pitchFamily="34" charset="0"/>
              </a:rPr>
              <a:t>的几何分布随机变量。</a:t>
            </a:r>
          </a:p>
        </p:txBody>
      </p:sp>
    </p:spTree>
    <p:extLst>
      <p:ext uri="{BB962C8B-B14F-4D97-AF65-F5344CB8AC3E}">
        <p14:creationId xmlns:p14="http://schemas.microsoft.com/office/powerpoint/2010/main" val="17068006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p>
        </p:txBody>
      </p:sp>
      <p:pic>
        <p:nvPicPr>
          <p:cNvPr id="4" name="图片 3">
            <a:extLst>
              <a:ext uri="{FF2B5EF4-FFF2-40B4-BE49-F238E27FC236}">
                <a16:creationId xmlns:a16="http://schemas.microsoft.com/office/drawing/2014/main" id="{01EDF62F-7892-46A4-967A-EC1A59D6FCE4}"/>
              </a:ext>
            </a:extLst>
          </p:cNvPr>
          <p:cNvPicPr>
            <a:picLocks noChangeAspect="1"/>
          </p:cNvPicPr>
          <p:nvPr/>
        </p:nvPicPr>
        <p:blipFill>
          <a:blip r:embed="rId2"/>
          <a:stretch>
            <a:fillRect/>
          </a:stretch>
        </p:blipFill>
        <p:spPr>
          <a:xfrm>
            <a:off x="323628" y="1133745"/>
            <a:ext cx="8407422" cy="4050450"/>
          </a:xfrm>
          <a:prstGeom prst="rect">
            <a:avLst/>
          </a:prstGeom>
        </p:spPr>
      </p:pic>
      <p:pic>
        <p:nvPicPr>
          <p:cNvPr id="3" name="图片 2">
            <a:extLst>
              <a:ext uri="{FF2B5EF4-FFF2-40B4-BE49-F238E27FC236}">
                <a16:creationId xmlns:a16="http://schemas.microsoft.com/office/drawing/2014/main" id="{58D9341D-FAC1-4007-BD19-C662E41294FE}"/>
              </a:ext>
            </a:extLst>
          </p:cNvPr>
          <p:cNvPicPr>
            <a:picLocks noChangeAspect="1"/>
          </p:cNvPicPr>
          <p:nvPr/>
        </p:nvPicPr>
        <p:blipFill>
          <a:blip r:embed="rId3"/>
          <a:stretch>
            <a:fillRect/>
          </a:stretch>
        </p:blipFill>
        <p:spPr>
          <a:xfrm>
            <a:off x="6009464" y="3879050"/>
            <a:ext cx="3032935" cy="2688994"/>
          </a:xfrm>
          <a:prstGeom prst="rect">
            <a:avLst/>
          </a:prstGeom>
        </p:spPr>
      </p:pic>
    </p:spTree>
    <p:extLst>
      <p:ext uri="{BB962C8B-B14F-4D97-AF65-F5344CB8AC3E}">
        <p14:creationId xmlns:p14="http://schemas.microsoft.com/office/powerpoint/2010/main" val="11245802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p>
        </p:txBody>
      </p:sp>
      <p:pic>
        <p:nvPicPr>
          <p:cNvPr id="1026" name="Picture 2">
            <a:extLst>
              <a:ext uri="{FF2B5EF4-FFF2-40B4-BE49-F238E27FC236}">
                <a16:creationId xmlns:a16="http://schemas.microsoft.com/office/drawing/2014/main" id="{BB359AE1-E0AD-4FE4-A5E8-05E8E5D49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6480" y="1178750"/>
            <a:ext cx="6777245" cy="4840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2027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p>
        </p:txBody>
      </p:sp>
      <p:pic>
        <p:nvPicPr>
          <p:cNvPr id="3" name="图片 2">
            <a:extLst>
              <a:ext uri="{FF2B5EF4-FFF2-40B4-BE49-F238E27FC236}">
                <a16:creationId xmlns:a16="http://schemas.microsoft.com/office/drawing/2014/main" id="{4053292F-77A3-4BFB-BF1A-1E8E906D7775}"/>
              </a:ext>
            </a:extLst>
          </p:cNvPr>
          <p:cNvPicPr>
            <a:picLocks noChangeAspect="1"/>
          </p:cNvPicPr>
          <p:nvPr/>
        </p:nvPicPr>
        <p:blipFill>
          <a:blip r:embed="rId2"/>
          <a:stretch>
            <a:fillRect/>
          </a:stretch>
        </p:blipFill>
        <p:spPr>
          <a:xfrm>
            <a:off x="298996" y="1000428"/>
            <a:ext cx="7992052" cy="5218882"/>
          </a:xfrm>
          <a:prstGeom prst="rect">
            <a:avLst/>
          </a:prstGeom>
        </p:spPr>
      </p:pic>
    </p:spTree>
    <p:extLst>
      <p:ext uri="{BB962C8B-B14F-4D97-AF65-F5344CB8AC3E}">
        <p14:creationId xmlns:p14="http://schemas.microsoft.com/office/powerpoint/2010/main" val="9594644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9793C11-11A3-4D5B-9A18-DA5E0B245EBE}"/>
                  </a:ext>
                </a:extLst>
              </p:cNvPr>
              <p:cNvSpPr txBox="1"/>
              <p:nvPr/>
            </p:nvSpPr>
            <p:spPr>
              <a:xfrm>
                <a:off x="251520" y="998730"/>
                <a:ext cx="8213725" cy="5197320"/>
              </a:xfrm>
              <a:prstGeom prst="rect">
                <a:avLst/>
              </a:prstGeom>
              <a:noFill/>
              <a:ln w="25400">
                <a:noFill/>
              </a:ln>
            </p:spPr>
            <p:txBody>
              <a:bodyPr wrap="square">
                <a:spAutoFit/>
              </a:bodyPr>
              <a:lstStyle/>
              <a:p>
                <a:r>
                  <a:rPr lang="zh-CN" altLang="en-US" sz="3200" b="1" dirty="0">
                    <a:solidFill>
                      <a:srgbClr val="FF0000"/>
                    </a:solidFill>
                  </a:rPr>
                  <a:t>生成</a:t>
                </a:r>
                <a:r>
                  <a:rPr lang="en-US" altLang="zh-CN" sz="3200" b="1" dirty="0">
                    <a:solidFill>
                      <a:srgbClr val="FF0000"/>
                    </a:solidFill>
                  </a:rPr>
                  <a:t>Z</a:t>
                </a:r>
                <a:r>
                  <a:rPr lang="zh-CN" altLang="en-US" sz="3200" b="1" dirty="0">
                    <a:solidFill>
                      <a:srgbClr val="FF0000"/>
                    </a:solidFill>
                  </a:rPr>
                  <a:t>的算法</a:t>
                </a:r>
                <a:r>
                  <a:rPr lang="en-US" altLang="zh-CN" sz="3200" dirty="0"/>
                  <a:t>:</a:t>
                </a:r>
              </a:p>
              <a:p>
                <a:endParaRPr lang="en-US" altLang="zh-CN" sz="3200" dirty="0"/>
              </a:p>
              <a:p>
                <a:pPr marL="457200" indent="-457200">
                  <a:buFont typeface="Arial" panose="020B0604020202020204" pitchFamily="34" charset="0"/>
                  <a:buChar char="•"/>
                </a:pPr>
                <a:r>
                  <a:rPr lang="zh-CN" altLang="en-US" sz="3200" dirty="0"/>
                  <a:t>步骤</a:t>
                </a:r>
                <a:r>
                  <a:rPr lang="en-US" altLang="zh-CN" sz="3200" dirty="0"/>
                  <a:t>1:</a:t>
                </a:r>
                <a:r>
                  <a:rPr lang="zh-CN" altLang="en-US" sz="3200" dirty="0"/>
                  <a:t>生成参数为</a:t>
                </a:r>
                <a:r>
                  <a:rPr lang="en-US" altLang="zh-CN" sz="3200" dirty="0"/>
                  <a:t>1</a:t>
                </a:r>
                <a:r>
                  <a:rPr lang="zh-CN" altLang="en-US" sz="3200" dirty="0"/>
                  <a:t>的指数随机变量</a:t>
                </a:r>
                <a:r>
                  <a:rPr lang="en-US" altLang="zh-CN" sz="3200" dirty="0"/>
                  <a:t>X.</a:t>
                </a:r>
              </a:p>
              <a:p>
                <a:pPr marL="457200" indent="-457200">
                  <a:buFont typeface="Arial" panose="020B0604020202020204" pitchFamily="34" charset="0"/>
                  <a:buChar char="•"/>
                </a:pPr>
                <a:endParaRPr lang="en-US" altLang="zh-CN" sz="3200" dirty="0"/>
              </a:p>
              <a:p>
                <a:pPr marL="457200" indent="-457200">
                  <a:buFont typeface="Arial" panose="020B0604020202020204" pitchFamily="34" charset="0"/>
                  <a:buChar char="•"/>
                </a:pPr>
                <a:r>
                  <a:rPr lang="zh-CN" altLang="en-US" sz="3200" dirty="0"/>
                  <a:t>步骤</a:t>
                </a:r>
                <a:r>
                  <a:rPr lang="en-US" altLang="zh-CN" sz="3200" dirty="0"/>
                  <a:t>2:</a:t>
                </a:r>
                <a:r>
                  <a:rPr lang="zh-CN" altLang="en-US" sz="3200" dirty="0"/>
                  <a:t>生成一个均匀随机数</a:t>
                </a:r>
                <a:r>
                  <a:rPr lang="en-US" altLang="zh-CN" sz="3200" dirty="0"/>
                  <a:t>Y.</a:t>
                </a:r>
              </a:p>
              <a:p>
                <a:pPr marL="457200" indent="-457200">
                  <a:buFont typeface="Arial" panose="020B0604020202020204" pitchFamily="34" charset="0"/>
                  <a:buChar char="•"/>
                </a:pPr>
                <a:endParaRPr lang="en-US" altLang="zh-CN" sz="3200" dirty="0"/>
              </a:p>
              <a:p>
                <a:pPr marL="457200" indent="-457200">
                  <a:buFont typeface="Arial" panose="020B0604020202020204" pitchFamily="34" charset="0"/>
                  <a:buChar char="•"/>
                </a:pPr>
                <a:r>
                  <a:rPr lang="zh-CN" altLang="en-US" sz="3200" dirty="0"/>
                  <a:t>步骤</a:t>
                </a:r>
                <a:r>
                  <a:rPr lang="en-US" altLang="zh-CN" sz="3200" dirty="0"/>
                  <a:t>3:</a:t>
                </a:r>
                <a:r>
                  <a:rPr lang="zh-CN" altLang="en-US" sz="3200" dirty="0"/>
                  <a:t>如果</a:t>
                </a:r>
                <a14:m>
                  <m:oMath xmlns:m="http://schemas.openxmlformats.org/officeDocument/2006/math">
                    <m:r>
                      <a:rPr lang="zh-CN" altLang="en-US" sz="3200" i="1" smtClean="0">
                        <a:latin typeface="Cambria Math" panose="02040503050406030204" pitchFamily="18" charset="0"/>
                      </a:rPr>
                      <m:t>𝑌</m:t>
                    </m:r>
                    <m:r>
                      <a:rPr lang="en-US" altLang="zh-CN" sz="3200" b="0" i="1" smtClean="0">
                        <a:latin typeface="Cambria Math" panose="02040503050406030204" pitchFamily="18" charset="0"/>
                      </a:rPr>
                      <m:t>≥</m:t>
                    </m:r>
                    <m:sSup>
                      <m:sSupPr>
                        <m:ctrlPr>
                          <a:rPr lang="zh-CN" altLang="en-US" sz="3200" i="1">
                            <a:solidFill>
                              <a:srgbClr val="836967"/>
                            </a:solidFill>
                            <a:latin typeface="Cambria Math" panose="02040503050406030204" pitchFamily="18" charset="0"/>
                          </a:rPr>
                        </m:ctrlPr>
                      </m:sSupPr>
                      <m:e>
                        <m:r>
                          <a:rPr lang="zh-CN" altLang="en-US" sz="3200" i="1">
                            <a:latin typeface="Cambria Math" panose="02040503050406030204" pitchFamily="18" charset="0"/>
                          </a:rPr>
                          <m:t>𝑒</m:t>
                        </m:r>
                      </m:e>
                      <m:sup>
                        <m:r>
                          <a:rPr lang="zh-CN" altLang="en-US" sz="3200" i="0">
                            <a:latin typeface="Cambria Math" panose="02040503050406030204" pitchFamily="18" charset="0"/>
                          </a:rPr>
                          <m:t>−</m:t>
                        </m:r>
                        <m:f>
                          <m:fPr>
                            <m:ctrlPr>
                              <a:rPr lang="zh-CN" altLang="en-US" sz="3200" i="1">
                                <a:solidFill>
                                  <a:srgbClr val="836967"/>
                                </a:solidFill>
                                <a:latin typeface="Cambria Math" panose="02040503050406030204" pitchFamily="18" charset="0"/>
                              </a:rPr>
                            </m:ctrlPr>
                          </m:fPr>
                          <m:num>
                            <m:r>
                              <a:rPr lang="zh-CN" altLang="en-US" sz="3200" i="0">
                                <a:latin typeface="Cambria Math" panose="02040503050406030204" pitchFamily="18" charset="0"/>
                              </a:rPr>
                              <m:t>1</m:t>
                            </m:r>
                          </m:num>
                          <m:den>
                            <m:r>
                              <a:rPr lang="zh-CN" altLang="en-US" sz="3200" i="0">
                                <a:latin typeface="Cambria Math" panose="02040503050406030204" pitchFamily="18" charset="0"/>
                              </a:rPr>
                              <m:t>2</m:t>
                            </m:r>
                          </m:den>
                        </m:f>
                        <m:sSup>
                          <m:sSupPr>
                            <m:ctrlPr>
                              <a:rPr lang="zh-CN" altLang="en-US" sz="3200" i="1">
                                <a:solidFill>
                                  <a:srgbClr val="836967"/>
                                </a:solidFill>
                                <a:latin typeface="Cambria Math" panose="02040503050406030204" pitchFamily="18" charset="0"/>
                              </a:rPr>
                            </m:ctrlPr>
                          </m:sSupPr>
                          <m:e>
                            <m:d>
                              <m:dPr>
                                <m:ctrlPr>
                                  <a:rPr lang="zh-CN" altLang="en-US" sz="3200" i="1">
                                    <a:latin typeface="Cambria Math" panose="02040503050406030204" pitchFamily="18" charset="0"/>
                                  </a:rPr>
                                </m:ctrlPr>
                              </m:dPr>
                              <m:e>
                                <m:r>
                                  <a:rPr lang="zh-CN" altLang="en-US" sz="3200" i="1">
                                    <a:latin typeface="Cambria Math" panose="02040503050406030204" pitchFamily="18" charset="0"/>
                                  </a:rPr>
                                  <m:t>𝑥</m:t>
                                </m:r>
                                <m:r>
                                  <a:rPr lang="zh-CN" altLang="en-US" sz="3200" i="0">
                                    <a:latin typeface="Cambria Math" panose="02040503050406030204" pitchFamily="18" charset="0"/>
                                  </a:rPr>
                                  <m:t>−1</m:t>
                                </m:r>
                              </m:e>
                            </m:d>
                          </m:e>
                          <m:sup>
                            <m:r>
                              <a:rPr lang="zh-CN" altLang="en-US" sz="3200" i="0">
                                <a:latin typeface="Cambria Math" panose="02040503050406030204" pitchFamily="18" charset="0"/>
                              </a:rPr>
                              <m:t>2</m:t>
                            </m:r>
                          </m:sup>
                        </m:sSup>
                      </m:sup>
                    </m:sSup>
                  </m:oMath>
                </a14:m>
                <a:r>
                  <a:rPr lang="en-US" altLang="zh-CN" sz="3200" dirty="0"/>
                  <a:t>,</a:t>
                </a:r>
                <a:r>
                  <a:rPr lang="zh-CN" altLang="en-US" sz="3200" dirty="0"/>
                  <a:t>则</a:t>
                </a:r>
                <a:endParaRPr lang="en-US" altLang="zh-CN" sz="3200" dirty="0"/>
              </a:p>
              <a:p>
                <a:r>
                  <a:rPr lang="en-US" altLang="zh-CN" sz="3200" dirty="0"/>
                  <a:t>           {</a:t>
                </a:r>
                <a:r>
                  <a:rPr lang="zh-CN" altLang="en-US" sz="3200" dirty="0"/>
                  <a:t>生成均匀随机数</a:t>
                </a:r>
                <a:r>
                  <a:rPr lang="en-US" altLang="zh-CN" sz="3200" dirty="0"/>
                  <a:t>U</a:t>
                </a:r>
                <a:r>
                  <a:rPr lang="en-US" altLang="zh-CN" sz="3200" baseline="-25000" dirty="0"/>
                  <a:t>2</a:t>
                </a:r>
                <a:r>
                  <a:rPr lang="zh-CN" altLang="en-US" sz="3200" dirty="0"/>
                  <a:t>；</a:t>
                </a:r>
                <a:endParaRPr lang="en-US" altLang="zh-CN" sz="3200" dirty="0"/>
              </a:p>
              <a:p>
                <a:r>
                  <a:rPr lang="en-US" altLang="zh-CN" sz="3200" baseline="-25000" dirty="0"/>
                  <a:t>                   </a:t>
                </a:r>
                <a:r>
                  <a:rPr lang="zh-CN" altLang="en-US" sz="3200" dirty="0"/>
                  <a:t>若</a:t>
                </a:r>
                <a:r>
                  <a:rPr lang="en-US" altLang="zh-CN" sz="3200" dirty="0"/>
                  <a:t>U</a:t>
                </a:r>
                <a:r>
                  <a:rPr lang="en-US" altLang="zh-CN" sz="3200" baseline="-25000" dirty="0"/>
                  <a:t>2</a:t>
                </a:r>
                <a:r>
                  <a:rPr lang="en-US" altLang="zh-CN" sz="3200" dirty="0"/>
                  <a:t>&lt;0.5</a:t>
                </a:r>
                <a:r>
                  <a:rPr lang="zh-CN" altLang="en-US" sz="3200" dirty="0"/>
                  <a:t>，则令</a:t>
                </a:r>
                <a:r>
                  <a:rPr lang="en-US" altLang="zh-CN" sz="3200" dirty="0"/>
                  <a:t>Z=X.</a:t>
                </a:r>
                <a:r>
                  <a:rPr lang="zh-CN" altLang="en-US" sz="3200" dirty="0"/>
                  <a:t>否则</a:t>
                </a:r>
                <a:r>
                  <a:rPr lang="en-US" altLang="zh-CN" sz="3200" dirty="0"/>
                  <a:t>,</a:t>
                </a:r>
                <a:r>
                  <a:rPr lang="zh-CN" altLang="en-US" sz="3200" dirty="0"/>
                  <a:t>令</a:t>
                </a:r>
                <a:r>
                  <a:rPr lang="en-US" altLang="zh-CN" sz="3200" dirty="0"/>
                  <a:t>Z=-X}</a:t>
                </a:r>
              </a:p>
              <a:p>
                <a:r>
                  <a:rPr lang="zh-CN" altLang="en-US" sz="3200" dirty="0"/>
                  <a:t>         否则</a:t>
                </a:r>
                <a:r>
                  <a:rPr lang="en-US" altLang="zh-CN" sz="3200" dirty="0"/>
                  <a:t>,</a:t>
                </a:r>
                <a:r>
                  <a:rPr lang="zh-CN" altLang="en-US" sz="3200" dirty="0"/>
                  <a:t>转至步骤</a:t>
                </a:r>
                <a:r>
                  <a:rPr lang="en-US" altLang="zh-CN" sz="3200" dirty="0"/>
                  <a:t>1.</a:t>
                </a:r>
                <a:endParaRPr lang="zh-CN" altLang="en-US" sz="3200" dirty="0"/>
              </a:p>
            </p:txBody>
          </p:sp>
        </mc:Choice>
        <mc:Fallback xmlns="">
          <p:sp>
            <p:nvSpPr>
              <p:cNvPr id="5" name="文本框 4">
                <a:extLst>
                  <a:ext uri="{FF2B5EF4-FFF2-40B4-BE49-F238E27FC236}">
                    <a16:creationId xmlns:a16="http://schemas.microsoft.com/office/drawing/2014/main" id="{89793C11-11A3-4D5B-9A18-DA5E0B245EBE}"/>
                  </a:ext>
                </a:extLst>
              </p:cNvPr>
              <p:cNvSpPr txBox="1">
                <a:spLocks noRot="1" noChangeAspect="1" noMove="1" noResize="1" noEditPoints="1" noAdjustHandles="1" noChangeArrowheads="1" noChangeShapeType="1" noTextEdit="1"/>
              </p:cNvSpPr>
              <p:nvPr/>
            </p:nvSpPr>
            <p:spPr>
              <a:xfrm>
                <a:off x="251520" y="998730"/>
                <a:ext cx="8213725" cy="5197320"/>
              </a:xfrm>
              <a:prstGeom prst="rect">
                <a:avLst/>
              </a:prstGeom>
              <a:blipFill>
                <a:blip r:embed="rId2"/>
                <a:stretch>
                  <a:fillRect l="-1855" t="-1878" b="-3052"/>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5749882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p>
        </p:txBody>
      </p:sp>
      <p:pic>
        <p:nvPicPr>
          <p:cNvPr id="1026" name="Picture 2">
            <a:extLst>
              <a:ext uri="{FF2B5EF4-FFF2-40B4-BE49-F238E27FC236}">
                <a16:creationId xmlns:a16="http://schemas.microsoft.com/office/drawing/2014/main" id="{30D67EFF-B4E5-410D-9C2C-99C1B42D4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4264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2.3.5 </a:t>
            </a:r>
            <a:r>
              <a:rPr lang="zh-CN" altLang="en-US" dirty="0"/>
              <a:t>舍选法</a:t>
            </a:r>
          </a:p>
        </p:txBody>
      </p:sp>
      <p:sp>
        <p:nvSpPr>
          <p:cNvPr id="6" name="文本框 5">
            <a:extLst>
              <a:ext uri="{FF2B5EF4-FFF2-40B4-BE49-F238E27FC236}">
                <a16:creationId xmlns:a16="http://schemas.microsoft.com/office/drawing/2014/main" id="{C0EB29E0-4AF8-4E24-9B60-6730E8E173CC}"/>
              </a:ext>
            </a:extLst>
          </p:cNvPr>
          <p:cNvSpPr txBox="1"/>
          <p:nvPr/>
        </p:nvSpPr>
        <p:spPr>
          <a:xfrm>
            <a:off x="-49426" y="918300"/>
            <a:ext cx="9143999" cy="523220"/>
          </a:xfrm>
          <a:prstGeom prst="rect">
            <a:avLst/>
          </a:prstGeom>
          <a:noFill/>
          <a:ln w="25400">
            <a:noFill/>
          </a:ln>
        </p:spPr>
        <p:txBody>
          <a:bodyPr wrap="square">
            <a:spAutoFit/>
          </a:bodyPr>
          <a:lstStyle/>
          <a:p>
            <a:r>
              <a:rPr lang="zh-CN" altLang="en-US" sz="2800" dirty="0"/>
              <a:t>例</a:t>
            </a:r>
            <a:r>
              <a:rPr lang="en-US" altLang="zh-CN" sz="2800" dirty="0"/>
              <a:t>6.16 (</a:t>
            </a:r>
            <a:r>
              <a:rPr lang="zh-CN" altLang="en-US" sz="2800" dirty="0"/>
              <a:t>用舍选法和</a:t>
            </a:r>
            <a:r>
              <a:rPr lang="en-US" altLang="zh-CN" sz="2800" dirty="0"/>
              <a:t>Box-Muller</a:t>
            </a:r>
            <a:r>
              <a:rPr lang="zh-CN" altLang="en-US" sz="2800" dirty="0"/>
              <a:t>变换生成正态随机数</a:t>
            </a:r>
            <a:r>
              <a:rPr lang="en-US" altLang="zh-CN" sz="2800" dirty="0"/>
              <a:t>)</a:t>
            </a:r>
            <a:endParaRPr lang="zh-CN" altLang="en-US" sz="28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BBF83C4-ED41-42A7-B61F-6B577B4AEC9E}"/>
                  </a:ext>
                </a:extLst>
              </p:cNvPr>
              <p:cNvSpPr txBox="1"/>
              <p:nvPr/>
            </p:nvSpPr>
            <p:spPr>
              <a:xfrm>
                <a:off x="116504" y="1569980"/>
                <a:ext cx="9027496" cy="2162130"/>
              </a:xfrm>
              <a:prstGeom prst="rect">
                <a:avLst/>
              </a:prstGeom>
              <a:noFill/>
              <a:ln w="25400">
                <a:noFill/>
              </a:ln>
            </p:spPr>
            <p:txBody>
              <a:bodyPr wrap="square">
                <a:spAutoFit/>
              </a:bodyPr>
              <a:lstStyle/>
              <a:p>
                <a:pPr>
                  <a:spcBef>
                    <a:spcPts val="900"/>
                  </a:spcBef>
                  <a:spcAft>
                    <a:spcPts val="900"/>
                  </a:spcAft>
                </a:pPr>
                <a:r>
                  <a:rPr lang="zh-CN" altLang="zh-CN" sz="2800" dirty="0">
                    <a:effectLst/>
                    <a:latin typeface="Cambria" panose="02040503050406030204" pitchFamily="18" charset="0"/>
                    <a:cs typeface="Times New Roman" panose="02020603050405020304" pitchFamily="18" charset="0"/>
                  </a:rPr>
                  <a:t>设</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2</m:t>
                        </m:r>
                      </m:sub>
                    </m:sSub>
                  </m:oMath>
                </a14:m>
                <a:r>
                  <a:rPr lang="zh-CN" altLang="zh-CN" sz="2800" dirty="0">
                    <a:effectLst/>
                    <a:latin typeface="Cambria" panose="02040503050406030204" pitchFamily="18" charset="0"/>
                    <a:cs typeface="Times New Roman" panose="02020603050405020304" pitchFamily="18" charset="0"/>
                  </a:rPr>
                  <a:t>是两</a:t>
                </a:r>
                <a:r>
                  <a:rPr lang="zh-CN" altLang="zh-CN" sz="2800" dirty="0">
                    <a:latin typeface="Cambria" panose="02040503050406030204" pitchFamily="18" charset="0"/>
                    <a:cs typeface="Times New Roman" panose="02020603050405020304" pitchFamily="18" charset="0"/>
                  </a:rPr>
                  <a:t>个</a:t>
                </a:r>
                <a:r>
                  <a:rPr lang="zh-CN" altLang="en-US" sz="2800" dirty="0">
                    <a:latin typeface="Cambria" panose="02040503050406030204" pitchFamily="18" charset="0"/>
                    <a:cs typeface="Times New Roman" panose="02020603050405020304" pitchFamily="18" charset="0"/>
                  </a:rPr>
                  <a:t>标准</a:t>
                </a:r>
                <a:r>
                  <a:rPr lang="zh-CN" altLang="zh-CN" sz="2800" dirty="0">
                    <a:latin typeface="Cambria" panose="02040503050406030204" pitchFamily="18" charset="0"/>
                    <a:cs typeface="Times New Roman" panose="02020603050405020304" pitchFamily="18" charset="0"/>
                  </a:rPr>
                  <a:t>均匀分布随机数</a:t>
                </a:r>
                <a:r>
                  <a:rPr lang="en-US" altLang="zh-CN" sz="2800" dirty="0">
                    <a:effectLst/>
                    <a:latin typeface="Cambria" panose="02040503050406030204" pitchFamily="18" charset="0"/>
                    <a:cs typeface="Times New Roman" panose="02020603050405020304" pitchFamily="18" charset="0"/>
                  </a:rPr>
                  <a:t>, </a:t>
                </a:r>
                <a:r>
                  <a:rPr lang="zh-CN" altLang="zh-CN" sz="2800" dirty="0">
                    <a:effectLst/>
                    <a:latin typeface="Cambria" panose="02040503050406030204" pitchFamily="18" charset="0"/>
                    <a:cs typeface="Times New Roman" panose="02020603050405020304" pitchFamily="18" charset="0"/>
                  </a:rPr>
                  <a:t>令</a:t>
                </a: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2</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i="1">
                          <a:effectLst/>
                          <a:latin typeface="Cambria Math" panose="02040503050406030204" pitchFamily="18" charset="0"/>
                          <a:cs typeface="Times New Roman" panose="02020603050405020304" pitchFamily="18" charset="0"/>
                        </a:rPr>
                        <m:t>−1</m:t>
                      </m:r>
                    </m:oMath>
                  </m:oMathPara>
                </a14:m>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Sub>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2</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𝑈</m:t>
                          </m:r>
                        </m:e>
                        <m:sub>
                          <m:r>
                            <a:rPr lang="en-US" altLang="zh-CN" sz="2800" i="1">
                              <a:effectLst/>
                              <a:latin typeface="Cambria Math" panose="02040503050406030204" pitchFamily="18" charset="0"/>
                              <a:cs typeface="Times New Roman" panose="02020603050405020304" pitchFamily="18" charset="0"/>
                            </a:rPr>
                            <m:t>2</m:t>
                          </m:r>
                        </m:sub>
                      </m:sSub>
                      <m:r>
                        <a:rPr lang="en-US" altLang="zh-CN" sz="2800" i="1">
                          <a:effectLst/>
                          <a:latin typeface="Cambria Math" panose="02040503050406030204" pitchFamily="18" charset="0"/>
                          <a:cs typeface="Times New Roman" panose="02020603050405020304" pitchFamily="18" charset="0"/>
                        </a:rPr>
                        <m:t>−1</m:t>
                      </m:r>
                    </m:oMath>
                  </m:oMathPara>
                </a14:m>
                <a:endParaRPr lang="zh-CN" altLang="zh-CN" sz="2800" dirty="0">
                  <a:effectLst/>
                  <a:latin typeface="Cambria" panose="02040503050406030204" pitchFamily="18" charset="0"/>
                  <a:cs typeface="Times New Roman" panose="02020603050405020304" pitchFamily="18" charset="0"/>
                </a:endParaRPr>
              </a:p>
              <a:p>
                <a:r>
                  <a:rPr lang="zh-CN" altLang="zh-CN" sz="2800" dirty="0">
                    <a:effectLst/>
                    <a:latin typeface="Cambria" panose="02040503050406030204" pitchFamily="18" charset="0"/>
                    <a:cs typeface="Times New Roman" panose="02020603050405020304" pitchFamily="18" charset="0"/>
                  </a:rPr>
                  <a:t>则</a:t>
                </a:r>
                <a14:m>
                  <m:oMath xmlns:m="http://schemas.openxmlformats.org/officeDocument/2006/math">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Sub>
                      </m:e>
                    </m:d>
                    <m:r>
                      <a:rPr lang="zh-CN" altLang="en-US" sz="2800" i="1">
                        <a:latin typeface="Cambria Math" panose="02040503050406030204" pitchFamily="18" charset="0"/>
                        <a:cs typeface="Times New Roman" panose="02020603050405020304" pitchFamily="18" charset="0"/>
                      </a:rPr>
                      <m:t>在</m:t>
                    </m:r>
                  </m:oMath>
                </a14:m>
                <a:r>
                  <a:rPr lang="zh-CN" altLang="en-US" sz="2800" dirty="0"/>
                  <a:t>在中心为原点、面积为</a:t>
                </a:r>
                <a:r>
                  <a:rPr lang="en-US" altLang="zh-CN" sz="2800" dirty="0"/>
                  <a:t>4</a:t>
                </a:r>
                <a:r>
                  <a:rPr lang="zh-CN" altLang="en-US" sz="2800" dirty="0"/>
                  <a:t>的正方形中</a:t>
                </a:r>
                <a:r>
                  <a:rPr lang="zh-CN" altLang="zh-CN" sz="2800" dirty="0">
                    <a:effectLst/>
                    <a:latin typeface="Cambria" panose="02040503050406030204" pitchFamily="18" charset="0"/>
                    <a:cs typeface="Times New Roman" panose="02020603050405020304" pitchFamily="18" charset="0"/>
                  </a:rPr>
                  <a:t>均匀分布</a:t>
                </a:r>
                <a:endParaRPr lang="zh-CN" altLang="en-US" sz="2800" dirty="0"/>
              </a:p>
            </p:txBody>
          </p:sp>
        </mc:Choice>
        <mc:Fallback xmlns="">
          <p:sp>
            <p:nvSpPr>
              <p:cNvPr id="8" name="文本框 7">
                <a:extLst>
                  <a:ext uri="{FF2B5EF4-FFF2-40B4-BE49-F238E27FC236}">
                    <a16:creationId xmlns:a16="http://schemas.microsoft.com/office/drawing/2014/main" id="{0BBF83C4-ED41-42A7-B61F-6B577B4AEC9E}"/>
                  </a:ext>
                </a:extLst>
              </p:cNvPr>
              <p:cNvSpPr txBox="1">
                <a:spLocks noRot="1" noChangeAspect="1" noMove="1" noResize="1" noEditPoints="1" noAdjustHandles="1" noChangeArrowheads="1" noChangeShapeType="1" noTextEdit="1"/>
              </p:cNvSpPr>
              <p:nvPr/>
            </p:nvSpPr>
            <p:spPr>
              <a:xfrm>
                <a:off x="116504" y="1569980"/>
                <a:ext cx="9027496" cy="2162130"/>
              </a:xfrm>
              <a:prstGeom prst="rect">
                <a:avLst/>
              </a:prstGeom>
              <a:blipFill>
                <a:blip r:embed="rId2"/>
                <a:stretch>
                  <a:fillRect l="-1350" t="-3955" r="-203" b="-7345"/>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CDB83D3-C30C-46CE-BBB6-7AE767D7CF60}"/>
                  </a:ext>
                </a:extLst>
              </p:cNvPr>
              <p:cNvSpPr txBox="1"/>
              <p:nvPr/>
            </p:nvSpPr>
            <p:spPr>
              <a:xfrm>
                <a:off x="116503" y="3877465"/>
                <a:ext cx="8978070" cy="1737014"/>
              </a:xfrm>
              <a:prstGeom prst="rect">
                <a:avLst/>
              </a:prstGeom>
              <a:noFill/>
              <a:ln w="25400">
                <a:noFill/>
              </a:ln>
            </p:spPr>
            <p:txBody>
              <a:bodyPr wrap="square">
                <a:spAutoFit/>
              </a:bodyPr>
              <a:lstStyle/>
              <a:p>
                <a:pPr>
                  <a:spcBef>
                    <a:spcPts val="900"/>
                  </a:spcBef>
                  <a:spcAft>
                    <a:spcPts val="900"/>
                  </a:spcAft>
                </a:pPr>
                <a:r>
                  <a:rPr lang="zh-CN" altLang="en-US" sz="2800" dirty="0">
                    <a:effectLst/>
                    <a:latin typeface="Cambria" panose="02040503050406030204" pitchFamily="18" charset="0"/>
                    <a:ea typeface="宋体" panose="02010600030101010101" pitchFamily="2" charset="-122"/>
                    <a:cs typeface="Times New Roman" panose="02020603050405020304" pitchFamily="18" charset="0"/>
                  </a:rPr>
                  <a:t>进一步</a:t>
                </a:r>
                <a14:m>
                  <m:oMath xmlns:m="http://schemas.openxmlformats.org/officeDocument/2006/math">
                    <m:r>
                      <a:rPr lang="zh-CN" altLang="en-US" sz="2800" i="1" dirty="0">
                        <a:latin typeface="Cambria Math" panose="02040503050406030204" pitchFamily="18" charset="0"/>
                        <a:ea typeface="Cambria Math" panose="02040503050406030204" pitchFamily="18" charset="0"/>
                        <a:cs typeface="Times New Roman" panose="02020603050405020304" pitchFamily="18" charset="0"/>
                      </a:rPr>
                      <m:t>，</m:t>
                    </m:r>
                    <m:r>
                      <a:rPr lang="zh-CN" altLang="en-US" sz="2800" i="1" dirty="0" smtClean="0">
                        <a:latin typeface="Cambria Math" panose="02040503050406030204" pitchFamily="18" charset="0"/>
                        <a:ea typeface="Cambria Math" panose="02040503050406030204" pitchFamily="18" charset="0"/>
                        <a:cs typeface="Times New Roman" panose="02020603050405020304" pitchFamily="18" charset="0"/>
                      </a:rPr>
                      <m:t>令</m:t>
                    </m:r>
                  </m:oMath>
                </a14:m>
                <a:endParaRPr lang="en-US" altLang="zh-CN" sz="2800" i="1" dirty="0">
                  <a:latin typeface="Cambria Math" panose="02040503050406030204" pitchFamily="18" charset="0"/>
                  <a:ea typeface="Cambria Math" panose="02040503050406030204" pitchFamily="18" charset="0"/>
                  <a:cs typeface="Times New Roman" panose="02020603050405020304" pitchFamily="18" charset="0"/>
                </a:endParaRPr>
              </a:p>
              <a:p>
                <a:pPr algn="ctr">
                  <a:spcBef>
                    <a:spcPts val="900"/>
                  </a:spcBef>
                  <a:spcAft>
                    <a:spcPts val="900"/>
                  </a:spcAft>
                </a:pPr>
                <a14:m>
                  <m:oMath xmlns:m="http://schemas.openxmlformats.org/officeDocument/2006/math">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oMath>
                </a14:m>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r>
                  <a:rPr lang="zh-CN" altLang="en-US" sz="2800" dirty="0">
                    <a:effectLst/>
                    <a:latin typeface="Cambria" panose="02040503050406030204" pitchFamily="18" charset="0"/>
                    <a:ea typeface="宋体" panose="02010600030101010101" pitchFamily="2" charset="-122"/>
                    <a:cs typeface="Times New Roman" panose="02020603050405020304" pitchFamily="18" charset="0"/>
                  </a:rPr>
                  <a:t>此时</a:t>
                </a:r>
                <a14:m>
                  <m:oMath xmlns:m="http://schemas.openxmlformats.org/officeDocument/2006/math">
                    <m:r>
                      <a:rPr lang="zh-CN" altLang="en-US" sz="2800" i="1" dirty="0">
                        <a:latin typeface="Cambria Math" panose="02040503050406030204" pitchFamily="18" charset="0"/>
                        <a:ea typeface="Cambria Math" panose="02040503050406030204" pitchFamily="18" charset="0"/>
                      </a:rPr>
                      <m:t>，</m:t>
                    </m:r>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e>
                    </m:d>
                  </m:oMath>
                </a14:m>
                <a:r>
                  <a:rPr lang="zh-CN" altLang="zh-CN" sz="2800" dirty="0">
                    <a:effectLst/>
                    <a:latin typeface="Cambria" panose="02040503050406030204" pitchFamily="18" charset="0"/>
                    <a:ea typeface="宋体" panose="02010600030101010101" pitchFamily="2" charset="-122"/>
                    <a:cs typeface="Times New Roman" panose="02020603050405020304" pitchFamily="18" charset="0"/>
                  </a:rPr>
                  <a:t>在此圆内均匀分布</a:t>
                </a:r>
                <a:endParaRPr lang="zh-CN" altLang="en-US" sz="2800" dirty="0"/>
              </a:p>
            </p:txBody>
          </p:sp>
        </mc:Choice>
        <mc:Fallback xmlns="">
          <p:sp>
            <p:nvSpPr>
              <p:cNvPr id="10" name="文本框 9">
                <a:extLst>
                  <a:ext uri="{FF2B5EF4-FFF2-40B4-BE49-F238E27FC236}">
                    <a16:creationId xmlns:a16="http://schemas.microsoft.com/office/drawing/2014/main" id="{0CDB83D3-C30C-46CE-BBB6-7AE767D7CF60}"/>
                  </a:ext>
                </a:extLst>
              </p:cNvPr>
              <p:cNvSpPr txBox="1">
                <a:spLocks noRot="1" noChangeAspect="1" noMove="1" noResize="1" noEditPoints="1" noAdjustHandles="1" noChangeArrowheads="1" noChangeShapeType="1" noTextEdit="1"/>
              </p:cNvSpPr>
              <p:nvPr/>
            </p:nvSpPr>
            <p:spPr>
              <a:xfrm>
                <a:off x="116503" y="3877465"/>
                <a:ext cx="8978070" cy="1737014"/>
              </a:xfrm>
              <a:prstGeom prst="rect">
                <a:avLst/>
              </a:prstGeom>
              <a:blipFill>
                <a:blip r:embed="rId3"/>
                <a:stretch>
                  <a:fillRect l="-1358" t="-4561" b="-8070"/>
                </a:stretch>
              </a:blipFill>
              <a:ln w="25400">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2.3.5 </a:t>
            </a:r>
            <a:r>
              <a:rPr lang="zh-CN" altLang="en-US" dirty="0"/>
              <a:t>舍选法</a:t>
            </a:r>
          </a:p>
        </p:txBody>
      </p:sp>
      <p:sp>
        <p:nvSpPr>
          <p:cNvPr id="6" name="文本框 5">
            <a:extLst>
              <a:ext uri="{FF2B5EF4-FFF2-40B4-BE49-F238E27FC236}">
                <a16:creationId xmlns:a16="http://schemas.microsoft.com/office/drawing/2014/main" id="{C0EB29E0-4AF8-4E24-9B60-6730E8E173CC}"/>
              </a:ext>
            </a:extLst>
          </p:cNvPr>
          <p:cNvSpPr txBox="1"/>
          <p:nvPr/>
        </p:nvSpPr>
        <p:spPr>
          <a:xfrm>
            <a:off x="-49426" y="918300"/>
            <a:ext cx="9143999" cy="523220"/>
          </a:xfrm>
          <a:prstGeom prst="rect">
            <a:avLst/>
          </a:prstGeom>
          <a:noFill/>
          <a:ln w="25400">
            <a:noFill/>
          </a:ln>
        </p:spPr>
        <p:txBody>
          <a:bodyPr wrap="square">
            <a:spAutoFit/>
          </a:bodyPr>
          <a:lstStyle/>
          <a:p>
            <a:r>
              <a:rPr lang="zh-CN" altLang="en-US" sz="2800" dirty="0"/>
              <a:t>例</a:t>
            </a:r>
            <a:r>
              <a:rPr lang="en-US" altLang="zh-CN" sz="2800" dirty="0"/>
              <a:t>6.16 (</a:t>
            </a:r>
            <a:r>
              <a:rPr lang="zh-CN" altLang="en-US" sz="2800" dirty="0"/>
              <a:t>用舍选法和</a:t>
            </a:r>
            <a:r>
              <a:rPr lang="en-US" altLang="zh-CN" sz="2800" dirty="0"/>
              <a:t>Box-Muller</a:t>
            </a:r>
            <a:r>
              <a:rPr lang="zh-CN" altLang="en-US" sz="2800" dirty="0"/>
              <a:t>变换生成正态随机数</a:t>
            </a:r>
            <a:r>
              <a:rPr lang="en-US" altLang="zh-CN" sz="2800" dirty="0"/>
              <a:t>)</a:t>
            </a:r>
            <a:endParaRPr lang="zh-CN" altLang="en-US" sz="2800"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B4D4EF6-A1BE-4EA9-8BD9-50329BFC2B96}"/>
                  </a:ext>
                </a:extLst>
              </p:cNvPr>
              <p:cNvSpPr txBox="1"/>
              <p:nvPr/>
            </p:nvSpPr>
            <p:spPr>
              <a:xfrm>
                <a:off x="-3912" y="1574007"/>
                <a:ext cx="9143999" cy="1846659"/>
              </a:xfrm>
              <a:prstGeom prst="rect">
                <a:avLst/>
              </a:prstGeom>
              <a:noFill/>
              <a:ln w="25400">
                <a:noFill/>
              </a:ln>
            </p:spPr>
            <p:txBody>
              <a:bodyPr wrap="square">
                <a:spAutoFit/>
              </a:bodyPr>
              <a:lstStyle/>
              <a:p>
                <a:pPr>
                  <a:spcBef>
                    <a:spcPts val="900"/>
                  </a:spcBef>
                  <a:spcAft>
                    <a:spcPts val="900"/>
                  </a:spcAft>
                </a:pPr>
                <a:r>
                  <a:rPr lang="zh-CN" altLang="en-US" sz="2800" dirty="0">
                    <a:effectLst/>
                    <a:latin typeface="Cambria" panose="02040503050406030204" pitchFamily="18" charset="0"/>
                    <a:cs typeface="Times New Roman" panose="02020603050405020304" pitchFamily="18" charset="0"/>
                  </a:rPr>
                  <a:t>若</a:t>
                </a:r>
                <a:r>
                  <a:rPr lang="zh-CN" altLang="zh-CN" sz="2800" dirty="0">
                    <a:effectLst/>
                    <a:latin typeface="Cambria" panose="02040503050406030204" pitchFamily="18" charset="0"/>
                    <a:cs typeface="Times New Roman" panose="02020603050405020304" pitchFamily="18" charset="0"/>
                  </a:rPr>
                  <a:t>记</a:t>
                </a:r>
                <a:r>
                  <a:rPr lang="en-US" altLang="zh-CN" sz="2800" dirty="0">
                    <a:effectLst/>
                    <a:latin typeface="Cambria" panose="02040503050406030204" pitchFamily="18" charset="0"/>
                    <a:cs typeface="Times New Roman" panose="02020603050405020304" pitchFamily="18" charset="0"/>
                  </a:rPr>
                  <a:t>R</a:t>
                </a:r>
                <a:r>
                  <a:rPr lang="zh-CN" altLang="zh-CN" sz="2800" dirty="0">
                    <a:effectLst/>
                    <a:latin typeface="Cambria" panose="02040503050406030204" pitchFamily="18" charset="0"/>
                    <a:cs typeface="Times New Roman" panose="02020603050405020304" pitchFamily="18" charset="0"/>
                  </a:rPr>
                  <a:t>和</a:t>
                </a:r>
                <a:r>
                  <a:rPr lang="en-US" altLang="zh-CN" sz="2800" dirty="0">
                    <a:effectLst/>
                    <a:latin typeface="Cambria" panose="02040503050406030204" pitchFamily="18" charset="0"/>
                    <a:cs typeface="Times New Roman" panose="02020603050405020304" pitchFamily="18" charset="0"/>
                  </a:rPr>
                  <a:t>Θ</a:t>
                </a:r>
                <a:r>
                  <a:rPr lang="zh-CN" altLang="zh-CN" sz="2800" dirty="0">
                    <a:effectLst/>
                    <a:latin typeface="Cambria" panose="02040503050406030204" pitchFamily="18" charset="0"/>
                    <a:cs typeface="Times New Roman" panose="02020603050405020304" pitchFamily="18" charset="0"/>
                  </a:rPr>
                  <a:t>为点</a:t>
                </a:r>
                <a14:m>
                  <m:oMath xmlns:m="http://schemas.openxmlformats.org/officeDocument/2006/math">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Sub>
                      </m:e>
                    </m:d>
                  </m:oMath>
                </a14:m>
                <a:r>
                  <a:rPr lang="zh-CN" altLang="zh-CN" sz="2800" dirty="0">
                    <a:effectLst/>
                    <a:latin typeface="Cambria" panose="02040503050406030204" pitchFamily="18" charset="0"/>
                    <a:cs typeface="Times New Roman" panose="02020603050405020304" pitchFamily="18" charset="0"/>
                  </a:rPr>
                  <a:t>的极坐标</a:t>
                </a:r>
                <a:r>
                  <a:rPr lang="en-US" altLang="zh-CN" sz="2800" dirty="0">
                    <a:effectLst/>
                    <a:latin typeface="Cambria" panose="02040503050406030204" pitchFamily="18" charset="0"/>
                    <a:cs typeface="Times New Roman" panose="02020603050405020304" pitchFamily="18" charset="0"/>
                  </a:rPr>
                  <a:t>,</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r>
                  <a:rPr lang="zh-CN" altLang="zh-CN" sz="2800" dirty="0">
                    <a:effectLst/>
                    <a:latin typeface="Cambria" panose="02040503050406030204" pitchFamily="18" charset="0"/>
                    <a:cs typeface="Times New Roman" panose="02020603050405020304" pitchFamily="18" charset="0"/>
                  </a:rPr>
                  <a:t>则</a:t>
                </a:r>
                <a:r>
                  <a:rPr lang="en-US" altLang="zh-CN" sz="2800" dirty="0">
                    <a:effectLst/>
                    <a:latin typeface="Cambria" panose="02040503050406030204" pitchFamily="18" charset="0"/>
                    <a:cs typeface="Times New Roman" panose="02020603050405020304" pitchFamily="18" charset="0"/>
                  </a:rPr>
                  <a:t> R</a:t>
                </a:r>
                <a:r>
                  <a:rPr lang="zh-CN" altLang="zh-CN" sz="2800" dirty="0">
                    <a:effectLst/>
                    <a:latin typeface="Cambria" panose="02040503050406030204" pitchFamily="18" charset="0"/>
                    <a:cs typeface="Times New Roman" panose="02020603050405020304" pitchFamily="18" charset="0"/>
                  </a:rPr>
                  <a:t>与</a:t>
                </a:r>
                <a:r>
                  <a:rPr lang="en-US" altLang="zh-CN" sz="2800" dirty="0">
                    <a:effectLst/>
                    <a:latin typeface="Cambria" panose="02040503050406030204" pitchFamily="18" charset="0"/>
                    <a:cs typeface="Times New Roman" panose="02020603050405020304" pitchFamily="18" charset="0"/>
                  </a:rPr>
                  <a:t>Θ</a:t>
                </a:r>
                <a:r>
                  <a:rPr lang="zh-CN" altLang="zh-CN" sz="2800" dirty="0">
                    <a:effectLst/>
                    <a:latin typeface="Cambria" panose="02040503050406030204" pitchFamily="18" charset="0"/>
                    <a:cs typeface="Times New Roman" panose="02020603050405020304" pitchFamily="18" charset="0"/>
                  </a:rPr>
                  <a:t>是独立的</a:t>
                </a:r>
                <a:r>
                  <a:rPr lang="en-US" altLang="zh-CN" sz="2800" dirty="0">
                    <a:effectLst/>
                    <a:latin typeface="Cambria" panose="02040503050406030204" pitchFamily="18" charset="0"/>
                    <a:cs typeface="Times New Roman" panose="02020603050405020304" pitchFamily="18" charset="0"/>
                  </a:rPr>
                  <a:t>,</a:t>
                </a:r>
                <a:r>
                  <a:rPr lang="zh-CN" altLang="zh-CN" sz="2800" dirty="0">
                    <a:effectLst/>
                    <a:latin typeface="Cambria" panose="02040503050406030204" pitchFamily="18" charset="0"/>
                    <a:cs typeface="Times New Roman" panose="02020603050405020304" pitchFamily="18" charset="0"/>
                  </a:rPr>
                  <a:t>且</a:t>
                </a:r>
                <a:endParaRPr lang="en-US" altLang="zh-CN" sz="2800" i="1" dirty="0">
                  <a:effectLst/>
                  <a:latin typeface="Cambria Math" panose="02040503050406030204" pitchFamily="18" charset="0"/>
                  <a:ea typeface="Cambria Math" panose="02040503050406030204" pitchFamily="18" charset="0"/>
                  <a:cs typeface="Times New Roman" panose="02020603050405020304" pitchFamily="18" charset="0"/>
                </a:endParaRPr>
              </a:p>
              <a:p>
                <a:pPr>
                  <a:spcBef>
                    <a:spcPts val="900"/>
                  </a:spcBef>
                  <a:spcAft>
                    <a:spcPts val="900"/>
                  </a:spcAft>
                </a:pPr>
                <a14:m>
                  <m:oMath xmlns:m="http://schemas.openxmlformats.org/officeDocument/2006/math">
                    <m:r>
                      <a:rPr lang="en-US" altLang="zh-CN" sz="2800" b="0" i="1" smtClean="0">
                        <a:effectLst/>
                        <a:latin typeface="Cambria Math" panose="02040503050406030204" pitchFamily="18" charset="0"/>
                        <a:ea typeface="Cambria Math" panose="02040503050406030204" pitchFamily="18" charset="0"/>
                        <a:cs typeface="Times New Roman" panose="02020603050405020304" pitchFamily="18" charset="0"/>
                      </a:rPr>
                      <m:t>     </m:t>
                    </m:r>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effectLst/>
                            <a:latin typeface="Cambria Math" panose="02040503050406030204" pitchFamily="18" charset="0"/>
                            <a:cs typeface="Times New Roman" panose="02020603050405020304" pitchFamily="18" charset="0"/>
                          </a:rPr>
                          <m:t>𝑅</m:t>
                        </m:r>
                      </m:e>
                      <m:sup>
                        <m:r>
                          <a:rPr lang="en-US" altLang="zh-CN" sz="2800" i="1">
                            <a:effectLst/>
                            <a:latin typeface="Cambria Math" panose="02040503050406030204" pitchFamily="18" charset="0"/>
                            <a:cs typeface="Times New Roman" panose="02020603050405020304" pitchFamily="18" charset="0"/>
                          </a:rPr>
                          <m:t>2</m:t>
                        </m:r>
                      </m:sup>
                    </m:sSup>
                  </m:oMath>
                </a14:m>
                <a:r>
                  <a:rPr lang="zh-CN" altLang="zh-CN" sz="2800" dirty="0">
                    <a:effectLst/>
                    <a:latin typeface="Cambria" panose="02040503050406030204" pitchFamily="18" charset="0"/>
                    <a:cs typeface="Times New Roman" panose="02020603050405020304" pitchFamily="18" charset="0"/>
                  </a:rPr>
                  <a:t>在</a:t>
                </a:r>
                <a:r>
                  <a:rPr lang="en-US" altLang="zh-CN" sz="2800" dirty="0">
                    <a:effectLst/>
                    <a:latin typeface="Cambria" panose="02040503050406030204" pitchFamily="18" charset="0"/>
                    <a:cs typeface="Times New Roman" panose="02020603050405020304" pitchFamily="18" charset="0"/>
                  </a:rPr>
                  <a:t>(0,1)</a:t>
                </a:r>
                <a:r>
                  <a:rPr lang="zh-CN" altLang="zh-CN" sz="2800" dirty="0">
                    <a:effectLst/>
                    <a:latin typeface="Cambria" panose="02040503050406030204" pitchFamily="18" charset="0"/>
                    <a:cs typeface="Times New Roman" panose="02020603050405020304" pitchFamily="18" charset="0"/>
                  </a:rPr>
                  <a:t>上均匀分布</a:t>
                </a:r>
                <a:r>
                  <a:rPr lang="zh-CN" altLang="en-US" sz="2800" dirty="0">
                    <a:effectLst/>
                    <a:latin typeface="Cambria" panose="02040503050406030204" pitchFamily="18" charset="0"/>
                    <a:cs typeface="Times New Roman" panose="02020603050405020304" pitchFamily="18" charset="0"/>
                  </a:rPr>
                  <a:t>；</a:t>
                </a:r>
                <a:r>
                  <a:rPr lang="en-US" altLang="zh-CN" sz="2800" dirty="0">
                    <a:effectLst/>
                    <a:latin typeface="Cambria" panose="02040503050406030204" pitchFamily="18" charset="0"/>
                    <a:cs typeface="Times New Roman" panose="02020603050405020304" pitchFamily="18" charset="0"/>
                  </a:rPr>
                  <a:t>Θ</a:t>
                </a:r>
                <a:r>
                  <a:rPr lang="zh-CN" altLang="zh-CN" sz="2800" dirty="0">
                    <a:effectLst/>
                    <a:latin typeface="Cambria" panose="02040503050406030204" pitchFamily="18" charset="0"/>
                    <a:cs typeface="Times New Roman" panose="02020603050405020304" pitchFamily="18" charset="0"/>
                  </a:rPr>
                  <a:t>在</a:t>
                </a:r>
                <a14:m>
                  <m:oMath xmlns:m="http://schemas.openxmlformats.org/officeDocument/2006/math">
                    <m:d>
                      <m:d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a:effectLst/>
                            <a:latin typeface="Cambria Math" panose="02040503050406030204" pitchFamily="18" charset="0"/>
                            <a:cs typeface="Times New Roman" panose="02020603050405020304" pitchFamily="18" charset="0"/>
                          </a:rPr>
                          <m:t>0</m:t>
                        </m:r>
                        <m:r>
                          <a:rPr lang="en-US" altLang="zh-CN" sz="2800">
                            <a:effectLst/>
                            <a:latin typeface="Cambria Math" panose="02040503050406030204" pitchFamily="18" charset="0"/>
                            <a:cs typeface="Times New Roman" panose="02020603050405020304" pitchFamily="18" charset="0"/>
                          </a:rPr>
                          <m:t>,</m:t>
                        </m:r>
                        <m:r>
                          <a:rPr lang="en-US" altLang="zh-CN" sz="2800" i="1">
                            <a:effectLst/>
                            <a:latin typeface="Cambria Math" panose="02040503050406030204" pitchFamily="18" charset="0"/>
                            <a:cs typeface="Times New Roman" panose="02020603050405020304" pitchFamily="18" charset="0"/>
                          </a:rPr>
                          <m:t>2</m:t>
                        </m:r>
                        <m:r>
                          <a:rPr lang="en-US" altLang="zh-CN" sz="2800" i="1">
                            <a:effectLst/>
                            <a:latin typeface="Cambria Math" panose="02040503050406030204" pitchFamily="18" charset="0"/>
                            <a:cs typeface="Times New Roman" panose="02020603050405020304" pitchFamily="18" charset="0"/>
                          </a:rPr>
                          <m:t>𝜋</m:t>
                        </m:r>
                      </m:e>
                    </m:d>
                  </m:oMath>
                </a14:m>
                <a:r>
                  <a:rPr lang="zh-CN" altLang="zh-CN" sz="2800" dirty="0">
                    <a:effectLst/>
                    <a:latin typeface="Cambria" panose="02040503050406030204" pitchFamily="18" charset="0"/>
                    <a:cs typeface="Times New Roman" panose="02020603050405020304" pitchFamily="18" charset="0"/>
                  </a:rPr>
                  <a:t>上均匀分布</a:t>
                </a:r>
                <a:r>
                  <a:rPr lang="en-US" altLang="zh-CN" sz="2800" dirty="0">
                    <a:effectLst/>
                    <a:latin typeface="Cambria" panose="02040503050406030204" pitchFamily="18" charset="0"/>
                    <a:cs typeface="Times New Roman" panose="02020603050405020304" pitchFamily="18" charset="0"/>
                  </a:rPr>
                  <a:t>,</a:t>
                </a:r>
                <a:endParaRPr lang="zh-CN" altLang="zh-CN" sz="2800" dirty="0">
                  <a:effectLst/>
                  <a:latin typeface="Cambria" panose="020405030504060302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9B4D4EF6-A1BE-4EA9-8BD9-50329BFC2B96}"/>
                  </a:ext>
                </a:extLst>
              </p:cNvPr>
              <p:cNvSpPr txBox="1">
                <a:spLocks noRot="1" noChangeAspect="1" noMove="1" noResize="1" noEditPoints="1" noAdjustHandles="1" noChangeArrowheads="1" noChangeShapeType="1" noTextEdit="1"/>
              </p:cNvSpPr>
              <p:nvPr/>
            </p:nvSpPr>
            <p:spPr>
              <a:xfrm>
                <a:off x="-3912" y="1574007"/>
                <a:ext cx="9143999" cy="1846659"/>
              </a:xfrm>
              <a:prstGeom prst="rect">
                <a:avLst/>
              </a:prstGeom>
              <a:blipFill>
                <a:blip r:embed="rId2"/>
                <a:stretch>
                  <a:fillRect l="-1333" t="-4290" b="-8251"/>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C77443F-092C-4A49-A5E9-BF4EB9406A40}"/>
                  </a:ext>
                </a:extLst>
              </p:cNvPr>
              <p:cNvSpPr txBox="1"/>
              <p:nvPr/>
            </p:nvSpPr>
            <p:spPr>
              <a:xfrm>
                <a:off x="17010" y="3705340"/>
                <a:ext cx="8728335" cy="2298193"/>
              </a:xfrm>
              <a:prstGeom prst="rect">
                <a:avLst/>
              </a:prstGeom>
              <a:noFill/>
              <a:ln w="25400">
                <a:noFill/>
              </a:ln>
            </p:spPr>
            <p:txBody>
              <a:bodyPr wrap="square">
                <a:spAutoFit/>
              </a:bodyPr>
              <a:lstStyle/>
              <a:p>
                <a:pPr>
                  <a:spcBef>
                    <a:spcPts val="900"/>
                  </a:spcBef>
                  <a:spcAft>
                    <a:spcPts val="900"/>
                  </a:spcAft>
                </a:pPr>
                <a14:m>
                  <m:oMathPara xmlns:m="http://schemas.openxmlformats.org/officeDocument/2006/math">
                    <m:oMathParaPr>
                      <m:jc m:val="center"/>
                    </m:oMathParaPr>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𝑠𝑖𝑛</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𝛩</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num>
                        <m:den>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𝑅</m:t>
                          </m:r>
                        </m:den>
                      </m:f>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num>
                        <m:den>
                          <m:rad>
                            <m:radPr>
                              <m:degHide m:val="on"/>
                              <m:ctrlPr>
                                <a:rPr lang="zh-CN" altLang="zh-CN" sz="2800" i="1">
                                  <a:latin typeface="Cambria Math" panose="02040503050406030204" pitchFamily="18" charset="0"/>
                                  <a:ea typeface="Cambria Math" panose="02040503050406030204" pitchFamily="18" charset="0"/>
                                  <a:cs typeface="Times New Roman" panose="02020603050405020304" pitchFamily="18" charset="0"/>
                                </a:rPr>
                              </m:ctrlPr>
                            </m:radPr>
                            <m:deg/>
                            <m:e>
                              <m:sSubSup>
                                <m:sSubSupPr>
                                  <m:ctrlPr>
                                    <a:rPr lang="zh-CN" altLang="zh-CN" sz="2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latin typeface="Cambria Math" panose="02040503050406030204" pitchFamily="18" charset="0"/>
                                      <a:cs typeface="Times New Roman" panose="02020603050405020304" pitchFamily="18" charset="0"/>
                                    </a:rPr>
                                    <m:t>𝑉</m:t>
                                  </m:r>
                                </m:e>
                                <m:sub>
                                  <m:r>
                                    <a:rPr lang="en-US" altLang="zh-CN" sz="2800" i="1">
                                      <a:latin typeface="Cambria Math" panose="02040503050406030204" pitchFamily="18" charset="0"/>
                                      <a:cs typeface="Times New Roman" panose="02020603050405020304" pitchFamily="18" charset="0"/>
                                    </a:rPr>
                                    <m:t>1</m:t>
                                  </m:r>
                                </m:sub>
                                <m:sup>
                                  <m:r>
                                    <a:rPr lang="en-US" altLang="zh-CN" sz="2800" i="1">
                                      <a:latin typeface="Cambria Math" panose="02040503050406030204" pitchFamily="18" charset="0"/>
                                      <a:cs typeface="Times New Roman" panose="02020603050405020304" pitchFamily="18" charset="0"/>
                                    </a:rPr>
                                    <m:t>2</m:t>
                                  </m:r>
                                </m:sup>
                              </m:sSubSup>
                              <m:r>
                                <a:rPr lang="en-US" altLang="zh-CN" sz="2800">
                                  <a:latin typeface="Cambria Math" panose="02040503050406030204" pitchFamily="18" charset="0"/>
                                  <a:cs typeface="Times New Roman" panose="02020603050405020304" pitchFamily="18" charset="0"/>
                                </a:rPr>
                                <m:t>+</m:t>
                              </m:r>
                              <m:sSubSup>
                                <m:sSubSupPr>
                                  <m:ctrlPr>
                                    <a:rPr lang="zh-CN" altLang="zh-CN" sz="2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latin typeface="Cambria Math" panose="02040503050406030204" pitchFamily="18" charset="0"/>
                                      <a:cs typeface="Times New Roman" panose="02020603050405020304" pitchFamily="18" charset="0"/>
                                    </a:rPr>
                                    <m:t>𝑉</m:t>
                                  </m:r>
                                </m:e>
                                <m:sub>
                                  <m:r>
                                    <a:rPr lang="en-US" altLang="zh-CN" sz="2800" i="1">
                                      <a:latin typeface="Cambria Math" panose="02040503050406030204" pitchFamily="18" charset="0"/>
                                      <a:cs typeface="Times New Roman" panose="02020603050405020304" pitchFamily="18" charset="0"/>
                                    </a:rPr>
                                    <m:t>2</m:t>
                                  </m:r>
                                </m:sub>
                                <m:sup>
                                  <m:r>
                                    <a:rPr lang="en-US" altLang="zh-CN" sz="2800" i="1">
                                      <a:latin typeface="Cambria Math" panose="02040503050406030204" pitchFamily="18" charset="0"/>
                                      <a:cs typeface="Times New Roman" panose="02020603050405020304" pitchFamily="18" charset="0"/>
                                    </a:rPr>
                                    <m:t>2</m:t>
                                  </m:r>
                                </m:sup>
                              </m:sSubSup>
                            </m:e>
                          </m:rad>
                        </m:den>
                      </m:f>
                    </m:oMath>
                  </m:oMathPara>
                </a14:m>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𝑐𝑜𝑠</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𝛩</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num>
                        <m:den>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𝑅</m:t>
                          </m:r>
                        </m:den>
                      </m:f>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num>
                        <m:den>
                          <m:rad>
                            <m:radPr>
                              <m:degHide m:val="on"/>
                              <m:ctrlPr>
                                <a:rPr lang="zh-CN" altLang="zh-CN" sz="2800" i="1">
                                  <a:latin typeface="Cambria Math" panose="02040503050406030204" pitchFamily="18" charset="0"/>
                                  <a:ea typeface="Cambria Math" panose="02040503050406030204" pitchFamily="18" charset="0"/>
                                  <a:cs typeface="Times New Roman" panose="02020603050405020304" pitchFamily="18" charset="0"/>
                                </a:rPr>
                              </m:ctrlPr>
                            </m:radPr>
                            <m:deg/>
                            <m:e>
                              <m:sSubSup>
                                <m:sSubSupPr>
                                  <m:ctrlPr>
                                    <a:rPr lang="zh-CN" altLang="zh-CN" sz="2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latin typeface="Cambria Math" panose="02040503050406030204" pitchFamily="18" charset="0"/>
                                      <a:cs typeface="Times New Roman" panose="02020603050405020304" pitchFamily="18" charset="0"/>
                                    </a:rPr>
                                    <m:t>𝑉</m:t>
                                  </m:r>
                                </m:e>
                                <m:sub>
                                  <m:r>
                                    <a:rPr lang="en-US" altLang="zh-CN" sz="2800" i="1">
                                      <a:latin typeface="Cambria Math" panose="02040503050406030204" pitchFamily="18" charset="0"/>
                                      <a:cs typeface="Times New Roman" panose="02020603050405020304" pitchFamily="18" charset="0"/>
                                    </a:rPr>
                                    <m:t>1</m:t>
                                  </m:r>
                                </m:sub>
                                <m:sup>
                                  <m:r>
                                    <a:rPr lang="en-US" altLang="zh-CN" sz="2800" i="1">
                                      <a:latin typeface="Cambria Math" panose="02040503050406030204" pitchFamily="18" charset="0"/>
                                      <a:cs typeface="Times New Roman" panose="02020603050405020304" pitchFamily="18" charset="0"/>
                                    </a:rPr>
                                    <m:t>2</m:t>
                                  </m:r>
                                </m:sup>
                              </m:sSubSup>
                              <m:r>
                                <a:rPr lang="en-US" altLang="zh-CN" sz="2800">
                                  <a:latin typeface="Cambria Math" panose="02040503050406030204" pitchFamily="18" charset="0"/>
                                  <a:cs typeface="Times New Roman" panose="02020603050405020304" pitchFamily="18" charset="0"/>
                                </a:rPr>
                                <m:t>+</m:t>
                              </m:r>
                              <m:sSubSup>
                                <m:sSubSupPr>
                                  <m:ctrlPr>
                                    <a:rPr lang="zh-CN" altLang="zh-CN" sz="2800" i="1">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latin typeface="Cambria Math" panose="02040503050406030204" pitchFamily="18" charset="0"/>
                                      <a:cs typeface="Times New Roman" panose="02020603050405020304" pitchFamily="18" charset="0"/>
                                    </a:rPr>
                                    <m:t>𝑉</m:t>
                                  </m:r>
                                </m:e>
                                <m:sub>
                                  <m:r>
                                    <a:rPr lang="en-US" altLang="zh-CN" sz="2800" i="1">
                                      <a:latin typeface="Cambria Math" panose="02040503050406030204" pitchFamily="18" charset="0"/>
                                      <a:cs typeface="Times New Roman" panose="02020603050405020304" pitchFamily="18" charset="0"/>
                                    </a:rPr>
                                    <m:t>2</m:t>
                                  </m:r>
                                </m:sub>
                                <m:sup>
                                  <m:r>
                                    <a:rPr lang="en-US" altLang="zh-CN" sz="2800" i="1">
                                      <a:latin typeface="Cambria Math" panose="02040503050406030204" pitchFamily="18" charset="0"/>
                                      <a:cs typeface="Times New Roman" panose="02020603050405020304" pitchFamily="18" charset="0"/>
                                    </a:rPr>
                                    <m:t>2</m:t>
                                  </m:r>
                                </m:sup>
                              </m:sSubSup>
                            </m:e>
                          </m:rad>
                        </m:den>
                      </m:f>
                    </m:oMath>
                  </m:oMathPara>
                </a14:m>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BC77443F-092C-4A49-A5E9-BF4EB9406A40}"/>
                  </a:ext>
                </a:extLst>
              </p:cNvPr>
              <p:cNvSpPr txBox="1">
                <a:spLocks noRot="1" noChangeAspect="1" noMove="1" noResize="1" noEditPoints="1" noAdjustHandles="1" noChangeArrowheads="1" noChangeShapeType="1" noTextEdit="1"/>
              </p:cNvSpPr>
              <p:nvPr/>
            </p:nvSpPr>
            <p:spPr>
              <a:xfrm>
                <a:off x="17010" y="3705340"/>
                <a:ext cx="8728335" cy="2298193"/>
              </a:xfrm>
              <a:prstGeom prst="rect">
                <a:avLst/>
              </a:prstGeom>
              <a:blipFill>
                <a:blip r:embed="rId3"/>
                <a:stretch>
                  <a:fillRect/>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966465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2.3.5 </a:t>
            </a:r>
            <a:r>
              <a:rPr lang="zh-CN" altLang="en-US" dirty="0"/>
              <a:t>舍选法</a:t>
            </a:r>
          </a:p>
        </p:txBody>
      </p:sp>
      <p:sp>
        <p:nvSpPr>
          <p:cNvPr id="6" name="文本框 5">
            <a:extLst>
              <a:ext uri="{FF2B5EF4-FFF2-40B4-BE49-F238E27FC236}">
                <a16:creationId xmlns:a16="http://schemas.microsoft.com/office/drawing/2014/main" id="{C0EB29E0-4AF8-4E24-9B60-6730E8E173CC}"/>
              </a:ext>
            </a:extLst>
          </p:cNvPr>
          <p:cNvSpPr txBox="1"/>
          <p:nvPr/>
        </p:nvSpPr>
        <p:spPr>
          <a:xfrm>
            <a:off x="-49426" y="918300"/>
            <a:ext cx="9143999" cy="523220"/>
          </a:xfrm>
          <a:prstGeom prst="rect">
            <a:avLst/>
          </a:prstGeom>
          <a:noFill/>
          <a:ln w="25400">
            <a:noFill/>
          </a:ln>
        </p:spPr>
        <p:txBody>
          <a:bodyPr wrap="square">
            <a:spAutoFit/>
          </a:bodyPr>
          <a:lstStyle/>
          <a:p>
            <a:r>
              <a:rPr lang="zh-CN" altLang="en-US" sz="2800" dirty="0"/>
              <a:t>例</a:t>
            </a:r>
            <a:r>
              <a:rPr lang="en-US" altLang="zh-CN" sz="2800" dirty="0"/>
              <a:t>6.16 (</a:t>
            </a:r>
            <a:r>
              <a:rPr lang="zh-CN" altLang="en-US" sz="2800" dirty="0"/>
              <a:t>用舍选法和</a:t>
            </a:r>
            <a:r>
              <a:rPr lang="en-US" altLang="zh-CN" sz="2800" dirty="0"/>
              <a:t>Box-Muller</a:t>
            </a:r>
            <a:r>
              <a:rPr lang="zh-CN" altLang="en-US" sz="2800" dirty="0"/>
              <a:t>变换生成正态随机数</a:t>
            </a:r>
            <a:r>
              <a:rPr lang="en-US" altLang="zh-CN" sz="2800" dirty="0"/>
              <a:t>)</a:t>
            </a:r>
            <a:endParaRPr lang="zh-CN" altLang="en-US" sz="28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65CEEF5-B514-4F2C-B618-E7367A4403ED}"/>
                  </a:ext>
                </a:extLst>
              </p:cNvPr>
              <p:cNvSpPr txBox="1"/>
              <p:nvPr/>
            </p:nvSpPr>
            <p:spPr>
              <a:xfrm>
                <a:off x="39720" y="1675892"/>
                <a:ext cx="9094573" cy="3506216"/>
              </a:xfrm>
              <a:prstGeom prst="rect">
                <a:avLst/>
              </a:prstGeom>
              <a:noFill/>
              <a:ln w="25400">
                <a:noFill/>
              </a:ln>
            </p:spPr>
            <p:txBody>
              <a:bodyPr wrap="square">
                <a:spAutoFit/>
              </a:bodyPr>
              <a:lstStyle/>
              <a:p>
                <a:pPr>
                  <a:spcBef>
                    <a:spcPts val="900"/>
                  </a:spcBef>
                  <a:spcAft>
                    <a:spcPts val="900"/>
                  </a:spcAft>
                </a:pPr>
                <a:r>
                  <a:rPr lang="zh-CN" altLang="zh-CN" sz="2800" dirty="0">
                    <a:effectLst/>
                    <a:latin typeface="Cambria" panose="02040503050406030204" pitchFamily="18" charset="0"/>
                    <a:ea typeface="宋体" panose="02010600030101010101" pitchFamily="2" charset="-122"/>
                    <a:cs typeface="Times New Roman" panose="02020603050405020304" pitchFamily="18" charset="0"/>
                  </a:rPr>
                  <a:t>一对独立的标准正态随机变量可以如下生成</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生成一个随机数</a:t>
                </a:r>
                <a:r>
                  <a:rPr lang="en-US" altLang="zh-CN" sz="2800" dirty="0" err="1">
                    <a:effectLst/>
                    <a:latin typeface="Cambria" panose="02040503050406030204" pitchFamily="18" charset="0"/>
                    <a:ea typeface="宋体" panose="02010600030101010101" pitchFamily="2" charset="-122"/>
                    <a:cs typeface="Times New Roman" panose="02020603050405020304" pitchFamily="18" charset="0"/>
                  </a:rPr>
                  <a:t>U</a:t>
                </a: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后</a:t>
                </a:r>
                <a:r>
                  <a:rPr lang="en-US" altLang="zh-CN" sz="2800" dirty="0" err="1">
                    <a:effectLst/>
                    <a:latin typeface="Cambria" panose="02040503050406030204" pitchFamily="18" charset="0"/>
                    <a:ea typeface="宋体" panose="02010600030101010101" pitchFamily="2" charset="-122"/>
                    <a:cs typeface="Times New Roman" panose="02020603050405020304" pitchFamily="18" charset="0"/>
                  </a:rPr>
                  <a:t>,</a:t>
                </a: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令</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r>
                            <m:rPr>
                              <m:sty m:val="p"/>
                            </m:rPr>
                            <a:rPr lang="en-US" altLang="zh-CN" sz="2800">
                              <a:effectLst/>
                              <a:latin typeface="Cambria Math" panose="02040503050406030204" pitchFamily="18" charset="0"/>
                              <a:ea typeface="宋体" panose="02010600030101010101" pitchFamily="2" charset="-122"/>
                              <a:cs typeface="Times New Roman" panose="02020603050405020304" pitchFamily="18" charset="0"/>
                            </a:rPr>
                            <m:t>ln</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𝑈</m:t>
                          </m:r>
                        </m:e>
                      </m:rad>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num>
                        <m:den>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e>
                          </m:rad>
                        </m:den>
                      </m:f>
                    </m:oMath>
                  </m:oMathPara>
                </a14:m>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r>
                            <m:rPr>
                              <m:sty m:val="p"/>
                            </m:rPr>
                            <a:rPr lang="en-US" altLang="zh-CN" sz="2800">
                              <a:effectLst/>
                              <a:latin typeface="Cambria Math" panose="02040503050406030204" pitchFamily="18" charset="0"/>
                              <a:ea typeface="宋体" panose="02010600030101010101" pitchFamily="2" charset="-122"/>
                              <a:cs typeface="Times New Roman" panose="02020603050405020304" pitchFamily="18" charset="0"/>
                            </a:rPr>
                            <m:t>ln</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𝑈</m:t>
                          </m:r>
                        </m:e>
                      </m:rad>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num>
                        <m:den>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e>
                          </m:rad>
                        </m:den>
                      </m:f>
                    </m:oMath>
                  </m:oMathPara>
                </a14:m>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465CEEF5-B514-4F2C-B618-E7367A4403ED}"/>
                  </a:ext>
                </a:extLst>
              </p:cNvPr>
              <p:cNvSpPr txBox="1">
                <a:spLocks noRot="1" noChangeAspect="1" noMove="1" noResize="1" noEditPoints="1" noAdjustHandles="1" noChangeArrowheads="1" noChangeShapeType="1" noTextEdit="1"/>
              </p:cNvSpPr>
              <p:nvPr/>
            </p:nvSpPr>
            <p:spPr>
              <a:xfrm>
                <a:off x="39720" y="1675892"/>
                <a:ext cx="9094573" cy="3506216"/>
              </a:xfrm>
              <a:prstGeom prst="rect">
                <a:avLst/>
              </a:prstGeom>
              <a:blipFill>
                <a:blip r:embed="rId2"/>
                <a:stretch>
                  <a:fillRect l="-1408" t="-2435"/>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0272755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2.3.5 </a:t>
            </a:r>
            <a:r>
              <a:rPr lang="zh-CN" altLang="en-US" dirty="0"/>
              <a:t>舍选法</a:t>
            </a:r>
          </a:p>
        </p:txBody>
      </p:sp>
      <p:sp>
        <p:nvSpPr>
          <p:cNvPr id="6" name="文本框 5">
            <a:extLst>
              <a:ext uri="{FF2B5EF4-FFF2-40B4-BE49-F238E27FC236}">
                <a16:creationId xmlns:a16="http://schemas.microsoft.com/office/drawing/2014/main" id="{C0EB29E0-4AF8-4E24-9B60-6730E8E173CC}"/>
              </a:ext>
            </a:extLst>
          </p:cNvPr>
          <p:cNvSpPr txBox="1"/>
          <p:nvPr/>
        </p:nvSpPr>
        <p:spPr>
          <a:xfrm>
            <a:off x="-49426" y="918300"/>
            <a:ext cx="9143999" cy="523220"/>
          </a:xfrm>
          <a:prstGeom prst="rect">
            <a:avLst/>
          </a:prstGeom>
          <a:noFill/>
          <a:ln w="25400">
            <a:noFill/>
          </a:ln>
        </p:spPr>
        <p:txBody>
          <a:bodyPr wrap="square">
            <a:spAutoFit/>
          </a:bodyPr>
          <a:lstStyle/>
          <a:p>
            <a:r>
              <a:rPr lang="zh-CN" altLang="en-US" sz="2800" dirty="0"/>
              <a:t>例</a:t>
            </a:r>
            <a:r>
              <a:rPr lang="en-US" altLang="zh-CN" sz="2800" dirty="0"/>
              <a:t>6.16 (</a:t>
            </a:r>
            <a:r>
              <a:rPr lang="zh-CN" altLang="en-US" sz="2800" dirty="0"/>
              <a:t>用舍选法和</a:t>
            </a:r>
            <a:r>
              <a:rPr lang="en-US" altLang="zh-CN" sz="2800" dirty="0"/>
              <a:t>Box-Muller</a:t>
            </a:r>
            <a:r>
              <a:rPr lang="zh-CN" altLang="en-US" sz="2800" dirty="0"/>
              <a:t>变换生成正态随机数</a:t>
            </a:r>
            <a:r>
              <a:rPr lang="en-US" altLang="zh-CN" sz="2800" dirty="0"/>
              <a:t>)</a:t>
            </a:r>
            <a:endParaRPr lang="zh-CN" altLang="en-US" sz="2800"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E4BB88A-4FC8-4937-89CA-058210EC3632}"/>
                  </a:ext>
                </a:extLst>
              </p:cNvPr>
              <p:cNvSpPr txBox="1"/>
              <p:nvPr/>
            </p:nvSpPr>
            <p:spPr>
              <a:xfrm>
                <a:off x="0" y="1871426"/>
                <a:ext cx="9094573" cy="4235327"/>
              </a:xfrm>
              <a:prstGeom prst="rect">
                <a:avLst/>
              </a:prstGeom>
              <a:noFill/>
              <a:ln w="25400">
                <a:noFill/>
              </a:ln>
            </p:spPr>
            <p:txBody>
              <a:bodyPr wrap="square">
                <a:spAutoFit/>
              </a:bodyPr>
              <a:lstStyle/>
              <a:p>
                <a:pPr>
                  <a:spcBef>
                    <a:spcPts val="900"/>
                  </a:spcBef>
                  <a:spcAft>
                    <a:spcPts val="900"/>
                  </a:spcAft>
                </a:pPr>
                <a:r>
                  <a:rPr lang="en-US" altLang="zh-CN" sz="2800" dirty="0">
                    <a:effectLst/>
                    <a:latin typeface="宋体" panose="02010600030101010101" pitchFamily="2" charset="-122"/>
                    <a:cs typeface="Times New Roman" panose="02020603050405020304" pitchFamily="18" charset="0"/>
                  </a:rPr>
                  <a:t>令</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𝑆</m:t>
                    </m:r>
                    <m:r>
                      <a:rPr lang="en-US" altLang="zh-CN" sz="2800">
                        <a:effectLst/>
                        <a:latin typeface="Cambria Math" panose="02040503050406030204" pitchFamily="18" charset="0"/>
                        <a:cs typeface="Times New Roman" panose="02020603050405020304" pitchFamily="18" charset="0"/>
                      </a:rPr>
                      <m:t>=</m:t>
                    </m:r>
                    <m:sSup>
                      <m:s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effectLst/>
                            <a:latin typeface="Cambria Math" panose="02040503050406030204" pitchFamily="18" charset="0"/>
                            <a:cs typeface="Times New Roman" panose="02020603050405020304" pitchFamily="18" charset="0"/>
                          </a:rPr>
                          <m:t>𝑅</m:t>
                        </m:r>
                      </m:e>
                      <m:sup>
                        <m:r>
                          <a:rPr lang="en-US" altLang="zh-CN" sz="2800" i="1">
                            <a:effectLst/>
                            <a:latin typeface="Cambria Math" panose="02040503050406030204" pitchFamily="18" charset="0"/>
                            <a:cs typeface="Times New Roman" panose="02020603050405020304" pitchFamily="18" charset="0"/>
                          </a:rPr>
                          <m:t>2</m:t>
                        </m:r>
                      </m:sup>
                    </m:sSup>
                    <m:r>
                      <a:rPr lang="en-US" altLang="zh-CN" sz="2800">
                        <a:effectLst/>
                        <a:latin typeface="Cambria Math" panose="02040503050406030204" pitchFamily="18" charset="0"/>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up>
                        <m:r>
                          <a:rPr lang="en-US" altLang="zh-CN" sz="2800" i="1">
                            <a:effectLst/>
                            <a:latin typeface="Cambria Math" panose="02040503050406030204" pitchFamily="18" charset="0"/>
                            <a:cs typeface="Times New Roman" panose="02020603050405020304" pitchFamily="18" charset="0"/>
                          </a:rPr>
                          <m:t>2</m:t>
                        </m:r>
                      </m:sup>
                    </m:sSubSup>
                    <m:r>
                      <a:rPr lang="en-US" altLang="zh-CN" sz="2800">
                        <a:effectLst/>
                        <a:latin typeface="Cambria Math" panose="02040503050406030204" pitchFamily="18" charset="0"/>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up>
                        <m:r>
                          <a:rPr lang="en-US" altLang="zh-CN" sz="2800" i="1">
                            <a:effectLst/>
                            <a:latin typeface="Cambria Math" panose="02040503050406030204" pitchFamily="18" charset="0"/>
                            <a:cs typeface="Times New Roman" panose="02020603050405020304" pitchFamily="18" charset="0"/>
                          </a:rPr>
                          <m:t>2</m:t>
                        </m:r>
                      </m:sup>
                    </m:sSubSup>
                  </m:oMath>
                </a14:m>
                <a:r>
                  <a:rPr lang="zh-CN" altLang="zh-CN" sz="2800" dirty="0">
                    <a:effectLst/>
                    <a:latin typeface="Cambria" panose="02040503050406030204" pitchFamily="18" charset="0"/>
                    <a:cs typeface="Times New Roman" panose="02020603050405020304" pitchFamily="18" charset="0"/>
                  </a:rPr>
                  <a:t>，</a:t>
                </a:r>
                <a:r>
                  <a:rPr lang="en-US" altLang="zh-CN" sz="2800" dirty="0">
                    <a:effectLst/>
                    <a:latin typeface="宋体" panose="02010600030101010101" pitchFamily="2" charset="-122"/>
                    <a:cs typeface="Times New Roman" panose="02020603050405020304" pitchFamily="18" charset="0"/>
                  </a:rPr>
                  <a:t>则</a:t>
                </a:r>
                <a:endParaRPr lang="zh-CN" altLang="zh-CN" sz="2800" dirty="0">
                  <a:effectLst/>
                  <a:latin typeface="Cambria" panose="02040503050406030204" pitchFamily="18" charset="0"/>
                  <a:cs typeface="Times New Roman" panose="02020603050405020304" pitchFamily="18"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effectLst/>
                                <a:latin typeface="Cambria Math" panose="02040503050406030204" pitchFamily="18" charset="0"/>
                                <a:cs typeface="Times New Roman" panose="02020603050405020304" pitchFamily="18" charset="0"/>
                              </a:rPr>
                              <m:t>𝑋</m:t>
                            </m:r>
                            <m:r>
                              <a:rPr lang="en-US" altLang="zh-CN" sz="2800">
                                <a:effectLst/>
                                <a:latin typeface="Cambria Math" panose="02040503050406030204" pitchFamily="18" charset="0"/>
                                <a:cs typeface="Times New Roman" panose="02020603050405020304" pitchFamily="18" charset="0"/>
                              </a:rPr>
                              <m:t>=</m:t>
                            </m:r>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effectLst/>
                                    <a:latin typeface="Cambria Math" panose="02040503050406030204" pitchFamily="18" charset="0"/>
                                    <a:cs typeface="Times New Roman" panose="02020603050405020304" pitchFamily="18" charset="0"/>
                                  </a:rPr>
                                  <m:t>−2</m:t>
                                </m:r>
                                <m:r>
                                  <m:rPr>
                                    <m:sty m:val="p"/>
                                  </m:rPr>
                                  <a:rPr lang="en-US" altLang="zh-CN" sz="2800">
                                    <a:effectLst/>
                                    <a:latin typeface="Cambria Math" panose="02040503050406030204" pitchFamily="18" charset="0"/>
                                    <a:cs typeface="Times New Roman" panose="02020603050405020304" pitchFamily="18" charset="0"/>
                                  </a:rPr>
                                  <m:t>ln</m:t>
                                </m:r>
                                <m:r>
                                  <a:rPr lang="en-US" altLang="zh-CN" sz="2800" i="1">
                                    <a:effectLst/>
                                    <a:latin typeface="Cambria Math" panose="02040503050406030204" pitchFamily="18" charset="0"/>
                                    <a:cs typeface="Times New Roman" panose="02020603050405020304" pitchFamily="18" charset="0"/>
                                  </a:rPr>
                                  <m:t>𝑆</m:t>
                                </m:r>
                              </m:e>
                            </m:rad>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Sub>
                              </m:num>
                              <m:den>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effectLst/>
                                        <a:latin typeface="Cambria Math" panose="02040503050406030204" pitchFamily="18" charset="0"/>
                                        <a:cs typeface="Times New Roman" panose="02020603050405020304" pitchFamily="18" charset="0"/>
                                      </a:rPr>
                                      <m:t>𝑆</m:t>
                                    </m:r>
                                  </m:e>
                                </m:rad>
                              </m:den>
                            </m:f>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Sub>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effectLst/>
                                        <a:latin typeface="Cambria Math" panose="02040503050406030204" pitchFamily="18" charset="0"/>
                                        <a:cs typeface="Times New Roman" panose="02020603050405020304" pitchFamily="18" charset="0"/>
                                      </a:rPr>
                                      <m:t>−2</m:t>
                                    </m:r>
                                    <m:r>
                                      <m:rPr>
                                        <m:sty m:val="p"/>
                                      </m:rPr>
                                      <a:rPr lang="en-US" altLang="zh-CN" sz="2800">
                                        <a:effectLst/>
                                        <a:latin typeface="Cambria Math" panose="02040503050406030204" pitchFamily="18" charset="0"/>
                                        <a:cs typeface="Times New Roman" panose="02020603050405020304" pitchFamily="18" charset="0"/>
                                      </a:rPr>
                                      <m:t>ln</m:t>
                                    </m:r>
                                    <m:r>
                                      <a:rPr lang="en-US" altLang="zh-CN" sz="2800" i="1">
                                        <a:effectLst/>
                                        <a:latin typeface="Cambria Math" panose="02040503050406030204" pitchFamily="18" charset="0"/>
                                        <a:cs typeface="Times New Roman" panose="02020603050405020304" pitchFamily="18" charset="0"/>
                                      </a:rPr>
                                      <m:t>𝑆</m:t>
                                    </m:r>
                                  </m:num>
                                  <m:den>
                                    <m:r>
                                      <a:rPr lang="en-US" altLang="zh-CN" sz="2800" i="1">
                                        <a:effectLst/>
                                        <a:latin typeface="Cambria Math" panose="02040503050406030204" pitchFamily="18" charset="0"/>
                                        <a:cs typeface="Times New Roman" panose="02020603050405020304" pitchFamily="18" charset="0"/>
                                      </a:rPr>
                                      <m:t>𝑆</m:t>
                                    </m:r>
                                  </m:den>
                                </m:f>
                              </m:e>
                            </m:rad>
                          </m:e>
                        </m:mr>
                        <m:mr>
                          <m:e>
                            <m:r>
                              <a:rPr lang="en-US" altLang="zh-CN" sz="2800" i="1">
                                <a:effectLst/>
                                <a:latin typeface="Cambria Math" panose="02040503050406030204" pitchFamily="18" charset="0"/>
                                <a:cs typeface="Times New Roman" panose="02020603050405020304" pitchFamily="18" charset="0"/>
                              </a:rPr>
                              <m:t>𝑌</m:t>
                            </m:r>
                            <m:r>
                              <a:rPr lang="en-US" altLang="zh-CN" sz="2800">
                                <a:effectLst/>
                                <a:latin typeface="Cambria Math" panose="02040503050406030204" pitchFamily="18" charset="0"/>
                                <a:cs typeface="Times New Roman" panose="02020603050405020304" pitchFamily="18" charset="0"/>
                              </a:rPr>
                              <m:t>=</m:t>
                            </m:r>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effectLst/>
                                    <a:latin typeface="Cambria Math" panose="02040503050406030204" pitchFamily="18" charset="0"/>
                                    <a:cs typeface="Times New Roman" panose="02020603050405020304" pitchFamily="18" charset="0"/>
                                  </a:rPr>
                                  <m:t>−2</m:t>
                                </m:r>
                                <m:r>
                                  <m:rPr>
                                    <m:sty m:val="p"/>
                                  </m:rPr>
                                  <a:rPr lang="en-US" altLang="zh-CN" sz="2800">
                                    <a:effectLst/>
                                    <a:latin typeface="Cambria Math" panose="02040503050406030204" pitchFamily="18" charset="0"/>
                                    <a:cs typeface="Times New Roman" panose="02020603050405020304" pitchFamily="18" charset="0"/>
                                  </a:rPr>
                                  <m:t>ln</m:t>
                                </m:r>
                                <m:r>
                                  <a:rPr lang="en-US" altLang="zh-CN" sz="2800" i="1">
                                    <a:effectLst/>
                                    <a:latin typeface="Cambria Math" panose="02040503050406030204" pitchFamily="18" charset="0"/>
                                    <a:cs typeface="Times New Roman" panose="02020603050405020304" pitchFamily="18" charset="0"/>
                                  </a:rPr>
                                  <m:t>𝑆</m:t>
                                </m:r>
                              </m:e>
                            </m:rad>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Sub>
                              </m:num>
                              <m:den>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a:effectLst/>
                                        <a:latin typeface="Cambria Math" panose="02040503050406030204" pitchFamily="18" charset="0"/>
                                        <a:cs typeface="Times New Roman" panose="02020603050405020304" pitchFamily="18" charset="0"/>
                                      </a:rPr>
                                      <m:t>𝑆</m:t>
                                    </m:r>
                                  </m:e>
                                </m:rad>
                              </m:den>
                            </m:f>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Sub>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effectLst/>
                                        <a:latin typeface="Cambria Math" panose="02040503050406030204" pitchFamily="18" charset="0"/>
                                        <a:cs typeface="Times New Roman" panose="02020603050405020304" pitchFamily="18" charset="0"/>
                                      </a:rPr>
                                      <m:t>−2</m:t>
                                    </m:r>
                                    <m:r>
                                      <m:rPr>
                                        <m:sty m:val="p"/>
                                      </m:rPr>
                                      <a:rPr lang="en-US" altLang="zh-CN" sz="2800">
                                        <a:effectLst/>
                                        <a:latin typeface="Cambria Math" panose="02040503050406030204" pitchFamily="18" charset="0"/>
                                        <a:cs typeface="Times New Roman" panose="02020603050405020304" pitchFamily="18" charset="0"/>
                                      </a:rPr>
                                      <m:t>ln</m:t>
                                    </m:r>
                                    <m:r>
                                      <a:rPr lang="en-US" altLang="zh-CN" sz="2800" i="1">
                                        <a:effectLst/>
                                        <a:latin typeface="Cambria Math" panose="02040503050406030204" pitchFamily="18" charset="0"/>
                                        <a:cs typeface="Times New Roman" panose="02020603050405020304" pitchFamily="18" charset="0"/>
                                      </a:rPr>
                                      <m:t>𝑆</m:t>
                                    </m:r>
                                  </m:num>
                                  <m:den>
                                    <m:r>
                                      <a:rPr lang="en-US" altLang="zh-CN" sz="2800" i="1">
                                        <a:effectLst/>
                                        <a:latin typeface="Cambria Math" panose="02040503050406030204" pitchFamily="18" charset="0"/>
                                        <a:cs typeface="Times New Roman" panose="02020603050405020304" pitchFamily="18" charset="0"/>
                                      </a:rPr>
                                      <m:t>𝑆</m:t>
                                    </m:r>
                                  </m:den>
                                </m:f>
                              </m:e>
                            </m:rad>
                          </m:e>
                        </m:mr>
                      </m:m>
                    </m:oMath>
                  </m:oMathPara>
                </a14:m>
                <a:endParaRPr lang="zh-CN" altLang="zh-CN" sz="2800" dirty="0">
                  <a:effectLst/>
                  <a:latin typeface="Cambria" panose="02040503050406030204" pitchFamily="18" charset="0"/>
                  <a:cs typeface="Times New Roman" panose="02020603050405020304" pitchFamily="18" charset="0"/>
                </a:endParaRPr>
              </a:p>
              <a:p>
                <a:r>
                  <a:rPr lang="zh-CN" altLang="zh-CN" sz="2800" dirty="0">
                    <a:effectLst/>
                    <a:latin typeface="Cambria" panose="02040503050406030204" pitchFamily="18" charset="0"/>
                    <a:cs typeface="Times New Roman" panose="02020603050405020304" pitchFamily="18" charset="0"/>
                  </a:rPr>
                  <a:t>是独立的标准正态随机变量</a:t>
                </a:r>
                <a:r>
                  <a:rPr lang="en-US" altLang="zh-CN" sz="2800" dirty="0">
                    <a:effectLst/>
                    <a:latin typeface="Cambria" panose="02040503050406030204" pitchFamily="18" charset="0"/>
                    <a:cs typeface="Times New Roman" panose="02020603050405020304" pitchFamily="18" charset="0"/>
                  </a:rPr>
                  <a:t>,</a:t>
                </a:r>
                <a:r>
                  <a:rPr lang="zh-CN" altLang="zh-CN" sz="2800" dirty="0">
                    <a:effectLst/>
                    <a:latin typeface="Cambria" panose="02040503050406030204" pitchFamily="18" charset="0"/>
                    <a:cs typeface="Times New Roman" panose="02020603050405020304" pitchFamily="18" charset="0"/>
                  </a:rPr>
                  <a:t>其中</a:t>
                </a:r>
                <a14:m>
                  <m:oMath xmlns:m="http://schemas.openxmlformats.org/officeDocument/2006/math">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Sub>
                        <m:r>
                          <a:rPr lang="en-US" altLang="zh-CN" sz="2800">
                            <a:effectLst/>
                            <a:latin typeface="Cambria Math" panose="02040503050406030204" pitchFamily="18" charset="0"/>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Sub>
                      </m:e>
                    </m:d>
                  </m:oMath>
                </a14:m>
                <a:r>
                  <a:rPr lang="zh-CN" altLang="zh-CN" sz="2800" dirty="0">
                    <a:effectLst/>
                    <a:latin typeface="Cambria" panose="02040503050406030204" pitchFamily="18" charset="0"/>
                    <a:cs typeface="Times New Roman" panose="02020603050405020304" pitchFamily="18" charset="0"/>
                  </a:rPr>
                  <a:t>是中心在原点半径为</a:t>
                </a:r>
                <a:r>
                  <a:rPr lang="en-US" altLang="zh-CN" sz="2800" dirty="0">
                    <a:effectLst/>
                    <a:latin typeface="Cambria" panose="02040503050406030204" pitchFamily="18" charset="0"/>
                    <a:cs typeface="Times New Roman" panose="02020603050405020304" pitchFamily="18" charset="0"/>
                  </a:rPr>
                  <a:t>1</a:t>
                </a:r>
                <a:r>
                  <a:rPr lang="zh-CN" altLang="zh-CN" sz="2800" dirty="0">
                    <a:effectLst/>
                    <a:latin typeface="Cambria" panose="02040503050406030204" pitchFamily="18" charset="0"/>
                    <a:cs typeface="Times New Roman" panose="02020603050405020304" pitchFamily="18" charset="0"/>
                  </a:rPr>
                  <a:t>的圆内的随机点</a:t>
                </a:r>
                <a:r>
                  <a:rPr lang="en-US" altLang="zh-CN" sz="2800" dirty="0">
                    <a:effectLst/>
                    <a:latin typeface="Cambria" panose="02040503050406030204" pitchFamily="18" charset="0"/>
                    <a:cs typeface="Times New Roman" panose="02020603050405020304" pitchFamily="18" charset="0"/>
                  </a:rPr>
                  <a:t>,</a:t>
                </a:r>
                <a:r>
                  <a:rPr lang="zh-CN" altLang="zh-CN" sz="2800" dirty="0">
                    <a:effectLst/>
                    <a:latin typeface="Cambria" panose="02040503050406030204" pitchFamily="18" charset="0"/>
                    <a:cs typeface="Times New Roman" panose="02020603050405020304" pitchFamily="18" charset="0"/>
                  </a:rPr>
                  <a:t>且</a:t>
                </a:r>
                <a14:m>
                  <m:oMath xmlns:m="http://schemas.openxmlformats.org/officeDocument/2006/math">
                    <m:r>
                      <a:rPr lang="en-US" altLang="zh-CN" sz="2800" i="1">
                        <a:effectLst/>
                        <a:latin typeface="Cambria Math" panose="02040503050406030204" pitchFamily="18" charset="0"/>
                        <a:cs typeface="Times New Roman" panose="02020603050405020304" pitchFamily="18" charset="0"/>
                      </a:rPr>
                      <m:t>𝑆</m:t>
                    </m:r>
                    <m:r>
                      <a:rPr lang="en-US" altLang="zh-CN" sz="2800">
                        <a:effectLst/>
                        <a:latin typeface="Cambria Math" panose="02040503050406030204" pitchFamily="18" charset="0"/>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rPr>
                        </m:ctrlPr>
                      </m:sSubSup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1</m:t>
                        </m:r>
                      </m:sub>
                      <m:sup>
                        <m:r>
                          <a:rPr lang="en-US" altLang="zh-CN" sz="2800" i="1">
                            <a:effectLst/>
                            <a:latin typeface="Cambria Math" panose="02040503050406030204" pitchFamily="18" charset="0"/>
                            <a:cs typeface="Times New Roman" panose="02020603050405020304" pitchFamily="18" charset="0"/>
                          </a:rPr>
                          <m:t>2</m:t>
                        </m:r>
                      </m:sup>
                    </m:sSubSup>
                    <m:r>
                      <a:rPr lang="en-US" altLang="zh-CN" sz="2800">
                        <a:effectLst/>
                        <a:latin typeface="Cambria Math" panose="02040503050406030204" pitchFamily="18" charset="0"/>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rPr>
                        </m:ctrlPr>
                      </m:sSubSupPr>
                      <m:e>
                        <m:r>
                          <a:rPr lang="en-US" altLang="zh-CN" sz="2800" i="1">
                            <a:effectLst/>
                            <a:latin typeface="Cambria Math" panose="02040503050406030204" pitchFamily="18" charset="0"/>
                            <a:cs typeface="Times New Roman" panose="02020603050405020304" pitchFamily="18" charset="0"/>
                          </a:rPr>
                          <m:t>𝑉</m:t>
                        </m:r>
                      </m:e>
                      <m:sub>
                        <m:r>
                          <a:rPr lang="en-US" altLang="zh-CN" sz="2800" i="1">
                            <a:effectLst/>
                            <a:latin typeface="Cambria Math" panose="02040503050406030204" pitchFamily="18" charset="0"/>
                            <a:cs typeface="Times New Roman" panose="02020603050405020304" pitchFamily="18" charset="0"/>
                          </a:rPr>
                          <m:t>2</m:t>
                        </m:r>
                      </m:sub>
                      <m:sup>
                        <m:r>
                          <a:rPr lang="en-US" altLang="zh-CN" sz="2800" i="1">
                            <a:effectLst/>
                            <a:latin typeface="Cambria Math" panose="02040503050406030204" pitchFamily="18" charset="0"/>
                            <a:cs typeface="Times New Roman" panose="02020603050405020304" pitchFamily="18" charset="0"/>
                          </a:rPr>
                          <m:t>2</m:t>
                        </m:r>
                      </m:sup>
                    </m:sSubSup>
                  </m:oMath>
                </a14:m>
                <a:endParaRPr lang="zh-CN" altLang="en-US" sz="2800" dirty="0"/>
              </a:p>
            </p:txBody>
          </p:sp>
        </mc:Choice>
        <mc:Fallback xmlns="">
          <p:sp>
            <p:nvSpPr>
              <p:cNvPr id="7" name="文本框 6">
                <a:extLst>
                  <a:ext uri="{FF2B5EF4-FFF2-40B4-BE49-F238E27FC236}">
                    <a16:creationId xmlns:a16="http://schemas.microsoft.com/office/drawing/2014/main" id="{8E4BB88A-4FC8-4937-89CA-058210EC3632}"/>
                  </a:ext>
                </a:extLst>
              </p:cNvPr>
              <p:cNvSpPr txBox="1">
                <a:spLocks noRot="1" noChangeAspect="1" noMove="1" noResize="1" noEditPoints="1" noAdjustHandles="1" noChangeArrowheads="1" noChangeShapeType="1" noTextEdit="1"/>
              </p:cNvSpPr>
              <p:nvPr/>
            </p:nvSpPr>
            <p:spPr>
              <a:xfrm>
                <a:off x="0" y="1871426"/>
                <a:ext cx="9094573" cy="4235327"/>
              </a:xfrm>
              <a:prstGeom prst="rect">
                <a:avLst/>
              </a:prstGeom>
              <a:blipFill>
                <a:blip r:embed="rId2"/>
                <a:stretch>
                  <a:fillRect l="-1340" t="-1871" b="-3022"/>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8011814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2.3.5 </a:t>
            </a:r>
            <a:r>
              <a:rPr lang="zh-CN" altLang="en-US" dirty="0"/>
              <a:t>舍选法</a:t>
            </a:r>
          </a:p>
        </p:txBody>
      </p:sp>
      <p:sp>
        <p:nvSpPr>
          <p:cNvPr id="6" name="文本框 5">
            <a:extLst>
              <a:ext uri="{FF2B5EF4-FFF2-40B4-BE49-F238E27FC236}">
                <a16:creationId xmlns:a16="http://schemas.microsoft.com/office/drawing/2014/main" id="{C0EB29E0-4AF8-4E24-9B60-6730E8E173CC}"/>
              </a:ext>
            </a:extLst>
          </p:cNvPr>
          <p:cNvSpPr txBox="1"/>
          <p:nvPr/>
        </p:nvSpPr>
        <p:spPr>
          <a:xfrm>
            <a:off x="-49426" y="918300"/>
            <a:ext cx="9143999" cy="523220"/>
          </a:xfrm>
          <a:prstGeom prst="rect">
            <a:avLst/>
          </a:prstGeom>
          <a:noFill/>
          <a:ln w="25400">
            <a:noFill/>
          </a:ln>
        </p:spPr>
        <p:txBody>
          <a:bodyPr wrap="square">
            <a:spAutoFit/>
          </a:bodyPr>
          <a:lstStyle/>
          <a:p>
            <a:r>
              <a:rPr lang="zh-CN" altLang="en-US" sz="2800" dirty="0"/>
              <a:t>例</a:t>
            </a:r>
            <a:r>
              <a:rPr lang="en-US" altLang="zh-CN" sz="2800" dirty="0"/>
              <a:t>6.16 (</a:t>
            </a:r>
            <a:r>
              <a:rPr lang="zh-CN" altLang="en-US" sz="2800" dirty="0"/>
              <a:t>用舍选法和</a:t>
            </a:r>
            <a:r>
              <a:rPr lang="en-US" altLang="zh-CN" sz="2800" dirty="0"/>
              <a:t>Box-Muller</a:t>
            </a:r>
            <a:r>
              <a:rPr lang="zh-CN" altLang="en-US" sz="2800" dirty="0"/>
              <a:t>变换生成正态随机数</a:t>
            </a:r>
            <a:r>
              <a:rPr lang="en-US" altLang="zh-CN" sz="2800" dirty="0"/>
              <a:t>)</a:t>
            </a:r>
            <a:endParaRPr lang="zh-CN" altLang="en-US" sz="28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50FBB9A-5860-48D4-9FED-BE99EDAC33A0}"/>
                  </a:ext>
                </a:extLst>
              </p:cNvPr>
              <p:cNvSpPr txBox="1"/>
              <p:nvPr/>
            </p:nvSpPr>
            <p:spPr>
              <a:xfrm>
                <a:off x="-49426" y="1898830"/>
                <a:ext cx="9094573" cy="4283545"/>
              </a:xfrm>
              <a:prstGeom prst="rect">
                <a:avLst/>
              </a:prstGeom>
              <a:noFill/>
              <a:ln w="25400">
                <a:noFill/>
              </a:ln>
            </p:spPr>
            <p:txBody>
              <a:bodyPr wrap="square">
                <a:spAutoFit/>
              </a:bodyPr>
              <a:lstStyle/>
              <a:p>
                <a:pPr marL="457200" indent="-457200">
                  <a:spcBef>
                    <a:spcPts val="900"/>
                  </a:spcBef>
                  <a:spcAft>
                    <a:spcPts val="900"/>
                  </a:spcAft>
                  <a:buFont typeface="Arial" panose="020B0604020202020204" pitchFamily="34" charset="0"/>
                  <a:buChar char="•"/>
                </a:pP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产生一对独立的标准正态随机变量的</a:t>
                </a:r>
                <a:r>
                  <a:rPr lang="en-US" altLang="zh-CN" sz="2800" b="1" dirty="0" err="1">
                    <a:effectLst/>
                    <a:latin typeface="宋体" panose="02010600030101010101" pitchFamily="2" charset="-122"/>
                    <a:ea typeface="宋体" panose="02010600030101010101" pitchFamily="2" charset="-122"/>
                    <a:cs typeface="Times New Roman" panose="02020603050405020304" pitchFamily="18" charset="0"/>
                  </a:rPr>
                  <a:t>极坐标算法</a:t>
                </a:r>
                <a:r>
                  <a:rPr lang="zh-CN" altLang="en-US" sz="2800" b="1">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80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1: </a:t>
                </a: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生成随机数</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oMath>
                </a14:m>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2: </a:t>
                </a: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令</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𝑈</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p>
                    </m:sSubSup>
                  </m:oMath>
                </a14:m>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3: </a:t>
                </a: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如果</a:t>
                </a:r>
                <a:r>
                  <a:rPr lang="en-US" altLang="zh-CN" sz="2800" dirty="0" err="1">
                    <a:effectLst/>
                    <a:latin typeface="Cambria" panose="02040503050406030204" pitchFamily="18" charset="0"/>
                    <a:ea typeface="宋体" panose="02010600030101010101" pitchFamily="2" charset="-122"/>
                    <a:cs typeface="Times New Roman" panose="02020603050405020304" pitchFamily="18" charset="0"/>
                  </a:rPr>
                  <a:t>S</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&gt;1,</a:t>
                </a: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则转至步骤</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1.</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spcBef>
                    <a:spcPts val="900"/>
                  </a:spcBef>
                  <a:spcAft>
                    <a:spcPts val="900"/>
                  </a:spcAft>
                </a:pPr>
                <a:r>
                  <a:rPr lang="en-US" altLang="zh-CN" sz="2800" dirty="0">
                    <a:effectLst/>
                    <a:latin typeface="宋体" panose="02010600030101010101" pitchFamily="2" charset="-122"/>
                    <a:ea typeface="宋体" panose="02010600030101010101" pitchFamily="2" charset="-122"/>
                    <a:cs typeface="Times New Roman" panose="02020603050405020304" pitchFamily="18" charset="0"/>
                  </a:rPr>
                  <a:t>步骤</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4: </a:t>
                </a:r>
                <a:r>
                  <a:rPr lang="en-US" altLang="zh-CN" sz="2800" dirty="0" err="1">
                    <a:effectLst/>
                    <a:latin typeface="宋体" panose="02010600030101010101" pitchFamily="2" charset="-122"/>
                    <a:ea typeface="宋体" panose="02010600030101010101" pitchFamily="2" charset="-122"/>
                    <a:cs typeface="Times New Roman" panose="02020603050405020304" pitchFamily="18" charset="0"/>
                  </a:rPr>
                  <a:t>产生独立的标准正态随机变量</a:t>
                </a:r>
                <a:r>
                  <a:rPr lang="en-US" altLang="zh-CN" sz="2800" dirty="0">
                    <a:effectLst/>
                    <a:latin typeface="Cambria" panose="02040503050406030204" pitchFamily="18" charset="0"/>
                    <a:ea typeface="宋体" panose="02010600030101010101" pitchFamily="2" charset="-122"/>
                    <a:cs typeface="Times New Roman" panose="02020603050405020304" pitchFamily="18" charset="0"/>
                  </a:rPr>
                  <a:t>:</a:t>
                </a:r>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a:p>
                <a:pPr algn="ctr">
                  <a:spcBef>
                    <a:spcPts val="900"/>
                  </a:spcBef>
                  <a:spcAft>
                    <a:spcPts val="900"/>
                  </a:spcAft>
                </a:pPr>
                <a14:m>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𝑋</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r>
                              <m:rPr>
                                <m:sty m:val="p"/>
                              </m:rPr>
                              <a:rPr lang="en-US" altLang="zh-CN" sz="2800">
                                <a:effectLst/>
                                <a:latin typeface="Cambria Math" panose="02040503050406030204" pitchFamily="18" charset="0"/>
                                <a:ea typeface="宋体" panose="02010600030101010101" pitchFamily="2" charset="-122"/>
                                <a:cs typeface="Times New Roman" panose="02020603050405020304" pitchFamily="18" charset="0"/>
                              </a:rPr>
                              <m:t>ln</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num>
                          <m:den>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den>
                        </m:f>
                      </m:e>
                    </m:rad>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en-US" sz="2800" dirty="0">
                    <a:effectLst/>
                    <a:latin typeface="Cambria" panose="020405030504060302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𝑌</m:t>
                    </m:r>
                    <m:r>
                      <a:rPr lang="en-US" altLang="zh-CN" sz="2800">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r>
                              <m:rPr>
                                <m:sty m:val="p"/>
                              </m:rPr>
                              <a:rPr lang="en-US" altLang="zh-CN" sz="2800">
                                <a:effectLst/>
                                <a:latin typeface="Cambria Math" panose="02040503050406030204" pitchFamily="18" charset="0"/>
                                <a:ea typeface="宋体" panose="02010600030101010101" pitchFamily="2" charset="-122"/>
                                <a:cs typeface="Times New Roman" panose="02020603050405020304" pitchFamily="18" charset="0"/>
                              </a:rPr>
                              <m:t>ln</m:t>
                            </m:r>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num>
                          <m:den>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𝑆</m:t>
                            </m:r>
                          </m:den>
                        </m:f>
                      </m:e>
                    </m:rad>
                    <m:sSub>
                      <m:sSubPr>
                        <m:ctrlPr>
                          <a:rPr lang="zh-CN" altLang="zh-CN" sz="2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𝑉</m:t>
                        </m:r>
                      </m:e>
                      <m:sub>
                        <m:r>
                          <a:rPr lang="en-US" altLang="zh-CN" sz="2800" i="1">
                            <a:effectLst/>
                            <a:latin typeface="Cambria Math" panose="02040503050406030204" pitchFamily="18" charset="0"/>
                            <a:ea typeface="宋体" panose="02010600030101010101" pitchFamily="2" charset="-122"/>
                            <a:cs typeface="Times New Roman" panose="02020603050405020304" pitchFamily="18" charset="0"/>
                          </a:rPr>
                          <m:t>2</m:t>
                        </m:r>
                      </m:sub>
                    </m:sSub>
                  </m:oMath>
                </a14:m>
                <a:endParaRPr lang="zh-CN" altLang="zh-CN" sz="2800" dirty="0">
                  <a:effectLst/>
                  <a:latin typeface="Cambria" panose="02040503050406030204" pitchFamily="18" charset="0"/>
                  <a:ea typeface="宋体" panose="0201060003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050FBB9A-5860-48D4-9FED-BE99EDAC33A0}"/>
                  </a:ext>
                </a:extLst>
              </p:cNvPr>
              <p:cNvSpPr txBox="1">
                <a:spLocks noRot="1" noChangeAspect="1" noMove="1" noResize="1" noEditPoints="1" noAdjustHandles="1" noChangeArrowheads="1" noChangeShapeType="1" noTextEdit="1"/>
              </p:cNvSpPr>
              <p:nvPr/>
            </p:nvSpPr>
            <p:spPr>
              <a:xfrm>
                <a:off x="-49426" y="1898830"/>
                <a:ext cx="9094573" cy="4283545"/>
              </a:xfrm>
              <a:prstGeom prst="rect">
                <a:avLst/>
              </a:prstGeom>
              <a:blipFill>
                <a:blip r:embed="rId2"/>
                <a:stretch>
                  <a:fillRect l="-1408" t="-1849"/>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21405178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2.3.5 </a:t>
            </a:r>
            <a:r>
              <a:rPr lang="zh-CN" altLang="en-US" dirty="0"/>
              <a:t>舍选法</a:t>
            </a:r>
          </a:p>
        </p:txBody>
      </p:sp>
      <p:pic>
        <p:nvPicPr>
          <p:cNvPr id="2050" name="Picture 2">
            <a:extLst>
              <a:ext uri="{FF2B5EF4-FFF2-40B4-BE49-F238E27FC236}">
                <a16:creationId xmlns:a16="http://schemas.microsoft.com/office/drawing/2014/main" id="{02DC74F0-3D5B-416F-BF5F-9BA6594D2D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513"/>
            <a:ext cx="9144000" cy="653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6702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2.3.6 </a:t>
            </a:r>
            <a:r>
              <a:rPr lang="zh-CN" altLang="en-US" dirty="0"/>
              <a:t>复合法</a:t>
            </a:r>
          </a:p>
        </p:txBody>
      </p:sp>
      <p:sp>
        <p:nvSpPr>
          <p:cNvPr id="5" name="文本框 4">
            <a:extLst>
              <a:ext uri="{FF2B5EF4-FFF2-40B4-BE49-F238E27FC236}">
                <a16:creationId xmlns:a16="http://schemas.microsoft.com/office/drawing/2014/main" id="{03E0D62C-A660-4AD1-B336-FAE451F6F451}"/>
              </a:ext>
            </a:extLst>
          </p:cNvPr>
          <p:cNvSpPr txBox="1"/>
          <p:nvPr/>
        </p:nvSpPr>
        <p:spPr>
          <a:xfrm>
            <a:off x="18288" y="929149"/>
            <a:ext cx="6255358" cy="584775"/>
          </a:xfrm>
          <a:prstGeom prst="rect">
            <a:avLst/>
          </a:prstGeom>
          <a:noFill/>
          <a:ln w="25400">
            <a:noFill/>
          </a:ln>
        </p:spPr>
        <p:txBody>
          <a:bodyPr wrap="square">
            <a:spAutoFit/>
          </a:bodyPr>
          <a:lstStyle/>
          <a:p>
            <a:r>
              <a:rPr lang="zh-CN" altLang="en-US" sz="3200" dirty="0"/>
              <a:t>设离散型随机变量</a:t>
            </a:r>
            <a:r>
              <a:rPr lang="en-US" altLang="zh-CN" sz="3200" i="1" dirty="0"/>
              <a:t>I</a:t>
            </a:r>
            <a:r>
              <a:rPr lang="zh-CN" altLang="en-US" sz="3200" dirty="0"/>
              <a:t>的概率分布为</a:t>
            </a:r>
          </a:p>
        </p:txBody>
      </p:sp>
      <p:sp>
        <p:nvSpPr>
          <p:cNvPr id="7" name="文本框 6">
            <a:extLst>
              <a:ext uri="{FF2B5EF4-FFF2-40B4-BE49-F238E27FC236}">
                <a16:creationId xmlns:a16="http://schemas.microsoft.com/office/drawing/2014/main" id="{996A9C40-00F7-4EE7-9F95-175D0A5E4CD8}"/>
              </a:ext>
            </a:extLst>
          </p:cNvPr>
          <p:cNvSpPr txBox="1"/>
          <p:nvPr/>
        </p:nvSpPr>
        <p:spPr>
          <a:xfrm>
            <a:off x="25515" y="2245828"/>
            <a:ext cx="8919197" cy="1077218"/>
          </a:xfrm>
          <a:prstGeom prst="rect">
            <a:avLst/>
          </a:prstGeom>
          <a:noFill/>
          <a:ln w="25400">
            <a:noFill/>
          </a:ln>
        </p:spPr>
        <p:txBody>
          <a:bodyPr wrap="square">
            <a:spAutoFit/>
          </a:bodyPr>
          <a:lstStyle/>
          <a:p>
            <a:r>
              <a:rPr lang="zh-CN" altLang="en-US" sz="3200" dirty="0"/>
              <a:t>若随机变量</a:t>
            </a:r>
            <a:r>
              <a:rPr lang="en-US" altLang="zh-CN" sz="3200" i="1" dirty="0"/>
              <a:t>Z</a:t>
            </a:r>
            <a:r>
              <a:rPr lang="en-US" altLang="zh-CN" sz="3200" baseline="-25000" dirty="0"/>
              <a:t>1</a:t>
            </a:r>
            <a:r>
              <a:rPr lang="en-US" altLang="zh-CN" sz="3200" dirty="0"/>
              <a:t>, </a:t>
            </a:r>
            <a:r>
              <a:rPr lang="en-US" altLang="zh-CN" sz="3200" i="1" dirty="0"/>
              <a:t>Z</a:t>
            </a:r>
            <a:r>
              <a:rPr lang="en-US" altLang="zh-CN" sz="3200" baseline="-25000" dirty="0"/>
              <a:t>2</a:t>
            </a:r>
            <a:r>
              <a:rPr lang="en-US" altLang="zh-CN" sz="3200" dirty="0"/>
              <a:t>, …, </a:t>
            </a:r>
            <a:r>
              <a:rPr lang="en-US" altLang="zh-CN" sz="3200" i="1" dirty="0" err="1"/>
              <a:t>Z</a:t>
            </a:r>
            <a:r>
              <a:rPr lang="en-US" altLang="zh-CN" sz="3200" baseline="-25000" dirty="0" err="1"/>
              <a:t>m</a:t>
            </a:r>
            <a:r>
              <a:rPr lang="zh-CN" altLang="en-US" sz="3200" dirty="0"/>
              <a:t>都是</a:t>
            </a:r>
            <a:r>
              <a:rPr lang="zh-CN" altLang="en-US" sz="3200" dirty="0">
                <a:solidFill>
                  <a:srgbClr val="FF0000"/>
                </a:solidFill>
              </a:rPr>
              <a:t>离散型</a:t>
            </a:r>
            <a:r>
              <a:rPr lang="zh-CN" altLang="en-US" sz="3200" dirty="0"/>
              <a:t>随机变量， 定义随机变量</a:t>
            </a:r>
            <a:r>
              <a:rPr lang="en-US" altLang="zh-CN" sz="3200" dirty="0"/>
              <a:t>X</a:t>
            </a:r>
            <a:r>
              <a:rPr lang="zh-CN" altLang="en-US" sz="3200" dirty="0"/>
              <a:t>的值为</a:t>
            </a:r>
          </a:p>
        </p:txBody>
      </p:sp>
      <p:sp>
        <p:nvSpPr>
          <p:cNvPr id="9" name="文本框 8">
            <a:extLst>
              <a:ext uri="{FF2B5EF4-FFF2-40B4-BE49-F238E27FC236}">
                <a16:creationId xmlns:a16="http://schemas.microsoft.com/office/drawing/2014/main" id="{24AC2E79-CC86-4ACB-A65C-27FC558275E0}"/>
              </a:ext>
            </a:extLst>
          </p:cNvPr>
          <p:cNvSpPr txBox="1"/>
          <p:nvPr/>
        </p:nvSpPr>
        <p:spPr>
          <a:xfrm>
            <a:off x="26572" y="4099719"/>
            <a:ext cx="5560977" cy="584775"/>
          </a:xfrm>
          <a:prstGeom prst="rect">
            <a:avLst/>
          </a:prstGeom>
          <a:noFill/>
          <a:ln w="25400">
            <a:noFill/>
          </a:ln>
        </p:spPr>
        <p:txBody>
          <a:bodyPr wrap="square">
            <a:spAutoFit/>
          </a:bodyPr>
          <a:lstStyle/>
          <a:p>
            <a:r>
              <a:rPr lang="zh-CN" altLang="en-US" sz="3200" dirty="0"/>
              <a:t>则</a:t>
            </a:r>
            <a:r>
              <a:rPr lang="en-US" altLang="zh-CN" sz="3200" dirty="0"/>
              <a:t>X</a:t>
            </a:r>
            <a:r>
              <a:rPr lang="zh-CN" altLang="en-US" sz="3200" dirty="0"/>
              <a:t>是离散型随机变量，且</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6F12AF1-A20A-44BC-8F7F-758DC4A00213}"/>
                  </a:ext>
                </a:extLst>
              </p:cNvPr>
              <p:cNvSpPr txBox="1"/>
              <p:nvPr/>
            </p:nvSpPr>
            <p:spPr>
              <a:xfrm>
                <a:off x="2132620" y="1642547"/>
                <a:ext cx="4690532" cy="523220"/>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𝑃</m:t>
                      </m:r>
                      <m:d>
                        <m:dPr>
                          <m:ctrlPr>
                            <a:rPr lang="zh-CN" altLang="en-US" sz="2800" i="1">
                              <a:latin typeface="Cambria Math" panose="02040503050406030204" pitchFamily="18" charset="0"/>
                            </a:rPr>
                          </m:ctrlPr>
                        </m:dPr>
                        <m:e>
                          <m:r>
                            <a:rPr lang="zh-CN" altLang="en-US" sz="2800" i="1">
                              <a:latin typeface="Cambria Math" panose="02040503050406030204" pitchFamily="18" charset="0"/>
                            </a:rPr>
                            <m:t>𝐼</m:t>
                          </m:r>
                          <m:r>
                            <a:rPr lang="zh-CN" altLang="en-US" sz="2800" i="0">
                              <a:latin typeface="Cambria Math" panose="02040503050406030204" pitchFamily="18" charset="0"/>
                            </a:rPr>
                            <m:t>=</m:t>
                          </m:r>
                          <m:r>
                            <a:rPr lang="zh-CN" altLang="en-US" sz="2800" i="1">
                              <a:latin typeface="Cambria Math" panose="02040503050406030204" pitchFamily="18" charset="0"/>
                            </a:rPr>
                            <m:t>𝑖</m:t>
                          </m:r>
                        </m:e>
                      </m:d>
                      <m:r>
                        <a:rPr lang="zh-CN" altLang="en-US" sz="2800" i="0">
                          <a:latin typeface="Cambria Math" panose="02040503050406030204" pitchFamily="18" charset="0"/>
                        </a:rPr>
                        <m:t>=</m:t>
                      </m:r>
                      <m:sSub>
                        <m:sSubPr>
                          <m:ctrlPr>
                            <a:rPr lang="zh-CN" altLang="en-US" sz="2800" i="1">
                              <a:solidFill>
                                <a:srgbClr val="836967"/>
                              </a:solidFill>
                              <a:latin typeface="Cambria Math" panose="02040503050406030204" pitchFamily="18" charset="0"/>
                            </a:rPr>
                          </m:ctrlPr>
                        </m:sSubPr>
                        <m:e>
                          <m:r>
                            <a:rPr lang="zh-CN" altLang="en-US" sz="2800" i="1">
                              <a:latin typeface="Cambria Math" panose="02040503050406030204" pitchFamily="18" charset="0"/>
                            </a:rPr>
                            <m:t>𝛼</m:t>
                          </m:r>
                        </m:e>
                        <m:sub>
                          <m:r>
                            <a:rPr lang="zh-CN" altLang="en-US" sz="2800" i="1">
                              <a:latin typeface="Cambria Math" panose="02040503050406030204" pitchFamily="18" charset="0"/>
                            </a:rPr>
                            <m:t>𝑖</m:t>
                          </m:r>
                          <m:r>
                            <a:rPr lang="en-US" altLang="zh-CN" sz="2800" b="0" i="1" smtClean="0">
                              <a:latin typeface="Cambria Math" panose="02040503050406030204" pitchFamily="18" charset="0"/>
                            </a:rPr>
                            <m:t>    </m:t>
                          </m:r>
                        </m:sub>
                      </m:sSub>
                      <m:r>
                        <a:rPr lang="zh-CN" altLang="en-US" sz="2800" i="1">
                          <a:latin typeface="Cambria Math" panose="02040503050406030204" pitchFamily="18" charset="0"/>
                        </a:rPr>
                        <m:t>𝑖</m:t>
                      </m:r>
                      <m:r>
                        <a:rPr lang="zh-CN" altLang="en-US" sz="2800" i="0">
                          <a:latin typeface="Cambria Math" panose="02040503050406030204" pitchFamily="18" charset="0"/>
                        </a:rPr>
                        <m:t>=1,2,…,</m:t>
                      </m:r>
                      <m:r>
                        <a:rPr lang="zh-CN" altLang="en-US" sz="2800" i="1">
                          <a:latin typeface="Cambria Math" panose="02040503050406030204" pitchFamily="18" charset="0"/>
                        </a:rPr>
                        <m:t>𝑚</m:t>
                      </m:r>
                    </m:oMath>
                  </m:oMathPara>
                </a14:m>
                <a:endParaRPr lang="zh-CN" altLang="en-US" sz="2800" dirty="0"/>
              </a:p>
            </p:txBody>
          </p:sp>
        </mc:Choice>
        <mc:Fallback xmlns="">
          <p:sp>
            <p:nvSpPr>
              <p:cNvPr id="21" name="文本框 20">
                <a:extLst>
                  <a:ext uri="{FF2B5EF4-FFF2-40B4-BE49-F238E27FC236}">
                    <a16:creationId xmlns:a16="http://schemas.microsoft.com/office/drawing/2014/main" id="{56F12AF1-A20A-44BC-8F7F-758DC4A00213}"/>
                  </a:ext>
                </a:extLst>
              </p:cNvPr>
              <p:cNvSpPr txBox="1">
                <a:spLocks noRot="1" noChangeAspect="1" noMove="1" noResize="1" noEditPoints="1" noAdjustHandles="1" noChangeArrowheads="1" noChangeShapeType="1" noTextEdit="1"/>
              </p:cNvSpPr>
              <p:nvPr/>
            </p:nvSpPr>
            <p:spPr>
              <a:xfrm>
                <a:off x="2132620" y="1642547"/>
                <a:ext cx="4690532" cy="523220"/>
              </a:xfrm>
              <a:prstGeom prst="rect">
                <a:avLst/>
              </a:prstGeom>
              <a:blipFill>
                <a:blip r:embed="rId2"/>
                <a:stretch>
                  <a:fillRect/>
                </a:stretch>
              </a:blipFill>
              <a:ln w="25400">
                <a:noFill/>
              </a:ln>
            </p:spPr>
            <p:txBody>
              <a:bodyPr/>
              <a:lstStyle/>
              <a:p>
                <a:r>
                  <a:rPr lang="zh-CN" altLang="en-US">
                    <a:noFill/>
                  </a:rPr>
                  <a:t> </a:t>
                </a:r>
              </a:p>
            </p:txBody>
          </p:sp>
        </mc:Fallback>
      </mc:AlternateContent>
      <p:pic>
        <p:nvPicPr>
          <p:cNvPr id="22" name="图片 21">
            <a:extLst>
              <a:ext uri="{FF2B5EF4-FFF2-40B4-BE49-F238E27FC236}">
                <a16:creationId xmlns:a16="http://schemas.microsoft.com/office/drawing/2014/main" id="{B4993581-3A57-4F77-8FE3-41FC4D9E201B}"/>
              </a:ext>
            </a:extLst>
          </p:cNvPr>
          <p:cNvPicPr>
            <a:picLocks noChangeAspect="1"/>
          </p:cNvPicPr>
          <p:nvPr/>
        </p:nvPicPr>
        <p:blipFill>
          <a:blip r:embed="rId3"/>
          <a:stretch>
            <a:fillRect/>
          </a:stretch>
        </p:blipFill>
        <p:spPr>
          <a:xfrm>
            <a:off x="4571999" y="3070637"/>
            <a:ext cx="2073392" cy="1069783"/>
          </a:xfrm>
          <a:prstGeom prst="rect">
            <a:avLst/>
          </a:prstGeom>
        </p:spPr>
      </p:pic>
      <p:pic>
        <p:nvPicPr>
          <p:cNvPr id="3" name="图片 2">
            <a:extLst>
              <a:ext uri="{FF2B5EF4-FFF2-40B4-BE49-F238E27FC236}">
                <a16:creationId xmlns:a16="http://schemas.microsoft.com/office/drawing/2014/main" id="{075F7B68-4CAF-4593-836A-282D2D79F9A3}"/>
              </a:ext>
            </a:extLst>
          </p:cNvPr>
          <p:cNvPicPr>
            <a:picLocks noChangeAspect="1"/>
          </p:cNvPicPr>
          <p:nvPr/>
        </p:nvPicPr>
        <p:blipFill>
          <a:blip r:embed="rId4"/>
          <a:stretch>
            <a:fillRect/>
          </a:stretch>
        </p:blipFill>
        <p:spPr>
          <a:xfrm>
            <a:off x="1211218" y="4684494"/>
            <a:ext cx="6721563" cy="883125"/>
          </a:xfrm>
          <a:prstGeom prst="rect">
            <a:avLst/>
          </a:prstGeom>
        </p:spPr>
      </p:pic>
      <p:sp>
        <p:nvSpPr>
          <p:cNvPr id="12" name="文本框 11">
            <a:extLst>
              <a:ext uri="{FF2B5EF4-FFF2-40B4-BE49-F238E27FC236}">
                <a16:creationId xmlns:a16="http://schemas.microsoft.com/office/drawing/2014/main" id="{C1E39BA0-1CF5-4280-ACB1-1CE499948B19}"/>
              </a:ext>
            </a:extLst>
          </p:cNvPr>
          <p:cNvSpPr txBox="1"/>
          <p:nvPr/>
        </p:nvSpPr>
        <p:spPr>
          <a:xfrm>
            <a:off x="25515" y="5722776"/>
            <a:ext cx="8461920" cy="400110"/>
          </a:xfrm>
          <a:prstGeom prst="rect">
            <a:avLst/>
          </a:prstGeom>
          <a:noFill/>
          <a:ln w="25400">
            <a:noFill/>
          </a:ln>
        </p:spPr>
        <p:txBody>
          <a:bodyPr wrap="square">
            <a:spAutoFit/>
          </a:bodyPr>
          <a:lstStyle/>
          <a:p>
            <a:pPr marL="342900" indent="-342900">
              <a:buFont typeface="Arial" panose="020B0604020202020204" pitchFamily="34" charset="0"/>
              <a:buChar char="•"/>
            </a:pPr>
            <a:r>
              <a:rPr lang="en-US" altLang="zh-CN" sz="2000" dirty="0"/>
              <a:t>1</a:t>
            </a:r>
            <a:r>
              <a:rPr lang="zh-CN" altLang="en-US" sz="2000" dirty="0"/>
              <a:t>生成</a:t>
            </a:r>
            <a:r>
              <a:rPr lang="en-US" altLang="zh-CN" sz="2000" i="1" dirty="0"/>
              <a:t>I</a:t>
            </a:r>
            <a:r>
              <a:rPr lang="zh-CN" altLang="en-US" sz="2000" dirty="0"/>
              <a:t>的样本， </a:t>
            </a:r>
            <a:r>
              <a:rPr lang="en-US" altLang="zh-CN" sz="2000" dirty="0"/>
              <a:t>2</a:t>
            </a:r>
            <a:r>
              <a:rPr lang="zh-CN" altLang="en-US" sz="2000" dirty="0"/>
              <a:t>根据</a:t>
            </a:r>
            <a:r>
              <a:rPr lang="en-US" altLang="zh-CN" sz="2000" i="1" dirty="0"/>
              <a:t>I</a:t>
            </a:r>
            <a:r>
              <a:rPr lang="zh-CN" altLang="en-US" sz="2000" dirty="0"/>
              <a:t>的值生成</a:t>
            </a:r>
            <a:r>
              <a:rPr lang="en-US" altLang="zh-CN" sz="2000" i="1" dirty="0"/>
              <a:t>Z</a:t>
            </a:r>
            <a:r>
              <a:rPr lang="en-US" altLang="zh-CN" sz="2000" baseline="-25000" dirty="0"/>
              <a:t>I</a:t>
            </a:r>
            <a:r>
              <a:rPr lang="zh-CN" altLang="en-US" sz="2000" dirty="0"/>
              <a:t>的样本， 结果就是</a:t>
            </a:r>
            <a:r>
              <a:rPr lang="en-US" altLang="zh-CN" sz="2000" i="1" dirty="0"/>
              <a:t>X</a:t>
            </a:r>
            <a:r>
              <a:rPr lang="zh-CN" altLang="en-US" sz="2000" dirty="0"/>
              <a:t>的样本</a:t>
            </a:r>
          </a:p>
        </p:txBody>
      </p:sp>
    </p:spTree>
    <p:extLst>
      <p:ext uri="{BB962C8B-B14F-4D97-AF65-F5344CB8AC3E}">
        <p14:creationId xmlns:p14="http://schemas.microsoft.com/office/powerpoint/2010/main" val="19188678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2.3.6 </a:t>
            </a:r>
            <a:r>
              <a:rPr lang="zh-CN" altLang="en-US" dirty="0"/>
              <a:t>复合法</a:t>
            </a:r>
          </a:p>
        </p:txBody>
      </p:sp>
      <p:sp>
        <p:nvSpPr>
          <p:cNvPr id="32771" name="矩形 2"/>
          <p:cNvSpPr>
            <a:spLocks noChangeArrowheads="1"/>
          </p:cNvSpPr>
          <p:nvPr/>
        </p:nvSpPr>
        <p:spPr bwMode="auto">
          <a:xfrm>
            <a:off x="268982" y="97427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6.18 </a:t>
            </a:r>
            <a:r>
              <a:rPr lang="zh-CN" altLang="en-US" sz="3200" dirty="0">
                <a:solidFill>
                  <a:srgbClr val="006699"/>
                </a:solidFill>
                <a:latin typeface="Verdana" panose="020B0604030504040204" pitchFamily="34" charset="0"/>
              </a:rPr>
              <a:t>设</a:t>
            </a:r>
            <a:r>
              <a:rPr lang="zh-CN" altLang="en-US" sz="3200" dirty="0">
                <a:solidFill>
                  <a:srgbClr val="FF0000"/>
                </a:solidFill>
                <a:latin typeface="Verdana" panose="020B0604030504040204" pitchFamily="34" charset="0"/>
              </a:rPr>
              <a:t>离散型</a:t>
            </a:r>
            <a:r>
              <a:rPr lang="zh-CN" altLang="en-US" sz="3200" dirty="0">
                <a:solidFill>
                  <a:srgbClr val="006699"/>
                </a:solidFill>
                <a:latin typeface="Verdana" panose="020B0604030504040204" pitchFamily="34" charset="0"/>
              </a:rPr>
              <a:t>随机变量</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的分布为</a:t>
            </a:r>
            <a:endParaRPr lang="en-US" altLang="zh-CN" sz="3200" dirty="0">
              <a:solidFill>
                <a:srgbClr val="006699"/>
              </a:solidFill>
              <a:latin typeface="Verdana" panose="020B0604030504040204" pitchFamily="34" charset="0"/>
            </a:endParaRPr>
          </a:p>
        </p:txBody>
      </p:sp>
      <p:sp>
        <p:nvSpPr>
          <p:cNvPr id="3" name="矩形 2"/>
          <p:cNvSpPr/>
          <p:nvPr/>
        </p:nvSpPr>
        <p:spPr>
          <a:xfrm>
            <a:off x="133967" y="2438890"/>
            <a:ext cx="8640960" cy="3933384"/>
          </a:xfrm>
          <a:prstGeom prst="rect">
            <a:avLst/>
          </a:prstGeom>
        </p:spPr>
        <p:txBody>
          <a:bodyPr wrap="square">
            <a:spAutoFit/>
          </a:bodyPr>
          <a:lstStyle/>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随机变量</a:t>
            </a:r>
            <a:r>
              <a:rPr lang="en-US" altLang="zh-CN" sz="32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分布为</a:t>
            </a:r>
            <a:endParaRPr lang="en-US" altLang="zh-CN" sz="3200" dirty="0">
              <a:solidFill>
                <a:srgbClr val="006699"/>
              </a:solidFill>
              <a:latin typeface="Verdana" panose="020B0604030504040204" pitchFamily="34" charset="0"/>
            </a:endParaRPr>
          </a:p>
          <a:p>
            <a:pPr lvl="0" eaLnBrk="1" hangingPunct="1">
              <a:spcBef>
                <a:spcPct val="20000"/>
              </a:spcBef>
            </a:pPr>
            <a:r>
              <a:rPr lang="en-US" altLang="zh-CN" sz="3200" dirty="0">
                <a:solidFill>
                  <a:srgbClr val="006699"/>
                </a:solidFill>
                <a:latin typeface="Verdana" panose="020B0604030504040204" pitchFamily="34" charset="0"/>
              </a:rPr>
              <a:t>P(I=1)=0.25, P(I=2)=0.75</a:t>
            </a: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随机变量</a:t>
            </a:r>
            <a:r>
              <a:rPr lang="en-US" altLang="zh-CN" sz="3200" dirty="0">
                <a:solidFill>
                  <a:srgbClr val="006699"/>
                </a:solidFill>
                <a:latin typeface="Verdana" panose="020B0604030504040204" pitchFamily="34" charset="0"/>
              </a:rPr>
              <a:t>Z</a:t>
            </a:r>
            <a:r>
              <a:rPr lang="en-US" altLang="zh-CN" sz="3200" baseline="-250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服从</a:t>
            </a:r>
            <a:r>
              <a:rPr lang="en-US" altLang="zh-CN" sz="3200" dirty="0">
                <a:solidFill>
                  <a:srgbClr val="006699"/>
                </a:solidFill>
                <a:latin typeface="Verdana" panose="020B0604030504040204" pitchFamily="34" charset="0"/>
              </a:rPr>
              <a:t>1,2,3,4,5</a:t>
            </a:r>
            <a:r>
              <a:rPr lang="zh-CN" altLang="en-US" sz="3200" dirty="0">
                <a:solidFill>
                  <a:srgbClr val="006699"/>
                </a:solidFill>
                <a:latin typeface="Verdana" panose="020B0604030504040204" pitchFamily="34" charset="0"/>
              </a:rPr>
              <a:t>上的离散均匀分布， </a:t>
            </a:r>
            <a:endParaRPr lang="en-US" altLang="zh-CN" sz="3200" dirty="0">
              <a:solidFill>
                <a:srgbClr val="006699"/>
              </a:solidFill>
              <a:latin typeface="Verdana" panose="020B0604030504040204" pitchFamily="34" charset="0"/>
            </a:endParaRPr>
          </a:p>
          <a:p>
            <a:pPr marL="457200" lvl="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随机变量</a:t>
            </a:r>
            <a:r>
              <a:rPr lang="en-US" altLang="zh-CN" sz="3200" dirty="0">
                <a:solidFill>
                  <a:srgbClr val="006699"/>
                </a:solidFill>
                <a:latin typeface="Verdana" panose="020B0604030504040204" pitchFamily="34" charset="0"/>
              </a:rPr>
              <a:t>Z</a:t>
            </a:r>
            <a:r>
              <a:rPr lang="en-US" altLang="zh-CN" sz="3200" baseline="-250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服从</a:t>
            </a:r>
            <a:r>
              <a:rPr lang="en-US" altLang="zh-CN" sz="3200" dirty="0">
                <a:solidFill>
                  <a:srgbClr val="006699"/>
                </a:solidFill>
                <a:latin typeface="Verdana" panose="020B0604030504040204" pitchFamily="34" charset="0"/>
              </a:rPr>
              <a:t>6,7,8,9,10</a:t>
            </a:r>
            <a:r>
              <a:rPr lang="zh-CN" altLang="en-US" sz="3200" dirty="0">
                <a:solidFill>
                  <a:srgbClr val="006699"/>
                </a:solidFill>
                <a:latin typeface="Verdana" panose="020B0604030504040204" pitchFamily="34" charset="0"/>
              </a:rPr>
              <a:t>上的离散均匀分布， </a:t>
            </a:r>
            <a:endParaRPr lang="en-US" altLang="zh-CN" sz="3200" dirty="0">
              <a:solidFill>
                <a:srgbClr val="006699"/>
              </a:solidFill>
              <a:latin typeface="Verdana" panose="020B0604030504040204" pitchFamily="34" charset="0"/>
            </a:endParaRPr>
          </a:p>
          <a:p>
            <a:pPr marL="457200" lvl="0" indent="-457200" eaLnBrk="1" hangingPunct="1">
              <a:spcBef>
                <a:spcPct val="20000"/>
              </a:spcBef>
              <a:buFont typeface="Arial" panose="020B0604020202020204" pitchFamily="34" charset="0"/>
              <a:buChar char="•"/>
            </a:pP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的分布为</a:t>
            </a:r>
            <a:r>
              <a:rPr lang="en-US" altLang="zh-CN" sz="3200" dirty="0">
                <a:solidFill>
                  <a:srgbClr val="006699"/>
                </a:solidFill>
                <a:latin typeface="Verdana" panose="020B0604030504040204" pitchFamily="34" charset="0"/>
              </a:rPr>
              <a:t>I=1</a:t>
            </a:r>
            <a:r>
              <a:rPr lang="zh-CN" altLang="en-US" sz="3200" dirty="0">
                <a:solidFill>
                  <a:srgbClr val="006699"/>
                </a:solidFill>
                <a:latin typeface="Verdana" panose="020B0604030504040204" pitchFamily="34" charset="0"/>
              </a:rPr>
              <a:t>时取</a:t>
            </a:r>
            <a:r>
              <a:rPr lang="en-US" altLang="zh-CN" sz="3200" dirty="0">
                <a:solidFill>
                  <a:srgbClr val="006699"/>
                </a:solidFill>
                <a:latin typeface="Verdana" panose="020B0604030504040204" pitchFamily="34" charset="0"/>
              </a:rPr>
              <a:t>Z</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I=2</a:t>
            </a:r>
            <a:r>
              <a:rPr lang="zh-CN" altLang="en-US" sz="3200" dirty="0">
                <a:solidFill>
                  <a:srgbClr val="006699"/>
                </a:solidFill>
                <a:latin typeface="Verdana" panose="020B0604030504040204" pitchFamily="34" charset="0"/>
              </a:rPr>
              <a:t>时取</a:t>
            </a:r>
            <a:r>
              <a:rPr lang="en-US" altLang="zh-CN" sz="3200" dirty="0">
                <a:solidFill>
                  <a:srgbClr val="006699"/>
                </a:solidFill>
                <a:latin typeface="Verdana" panose="020B0604030504040204" pitchFamily="34" charset="0"/>
              </a:rPr>
              <a:t>Z</a:t>
            </a:r>
            <a:r>
              <a:rPr lang="en-US" altLang="zh-CN" sz="3200" baseline="-250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p:txBody>
      </p:sp>
      <p:pic>
        <p:nvPicPr>
          <p:cNvPr id="5" name="图片 4"/>
          <p:cNvPicPr>
            <a:picLocks noChangeAspect="1"/>
          </p:cNvPicPr>
          <p:nvPr/>
        </p:nvPicPr>
        <p:blipFill>
          <a:blip r:embed="rId2"/>
          <a:stretch>
            <a:fillRect/>
          </a:stretch>
        </p:blipFill>
        <p:spPr>
          <a:xfrm>
            <a:off x="2096725" y="1636820"/>
            <a:ext cx="3771131" cy="80206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2.3.6 </a:t>
            </a:r>
            <a:r>
              <a:rPr lang="zh-CN" altLang="en-US" dirty="0"/>
              <a:t>复合法</a:t>
            </a:r>
          </a:p>
        </p:txBody>
      </p:sp>
      <p:sp>
        <p:nvSpPr>
          <p:cNvPr id="32771" name="矩形 2"/>
          <p:cNvSpPr>
            <a:spLocks noChangeArrowheads="1"/>
          </p:cNvSpPr>
          <p:nvPr/>
        </p:nvSpPr>
        <p:spPr bwMode="auto">
          <a:xfrm>
            <a:off x="268982" y="97427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6.18 </a:t>
            </a:r>
            <a:r>
              <a:rPr lang="zh-CN" altLang="en-US" sz="3200" dirty="0">
                <a:solidFill>
                  <a:srgbClr val="006699"/>
                </a:solidFill>
                <a:latin typeface="Verdana" panose="020B0604030504040204" pitchFamily="34" charset="0"/>
              </a:rPr>
              <a:t>设</a:t>
            </a:r>
            <a:r>
              <a:rPr lang="zh-CN" altLang="en-US" sz="3200" dirty="0">
                <a:solidFill>
                  <a:srgbClr val="FF0000"/>
                </a:solidFill>
                <a:latin typeface="Verdana" panose="020B0604030504040204" pitchFamily="34" charset="0"/>
              </a:rPr>
              <a:t>离散型</a:t>
            </a:r>
            <a:r>
              <a:rPr lang="zh-CN" altLang="en-US" sz="3200" dirty="0">
                <a:solidFill>
                  <a:srgbClr val="006699"/>
                </a:solidFill>
                <a:latin typeface="Verdana" panose="020B0604030504040204" pitchFamily="34" charset="0"/>
              </a:rPr>
              <a:t>随机变量</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的分布为</a:t>
            </a:r>
            <a:endParaRPr lang="en-US" altLang="zh-CN" sz="3200" dirty="0">
              <a:solidFill>
                <a:srgbClr val="006699"/>
              </a:solidFill>
              <a:latin typeface="Verdana" panose="020B0604030504040204" pitchFamily="34" charset="0"/>
            </a:endParaRPr>
          </a:p>
        </p:txBody>
      </p:sp>
      <p:pic>
        <p:nvPicPr>
          <p:cNvPr id="5" name="图片 4"/>
          <p:cNvPicPr>
            <a:picLocks noChangeAspect="1"/>
          </p:cNvPicPr>
          <p:nvPr/>
        </p:nvPicPr>
        <p:blipFill>
          <a:blip r:embed="rId2"/>
          <a:stretch>
            <a:fillRect/>
          </a:stretch>
        </p:blipFill>
        <p:spPr>
          <a:xfrm>
            <a:off x="2096725" y="1636820"/>
            <a:ext cx="3771131" cy="802069"/>
          </a:xfrm>
          <a:prstGeom prst="rect">
            <a:avLst/>
          </a:prstGeom>
        </p:spPr>
      </p:pic>
      <p:sp>
        <p:nvSpPr>
          <p:cNvPr id="7" name="文本框 6">
            <a:extLst>
              <a:ext uri="{FF2B5EF4-FFF2-40B4-BE49-F238E27FC236}">
                <a16:creationId xmlns:a16="http://schemas.microsoft.com/office/drawing/2014/main" id="{3A1E476E-CB1A-48E9-B164-2286C5A115AE}"/>
              </a:ext>
            </a:extLst>
          </p:cNvPr>
          <p:cNvSpPr txBox="1"/>
          <p:nvPr/>
        </p:nvSpPr>
        <p:spPr>
          <a:xfrm>
            <a:off x="476545" y="2433953"/>
            <a:ext cx="4690532" cy="3970318"/>
          </a:xfrm>
          <a:prstGeom prst="rect">
            <a:avLst/>
          </a:prstGeom>
          <a:noFill/>
          <a:ln w="25400">
            <a:noFill/>
          </a:ln>
        </p:spPr>
        <p:txBody>
          <a:bodyPr wrap="square">
            <a:spAutoFit/>
          </a:bodyPr>
          <a:lstStyle/>
          <a:p>
            <a:r>
              <a:rPr lang="en-US" altLang="zh-CN" dirty="0"/>
              <a:t>function </a:t>
            </a:r>
            <a:r>
              <a:rPr lang="en-US" altLang="zh-CN" dirty="0" err="1"/>
              <a:t>randmix</a:t>
            </a:r>
            <a:r>
              <a:rPr lang="en-US" altLang="zh-CN" dirty="0"/>
              <a:t>(n)</a:t>
            </a:r>
          </a:p>
          <a:p>
            <a:r>
              <a:rPr lang="en-US" altLang="zh-CN" dirty="0"/>
              <a:t>    local </a:t>
            </a:r>
            <a:r>
              <a:rPr lang="en-US" altLang="zh-CN" dirty="0" err="1"/>
              <a:t>xs</a:t>
            </a:r>
            <a:r>
              <a:rPr lang="en-US" altLang="zh-CN" dirty="0"/>
              <a:t>, u1, u2 </a:t>
            </a:r>
          </a:p>
          <a:p>
            <a:r>
              <a:rPr lang="en-US" altLang="zh-CN" dirty="0"/>
              <a:t>    </a:t>
            </a:r>
            <a:r>
              <a:rPr lang="en-US" altLang="zh-CN" dirty="0" err="1"/>
              <a:t>xs</a:t>
            </a:r>
            <a:r>
              <a:rPr lang="en-US" altLang="zh-CN" dirty="0"/>
              <a:t> = zeros(n)</a:t>
            </a:r>
          </a:p>
          <a:p>
            <a:r>
              <a:rPr lang="en-US" altLang="zh-CN" dirty="0"/>
              <a:t>    for </a:t>
            </a:r>
            <a:r>
              <a:rPr lang="en-US" altLang="zh-CN" dirty="0" err="1"/>
              <a:t>i</a:t>
            </a:r>
            <a:r>
              <a:rPr lang="en-US" altLang="zh-CN" dirty="0"/>
              <a:t>=1:n </a:t>
            </a:r>
          </a:p>
          <a:p>
            <a:r>
              <a:rPr lang="en-US" altLang="zh-CN" dirty="0"/>
              <a:t>        u1, u2 = rand(2)</a:t>
            </a:r>
          </a:p>
          <a:p>
            <a:r>
              <a:rPr lang="en-US" altLang="zh-CN" dirty="0"/>
              <a:t>        if u1 &lt; 0.75 </a:t>
            </a:r>
          </a:p>
          <a:p>
            <a:r>
              <a:rPr lang="en-US" altLang="zh-CN" dirty="0"/>
              <a:t>            </a:t>
            </a:r>
            <a:r>
              <a:rPr lang="en-US" altLang="zh-CN" dirty="0" err="1"/>
              <a:t>xs</a:t>
            </a:r>
            <a:r>
              <a:rPr lang="en-US" altLang="zh-CN" dirty="0"/>
              <a:t>[</a:t>
            </a:r>
            <a:r>
              <a:rPr lang="en-US" altLang="zh-CN" dirty="0" err="1"/>
              <a:t>i</a:t>
            </a:r>
            <a:r>
              <a:rPr lang="en-US" altLang="zh-CN" dirty="0"/>
              <a:t>] = ceil(Int, 5*u2) + 5</a:t>
            </a:r>
          </a:p>
          <a:p>
            <a:r>
              <a:rPr lang="en-US" altLang="zh-CN" dirty="0"/>
              <a:t>        else</a:t>
            </a:r>
          </a:p>
          <a:p>
            <a:r>
              <a:rPr lang="en-US" altLang="zh-CN" dirty="0"/>
              <a:t>            </a:t>
            </a:r>
            <a:r>
              <a:rPr lang="en-US" altLang="zh-CN" dirty="0" err="1"/>
              <a:t>xs</a:t>
            </a:r>
            <a:r>
              <a:rPr lang="en-US" altLang="zh-CN" dirty="0"/>
              <a:t>[</a:t>
            </a:r>
            <a:r>
              <a:rPr lang="en-US" altLang="zh-CN" dirty="0" err="1"/>
              <a:t>i</a:t>
            </a:r>
            <a:r>
              <a:rPr lang="en-US" altLang="zh-CN" dirty="0"/>
              <a:t>] = ceil(Int, 5*u2)</a:t>
            </a:r>
          </a:p>
          <a:p>
            <a:r>
              <a:rPr lang="en-US" altLang="zh-CN" dirty="0"/>
              <a:t>        end </a:t>
            </a:r>
          </a:p>
          <a:p>
            <a:r>
              <a:rPr lang="en-US" altLang="zh-CN" dirty="0"/>
              <a:t>    end</a:t>
            </a:r>
          </a:p>
          <a:p>
            <a:endParaRPr lang="en-US" altLang="zh-CN" dirty="0"/>
          </a:p>
          <a:p>
            <a:r>
              <a:rPr lang="en-US" altLang="zh-CN" dirty="0"/>
              <a:t>    return </a:t>
            </a:r>
            <a:r>
              <a:rPr lang="en-US" altLang="zh-CN" dirty="0" err="1"/>
              <a:t>xs</a:t>
            </a:r>
            <a:endParaRPr lang="en-US" altLang="zh-CN" dirty="0"/>
          </a:p>
          <a:p>
            <a:r>
              <a:rPr lang="en-US" altLang="zh-CN" dirty="0"/>
              <a:t>end</a:t>
            </a:r>
            <a:endParaRPr lang="zh-CN" altLang="en-US" dirty="0"/>
          </a:p>
        </p:txBody>
      </p:sp>
    </p:spTree>
    <p:extLst>
      <p:ext uri="{BB962C8B-B14F-4D97-AF65-F5344CB8AC3E}">
        <p14:creationId xmlns:p14="http://schemas.microsoft.com/office/powerpoint/2010/main" val="6146554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2.3.6 </a:t>
            </a:r>
            <a:r>
              <a:rPr lang="zh-CN" altLang="en-US" dirty="0"/>
              <a:t>复合法</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96A9C40-00F7-4EE7-9F95-175D0A5E4CD8}"/>
                  </a:ext>
                </a:extLst>
              </p:cNvPr>
              <p:cNvSpPr txBox="1"/>
              <p:nvPr/>
            </p:nvSpPr>
            <p:spPr>
              <a:xfrm>
                <a:off x="20922" y="998730"/>
                <a:ext cx="9123078" cy="2062103"/>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t>若随机变量</a:t>
                </a:r>
                <a:r>
                  <a:rPr lang="en-US" altLang="zh-CN" sz="3200" dirty="0"/>
                  <a:t>Z</a:t>
                </a:r>
                <a:r>
                  <a:rPr lang="en-US" altLang="zh-CN" sz="3200" baseline="-25000" dirty="0"/>
                  <a:t>1</a:t>
                </a:r>
                <a:r>
                  <a:rPr lang="en-US" altLang="zh-CN" sz="3200" dirty="0"/>
                  <a:t>, Z</a:t>
                </a:r>
                <a:r>
                  <a:rPr lang="en-US" altLang="zh-CN" sz="3200" baseline="-25000" dirty="0"/>
                  <a:t>2</a:t>
                </a:r>
                <a:r>
                  <a:rPr lang="en-US" altLang="zh-CN" sz="3200" dirty="0"/>
                  <a:t>, …, </a:t>
                </a:r>
                <a:r>
                  <a:rPr lang="en-US" altLang="zh-CN" sz="3200" dirty="0" err="1"/>
                  <a:t>Z</a:t>
                </a:r>
                <a:r>
                  <a:rPr lang="en-US" altLang="zh-CN" sz="3200" baseline="-25000" dirty="0" err="1"/>
                  <a:t>m</a:t>
                </a:r>
                <a:r>
                  <a:rPr lang="zh-CN" altLang="en-US" sz="3200" dirty="0"/>
                  <a:t>都是</a:t>
                </a:r>
                <a:r>
                  <a:rPr lang="zh-CN" altLang="en-US" sz="3200" dirty="0">
                    <a:solidFill>
                      <a:srgbClr val="FF0000"/>
                    </a:solidFill>
                  </a:rPr>
                  <a:t>连续型</a:t>
                </a:r>
                <a:r>
                  <a:rPr lang="zh-CN" altLang="en-US" sz="3200" dirty="0"/>
                  <a:t>随机变量</a:t>
                </a:r>
                <a:r>
                  <a:rPr lang="en-US" altLang="zh-CN" sz="3200" dirty="0"/>
                  <a:t>,</a:t>
                </a:r>
              </a:p>
              <a:p>
                <a:r>
                  <a:rPr lang="zh-CN" altLang="en-US" sz="3200" dirty="0"/>
                  <a:t>密度函数分别为</a:t>
                </a:r>
                <a:endParaRPr lang="en-US" altLang="zh-CN" sz="3200" dirty="0"/>
              </a:p>
              <a:p>
                <a:pPr/>
                <a14:m>
                  <m:oMathPara xmlns:m="http://schemas.openxmlformats.org/officeDocument/2006/math">
                    <m:oMathParaPr>
                      <m:jc m:val="centerGroup"/>
                    </m:oMathParaPr>
                    <m:oMath xmlns:m="http://schemas.openxmlformats.org/officeDocument/2006/math">
                      <m:sSub>
                        <m:sSubPr>
                          <m:ctrlPr>
                            <a:rPr lang="zh-CN" altLang="en-US" sz="3200" i="1" smtClean="0">
                              <a:solidFill>
                                <a:srgbClr val="836967"/>
                              </a:solidFill>
                              <a:latin typeface="Cambria Math" panose="02040503050406030204" pitchFamily="18" charset="0"/>
                            </a:rPr>
                          </m:ctrlPr>
                        </m:sSubPr>
                        <m:e>
                          <m:r>
                            <a:rPr lang="zh-CN" altLang="en-US" sz="3200" i="1">
                              <a:latin typeface="Cambria Math" panose="02040503050406030204" pitchFamily="18" charset="0"/>
                            </a:rPr>
                            <m:t>𝑝</m:t>
                          </m:r>
                        </m:e>
                        <m:sub>
                          <m:r>
                            <a:rPr lang="zh-CN" altLang="en-US" sz="3200" i="0">
                              <a:latin typeface="Cambria Math" panose="02040503050406030204" pitchFamily="18" charset="0"/>
                            </a:rPr>
                            <m:t>1</m:t>
                          </m:r>
                        </m:sub>
                      </m:sSub>
                      <m:d>
                        <m:dPr>
                          <m:ctrlPr>
                            <a:rPr lang="zh-CN" altLang="en-US" sz="3200" i="1">
                              <a:latin typeface="Cambria Math" panose="02040503050406030204" pitchFamily="18" charset="0"/>
                            </a:rPr>
                          </m:ctrlPr>
                        </m:dPr>
                        <m:e>
                          <m:r>
                            <a:rPr lang="zh-CN" altLang="en-US" sz="3200" i="1">
                              <a:latin typeface="Cambria Math" panose="02040503050406030204" pitchFamily="18" charset="0"/>
                            </a:rPr>
                            <m:t>𝑧</m:t>
                          </m:r>
                        </m:e>
                      </m:d>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𝑝</m:t>
                          </m:r>
                        </m:e>
                        <m:sub>
                          <m:r>
                            <a:rPr lang="zh-CN" altLang="en-US" sz="3200" i="0">
                              <a:latin typeface="Cambria Math" panose="02040503050406030204" pitchFamily="18" charset="0"/>
                            </a:rPr>
                            <m:t>2</m:t>
                          </m:r>
                        </m:sub>
                      </m:sSub>
                      <m:d>
                        <m:dPr>
                          <m:ctrlPr>
                            <a:rPr lang="zh-CN" altLang="en-US" sz="3200" i="1">
                              <a:latin typeface="Cambria Math" panose="02040503050406030204" pitchFamily="18" charset="0"/>
                            </a:rPr>
                          </m:ctrlPr>
                        </m:dPr>
                        <m:e>
                          <m:r>
                            <a:rPr lang="zh-CN" altLang="en-US" sz="3200" i="1">
                              <a:latin typeface="Cambria Math" panose="02040503050406030204" pitchFamily="18" charset="0"/>
                            </a:rPr>
                            <m:t>𝑧</m:t>
                          </m:r>
                        </m:e>
                      </m:d>
                      <m:r>
                        <a:rPr lang="zh-CN" altLang="en-US" sz="3200" i="0">
                          <a:latin typeface="Cambria Math" panose="02040503050406030204" pitchFamily="18" charset="0"/>
                        </a:rPr>
                        <m:t>,…,</m:t>
                      </m:r>
                      <m:sSub>
                        <m:sSubPr>
                          <m:ctrlPr>
                            <a:rPr lang="zh-CN" altLang="en-US" sz="3200" i="1">
                              <a:solidFill>
                                <a:srgbClr val="836967"/>
                              </a:solidFill>
                              <a:latin typeface="Cambria Math" panose="02040503050406030204" pitchFamily="18" charset="0"/>
                            </a:rPr>
                          </m:ctrlPr>
                        </m:sSubPr>
                        <m:e>
                          <m:r>
                            <a:rPr lang="zh-CN" altLang="en-US" sz="3200" i="1">
                              <a:latin typeface="Cambria Math" panose="02040503050406030204" pitchFamily="18" charset="0"/>
                            </a:rPr>
                            <m:t>𝑝</m:t>
                          </m:r>
                        </m:e>
                        <m:sub>
                          <m:r>
                            <a:rPr lang="zh-CN" altLang="en-US" sz="3200" i="1">
                              <a:latin typeface="Cambria Math" panose="02040503050406030204" pitchFamily="18" charset="0"/>
                            </a:rPr>
                            <m:t>𝑚</m:t>
                          </m:r>
                        </m:sub>
                      </m:sSub>
                      <m:d>
                        <m:dPr>
                          <m:ctrlPr>
                            <a:rPr lang="zh-CN" altLang="en-US" sz="3200" i="1">
                              <a:latin typeface="Cambria Math" panose="02040503050406030204" pitchFamily="18" charset="0"/>
                            </a:rPr>
                          </m:ctrlPr>
                        </m:dPr>
                        <m:e>
                          <m:r>
                            <a:rPr lang="zh-CN" altLang="en-US" sz="3200" i="1">
                              <a:latin typeface="Cambria Math" panose="02040503050406030204" pitchFamily="18" charset="0"/>
                            </a:rPr>
                            <m:t>𝑧</m:t>
                          </m:r>
                        </m:e>
                      </m:d>
                    </m:oMath>
                  </m:oMathPara>
                </a14:m>
                <a:endParaRPr lang="en-US" altLang="zh-CN" sz="3200" dirty="0"/>
              </a:p>
              <a:p>
                <a:pPr marL="457200" indent="-457200">
                  <a:buFont typeface="Arial" panose="020B0604020202020204" pitchFamily="34" charset="0"/>
                  <a:buChar char="•"/>
                </a:pPr>
                <a:r>
                  <a:rPr lang="zh-CN" altLang="en-US" sz="3200" dirty="0"/>
                  <a:t>则</a:t>
                </a:r>
                <a:r>
                  <a:rPr lang="en-US" altLang="zh-CN" sz="3200" dirty="0"/>
                  <a:t>X</a:t>
                </a:r>
                <a:r>
                  <a:rPr lang="zh-CN" altLang="en-US" sz="3200" dirty="0"/>
                  <a:t>的分布函数为</a:t>
                </a:r>
              </a:p>
            </p:txBody>
          </p:sp>
        </mc:Choice>
        <mc:Fallback xmlns="">
          <p:sp>
            <p:nvSpPr>
              <p:cNvPr id="7" name="文本框 6">
                <a:extLst>
                  <a:ext uri="{FF2B5EF4-FFF2-40B4-BE49-F238E27FC236}">
                    <a16:creationId xmlns:a16="http://schemas.microsoft.com/office/drawing/2014/main" id="{996A9C40-00F7-4EE7-9F95-175D0A5E4CD8}"/>
                  </a:ext>
                </a:extLst>
              </p:cNvPr>
              <p:cNvSpPr txBox="1">
                <a:spLocks noRot="1" noChangeAspect="1" noMove="1" noResize="1" noEditPoints="1" noAdjustHandles="1" noChangeArrowheads="1" noChangeShapeType="1" noTextEdit="1"/>
              </p:cNvSpPr>
              <p:nvPr/>
            </p:nvSpPr>
            <p:spPr>
              <a:xfrm>
                <a:off x="20922" y="998730"/>
                <a:ext cx="9123078" cy="2062103"/>
              </a:xfrm>
              <a:prstGeom prst="rect">
                <a:avLst/>
              </a:prstGeom>
              <a:blipFill>
                <a:blip r:embed="rId2"/>
                <a:stretch>
                  <a:fillRect l="-1670" t="-4734" b="-9172"/>
                </a:stretch>
              </a:blipFill>
              <a:ln w="25400">
                <a:noFill/>
              </a:ln>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5D6EB677-B1CE-4745-8176-259DB8C51696}"/>
              </a:ext>
            </a:extLst>
          </p:cNvPr>
          <p:cNvPicPr>
            <a:picLocks noChangeAspect="1"/>
          </p:cNvPicPr>
          <p:nvPr/>
        </p:nvPicPr>
        <p:blipFill>
          <a:blip r:embed="rId3"/>
          <a:stretch>
            <a:fillRect/>
          </a:stretch>
        </p:blipFill>
        <p:spPr>
          <a:xfrm>
            <a:off x="1806075" y="3060833"/>
            <a:ext cx="4648395" cy="1411735"/>
          </a:xfrm>
          <a:prstGeom prst="rect">
            <a:avLst/>
          </a:prstGeom>
        </p:spPr>
      </p:pic>
      <p:sp>
        <p:nvSpPr>
          <p:cNvPr id="20" name="文本框 19">
            <a:extLst>
              <a:ext uri="{FF2B5EF4-FFF2-40B4-BE49-F238E27FC236}">
                <a16:creationId xmlns:a16="http://schemas.microsoft.com/office/drawing/2014/main" id="{866D5235-42B5-4D8E-ACCC-B1B826D9E00C}"/>
              </a:ext>
            </a:extLst>
          </p:cNvPr>
          <p:cNvSpPr txBox="1"/>
          <p:nvPr/>
        </p:nvSpPr>
        <p:spPr>
          <a:xfrm>
            <a:off x="0" y="4472568"/>
            <a:ext cx="4690532" cy="584775"/>
          </a:xfrm>
          <a:prstGeom prst="rect">
            <a:avLst/>
          </a:prstGeom>
          <a:noFill/>
          <a:ln w="25400">
            <a:noFill/>
          </a:ln>
        </p:spPr>
        <p:txBody>
          <a:bodyPr wrap="square">
            <a:spAutoFit/>
          </a:bodyPr>
          <a:lstStyle/>
          <a:p>
            <a:pPr marL="457200" indent="-457200">
              <a:buFont typeface="Arial" panose="020B0604020202020204" pitchFamily="34" charset="0"/>
              <a:buChar char="•"/>
            </a:pPr>
            <a:r>
              <a:rPr lang="zh-CN" altLang="en-US" sz="3200" dirty="0"/>
              <a:t>于是</a:t>
            </a:r>
            <a:r>
              <a:rPr lang="en-US" altLang="zh-CN" sz="3200" dirty="0"/>
              <a:t>X</a:t>
            </a:r>
            <a:r>
              <a:rPr lang="zh-CN" altLang="en-US" sz="3200" dirty="0"/>
              <a:t>有分布密度</a:t>
            </a:r>
          </a:p>
        </p:txBody>
      </p:sp>
      <p:sp>
        <p:nvSpPr>
          <p:cNvPr id="24" name="文本框 23">
            <a:extLst>
              <a:ext uri="{FF2B5EF4-FFF2-40B4-BE49-F238E27FC236}">
                <a16:creationId xmlns:a16="http://schemas.microsoft.com/office/drawing/2014/main" id="{AE5046FD-C666-4117-B254-63A6F5244C5E}"/>
              </a:ext>
            </a:extLst>
          </p:cNvPr>
          <p:cNvSpPr txBox="1"/>
          <p:nvPr/>
        </p:nvSpPr>
        <p:spPr>
          <a:xfrm>
            <a:off x="0" y="5823368"/>
            <a:ext cx="8916563" cy="369332"/>
          </a:xfrm>
          <a:prstGeom prst="rect">
            <a:avLst/>
          </a:prstGeom>
          <a:noFill/>
          <a:ln w="25400">
            <a:noFill/>
          </a:ln>
        </p:spPr>
        <p:txBody>
          <a:bodyPr wrap="square">
            <a:spAutoFit/>
          </a:bodyPr>
          <a:lstStyle/>
          <a:p>
            <a:pPr marL="285750" indent="-285750">
              <a:buFont typeface="Arial" panose="020B0604020202020204" pitchFamily="34" charset="0"/>
              <a:buChar char="•"/>
            </a:pPr>
            <a:r>
              <a:rPr lang="zh-CN" altLang="en-US" dirty="0"/>
              <a:t>可以先生成</a:t>
            </a:r>
            <a:r>
              <a:rPr lang="en-US" altLang="zh-CN" dirty="0"/>
              <a:t>I</a:t>
            </a:r>
            <a:r>
              <a:rPr lang="zh-CN" altLang="en-US" dirty="0"/>
              <a:t>， 然后根据的值生成</a:t>
            </a:r>
            <a:r>
              <a:rPr lang="en-US" altLang="zh-CN" dirty="0"/>
              <a:t>Z</a:t>
            </a:r>
            <a:r>
              <a:rPr lang="en-US" altLang="zh-CN" baseline="-25000" dirty="0"/>
              <a:t>I</a:t>
            </a:r>
            <a:r>
              <a:rPr lang="zh-CN" altLang="en-US" dirty="0"/>
              <a:t>作为</a:t>
            </a:r>
            <a:r>
              <a:rPr lang="en-US" altLang="zh-CN" dirty="0"/>
              <a:t>X</a:t>
            </a:r>
            <a:r>
              <a:rPr lang="zh-CN" altLang="en-US" dirty="0"/>
              <a:t>。</a:t>
            </a:r>
          </a:p>
        </p:txBody>
      </p:sp>
      <p:pic>
        <p:nvPicPr>
          <p:cNvPr id="3" name="图片 2">
            <a:extLst>
              <a:ext uri="{FF2B5EF4-FFF2-40B4-BE49-F238E27FC236}">
                <a16:creationId xmlns:a16="http://schemas.microsoft.com/office/drawing/2014/main" id="{ED956A3F-94DB-4E0E-A2B2-D4797227965A}"/>
              </a:ext>
            </a:extLst>
          </p:cNvPr>
          <p:cNvPicPr>
            <a:picLocks noChangeAspect="1"/>
          </p:cNvPicPr>
          <p:nvPr/>
        </p:nvPicPr>
        <p:blipFill>
          <a:blip r:embed="rId4"/>
          <a:stretch>
            <a:fillRect/>
          </a:stretch>
        </p:blipFill>
        <p:spPr>
          <a:xfrm>
            <a:off x="4089517" y="4608440"/>
            <a:ext cx="3050358" cy="831916"/>
          </a:xfrm>
          <a:prstGeom prst="rect">
            <a:avLst/>
          </a:prstGeom>
        </p:spPr>
      </p:pic>
    </p:spTree>
    <p:extLst>
      <p:ext uri="{BB962C8B-B14F-4D97-AF65-F5344CB8AC3E}">
        <p14:creationId xmlns:p14="http://schemas.microsoft.com/office/powerpoint/2010/main" val="16268825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2.3.6 </a:t>
            </a:r>
            <a:r>
              <a:rPr lang="zh-CN" altLang="en-US" dirty="0"/>
              <a:t>复合法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6.19 (</a:t>
            </a:r>
            <a:r>
              <a:rPr lang="zh-CN" altLang="en-US" sz="3200" dirty="0">
                <a:solidFill>
                  <a:srgbClr val="FF0000"/>
                </a:solidFill>
                <a:latin typeface="Verdana" panose="020B0604030504040204" pitchFamily="34" charset="0"/>
              </a:rPr>
              <a:t>梯形分布</a:t>
            </a:r>
            <a:r>
              <a:rPr lang="en-US" altLang="zh-CN" sz="3200" dirty="0">
                <a:solidFill>
                  <a:srgbClr val="006699"/>
                </a:solidFill>
                <a:latin typeface="Verdana" panose="020B0604030504040204" pitchFamily="34" charset="0"/>
              </a:rPr>
              <a:t>) </a:t>
            </a:r>
          </a:p>
          <a:p>
            <a:pPr marL="0" indent="0" eaLnBrk="1" hangingPunct="1">
              <a:spcBef>
                <a:spcPct val="20000"/>
              </a:spcBef>
            </a:pPr>
            <a:r>
              <a:rPr lang="zh-CN" altLang="en-US" sz="3200" dirty="0">
                <a:solidFill>
                  <a:srgbClr val="006699"/>
                </a:solidFill>
                <a:latin typeface="Verdana" panose="020B0604030504040204" pitchFamily="34" charset="0"/>
              </a:rPr>
              <a:t>对</a:t>
            </a:r>
            <a:r>
              <a:rPr lang="en-US" altLang="zh-CN" sz="3200" dirty="0">
                <a:solidFill>
                  <a:srgbClr val="006699"/>
                </a:solidFill>
                <a:latin typeface="Verdana" panose="020B0604030504040204" pitchFamily="34" charset="0"/>
              </a:rPr>
              <a:t>0&lt;a&lt;1</a:t>
            </a:r>
            <a:r>
              <a:rPr lang="zh-CN" altLang="en-US" sz="3200" dirty="0">
                <a:solidFill>
                  <a:srgbClr val="006699"/>
                </a:solidFill>
                <a:latin typeface="Verdana" panose="020B0604030504040204" pitchFamily="34" charset="0"/>
              </a:rPr>
              <a:t>，考虑梯形密度</a:t>
            </a:r>
            <a:endParaRPr lang="en-US" altLang="zh-CN" sz="3200" dirty="0">
              <a:solidFill>
                <a:srgbClr val="006699"/>
              </a:solidFill>
              <a:latin typeface="Verdana" panose="020B0604030504040204" pitchFamily="34" charset="0"/>
            </a:endParaRPr>
          </a:p>
        </p:txBody>
      </p:sp>
      <p:pic>
        <p:nvPicPr>
          <p:cNvPr id="2" name="图片 1">
            <a:extLst>
              <a:ext uri="{FF2B5EF4-FFF2-40B4-BE49-F238E27FC236}">
                <a16:creationId xmlns:a16="http://schemas.microsoft.com/office/drawing/2014/main" id="{5CD85C84-ACD2-415D-A62E-86C5EF320840}"/>
              </a:ext>
            </a:extLst>
          </p:cNvPr>
          <p:cNvPicPr>
            <a:picLocks noChangeAspect="1"/>
          </p:cNvPicPr>
          <p:nvPr/>
        </p:nvPicPr>
        <p:blipFill>
          <a:blip r:embed="rId2"/>
          <a:stretch>
            <a:fillRect/>
          </a:stretch>
        </p:blipFill>
        <p:spPr>
          <a:xfrm>
            <a:off x="836585" y="2354456"/>
            <a:ext cx="6261699" cy="3507492"/>
          </a:xfrm>
          <a:prstGeom prst="rect">
            <a:avLst/>
          </a:prstGeom>
        </p:spPr>
      </p:pic>
    </p:spTree>
    <p:extLst>
      <p:ext uri="{BB962C8B-B14F-4D97-AF65-F5344CB8AC3E}">
        <p14:creationId xmlns:p14="http://schemas.microsoft.com/office/powerpoint/2010/main" val="19798134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2.3.6 </a:t>
            </a:r>
            <a:r>
              <a:rPr lang="zh-CN" altLang="en-US" dirty="0"/>
              <a:t>复合法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1178750"/>
            <a:ext cx="83709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6.19 (</a:t>
            </a:r>
            <a:r>
              <a:rPr lang="zh-CN" altLang="en-US" sz="3200" dirty="0">
                <a:solidFill>
                  <a:srgbClr val="FF0000"/>
                </a:solidFill>
                <a:latin typeface="Verdana" panose="020B0604030504040204" pitchFamily="34" charset="0"/>
              </a:rPr>
              <a:t>梯形分布</a:t>
            </a:r>
            <a:r>
              <a:rPr lang="en-US" altLang="zh-CN" sz="3200" dirty="0">
                <a:solidFill>
                  <a:srgbClr val="006699"/>
                </a:solidFill>
                <a:latin typeface="Verdana" panose="020B0604030504040204" pitchFamily="34" charset="0"/>
              </a:rPr>
              <a:t>)</a:t>
            </a:r>
          </a:p>
        </p:txBody>
      </p:sp>
      <p:pic>
        <p:nvPicPr>
          <p:cNvPr id="3" name="图片 2">
            <a:extLst>
              <a:ext uri="{FF2B5EF4-FFF2-40B4-BE49-F238E27FC236}">
                <a16:creationId xmlns:a16="http://schemas.microsoft.com/office/drawing/2014/main" id="{601C169E-9794-40AF-863D-6A5F75EF57C6}"/>
              </a:ext>
            </a:extLst>
          </p:cNvPr>
          <p:cNvPicPr>
            <a:picLocks noChangeAspect="1"/>
          </p:cNvPicPr>
          <p:nvPr/>
        </p:nvPicPr>
        <p:blipFill>
          <a:blip r:embed="rId2"/>
          <a:stretch>
            <a:fillRect/>
          </a:stretch>
        </p:blipFill>
        <p:spPr>
          <a:xfrm>
            <a:off x="531427" y="2040213"/>
            <a:ext cx="7811115" cy="3054263"/>
          </a:xfrm>
          <a:prstGeom prst="rect">
            <a:avLst/>
          </a:prstGeom>
        </p:spPr>
      </p:pic>
      <p:sp>
        <p:nvSpPr>
          <p:cNvPr id="4" name="矩形 3">
            <a:extLst>
              <a:ext uri="{FF2B5EF4-FFF2-40B4-BE49-F238E27FC236}">
                <a16:creationId xmlns:a16="http://schemas.microsoft.com/office/drawing/2014/main" id="{531C7A02-04D7-43D2-B9AE-68D9C89E1433}"/>
              </a:ext>
            </a:extLst>
          </p:cNvPr>
          <p:cNvSpPr/>
          <p:nvPr/>
        </p:nvSpPr>
        <p:spPr>
          <a:xfrm>
            <a:off x="136370" y="5417640"/>
            <a:ext cx="6853158" cy="523220"/>
          </a:xfrm>
          <a:prstGeom prst="rect">
            <a:avLst/>
          </a:prstGeom>
        </p:spPr>
        <p:txBody>
          <a:bodyPr wrap="none">
            <a:spAutoFit/>
          </a:bodyPr>
          <a:lstStyle/>
          <a:p>
            <a:r>
              <a:rPr lang="zh-CN" altLang="en-US" sz="2800" dirty="0"/>
              <a:t>可以用逆变换法获得</a:t>
            </a:r>
            <a:r>
              <a:rPr lang="en-US" altLang="zh-CN" sz="2800" dirty="0"/>
              <a:t>p</a:t>
            </a:r>
            <a:r>
              <a:rPr lang="en-US" altLang="zh-CN" sz="2800" baseline="-25000" dirty="0"/>
              <a:t>1</a:t>
            </a:r>
            <a:r>
              <a:rPr lang="en-US" altLang="zh-CN" sz="2800" dirty="0"/>
              <a:t>(x)</a:t>
            </a:r>
            <a:r>
              <a:rPr lang="zh-CN" altLang="en-US" sz="2800" dirty="0"/>
              <a:t>和</a:t>
            </a:r>
            <a:r>
              <a:rPr lang="en-US" altLang="zh-CN" sz="2800" dirty="0"/>
              <a:t>p</a:t>
            </a:r>
            <a:r>
              <a:rPr lang="en-US" altLang="zh-CN" sz="2800" baseline="-25000" dirty="0"/>
              <a:t>2</a:t>
            </a:r>
            <a:r>
              <a:rPr lang="en-US" altLang="zh-CN" sz="2800" dirty="0"/>
              <a:t>(x)</a:t>
            </a:r>
            <a:r>
              <a:rPr lang="zh-CN" altLang="en-US" sz="2800" dirty="0"/>
              <a:t>的随机数</a:t>
            </a:r>
          </a:p>
        </p:txBody>
      </p:sp>
    </p:spTree>
    <p:extLst>
      <p:ext uri="{BB962C8B-B14F-4D97-AF65-F5344CB8AC3E}">
        <p14:creationId xmlns:p14="http://schemas.microsoft.com/office/powerpoint/2010/main" val="18027705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2.3.6 </a:t>
            </a:r>
            <a:r>
              <a:rPr lang="zh-CN" altLang="en-US" dirty="0"/>
              <a:t>复合法</a:t>
            </a:r>
          </a:p>
        </p:txBody>
      </p:sp>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251520" y="957003"/>
            <a:ext cx="8370930" cy="2259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spcBef>
                <a:spcPct val="20000"/>
              </a:spcBef>
            </a:pPr>
            <a:r>
              <a:rPr lang="zh-CN" altLang="en-US" sz="3200" dirty="0">
                <a:solidFill>
                  <a:srgbClr val="006699"/>
                </a:solidFill>
                <a:latin typeface="Verdana" panose="020B0604030504040204" pitchFamily="34" charset="0"/>
              </a:rPr>
              <a:t>例</a:t>
            </a:r>
            <a:r>
              <a:rPr lang="en-US" altLang="zh-CN" sz="3200" dirty="0">
                <a:solidFill>
                  <a:srgbClr val="006699"/>
                </a:solidFill>
                <a:latin typeface="Verdana" panose="020B0604030504040204" pitchFamily="34" charset="0"/>
              </a:rPr>
              <a:t>6.19 (</a:t>
            </a:r>
            <a:r>
              <a:rPr lang="zh-CN" altLang="en-US" sz="3200" dirty="0">
                <a:solidFill>
                  <a:srgbClr val="FF0000"/>
                </a:solidFill>
                <a:latin typeface="Verdana" panose="020B0604030504040204" pitchFamily="34" charset="0"/>
              </a:rPr>
              <a:t>梯形分布</a:t>
            </a:r>
            <a:r>
              <a:rPr lang="en-US" altLang="zh-CN" sz="3200" dirty="0">
                <a:solidFill>
                  <a:srgbClr val="006699"/>
                </a:solidFill>
                <a:latin typeface="Verdana" panose="020B0604030504040204" pitchFamily="34" charset="0"/>
              </a:rPr>
              <a:t>)</a:t>
            </a:r>
          </a:p>
          <a:p>
            <a:pPr marL="0" indent="0" eaLnBrk="1" hangingPunct="1">
              <a:spcBef>
                <a:spcPct val="20000"/>
              </a:spcBef>
            </a:pPr>
            <a:r>
              <a:rPr lang="zh-CN" altLang="en-US" sz="3200" dirty="0">
                <a:solidFill>
                  <a:srgbClr val="006699"/>
                </a:solidFill>
                <a:latin typeface="Verdana" panose="020B0604030504040204" pitchFamily="34" charset="0"/>
              </a:rPr>
              <a:t>下面给出</a:t>
            </a:r>
            <a:r>
              <a:rPr lang="zh-CN" altLang="en-US" sz="3200" dirty="0">
                <a:solidFill>
                  <a:srgbClr val="FF0000"/>
                </a:solidFill>
                <a:latin typeface="Verdana" panose="020B0604030504040204" pitchFamily="34" charset="0"/>
              </a:rPr>
              <a:t>复合法</a:t>
            </a:r>
            <a:r>
              <a:rPr lang="zh-CN" altLang="en-US" sz="3200" dirty="0">
                <a:solidFill>
                  <a:srgbClr val="006699"/>
                </a:solidFill>
                <a:latin typeface="Verdana" panose="020B0604030504040204" pitchFamily="34" charset="0"/>
              </a:rPr>
              <a:t>生成</a:t>
            </a:r>
            <a:r>
              <a:rPr lang="en-US" altLang="zh-CN" sz="3200" b="1" i="1" dirty="0">
                <a:solidFill>
                  <a:srgbClr val="006699"/>
                </a:solidFill>
                <a:latin typeface="Verdana" panose="020B0604030504040204" pitchFamily="34" charset="0"/>
              </a:rPr>
              <a:t>p</a:t>
            </a:r>
            <a:r>
              <a:rPr lang="en-US" altLang="zh-CN" sz="3200" b="1" i="1" baseline="-25000" dirty="0">
                <a:solidFill>
                  <a:srgbClr val="006699"/>
                </a:solidFill>
                <a:latin typeface="Verdana" panose="020B0604030504040204" pitchFamily="34" charset="0"/>
              </a:rPr>
              <a:t>1</a:t>
            </a:r>
            <a:r>
              <a:rPr lang="en-US" altLang="zh-CN" sz="3200" b="1" i="1"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随机数的做法。</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Arial" panose="020B0604020202020204" pitchFamily="34" charset="0"/>
              <a:buChar char="•"/>
            </a:pPr>
            <a:r>
              <a:rPr lang="zh-CN" altLang="en-US" sz="3200" dirty="0">
                <a:solidFill>
                  <a:srgbClr val="006699"/>
                </a:solidFill>
                <a:latin typeface="Verdana" panose="020B0604030504040204" pitchFamily="34" charset="0"/>
              </a:rPr>
              <a:t> </a:t>
            </a:r>
            <a:r>
              <a:rPr lang="en-US" altLang="zh-CN" sz="3200" dirty="0">
                <a:solidFill>
                  <a:srgbClr val="006699"/>
                </a:solidFill>
                <a:latin typeface="Verdana" panose="020B0604030504040204" pitchFamily="34" charset="0"/>
              </a:rPr>
              <a:t>p</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下的区域可以分解为一个面积等于</a:t>
            </a:r>
            <a:r>
              <a:rPr lang="en-US" altLang="zh-CN" sz="3200" dirty="0">
                <a:solidFill>
                  <a:srgbClr val="006699"/>
                </a:solidFill>
                <a:latin typeface="Verdana" panose="020B0604030504040204" pitchFamily="34" charset="0"/>
              </a:rPr>
              <a:t>a</a:t>
            </a:r>
            <a:r>
              <a:rPr lang="zh-CN" altLang="en-US" sz="3200" dirty="0">
                <a:solidFill>
                  <a:srgbClr val="006699"/>
                </a:solidFill>
                <a:latin typeface="Verdana" panose="020B0604030504040204" pitchFamily="34" charset="0"/>
              </a:rPr>
              <a:t>的矩形和一个面积等于</a:t>
            </a:r>
            <a:r>
              <a:rPr lang="en-US" altLang="zh-CN" sz="3200" dirty="0">
                <a:solidFill>
                  <a:srgbClr val="006699"/>
                </a:solidFill>
                <a:latin typeface="Verdana" panose="020B0604030504040204" pitchFamily="34" charset="0"/>
              </a:rPr>
              <a:t>1−a</a:t>
            </a:r>
            <a:r>
              <a:rPr lang="zh-CN" altLang="en-US" sz="3200" dirty="0">
                <a:solidFill>
                  <a:srgbClr val="006699"/>
                </a:solidFill>
                <a:latin typeface="Verdana" panose="020B0604030504040204" pitchFamily="34" charset="0"/>
              </a:rPr>
              <a:t>的三角形， 令</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7A36D8C-21FC-48C7-8FD6-0485AAA4BC5E}"/>
                  </a:ext>
                </a:extLst>
              </p:cNvPr>
              <p:cNvSpPr/>
              <p:nvPr/>
            </p:nvSpPr>
            <p:spPr>
              <a:xfrm>
                <a:off x="598266" y="3234268"/>
                <a:ext cx="8024184" cy="14885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zh-CN" altLang="en-US" sz="2800" i="1">
                              <a:latin typeface="Cambria Math" panose="02040503050406030204" pitchFamily="18" charset="0"/>
                            </a:rPr>
                          </m:ctrlPr>
                        </m:mPr>
                        <m:m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𝑔</m:t>
                                </m:r>
                              </m:e>
                              <m:sub>
                                <m:r>
                                  <a:rPr lang="zh-CN" altLang="en-US" sz="2800" i="0">
                                    <a:latin typeface="Cambria Math" panose="02040503050406030204" pitchFamily="18" charset="0"/>
                                  </a:rPr>
                                  <m:t>1</m:t>
                                </m:r>
                              </m:sub>
                            </m:sSub>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m:t>
                            </m:r>
                          </m:e>
                          <m:e>
                            <m:r>
                              <a:rPr lang="zh-CN" altLang="en-US" sz="2800" i="0">
                                <a:latin typeface="Cambria Math" panose="02040503050406030204" pitchFamily="18" charset="0"/>
                              </a:rPr>
                              <m:t>1,</m:t>
                            </m:r>
                            <m:r>
                              <m:rPr>
                                <m:nor/>
                              </m:rPr>
                              <a:rPr lang="zh-CN" altLang="en-US" sz="2800" i="1">
                                <a:latin typeface="Cambria Math" panose="02040503050406030204" pitchFamily="18" charset="0"/>
                              </a:rPr>
                              <m:t> </m:t>
                            </m:r>
                            <m:r>
                              <a:rPr lang="zh-CN" altLang="en-US" sz="2800" i="0">
                                <a:latin typeface="Cambria Math" panose="02040503050406030204" pitchFamily="18" charset="0"/>
                              </a:rPr>
                              <m:t>0&lt;</m:t>
                            </m:r>
                            <m:r>
                              <a:rPr lang="zh-CN" altLang="en-US" sz="2800" i="1">
                                <a:latin typeface="Cambria Math" panose="02040503050406030204" pitchFamily="18" charset="0"/>
                              </a:rPr>
                              <m:t>𝑥</m:t>
                            </m:r>
                            <m:r>
                              <a:rPr lang="zh-CN" altLang="en-US" sz="2800" i="0">
                                <a:latin typeface="Cambria Math" panose="02040503050406030204" pitchFamily="18" charset="0"/>
                              </a:rPr>
                              <m:t>&lt;1,</m:t>
                            </m:r>
                          </m:e>
                        </m:mr>
                        <m:m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𝑔</m:t>
                                </m:r>
                              </m:e>
                              <m:sub>
                                <m:r>
                                  <a:rPr lang="zh-CN" altLang="en-US" sz="2800" i="0">
                                    <a:latin typeface="Cambria Math" panose="02040503050406030204" pitchFamily="18" charset="0"/>
                                  </a:rPr>
                                  <m:t>2</m:t>
                                </m:r>
                              </m:sub>
                            </m:sSub>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m:t>
                            </m:r>
                          </m:e>
                          <m:e>
                            <m:r>
                              <a:rPr lang="zh-CN" altLang="en-US" sz="2800" i="0">
                                <a:latin typeface="Cambria Math" panose="02040503050406030204" pitchFamily="18" charset="0"/>
                              </a:rPr>
                              <m:t>2</m:t>
                            </m:r>
                            <m:r>
                              <a:rPr lang="zh-CN" altLang="en-US" sz="2800" i="1">
                                <a:latin typeface="Cambria Math" panose="02040503050406030204" pitchFamily="18" charset="0"/>
                              </a:rPr>
                              <m:t>𝑥</m:t>
                            </m:r>
                            <m:r>
                              <a:rPr lang="zh-CN" altLang="en-US" sz="2800" i="0">
                                <a:latin typeface="Cambria Math" panose="02040503050406030204" pitchFamily="18" charset="0"/>
                              </a:rPr>
                              <m:t>,</m:t>
                            </m:r>
                            <m:r>
                              <m:rPr>
                                <m:nor/>
                              </m:rPr>
                              <a:rPr lang="zh-CN" altLang="en-US" sz="2800" i="1">
                                <a:latin typeface="Cambria Math" panose="02040503050406030204" pitchFamily="18" charset="0"/>
                              </a:rPr>
                              <m:t> </m:t>
                            </m:r>
                            <m:r>
                              <a:rPr lang="zh-CN" altLang="en-US" sz="2800" i="0">
                                <a:latin typeface="Cambria Math" panose="02040503050406030204" pitchFamily="18" charset="0"/>
                              </a:rPr>
                              <m:t>0&lt;</m:t>
                            </m:r>
                            <m:r>
                              <a:rPr lang="zh-CN" altLang="en-US" sz="2800" i="1">
                                <a:latin typeface="Cambria Math" panose="02040503050406030204" pitchFamily="18" charset="0"/>
                              </a:rPr>
                              <m:t>𝑥</m:t>
                            </m:r>
                            <m:r>
                              <a:rPr lang="zh-CN" altLang="en-US" sz="2800" i="0">
                                <a:latin typeface="Cambria Math" panose="02040503050406030204" pitchFamily="18" charset="0"/>
                              </a:rPr>
                              <m:t>&lt;1,</m:t>
                            </m:r>
                          </m:e>
                        </m:mr>
                        <m:mr>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𝑝</m:t>
                                </m:r>
                              </m:e>
                              <m:sub>
                                <m:r>
                                  <a:rPr lang="zh-CN" altLang="en-US" sz="2800" i="0">
                                    <a:latin typeface="Cambria Math" panose="02040503050406030204" pitchFamily="18" charset="0"/>
                                  </a:rPr>
                                  <m:t>1</m:t>
                                </m:r>
                              </m:sub>
                            </m:sSub>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m:t>
                            </m:r>
                          </m:e>
                          <m:e>
                            <m:r>
                              <a:rPr lang="zh-CN" altLang="en-US" sz="2800" i="1">
                                <a:latin typeface="Cambria Math" panose="02040503050406030204" pitchFamily="18" charset="0"/>
                              </a:rPr>
                              <m:t>𝑎</m:t>
                            </m:r>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𝑔</m:t>
                                </m:r>
                              </m:e>
                              <m:sub>
                                <m:r>
                                  <a:rPr lang="zh-CN" altLang="en-US" sz="2800" i="0">
                                    <a:latin typeface="Cambria Math" panose="02040503050406030204" pitchFamily="18" charset="0"/>
                                  </a:rPr>
                                  <m:t>1</m:t>
                                </m:r>
                              </m:sub>
                            </m:sSub>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m:t>
                            </m:r>
                            <m:r>
                              <a:rPr lang="zh-CN" altLang="en-US" sz="2800" i="0">
                                <a:latin typeface="Cambria Math" panose="02040503050406030204" pitchFamily="18" charset="0"/>
                              </a:rPr>
                              <m:t>　</m:t>
                            </m:r>
                            <m:r>
                              <a:rPr lang="zh-CN" altLang="en-US" sz="2800" i="0">
                                <a:latin typeface="Cambria Math" panose="02040503050406030204" pitchFamily="18" charset="0"/>
                              </a:rPr>
                              <m:t>(1−</m:t>
                            </m:r>
                            <m:r>
                              <a:rPr lang="zh-CN" altLang="en-US" sz="2800" i="1">
                                <a:latin typeface="Cambria Math" panose="02040503050406030204" pitchFamily="18" charset="0"/>
                              </a:rPr>
                              <m:t>𝑎</m:t>
                            </m:r>
                            <m:r>
                              <a:rPr lang="zh-CN" altLang="en-US" sz="2800" i="0">
                                <a:latin typeface="Cambria Math" panose="02040503050406030204" pitchFamily="18" charset="0"/>
                              </a:rPr>
                              <m:t>)⋅</m:t>
                            </m:r>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𝑔</m:t>
                                </m:r>
                              </m:e>
                              <m:sub>
                                <m:r>
                                  <a:rPr lang="zh-CN" altLang="en-US" sz="2800" i="0">
                                    <a:latin typeface="Cambria Math" panose="02040503050406030204" pitchFamily="18" charset="0"/>
                                  </a:rPr>
                                  <m:t>2</m:t>
                                </m:r>
                              </m:sub>
                            </m:sSub>
                            <m:r>
                              <a:rPr lang="zh-CN" altLang="en-US" sz="2800" i="0">
                                <a:latin typeface="Cambria Math" panose="02040503050406030204" pitchFamily="18" charset="0"/>
                              </a:rPr>
                              <m:t>(</m:t>
                            </m:r>
                            <m:r>
                              <a:rPr lang="zh-CN" altLang="en-US" sz="2800" i="1">
                                <a:latin typeface="Cambria Math" panose="02040503050406030204" pitchFamily="18" charset="0"/>
                              </a:rPr>
                              <m:t>𝑥</m:t>
                            </m:r>
                            <m:r>
                              <a:rPr lang="zh-CN" altLang="en-US" sz="2800" i="0">
                                <a:latin typeface="Cambria Math" panose="02040503050406030204" pitchFamily="18" charset="0"/>
                              </a:rPr>
                              <m:t>),</m:t>
                            </m:r>
                            <m:r>
                              <m:rPr>
                                <m:nor/>
                              </m:rPr>
                              <a:rPr lang="zh-CN" altLang="en-US" sz="2800" i="1">
                                <a:latin typeface="Cambria Math" panose="02040503050406030204" pitchFamily="18" charset="0"/>
                              </a:rPr>
                              <m:t> </m:t>
                            </m:r>
                            <m:r>
                              <a:rPr lang="zh-CN" altLang="en-US" sz="2800" i="0">
                                <a:latin typeface="Cambria Math" panose="02040503050406030204" pitchFamily="18" charset="0"/>
                              </a:rPr>
                              <m:t>0&lt;</m:t>
                            </m:r>
                            <m:r>
                              <a:rPr lang="zh-CN" altLang="en-US" sz="2800" i="1">
                                <a:latin typeface="Cambria Math" panose="02040503050406030204" pitchFamily="18" charset="0"/>
                              </a:rPr>
                              <m:t>𝑥</m:t>
                            </m:r>
                            <m:r>
                              <a:rPr lang="zh-CN" altLang="en-US" sz="2800" i="0">
                                <a:latin typeface="Cambria Math" panose="02040503050406030204" pitchFamily="18" charset="0"/>
                              </a:rPr>
                              <m:t>&lt;1</m:t>
                            </m:r>
                          </m:e>
                        </m:mr>
                      </m:m>
                    </m:oMath>
                  </m:oMathPara>
                </a14:m>
                <a:endParaRPr lang="zh-CN" altLang="en-US" sz="2800" dirty="0"/>
              </a:p>
            </p:txBody>
          </p:sp>
        </mc:Choice>
        <mc:Fallback xmlns="">
          <p:sp>
            <p:nvSpPr>
              <p:cNvPr id="2" name="矩形 1">
                <a:extLst>
                  <a:ext uri="{FF2B5EF4-FFF2-40B4-BE49-F238E27FC236}">
                    <a16:creationId xmlns:a16="http://schemas.microsoft.com/office/drawing/2014/main" id="{F7A36D8C-21FC-48C7-8FD6-0485AAA4BC5E}"/>
                  </a:ext>
                </a:extLst>
              </p:cNvPr>
              <p:cNvSpPr>
                <a:spLocks noRot="1" noChangeAspect="1" noMove="1" noResize="1" noEditPoints="1" noAdjustHandles="1" noChangeArrowheads="1" noChangeShapeType="1" noTextEdit="1"/>
              </p:cNvSpPr>
              <p:nvPr/>
            </p:nvSpPr>
            <p:spPr>
              <a:xfrm>
                <a:off x="598266" y="3234268"/>
                <a:ext cx="8024184" cy="1488549"/>
              </a:xfrm>
              <a:prstGeom prst="rect">
                <a:avLst/>
              </a:prstGeom>
              <a:blipFill>
                <a:blip r:embed="rId2"/>
                <a:stretch>
                  <a:fillRect/>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ED388993-6FE0-49D8-861B-00916DC0B1D2}"/>
              </a:ext>
            </a:extLst>
          </p:cNvPr>
          <p:cNvSpPr/>
          <p:nvPr/>
        </p:nvSpPr>
        <p:spPr>
          <a:xfrm>
            <a:off x="38358" y="5049180"/>
            <a:ext cx="9144000" cy="1077218"/>
          </a:xfrm>
          <a:prstGeom prst="rect">
            <a:avLst/>
          </a:prstGeom>
        </p:spPr>
        <p:txBody>
          <a:bodyPr wrap="square">
            <a:spAutoFit/>
          </a:bodyPr>
          <a:lstStyle/>
          <a:p>
            <a:pPr marL="457200" indent="-457200">
              <a:buFont typeface="Arial" panose="020B0604020202020204" pitchFamily="34" charset="0"/>
              <a:buChar char="•"/>
            </a:pPr>
            <a:r>
              <a:rPr lang="zh-CN" altLang="en-US" sz="3200" dirty="0">
                <a:solidFill>
                  <a:srgbClr val="006699"/>
                </a:solidFill>
                <a:latin typeface="Verdana" panose="020B0604030504040204" pitchFamily="34" charset="0"/>
              </a:rPr>
              <a:t>可见</a:t>
            </a:r>
            <a:r>
              <a:rPr lang="en-US" altLang="zh-CN" sz="3200" dirty="0">
                <a:solidFill>
                  <a:srgbClr val="006699"/>
                </a:solidFill>
                <a:latin typeface="Verdana" panose="020B0604030504040204" pitchFamily="34" charset="0"/>
              </a:rPr>
              <a:t>p</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是由一个均匀分布和一个三角形分布复合而成。</a:t>
            </a:r>
            <a:endParaRPr lang="zh-CN" altLang="en-US" dirty="0"/>
          </a:p>
        </p:txBody>
      </p:sp>
    </p:spTree>
    <p:extLst>
      <p:ext uri="{BB962C8B-B14F-4D97-AF65-F5344CB8AC3E}">
        <p14:creationId xmlns:p14="http://schemas.microsoft.com/office/powerpoint/2010/main" val="36485927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2.4 </a:t>
            </a:r>
            <a:r>
              <a:rPr lang="zh-CN" altLang="en-US" dirty="0"/>
              <a:t>随机向量的产生</a:t>
            </a:r>
          </a:p>
        </p:txBody>
      </p:sp>
      <p:sp>
        <p:nvSpPr>
          <p:cNvPr id="32771" name="矩形 2"/>
          <p:cNvSpPr>
            <a:spLocks noChangeArrowheads="1"/>
          </p:cNvSpPr>
          <p:nvPr/>
        </p:nvSpPr>
        <p:spPr bwMode="auto">
          <a:xfrm>
            <a:off x="251520" y="1178750"/>
            <a:ext cx="837093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Wingdings" panose="05000000000000000000" pitchFamily="2" charset="2"/>
              <a:buChar char="Ø"/>
            </a:pPr>
            <a:r>
              <a:rPr lang="zh-CN" altLang="en-US" sz="3200" dirty="0">
                <a:solidFill>
                  <a:srgbClr val="006699"/>
                </a:solidFill>
                <a:latin typeface="Verdana" panose="020B0604030504040204" pitchFamily="34" charset="0"/>
              </a:rPr>
              <a:t>条件分布法</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Wingdings" panose="05000000000000000000" pitchFamily="2" charset="2"/>
              <a:buChar char="Ø"/>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Wingdings" panose="05000000000000000000" pitchFamily="2" charset="2"/>
              <a:buChar char="Ø"/>
            </a:pPr>
            <a:r>
              <a:rPr lang="zh-CN" altLang="en-US" sz="3200" dirty="0">
                <a:solidFill>
                  <a:srgbClr val="006699"/>
                </a:solidFill>
                <a:latin typeface="Verdana" panose="020B0604030504040204" pitchFamily="34" charset="0"/>
              </a:rPr>
              <a:t>多项分布随机数</a:t>
            </a: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Wingdings" panose="05000000000000000000" pitchFamily="2" charset="2"/>
              <a:buChar char="Ø"/>
            </a:pPr>
            <a:endParaRPr lang="en-US" altLang="zh-CN" sz="3200" dirty="0">
              <a:solidFill>
                <a:srgbClr val="006699"/>
              </a:solidFill>
              <a:latin typeface="Verdana" panose="020B0604030504040204" pitchFamily="34" charset="0"/>
            </a:endParaRPr>
          </a:p>
          <a:p>
            <a:pPr marL="457200" indent="-457200" eaLnBrk="1" hangingPunct="1">
              <a:spcBef>
                <a:spcPct val="20000"/>
              </a:spcBef>
              <a:buFont typeface="Wingdings" panose="05000000000000000000" pitchFamily="2" charset="2"/>
              <a:buChar char="Ø"/>
            </a:pPr>
            <a:r>
              <a:rPr lang="zh-CN" altLang="en-US" sz="3200" dirty="0">
                <a:solidFill>
                  <a:srgbClr val="006699"/>
                </a:solidFill>
                <a:latin typeface="Verdana" panose="020B0604030504040204" pitchFamily="34" charset="0"/>
              </a:rPr>
              <a:t>多元正态分布模拟</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2.4 </a:t>
            </a:r>
            <a:r>
              <a:rPr lang="zh-CN" altLang="en-US" dirty="0"/>
              <a:t>随机向量的产生</a:t>
            </a:r>
          </a:p>
        </p:txBody>
      </p:sp>
      <p:sp>
        <p:nvSpPr>
          <p:cNvPr id="32771" name="矩形 2"/>
          <p:cNvSpPr>
            <a:spLocks noChangeArrowheads="1"/>
          </p:cNvSpPr>
          <p:nvPr/>
        </p:nvSpPr>
        <p:spPr bwMode="auto">
          <a:xfrm>
            <a:off x="0" y="1043735"/>
            <a:ext cx="9139185" cy="413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Wingdings" panose="05000000000000000000" pitchFamily="2" charset="2"/>
              <a:buChar char="Ø"/>
            </a:pPr>
            <a:r>
              <a:rPr lang="zh-CN" altLang="en-US" sz="3200" b="1" dirty="0">
                <a:solidFill>
                  <a:srgbClr val="FF0000"/>
                </a:solidFill>
                <a:latin typeface="Verdana" panose="020B0604030504040204" pitchFamily="34" charset="0"/>
              </a:rPr>
              <a:t>条件分布法</a:t>
            </a:r>
            <a:endParaRPr lang="en-US" altLang="zh-CN" sz="3200" b="1" dirty="0">
              <a:solidFill>
                <a:srgbClr val="FF0000"/>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设随机向量</a:t>
            </a:r>
            <a:r>
              <a:rPr lang="en-US" altLang="zh-CN" sz="3200" dirty="0">
                <a:solidFill>
                  <a:srgbClr val="006699"/>
                </a:solidFill>
                <a:latin typeface="Verdana" panose="020B0604030504040204" pitchFamily="34" charset="0"/>
              </a:rPr>
              <a:t>X = (X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 …, </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r</a:t>
            </a:r>
            <a:r>
              <a:rPr lang="en-US" altLang="zh-CN" sz="3200" dirty="0">
                <a:solidFill>
                  <a:srgbClr val="006699"/>
                </a:solidFill>
                <a:latin typeface="Verdana" panose="020B0604030504040204" pitchFamily="34" charset="0"/>
              </a:rPr>
              <a:t>)</a:t>
            </a: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X</a:t>
            </a:r>
            <a:r>
              <a:rPr lang="zh-CN" altLang="en-US" sz="3200" dirty="0">
                <a:solidFill>
                  <a:srgbClr val="006699"/>
                </a:solidFill>
                <a:latin typeface="Verdana" panose="020B0604030504040204" pitchFamily="34" charset="0"/>
              </a:rPr>
              <a:t>的分布密度或分布概率为 </a:t>
            </a:r>
            <a:r>
              <a:rPr lang="en-US" altLang="zh-CN" sz="3200" dirty="0">
                <a:solidFill>
                  <a:srgbClr val="006699"/>
                </a:solidFill>
                <a:latin typeface="Verdana" panose="020B0604030504040204" pitchFamily="34" charset="0"/>
              </a:rPr>
              <a:t>p(X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 …, </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r</a:t>
            </a:r>
            <a:r>
              <a:rPr lang="en-US" altLang="zh-CN" sz="3200" dirty="0">
                <a:solidFill>
                  <a:srgbClr val="006699"/>
                </a:solidFill>
                <a:latin typeface="Verdana" panose="020B0604030504040204" pitchFamily="34" charset="0"/>
              </a:rPr>
              <a:t>)</a:t>
            </a:r>
          </a:p>
          <a:p>
            <a:pPr marL="0" indent="0" eaLnBrk="1" hangingPunct="1">
              <a:spcBef>
                <a:spcPct val="20000"/>
              </a:spcBef>
            </a:pPr>
            <a:endParaRPr lang="en-US" altLang="zh-CN" sz="3200" dirty="0">
              <a:solidFill>
                <a:srgbClr val="006699"/>
              </a:solidFill>
              <a:latin typeface="Verdana" panose="020B0604030504040204" pitchFamily="34" charset="0"/>
            </a:endParaRPr>
          </a:p>
          <a:p>
            <a:pPr marL="0" indent="0" eaLnBrk="1" hangingPunct="1">
              <a:spcBef>
                <a:spcPct val="20000"/>
              </a:spcBef>
            </a:pPr>
            <a:r>
              <a:rPr lang="en-US" altLang="zh-CN" sz="3200" dirty="0">
                <a:solidFill>
                  <a:srgbClr val="006699"/>
                </a:solidFill>
                <a:latin typeface="Verdana" panose="020B0604030504040204" pitchFamily="34" charset="0"/>
              </a:rPr>
              <a:t>p</a:t>
            </a:r>
            <a:r>
              <a:rPr lang="zh-CN" altLang="en-US" sz="3200" dirty="0">
                <a:solidFill>
                  <a:srgbClr val="006699"/>
                </a:solidFill>
                <a:latin typeface="Verdana" panose="020B0604030504040204" pitchFamily="34" charset="0"/>
              </a:rPr>
              <a:t>可以分解为：</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p:txBody>
      </p:sp>
      <p:pic>
        <p:nvPicPr>
          <p:cNvPr id="6" name="图片 5">
            <a:extLst>
              <a:ext uri="{FF2B5EF4-FFF2-40B4-BE49-F238E27FC236}">
                <a16:creationId xmlns:a16="http://schemas.microsoft.com/office/drawing/2014/main" id="{906A15C3-03BF-19DE-5AF5-17B30BBA9048}"/>
              </a:ext>
            </a:extLst>
          </p:cNvPr>
          <p:cNvPicPr>
            <a:picLocks noChangeAspect="1"/>
          </p:cNvPicPr>
          <p:nvPr/>
        </p:nvPicPr>
        <p:blipFill>
          <a:blip r:embed="rId2"/>
          <a:stretch>
            <a:fillRect/>
          </a:stretch>
        </p:blipFill>
        <p:spPr>
          <a:xfrm>
            <a:off x="231662" y="4869160"/>
            <a:ext cx="8675859" cy="410927"/>
          </a:xfrm>
          <a:prstGeom prst="rect">
            <a:avLst/>
          </a:prstGeom>
        </p:spPr>
      </p:pic>
    </p:spTree>
    <p:extLst>
      <p:ext uri="{BB962C8B-B14F-4D97-AF65-F5344CB8AC3E}">
        <p14:creationId xmlns:p14="http://schemas.microsoft.com/office/powerpoint/2010/main" val="33391334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2.4 </a:t>
            </a:r>
            <a:r>
              <a:rPr lang="zh-CN" altLang="en-US" dirty="0"/>
              <a:t>随机向量的产生</a:t>
            </a:r>
          </a:p>
        </p:txBody>
      </p:sp>
      <p:sp>
        <p:nvSpPr>
          <p:cNvPr id="32771" name="矩形 2"/>
          <p:cNvSpPr>
            <a:spLocks noChangeArrowheads="1"/>
          </p:cNvSpPr>
          <p:nvPr/>
        </p:nvSpPr>
        <p:spPr bwMode="auto">
          <a:xfrm>
            <a:off x="0" y="1043735"/>
            <a:ext cx="9139185" cy="5213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Wingdings" panose="05000000000000000000" pitchFamily="2" charset="2"/>
              <a:buChar char="Ø"/>
            </a:pPr>
            <a:r>
              <a:rPr lang="zh-CN" altLang="en-US" sz="3200" b="1" dirty="0">
                <a:solidFill>
                  <a:srgbClr val="FF0000"/>
                </a:solidFill>
                <a:latin typeface="Verdana" panose="020B0604030504040204" pitchFamily="34" charset="0"/>
              </a:rPr>
              <a:t>条件分布法步骤：</a:t>
            </a:r>
            <a:endParaRPr lang="en-US" altLang="zh-CN" sz="3200" b="1"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首先生成</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由已知的</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zh-CN" altLang="en-US" sz="3200" dirty="0">
                <a:solidFill>
                  <a:srgbClr val="006699"/>
                </a:solidFill>
                <a:latin typeface="Verdana" panose="020B0604030504040204" pitchFamily="34" charset="0"/>
              </a:rPr>
              <a:t>的值服从条件分布</a:t>
            </a:r>
            <a:r>
              <a:rPr lang="en-US" altLang="zh-CN" sz="3200" dirty="0">
                <a:solidFill>
                  <a:srgbClr val="006699"/>
                </a:solidFill>
                <a:latin typeface="Verdana" panose="020B0604030504040204" pitchFamily="34" charset="0"/>
              </a:rPr>
              <a:t>p(X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产生</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2 </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再从已知的</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X</a:t>
            </a:r>
            <a:r>
              <a:rPr lang="en-US" altLang="zh-CN" sz="3200" baseline="-25000" dirty="0">
                <a:solidFill>
                  <a:srgbClr val="006699"/>
                </a:solidFill>
                <a:latin typeface="Verdana" panose="020B0604030504040204" pitchFamily="34" charset="0"/>
              </a:rPr>
              <a:t>2</a:t>
            </a:r>
            <a:r>
              <a:rPr lang="zh-CN" altLang="en-US" sz="3200" dirty="0">
                <a:solidFill>
                  <a:srgbClr val="006699"/>
                </a:solidFill>
                <a:latin typeface="Verdana" panose="020B0604030504040204" pitchFamily="34" charset="0"/>
              </a:rPr>
              <a:t>的值从条件分布</a:t>
            </a:r>
            <a:r>
              <a:rPr lang="en-US" altLang="zh-CN" sz="3200" dirty="0">
                <a:solidFill>
                  <a:srgbClr val="006699"/>
                </a:solidFill>
                <a:latin typeface="Verdana" panose="020B0604030504040204" pitchFamily="34" charset="0"/>
              </a:rPr>
              <a:t>p(x</a:t>
            </a:r>
            <a:r>
              <a:rPr lang="en-US" altLang="zh-CN" sz="3200" baseline="-25000" dirty="0">
                <a:solidFill>
                  <a:srgbClr val="006699"/>
                </a:solidFill>
                <a:latin typeface="Verdana" panose="020B0604030504040204" pitchFamily="34" charset="0"/>
              </a:rPr>
              <a:t>3</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产生</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3</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如此重复直到产生</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r</a:t>
            </a:r>
            <a:endParaRPr lang="en-US" altLang="zh-CN" sz="3200" dirty="0">
              <a:solidFill>
                <a:srgbClr val="006699"/>
              </a:solidFill>
              <a:latin typeface="Verdana" panose="020B0604030504040204" pitchFamily="34" charset="0"/>
            </a:endParaRPr>
          </a:p>
        </p:txBody>
      </p:sp>
    </p:spTree>
    <p:extLst>
      <p:ext uri="{BB962C8B-B14F-4D97-AF65-F5344CB8AC3E}">
        <p14:creationId xmlns:p14="http://schemas.microsoft.com/office/powerpoint/2010/main" val="36772637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2.4 </a:t>
            </a:r>
            <a:r>
              <a:rPr lang="zh-CN" altLang="en-US" dirty="0"/>
              <a:t>随机向量的产生</a:t>
            </a:r>
          </a:p>
        </p:txBody>
      </p:sp>
      <p:sp>
        <p:nvSpPr>
          <p:cNvPr id="32771" name="矩形 2"/>
          <p:cNvSpPr>
            <a:spLocks noChangeArrowheads="1"/>
          </p:cNvSpPr>
          <p:nvPr/>
        </p:nvSpPr>
        <p:spPr bwMode="auto">
          <a:xfrm>
            <a:off x="251519" y="999420"/>
            <a:ext cx="8640960" cy="5312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Wingdings" panose="05000000000000000000" pitchFamily="2" charset="2"/>
              <a:buChar char="Ø"/>
            </a:pPr>
            <a:r>
              <a:rPr lang="zh-CN" altLang="en-US" sz="3200" b="1" dirty="0">
                <a:solidFill>
                  <a:srgbClr val="FF0000"/>
                </a:solidFill>
                <a:latin typeface="Verdana" panose="020B0604030504040204" pitchFamily="34" charset="0"/>
              </a:rPr>
              <a:t>多项分布</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进行了</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次独立重复试验</a:t>
            </a:r>
            <a:r>
              <a:rPr lang="en-US" altLang="zh-CN" sz="3200" dirty="0">
                <a:solidFill>
                  <a:srgbClr val="006699"/>
                </a:solidFill>
                <a:latin typeface="Verdana" panose="020B0604030504040204" pitchFamily="34" charset="0"/>
              </a:rPr>
              <a:t>Y</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Y</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 …, </a:t>
            </a:r>
            <a:r>
              <a:rPr lang="en-US" altLang="zh-CN" sz="3200" dirty="0" err="1">
                <a:solidFill>
                  <a:srgbClr val="006699"/>
                </a:solidFill>
                <a:latin typeface="Verdana" panose="020B0604030504040204" pitchFamily="34" charset="0"/>
              </a:rPr>
              <a:t>Y</a:t>
            </a:r>
            <a:r>
              <a:rPr lang="en-US" altLang="zh-CN" sz="3200" baseline="-25000" dirty="0" err="1">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每次的试验结果</a:t>
            </a:r>
            <a:r>
              <a:rPr lang="en-US" altLang="zh-CN" sz="3200" dirty="0">
                <a:solidFill>
                  <a:srgbClr val="006699"/>
                </a:solidFill>
                <a:latin typeface="Verdana" panose="020B0604030504040204" pitchFamily="34" charset="0"/>
              </a:rPr>
              <a:t>Y</a:t>
            </a:r>
            <a:r>
              <a:rPr lang="en-US" altLang="zh-CN" sz="3200" baseline="-25000" dirty="0">
                <a:solidFill>
                  <a:srgbClr val="006699"/>
                </a:solidFill>
                <a:latin typeface="Verdana" panose="020B0604030504040204" pitchFamily="34" charset="0"/>
              </a:rPr>
              <a:t>i</a:t>
            </a:r>
            <a:r>
              <a:rPr lang="zh-CN" altLang="en-US" sz="3200" dirty="0">
                <a:solidFill>
                  <a:srgbClr val="006699"/>
                </a:solidFill>
                <a:latin typeface="Verdana" panose="020B0604030504040204" pitchFamily="34" charset="0"/>
              </a:rPr>
              <a:t>在</a:t>
            </a:r>
            <a:r>
              <a:rPr lang="en-US" altLang="zh-CN" sz="3200" dirty="0">
                <a:solidFill>
                  <a:srgbClr val="006699"/>
                </a:solidFill>
                <a:latin typeface="Verdana" panose="020B0604030504040204" pitchFamily="34" charset="0"/>
              </a:rPr>
              <a:t>1,2,…,r</a:t>
            </a:r>
            <a:r>
              <a:rPr lang="zh-CN" altLang="en-US" sz="3200" dirty="0">
                <a:solidFill>
                  <a:srgbClr val="006699"/>
                </a:solidFill>
                <a:latin typeface="Verdana" panose="020B0604030504040204" pitchFamily="34" charset="0"/>
              </a:rPr>
              <a:t>中取值，</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     </a:t>
            </a:r>
            <a:r>
              <a:rPr lang="en-US" altLang="zh-CN" sz="3200" dirty="0">
                <a:solidFill>
                  <a:srgbClr val="006699"/>
                </a:solidFill>
                <a:latin typeface="Verdana" panose="020B0604030504040204" pitchFamily="34" charset="0"/>
              </a:rPr>
              <a:t>P(Y</a:t>
            </a:r>
            <a:r>
              <a:rPr lang="en-US" altLang="zh-CN" sz="3200" baseline="-25000" dirty="0">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=j)=</a:t>
            </a:r>
            <a:r>
              <a:rPr lang="en-US" altLang="zh-CN" sz="3200" dirty="0" err="1">
                <a:solidFill>
                  <a:srgbClr val="006699"/>
                </a:solidFill>
                <a:latin typeface="Verdana" panose="020B0604030504040204" pitchFamily="34" charset="0"/>
              </a:rPr>
              <a:t>p</a:t>
            </a:r>
            <a:r>
              <a:rPr lang="en-US" altLang="zh-CN" sz="3200" baseline="-25000" dirty="0" err="1">
                <a:solidFill>
                  <a:srgbClr val="006699"/>
                </a:solidFill>
                <a:latin typeface="Verdana" panose="020B0604030504040204" pitchFamily="34" charset="0"/>
              </a:rPr>
              <a:t>j</a:t>
            </a:r>
            <a:r>
              <a:rPr lang="en-US" altLang="zh-CN" sz="3200" dirty="0">
                <a:solidFill>
                  <a:srgbClr val="006699"/>
                </a:solidFill>
                <a:latin typeface="Verdana" panose="020B0604030504040204" pitchFamily="34" charset="0"/>
              </a:rPr>
              <a:t>, j=1,2,…,r; </a:t>
            </a:r>
            <a:r>
              <a:rPr lang="en-US" altLang="zh-CN" sz="3200" dirty="0" err="1">
                <a:solidFill>
                  <a:srgbClr val="006699"/>
                </a:solidFill>
                <a:latin typeface="Verdana" panose="020B0604030504040204" pitchFamily="34" charset="0"/>
              </a:rPr>
              <a:t>i</a:t>
            </a:r>
            <a:r>
              <a:rPr lang="en-US" altLang="zh-CN" sz="3200" dirty="0">
                <a:solidFill>
                  <a:srgbClr val="006699"/>
                </a:solidFill>
                <a:latin typeface="Verdana" panose="020B0604030504040204" pitchFamily="34" charset="0"/>
              </a:rPr>
              <a:t>=1,2,…,n</a:t>
            </a:r>
            <a:r>
              <a:rPr lang="zh-CN" altLang="en-US" sz="3200" dirty="0">
                <a:solidFill>
                  <a:srgbClr val="006699"/>
                </a:solidFill>
                <a:latin typeface="Verdana" panose="020B0604030504040204" pitchFamily="34" charset="0"/>
              </a:rPr>
              <a:t>。</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令</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为这</a:t>
            </a:r>
            <a:r>
              <a:rPr lang="en-US" altLang="zh-CN" sz="3200" dirty="0">
                <a:solidFill>
                  <a:srgbClr val="006699"/>
                </a:solidFill>
                <a:latin typeface="Verdana" panose="020B0604030504040204" pitchFamily="34" charset="0"/>
              </a:rPr>
              <a:t>n</a:t>
            </a:r>
            <a:r>
              <a:rPr lang="zh-CN" altLang="en-US" sz="3200" dirty="0">
                <a:solidFill>
                  <a:srgbClr val="006699"/>
                </a:solidFill>
                <a:latin typeface="Verdana" panose="020B0604030504040204" pitchFamily="34" charset="0"/>
              </a:rPr>
              <a:t>次试验中结果</a:t>
            </a:r>
            <a:r>
              <a:rPr lang="en-US" altLang="zh-CN" sz="3200" dirty="0">
                <a:solidFill>
                  <a:srgbClr val="006699"/>
                </a:solidFill>
                <a:latin typeface="Verdana" panose="020B0604030504040204" pitchFamily="34" charset="0"/>
              </a:rPr>
              <a:t>j</a:t>
            </a:r>
            <a:r>
              <a:rPr lang="zh-CN" altLang="en-US" sz="3200" dirty="0">
                <a:solidFill>
                  <a:srgbClr val="006699"/>
                </a:solidFill>
                <a:latin typeface="Verdana" panose="020B0604030504040204" pitchFamily="34" charset="0"/>
              </a:rPr>
              <a:t>的个数</a:t>
            </a:r>
            <a:r>
              <a:rPr lang="en-US" altLang="zh-CN" sz="3200" dirty="0">
                <a:solidFill>
                  <a:srgbClr val="006699"/>
                </a:solidFill>
                <a:latin typeface="Verdana" panose="020B0604030504040204" pitchFamily="34" charset="0"/>
              </a:rPr>
              <a:t>(j=1,2,…,r)</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称</a:t>
            </a:r>
            <a:r>
              <a:rPr lang="en-US" altLang="zh-CN" sz="3200" dirty="0">
                <a:solidFill>
                  <a:srgbClr val="006699"/>
                </a:solidFill>
                <a:latin typeface="Verdana" panose="020B0604030504040204" pitchFamily="34" charset="0"/>
              </a:rPr>
              <a:t>X = (X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 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 </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r</a:t>
            </a:r>
            <a:r>
              <a:rPr lang="en-US" altLang="zh-CN" sz="3200" dirty="0">
                <a:solidFill>
                  <a:srgbClr val="006699"/>
                </a:solidFill>
                <a:latin typeface="Verdana" panose="020B0604030504040204" pitchFamily="34" charset="0"/>
              </a:rPr>
              <a:t>)</a:t>
            </a:r>
            <a:r>
              <a:rPr lang="zh-CN" altLang="en-US" sz="3200" dirty="0">
                <a:solidFill>
                  <a:srgbClr val="006699"/>
                </a:solidFill>
                <a:latin typeface="Verdana" panose="020B0604030504040204" pitchFamily="34" charset="0"/>
              </a:rPr>
              <a:t>服从</a:t>
            </a:r>
            <a:r>
              <a:rPr lang="zh-CN" altLang="en-US" sz="3200" b="1" dirty="0">
                <a:solidFill>
                  <a:srgbClr val="FF0000"/>
                </a:solidFill>
                <a:latin typeface="Verdana" panose="020B0604030504040204" pitchFamily="34" charset="0"/>
              </a:rPr>
              <a:t>多项分布</a:t>
            </a:r>
            <a:r>
              <a:rPr lang="zh-CN" altLang="en-US" sz="3200" dirty="0">
                <a:solidFill>
                  <a:srgbClr val="006699"/>
                </a:solidFill>
                <a:latin typeface="Verdana" panose="020B0604030504040204" pitchFamily="34" charset="0"/>
              </a:rPr>
              <a:t>， </a:t>
            </a: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其联合概率函数为</a:t>
            </a:r>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marL="0" indent="0" eaLnBrk="1" hangingPunct="1">
              <a:spcBef>
                <a:spcPct val="20000"/>
              </a:spcBef>
            </a:pPr>
            <a:r>
              <a:rPr lang="zh-CN" altLang="en-US" sz="3200" dirty="0">
                <a:solidFill>
                  <a:srgbClr val="006699"/>
                </a:solidFill>
                <a:latin typeface="Verdana" panose="020B0604030504040204" pitchFamily="34" charset="0"/>
              </a:rPr>
              <a:t>其中</a:t>
            </a:r>
            <a:endParaRPr lang="en-US" altLang="zh-CN" sz="3200" dirty="0">
              <a:solidFill>
                <a:srgbClr val="006699"/>
              </a:solidFill>
              <a:latin typeface="Verdana" panose="020B0604030504040204" pitchFamily="34" charset="0"/>
            </a:endParaRPr>
          </a:p>
        </p:txBody>
      </p:sp>
      <p:pic>
        <p:nvPicPr>
          <p:cNvPr id="3" name="图片 2"/>
          <p:cNvPicPr>
            <a:picLocks noChangeAspect="1"/>
          </p:cNvPicPr>
          <p:nvPr/>
        </p:nvPicPr>
        <p:blipFill>
          <a:blip r:embed="rId2"/>
          <a:stretch>
            <a:fillRect/>
          </a:stretch>
        </p:blipFill>
        <p:spPr>
          <a:xfrm>
            <a:off x="2096725" y="5097846"/>
            <a:ext cx="5810743" cy="699788"/>
          </a:xfrm>
          <a:prstGeom prst="rect">
            <a:avLst/>
          </a:prstGeom>
        </p:spPr>
      </p:pic>
      <p:pic>
        <p:nvPicPr>
          <p:cNvPr id="5" name="图片 4"/>
          <p:cNvPicPr>
            <a:picLocks noChangeAspect="1"/>
          </p:cNvPicPr>
          <p:nvPr/>
        </p:nvPicPr>
        <p:blipFill>
          <a:blip r:embed="rId3"/>
          <a:stretch>
            <a:fillRect/>
          </a:stretch>
        </p:blipFill>
        <p:spPr>
          <a:xfrm>
            <a:off x="1286635" y="5842630"/>
            <a:ext cx="1449867" cy="42401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2.4 </a:t>
            </a:r>
            <a:r>
              <a:rPr lang="zh-CN" altLang="en-US" dirty="0"/>
              <a:t>随机向量的产生</a:t>
            </a:r>
          </a:p>
        </p:txBody>
      </p:sp>
      <p:sp>
        <p:nvSpPr>
          <p:cNvPr id="32771" name="矩形 2"/>
          <p:cNvSpPr>
            <a:spLocks noChangeArrowheads="1"/>
          </p:cNvSpPr>
          <p:nvPr/>
        </p:nvSpPr>
        <p:spPr bwMode="auto">
          <a:xfrm>
            <a:off x="-16269" y="1092744"/>
            <a:ext cx="86409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Wingdings" panose="05000000000000000000" pitchFamily="2" charset="2"/>
              <a:buChar char="Ø"/>
            </a:pPr>
            <a:r>
              <a:rPr lang="zh-CN" altLang="en-US" sz="3200" b="1" dirty="0">
                <a:solidFill>
                  <a:srgbClr val="FF0000"/>
                </a:solidFill>
                <a:latin typeface="Verdana" panose="020B0604030504040204" pitchFamily="34" charset="0"/>
              </a:rPr>
              <a:t>产生多项分布随机数</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F2A1F68-E435-545E-E366-79841D9AE03B}"/>
                  </a:ext>
                </a:extLst>
              </p:cNvPr>
              <p:cNvSpPr txBox="1"/>
              <p:nvPr/>
            </p:nvSpPr>
            <p:spPr>
              <a:xfrm>
                <a:off x="0" y="1984450"/>
                <a:ext cx="8910990" cy="3559949"/>
              </a:xfrm>
              <a:prstGeom prst="rect">
                <a:avLst/>
              </a:prstGeom>
              <a:noFill/>
              <a:ln w="25400">
                <a:noFill/>
              </a:ln>
            </p:spPr>
            <p:txBody>
              <a:bodyPr wrap="square">
                <a:spAutoFit/>
              </a:bodyPr>
              <a:lstStyle/>
              <a:p>
                <a:pPr marL="342900" lvl="0" indent="-342900">
                  <a:spcAft>
                    <a:spcPts val="1000"/>
                  </a:spcAft>
                  <a:buFont typeface="Symbol" panose="05050102010706020507" pitchFamily="18" charset="2"/>
                  <a:buChar char=""/>
                </a:pPr>
                <a:r>
                  <a:rPr lang="en-US" altLang="zh-CN" sz="3200" dirty="0">
                    <a:solidFill>
                      <a:srgbClr val="006699"/>
                    </a:solidFill>
                    <a:latin typeface="Verdana" panose="020B0604030504040204" pitchFamily="34" charset="0"/>
                  </a:rPr>
                  <a:t>当</a:t>
                </a:r>
                <a14:m>
                  <m:oMath xmlns:m="http://schemas.openxmlformats.org/officeDocument/2006/math">
                    <m:r>
                      <a:rPr lang="en-US" altLang="zh-CN" sz="3200">
                        <a:solidFill>
                          <a:srgbClr val="006699"/>
                        </a:solidFill>
                        <a:latin typeface="Cambria Math" panose="02040503050406030204" pitchFamily="18" charset="0"/>
                      </a:rPr>
                      <m:t>𝑟</m:t>
                    </m:r>
                  </m:oMath>
                </a14:m>
                <a:r>
                  <a:rPr lang="en-US" altLang="zh-CN" sz="3200" dirty="0">
                    <a:solidFill>
                      <a:srgbClr val="006699"/>
                    </a:solidFill>
                    <a:latin typeface="Verdana" panose="020B0604030504040204" pitchFamily="34" charset="0"/>
                  </a:rPr>
                  <a:t>和</a:t>
                </a:r>
                <a14:m>
                  <m:oMath xmlns:m="http://schemas.openxmlformats.org/officeDocument/2006/math">
                    <m:r>
                      <a:rPr lang="en-US" altLang="zh-CN" sz="3200">
                        <a:solidFill>
                          <a:srgbClr val="006699"/>
                        </a:solidFill>
                        <a:latin typeface="Cambria Math" panose="02040503050406030204" pitchFamily="18" charset="0"/>
                      </a:rPr>
                      <m:t>𝑛</m:t>
                    </m:r>
                  </m:oMath>
                </a14:m>
                <a:r>
                  <a:rPr lang="en-US" altLang="zh-CN" sz="3200" dirty="0" err="1">
                    <a:solidFill>
                      <a:srgbClr val="006699"/>
                    </a:solidFill>
                    <a:latin typeface="Verdana" panose="020B0604030504040204" pitchFamily="34" charset="0"/>
                  </a:rPr>
                  <a:t>相比很大时</a:t>
                </a:r>
                <a:r>
                  <a:rPr lang="en-US" altLang="zh-CN" sz="3200" dirty="0">
                    <a:solidFill>
                      <a:srgbClr val="006699"/>
                    </a:solidFill>
                    <a:latin typeface="Verdana" panose="020B0604030504040204" pitchFamily="34" charset="0"/>
                  </a:rPr>
                  <a:t>， </a:t>
                </a:r>
                <a:r>
                  <a:rPr lang="en-US" altLang="zh-CN" sz="3200" dirty="0" err="1">
                    <a:solidFill>
                      <a:srgbClr val="006699"/>
                    </a:solidFill>
                    <a:latin typeface="Verdana" panose="020B0604030504040204" pitchFamily="34" charset="0"/>
                  </a:rPr>
                  <a:t>模拟产生</a:t>
                </a:r>
                <a:endParaRPr lang="en-US" altLang="zh-CN" sz="3200" dirty="0">
                  <a:solidFill>
                    <a:srgbClr val="006699"/>
                  </a:solidFill>
                  <a:latin typeface="Verdana" panose="020B0604030504040204" pitchFamily="34" charset="0"/>
                </a:endParaRPr>
              </a:p>
              <a:p>
                <a:pPr lvl="0">
                  <a:spcAft>
                    <a:spcPts val="1000"/>
                  </a:spcAft>
                </a:pPr>
                <a14:m>
                  <m:oMath xmlns:m="http://schemas.openxmlformats.org/officeDocument/2006/math">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𝑌</m:t>
                        </m:r>
                      </m:e>
                      <m:sub>
                        <m:r>
                          <a:rPr lang="en-US" altLang="zh-CN" sz="3200">
                            <a:solidFill>
                              <a:srgbClr val="006699"/>
                            </a:solidFill>
                            <a:latin typeface="Cambria Math" panose="02040503050406030204" pitchFamily="18" charset="0"/>
                          </a:rPr>
                          <m:t>𝑖</m:t>
                        </m:r>
                      </m:sub>
                    </m:sSub>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𝑖</m:t>
                    </m:r>
                    <m:r>
                      <a:rPr lang="en-US" altLang="zh-CN" sz="3200">
                        <a:solidFill>
                          <a:srgbClr val="006699"/>
                        </a:solidFill>
                        <a:latin typeface="Cambria Math" panose="02040503050406030204" pitchFamily="18" charset="0"/>
                      </a:rPr>
                      <m:t>=1,2,…,</m:t>
                    </m:r>
                    <m:r>
                      <a:rPr lang="en-US" altLang="zh-CN" sz="3200">
                        <a:solidFill>
                          <a:srgbClr val="006699"/>
                        </a:solidFill>
                        <a:latin typeface="Cambria Math" panose="02040503050406030204" pitchFamily="18" charset="0"/>
                      </a:rPr>
                      <m:t>𝑛</m:t>
                    </m:r>
                  </m:oMath>
                </a14:m>
                <a:r>
                  <a:rPr lang="en-US" altLang="zh-CN" sz="3200" dirty="0" err="1">
                    <a:solidFill>
                      <a:srgbClr val="006699"/>
                    </a:solidFill>
                    <a:latin typeface="Verdana" panose="020B0604030504040204" pitchFamily="34" charset="0"/>
                  </a:rPr>
                  <a:t>然后从</a:t>
                </a:r>
                <a14:m>
                  <m:oMath xmlns:m="http://schemas.openxmlformats.org/officeDocument/2006/math">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𝑌</m:t>
                        </m:r>
                      </m:e>
                      <m:sub>
                        <m:r>
                          <a:rPr lang="en-US" altLang="zh-CN" sz="3200">
                            <a:solidFill>
                              <a:srgbClr val="006699"/>
                            </a:solidFill>
                            <a:latin typeface="Cambria Math" panose="02040503050406030204" pitchFamily="18" charset="0"/>
                          </a:rPr>
                          <m:t>𝑖</m:t>
                        </m:r>
                      </m:sub>
                    </m:sSub>
                    <m:r>
                      <a:rPr lang="en-US" altLang="zh-CN" sz="3200">
                        <a:solidFill>
                          <a:srgbClr val="006699"/>
                        </a:solidFill>
                        <a:latin typeface="Cambria Math" panose="02040503050406030204" pitchFamily="18" charset="0"/>
                      </a:rPr>
                      <m:t>}</m:t>
                    </m:r>
                  </m:oMath>
                </a14:m>
                <a:r>
                  <a:rPr lang="en-US" altLang="zh-CN" sz="3200" dirty="0" err="1">
                    <a:solidFill>
                      <a:srgbClr val="006699"/>
                    </a:solidFill>
                    <a:latin typeface="Verdana" panose="020B0604030504040204" pitchFamily="34" charset="0"/>
                  </a:rPr>
                  <a:t>中计数得到</a:t>
                </a:r>
                <a:r>
                  <a:rPr lang="en-US" altLang="zh-CN" sz="3200" dirty="0">
                    <a:solidFill>
                      <a:srgbClr val="006699"/>
                    </a:solidFill>
                    <a:latin typeface="Verdana" panose="020B0604030504040204" pitchFamily="34" charset="0"/>
                  </a:rPr>
                  <a:t> </a:t>
                </a:r>
                <a14:m>
                  <m:oMath xmlns:m="http://schemas.openxmlformats.org/officeDocument/2006/math">
                    <m:d>
                      <m:dPr>
                        <m:ctrlPr>
                          <a:rPr lang="zh-CN" altLang="zh-CN" sz="3200" i="1">
                            <a:solidFill>
                              <a:srgbClr val="006699"/>
                            </a:solidFill>
                            <a:latin typeface="Cambria Math" panose="02040503050406030204" pitchFamily="18" charset="0"/>
                          </a:rPr>
                        </m:ctrlPr>
                      </m:dPr>
                      <m:e>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1</m:t>
                            </m:r>
                          </m:sub>
                        </m:sSub>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2</m:t>
                            </m:r>
                          </m:sub>
                        </m:sSub>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𝑟</m:t>
                            </m:r>
                          </m:sub>
                        </m:sSub>
                      </m:e>
                    </m:d>
                  </m:oMath>
                </a14:m>
                <a:r>
                  <a:rPr lang="en-US" altLang="zh-CN" sz="3200" dirty="0">
                    <a:solidFill>
                      <a:srgbClr val="006699"/>
                    </a:solidFill>
                    <a:latin typeface="Verdana" panose="020B0604030504040204" pitchFamily="34" charset="0"/>
                  </a:rPr>
                  <a:t>。 </a:t>
                </a:r>
              </a:p>
              <a:p>
                <a:pPr lvl="0">
                  <a:spcAft>
                    <a:spcPts val="1000"/>
                  </a:spcAft>
                </a:pPr>
                <a:endParaRPr lang="zh-CN" altLang="zh-CN" sz="3200" dirty="0">
                  <a:solidFill>
                    <a:srgbClr val="006699"/>
                  </a:solidFill>
                  <a:latin typeface="Verdana" panose="020B0604030504040204" pitchFamily="34" charset="0"/>
                </a:endParaRPr>
              </a:p>
              <a:p>
                <a:pPr marL="342900" lvl="0" indent="-342900">
                  <a:spcAft>
                    <a:spcPts val="1000"/>
                  </a:spcAft>
                  <a:buFont typeface="Symbol" panose="05050102010706020507" pitchFamily="18" charset="2"/>
                  <a:buChar char=""/>
                </a:pPr>
                <a:r>
                  <a:rPr lang="en-US" altLang="zh-CN" sz="3200" dirty="0" err="1">
                    <a:solidFill>
                      <a:srgbClr val="006699"/>
                    </a:solidFill>
                    <a:latin typeface="Verdana" panose="020B0604030504040204" pitchFamily="34" charset="0"/>
                  </a:rPr>
                  <a:t>当r与n相比较小时</a:t>
                </a:r>
                <a:r>
                  <a:rPr lang="en-US" altLang="zh-CN" sz="3200" dirty="0">
                    <a:solidFill>
                      <a:srgbClr val="006699"/>
                    </a:solidFill>
                    <a:latin typeface="Verdana" panose="020B0604030504040204" pitchFamily="34" charset="0"/>
                  </a:rPr>
                  <a:t>， </a:t>
                </a:r>
              </a:p>
              <a:p>
                <a:pPr lvl="0">
                  <a:spcAft>
                    <a:spcPts val="1000"/>
                  </a:spcAft>
                </a:pPr>
                <a:r>
                  <a:rPr lang="en-US" altLang="zh-CN" sz="3200" dirty="0" err="1">
                    <a:solidFill>
                      <a:srgbClr val="006699"/>
                    </a:solidFill>
                    <a:latin typeface="Verdana" panose="020B0604030504040204" pitchFamily="34" charset="0"/>
                  </a:rPr>
                  <a:t>使用</a:t>
                </a:r>
                <a:r>
                  <a:rPr lang="en-US" altLang="zh-CN" sz="3200" dirty="0" err="1">
                    <a:solidFill>
                      <a:srgbClr val="FF0000"/>
                    </a:solidFill>
                    <a:latin typeface="Verdana" panose="020B0604030504040204" pitchFamily="34" charset="0"/>
                  </a:rPr>
                  <a:t>条件分布</a:t>
                </a:r>
                <a:r>
                  <a:rPr lang="en-US" altLang="zh-CN" sz="3200" dirty="0" err="1">
                    <a:solidFill>
                      <a:srgbClr val="006699"/>
                    </a:solidFill>
                    <a:latin typeface="Verdana" panose="020B0604030504040204" pitchFamily="34" charset="0"/>
                  </a:rPr>
                  <a:t>逐个地产生</a:t>
                </a:r>
                <a14:m>
                  <m:oMath xmlns:m="http://schemas.openxmlformats.org/officeDocument/2006/math">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1</m:t>
                        </m:r>
                      </m:sub>
                    </m:sSub>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2</m:t>
                        </m:r>
                      </m:sub>
                    </m:sSub>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𝑋</m:t>
                        </m:r>
                      </m:e>
                      <m:sub>
                        <m:r>
                          <a:rPr lang="en-US" altLang="zh-CN" sz="3200">
                            <a:solidFill>
                              <a:srgbClr val="006699"/>
                            </a:solidFill>
                            <a:latin typeface="Cambria Math" panose="02040503050406030204" pitchFamily="18" charset="0"/>
                          </a:rPr>
                          <m:t>𝑟</m:t>
                        </m:r>
                      </m:sub>
                    </m:sSub>
                  </m:oMath>
                </a14:m>
                <a:r>
                  <a:rPr lang="en-US" altLang="zh-CN" sz="3200" dirty="0">
                    <a:solidFill>
                      <a:srgbClr val="006699"/>
                    </a:solidFill>
                    <a:latin typeface="Verdana" panose="020B0604030504040204" pitchFamily="34" charset="0"/>
                  </a:rPr>
                  <a:t>。</a:t>
                </a:r>
                <a:endParaRPr lang="zh-CN" altLang="zh-CN" sz="3200" dirty="0">
                  <a:solidFill>
                    <a:srgbClr val="006699"/>
                  </a:solidFill>
                  <a:latin typeface="Verdana" panose="020B0604030504040204" pitchFamily="34" charset="0"/>
                </a:endParaRPr>
              </a:p>
            </p:txBody>
          </p:sp>
        </mc:Choice>
        <mc:Fallback xmlns="">
          <p:sp>
            <p:nvSpPr>
              <p:cNvPr id="3" name="文本框 2">
                <a:extLst>
                  <a:ext uri="{FF2B5EF4-FFF2-40B4-BE49-F238E27FC236}">
                    <a16:creationId xmlns:a16="http://schemas.microsoft.com/office/drawing/2014/main" id="{FF2A1F68-E435-545E-E366-79841D9AE03B}"/>
                  </a:ext>
                </a:extLst>
              </p:cNvPr>
              <p:cNvSpPr txBox="1">
                <a:spLocks noRot="1" noChangeAspect="1" noMove="1" noResize="1" noEditPoints="1" noAdjustHandles="1" noChangeArrowheads="1" noChangeShapeType="1" noTextEdit="1"/>
              </p:cNvSpPr>
              <p:nvPr/>
            </p:nvSpPr>
            <p:spPr>
              <a:xfrm>
                <a:off x="0" y="1984450"/>
                <a:ext cx="8910990" cy="3559949"/>
              </a:xfrm>
              <a:prstGeom prst="rect">
                <a:avLst/>
              </a:prstGeom>
              <a:blipFill>
                <a:blip r:embed="rId2"/>
                <a:stretch>
                  <a:fillRect l="-1778" t="-2740" b="-4110"/>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37381128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2.4 </a:t>
            </a:r>
            <a:r>
              <a:rPr lang="zh-CN" altLang="en-US" dirty="0"/>
              <a:t>随机向量的产生</a:t>
            </a:r>
          </a:p>
        </p:txBody>
      </p:sp>
      <p:sp>
        <p:nvSpPr>
          <p:cNvPr id="32771" name="矩形 2"/>
          <p:cNvSpPr>
            <a:spLocks noChangeArrowheads="1"/>
          </p:cNvSpPr>
          <p:nvPr/>
        </p:nvSpPr>
        <p:spPr bwMode="auto">
          <a:xfrm>
            <a:off x="-108520" y="908720"/>
            <a:ext cx="86409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Wingdings" panose="05000000000000000000" pitchFamily="2" charset="2"/>
              <a:buChar char="Ø"/>
            </a:pPr>
            <a:r>
              <a:rPr lang="zh-CN" altLang="en-US" sz="3200" b="1" dirty="0">
                <a:solidFill>
                  <a:srgbClr val="FF0000"/>
                </a:solidFill>
                <a:latin typeface="Verdana" panose="020B0604030504040204" pitchFamily="34" charset="0"/>
              </a:rPr>
              <a:t>使用条件分布产生多项分布随机数</a:t>
            </a:r>
            <a:endParaRPr lang="en-US" altLang="zh-CN" sz="3200" dirty="0">
              <a:solidFill>
                <a:srgbClr val="006699"/>
              </a:solidFill>
              <a:latin typeface="Verdana" panose="020B0604030504040204" pitchFamily="34"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B8FE2C-1CC8-E426-8328-F293BB1A8DEE}"/>
                  </a:ext>
                </a:extLst>
              </p:cNvPr>
              <p:cNvSpPr txBox="1"/>
              <p:nvPr/>
            </p:nvSpPr>
            <p:spPr>
              <a:xfrm>
                <a:off x="-15875" y="1597638"/>
                <a:ext cx="9144000" cy="4594784"/>
              </a:xfrm>
              <a:prstGeom prst="rect">
                <a:avLst/>
              </a:prstGeom>
              <a:noFill/>
              <a:ln w="25400">
                <a:noFill/>
              </a:ln>
            </p:spPr>
            <p:txBody>
              <a:bodyPr wrap="square">
                <a:spAutoFit/>
              </a:bodyPr>
              <a:lstStyle/>
              <a:p>
                <a:pPr marL="457200" indent="-457200">
                  <a:spcBef>
                    <a:spcPts val="900"/>
                  </a:spcBef>
                  <a:spcAft>
                    <a:spcPts val="900"/>
                  </a:spcAft>
                  <a:buFont typeface="Wingdings" panose="05000000000000000000" pitchFamily="2" charset="2"/>
                  <a:buChar char="l"/>
                </a:pP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1</m:t>
                        </m:r>
                      </m:sub>
                    </m:sSub>
                  </m:oMath>
                </a14:m>
                <a:r>
                  <a:rPr lang="en-US" altLang="zh-CN" sz="2800" dirty="0" err="1">
                    <a:solidFill>
                      <a:srgbClr val="006699"/>
                    </a:solidFill>
                    <a:latin typeface="Verdana" panose="020B0604030504040204" pitchFamily="34" charset="0"/>
                  </a:rPr>
                  <a:t>表示</a:t>
                </a:r>
                <a14:m>
                  <m:oMath xmlns:m="http://schemas.openxmlformats.org/officeDocument/2006/math">
                    <m:r>
                      <a:rPr lang="en-US" altLang="zh-CN" sz="2800">
                        <a:solidFill>
                          <a:srgbClr val="006699"/>
                        </a:solidFill>
                        <a:latin typeface="Cambria Math" panose="02040503050406030204" pitchFamily="18" charset="0"/>
                      </a:rPr>
                      <m:t>𝑛</m:t>
                    </m:r>
                  </m:oMath>
                </a14:m>
                <a:r>
                  <a:rPr lang="en-US" altLang="zh-CN" sz="2800" dirty="0">
                    <a:solidFill>
                      <a:srgbClr val="006699"/>
                    </a:solidFill>
                    <a:latin typeface="Verdana" panose="020B0604030504040204" pitchFamily="34" charset="0"/>
                  </a:rPr>
                  <a:t>次重复试验中</a:t>
                </a:r>
                <a:r>
                  <a:rPr lang="en-US" altLang="zh-CN" sz="2800" dirty="0">
                    <a:solidFill>
                      <a:srgbClr val="FF0000"/>
                    </a:solidFill>
                    <a:latin typeface="Verdana" panose="020B0604030504040204" pitchFamily="34" charset="0"/>
                  </a:rPr>
                  <a:t>结果1</a:t>
                </a:r>
                <a:r>
                  <a:rPr lang="en-US" altLang="zh-CN" sz="2800" dirty="0">
                    <a:solidFill>
                      <a:srgbClr val="006699"/>
                    </a:solidFill>
                    <a:latin typeface="Verdana" panose="020B0604030504040204" pitchFamily="34" charset="0"/>
                  </a:rPr>
                  <a:t>的出现次数， 以结果1作为成功，其它结果作为失败， </a:t>
                </a:r>
                <a:r>
                  <a:rPr lang="en-US" altLang="zh-CN" sz="2800" dirty="0" err="1">
                    <a:solidFill>
                      <a:srgbClr val="006699"/>
                    </a:solidFill>
                    <a:latin typeface="Verdana" panose="020B0604030504040204" pitchFamily="34" charset="0"/>
                  </a:rPr>
                  <a:t>显然</a:t>
                </a: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1</m:t>
                        </m:r>
                      </m:sub>
                    </m:sSub>
                    <m:r>
                      <a:rPr lang="en-US" altLang="zh-CN" sz="2800">
                        <a:solidFill>
                          <a:srgbClr val="006699"/>
                        </a:solidFill>
                        <a:latin typeface="Cambria Math" panose="02040503050406030204" pitchFamily="18" charset="0"/>
                      </a:rPr>
                      <m:t>∼</m:t>
                    </m:r>
                    <m:r>
                      <m:rPr>
                        <m:nor/>
                      </m:rPr>
                      <a:rPr lang="en-US" altLang="zh-CN" sz="2800">
                        <a:solidFill>
                          <a:srgbClr val="006699"/>
                        </a:solidFill>
                        <a:latin typeface="Verdana" panose="020B0604030504040204" pitchFamily="34" charset="0"/>
                      </a:rPr>
                      <m:t>B</m:t>
                    </m:r>
                    <m:d>
                      <m:dPr>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𝑛</m:t>
                        </m:r>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𝑝</m:t>
                            </m:r>
                          </m:e>
                          <m:sub>
                            <m:r>
                              <a:rPr lang="en-US" altLang="zh-CN" sz="2800">
                                <a:solidFill>
                                  <a:srgbClr val="006699"/>
                                </a:solidFill>
                                <a:latin typeface="Cambria Math" panose="02040503050406030204" pitchFamily="18" charset="0"/>
                              </a:rPr>
                              <m:t>1</m:t>
                            </m:r>
                          </m:sub>
                        </m:sSub>
                      </m:e>
                    </m:d>
                  </m:oMath>
                </a14:m>
                <a:r>
                  <a:rPr lang="en-US" altLang="zh-CN" sz="2800" dirty="0">
                    <a:solidFill>
                      <a:srgbClr val="006699"/>
                    </a:solidFill>
                    <a:latin typeface="Verdana" panose="020B0604030504040204" pitchFamily="34" charset="0"/>
                  </a:rPr>
                  <a:t>。</a:t>
                </a:r>
              </a:p>
              <a:p>
                <a:pPr marL="457200" indent="-457200">
                  <a:spcBef>
                    <a:spcPts val="900"/>
                  </a:spcBef>
                  <a:spcAft>
                    <a:spcPts val="900"/>
                  </a:spcAft>
                  <a:buFont typeface="Wingdings" panose="05000000000000000000" pitchFamily="2" charset="2"/>
                  <a:buChar char="l"/>
                </a:pPr>
                <a:r>
                  <a:rPr lang="en-US" altLang="zh-CN" sz="2800" dirty="0">
                    <a:solidFill>
                      <a:srgbClr val="006699"/>
                    </a:solidFill>
                    <a:latin typeface="Verdana" panose="020B0604030504040204" pitchFamily="34" charset="0"/>
                  </a:rPr>
                  <a:t> </a:t>
                </a:r>
                <a:r>
                  <a:rPr lang="en-US" altLang="zh-CN" sz="2800" dirty="0" err="1">
                    <a:solidFill>
                      <a:srgbClr val="006699"/>
                    </a:solidFill>
                    <a:latin typeface="Verdana" panose="020B0604030504040204" pitchFamily="34" charset="0"/>
                  </a:rPr>
                  <a:t>产生</a:t>
                </a: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1</m:t>
                        </m:r>
                      </m:sub>
                    </m:sSub>
                  </m:oMath>
                </a14:m>
                <a:r>
                  <a:rPr lang="en-US" altLang="zh-CN" sz="2800" dirty="0" err="1">
                    <a:solidFill>
                      <a:srgbClr val="006699"/>
                    </a:solidFill>
                    <a:latin typeface="Verdana" panose="020B0604030504040204" pitchFamily="34" charset="0"/>
                  </a:rPr>
                  <a:t>的值</a:t>
                </a: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1</m:t>
                        </m:r>
                      </m:sub>
                    </m:sSub>
                  </m:oMath>
                </a14:m>
                <a:r>
                  <a:rPr lang="en-US" altLang="zh-CN" sz="2800" dirty="0">
                    <a:solidFill>
                      <a:srgbClr val="006699"/>
                    </a:solidFill>
                    <a:latin typeface="Verdana" panose="020B0604030504040204" pitchFamily="34" charset="0"/>
                  </a:rPr>
                  <a:t>后，</a:t>
                </a:r>
                <a14:m>
                  <m:oMath xmlns:m="http://schemas.openxmlformats.org/officeDocument/2006/math">
                    <m:r>
                      <a:rPr lang="en-US" altLang="zh-CN" sz="2800">
                        <a:solidFill>
                          <a:srgbClr val="006699"/>
                        </a:solidFill>
                        <a:latin typeface="Cambria Math" panose="02040503050406030204" pitchFamily="18" charset="0"/>
                      </a:rPr>
                      <m:t>𝑛</m:t>
                    </m:r>
                  </m:oMath>
                </a14:m>
                <a:r>
                  <a:rPr lang="en-US" altLang="zh-CN" sz="2800" dirty="0" err="1">
                    <a:solidFill>
                      <a:srgbClr val="006699"/>
                    </a:solidFill>
                    <a:latin typeface="Verdana" panose="020B0604030504040204" pitchFamily="34" charset="0"/>
                  </a:rPr>
                  <a:t>次试验剩余的</a:t>
                </a:r>
                <a14:m>
                  <m:oMath xmlns:m="http://schemas.openxmlformats.org/officeDocument/2006/math">
                    <m:r>
                      <a:rPr lang="en-US" altLang="zh-CN" sz="2800">
                        <a:solidFill>
                          <a:srgbClr val="006699"/>
                        </a:solidFill>
                        <a:latin typeface="Cambria Math" panose="02040503050406030204" pitchFamily="18" charset="0"/>
                      </a:rPr>
                      <m:t>𝑛</m:t>
                    </m:r>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1</m:t>
                        </m:r>
                      </m:sub>
                    </m:sSub>
                  </m:oMath>
                </a14:m>
                <a:r>
                  <a:rPr lang="en-US" altLang="zh-CN" sz="2800" dirty="0" err="1">
                    <a:solidFill>
                      <a:srgbClr val="006699"/>
                    </a:solidFill>
                    <a:latin typeface="Verdana" panose="020B0604030504040204" pitchFamily="34" charset="0"/>
                  </a:rPr>
                  <a:t>次试验结果只有</a:t>
                </a:r>
                <a14:m>
                  <m:oMath xmlns:m="http://schemas.openxmlformats.org/officeDocument/2006/math">
                    <m:r>
                      <a:rPr lang="en-US" altLang="zh-CN" sz="2800">
                        <a:solidFill>
                          <a:srgbClr val="006699"/>
                        </a:solidFill>
                        <a:latin typeface="Cambria Math" panose="02040503050406030204" pitchFamily="18" charset="0"/>
                      </a:rPr>
                      <m:t>2,3,…,</m:t>
                    </m:r>
                    <m:r>
                      <a:rPr lang="en-US" altLang="zh-CN" sz="2800">
                        <a:solidFill>
                          <a:srgbClr val="006699"/>
                        </a:solidFill>
                        <a:latin typeface="Cambria Math" panose="02040503050406030204" pitchFamily="18" charset="0"/>
                      </a:rPr>
                      <m:t>𝑟</m:t>
                    </m:r>
                  </m:oMath>
                </a14:m>
                <a:r>
                  <a:rPr lang="en-US" altLang="zh-CN" sz="2800" dirty="0" err="1">
                    <a:solidFill>
                      <a:srgbClr val="006699"/>
                    </a:solidFill>
                    <a:latin typeface="Verdana" panose="020B0604030504040204" pitchFamily="34" charset="0"/>
                  </a:rPr>
                  <a:t>可取</a:t>
                </a:r>
                <a:r>
                  <a:rPr lang="en-US" altLang="zh-CN" sz="2800" dirty="0">
                    <a:solidFill>
                      <a:srgbClr val="006699"/>
                    </a:solidFill>
                    <a:latin typeface="Verdana" panose="020B0604030504040204" pitchFamily="34" charset="0"/>
                  </a:rPr>
                  <a:t>， </a:t>
                </a:r>
                <a:r>
                  <a:rPr lang="en-US" altLang="zh-CN" sz="2800" dirty="0" err="1">
                    <a:solidFill>
                      <a:srgbClr val="006699"/>
                    </a:solidFill>
                    <a:latin typeface="Verdana" panose="020B0604030504040204" pitchFamily="34" charset="0"/>
                  </a:rPr>
                  <a:t>于是在</a:t>
                </a: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1</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1</m:t>
                        </m:r>
                      </m:sub>
                    </m:sSub>
                  </m:oMath>
                </a14:m>
                <a:r>
                  <a:rPr lang="en-US" altLang="zh-CN" sz="2800" dirty="0">
                    <a:solidFill>
                      <a:srgbClr val="006699"/>
                    </a:solidFill>
                    <a:latin typeface="Verdana" panose="020B0604030504040204" pitchFamily="34" charset="0"/>
                  </a:rPr>
                  <a:t>条件下</a:t>
                </a:r>
                <a:r>
                  <a:rPr lang="en-US" altLang="zh-CN" sz="2800" dirty="0">
                    <a:solidFill>
                      <a:srgbClr val="FF0000"/>
                    </a:solidFill>
                    <a:latin typeface="Verdana" panose="020B0604030504040204" pitchFamily="34" charset="0"/>
                  </a:rPr>
                  <a:t>结果2</a:t>
                </a:r>
                <a:r>
                  <a:rPr lang="en-US" altLang="zh-CN" sz="2800" dirty="0">
                    <a:solidFill>
                      <a:srgbClr val="006699"/>
                    </a:solidFill>
                    <a:latin typeface="Verdana" panose="020B0604030504040204" pitchFamily="34" charset="0"/>
                  </a:rPr>
                  <a:t>的出现概率是</a:t>
                </a:r>
                <a:endParaRPr lang="zh-CN" altLang="zh-CN" sz="2800" dirty="0">
                  <a:solidFill>
                    <a:srgbClr val="006699"/>
                  </a:solidFill>
                  <a:latin typeface="Verdana" panose="020B0604030504040204" pitchFamily="34" charset="0"/>
                </a:endParaRPr>
              </a:p>
              <a:p>
                <a:pPr>
                  <a:spcBef>
                    <a:spcPts val="900"/>
                  </a:spcBef>
                  <a:spcAft>
                    <a:spcPts val="900"/>
                  </a:spcAft>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zh-CN" sz="2400" i="1">
                              <a:solidFill>
                                <a:srgbClr val="006699"/>
                              </a:solidFill>
                              <a:latin typeface="Cambria Math" panose="02040503050406030204" pitchFamily="18" charset="0"/>
                            </a:rPr>
                          </m:ctrlPr>
                        </m:mPr>
                        <m:mr>
                          <m:e>
                            <m:r>
                              <a:rPr lang="en-US" altLang="zh-CN" sz="2400">
                                <a:solidFill>
                                  <a:srgbClr val="006699"/>
                                </a:solidFill>
                                <a:latin typeface="Cambria Math" panose="02040503050406030204" pitchFamily="18" charset="0"/>
                              </a:rPr>
                              <m:t>𝑃</m:t>
                            </m:r>
                            <m:d>
                              <m:dPr>
                                <m:ctrlPr>
                                  <a:rPr lang="zh-CN" altLang="zh-CN" sz="2400" i="1">
                                    <a:solidFill>
                                      <a:srgbClr val="006699"/>
                                    </a:solidFill>
                                    <a:latin typeface="Cambria Math" panose="02040503050406030204" pitchFamily="18" charset="0"/>
                                  </a:rPr>
                                </m:ctrlPr>
                              </m:dPr>
                              <m:e>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𝑌</m:t>
                                    </m:r>
                                  </m:e>
                                  <m:sub>
                                    <m:r>
                                      <a:rPr lang="en-US" altLang="zh-CN" sz="2400">
                                        <a:solidFill>
                                          <a:srgbClr val="006699"/>
                                        </a:solidFill>
                                        <a:latin typeface="Cambria Math" panose="02040503050406030204" pitchFamily="18" charset="0"/>
                                      </a:rPr>
                                      <m:t>𝑖</m:t>
                                    </m:r>
                                  </m:sub>
                                </m:sSub>
                                <m:r>
                                  <a:rPr lang="en-US" altLang="zh-CN" sz="2400">
                                    <a:solidFill>
                                      <a:srgbClr val="006699"/>
                                    </a:solidFill>
                                    <a:latin typeface="Cambria Math" panose="02040503050406030204" pitchFamily="18" charset="0"/>
                                  </a:rPr>
                                  <m:t>=2|</m:t>
                                </m:r>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𝑌</m:t>
                                    </m:r>
                                  </m:e>
                                  <m:sub>
                                    <m:r>
                                      <a:rPr lang="en-US" altLang="zh-CN" sz="2400">
                                        <a:solidFill>
                                          <a:srgbClr val="006699"/>
                                        </a:solidFill>
                                        <a:latin typeface="Cambria Math" panose="02040503050406030204" pitchFamily="18" charset="0"/>
                                      </a:rPr>
                                      <m:t>𝑖</m:t>
                                    </m:r>
                                  </m:sub>
                                </m:sSub>
                                <m:r>
                                  <a:rPr lang="en-US" altLang="zh-CN" sz="2400">
                                    <a:solidFill>
                                      <a:srgbClr val="006699"/>
                                    </a:solidFill>
                                    <a:latin typeface="Cambria Math" panose="02040503050406030204" pitchFamily="18" charset="0"/>
                                  </a:rPr>
                                  <m:t>≠1</m:t>
                                </m:r>
                              </m:e>
                            </m:d>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r>
                                  <a:rPr lang="en-US" altLang="zh-CN" sz="2400">
                                    <a:solidFill>
                                      <a:srgbClr val="006699"/>
                                    </a:solidFill>
                                    <a:latin typeface="Cambria Math" panose="02040503050406030204" pitchFamily="18" charset="0"/>
                                  </a:rPr>
                                  <m:t>𝑃</m:t>
                                </m:r>
                                <m:d>
                                  <m:dPr>
                                    <m:ctrlPr>
                                      <a:rPr lang="zh-CN" altLang="zh-CN" sz="2400" i="1">
                                        <a:solidFill>
                                          <a:srgbClr val="006699"/>
                                        </a:solidFill>
                                        <a:latin typeface="Cambria Math" panose="02040503050406030204" pitchFamily="18" charset="0"/>
                                      </a:rPr>
                                    </m:ctrlPr>
                                  </m:dPr>
                                  <m:e>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𝑌</m:t>
                                        </m:r>
                                      </m:e>
                                      <m:sub>
                                        <m:r>
                                          <a:rPr lang="en-US" altLang="zh-CN" sz="2400">
                                            <a:solidFill>
                                              <a:srgbClr val="006699"/>
                                            </a:solidFill>
                                            <a:latin typeface="Cambria Math" panose="02040503050406030204" pitchFamily="18" charset="0"/>
                                          </a:rPr>
                                          <m:t>𝑖</m:t>
                                        </m:r>
                                      </m:sub>
                                    </m:sSub>
                                    <m:r>
                                      <a:rPr lang="en-US" altLang="zh-CN" sz="2400">
                                        <a:solidFill>
                                          <a:srgbClr val="006699"/>
                                        </a:solidFill>
                                        <a:latin typeface="Cambria Math" panose="02040503050406030204" pitchFamily="18" charset="0"/>
                                      </a:rPr>
                                      <m:t>=2</m:t>
                                    </m:r>
                                  </m:e>
                                </m:d>
                              </m:num>
                              <m:den>
                                <m:nary>
                                  <m:naryPr>
                                    <m:chr m:val="∑"/>
                                    <m:limLoc m:val="undOvr"/>
                                    <m:ctrlPr>
                                      <a:rPr lang="zh-CN" altLang="zh-CN" sz="2400" i="1">
                                        <a:solidFill>
                                          <a:srgbClr val="006699"/>
                                        </a:solidFill>
                                        <a:latin typeface="Cambria Math" panose="02040503050406030204" pitchFamily="18" charset="0"/>
                                      </a:rPr>
                                    </m:ctrlPr>
                                  </m:naryPr>
                                  <m:sub>
                                    <m:r>
                                      <a:rPr lang="en-US" altLang="zh-CN" sz="2400">
                                        <a:solidFill>
                                          <a:srgbClr val="006699"/>
                                        </a:solidFill>
                                        <a:latin typeface="Cambria Math" panose="02040503050406030204" pitchFamily="18" charset="0"/>
                                      </a:rPr>
                                      <m:t>𝑘</m:t>
                                    </m:r>
                                    <m:r>
                                      <a:rPr lang="en-US" altLang="zh-CN" sz="2400">
                                        <a:solidFill>
                                          <a:srgbClr val="006699"/>
                                        </a:solidFill>
                                        <a:latin typeface="Cambria Math" panose="02040503050406030204" pitchFamily="18" charset="0"/>
                                      </a:rPr>
                                      <m:t>=2</m:t>
                                    </m:r>
                                  </m:sub>
                                  <m:sup>
                                    <m:r>
                                      <a:rPr lang="en-US" altLang="zh-CN" sz="2400">
                                        <a:solidFill>
                                          <a:srgbClr val="006699"/>
                                        </a:solidFill>
                                        <a:latin typeface="Cambria Math" panose="02040503050406030204" pitchFamily="18" charset="0"/>
                                      </a:rPr>
                                      <m:t>𝑟</m:t>
                                    </m:r>
                                  </m:sup>
                                  <m:e>
                                    <m:r>
                                      <a:rPr lang="en-US" altLang="zh-CN" sz="2400">
                                        <a:solidFill>
                                          <a:srgbClr val="006699"/>
                                        </a:solidFill>
                                        <a:latin typeface="Cambria Math" panose="02040503050406030204" pitchFamily="18" charset="0"/>
                                      </a:rPr>
                                      <m:t>𝑃</m:t>
                                    </m:r>
                                  </m:e>
                                </m:nary>
                                <m:d>
                                  <m:dPr>
                                    <m:ctrlPr>
                                      <a:rPr lang="zh-CN" altLang="zh-CN" sz="2400" i="1">
                                        <a:solidFill>
                                          <a:srgbClr val="006699"/>
                                        </a:solidFill>
                                        <a:latin typeface="Cambria Math" panose="02040503050406030204" pitchFamily="18" charset="0"/>
                                      </a:rPr>
                                    </m:ctrlPr>
                                  </m:dPr>
                                  <m:e>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𝑌</m:t>
                                        </m:r>
                                      </m:e>
                                      <m:sub>
                                        <m:r>
                                          <a:rPr lang="en-US" altLang="zh-CN" sz="2400">
                                            <a:solidFill>
                                              <a:srgbClr val="006699"/>
                                            </a:solidFill>
                                            <a:latin typeface="Cambria Math" panose="02040503050406030204" pitchFamily="18" charset="0"/>
                                          </a:rPr>
                                          <m:t>𝑖</m:t>
                                        </m:r>
                                      </m:sub>
                                    </m:sSub>
                                    <m:r>
                                      <a:rPr lang="en-US" altLang="zh-CN" sz="2400">
                                        <a:solidFill>
                                          <a:srgbClr val="006699"/>
                                        </a:solidFill>
                                        <a:latin typeface="Cambria Math" panose="02040503050406030204" pitchFamily="18" charset="0"/>
                                      </a:rPr>
                                      <m:t>=</m:t>
                                    </m:r>
                                    <m:r>
                                      <a:rPr lang="en-US" altLang="zh-CN" sz="2400">
                                        <a:solidFill>
                                          <a:srgbClr val="006699"/>
                                        </a:solidFill>
                                        <a:latin typeface="Cambria Math" panose="02040503050406030204" pitchFamily="18" charset="0"/>
                                      </a:rPr>
                                      <m:t>𝑘</m:t>
                                    </m:r>
                                  </m:e>
                                </m:d>
                              </m:den>
                            </m:f>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𝑝</m:t>
                                    </m:r>
                                  </m:e>
                                  <m:sub>
                                    <m:r>
                                      <a:rPr lang="en-US" altLang="zh-CN" sz="2400">
                                        <a:solidFill>
                                          <a:srgbClr val="006699"/>
                                        </a:solidFill>
                                        <a:latin typeface="Cambria Math" panose="02040503050406030204" pitchFamily="18" charset="0"/>
                                      </a:rPr>
                                      <m:t>2</m:t>
                                    </m:r>
                                  </m:sub>
                                </m:sSub>
                              </m:num>
                              <m:den>
                                <m:r>
                                  <a:rPr lang="en-US" altLang="zh-CN" sz="2400">
                                    <a:solidFill>
                                      <a:srgbClr val="006699"/>
                                    </a:solidFill>
                                    <a:latin typeface="Cambria Math" panose="02040503050406030204" pitchFamily="18" charset="0"/>
                                  </a:rPr>
                                  <m:t>1−</m:t>
                                </m:r>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𝑝</m:t>
                                    </m:r>
                                  </m:e>
                                  <m:sub>
                                    <m:r>
                                      <a:rPr lang="en-US" altLang="zh-CN" sz="2400">
                                        <a:solidFill>
                                          <a:srgbClr val="006699"/>
                                        </a:solidFill>
                                        <a:latin typeface="Cambria Math" panose="02040503050406030204" pitchFamily="18" charset="0"/>
                                      </a:rPr>
                                      <m:t>1</m:t>
                                    </m:r>
                                  </m:sub>
                                </m:sSub>
                              </m:den>
                            </m:f>
                          </m:e>
                        </m:mr>
                      </m:m>
                    </m:oMath>
                  </m:oMathPara>
                </a14:m>
                <a:endParaRPr lang="zh-CN" altLang="zh-CN" sz="2800" dirty="0">
                  <a:solidFill>
                    <a:srgbClr val="006699"/>
                  </a:solidFill>
                  <a:latin typeface="Verdana" panose="020B0604030504040204" pitchFamily="34" charset="0"/>
                </a:endParaRPr>
              </a:p>
              <a:p>
                <a:pPr>
                  <a:spcBef>
                    <a:spcPts val="900"/>
                  </a:spcBef>
                  <a:spcAft>
                    <a:spcPts val="900"/>
                  </a:spcAft>
                </a:pPr>
                <a:r>
                  <a:rPr lang="en-US" altLang="zh-CN" sz="2800" dirty="0" err="1">
                    <a:solidFill>
                      <a:srgbClr val="006699"/>
                    </a:solidFill>
                    <a:latin typeface="Verdana" panose="020B0604030504040204" pitchFamily="34" charset="0"/>
                  </a:rPr>
                  <a:t>剩下的</a:t>
                </a:r>
                <a14:m>
                  <m:oMath xmlns:m="http://schemas.openxmlformats.org/officeDocument/2006/math">
                    <m:r>
                      <a:rPr lang="en-US" altLang="zh-CN" sz="2800">
                        <a:solidFill>
                          <a:srgbClr val="006699"/>
                        </a:solidFill>
                        <a:latin typeface="Cambria Math" panose="02040503050406030204" pitchFamily="18" charset="0"/>
                      </a:rPr>
                      <m:t>𝑛</m:t>
                    </m:r>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1</m:t>
                        </m:r>
                      </m:sub>
                    </m:sSub>
                  </m:oMath>
                </a14:m>
                <a:r>
                  <a:rPr lang="en-US" altLang="zh-CN" sz="2800" dirty="0">
                    <a:solidFill>
                      <a:srgbClr val="006699"/>
                    </a:solidFill>
                    <a:latin typeface="Verdana" panose="020B0604030504040204" pitchFamily="34" charset="0"/>
                  </a:rPr>
                  <a:t>次试验中结果2的出现次数服从</a:t>
                </a:r>
                <a14:m>
                  <m:oMath xmlns:m="http://schemas.openxmlformats.org/officeDocument/2006/math">
                    <m:r>
                      <m:rPr>
                        <m:nor/>
                      </m:rPr>
                      <a:rPr lang="en-US" altLang="zh-CN" sz="2400">
                        <a:solidFill>
                          <a:srgbClr val="006699"/>
                        </a:solidFill>
                        <a:latin typeface="Verdana" panose="020B0604030504040204" pitchFamily="34" charset="0"/>
                      </a:rPr>
                      <m:t>B</m:t>
                    </m:r>
                    <m:d>
                      <m:dPr>
                        <m:ctrlPr>
                          <a:rPr lang="zh-CN" altLang="zh-CN" sz="2400" i="1">
                            <a:solidFill>
                              <a:srgbClr val="006699"/>
                            </a:solidFill>
                            <a:latin typeface="Cambria Math" panose="02040503050406030204" pitchFamily="18" charset="0"/>
                          </a:rPr>
                        </m:ctrlPr>
                      </m:dPr>
                      <m:e>
                        <m:r>
                          <a:rPr lang="en-US" altLang="zh-CN" sz="2400">
                            <a:solidFill>
                              <a:srgbClr val="006699"/>
                            </a:solidFill>
                            <a:latin typeface="Cambria Math" panose="02040503050406030204" pitchFamily="18" charset="0"/>
                          </a:rPr>
                          <m:t>𝑛</m:t>
                        </m:r>
                        <m:r>
                          <a:rPr lang="en-US" altLang="zh-CN" sz="2400">
                            <a:solidFill>
                              <a:srgbClr val="006699"/>
                            </a:solidFill>
                            <a:latin typeface="Cambria Math" panose="02040503050406030204" pitchFamily="18" charset="0"/>
                          </a:rPr>
                          <m:t>−</m:t>
                        </m:r>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𝑥</m:t>
                            </m:r>
                          </m:e>
                          <m:sub>
                            <m:r>
                              <a:rPr lang="en-US" altLang="zh-CN" sz="2400">
                                <a:solidFill>
                                  <a:srgbClr val="006699"/>
                                </a:solidFill>
                                <a:latin typeface="Cambria Math" panose="02040503050406030204" pitchFamily="18" charset="0"/>
                              </a:rPr>
                              <m:t>1</m:t>
                            </m:r>
                          </m:sub>
                        </m:sSub>
                        <m:r>
                          <a:rPr lang="en-US" altLang="zh-CN" sz="2400">
                            <a:solidFill>
                              <a:srgbClr val="006699"/>
                            </a:solidFill>
                            <a:latin typeface="Cambria Math" panose="02040503050406030204" pitchFamily="18" charset="0"/>
                          </a:rPr>
                          <m:t>,</m:t>
                        </m:r>
                        <m:f>
                          <m:fPr>
                            <m:ctrlPr>
                              <a:rPr lang="zh-CN" altLang="zh-CN" sz="2400" i="1">
                                <a:solidFill>
                                  <a:srgbClr val="006699"/>
                                </a:solidFill>
                                <a:latin typeface="Cambria Math" panose="02040503050406030204" pitchFamily="18" charset="0"/>
                              </a:rPr>
                            </m:ctrlPr>
                          </m:fPr>
                          <m:num>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𝑝</m:t>
                                </m:r>
                              </m:e>
                              <m:sub>
                                <m:r>
                                  <a:rPr lang="en-US" altLang="zh-CN" sz="2400">
                                    <a:solidFill>
                                      <a:srgbClr val="006699"/>
                                    </a:solidFill>
                                    <a:latin typeface="Cambria Math" panose="02040503050406030204" pitchFamily="18" charset="0"/>
                                  </a:rPr>
                                  <m:t>2</m:t>
                                </m:r>
                              </m:sub>
                            </m:sSub>
                          </m:num>
                          <m:den>
                            <m:r>
                              <a:rPr lang="en-US" altLang="zh-CN" sz="2400">
                                <a:solidFill>
                                  <a:srgbClr val="006699"/>
                                </a:solidFill>
                                <a:latin typeface="Cambria Math" panose="02040503050406030204" pitchFamily="18" charset="0"/>
                              </a:rPr>
                              <m:t>1−</m:t>
                            </m:r>
                            <m:sSub>
                              <m:sSubPr>
                                <m:ctrlPr>
                                  <a:rPr lang="zh-CN" altLang="zh-CN" sz="2400" i="1">
                                    <a:solidFill>
                                      <a:srgbClr val="006699"/>
                                    </a:solidFill>
                                    <a:latin typeface="Cambria Math" panose="02040503050406030204" pitchFamily="18" charset="0"/>
                                  </a:rPr>
                                </m:ctrlPr>
                              </m:sSubPr>
                              <m:e>
                                <m:r>
                                  <a:rPr lang="en-US" altLang="zh-CN" sz="2400">
                                    <a:solidFill>
                                      <a:srgbClr val="006699"/>
                                    </a:solidFill>
                                    <a:latin typeface="Cambria Math" panose="02040503050406030204" pitchFamily="18" charset="0"/>
                                  </a:rPr>
                                  <m:t>𝑝</m:t>
                                </m:r>
                              </m:e>
                              <m:sub>
                                <m:r>
                                  <a:rPr lang="en-US" altLang="zh-CN" sz="2400">
                                    <a:solidFill>
                                      <a:srgbClr val="006699"/>
                                    </a:solidFill>
                                    <a:latin typeface="Cambria Math" panose="02040503050406030204" pitchFamily="18" charset="0"/>
                                  </a:rPr>
                                  <m:t>1</m:t>
                                </m:r>
                              </m:sub>
                            </m:sSub>
                          </m:den>
                        </m:f>
                      </m:e>
                    </m:d>
                  </m:oMath>
                </a14:m>
                <a:r>
                  <a:rPr lang="en-US" altLang="zh-CN" sz="2800" dirty="0" err="1">
                    <a:solidFill>
                      <a:srgbClr val="006699"/>
                    </a:solidFill>
                    <a:latin typeface="Verdana" panose="020B0604030504040204" pitchFamily="34" charset="0"/>
                  </a:rPr>
                  <a:t>分布</a:t>
                </a:r>
                <a:r>
                  <a:rPr lang="en-US" altLang="zh-CN" sz="2800" dirty="0">
                    <a:solidFill>
                      <a:srgbClr val="006699"/>
                    </a:solidFill>
                    <a:latin typeface="Verdana" panose="020B0604030504040204" pitchFamily="34" charset="0"/>
                  </a:rPr>
                  <a:t>， </a:t>
                </a:r>
                <a:r>
                  <a:rPr lang="en-US" altLang="zh-CN" sz="2800" dirty="0" err="1">
                    <a:solidFill>
                      <a:srgbClr val="006699"/>
                    </a:solidFill>
                    <a:latin typeface="Verdana" panose="020B0604030504040204" pitchFamily="34" charset="0"/>
                  </a:rPr>
                  <a:t>从这个条件分布产生</a:t>
                </a: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2</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2</m:t>
                        </m:r>
                      </m:sub>
                    </m:sSub>
                  </m:oMath>
                </a14:m>
                <a:r>
                  <a:rPr lang="en-US" altLang="zh-CN" sz="2800" dirty="0">
                    <a:solidFill>
                      <a:srgbClr val="006699"/>
                    </a:solidFill>
                    <a:latin typeface="Verdana" panose="020B0604030504040204" pitchFamily="34" charset="0"/>
                  </a:rPr>
                  <a:t>。</a:t>
                </a:r>
                <a:endParaRPr lang="zh-CN" altLang="zh-CN" sz="2800" dirty="0">
                  <a:solidFill>
                    <a:srgbClr val="006699"/>
                  </a:solidFill>
                  <a:latin typeface="Verdana" panose="020B0604030504040204" pitchFamily="34" charset="0"/>
                </a:endParaRPr>
              </a:p>
            </p:txBody>
          </p:sp>
        </mc:Choice>
        <mc:Fallback xmlns="">
          <p:sp>
            <p:nvSpPr>
              <p:cNvPr id="3" name="文本框 2">
                <a:extLst>
                  <a:ext uri="{FF2B5EF4-FFF2-40B4-BE49-F238E27FC236}">
                    <a16:creationId xmlns:a16="http://schemas.microsoft.com/office/drawing/2014/main" id="{28B8FE2C-1CC8-E426-8328-F293BB1A8DEE}"/>
                  </a:ext>
                </a:extLst>
              </p:cNvPr>
              <p:cNvSpPr txBox="1">
                <a:spLocks noRot="1" noChangeAspect="1" noMove="1" noResize="1" noEditPoints="1" noAdjustHandles="1" noChangeArrowheads="1" noChangeShapeType="1" noTextEdit="1"/>
              </p:cNvSpPr>
              <p:nvPr/>
            </p:nvSpPr>
            <p:spPr>
              <a:xfrm>
                <a:off x="-15875" y="1597638"/>
                <a:ext cx="9144000" cy="4594784"/>
              </a:xfrm>
              <a:prstGeom prst="rect">
                <a:avLst/>
              </a:prstGeom>
              <a:blipFill>
                <a:blip r:embed="rId2"/>
                <a:stretch>
                  <a:fillRect l="-1333" t="-1592" r="-600" b="-2387"/>
                </a:stretch>
              </a:blipFill>
              <a:ln w="25400">
                <a:noFill/>
              </a:ln>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noChangeArrowheads="1"/>
          </p:cNvSpPr>
          <p:nvPr>
            <p:ph type="title"/>
          </p:nvPr>
        </p:nvSpPr>
        <p:spPr>
          <a:xfrm>
            <a:off x="-15875" y="142875"/>
            <a:ext cx="8229600" cy="642938"/>
          </a:xfrm>
        </p:spPr>
        <p:txBody>
          <a:bodyPr/>
          <a:lstStyle/>
          <a:p>
            <a:pPr algn="l" defTabSz="513080" fontAlgn="base">
              <a:spcAft>
                <a:spcPct val="0"/>
              </a:spcAft>
            </a:pPr>
            <a:r>
              <a:rPr lang="en-US" altLang="zh-CN" dirty="0"/>
              <a:t>2.4 </a:t>
            </a:r>
            <a:r>
              <a:rPr lang="zh-CN" altLang="en-US" dirty="0"/>
              <a:t>随机向量的产生</a:t>
            </a:r>
          </a:p>
        </p:txBody>
      </p:sp>
      <p:sp>
        <p:nvSpPr>
          <p:cNvPr id="32771" name="矩形 2"/>
          <p:cNvSpPr>
            <a:spLocks noChangeArrowheads="1"/>
          </p:cNvSpPr>
          <p:nvPr/>
        </p:nvSpPr>
        <p:spPr bwMode="auto">
          <a:xfrm>
            <a:off x="-108520" y="908720"/>
            <a:ext cx="864096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Font typeface="Wingdings" panose="05000000000000000000" pitchFamily="2" charset="2"/>
              <a:buChar char="Ø"/>
            </a:pPr>
            <a:r>
              <a:rPr lang="zh-CN" altLang="en-US" sz="3200" b="1" dirty="0">
                <a:solidFill>
                  <a:srgbClr val="FF0000"/>
                </a:solidFill>
                <a:latin typeface="Verdana" panose="020B0604030504040204" pitchFamily="34" charset="0"/>
              </a:rPr>
              <a:t>使用条件分布产生多项分布随机数</a:t>
            </a:r>
            <a:endParaRPr lang="en-US" altLang="zh-CN" sz="3200" dirty="0">
              <a:solidFill>
                <a:srgbClr val="006699"/>
              </a:solidFill>
              <a:latin typeface="Verdana" panose="020B0604030504040204" pitchFamily="34" charset="0"/>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28B8FE2C-1CC8-E426-8328-F293BB1A8DEE}"/>
                  </a:ext>
                </a:extLst>
              </p:cNvPr>
              <p:cNvSpPr txBox="1"/>
              <p:nvPr/>
            </p:nvSpPr>
            <p:spPr>
              <a:xfrm>
                <a:off x="0" y="2033845"/>
                <a:ext cx="9144000" cy="4101316"/>
              </a:xfrm>
              <a:prstGeom prst="rect">
                <a:avLst/>
              </a:prstGeom>
              <a:noFill/>
              <a:ln w="25400">
                <a:noFill/>
              </a:ln>
            </p:spPr>
            <p:txBody>
              <a:bodyPr wrap="square">
                <a:spAutoFit/>
              </a:bodyPr>
              <a:lstStyle/>
              <a:p>
                <a:pPr marL="457200" indent="-457200">
                  <a:spcBef>
                    <a:spcPts val="900"/>
                  </a:spcBef>
                  <a:spcAft>
                    <a:spcPts val="900"/>
                  </a:spcAft>
                  <a:buFont typeface="Wingdings" panose="05000000000000000000" pitchFamily="2" charset="2"/>
                  <a:buChar char="l"/>
                </a:pPr>
                <a:r>
                  <a:rPr lang="en-US" altLang="zh-CN" sz="2800" dirty="0" err="1">
                    <a:solidFill>
                      <a:srgbClr val="006699"/>
                    </a:solidFill>
                    <a:latin typeface="Verdana" panose="020B0604030504040204" pitchFamily="34" charset="0"/>
                  </a:rPr>
                  <a:t>类似地</a:t>
                </a:r>
                <a:r>
                  <a:rPr lang="en-US" altLang="zh-CN" sz="2800" dirty="0">
                    <a:solidFill>
                      <a:srgbClr val="006699"/>
                    </a:solidFill>
                    <a:latin typeface="Verdana" panose="020B0604030504040204" pitchFamily="34" charset="0"/>
                  </a:rPr>
                  <a:t>， </a:t>
                </a:r>
                <a:r>
                  <a:rPr lang="en-US" altLang="zh-CN" sz="2800" dirty="0" err="1">
                    <a:solidFill>
                      <a:srgbClr val="006699"/>
                    </a:solidFill>
                    <a:latin typeface="Verdana" panose="020B0604030504040204" pitchFamily="34" charset="0"/>
                  </a:rPr>
                  <a:t>剩下的</a:t>
                </a:r>
                <a14:m>
                  <m:oMath xmlns:m="http://schemas.openxmlformats.org/officeDocument/2006/math">
                    <m:r>
                      <a:rPr lang="en-US" altLang="zh-CN" sz="2800">
                        <a:solidFill>
                          <a:srgbClr val="006699"/>
                        </a:solidFill>
                        <a:latin typeface="Cambria Math" panose="02040503050406030204" pitchFamily="18" charset="0"/>
                      </a:rPr>
                      <m:t>𝑛</m:t>
                    </m:r>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1</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2</m:t>
                        </m:r>
                      </m:sub>
                    </m:sSub>
                  </m:oMath>
                </a14:m>
                <a:r>
                  <a:rPr lang="en-US" altLang="zh-CN" sz="2800" dirty="0">
                    <a:solidFill>
                      <a:srgbClr val="006699"/>
                    </a:solidFill>
                    <a:latin typeface="Verdana" panose="020B0604030504040204" pitchFamily="34" charset="0"/>
                  </a:rPr>
                  <a:t>次试验中</a:t>
                </a:r>
                <a:r>
                  <a:rPr lang="en-US" altLang="zh-CN" sz="2800" dirty="0">
                    <a:solidFill>
                      <a:srgbClr val="FF0000"/>
                    </a:solidFill>
                    <a:latin typeface="Verdana" panose="020B0604030504040204" pitchFamily="34" charset="0"/>
                  </a:rPr>
                  <a:t>结果3</a:t>
                </a:r>
                <a:r>
                  <a:rPr lang="en-US" altLang="zh-CN" sz="2800" dirty="0">
                    <a:solidFill>
                      <a:srgbClr val="006699"/>
                    </a:solidFill>
                    <a:latin typeface="Verdana" panose="020B0604030504040204" pitchFamily="34" charset="0"/>
                  </a:rPr>
                  <a:t>的出现次数</a:t>
                </a:r>
              </a:p>
              <a:p>
                <a:pPr>
                  <a:spcBef>
                    <a:spcPts val="900"/>
                  </a:spcBef>
                  <a:spcAft>
                    <a:spcPts val="900"/>
                  </a:spcAft>
                </a:pPr>
                <a:r>
                  <a:rPr lang="en-US" altLang="zh-CN" sz="2800" dirty="0" err="1">
                    <a:solidFill>
                      <a:srgbClr val="006699"/>
                    </a:solidFill>
                    <a:latin typeface="Verdana" panose="020B0604030504040204" pitchFamily="34" charset="0"/>
                  </a:rPr>
                  <a:t>服从</a:t>
                </a:r>
                <a:r>
                  <a:rPr lang="en-US" altLang="zh-CN" sz="2800" dirty="0">
                    <a:solidFill>
                      <a:srgbClr val="006699"/>
                    </a:solidFill>
                    <a:latin typeface="Verdana" panose="020B0604030504040204" pitchFamily="34" charset="0"/>
                  </a:rPr>
                  <a:t> </a:t>
                </a:r>
                <a:r>
                  <a:rPr lang="zh-CN" altLang="zh-CN" sz="2800" dirty="0">
                    <a:solidFill>
                      <a:srgbClr val="006699"/>
                    </a:solidFill>
                    <a:latin typeface="Verdana" panose="020B0604030504040204" pitchFamily="34" charset="0"/>
                  </a:rPr>
                  <a:t> </a:t>
                </a:r>
                <a14:m>
                  <m:oMath xmlns:m="http://schemas.openxmlformats.org/officeDocument/2006/math">
                    <m:r>
                      <m:rPr>
                        <m:nor/>
                      </m:rPr>
                      <a:rPr lang="en-US" altLang="zh-CN" sz="2800">
                        <a:solidFill>
                          <a:srgbClr val="006699"/>
                        </a:solidFill>
                        <a:latin typeface="Verdana" panose="020B0604030504040204" pitchFamily="34" charset="0"/>
                      </a:rPr>
                      <m:t>B</m:t>
                    </m:r>
                    <m:d>
                      <m:dPr>
                        <m:ctrlPr>
                          <a:rPr lang="zh-CN" altLang="zh-CN" sz="2800" i="1">
                            <a:solidFill>
                              <a:srgbClr val="006699"/>
                            </a:solidFill>
                            <a:latin typeface="Cambria Math" panose="02040503050406030204" pitchFamily="18" charset="0"/>
                          </a:rPr>
                        </m:ctrlPr>
                      </m:dPr>
                      <m:e>
                        <m:r>
                          <a:rPr lang="en-US" altLang="zh-CN" sz="2800">
                            <a:solidFill>
                              <a:srgbClr val="006699"/>
                            </a:solidFill>
                            <a:latin typeface="Cambria Math" panose="02040503050406030204" pitchFamily="18" charset="0"/>
                          </a:rPr>
                          <m:t>𝑛</m:t>
                        </m:r>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1</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2</m:t>
                            </m:r>
                          </m:sub>
                        </m:sSub>
                        <m:r>
                          <a:rPr lang="en-US" altLang="zh-CN" sz="2800">
                            <a:solidFill>
                              <a:srgbClr val="006699"/>
                            </a:solidFill>
                            <a:latin typeface="Cambria Math" panose="02040503050406030204" pitchFamily="18" charset="0"/>
                          </a:rPr>
                          <m:t>,</m:t>
                        </m:r>
                        <m:f>
                          <m:fPr>
                            <m:ctrlPr>
                              <a:rPr lang="zh-CN" altLang="zh-CN" sz="2800" i="1">
                                <a:solidFill>
                                  <a:srgbClr val="006699"/>
                                </a:solidFill>
                                <a:latin typeface="Cambria Math" panose="02040503050406030204" pitchFamily="18" charset="0"/>
                              </a:rPr>
                            </m:ctrlPr>
                          </m:fPr>
                          <m:num>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𝑝</m:t>
                                </m:r>
                              </m:e>
                              <m:sub>
                                <m:r>
                                  <a:rPr lang="en-US" altLang="zh-CN" sz="2800">
                                    <a:solidFill>
                                      <a:srgbClr val="006699"/>
                                    </a:solidFill>
                                    <a:latin typeface="Cambria Math" panose="02040503050406030204" pitchFamily="18" charset="0"/>
                                  </a:rPr>
                                  <m:t>3</m:t>
                                </m:r>
                              </m:sub>
                            </m:sSub>
                          </m:num>
                          <m:den>
                            <m:r>
                              <a:rPr lang="en-US" altLang="zh-CN" sz="2800">
                                <a:solidFill>
                                  <a:srgbClr val="006699"/>
                                </a:solidFill>
                                <a:latin typeface="Cambria Math" panose="02040503050406030204" pitchFamily="18" charset="0"/>
                              </a:rPr>
                              <m:t>1−</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𝑝</m:t>
                                </m:r>
                              </m:e>
                              <m:sub>
                                <m:r>
                                  <a:rPr lang="en-US" altLang="zh-CN" sz="2800">
                                    <a:solidFill>
                                      <a:srgbClr val="006699"/>
                                    </a:solidFill>
                                    <a:latin typeface="Cambria Math" panose="02040503050406030204" pitchFamily="18" charset="0"/>
                                  </a:rPr>
                                  <m:t>1</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𝑝</m:t>
                                </m:r>
                              </m:e>
                              <m:sub>
                                <m:r>
                                  <a:rPr lang="en-US" altLang="zh-CN" sz="2800">
                                    <a:solidFill>
                                      <a:srgbClr val="006699"/>
                                    </a:solidFill>
                                    <a:latin typeface="Cambria Math" panose="02040503050406030204" pitchFamily="18" charset="0"/>
                                  </a:rPr>
                                  <m:t>2</m:t>
                                </m:r>
                              </m:sub>
                            </m:sSub>
                          </m:den>
                        </m:f>
                      </m:e>
                    </m:d>
                  </m:oMath>
                </a14:m>
                <a:r>
                  <a:rPr lang="en-US" altLang="zh-CN" sz="2800" dirty="0" err="1">
                    <a:solidFill>
                      <a:srgbClr val="006699"/>
                    </a:solidFill>
                    <a:latin typeface="Verdana" panose="020B0604030504040204" pitchFamily="34" charset="0"/>
                  </a:rPr>
                  <a:t>分布</a:t>
                </a:r>
                <a:r>
                  <a:rPr lang="en-US" altLang="zh-CN" sz="2800" dirty="0">
                    <a:solidFill>
                      <a:srgbClr val="006699"/>
                    </a:solidFill>
                    <a:latin typeface="Verdana" panose="020B0604030504040204" pitchFamily="34" charset="0"/>
                  </a:rPr>
                  <a:t>， </a:t>
                </a:r>
              </a:p>
              <a:p>
                <a:pPr>
                  <a:spcBef>
                    <a:spcPts val="900"/>
                  </a:spcBef>
                  <a:spcAft>
                    <a:spcPts val="900"/>
                  </a:spcAft>
                </a:pPr>
                <a:r>
                  <a:rPr lang="en-US" altLang="zh-CN" sz="2800" dirty="0" err="1">
                    <a:solidFill>
                      <a:srgbClr val="006699"/>
                    </a:solidFill>
                    <a:latin typeface="Verdana" panose="020B0604030504040204" pitchFamily="34" charset="0"/>
                  </a:rPr>
                  <a:t>从这个条件分布中抽取</a:t>
                </a: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𝑋</m:t>
                        </m:r>
                      </m:e>
                      <m:sub>
                        <m:r>
                          <a:rPr lang="en-US" altLang="zh-CN" sz="2800">
                            <a:solidFill>
                              <a:srgbClr val="006699"/>
                            </a:solidFill>
                            <a:latin typeface="Cambria Math" panose="02040503050406030204" pitchFamily="18" charset="0"/>
                          </a:rPr>
                          <m:t>3</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3</m:t>
                        </m:r>
                      </m:sub>
                    </m:sSub>
                  </m:oMath>
                </a14:m>
                <a:r>
                  <a:rPr lang="en-US" altLang="zh-CN" sz="2800" dirty="0">
                    <a:solidFill>
                      <a:srgbClr val="006699"/>
                    </a:solidFill>
                    <a:latin typeface="Verdana" panose="020B0604030504040204" pitchFamily="34" charset="0"/>
                  </a:rPr>
                  <a:t>， </a:t>
                </a:r>
              </a:p>
              <a:p>
                <a:pPr>
                  <a:spcBef>
                    <a:spcPts val="900"/>
                  </a:spcBef>
                  <a:spcAft>
                    <a:spcPts val="900"/>
                  </a:spcAft>
                </a:pPr>
                <a:endParaRPr lang="zh-CN" altLang="zh-CN" sz="2800" dirty="0">
                  <a:solidFill>
                    <a:srgbClr val="006699"/>
                  </a:solidFill>
                  <a:latin typeface="Verdana" panose="020B0604030504040204" pitchFamily="34" charset="0"/>
                </a:endParaRPr>
              </a:p>
              <a:p>
                <a:pPr marL="457200" indent="-457200">
                  <a:spcBef>
                    <a:spcPts val="900"/>
                  </a:spcBef>
                  <a:spcAft>
                    <a:spcPts val="900"/>
                  </a:spcAft>
                  <a:buFont typeface="Wingdings" panose="05000000000000000000" pitchFamily="2" charset="2"/>
                  <a:buChar char="l"/>
                </a:pPr>
                <a:r>
                  <a:rPr lang="en-US" altLang="zh-CN" sz="2800" dirty="0" err="1">
                    <a:solidFill>
                      <a:srgbClr val="006699"/>
                    </a:solidFill>
                    <a:latin typeface="Verdana" panose="020B0604030504040204" pitchFamily="34" charset="0"/>
                  </a:rPr>
                  <a:t>如此重复可以产生多项分布</a:t>
                </a:r>
                <a14:m>
                  <m:oMath xmlns:m="http://schemas.openxmlformats.org/officeDocument/2006/math">
                    <m:r>
                      <a:rPr lang="en-US" altLang="zh-CN" sz="2800">
                        <a:solidFill>
                          <a:srgbClr val="006699"/>
                        </a:solidFill>
                        <a:latin typeface="Cambria Math" panose="02040503050406030204" pitchFamily="18" charset="0"/>
                      </a:rPr>
                      <m:t>𝐗</m:t>
                    </m:r>
                  </m:oMath>
                </a14:m>
                <a:r>
                  <a:rPr lang="en-US" altLang="zh-CN" sz="2800" dirty="0" err="1">
                    <a:solidFill>
                      <a:srgbClr val="006699"/>
                    </a:solidFill>
                    <a:latin typeface="Verdana" panose="020B0604030504040204" pitchFamily="34" charset="0"/>
                  </a:rPr>
                  <a:t>的随机数</a:t>
                </a:r>
                <a:r>
                  <a:rPr lang="en-US" altLang="zh-CN" sz="2800" dirty="0">
                    <a:solidFill>
                      <a:srgbClr val="006699"/>
                    </a:solidFill>
                    <a:latin typeface="Verdana" panose="020B0604030504040204" pitchFamily="34" charset="0"/>
                  </a:rPr>
                  <a:t>(</a:t>
                </a:r>
                <a14:m>
                  <m:oMath xmlns:m="http://schemas.openxmlformats.org/officeDocument/2006/math">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1</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2</m:t>
                        </m:r>
                      </m:sub>
                    </m:sSub>
                    <m:r>
                      <a:rPr lang="en-US" altLang="zh-CN" sz="2800">
                        <a:solidFill>
                          <a:srgbClr val="006699"/>
                        </a:solidFill>
                        <a:latin typeface="Cambria Math" panose="02040503050406030204" pitchFamily="18" charset="0"/>
                      </a:rPr>
                      <m:t>,…,</m:t>
                    </m:r>
                    <m:sSub>
                      <m:sSubPr>
                        <m:ctrlPr>
                          <a:rPr lang="zh-CN" altLang="zh-CN" sz="2800" i="1">
                            <a:solidFill>
                              <a:srgbClr val="006699"/>
                            </a:solidFill>
                            <a:latin typeface="Cambria Math" panose="02040503050406030204" pitchFamily="18" charset="0"/>
                          </a:rPr>
                        </m:ctrlPr>
                      </m:sSubPr>
                      <m:e>
                        <m:r>
                          <a:rPr lang="en-US" altLang="zh-CN" sz="2800">
                            <a:solidFill>
                              <a:srgbClr val="006699"/>
                            </a:solidFill>
                            <a:latin typeface="Cambria Math" panose="02040503050406030204" pitchFamily="18" charset="0"/>
                          </a:rPr>
                          <m:t>𝑥</m:t>
                        </m:r>
                      </m:e>
                      <m:sub>
                        <m:r>
                          <a:rPr lang="en-US" altLang="zh-CN" sz="2800">
                            <a:solidFill>
                              <a:srgbClr val="006699"/>
                            </a:solidFill>
                            <a:latin typeface="Cambria Math" panose="02040503050406030204" pitchFamily="18" charset="0"/>
                          </a:rPr>
                          <m:t>𝑟</m:t>
                        </m:r>
                      </m:sub>
                    </m:sSub>
                  </m:oMath>
                </a14:m>
                <a:r>
                  <a:rPr lang="en-US" altLang="zh-CN" sz="2800" dirty="0">
                    <a:solidFill>
                      <a:srgbClr val="006699"/>
                    </a:solidFill>
                    <a:latin typeface="Verdana" panose="020B0604030504040204" pitchFamily="34" charset="0"/>
                  </a:rPr>
                  <a:t>)。</a:t>
                </a:r>
                <a:endParaRPr lang="zh-CN" altLang="zh-CN" sz="2800" dirty="0">
                  <a:solidFill>
                    <a:srgbClr val="006699"/>
                  </a:solidFill>
                  <a:latin typeface="Verdana" panose="020B0604030504040204" pitchFamily="34" charset="0"/>
                </a:endParaRPr>
              </a:p>
              <a:p>
                <a:pPr>
                  <a:spcBef>
                    <a:spcPts val="900"/>
                  </a:spcBef>
                  <a:spcAft>
                    <a:spcPts val="900"/>
                  </a:spcAft>
                </a:pPr>
                <a:endParaRPr lang="zh-CN" altLang="zh-CN" sz="2400" dirty="0">
                  <a:effectLst/>
                  <a:latin typeface="Aptos" panose="020B0004020202020204" pitchFamily="34" charset="0"/>
                  <a:ea typeface="等线" panose="02010600030101010101" pitchFamily="2" charset="-122"/>
                  <a:cs typeface="Times New Roman" panose="02020603050405020304" pitchFamily="18" charset="0"/>
                </a:endParaRPr>
              </a:p>
            </p:txBody>
          </p:sp>
        </mc:Choice>
        <mc:Fallback>
          <p:sp>
            <p:nvSpPr>
              <p:cNvPr id="3" name="文本框 2">
                <a:extLst>
                  <a:ext uri="{FF2B5EF4-FFF2-40B4-BE49-F238E27FC236}">
                    <a16:creationId xmlns:a16="http://schemas.microsoft.com/office/drawing/2014/main" id="{28B8FE2C-1CC8-E426-8328-F293BB1A8DEE}"/>
                  </a:ext>
                </a:extLst>
              </p:cNvPr>
              <p:cNvSpPr txBox="1">
                <a:spLocks noRot="1" noChangeAspect="1" noMove="1" noResize="1" noEditPoints="1" noAdjustHandles="1" noChangeArrowheads="1" noChangeShapeType="1" noTextEdit="1"/>
              </p:cNvSpPr>
              <p:nvPr/>
            </p:nvSpPr>
            <p:spPr>
              <a:xfrm>
                <a:off x="0" y="2033845"/>
                <a:ext cx="9144000" cy="4101316"/>
              </a:xfrm>
              <a:prstGeom prst="rect">
                <a:avLst/>
              </a:prstGeom>
              <a:blipFill>
                <a:blip r:embed="rId2"/>
                <a:stretch>
                  <a:fillRect l="-1333" t="-1935" r="-1000"/>
                </a:stretch>
              </a:blipFill>
              <a:ln w="25400">
                <a:noFill/>
              </a:ln>
            </p:spPr>
            <p:txBody>
              <a:bodyPr/>
              <a:lstStyle/>
              <a:p>
                <a:r>
                  <a:rPr lang="zh-CN" altLang="en-US">
                    <a:noFill/>
                  </a:rPr>
                  <a:t> </a:t>
                </a:r>
              </a:p>
            </p:txBody>
          </p:sp>
        </mc:Fallback>
      </mc:AlternateContent>
    </p:spTree>
    <p:extLst>
      <p:ext uri="{BB962C8B-B14F-4D97-AF65-F5344CB8AC3E}">
        <p14:creationId xmlns:p14="http://schemas.microsoft.com/office/powerpoint/2010/main" val="16331284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2.4 </a:t>
            </a:r>
            <a:r>
              <a:rPr lang="zh-CN" altLang="en-US" dirty="0"/>
              <a:t>随机向量的产生</a:t>
            </a:r>
          </a:p>
        </p:txBody>
      </p:sp>
      <mc:AlternateContent xmlns:mc="http://schemas.openxmlformats.org/markup-compatibility/2006" xmlns:a14="http://schemas.microsoft.com/office/drawing/2010/main">
        <mc:Choice Requires="a14">
          <p:sp>
            <p:nvSpPr>
              <p:cNvPr id="32771" name="矩形 2">
                <a:extLst>
                  <a:ext uri="{FF2B5EF4-FFF2-40B4-BE49-F238E27FC236}">
                    <a16:creationId xmlns:a16="http://schemas.microsoft.com/office/drawing/2014/main" id="{B731BE61-7118-4693-9D37-9B3F32F84AAF}"/>
                  </a:ext>
                </a:extLst>
              </p:cNvPr>
              <p:cNvSpPr>
                <a:spLocks noChangeArrowheads="1"/>
              </p:cNvSpPr>
              <p:nvPr/>
            </p:nvSpPr>
            <p:spPr bwMode="auto">
              <a:xfrm>
                <a:off x="-17893" y="1757949"/>
                <a:ext cx="9144000" cy="17666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3200" dirty="0">
                    <a:solidFill>
                      <a:srgbClr val="006699"/>
                    </a:solidFill>
                    <a:latin typeface="Verdana" panose="020B0604030504040204" pitchFamily="34" charset="0"/>
                  </a:rPr>
                  <a:t>设随机向量</a:t>
                </a:r>
                <a:r>
                  <a:rPr lang="en-US" altLang="zh-CN" sz="3200" dirty="0">
                    <a:solidFill>
                      <a:srgbClr val="006699"/>
                    </a:solidFill>
                    <a:latin typeface="Verdana" panose="020B0604030504040204" pitchFamily="34" charset="0"/>
                  </a:rPr>
                  <a:t>X=(X</a:t>
                </a:r>
                <a:r>
                  <a:rPr lang="en-US" altLang="zh-CN" sz="3200" baseline="-25000" dirty="0">
                    <a:solidFill>
                      <a:srgbClr val="006699"/>
                    </a:solidFill>
                    <a:latin typeface="Verdana" panose="020B0604030504040204" pitchFamily="34" charset="0"/>
                  </a:rPr>
                  <a:t>1</a:t>
                </a:r>
                <a:r>
                  <a:rPr lang="en-US" altLang="zh-CN" sz="3200" dirty="0">
                    <a:solidFill>
                      <a:srgbClr val="006699"/>
                    </a:solidFill>
                    <a:latin typeface="Verdana" panose="020B0604030504040204" pitchFamily="34" charset="0"/>
                  </a:rPr>
                  <a:t>,X</a:t>
                </a:r>
                <a:r>
                  <a:rPr lang="en-US" altLang="zh-CN" sz="3200" baseline="-25000" dirty="0">
                    <a:solidFill>
                      <a:srgbClr val="006699"/>
                    </a:solidFill>
                    <a:latin typeface="Verdana" panose="020B0604030504040204" pitchFamily="34" charset="0"/>
                  </a:rPr>
                  <a:t>2</a:t>
                </a:r>
                <a:r>
                  <a:rPr lang="en-US" altLang="zh-CN" sz="3200" dirty="0">
                    <a:solidFill>
                      <a:srgbClr val="006699"/>
                    </a:solidFill>
                    <a:latin typeface="Verdana" panose="020B0604030504040204" pitchFamily="34" charset="0"/>
                  </a:rPr>
                  <a:t>,…,</a:t>
                </a:r>
                <a:r>
                  <a:rPr lang="en-US" altLang="zh-CN" sz="3200" dirty="0" err="1">
                    <a:solidFill>
                      <a:srgbClr val="006699"/>
                    </a:solidFill>
                    <a:latin typeface="Verdana" panose="020B0604030504040204" pitchFamily="34" charset="0"/>
                  </a:rPr>
                  <a:t>X</a:t>
                </a:r>
                <a:r>
                  <a:rPr lang="en-US" altLang="zh-CN" sz="3200" baseline="-25000" dirty="0" err="1">
                    <a:solidFill>
                      <a:srgbClr val="006699"/>
                    </a:solidFill>
                    <a:latin typeface="Verdana" panose="020B0604030504040204" pitchFamily="34" charset="0"/>
                  </a:rPr>
                  <a:t>p</a:t>
                </a:r>
                <a:r>
                  <a:rPr lang="en-US" altLang="zh-CN" sz="3200" dirty="0">
                    <a:solidFill>
                      <a:srgbClr val="006699"/>
                    </a:solidFill>
                    <a:latin typeface="Verdana" panose="020B0604030504040204" pitchFamily="34" charset="0"/>
                  </a:rPr>
                  <a:t>)</a:t>
                </a:r>
                <a:r>
                  <a:rPr lang="en-US" altLang="zh-CN" sz="3200" baseline="30000" dirty="0">
                    <a:solidFill>
                      <a:srgbClr val="006699"/>
                    </a:solidFill>
                    <a:latin typeface="Verdana" panose="020B0604030504040204" pitchFamily="34" charset="0"/>
                  </a:rPr>
                  <a:t>T</a:t>
                </a:r>
                <a:r>
                  <a:rPr lang="zh-CN" altLang="en-US" sz="3200" dirty="0">
                    <a:solidFill>
                      <a:srgbClr val="006699"/>
                    </a:solidFill>
                    <a:latin typeface="Verdana" panose="020B0604030504040204" pitchFamily="34" charset="0"/>
                  </a:rPr>
                  <a:t>服从</a:t>
                </a:r>
                <a14:m>
                  <m:oMath xmlns:m="http://schemas.openxmlformats.org/officeDocument/2006/math">
                    <m:r>
                      <m:rPr>
                        <m:nor/>
                      </m:rPr>
                      <a:rPr lang="en-US" altLang="zh-CN" sz="3200">
                        <a:solidFill>
                          <a:srgbClr val="006699"/>
                        </a:solidFill>
                        <a:latin typeface="Verdana" panose="020B0604030504040204" pitchFamily="34" charset="0"/>
                      </a:rPr>
                      <m:t>N</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𝛍</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𝛴</m:t>
                        </m:r>
                      </m:e>
                    </m:d>
                  </m:oMath>
                </a14:m>
                <a:endParaRPr lang="en-US" altLang="zh-CN" sz="3200" dirty="0">
                  <a:solidFill>
                    <a:srgbClr val="006699"/>
                  </a:solidFill>
                  <a:latin typeface="Verdana" panose="020B0604030504040204" pitchFamily="34" charset="0"/>
                </a:endParaRPr>
              </a:p>
              <a:p>
                <a:pPr eaLnBrk="1" hangingPunct="1">
                  <a:spcBef>
                    <a:spcPct val="20000"/>
                  </a:spcBef>
                  <a:buFontTx/>
                  <a:buChar char="•"/>
                </a:pPr>
                <a:endParaRPr lang="en-US" altLang="zh-CN" sz="3200" dirty="0">
                  <a:solidFill>
                    <a:srgbClr val="006699"/>
                  </a:solidFill>
                  <a:latin typeface="Verdana" panose="020B0604030504040204" pitchFamily="34" charset="0"/>
                </a:endParaRPr>
              </a:p>
              <a:p>
                <a:pPr eaLnBrk="1" hangingPunct="1">
                  <a:spcBef>
                    <a:spcPct val="20000"/>
                  </a:spcBef>
                  <a:buFontTx/>
                  <a:buChar char="•"/>
                </a:pPr>
                <a:r>
                  <a:rPr lang="zh-CN" altLang="en-US" sz="3200" dirty="0">
                    <a:solidFill>
                      <a:srgbClr val="006699"/>
                    </a:solidFill>
                    <a:latin typeface="Verdana" panose="020B0604030504040204" pitchFamily="34" charset="0"/>
                  </a:rPr>
                  <a:t>联合密度函数为</a:t>
                </a:r>
                <a:endParaRPr lang="en-US" altLang="zh-CN" sz="3200" dirty="0">
                  <a:solidFill>
                    <a:srgbClr val="006699"/>
                  </a:solidFill>
                  <a:latin typeface="Verdana" panose="020B0604030504040204" pitchFamily="34" charset="0"/>
                </a:endParaRPr>
              </a:p>
            </p:txBody>
          </p:sp>
        </mc:Choice>
        <mc:Fallback xmlns="">
          <p:sp>
            <p:nvSpPr>
              <p:cNvPr id="32771" name="矩形 2">
                <a:extLst>
                  <a:ext uri="{FF2B5EF4-FFF2-40B4-BE49-F238E27FC236}">
                    <a16:creationId xmlns:a16="http://schemas.microsoft.com/office/drawing/2014/main" id="{B731BE61-7118-4693-9D37-9B3F32F84AAF}"/>
                  </a:ext>
                </a:extLst>
              </p:cNvPr>
              <p:cNvSpPr>
                <a:spLocks noRot="1" noChangeAspect="1" noMove="1" noResize="1" noEditPoints="1" noAdjustHandles="1" noChangeArrowheads="1" noChangeShapeType="1" noTextEdit="1"/>
              </p:cNvSpPr>
              <p:nvPr/>
            </p:nvSpPr>
            <p:spPr bwMode="auto">
              <a:xfrm>
                <a:off x="-17893" y="1757949"/>
                <a:ext cx="9144000" cy="1766637"/>
              </a:xfrm>
              <a:prstGeom prst="rect">
                <a:avLst/>
              </a:prstGeom>
              <a:blipFill>
                <a:blip r:embed="rId2"/>
                <a:stretch>
                  <a:fillRect l="-1733" t="-5517" b="-110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F335FD1-8F4B-755F-FE03-7E422E93141B}"/>
                  </a:ext>
                </a:extLst>
              </p:cNvPr>
              <p:cNvSpPr txBox="1"/>
              <p:nvPr/>
            </p:nvSpPr>
            <p:spPr>
              <a:xfrm>
                <a:off x="162127" y="3699030"/>
                <a:ext cx="8333910" cy="1190839"/>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3200" i="1" smtClean="0">
                              <a:solidFill>
                                <a:srgbClr val="006699"/>
                              </a:solidFill>
                              <a:latin typeface="Cambria Math" panose="02040503050406030204" pitchFamily="18" charset="0"/>
                            </a:rPr>
                          </m:ctrlPr>
                        </m:mPr>
                        <m:mr>
                          <m:e>
                            <m:r>
                              <a:rPr lang="zh-CN" altLang="en-US" sz="3200">
                                <a:solidFill>
                                  <a:srgbClr val="006699"/>
                                </a:solidFill>
                                <a:latin typeface="Cambria Math" panose="02040503050406030204" pitchFamily="18" charset="0"/>
                              </a:rPr>
                              <m:t>𝑝</m:t>
                            </m:r>
                            <m:d>
                              <m:dPr>
                                <m:ctrlPr>
                                  <a:rPr lang="zh-CN" altLang="en-US" sz="3200" i="1">
                                    <a:solidFill>
                                      <a:srgbClr val="006699"/>
                                    </a:solidFill>
                                    <a:latin typeface="Cambria Math" panose="02040503050406030204" pitchFamily="18" charset="0"/>
                                  </a:rPr>
                                </m:ctrlPr>
                              </m:dPr>
                              <m:e>
                                <m:r>
                                  <a:rPr lang="zh-CN" altLang="en-US" sz="3200">
                                    <a:solidFill>
                                      <a:srgbClr val="006699"/>
                                    </a:solidFill>
                                    <a:latin typeface="Cambria Math" panose="02040503050406030204" pitchFamily="18" charset="0"/>
                                  </a:rPr>
                                  <m:t>𝐱</m:t>
                                </m:r>
                              </m:e>
                            </m:d>
                            <m:r>
                              <a:rPr lang="zh-CN" altLang="en-US" sz="3200">
                                <a:solidFill>
                                  <a:srgbClr val="006699"/>
                                </a:solidFill>
                                <a:latin typeface="Cambria Math" panose="02040503050406030204" pitchFamily="18" charset="0"/>
                              </a:rPr>
                              <m:t>=</m:t>
                            </m:r>
                            <m:sSup>
                              <m:sSupPr>
                                <m:ctrlPr>
                                  <a:rPr lang="zh-CN" altLang="en-US" sz="3200" i="1">
                                    <a:solidFill>
                                      <a:srgbClr val="006699"/>
                                    </a:solidFill>
                                    <a:latin typeface="Cambria Math" panose="02040503050406030204" pitchFamily="18" charset="0"/>
                                  </a:rPr>
                                </m:ctrlPr>
                              </m:sSupPr>
                              <m:e>
                                <m:d>
                                  <m:dPr>
                                    <m:ctrlPr>
                                      <a:rPr lang="zh-CN" altLang="en-US" sz="3200" i="1">
                                        <a:solidFill>
                                          <a:srgbClr val="006699"/>
                                        </a:solidFill>
                                        <a:latin typeface="Cambria Math" panose="02040503050406030204" pitchFamily="18" charset="0"/>
                                      </a:rPr>
                                    </m:ctrlPr>
                                  </m:dPr>
                                  <m:e>
                                    <m:r>
                                      <a:rPr lang="zh-CN" altLang="en-US" sz="3200">
                                        <a:solidFill>
                                          <a:srgbClr val="006699"/>
                                        </a:solidFill>
                                        <a:latin typeface="Cambria Math" panose="02040503050406030204" pitchFamily="18" charset="0"/>
                                      </a:rPr>
                                      <m:t>2</m:t>
                                    </m:r>
                                    <m:r>
                                      <a:rPr lang="zh-CN" altLang="en-US" sz="3200">
                                        <a:solidFill>
                                          <a:srgbClr val="006699"/>
                                        </a:solidFill>
                                        <a:latin typeface="Cambria Math" panose="02040503050406030204" pitchFamily="18" charset="0"/>
                                      </a:rPr>
                                      <m:t>𝜋</m:t>
                                    </m:r>
                                  </m:e>
                                </m:d>
                              </m:e>
                              <m:sup>
                                <m:r>
                                  <a:rPr lang="zh-CN" altLang="en-US" sz="3200">
                                    <a:solidFill>
                                      <a:srgbClr val="006699"/>
                                    </a:solidFill>
                                    <a:latin typeface="Cambria Math" panose="02040503050406030204" pitchFamily="18" charset="0"/>
                                  </a:rPr>
                                  <m:t>−</m:t>
                                </m:r>
                                <m:f>
                                  <m:fPr>
                                    <m:ctrlPr>
                                      <a:rPr lang="zh-CN" altLang="en-US" sz="3200" i="1">
                                        <a:solidFill>
                                          <a:srgbClr val="006699"/>
                                        </a:solidFill>
                                        <a:latin typeface="Cambria Math" panose="02040503050406030204" pitchFamily="18" charset="0"/>
                                      </a:rPr>
                                    </m:ctrlPr>
                                  </m:fPr>
                                  <m:num>
                                    <m:r>
                                      <a:rPr lang="zh-CN" altLang="en-US" sz="3200">
                                        <a:solidFill>
                                          <a:srgbClr val="006699"/>
                                        </a:solidFill>
                                        <a:latin typeface="Cambria Math" panose="02040503050406030204" pitchFamily="18" charset="0"/>
                                      </a:rPr>
                                      <m:t>𝑝</m:t>
                                    </m:r>
                                  </m:num>
                                  <m:den>
                                    <m:r>
                                      <a:rPr lang="zh-CN" altLang="en-US" sz="3200">
                                        <a:solidFill>
                                          <a:srgbClr val="006699"/>
                                        </a:solidFill>
                                        <a:latin typeface="Cambria Math" panose="02040503050406030204" pitchFamily="18" charset="0"/>
                                      </a:rPr>
                                      <m:t>2</m:t>
                                    </m:r>
                                  </m:den>
                                </m:f>
                              </m:sup>
                            </m:sSup>
                            <m:sSup>
                              <m:sSupPr>
                                <m:ctrlPr>
                                  <a:rPr lang="zh-CN" altLang="en-US" sz="3200" i="1">
                                    <a:solidFill>
                                      <a:srgbClr val="006699"/>
                                    </a:solidFill>
                                    <a:latin typeface="Cambria Math" panose="02040503050406030204" pitchFamily="18" charset="0"/>
                                  </a:rPr>
                                </m:ctrlPr>
                              </m:sSupPr>
                              <m:e>
                                <m:d>
                                  <m:dPr>
                                    <m:begChr m:val="|"/>
                                    <m:endChr m:val="|"/>
                                    <m:ctrlPr>
                                      <a:rPr lang="zh-CN" altLang="en-US" sz="3200" i="1">
                                        <a:solidFill>
                                          <a:srgbClr val="006699"/>
                                        </a:solidFill>
                                        <a:latin typeface="Cambria Math" panose="02040503050406030204" pitchFamily="18" charset="0"/>
                                      </a:rPr>
                                    </m:ctrlPr>
                                  </m:dPr>
                                  <m:e>
                                    <m:r>
                                      <a:rPr lang="zh-CN" altLang="en-US" sz="3200">
                                        <a:solidFill>
                                          <a:srgbClr val="006699"/>
                                        </a:solidFill>
                                        <a:latin typeface="Cambria Math" panose="02040503050406030204" pitchFamily="18" charset="0"/>
                                      </a:rPr>
                                      <m:t>𝛴</m:t>
                                    </m:r>
                                  </m:e>
                                </m:d>
                              </m:e>
                              <m:sup>
                                <m:r>
                                  <a:rPr lang="zh-CN" altLang="en-US" sz="3200">
                                    <a:solidFill>
                                      <a:srgbClr val="006699"/>
                                    </a:solidFill>
                                    <a:latin typeface="Cambria Math" panose="02040503050406030204" pitchFamily="18" charset="0"/>
                                  </a:rPr>
                                  <m:t>−</m:t>
                                </m:r>
                                <m:f>
                                  <m:fPr>
                                    <m:ctrlPr>
                                      <a:rPr lang="zh-CN" altLang="en-US" sz="3200" i="1">
                                        <a:solidFill>
                                          <a:srgbClr val="006699"/>
                                        </a:solidFill>
                                        <a:latin typeface="Cambria Math" panose="02040503050406030204" pitchFamily="18" charset="0"/>
                                      </a:rPr>
                                    </m:ctrlPr>
                                  </m:fPr>
                                  <m:num>
                                    <m:r>
                                      <a:rPr lang="zh-CN" altLang="en-US" sz="3200">
                                        <a:solidFill>
                                          <a:srgbClr val="006699"/>
                                        </a:solidFill>
                                        <a:latin typeface="Cambria Math" panose="02040503050406030204" pitchFamily="18" charset="0"/>
                                      </a:rPr>
                                      <m:t>1</m:t>
                                    </m:r>
                                  </m:num>
                                  <m:den>
                                    <m:r>
                                      <a:rPr lang="zh-CN" altLang="en-US" sz="3200">
                                        <a:solidFill>
                                          <a:srgbClr val="006699"/>
                                        </a:solidFill>
                                        <a:latin typeface="Cambria Math" panose="02040503050406030204" pitchFamily="18" charset="0"/>
                                      </a:rPr>
                                      <m:t>2</m:t>
                                    </m:r>
                                  </m:den>
                                </m:f>
                              </m:sup>
                            </m:sSup>
                            <m:r>
                              <m:rPr>
                                <m:sty m:val="p"/>
                              </m:rPr>
                              <a:rPr lang="zh-CN" altLang="en-US" sz="3200">
                                <a:solidFill>
                                  <a:srgbClr val="006699"/>
                                </a:solidFill>
                                <a:latin typeface="Cambria Math" panose="02040503050406030204" pitchFamily="18" charset="0"/>
                              </a:rPr>
                              <m:t>exp</m:t>
                            </m:r>
                            <m:d>
                              <m:dPr>
                                <m:begChr m:val="{"/>
                                <m:endChr m:val="}"/>
                                <m:ctrlPr>
                                  <a:rPr lang="zh-CN" altLang="en-US" sz="3200" i="1">
                                    <a:solidFill>
                                      <a:srgbClr val="006699"/>
                                    </a:solidFill>
                                    <a:latin typeface="Cambria Math" panose="02040503050406030204" pitchFamily="18" charset="0"/>
                                  </a:rPr>
                                </m:ctrlPr>
                              </m:dPr>
                              <m:e>
                                <m:r>
                                  <a:rPr lang="zh-CN" altLang="en-US" sz="3200">
                                    <a:solidFill>
                                      <a:srgbClr val="006699"/>
                                    </a:solidFill>
                                    <a:latin typeface="Cambria Math" panose="02040503050406030204" pitchFamily="18" charset="0"/>
                                  </a:rPr>
                                  <m:t>−</m:t>
                                </m:r>
                                <m:f>
                                  <m:fPr>
                                    <m:ctrlPr>
                                      <a:rPr lang="zh-CN" altLang="en-US" sz="3200" i="1">
                                        <a:solidFill>
                                          <a:srgbClr val="006699"/>
                                        </a:solidFill>
                                        <a:latin typeface="Cambria Math" panose="02040503050406030204" pitchFamily="18" charset="0"/>
                                      </a:rPr>
                                    </m:ctrlPr>
                                  </m:fPr>
                                  <m:num>
                                    <m:r>
                                      <a:rPr lang="zh-CN" altLang="en-US" sz="3200">
                                        <a:solidFill>
                                          <a:srgbClr val="006699"/>
                                        </a:solidFill>
                                        <a:latin typeface="Cambria Math" panose="02040503050406030204" pitchFamily="18" charset="0"/>
                                      </a:rPr>
                                      <m:t>1</m:t>
                                    </m:r>
                                  </m:num>
                                  <m:den>
                                    <m:r>
                                      <a:rPr lang="zh-CN" altLang="en-US" sz="3200">
                                        <a:solidFill>
                                          <a:srgbClr val="006699"/>
                                        </a:solidFill>
                                        <a:latin typeface="Cambria Math" panose="02040503050406030204" pitchFamily="18" charset="0"/>
                                      </a:rPr>
                                      <m:t>2</m:t>
                                    </m:r>
                                  </m:den>
                                </m:f>
                                <m:sSup>
                                  <m:sSupPr>
                                    <m:ctrlPr>
                                      <a:rPr lang="zh-CN" altLang="en-US" sz="3200" i="1">
                                        <a:solidFill>
                                          <a:srgbClr val="006699"/>
                                        </a:solidFill>
                                        <a:latin typeface="Cambria Math" panose="02040503050406030204" pitchFamily="18" charset="0"/>
                                      </a:rPr>
                                    </m:ctrlPr>
                                  </m:sSupPr>
                                  <m:e>
                                    <m:d>
                                      <m:dPr>
                                        <m:ctrlPr>
                                          <a:rPr lang="zh-CN" altLang="en-US" sz="3200" i="1">
                                            <a:solidFill>
                                              <a:srgbClr val="006699"/>
                                            </a:solidFill>
                                            <a:latin typeface="Cambria Math" panose="02040503050406030204" pitchFamily="18" charset="0"/>
                                          </a:rPr>
                                        </m:ctrlPr>
                                      </m:dPr>
                                      <m:e>
                                        <m:r>
                                          <a:rPr lang="zh-CN" altLang="en-US" sz="3200">
                                            <a:solidFill>
                                              <a:srgbClr val="006699"/>
                                            </a:solidFill>
                                            <a:latin typeface="Cambria Math" panose="02040503050406030204" pitchFamily="18" charset="0"/>
                                          </a:rPr>
                                          <m:t>𝐱</m:t>
                                        </m:r>
                                        <m:r>
                                          <a:rPr lang="zh-CN" altLang="en-US" sz="3200">
                                            <a:solidFill>
                                              <a:srgbClr val="006699"/>
                                            </a:solidFill>
                                            <a:latin typeface="Cambria Math" panose="02040503050406030204" pitchFamily="18" charset="0"/>
                                          </a:rPr>
                                          <m:t>−</m:t>
                                        </m:r>
                                        <m:r>
                                          <a:rPr lang="zh-CN" altLang="en-US" sz="3200">
                                            <a:solidFill>
                                              <a:srgbClr val="006699"/>
                                            </a:solidFill>
                                            <a:latin typeface="Cambria Math" panose="02040503050406030204" pitchFamily="18" charset="0"/>
                                          </a:rPr>
                                          <m:t>𝛍</m:t>
                                        </m:r>
                                      </m:e>
                                    </m:d>
                                  </m:e>
                                  <m:sup>
                                    <m:r>
                                      <a:rPr lang="zh-CN" altLang="en-US" sz="3200">
                                        <a:solidFill>
                                          <a:srgbClr val="006699"/>
                                        </a:solidFill>
                                        <a:latin typeface="Cambria Math" panose="02040503050406030204" pitchFamily="18" charset="0"/>
                                      </a:rPr>
                                      <m:t>𝑇</m:t>
                                    </m:r>
                                  </m:sup>
                                </m:sSup>
                                <m:sSup>
                                  <m:sSupPr>
                                    <m:ctrlPr>
                                      <a:rPr lang="zh-CN" altLang="en-US" sz="3200" i="1">
                                        <a:solidFill>
                                          <a:srgbClr val="006699"/>
                                        </a:solidFill>
                                        <a:latin typeface="Cambria Math" panose="02040503050406030204" pitchFamily="18" charset="0"/>
                                      </a:rPr>
                                    </m:ctrlPr>
                                  </m:sSupPr>
                                  <m:e>
                                    <m:r>
                                      <a:rPr lang="zh-CN" altLang="en-US" sz="3200">
                                        <a:solidFill>
                                          <a:srgbClr val="006699"/>
                                        </a:solidFill>
                                        <a:latin typeface="Cambria Math" panose="02040503050406030204" pitchFamily="18" charset="0"/>
                                      </a:rPr>
                                      <m:t>𝛴</m:t>
                                    </m:r>
                                  </m:e>
                                  <m:sup>
                                    <m:r>
                                      <a:rPr lang="zh-CN" altLang="en-US" sz="3200">
                                        <a:solidFill>
                                          <a:srgbClr val="006699"/>
                                        </a:solidFill>
                                        <a:latin typeface="Cambria Math" panose="02040503050406030204" pitchFamily="18" charset="0"/>
                                      </a:rPr>
                                      <m:t>−1</m:t>
                                    </m:r>
                                  </m:sup>
                                </m:sSup>
                                <m:d>
                                  <m:dPr>
                                    <m:ctrlPr>
                                      <a:rPr lang="zh-CN" altLang="en-US" sz="3200" i="1">
                                        <a:solidFill>
                                          <a:srgbClr val="006699"/>
                                        </a:solidFill>
                                        <a:latin typeface="Cambria Math" panose="02040503050406030204" pitchFamily="18" charset="0"/>
                                      </a:rPr>
                                    </m:ctrlPr>
                                  </m:dPr>
                                  <m:e>
                                    <m:r>
                                      <a:rPr lang="zh-CN" altLang="en-US" sz="3200">
                                        <a:solidFill>
                                          <a:srgbClr val="006699"/>
                                        </a:solidFill>
                                        <a:latin typeface="Cambria Math" panose="02040503050406030204" pitchFamily="18" charset="0"/>
                                      </a:rPr>
                                      <m:t>𝐱</m:t>
                                    </m:r>
                                    <m:r>
                                      <a:rPr lang="zh-CN" altLang="en-US" sz="3200">
                                        <a:solidFill>
                                          <a:srgbClr val="006699"/>
                                        </a:solidFill>
                                        <a:latin typeface="Cambria Math" panose="02040503050406030204" pitchFamily="18" charset="0"/>
                                      </a:rPr>
                                      <m:t>−</m:t>
                                    </m:r>
                                    <m:r>
                                      <a:rPr lang="zh-CN" altLang="en-US" sz="3200">
                                        <a:solidFill>
                                          <a:srgbClr val="006699"/>
                                        </a:solidFill>
                                        <a:latin typeface="Cambria Math" panose="02040503050406030204" pitchFamily="18" charset="0"/>
                                      </a:rPr>
                                      <m:t>𝛍</m:t>
                                    </m:r>
                                  </m:e>
                                </m:d>
                              </m:e>
                            </m:d>
                            <m:r>
                              <a:rPr lang="zh-CN" altLang="en-US" sz="3200" i="1" smtClean="0">
                                <a:solidFill>
                                  <a:srgbClr val="006699"/>
                                </a:solidFill>
                                <a:latin typeface="Cambria Math" panose="02040503050406030204" pitchFamily="18" charset="0"/>
                              </a:rPr>
                              <m:t> </m:t>
                            </m:r>
                          </m:e>
                        </m:mr>
                      </m:m>
                    </m:oMath>
                  </m:oMathPara>
                </a14:m>
                <a:endParaRPr lang="zh-CN" altLang="en-US" sz="3200" dirty="0">
                  <a:solidFill>
                    <a:srgbClr val="006699"/>
                  </a:solidFill>
                  <a:latin typeface="Verdana" panose="020B0604030504040204" pitchFamily="34" charset="0"/>
                </a:endParaRPr>
              </a:p>
            </p:txBody>
          </p:sp>
        </mc:Choice>
        <mc:Fallback xmlns="">
          <p:sp>
            <p:nvSpPr>
              <p:cNvPr id="5" name="文本框 4">
                <a:extLst>
                  <a:ext uri="{FF2B5EF4-FFF2-40B4-BE49-F238E27FC236}">
                    <a16:creationId xmlns:a16="http://schemas.microsoft.com/office/drawing/2014/main" id="{6F335FD1-8F4B-755F-FE03-7E422E93141B}"/>
                  </a:ext>
                </a:extLst>
              </p:cNvPr>
              <p:cNvSpPr txBox="1">
                <a:spLocks noRot="1" noChangeAspect="1" noMove="1" noResize="1" noEditPoints="1" noAdjustHandles="1" noChangeArrowheads="1" noChangeShapeType="1" noTextEdit="1"/>
              </p:cNvSpPr>
              <p:nvPr/>
            </p:nvSpPr>
            <p:spPr>
              <a:xfrm>
                <a:off x="162127" y="3699030"/>
                <a:ext cx="8333910" cy="1190839"/>
              </a:xfrm>
              <a:prstGeom prst="rect">
                <a:avLst/>
              </a:prstGeom>
              <a:blipFill>
                <a:blip r:embed="rId3"/>
                <a:stretch>
                  <a:fillRect r="-4682"/>
                </a:stretch>
              </a:blipFill>
              <a:ln w="2540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8483078-DDF3-B7B8-53E3-89C2C0DA8477}"/>
                  </a:ext>
                </a:extLst>
              </p:cNvPr>
              <p:cNvSpPr txBox="1"/>
              <p:nvPr/>
            </p:nvSpPr>
            <p:spPr>
              <a:xfrm>
                <a:off x="-17893" y="5064313"/>
                <a:ext cx="1715816" cy="584775"/>
              </a:xfrm>
              <a:prstGeom prst="rect">
                <a:avLst/>
              </a:prstGeom>
              <a:noFill/>
              <a:ln w="25400">
                <a:noFill/>
              </a:ln>
            </p:spPr>
            <p:txBody>
              <a:bodyPr wrap="square">
                <a:spAutoFit/>
              </a:bodyPr>
              <a:lstStyle/>
              <a:p>
                <a:pPr/>
                <a14:m>
                  <m:oMathPara xmlns:m="http://schemas.openxmlformats.org/officeDocument/2006/math">
                    <m:oMathParaPr>
                      <m:jc m:val="centerGroup"/>
                    </m:oMathParaPr>
                    <m:oMath xmlns:m="http://schemas.openxmlformats.org/officeDocument/2006/math">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 </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𝐱</m:t>
                      </m:r>
                      <m:r>
                        <a:rPr kumimoji="0" lang="zh-CN" altLang="en-US" sz="3200" b="0" i="0" u="none" strike="noStrike" kern="1200" cap="none" spc="0" normalizeH="0" baseline="0" noProof="0" smtClean="0">
                          <a:ln>
                            <a:noFill/>
                          </a:ln>
                          <a:solidFill>
                            <a:srgbClr val="006699"/>
                          </a:solidFill>
                          <a:effectLst/>
                          <a:uLnTx/>
                          <a:uFillTx/>
                          <a:latin typeface="Cambria Math" panose="02040503050406030204" pitchFamily="18" charset="0"/>
                          <a:cs typeface="+mn-cs"/>
                        </a:rPr>
                        <m:t>∈</m:t>
                      </m:r>
                      <m:sSup>
                        <m:sSupPr>
                          <m:ctrlPr>
                            <a:rPr kumimoji="0" lang="zh-CN" altLang="en-US" sz="3200" b="0" i="1" u="none" strike="noStrike" kern="1200" cap="none" spc="0" normalizeH="0" baseline="0" noProof="0">
                              <a:ln>
                                <a:noFill/>
                              </a:ln>
                              <a:solidFill>
                                <a:srgbClr val="006699"/>
                              </a:solidFill>
                              <a:effectLst/>
                              <a:uLnTx/>
                              <a:uFillTx/>
                              <a:latin typeface="Cambria Math" panose="02040503050406030204" pitchFamily="18" charset="0"/>
                              <a:cs typeface="+mn-cs"/>
                            </a:rPr>
                          </m:ctrlPr>
                        </m:sSupPr>
                        <m:e>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𝑅</m:t>
                          </m:r>
                        </m:e>
                        <m:sup>
                          <m:r>
                            <a:rPr kumimoji="0" lang="zh-CN" altLang="en-US" sz="3200" b="0" i="0" u="none" strike="noStrike" kern="1200" cap="none" spc="0" normalizeH="0" baseline="0" noProof="0">
                              <a:ln>
                                <a:noFill/>
                              </a:ln>
                              <a:solidFill>
                                <a:srgbClr val="006699"/>
                              </a:solidFill>
                              <a:effectLst/>
                              <a:uLnTx/>
                              <a:uFillTx/>
                              <a:latin typeface="Cambria Math" panose="02040503050406030204" pitchFamily="18" charset="0"/>
                              <a:cs typeface="+mn-cs"/>
                            </a:rPr>
                            <m:t>𝑝</m:t>
                          </m:r>
                        </m:sup>
                      </m:sSup>
                    </m:oMath>
                  </m:oMathPara>
                </a14:m>
                <a:endParaRPr lang="zh-CN" altLang="en-US" dirty="0"/>
              </a:p>
            </p:txBody>
          </p:sp>
        </mc:Choice>
        <mc:Fallback xmlns="">
          <p:sp>
            <p:nvSpPr>
              <p:cNvPr id="9" name="文本框 8">
                <a:extLst>
                  <a:ext uri="{FF2B5EF4-FFF2-40B4-BE49-F238E27FC236}">
                    <a16:creationId xmlns:a16="http://schemas.microsoft.com/office/drawing/2014/main" id="{98483078-DDF3-B7B8-53E3-89C2C0DA8477}"/>
                  </a:ext>
                </a:extLst>
              </p:cNvPr>
              <p:cNvSpPr txBox="1">
                <a:spLocks noRot="1" noChangeAspect="1" noMove="1" noResize="1" noEditPoints="1" noAdjustHandles="1" noChangeArrowheads="1" noChangeShapeType="1" noTextEdit="1"/>
              </p:cNvSpPr>
              <p:nvPr/>
            </p:nvSpPr>
            <p:spPr>
              <a:xfrm>
                <a:off x="-17893" y="5064313"/>
                <a:ext cx="1715816" cy="584775"/>
              </a:xfrm>
              <a:prstGeom prst="rect">
                <a:avLst/>
              </a:prstGeom>
              <a:blipFill>
                <a:blip r:embed="rId4"/>
                <a:stretch>
                  <a:fillRect/>
                </a:stretch>
              </a:blipFill>
              <a:ln w="25400">
                <a:noFill/>
              </a:ln>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555D86F-9D06-C0B0-EC08-2EF363050D66}"/>
              </a:ext>
            </a:extLst>
          </p:cNvPr>
          <p:cNvSpPr txBox="1"/>
          <p:nvPr/>
        </p:nvSpPr>
        <p:spPr>
          <a:xfrm>
            <a:off x="116505" y="960257"/>
            <a:ext cx="4690696" cy="584775"/>
          </a:xfrm>
          <a:prstGeom prst="rect">
            <a:avLst/>
          </a:prstGeom>
          <a:noFill/>
          <a:ln w="25400">
            <a:noFill/>
          </a:ln>
        </p:spPr>
        <p:txBody>
          <a:bodyPr wrap="square">
            <a:spAutoFit/>
          </a:bodyPr>
          <a:lstStyle/>
          <a:p>
            <a:pPr marL="457200" marR="0" lvl="0" indent="-457200" algn="l" defTabSz="914400" rtl="0" eaLnBrk="1" fontAlgn="base" latinLnBrk="0" hangingPunct="1">
              <a:lnSpc>
                <a:spcPct val="100000"/>
              </a:lnSpc>
              <a:spcBef>
                <a:spcPct val="20000"/>
              </a:spcBef>
              <a:spcAft>
                <a:spcPct val="0"/>
              </a:spcAft>
              <a:buClrTx/>
              <a:buSzTx/>
              <a:buFont typeface="Wingdings" panose="05000000000000000000" pitchFamily="2" charset="2"/>
              <a:buChar char="Ø"/>
              <a:tabLst/>
              <a:defRPr/>
            </a:pP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多元正态分布</a:t>
            </a:r>
            <a:endParaRPr kumimoji="0" lang="en-US" altLang="zh-CN"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41122783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2.4 </a:t>
            </a:r>
            <a:r>
              <a:rPr lang="zh-CN" altLang="en-US" dirty="0"/>
              <a:t>随机向量的产生</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EEAE950-AFED-3157-C65E-5DAF1906199F}"/>
                  </a:ext>
                </a:extLst>
              </p:cNvPr>
              <p:cNvSpPr txBox="1"/>
              <p:nvPr/>
            </p:nvSpPr>
            <p:spPr>
              <a:xfrm>
                <a:off x="117822" y="2033845"/>
                <a:ext cx="8908355" cy="3211905"/>
              </a:xfrm>
              <a:prstGeom prst="rect">
                <a:avLst/>
              </a:prstGeom>
              <a:noFill/>
              <a:ln w="25400">
                <a:noFill/>
              </a:ln>
            </p:spPr>
            <p:txBody>
              <a:bodyPr wrap="square">
                <a:spAutoFit/>
              </a:bodyPr>
              <a:lstStyle/>
              <a:p>
                <a:pPr marL="457200" indent="-457200">
                  <a:spcBef>
                    <a:spcPts val="900"/>
                  </a:spcBef>
                  <a:spcAft>
                    <a:spcPts val="900"/>
                  </a:spcAft>
                  <a:buFont typeface="Arial" panose="020B0604020202020204" pitchFamily="34" charset="0"/>
                  <a:buChar char="•"/>
                </a:pPr>
                <a:r>
                  <a:rPr lang="zh-CN" altLang="zh-CN" sz="3200" dirty="0">
                    <a:solidFill>
                      <a:srgbClr val="006699"/>
                    </a:solidFill>
                    <a:latin typeface="Verdana" panose="020B0604030504040204" pitchFamily="34" charset="0"/>
                  </a:rPr>
                  <a:t>正定矩阵</a:t>
                </a:r>
                <a14:m>
                  <m:oMath xmlns:m="http://schemas.openxmlformats.org/officeDocument/2006/math">
                    <m:r>
                      <a:rPr lang="en-US" altLang="zh-CN" sz="3200">
                        <a:solidFill>
                          <a:srgbClr val="006699"/>
                        </a:solidFill>
                        <a:latin typeface="Cambria Math" panose="02040503050406030204" pitchFamily="18" charset="0"/>
                      </a:rPr>
                      <m:t>𝛴</m:t>
                    </m:r>
                  </m:oMath>
                </a14:m>
                <a:r>
                  <a:rPr lang="zh-CN" altLang="zh-CN" sz="3200" dirty="0">
                    <a:solidFill>
                      <a:srgbClr val="006699"/>
                    </a:solidFill>
                    <a:latin typeface="Verdana" panose="020B0604030504040204" pitchFamily="34" charset="0"/>
                  </a:rPr>
                  <a:t>有</a:t>
                </a:r>
                <a:r>
                  <a:rPr lang="en-US" altLang="zh-CN" sz="3200" dirty="0">
                    <a:solidFill>
                      <a:srgbClr val="006699"/>
                    </a:solidFill>
                    <a:latin typeface="Verdana" panose="020B0604030504040204" pitchFamily="34" charset="0"/>
                  </a:rPr>
                  <a:t>Cholesky</a:t>
                </a:r>
                <a:r>
                  <a:rPr lang="zh-CN" altLang="zh-CN" sz="3200" dirty="0">
                    <a:solidFill>
                      <a:srgbClr val="006699"/>
                    </a:solidFill>
                    <a:latin typeface="Verdana" panose="020B0604030504040204" pitchFamily="34" charset="0"/>
                  </a:rPr>
                  <a:t>分解</a:t>
                </a:r>
                <a14:m>
                  <m:oMath xmlns:m="http://schemas.openxmlformats.org/officeDocument/2006/math">
                    <m:r>
                      <a:rPr lang="en-US" altLang="zh-CN" sz="3200">
                        <a:solidFill>
                          <a:srgbClr val="006699"/>
                        </a:solidFill>
                        <a:latin typeface="Cambria Math" panose="02040503050406030204" pitchFamily="18" charset="0"/>
                      </a:rPr>
                      <m:t>𝛴</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𝐶</m:t>
                    </m:r>
                    <m:sSup>
                      <m:sSupPr>
                        <m:ctrlPr>
                          <a:rPr lang="zh-CN" altLang="zh-CN" sz="3200" i="1">
                            <a:solidFill>
                              <a:srgbClr val="006699"/>
                            </a:solidFill>
                            <a:latin typeface="Cambria Math" panose="02040503050406030204" pitchFamily="18" charset="0"/>
                          </a:rPr>
                        </m:ctrlPr>
                      </m:sSupPr>
                      <m:e>
                        <m:r>
                          <a:rPr lang="en-US" altLang="zh-CN" sz="3200">
                            <a:solidFill>
                              <a:srgbClr val="006699"/>
                            </a:solidFill>
                            <a:latin typeface="Cambria Math" panose="02040503050406030204" pitchFamily="18" charset="0"/>
                          </a:rPr>
                          <m:t>𝐶</m:t>
                        </m:r>
                      </m:e>
                      <m:sup>
                        <m:r>
                          <a:rPr lang="en-US" altLang="zh-CN" sz="3200">
                            <a:solidFill>
                              <a:srgbClr val="006699"/>
                            </a:solidFill>
                            <a:latin typeface="Cambria Math" panose="02040503050406030204" pitchFamily="18" charset="0"/>
                          </a:rPr>
                          <m:t>𝑇</m:t>
                        </m:r>
                      </m:sup>
                    </m:sSup>
                  </m:oMath>
                </a14:m>
                <a:r>
                  <a:rPr lang="zh-CN" altLang="zh-CN" sz="3200" dirty="0">
                    <a:solidFill>
                      <a:srgbClr val="006699"/>
                    </a:solidFill>
                    <a:latin typeface="Verdana" panose="020B0604030504040204" pitchFamily="34" charset="0"/>
                  </a:rPr>
                  <a:t>， 其中</a:t>
                </a:r>
                <a14:m>
                  <m:oMath xmlns:m="http://schemas.openxmlformats.org/officeDocument/2006/math">
                    <m:r>
                      <a:rPr lang="en-US" altLang="zh-CN" sz="3200">
                        <a:solidFill>
                          <a:srgbClr val="006699"/>
                        </a:solidFill>
                        <a:latin typeface="Cambria Math" panose="02040503050406030204" pitchFamily="18" charset="0"/>
                      </a:rPr>
                      <m:t>𝐶</m:t>
                    </m:r>
                  </m:oMath>
                </a14:m>
                <a:r>
                  <a:rPr lang="zh-CN" altLang="zh-CN" sz="3200" dirty="0">
                    <a:solidFill>
                      <a:srgbClr val="006699"/>
                    </a:solidFill>
                    <a:latin typeface="Verdana" panose="020B0604030504040204" pitchFamily="34" charset="0"/>
                  </a:rPr>
                  <a:t>为下三角矩阵。 </a:t>
                </a:r>
              </a:p>
              <a:p>
                <a:pPr marL="457200" indent="-457200">
                  <a:spcBef>
                    <a:spcPts val="900"/>
                  </a:spcBef>
                  <a:spcAft>
                    <a:spcPts val="900"/>
                  </a:spcAft>
                  <a:buFont typeface="Arial" panose="020B0604020202020204" pitchFamily="34" charset="0"/>
                  <a:buChar char="•"/>
                </a:pPr>
                <a:r>
                  <a:rPr lang="zh-CN" altLang="zh-CN" sz="3200" dirty="0">
                    <a:solidFill>
                      <a:srgbClr val="006699"/>
                    </a:solidFill>
                    <a:latin typeface="Verdana" panose="020B0604030504040204" pitchFamily="34" charset="0"/>
                  </a:rPr>
                  <a:t>设</a:t>
                </a:r>
                <a14:m>
                  <m:oMath xmlns:m="http://schemas.openxmlformats.org/officeDocument/2006/math">
                    <m:r>
                      <a:rPr lang="en-US" altLang="zh-CN" sz="3200">
                        <a:solidFill>
                          <a:srgbClr val="006699"/>
                        </a:solidFill>
                        <a:latin typeface="Cambria Math" panose="02040503050406030204" pitchFamily="18" charset="0"/>
                      </a:rPr>
                      <m:t>𝐙</m:t>
                    </m:r>
                    <m:r>
                      <a:rPr lang="en-US" altLang="zh-CN" sz="3200">
                        <a:solidFill>
                          <a:srgbClr val="006699"/>
                        </a:solidFill>
                        <a:latin typeface="Cambria Math" panose="02040503050406030204" pitchFamily="18" charset="0"/>
                      </a:rPr>
                      <m:t>=</m:t>
                    </m:r>
                    <m:sSup>
                      <m:sSupPr>
                        <m:ctrlPr>
                          <a:rPr lang="zh-CN" altLang="zh-CN" sz="3200" i="1">
                            <a:solidFill>
                              <a:srgbClr val="006699"/>
                            </a:solidFill>
                            <a:latin typeface="Cambria Math" panose="02040503050406030204" pitchFamily="18" charset="0"/>
                          </a:rPr>
                        </m:ctrlPr>
                      </m:sSupPr>
                      <m:e>
                        <m:d>
                          <m:dPr>
                            <m:ctrlPr>
                              <a:rPr lang="zh-CN" altLang="zh-CN" sz="3200" i="1">
                                <a:solidFill>
                                  <a:srgbClr val="006699"/>
                                </a:solidFill>
                                <a:latin typeface="Cambria Math" panose="02040503050406030204" pitchFamily="18" charset="0"/>
                              </a:rPr>
                            </m:ctrlPr>
                          </m:dPr>
                          <m:e>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𝑍</m:t>
                                </m:r>
                              </m:e>
                              <m:sub>
                                <m:r>
                                  <a:rPr lang="en-US" altLang="zh-CN" sz="3200">
                                    <a:solidFill>
                                      <a:srgbClr val="006699"/>
                                    </a:solidFill>
                                    <a:latin typeface="Cambria Math" panose="02040503050406030204" pitchFamily="18" charset="0"/>
                                  </a:rPr>
                                  <m:t>1</m:t>
                                </m:r>
                              </m:sub>
                            </m:sSub>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𝑍</m:t>
                                </m:r>
                              </m:e>
                              <m:sub>
                                <m:r>
                                  <a:rPr lang="en-US" altLang="zh-CN" sz="3200">
                                    <a:solidFill>
                                      <a:srgbClr val="006699"/>
                                    </a:solidFill>
                                    <a:latin typeface="Cambria Math" panose="02040503050406030204" pitchFamily="18" charset="0"/>
                                  </a:rPr>
                                  <m:t>2</m:t>
                                </m:r>
                              </m:sub>
                            </m:sSub>
                            <m:r>
                              <a:rPr lang="en-US" altLang="zh-CN" sz="3200">
                                <a:solidFill>
                                  <a:srgbClr val="006699"/>
                                </a:solidFill>
                                <a:latin typeface="Cambria Math" panose="02040503050406030204" pitchFamily="18" charset="0"/>
                              </a:rPr>
                              <m:t>,…,</m:t>
                            </m:r>
                            <m:sSub>
                              <m:sSubPr>
                                <m:ctrlPr>
                                  <a:rPr lang="zh-CN" altLang="zh-CN" sz="3200" i="1">
                                    <a:solidFill>
                                      <a:srgbClr val="006699"/>
                                    </a:solidFill>
                                    <a:latin typeface="Cambria Math" panose="02040503050406030204" pitchFamily="18" charset="0"/>
                                  </a:rPr>
                                </m:ctrlPr>
                              </m:sSubPr>
                              <m:e>
                                <m:r>
                                  <a:rPr lang="en-US" altLang="zh-CN" sz="3200">
                                    <a:solidFill>
                                      <a:srgbClr val="006699"/>
                                    </a:solidFill>
                                    <a:latin typeface="Cambria Math" panose="02040503050406030204" pitchFamily="18" charset="0"/>
                                  </a:rPr>
                                  <m:t>𝑍</m:t>
                                </m:r>
                              </m:e>
                              <m:sub>
                                <m:r>
                                  <a:rPr lang="en-US" altLang="zh-CN" sz="3200">
                                    <a:solidFill>
                                      <a:srgbClr val="006699"/>
                                    </a:solidFill>
                                    <a:latin typeface="Cambria Math" panose="02040503050406030204" pitchFamily="18" charset="0"/>
                                  </a:rPr>
                                  <m:t>𝑝</m:t>
                                </m:r>
                              </m:sub>
                            </m:sSub>
                          </m:e>
                        </m:d>
                      </m:e>
                      <m:sup>
                        <m:r>
                          <a:rPr lang="en-US" altLang="zh-CN" sz="3200">
                            <a:solidFill>
                              <a:srgbClr val="006699"/>
                            </a:solidFill>
                            <a:latin typeface="Cambria Math" panose="02040503050406030204" pitchFamily="18" charset="0"/>
                          </a:rPr>
                          <m:t>𝑇</m:t>
                        </m:r>
                      </m:sup>
                    </m:sSup>
                  </m:oMath>
                </a14:m>
                <a:r>
                  <a:rPr lang="zh-CN" altLang="zh-CN" sz="3200" dirty="0">
                    <a:solidFill>
                      <a:srgbClr val="006699"/>
                    </a:solidFill>
                    <a:latin typeface="Verdana" panose="020B0604030504040204" pitchFamily="34" charset="0"/>
                  </a:rPr>
                  <a:t>服从</a:t>
                </a:r>
                <a:r>
                  <a:rPr lang="en-US" altLang="zh-CN" sz="3200" dirty="0">
                    <a:solidFill>
                      <a:srgbClr val="006699"/>
                    </a:solidFill>
                    <a:latin typeface="Verdana" panose="020B0604030504040204" pitchFamily="34" charset="0"/>
                  </a:rPr>
                  <a:t>p</a:t>
                </a:r>
                <a:r>
                  <a:rPr lang="zh-CN" altLang="zh-CN" sz="3200" dirty="0">
                    <a:solidFill>
                      <a:srgbClr val="006699"/>
                    </a:solidFill>
                    <a:latin typeface="Verdana" panose="020B0604030504040204" pitchFamily="34" charset="0"/>
                  </a:rPr>
                  <a:t>元标准正态分布</a:t>
                </a:r>
                <a14:m>
                  <m:oMath xmlns:m="http://schemas.openxmlformats.org/officeDocument/2006/math">
                    <m:r>
                      <m:rPr>
                        <m:nor/>
                      </m:rPr>
                      <a:rPr lang="en-US" altLang="zh-CN" sz="3200">
                        <a:solidFill>
                          <a:srgbClr val="006699"/>
                        </a:solidFill>
                        <a:latin typeface="Verdana" panose="020B0604030504040204" pitchFamily="34" charset="0"/>
                      </a:rPr>
                      <m:t>N</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𝟎</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𝐼</m:t>
                        </m:r>
                      </m:e>
                    </m:d>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𝐼</m:t>
                        </m:r>
                        <m:r>
                          <a:rPr lang="zh-CN" altLang="zh-CN" sz="3200">
                            <a:solidFill>
                              <a:srgbClr val="006699"/>
                            </a:solidFill>
                            <a:latin typeface="Cambria Math" panose="02040503050406030204" pitchFamily="18" charset="0"/>
                          </a:rPr>
                          <m:t>表示单位阵</m:t>
                        </m:r>
                      </m:e>
                    </m:d>
                  </m:oMath>
                </a14:m>
                <a:r>
                  <a:rPr lang="zh-CN" altLang="zh-CN" sz="3200" dirty="0">
                    <a:solidFill>
                      <a:srgbClr val="006699"/>
                    </a:solidFill>
                    <a:latin typeface="Verdana" panose="020B0604030504040204" pitchFamily="34" charset="0"/>
                  </a:rPr>
                  <a:t>，</a:t>
                </a:r>
              </a:p>
              <a:p>
                <a:pPr marL="457200" indent="-457200">
                  <a:spcBef>
                    <a:spcPts val="900"/>
                  </a:spcBef>
                  <a:spcAft>
                    <a:spcPts val="900"/>
                  </a:spcAft>
                  <a:buFont typeface="Arial" panose="020B0604020202020204" pitchFamily="34" charset="0"/>
                  <a:buChar char="•"/>
                </a:pPr>
                <a:r>
                  <a:rPr lang="en-US" altLang="zh-CN" sz="3200" dirty="0">
                    <a:solidFill>
                      <a:srgbClr val="006699"/>
                    </a:solidFill>
                    <a:latin typeface="Verdana" panose="020B0604030504040204" pitchFamily="34" charset="0"/>
                  </a:rPr>
                  <a:t> </a:t>
                </a:r>
                <a:r>
                  <a:rPr lang="zh-CN" altLang="zh-CN" sz="3200" dirty="0">
                    <a:solidFill>
                      <a:srgbClr val="006699"/>
                    </a:solidFill>
                    <a:latin typeface="Verdana" panose="020B0604030504040204" pitchFamily="34" charset="0"/>
                  </a:rPr>
                  <a:t>则</a:t>
                </a:r>
                <a14:m>
                  <m:oMath xmlns:m="http://schemas.openxmlformats.org/officeDocument/2006/math">
                    <m:r>
                      <a:rPr lang="en-US" altLang="zh-CN" sz="3200">
                        <a:solidFill>
                          <a:srgbClr val="006699"/>
                        </a:solidFill>
                        <a:latin typeface="Cambria Math" panose="02040503050406030204" pitchFamily="18" charset="0"/>
                      </a:rPr>
                      <m:t>𝐗</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𝛍</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𝐶</m:t>
                    </m:r>
                    <m:r>
                      <a:rPr lang="en-US" altLang="zh-CN" sz="3200">
                        <a:solidFill>
                          <a:srgbClr val="006699"/>
                        </a:solidFill>
                        <a:latin typeface="Cambria Math" panose="02040503050406030204" pitchFamily="18" charset="0"/>
                      </a:rPr>
                      <m:t>𝐙</m:t>
                    </m:r>
                  </m:oMath>
                </a14:m>
                <a:r>
                  <a:rPr lang="zh-CN" altLang="zh-CN" sz="3200" dirty="0">
                    <a:solidFill>
                      <a:srgbClr val="006699"/>
                    </a:solidFill>
                    <a:latin typeface="Verdana" panose="020B0604030504040204" pitchFamily="34" charset="0"/>
                  </a:rPr>
                  <a:t>服从</a:t>
                </a:r>
                <a14:m>
                  <m:oMath xmlns:m="http://schemas.openxmlformats.org/officeDocument/2006/math">
                    <m:r>
                      <m:rPr>
                        <m:nor/>
                      </m:rPr>
                      <a:rPr lang="en-US" altLang="zh-CN" sz="3200">
                        <a:solidFill>
                          <a:srgbClr val="006699"/>
                        </a:solidFill>
                        <a:latin typeface="Verdana" panose="020B0604030504040204" pitchFamily="34" charset="0"/>
                      </a:rPr>
                      <m:t>N</m:t>
                    </m:r>
                    <m:d>
                      <m:dPr>
                        <m:ctrlPr>
                          <a:rPr lang="zh-CN" altLang="zh-CN" sz="3200" i="1">
                            <a:solidFill>
                              <a:srgbClr val="006699"/>
                            </a:solidFill>
                            <a:latin typeface="Cambria Math" panose="02040503050406030204" pitchFamily="18" charset="0"/>
                          </a:rPr>
                        </m:ctrlPr>
                      </m:dPr>
                      <m:e>
                        <m:r>
                          <a:rPr lang="en-US" altLang="zh-CN" sz="3200">
                            <a:solidFill>
                              <a:srgbClr val="006699"/>
                            </a:solidFill>
                            <a:latin typeface="Cambria Math" panose="02040503050406030204" pitchFamily="18" charset="0"/>
                          </a:rPr>
                          <m:t>𝛍</m:t>
                        </m:r>
                        <m:r>
                          <a:rPr lang="en-US" altLang="zh-CN" sz="3200">
                            <a:solidFill>
                              <a:srgbClr val="006699"/>
                            </a:solidFill>
                            <a:latin typeface="Cambria Math" panose="02040503050406030204" pitchFamily="18" charset="0"/>
                          </a:rPr>
                          <m:t>,</m:t>
                        </m:r>
                        <m:r>
                          <a:rPr lang="en-US" altLang="zh-CN" sz="3200">
                            <a:solidFill>
                              <a:srgbClr val="006699"/>
                            </a:solidFill>
                            <a:latin typeface="Cambria Math" panose="02040503050406030204" pitchFamily="18" charset="0"/>
                          </a:rPr>
                          <m:t>𝛴</m:t>
                        </m:r>
                      </m:e>
                    </m:d>
                  </m:oMath>
                </a14:m>
                <a:r>
                  <a:rPr lang="zh-CN" altLang="zh-CN" sz="3200" dirty="0">
                    <a:solidFill>
                      <a:srgbClr val="006699"/>
                    </a:solidFill>
                    <a:latin typeface="Verdana" panose="020B0604030504040204" pitchFamily="34" charset="0"/>
                  </a:rPr>
                  <a:t>分布。</a:t>
                </a:r>
              </a:p>
            </p:txBody>
          </p:sp>
        </mc:Choice>
        <mc:Fallback xmlns="">
          <p:sp>
            <p:nvSpPr>
              <p:cNvPr id="4" name="文本框 3">
                <a:extLst>
                  <a:ext uri="{FF2B5EF4-FFF2-40B4-BE49-F238E27FC236}">
                    <a16:creationId xmlns:a16="http://schemas.microsoft.com/office/drawing/2014/main" id="{EEEAE950-AFED-3157-C65E-5DAF1906199F}"/>
                  </a:ext>
                </a:extLst>
              </p:cNvPr>
              <p:cNvSpPr txBox="1">
                <a:spLocks noRot="1" noChangeAspect="1" noMove="1" noResize="1" noEditPoints="1" noAdjustHandles="1" noChangeArrowheads="1" noChangeShapeType="1" noTextEdit="1"/>
              </p:cNvSpPr>
              <p:nvPr/>
            </p:nvSpPr>
            <p:spPr>
              <a:xfrm>
                <a:off x="117822" y="2033845"/>
                <a:ext cx="8908355" cy="3211905"/>
              </a:xfrm>
              <a:prstGeom prst="rect">
                <a:avLst/>
              </a:prstGeom>
              <a:blipFill>
                <a:blip r:embed="rId2"/>
                <a:stretch>
                  <a:fillRect l="-1573" t="-2846" b="-4744"/>
                </a:stretch>
              </a:blipFill>
              <a:ln w="25400">
                <a:noFill/>
              </a:ln>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8CF1E707-123D-595C-1BCF-FC1E3BB823E2}"/>
              </a:ext>
            </a:extLst>
          </p:cNvPr>
          <p:cNvSpPr txBox="1"/>
          <p:nvPr/>
        </p:nvSpPr>
        <p:spPr>
          <a:xfrm>
            <a:off x="108431" y="1110137"/>
            <a:ext cx="6218764" cy="584775"/>
          </a:xfrm>
          <a:prstGeom prst="rect">
            <a:avLst/>
          </a:prstGeom>
          <a:noFill/>
          <a:ln w="25400">
            <a:noFill/>
          </a:ln>
        </p:spPr>
        <p:txBody>
          <a:bodyPr wrap="square">
            <a:spAutoFit/>
          </a:bodyPr>
          <a:lstStyle/>
          <a:p>
            <a:pPr marL="457200" indent="-457200">
              <a:buFont typeface="Wingdings" panose="05000000000000000000" pitchFamily="2" charset="2"/>
              <a:buChar char="Ø"/>
            </a:pPr>
            <a:r>
              <a:rPr kumimoji="0" lang="zh-CN" altLang="en-US" sz="3200" b="1" i="0" u="none" strike="noStrike" kern="1200" cap="none" spc="0" normalizeH="0" baseline="0" noProof="0" dirty="0">
                <a:ln>
                  <a:noFill/>
                </a:ln>
                <a:solidFill>
                  <a:srgbClr val="FF0000"/>
                </a:solidFill>
                <a:effectLst/>
                <a:uLnTx/>
                <a:uFillTx/>
                <a:latin typeface="Verdana" panose="020B0604030504040204" pitchFamily="34" charset="0"/>
                <a:ea typeface="宋体" panose="02010600030101010101" pitchFamily="2" charset="-122"/>
                <a:cs typeface="+mn-cs"/>
              </a:rPr>
              <a:t>多元正态分布随机数的产生</a:t>
            </a:r>
            <a:endParaRPr lang="zh-CN" altLang="en-US" dirty="0"/>
          </a:p>
        </p:txBody>
      </p:sp>
    </p:spTree>
    <p:extLst>
      <p:ext uri="{BB962C8B-B14F-4D97-AF65-F5344CB8AC3E}">
        <p14:creationId xmlns:p14="http://schemas.microsoft.com/office/powerpoint/2010/main" val="1962330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5D96BB7-F3EE-475D-8C4A-757D9F1B8C06}"/>
              </a:ext>
            </a:extLst>
          </p:cNvPr>
          <p:cNvSpPr>
            <a:spLocks noGrp="1" noChangeArrowheads="1"/>
          </p:cNvSpPr>
          <p:nvPr>
            <p:ph type="title"/>
          </p:nvPr>
        </p:nvSpPr>
        <p:spPr>
          <a:xfrm>
            <a:off x="-15875" y="142875"/>
            <a:ext cx="8229600" cy="642938"/>
          </a:xfrm>
        </p:spPr>
        <p:txBody>
          <a:bodyPr/>
          <a:lstStyle/>
          <a:p>
            <a:pPr algn="l" defTabSz="512763" fontAlgn="base">
              <a:spcAft>
                <a:spcPct val="0"/>
              </a:spcAft>
            </a:pPr>
            <a:r>
              <a:rPr lang="en-US" altLang="zh-CN" dirty="0"/>
              <a:t>2.4 </a:t>
            </a:r>
            <a:r>
              <a:rPr lang="zh-CN" altLang="en-US" dirty="0"/>
              <a:t>随机向量的产生</a:t>
            </a:r>
          </a:p>
        </p:txBody>
      </p:sp>
      <p:pic>
        <p:nvPicPr>
          <p:cNvPr id="2" name="图片 1">
            <a:extLst>
              <a:ext uri="{FF2B5EF4-FFF2-40B4-BE49-F238E27FC236}">
                <a16:creationId xmlns:a16="http://schemas.microsoft.com/office/drawing/2014/main" id="{534E4774-9334-467B-B8C0-FD8B1CFCEBDA}"/>
              </a:ext>
            </a:extLst>
          </p:cNvPr>
          <p:cNvPicPr>
            <a:picLocks noChangeAspect="1"/>
          </p:cNvPicPr>
          <p:nvPr/>
        </p:nvPicPr>
        <p:blipFill>
          <a:blip r:embed="rId2"/>
          <a:stretch>
            <a:fillRect/>
          </a:stretch>
        </p:blipFill>
        <p:spPr>
          <a:xfrm>
            <a:off x="611560" y="998730"/>
            <a:ext cx="7280250" cy="5200179"/>
          </a:xfrm>
          <a:prstGeom prst="rect">
            <a:avLst/>
          </a:prstGeom>
        </p:spPr>
      </p:pic>
    </p:spTree>
    <p:extLst>
      <p:ext uri="{BB962C8B-B14F-4D97-AF65-F5344CB8AC3E}">
        <p14:creationId xmlns:p14="http://schemas.microsoft.com/office/powerpoint/2010/main" val="16088911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1_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25400"/>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ln w="25400">
          <a:noFill/>
        </a:ln>
      </a:spPr>
      <a:bodyPr wrap="square">
        <a:spAutoFit/>
      </a:bodyPr>
      <a:lstStyle>
        <a:defPPr algn="l">
          <a:defRPr sz="3200" b="1" dirty="0">
            <a:solidFill>
              <a:srgbClr val="FF0000"/>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17777</TotalTime>
  <Words>6157</Words>
  <Application>Microsoft Office PowerPoint</Application>
  <PresentationFormat>全屏显示(4:3)</PresentationFormat>
  <Paragraphs>726</Paragraphs>
  <Slides>121</Slides>
  <Notes>1</Notes>
  <HiddenSlides>0</HiddenSlides>
  <MMClips>0</MMClips>
  <ScaleCrop>false</ScaleCrop>
  <HeadingPairs>
    <vt:vector size="6" baseType="variant">
      <vt:variant>
        <vt:lpstr>已用的字体</vt:lpstr>
      </vt:variant>
      <vt:variant>
        <vt:i4>15</vt:i4>
      </vt:variant>
      <vt:variant>
        <vt:lpstr>主题</vt:lpstr>
      </vt:variant>
      <vt:variant>
        <vt:i4>4</vt:i4>
      </vt:variant>
      <vt:variant>
        <vt:lpstr>幻灯片标题</vt:lpstr>
      </vt:variant>
      <vt:variant>
        <vt:i4>121</vt:i4>
      </vt:variant>
    </vt:vector>
  </HeadingPairs>
  <TitlesOfParts>
    <vt:vector size="140" baseType="lpstr">
      <vt:lpstr>Helvetica Neue</vt:lpstr>
      <vt:lpstr>等线</vt:lpstr>
      <vt:lpstr>等线 Light</vt:lpstr>
      <vt:lpstr>宋体</vt:lpstr>
      <vt:lpstr>Aptos</vt:lpstr>
      <vt:lpstr>Arial</vt:lpstr>
      <vt:lpstr>Calibri</vt:lpstr>
      <vt:lpstr>Calibri Light</vt:lpstr>
      <vt:lpstr>Cambria</vt:lpstr>
      <vt:lpstr>Cambria Math</vt:lpstr>
      <vt:lpstr>Symbol</vt:lpstr>
      <vt:lpstr>Times New Roman</vt:lpstr>
      <vt:lpstr>Verdana</vt:lpstr>
      <vt:lpstr>Wingdings</vt:lpstr>
      <vt:lpstr>Wingdings 2</vt:lpstr>
      <vt:lpstr>1_主题1</vt:lpstr>
      <vt:lpstr>1_自定义设计方案</vt:lpstr>
      <vt:lpstr>自定义设计方案</vt:lpstr>
      <vt:lpstr>HDOfficeLightV0</vt:lpstr>
      <vt:lpstr> </vt:lpstr>
      <vt:lpstr>2.1 随机数产生器</vt:lpstr>
      <vt:lpstr>2.1 随机数产生器</vt:lpstr>
      <vt:lpstr>PowerPoint 演示文稿</vt:lpstr>
      <vt:lpstr>2.1 随机数产生器</vt:lpstr>
      <vt:lpstr>2.1 随机数产生器</vt:lpstr>
      <vt:lpstr>2.1 随机数产生器</vt:lpstr>
      <vt:lpstr>2.2 均匀随机数的产生和检验</vt:lpstr>
      <vt:lpstr>2.2.1 线性同余发生器</vt:lpstr>
      <vt:lpstr>2.2.1 线性同余发生器</vt:lpstr>
      <vt:lpstr>2.2.1 线性同余发生器</vt:lpstr>
      <vt:lpstr>2.2.1 线性同余发生器</vt:lpstr>
      <vt:lpstr>2.2.1 线性同余发生器</vt:lpstr>
      <vt:lpstr>2.2.1 线性同余发生器</vt:lpstr>
      <vt:lpstr>2.2.1 线性同余发生器</vt:lpstr>
      <vt:lpstr>2.2.1 线性同余发生器</vt:lpstr>
      <vt:lpstr>2.2.1 线性同余发生器</vt:lpstr>
      <vt:lpstr>2.2.1 线性同余发生器</vt:lpstr>
      <vt:lpstr>2.2.2 混合同余发生器</vt:lpstr>
      <vt:lpstr>2.2.2 混合同余发生器</vt:lpstr>
      <vt:lpstr>2.2.2 混合同余发生器</vt:lpstr>
      <vt:lpstr>PowerPoint 演示文稿</vt:lpstr>
      <vt:lpstr>2.2.2 混合同余发生器</vt:lpstr>
      <vt:lpstr>2.2.3 乘同余法</vt:lpstr>
      <vt:lpstr>2.2.3 乘同余法</vt:lpstr>
      <vt:lpstr>2.2.3 乘同余法</vt:lpstr>
      <vt:lpstr>2.2.3 乘同余法</vt:lpstr>
      <vt:lpstr>2.2.4 FSR发生器</vt:lpstr>
      <vt:lpstr>2.2.4 FSR发生器</vt:lpstr>
      <vt:lpstr>2.2.4 FSR发生器</vt:lpstr>
      <vt:lpstr>2.2.4 FSR发生器</vt:lpstr>
      <vt:lpstr>2.2.5 组合发生器法</vt:lpstr>
      <vt:lpstr>2.2.5 组合发生器法</vt:lpstr>
      <vt:lpstr>2.2.6 随机数的检验</vt:lpstr>
      <vt:lpstr>2.2.6 随机数的检验</vt:lpstr>
      <vt:lpstr>PowerPoint 演示文稿</vt:lpstr>
      <vt:lpstr>2.2.6 随机数的检验</vt:lpstr>
      <vt:lpstr>2.2.6 随机数的检验</vt:lpstr>
      <vt:lpstr>2.2.6 随机数的检验</vt:lpstr>
      <vt:lpstr>2.2.6 随机数的检验</vt:lpstr>
      <vt:lpstr>2.2.6 随机数的检验</vt:lpstr>
      <vt:lpstr>2.2.6 随机数的检验</vt:lpstr>
      <vt:lpstr>2.2.6 随机数的检验</vt:lpstr>
      <vt:lpstr>2.2.6 随机数的检验</vt:lpstr>
      <vt:lpstr>2.2.6 随机数的检验</vt:lpstr>
      <vt:lpstr>2.2.6 随机数的检验</vt:lpstr>
      <vt:lpstr>2.2.6 随机数的检验</vt:lpstr>
      <vt:lpstr>2.2.6 随机数的检验</vt:lpstr>
      <vt:lpstr>2.3 非均匀随机数的产生</vt:lpstr>
      <vt:lpstr>2.3.1 逆变换法(The Inverse Transform Method)</vt:lpstr>
      <vt:lpstr>2.3.1 逆变换法</vt:lpstr>
      <vt:lpstr>2.3.2 用逆变换法生成离散型随机数</vt:lpstr>
      <vt:lpstr>PowerPoint 演示文稿</vt:lpstr>
      <vt:lpstr>2.3.2 用逆变换法生成离散型随机数</vt:lpstr>
      <vt:lpstr>2.3.2 用逆变换法生成离散型随机数</vt:lpstr>
      <vt:lpstr>2.3.2 用逆变换法生成离散型随机数</vt:lpstr>
      <vt:lpstr>2.3.2 用逆变换法生成离散型随机数</vt:lpstr>
      <vt:lpstr>2.3.2 用逆变换法生成离散型随机数</vt:lpstr>
      <vt:lpstr>2.3.2 用逆变换法生成离散型随机数</vt:lpstr>
      <vt:lpstr>2.3.2 用逆变换法生成离散型随机数</vt:lpstr>
      <vt:lpstr>2.3.2 用逆变换法生成离散型随机数</vt:lpstr>
      <vt:lpstr>2.3.2 用逆变换法生成离散型随机数</vt:lpstr>
      <vt:lpstr>2.3.2 用逆变换法生成离散型随机数</vt:lpstr>
      <vt:lpstr>2.3.2 用逆变换法生成离散型随机数</vt:lpstr>
      <vt:lpstr>PowerPoint 演示文稿</vt:lpstr>
      <vt:lpstr>2.3.2 用逆变换法生成离散型随机数</vt:lpstr>
      <vt:lpstr>2.3.2 用逆变换法生成离散型随机数</vt:lpstr>
      <vt:lpstr>2.3.2 用逆变换法生成离散型随机数</vt:lpstr>
      <vt:lpstr>PowerPoint 演示文稿</vt:lpstr>
      <vt:lpstr>2.3.3 用逆变换法生成连续型随机数</vt:lpstr>
      <vt:lpstr>2.3.3 用逆变换法生成连续型随机数</vt:lpstr>
      <vt:lpstr>PowerPoint 演示文稿</vt:lpstr>
      <vt:lpstr>2.3.3 用逆变换法生成连续型随机数</vt:lpstr>
      <vt:lpstr>PowerPoint 演示文稿</vt:lpstr>
      <vt:lpstr>2.3.3 用逆变换法生成连续型随机数</vt:lpstr>
      <vt:lpstr>PowerPoint 演示文稿</vt:lpstr>
      <vt:lpstr>2.3.3 用逆变换法生成连续型随机数</vt:lpstr>
      <vt:lpstr>2.3.3用逆变换法生成连续型随机数</vt:lpstr>
      <vt:lpstr>2.3.3 用逆变换法生成连续型随机数</vt:lpstr>
      <vt:lpstr>2.3.4 利用变换生成随机数</vt:lpstr>
      <vt:lpstr>2.3.4 利用变换生成随机数</vt:lpstr>
      <vt:lpstr>2.3.4 利用变换生成随机数</vt:lpstr>
      <vt:lpstr>2.3.4 利用变换生成随机数</vt:lpstr>
      <vt:lpstr>2.3.4 利用变换生成随机数</vt:lpstr>
      <vt:lpstr>2.3.5 舍选法(The Acceptance-Rejection Method)</vt:lpstr>
      <vt:lpstr>2.3.5 舍选法I</vt:lpstr>
      <vt:lpstr>2.3.5 舍选法</vt:lpstr>
      <vt:lpstr>PowerPoint 演示文稿</vt:lpstr>
      <vt:lpstr>2.3.5 舍选法I</vt:lpstr>
      <vt:lpstr>2.3.5 舍选法II</vt:lpstr>
      <vt:lpstr>2.3.5 舍选法II</vt:lpstr>
      <vt:lpstr>2.3.5 舍选法II</vt:lpstr>
      <vt:lpstr>2.3.5 舍选法II</vt:lpstr>
      <vt:lpstr>2.3.5 舍选法</vt:lpstr>
      <vt:lpstr>2.3.5 舍选法</vt:lpstr>
      <vt:lpstr>2.3.5 舍选法</vt:lpstr>
      <vt:lpstr>2.3.5 舍选法</vt:lpstr>
      <vt:lpstr>2.3.5 舍选法</vt:lpstr>
      <vt:lpstr>2.3.5 舍选法</vt:lpstr>
      <vt:lpstr>2.3.5 舍选法</vt:lpstr>
      <vt:lpstr>2.3.5 舍选法</vt:lpstr>
      <vt:lpstr>2.3.5 舍选法</vt:lpstr>
      <vt:lpstr>2.3.5 舍选法</vt:lpstr>
      <vt:lpstr>2.3.5 舍选法</vt:lpstr>
      <vt:lpstr>2.3.6 复合法</vt:lpstr>
      <vt:lpstr>2.3.6 复合法</vt:lpstr>
      <vt:lpstr>2.3.6 复合法</vt:lpstr>
      <vt:lpstr>2.3.6 复合法</vt:lpstr>
      <vt:lpstr>2.3.6 复合法</vt:lpstr>
      <vt:lpstr>2.3.6 复合法</vt:lpstr>
      <vt:lpstr>2.3.6 复合法</vt:lpstr>
      <vt:lpstr>2.4 随机向量的产生</vt:lpstr>
      <vt:lpstr>2.4 随机向量的产生</vt:lpstr>
      <vt:lpstr>2.4 随机向量的产生</vt:lpstr>
      <vt:lpstr>2.4 随机向量的产生</vt:lpstr>
      <vt:lpstr>2.4 随机向量的产生</vt:lpstr>
      <vt:lpstr>2.4 随机向量的产生</vt:lpstr>
      <vt:lpstr>2.4 随机向量的产生</vt:lpstr>
      <vt:lpstr>2.4 随机向量的产生</vt:lpstr>
      <vt:lpstr>2.4 随机向量的产生</vt:lpstr>
      <vt:lpstr>2.4 随机向量的产生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f</cp:lastModifiedBy>
  <cp:revision>565</cp:revision>
  <cp:lastPrinted>1601-01-01T00:00:00Z</cp:lastPrinted>
  <dcterms:created xsi:type="dcterms:W3CDTF">1601-01-01T00:00:00Z</dcterms:created>
  <dcterms:modified xsi:type="dcterms:W3CDTF">2024-10-10T07:27:19Z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